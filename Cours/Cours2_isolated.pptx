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4" r:id="rId3"/>
  </p:sldMasterIdLst>
  <p:notesMasterIdLst>
    <p:notesMasterId r:id="rId65"/>
  </p:notesMasterIdLst>
  <p:sldIdLst>
    <p:sldId id="257" r:id="rId4"/>
    <p:sldId id="256" r:id="rId5"/>
    <p:sldId id="258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307" r:id="rId14"/>
    <p:sldId id="330" r:id="rId15"/>
    <p:sldId id="270" r:id="rId16"/>
    <p:sldId id="271" r:id="rId17"/>
    <p:sldId id="321" r:id="rId18"/>
    <p:sldId id="272" r:id="rId19"/>
    <p:sldId id="273" r:id="rId20"/>
    <p:sldId id="274" r:id="rId21"/>
    <p:sldId id="275" r:id="rId22"/>
    <p:sldId id="276" r:id="rId23"/>
    <p:sldId id="309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308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22" r:id="rId53"/>
    <p:sldId id="304" r:id="rId54"/>
    <p:sldId id="326" r:id="rId55"/>
    <p:sldId id="327" r:id="rId56"/>
    <p:sldId id="328" r:id="rId57"/>
    <p:sldId id="305" r:id="rId58"/>
    <p:sldId id="311" r:id="rId59"/>
    <p:sldId id="314" r:id="rId60"/>
    <p:sldId id="325" r:id="rId61"/>
    <p:sldId id="323" r:id="rId62"/>
    <p:sldId id="324" r:id="rId63"/>
    <p:sldId id="329" r:id="rId6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89781" autoAdjust="0"/>
  </p:normalViewPr>
  <p:slideViewPr>
    <p:cSldViewPr snapToGrid="0">
      <p:cViewPr>
        <p:scale>
          <a:sx n="75" d="100"/>
          <a:sy n="75" d="100"/>
        </p:scale>
        <p:origin x="636" y="-558"/>
      </p:cViewPr>
      <p:guideLst/>
    </p:cSldViewPr>
  </p:slideViewPr>
  <p:outlineViewPr>
    <p:cViewPr>
      <p:scale>
        <a:sx n="33" d="100"/>
        <a:sy n="33" d="100"/>
      </p:scale>
      <p:origin x="0" y="-286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MARTIN" userId="ec32c3d9-5957-42d0-8757-996fd533d25b" providerId="ADAL" clId="{B76BE869-635B-4DC9-A437-AFDC8BC5A345}"/>
    <pc:docChg chg="undo custSel addSld delSld modSld">
      <pc:chgData name="Alexis MARTIN" userId="ec32c3d9-5957-42d0-8757-996fd533d25b" providerId="ADAL" clId="{B76BE869-635B-4DC9-A437-AFDC8BC5A345}" dt="2026-09-07T09:48:58.378" v="455" actId="1076"/>
      <pc:docMkLst>
        <pc:docMk/>
      </pc:docMkLst>
      <pc:sldChg chg="addSp delSp modSp mod">
        <pc:chgData name="Alexis MARTIN" userId="ec32c3d9-5957-42d0-8757-996fd533d25b" providerId="ADAL" clId="{B76BE869-635B-4DC9-A437-AFDC8BC5A345}" dt="2026-09-07T09:48:58.378" v="455" actId="1076"/>
        <pc:sldMkLst>
          <pc:docMk/>
          <pc:sldMk cId="763063732" sldId="276"/>
        </pc:sldMkLst>
        <pc:spChg chg="add mod">
          <ac:chgData name="Alexis MARTIN" userId="ec32c3d9-5957-42d0-8757-996fd533d25b" providerId="ADAL" clId="{B76BE869-635B-4DC9-A437-AFDC8BC5A345}" dt="2026-09-07T09:48:41.639" v="447" actId="14100"/>
          <ac:spMkLst>
            <pc:docMk/>
            <pc:sldMk cId="763063732" sldId="276"/>
            <ac:spMk id="4" creationId="{E509A5D4-1E59-AA40-EE11-72A04C514914}"/>
          </ac:spMkLst>
        </pc:spChg>
        <pc:spChg chg="add mod">
          <ac:chgData name="Alexis MARTIN" userId="ec32c3d9-5957-42d0-8757-996fd533d25b" providerId="ADAL" clId="{B76BE869-635B-4DC9-A437-AFDC8BC5A345}" dt="2026-09-07T09:48:53.110" v="453" actId="1037"/>
          <ac:spMkLst>
            <pc:docMk/>
            <pc:sldMk cId="763063732" sldId="276"/>
            <ac:spMk id="10" creationId="{824359ED-3041-4EC0-6BA6-AEBE00AC615F}"/>
          </ac:spMkLst>
        </pc:spChg>
        <pc:spChg chg="add mod">
          <ac:chgData name="Alexis MARTIN" userId="ec32c3d9-5957-42d0-8757-996fd533d25b" providerId="ADAL" clId="{B76BE869-635B-4DC9-A437-AFDC8BC5A345}" dt="2026-09-07T09:48:58.378" v="455" actId="1076"/>
          <ac:spMkLst>
            <pc:docMk/>
            <pc:sldMk cId="763063732" sldId="276"/>
            <ac:spMk id="227" creationId="{CFA4A3B4-81B5-2DFC-34D4-C04E89A9147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E26CE-A5EE-418B-98DF-F81A968CD86C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F6991-3A85-4424-A8A1-91662E3976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10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0876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fr-FR" baseline="0" dirty="0"/>
              <a:t>If</a:t>
            </a:r>
            <a:r>
              <a:rPr lang="fr-FR" dirty="0"/>
              <a:t> D2 </a:t>
            </a:r>
            <a:r>
              <a:rPr lang="fr-FR" dirty="0" err="1"/>
              <a:t>forward</a:t>
            </a:r>
            <a:r>
              <a:rPr lang="fr-FR" dirty="0"/>
              <a:t> </a:t>
            </a:r>
            <a:r>
              <a:rPr lang="fr-FR" dirty="0" err="1"/>
              <a:t>so</a:t>
            </a:r>
            <a:r>
              <a:rPr lang="fr-FR" dirty="0"/>
              <a:t> D3 </a:t>
            </a:r>
            <a:r>
              <a:rPr lang="fr-FR" dirty="0" err="1"/>
              <a:t>forward</a:t>
            </a:r>
            <a:r>
              <a:rPr lang="fr-FR" dirty="0"/>
              <a:t> (voltage </a:t>
            </a:r>
            <a:r>
              <a:rPr lang="fr-FR" dirty="0" err="1"/>
              <a:t>negative</a:t>
            </a:r>
            <a:r>
              <a:rPr lang="fr-FR" dirty="0"/>
              <a:t>) and D4 reverse -&gt; not possible </a:t>
            </a:r>
            <a:r>
              <a:rPr lang="fr-FR" dirty="0" err="1"/>
              <a:t>because</a:t>
            </a:r>
            <a:r>
              <a:rPr lang="fr-FR" dirty="0"/>
              <a:t> il&gt;&gt;i0</a:t>
            </a:r>
          </a:p>
          <a:p>
            <a:pPr marL="171450" indent="-171450">
              <a:buFontTx/>
              <a:buChar char="-"/>
            </a:pPr>
            <a:r>
              <a:rPr lang="fr-FR" dirty="0"/>
              <a:t>D4 </a:t>
            </a:r>
            <a:r>
              <a:rPr lang="fr-FR" dirty="0" err="1"/>
              <a:t>forward</a:t>
            </a:r>
            <a:r>
              <a:rPr lang="fr-FR" baseline="0" dirty="0"/>
              <a:t> </a:t>
            </a:r>
            <a:r>
              <a:rPr lang="fr-FR" baseline="0" dirty="0" err="1"/>
              <a:t>because</a:t>
            </a:r>
            <a:r>
              <a:rPr lang="fr-FR" baseline="0" dirty="0"/>
              <a:t> flux positive and D3 </a:t>
            </a:r>
            <a:r>
              <a:rPr lang="fr-FR" baseline="0" dirty="0" err="1"/>
              <a:t>forward</a:t>
            </a:r>
            <a:r>
              <a:rPr lang="fr-FR" baseline="0" dirty="0"/>
              <a:t> </a:t>
            </a:r>
            <a:r>
              <a:rPr lang="fr-FR" baseline="0" dirty="0" err="1"/>
              <a:t>because</a:t>
            </a:r>
            <a:r>
              <a:rPr lang="fr-FR" baseline="0" dirty="0"/>
              <a:t> il&gt;&gt;i0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622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fr-FR" baseline="0" dirty="0"/>
              <a:t>If</a:t>
            </a:r>
            <a:r>
              <a:rPr lang="fr-FR" dirty="0"/>
              <a:t> D1 </a:t>
            </a:r>
            <a:r>
              <a:rPr lang="fr-FR" dirty="0" err="1"/>
              <a:t>forward</a:t>
            </a:r>
            <a:r>
              <a:rPr lang="fr-FR" dirty="0"/>
              <a:t> </a:t>
            </a:r>
            <a:r>
              <a:rPr lang="fr-FR" dirty="0" err="1"/>
              <a:t>so</a:t>
            </a:r>
            <a:r>
              <a:rPr lang="fr-FR" dirty="0"/>
              <a:t> D4 </a:t>
            </a:r>
            <a:r>
              <a:rPr lang="fr-FR" dirty="0" err="1"/>
              <a:t>forward</a:t>
            </a:r>
            <a:r>
              <a:rPr lang="fr-FR" dirty="0"/>
              <a:t> (voltage positive) and D3 reverse -&gt; not possible </a:t>
            </a:r>
            <a:r>
              <a:rPr lang="fr-FR" dirty="0" err="1"/>
              <a:t>because</a:t>
            </a:r>
            <a:r>
              <a:rPr lang="fr-FR" dirty="0"/>
              <a:t> il&gt;&gt;i0</a:t>
            </a:r>
          </a:p>
          <a:p>
            <a:pPr marL="171450" indent="-171450">
              <a:buFontTx/>
              <a:buChar char="-"/>
            </a:pPr>
            <a:r>
              <a:rPr lang="fr-FR" dirty="0"/>
              <a:t>D3 </a:t>
            </a:r>
            <a:r>
              <a:rPr lang="fr-FR" dirty="0" err="1"/>
              <a:t>forward</a:t>
            </a:r>
            <a:r>
              <a:rPr lang="fr-FR" baseline="0" dirty="0"/>
              <a:t> </a:t>
            </a:r>
            <a:r>
              <a:rPr lang="fr-FR" baseline="0" dirty="0" err="1"/>
              <a:t>because</a:t>
            </a:r>
            <a:r>
              <a:rPr lang="fr-FR" baseline="0" dirty="0"/>
              <a:t> flux </a:t>
            </a:r>
            <a:r>
              <a:rPr lang="fr-FR" baseline="0" dirty="0" err="1"/>
              <a:t>negative</a:t>
            </a:r>
            <a:r>
              <a:rPr lang="fr-FR" baseline="0" dirty="0"/>
              <a:t> and D4 </a:t>
            </a:r>
            <a:r>
              <a:rPr lang="fr-FR" baseline="0" dirty="0" err="1"/>
              <a:t>forward</a:t>
            </a:r>
            <a:r>
              <a:rPr lang="fr-FR" baseline="0" dirty="0"/>
              <a:t> </a:t>
            </a:r>
            <a:r>
              <a:rPr lang="fr-FR" baseline="0" dirty="0" err="1"/>
              <a:t>because</a:t>
            </a:r>
            <a:r>
              <a:rPr lang="fr-FR" baseline="0" dirty="0"/>
              <a:t> il&gt;&gt;i0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631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ouv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798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51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nt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0100" cy="68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03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int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0100" cy="68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8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86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80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295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9.png"/><Relationship Id="rId4" Type="http://schemas.openxmlformats.org/officeDocument/2006/relationships/image" Target="../media/image1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0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30.wmf"/><Relationship Id="rId18" Type="http://schemas.openxmlformats.org/officeDocument/2006/relationships/oleObject" Target="../embeddings/oleObject16.bin"/><Relationship Id="rId3" Type="http://schemas.openxmlformats.org/officeDocument/2006/relationships/image" Target="../media/image25.wmf"/><Relationship Id="rId21" Type="http://schemas.openxmlformats.org/officeDocument/2006/relationships/image" Target="../media/image34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32.w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5.bin"/><Relationship Id="rId20" Type="http://schemas.openxmlformats.org/officeDocument/2006/relationships/oleObject" Target="../embeddings/oleObject1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9.wmf"/><Relationship Id="rId24" Type="http://schemas.openxmlformats.org/officeDocument/2006/relationships/image" Target="../media/image23.png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23" Type="http://schemas.openxmlformats.org/officeDocument/2006/relationships/image" Target="../media/image35.wmf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33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14.bin"/><Relationship Id="rId22" Type="http://schemas.openxmlformats.org/officeDocument/2006/relationships/oleObject" Target="../embeddings/oleObject1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40.wmf"/><Relationship Id="rId3" Type="http://schemas.openxmlformats.org/officeDocument/2006/relationships/image" Target="../media/image36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23.bin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39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38.wmf"/><Relationship Id="rId1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44.w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43.wmf"/><Relationship Id="rId10" Type="http://schemas.openxmlformats.org/officeDocument/2006/relationships/image" Target="../media/image49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50.wmf"/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52.wmf"/><Relationship Id="rId2" Type="http://schemas.openxmlformats.org/officeDocument/2006/relationships/oleObject" Target="../embeddings/oleObject26.bin"/><Relationship Id="rId16" Type="http://schemas.openxmlformats.org/officeDocument/2006/relationships/oleObject" Target="../embeddings/oleObject33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49.wmf"/><Relationship Id="rId5" Type="http://schemas.openxmlformats.org/officeDocument/2006/relationships/image" Target="../media/image46.wmf"/><Relationship Id="rId15" Type="http://schemas.openxmlformats.org/officeDocument/2006/relationships/image" Target="../media/image51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3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49.wmf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39.bin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8.wmf"/><Relationship Id="rId5" Type="http://schemas.openxmlformats.org/officeDocument/2006/relationships/image" Target="../media/image54.wmf"/><Relationship Id="rId15" Type="http://schemas.openxmlformats.org/officeDocument/2006/relationships/image" Target="../media/image57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4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61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81.wmf"/><Relationship Id="rId3" Type="http://schemas.openxmlformats.org/officeDocument/2006/relationships/image" Target="../media/image76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52.bin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79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82.wmf"/><Relationship Id="rId7" Type="http://schemas.openxmlformats.org/officeDocument/2006/relationships/image" Target="../media/image84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83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85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61.bin"/><Relationship Id="rId18" Type="http://schemas.openxmlformats.org/officeDocument/2006/relationships/oleObject" Target="../embeddings/oleObject63.bin"/><Relationship Id="rId26" Type="http://schemas.openxmlformats.org/officeDocument/2006/relationships/oleObject" Target="../embeddings/oleObject67.bin"/><Relationship Id="rId3" Type="http://schemas.openxmlformats.org/officeDocument/2006/relationships/image" Target="../media/image87.png"/><Relationship Id="rId21" Type="http://schemas.openxmlformats.org/officeDocument/2006/relationships/image" Target="../media/image97.wmf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92.wmf"/><Relationship Id="rId17" Type="http://schemas.openxmlformats.org/officeDocument/2006/relationships/image" Target="../media/image95.emf"/><Relationship Id="rId25" Type="http://schemas.openxmlformats.org/officeDocument/2006/relationships/image" Target="../media/image99.wmf"/><Relationship Id="rId2" Type="http://schemas.openxmlformats.org/officeDocument/2006/relationships/image" Target="../media/image86.png"/><Relationship Id="rId16" Type="http://schemas.openxmlformats.org/officeDocument/2006/relationships/image" Target="../media/image94.wmf"/><Relationship Id="rId20" Type="http://schemas.openxmlformats.org/officeDocument/2006/relationships/oleObject" Target="../embeddings/oleObject64.bin"/><Relationship Id="rId29" Type="http://schemas.openxmlformats.org/officeDocument/2006/relationships/image" Target="../media/image101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60.bin"/><Relationship Id="rId24" Type="http://schemas.openxmlformats.org/officeDocument/2006/relationships/oleObject" Target="../embeddings/oleObject66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23" Type="http://schemas.openxmlformats.org/officeDocument/2006/relationships/image" Target="../media/image98.wmf"/><Relationship Id="rId28" Type="http://schemas.openxmlformats.org/officeDocument/2006/relationships/oleObject" Target="../embeddings/oleObject68.bin"/><Relationship Id="rId10" Type="http://schemas.openxmlformats.org/officeDocument/2006/relationships/image" Target="../media/image91.wmf"/><Relationship Id="rId19" Type="http://schemas.openxmlformats.org/officeDocument/2006/relationships/image" Target="../media/image96.wmf"/><Relationship Id="rId31" Type="http://schemas.openxmlformats.org/officeDocument/2006/relationships/image" Target="../media/image102.wmf"/><Relationship Id="rId4" Type="http://schemas.openxmlformats.org/officeDocument/2006/relationships/image" Target="../media/image88.png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93.wmf"/><Relationship Id="rId22" Type="http://schemas.openxmlformats.org/officeDocument/2006/relationships/oleObject" Target="../embeddings/oleObject65.bin"/><Relationship Id="rId27" Type="http://schemas.openxmlformats.org/officeDocument/2006/relationships/image" Target="../media/image100.wmf"/><Relationship Id="rId30" Type="http://schemas.openxmlformats.org/officeDocument/2006/relationships/oleObject" Target="../embeddings/oleObject69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image" Target="../media/image103.wmf"/><Relationship Id="rId7" Type="http://schemas.openxmlformats.org/officeDocument/2006/relationships/image" Target="../media/image105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106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3" Type="http://schemas.openxmlformats.org/officeDocument/2006/relationships/image" Target="../media/image108.emf"/><Relationship Id="rId7" Type="http://schemas.openxmlformats.org/officeDocument/2006/relationships/image" Target="../media/image117.png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6.png"/><Relationship Id="rId5" Type="http://schemas.openxmlformats.org/officeDocument/2006/relationships/image" Target="../media/image110.emf"/><Relationship Id="rId4" Type="http://schemas.openxmlformats.org/officeDocument/2006/relationships/image" Target="../media/image109.emf"/><Relationship Id="rId9" Type="http://schemas.openxmlformats.org/officeDocument/2006/relationships/image" Target="../media/image111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117.wmf"/><Relationship Id="rId3" Type="http://schemas.openxmlformats.org/officeDocument/2006/relationships/image" Target="../media/image112.wmf"/><Relationship Id="rId7" Type="http://schemas.openxmlformats.org/officeDocument/2006/relationships/image" Target="../media/image114.w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94.wmf"/><Relationship Id="rId2" Type="http://schemas.openxmlformats.org/officeDocument/2006/relationships/oleObject" Target="../embeddings/oleObject75.bin"/><Relationship Id="rId16" Type="http://schemas.openxmlformats.org/officeDocument/2006/relationships/oleObject" Target="../embeddings/oleObject62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116.wmf"/><Relationship Id="rId5" Type="http://schemas.openxmlformats.org/officeDocument/2006/relationships/image" Target="../media/image113.wmf"/><Relationship Id="rId15" Type="http://schemas.openxmlformats.org/officeDocument/2006/relationships/image" Target="../media/image93.wmf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115.wmf"/><Relationship Id="rId14" Type="http://schemas.openxmlformats.org/officeDocument/2006/relationships/oleObject" Target="../embeddings/oleObject61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image" Target="../media/image118.wmf"/><Relationship Id="rId7" Type="http://schemas.openxmlformats.org/officeDocument/2006/relationships/image" Target="../media/image100.wmf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120.wmf"/><Relationship Id="rId5" Type="http://schemas.openxmlformats.org/officeDocument/2006/relationships/image" Target="../media/image119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2.bin"/><Relationship Id="rId9" Type="http://schemas.openxmlformats.org/officeDocument/2006/relationships/image" Target="../media/image101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291.png"/><Relationship Id="rId7" Type="http://schemas.openxmlformats.org/officeDocument/2006/relationships/image" Target="../media/image131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3.png"/><Relationship Id="rId5" Type="http://schemas.openxmlformats.org/officeDocument/2006/relationships/image" Target="../media/image1300.png"/><Relationship Id="rId4" Type="http://schemas.openxmlformats.org/officeDocument/2006/relationships/image" Target="../media/image128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290.png"/><Relationship Id="rId7" Type="http://schemas.openxmlformats.org/officeDocument/2006/relationships/image" Target="../media/image126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2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28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40.png"/><Relationship Id="rId4" Type="http://schemas.openxmlformats.org/officeDocument/2006/relationships/image" Target="../media/image12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7.png"/><Relationship Id="rId5" Type="http://schemas.openxmlformats.org/officeDocument/2006/relationships/image" Target="../media/image141.png"/><Relationship Id="rId4" Type="http://schemas.openxmlformats.org/officeDocument/2006/relationships/image" Target="../media/image142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25.png"/><Relationship Id="rId7" Type="http://schemas.openxmlformats.org/officeDocument/2006/relationships/image" Target="../media/image1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9" Type="http://schemas.openxmlformats.org/officeDocument/2006/relationships/image" Target="../media/image14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4.png"/><Relationship Id="rId4" Type="http://schemas.openxmlformats.org/officeDocument/2006/relationships/image" Target="../media/image15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25.png"/><Relationship Id="rId7" Type="http://schemas.openxmlformats.org/officeDocument/2006/relationships/image" Target="../media/image15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5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9.w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01462" y="3063875"/>
            <a:ext cx="9290538" cy="221456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3759229" y="3306355"/>
            <a:ext cx="5572713" cy="1103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</a:pPr>
            <a:r>
              <a:rPr lang="en-US" altLang="fr-FR" sz="3200" b="1" dirty="0">
                <a:solidFill>
                  <a:prstClr val="white"/>
                </a:solidFill>
                <a:latin typeface="Myriad Pro" pitchFamily="125" charset="0"/>
              </a:rPr>
              <a:t>Power Electronics</a:t>
            </a: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759229" y="4444291"/>
            <a:ext cx="5572713" cy="432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ase">
              <a:spcAft>
                <a:spcPct val="0"/>
              </a:spcAft>
            </a:pPr>
            <a:r>
              <a:rPr lang="en-US" altLang="fr-FR" sz="2400" dirty="0">
                <a:solidFill>
                  <a:prstClr val="white"/>
                </a:solidFill>
                <a:latin typeface="Myriad Pro" pitchFamily="125" charset="0"/>
              </a:rPr>
              <a:t>alexis.martin@ensea.fr</a:t>
            </a:r>
          </a:p>
          <a:p>
            <a:pPr algn="l" fontAlgn="base">
              <a:spcAft>
                <a:spcPct val="0"/>
              </a:spcAft>
            </a:pPr>
            <a:r>
              <a:rPr lang="en-US" altLang="fr-FR" sz="2400" dirty="0">
                <a:solidFill>
                  <a:prstClr val="white"/>
                </a:solidFill>
                <a:latin typeface="Myriad Pro" pitchFamily="125" charset="0"/>
              </a:rPr>
              <a:t>Desk D216</a:t>
            </a:r>
          </a:p>
        </p:txBody>
      </p:sp>
      <p:pic>
        <p:nvPicPr>
          <p:cNvPr id="7" name="Image 6" descr="Logo ENSEA 2021 quadri.psd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267" y="635245"/>
            <a:ext cx="1609725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161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ZoneTexte 13"/>
          <p:cNvSpPr txBox="1"/>
          <p:nvPr/>
        </p:nvSpPr>
        <p:spPr>
          <a:xfrm>
            <a:off x="2110672" y="1747906"/>
            <a:ext cx="80846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Non isolated choppers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Switch mode power supplies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Introduction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Flyback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Forward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Push-Pull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Power components</a:t>
            </a:r>
            <a:endParaRPr lang="fr-FR" sz="2400" dirty="0"/>
          </a:p>
        </p:txBody>
      </p:sp>
      <p:sp>
        <p:nvSpPr>
          <p:cNvPr id="14" name="Sous-titre 2"/>
          <p:cNvSpPr txBox="1">
            <a:spLocks/>
          </p:cNvSpPr>
          <p:nvPr/>
        </p:nvSpPr>
        <p:spPr>
          <a:xfrm>
            <a:off x="230707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Layout</a:t>
            </a:r>
            <a:endParaRPr lang="fr-FR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248250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Introduction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0" y="0"/>
            <a:ext cx="2479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2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995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Linear isolated power supply principle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4"/>
          <a:stretch>
            <a:fillRect/>
          </a:stretch>
        </p:blipFill>
        <p:spPr bwMode="auto">
          <a:xfrm>
            <a:off x="3590059" y="2147454"/>
            <a:ext cx="719455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6"/>
          <p:cNvGrpSpPr>
            <a:grpSpLocks/>
          </p:cNvGrpSpPr>
          <p:nvPr/>
        </p:nvGrpSpPr>
        <p:grpSpPr bwMode="auto">
          <a:xfrm>
            <a:off x="7261947" y="4450917"/>
            <a:ext cx="2520950" cy="1666875"/>
            <a:chOff x="2925" y="2795"/>
            <a:chExt cx="1588" cy="1050"/>
          </a:xfrm>
        </p:grpSpPr>
        <p:sp>
          <p:nvSpPr>
            <p:cNvPr id="13" name="AutoShape 7"/>
            <p:cNvSpPr>
              <a:spLocks noChangeArrowheads="1"/>
            </p:cNvSpPr>
            <p:nvPr/>
          </p:nvSpPr>
          <p:spPr bwMode="auto">
            <a:xfrm>
              <a:off x="2925" y="2795"/>
              <a:ext cx="227" cy="680"/>
            </a:xfrm>
            <a:prstGeom prst="upArrow">
              <a:avLst>
                <a:gd name="adj1" fmla="val 50000"/>
                <a:gd name="adj2" fmla="val 74890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CA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4" name="AutoShape 8"/>
            <p:cNvSpPr>
              <a:spLocks noChangeArrowheads="1"/>
            </p:cNvSpPr>
            <p:nvPr/>
          </p:nvSpPr>
          <p:spPr bwMode="auto">
            <a:xfrm>
              <a:off x="4286" y="2795"/>
              <a:ext cx="227" cy="680"/>
            </a:xfrm>
            <a:prstGeom prst="upArrow">
              <a:avLst>
                <a:gd name="adj1" fmla="val 50000"/>
                <a:gd name="adj2" fmla="val 74890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CA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3288" y="3612"/>
              <a:ext cx="89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L.F. filtering</a:t>
              </a:r>
            </a:p>
          </p:txBody>
        </p:sp>
      </p:grpSp>
      <p:grpSp>
        <p:nvGrpSpPr>
          <p:cNvPr id="16" name="Group 10"/>
          <p:cNvGrpSpPr>
            <a:grpSpLocks/>
          </p:cNvGrpSpPr>
          <p:nvPr/>
        </p:nvGrpSpPr>
        <p:grpSpPr bwMode="auto">
          <a:xfrm>
            <a:off x="4166322" y="4666817"/>
            <a:ext cx="1293812" cy="1522412"/>
            <a:chOff x="975" y="2931"/>
            <a:chExt cx="815" cy="959"/>
          </a:xfrm>
        </p:grpSpPr>
        <p:sp>
          <p:nvSpPr>
            <p:cNvPr id="17" name="AutoShape 11"/>
            <p:cNvSpPr>
              <a:spLocks noChangeArrowheads="1"/>
            </p:cNvSpPr>
            <p:nvPr/>
          </p:nvSpPr>
          <p:spPr bwMode="auto">
            <a:xfrm>
              <a:off x="1247" y="2931"/>
              <a:ext cx="272" cy="681"/>
            </a:xfrm>
            <a:prstGeom prst="upArrow">
              <a:avLst>
                <a:gd name="adj1" fmla="val 50000"/>
                <a:gd name="adj2" fmla="val 62592"/>
              </a:avLst>
            </a:prstGeom>
            <a:solidFill>
              <a:srgbClr val="00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CA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8" name="Text Box 12"/>
            <p:cNvSpPr txBox="1">
              <a:spLocks noChangeArrowheads="1"/>
            </p:cNvSpPr>
            <p:nvPr/>
          </p:nvSpPr>
          <p:spPr bwMode="auto">
            <a:xfrm>
              <a:off x="975" y="3657"/>
              <a:ext cx="81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>
                  <a:solidFill>
                    <a:srgbClr val="0033CC"/>
                  </a:solidFill>
                  <a:latin typeface="Times New Roman" panose="02020603050405020304" pitchFamily="18" charset="0"/>
                </a:rPr>
                <a:t>heavy, large</a:t>
              </a:r>
            </a:p>
          </p:txBody>
        </p:sp>
      </p:grpSp>
      <p:sp>
        <p:nvSpPr>
          <p:cNvPr id="19" name="AutoShape 13"/>
          <p:cNvSpPr>
            <a:spLocks/>
          </p:cNvSpPr>
          <p:nvPr/>
        </p:nvSpPr>
        <p:spPr bwMode="auto">
          <a:xfrm>
            <a:off x="9206634" y="1599767"/>
            <a:ext cx="1800225" cy="609600"/>
          </a:xfrm>
          <a:prstGeom prst="borderCallout1">
            <a:avLst>
              <a:gd name="adj1" fmla="val 18750"/>
              <a:gd name="adj2" fmla="val -4231"/>
              <a:gd name="adj3" fmla="val 172398"/>
              <a:gd name="adj4" fmla="val -44005"/>
            </a:avLst>
          </a:prstGeom>
          <a:noFill/>
          <a:ln w="19050">
            <a:solidFill>
              <a:srgbClr val="008000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>
                <a:solidFill>
                  <a:srgbClr val="009900"/>
                </a:solidFill>
                <a:latin typeface="Times New Roman" panose="02020603050405020304" pitchFamily="18" charset="0"/>
              </a:rPr>
              <a:t>Linear mode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>
                <a:solidFill>
                  <a:srgbClr val="009900"/>
                </a:solidFill>
                <a:latin typeface="Times New Roman" panose="02020603050405020304" pitchFamily="18" charset="0"/>
              </a:rPr>
              <a:t>=&gt; losses</a:t>
            </a:r>
          </a:p>
        </p:txBody>
      </p:sp>
      <p:sp>
        <p:nvSpPr>
          <p:cNvPr id="20" name="ZoneTexte 1"/>
          <p:cNvSpPr txBox="1">
            <a:spLocks noChangeArrowheads="1"/>
          </p:cNvSpPr>
          <p:nvPr/>
        </p:nvSpPr>
        <p:spPr bwMode="auto">
          <a:xfrm>
            <a:off x="5895109" y="1814079"/>
            <a:ext cx="2159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>
                <a:latin typeface="Times New Roman" panose="02020603050405020304" pitchFamily="18" charset="0"/>
              </a:rPr>
              <a:t>Linear supply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0" y="0"/>
            <a:ext cx="2479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2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76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Isolated switched-mode power supply principle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"/>
          <a:stretch>
            <a:fillRect/>
          </a:stretch>
        </p:blipFill>
        <p:spPr bwMode="auto">
          <a:xfrm>
            <a:off x="3256829" y="2052493"/>
            <a:ext cx="7840662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6"/>
          <p:cNvGrpSpPr>
            <a:grpSpLocks/>
          </p:cNvGrpSpPr>
          <p:nvPr/>
        </p:nvGrpSpPr>
        <p:grpSpPr bwMode="auto">
          <a:xfrm>
            <a:off x="7647854" y="4573443"/>
            <a:ext cx="1223962" cy="1520825"/>
            <a:chOff x="3107" y="2750"/>
            <a:chExt cx="771" cy="958"/>
          </a:xfrm>
        </p:grpSpPr>
        <p:sp>
          <p:nvSpPr>
            <p:cNvPr id="12" name="AutoShape 7"/>
            <p:cNvSpPr>
              <a:spLocks noChangeArrowheads="1"/>
            </p:cNvSpPr>
            <p:nvPr/>
          </p:nvSpPr>
          <p:spPr bwMode="auto">
            <a:xfrm>
              <a:off x="3379" y="2750"/>
              <a:ext cx="227" cy="499"/>
            </a:xfrm>
            <a:prstGeom prst="upArrow">
              <a:avLst>
                <a:gd name="adj1" fmla="val 50000"/>
                <a:gd name="adj2" fmla="val 54956"/>
              </a:avLst>
            </a:prstGeom>
            <a:solidFill>
              <a:srgbClr val="00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CA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>
              <a:off x="3107" y="3475"/>
              <a:ext cx="77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>
                  <a:solidFill>
                    <a:srgbClr val="0033CC"/>
                  </a:solidFill>
                  <a:latin typeface="Times New Roman" panose="02020603050405020304" pitchFamily="18" charset="0"/>
                </a:rPr>
                <a:t>small, light</a:t>
              </a:r>
            </a:p>
          </p:txBody>
        </p:sp>
      </p:grpSp>
      <p:grpSp>
        <p:nvGrpSpPr>
          <p:cNvPr id="14" name="Group 9"/>
          <p:cNvGrpSpPr>
            <a:grpSpLocks/>
          </p:cNvGrpSpPr>
          <p:nvPr/>
        </p:nvGrpSpPr>
        <p:grpSpPr bwMode="auto">
          <a:xfrm>
            <a:off x="5058641" y="4428981"/>
            <a:ext cx="5784850" cy="1674812"/>
            <a:chOff x="1476" y="2659"/>
            <a:chExt cx="3644" cy="1055"/>
          </a:xfrm>
        </p:grpSpPr>
        <p:grpSp>
          <p:nvGrpSpPr>
            <p:cNvPr id="15" name="Group 10"/>
            <p:cNvGrpSpPr>
              <a:grpSpLocks/>
            </p:cNvGrpSpPr>
            <p:nvPr/>
          </p:nvGrpSpPr>
          <p:grpSpPr bwMode="auto">
            <a:xfrm>
              <a:off x="1476" y="2750"/>
              <a:ext cx="904" cy="881"/>
              <a:chOff x="1476" y="2750"/>
              <a:chExt cx="904" cy="881"/>
            </a:xfrm>
          </p:grpSpPr>
          <p:sp>
            <p:nvSpPr>
              <p:cNvPr id="19" name="AutoShape 11"/>
              <p:cNvSpPr>
                <a:spLocks noChangeArrowheads="1"/>
              </p:cNvSpPr>
              <p:nvPr/>
            </p:nvSpPr>
            <p:spPr bwMode="auto">
              <a:xfrm>
                <a:off x="1837" y="2750"/>
                <a:ext cx="227" cy="544"/>
              </a:xfrm>
              <a:prstGeom prst="upArrow">
                <a:avLst>
                  <a:gd name="adj1" fmla="val 50000"/>
                  <a:gd name="adj2" fmla="val 59912"/>
                </a:avLst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CA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Text Box 12"/>
              <p:cNvSpPr txBox="1">
                <a:spLocks noChangeArrowheads="1"/>
              </p:cNvSpPr>
              <p:nvPr/>
            </p:nvSpPr>
            <p:spPr bwMode="auto">
              <a:xfrm>
                <a:off x="1476" y="3398"/>
                <a:ext cx="90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CA" altLang="fr-FR" sz="18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Easy filtering</a:t>
                </a:r>
              </a:p>
            </p:txBody>
          </p:sp>
        </p:grpSp>
        <p:grpSp>
          <p:nvGrpSpPr>
            <p:cNvPr id="16" name="Group 13"/>
            <p:cNvGrpSpPr>
              <a:grpSpLocks/>
            </p:cNvGrpSpPr>
            <p:nvPr/>
          </p:nvGrpSpPr>
          <p:grpSpPr bwMode="auto">
            <a:xfrm>
              <a:off x="4535" y="2659"/>
              <a:ext cx="585" cy="1055"/>
              <a:chOff x="4535" y="2659"/>
              <a:chExt cx="585" cy="1055"/>
            </a:xfrm>
          </p:grpSpPr>
          <p:sp>
            <p:nvSpPr>
              <p:cNvPr id="17" name="AutoShape 14"/>
              <p:cNvSpPr>
                <a:spLocks noChangeArrowheads="1"/>
              </p:cNvSpPr>
              <p:nvPr/>
            </p:nvSpPr>
            <p:spPr bwMode="auto">
              <a:xfrm>
                <a:off x="4740" y="2659"/>
                <a:ext cx="227" cy="544"/>
              </a:xfrm>
              <a:prstGeom prst="upArrow">
                <a:avLst>
                  <a:gd name="adj1" fmla="val 50000"/>
                  <a:gd name="adj2" fmla="val 59912"/>
                </a:avLst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CA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Text Box 15"/>
              <p:cNvSpPr txBox="1">
                <a:spLocks noChangeArrowheads="1"/>
              </p:cNvSpPr>
              <p:nvPr/>
            </p:nvSpPr>
            <p:spPr bwMode="auto">
              <a:xfrm>
                <a:off x="4535" y="3307"/>
                <a:ext cx="585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CA" altLang="fr-FR" sz="18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H.F.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CA" altLang="fr-FR" sz="18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filtering</a:t>
                </a:r>
              </a:p>
            </p:txBody>
          </p:sp>
        </p:grpSp>
      </p:grpSp>
      <p:sp>
        <p:nvSpPr>
          <p:cNvPr id="21" name="AutoShape 16"/>
          <p:cNvSpPr>
            <a:spLocks/>
          </p:cNvSpPr>
          <p:nvPr/>
        </p:nvSpPr>
        <p:spPr bwMode="auto">
          <a:xfrm>
            <a:off x="3615604" y="1549256"/>
            <a:ext cx="2006600" cy="609600"/>
          </a:xfrm>
          <a:prstGeom prst="borderCallout1">
            <a:avLst>
              <a:gd name="adj1" fmla="val 18750"/>
              <a:gd name="adj2" fmla="val 103796"/>
              <a:gd name="adj3" fmla="val 226565"/>
              <a:gd name="adj4" fmla="val 140505"/>
            </a:avLst>
          </a:prstGeom>
          <a:noFill/>
          <a:ln w="19050">
            <a:solidFill>
              <a:srgbClr val="008000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>
                <a:solidFill>
                  <a:srgbClr val="009900"/>
                </a:solidFill>
                <a:latin typeface="Times New Roman" panose="02020603050405020304" pitchFamily="18" charset="0"/>
              </a:rPr>
              <a:t>Switching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>
                <a:solidFill>
                  <a:srgbClr val="009900"/>
                </a:solidFill>
                <a:latin typeface="Times New Roman" panose="02020603050405020304" pitchFamily="18" charset="0"/>
              </a:rPr>
              <a:t>=&gt; Low losses</a:t>
            </a:r>
          </a:p>
        </p:txBody>
      </p:sp>
      <p:sp>
        <p:nvSpPr>
          <p:cNvPr id="22" name="ZoneTexte 1"/>
          <p:cNvSpPr txBox="1">
            <a:spLocks noChangeArrowheads="1"/>
          </p:cNvSpPr>
          <p:nvPr/>
        </p:nvSpPr>
        <p:spPr bwMode="auto">
          <a:xfrm>
            <a:off x="8079654" y="1868343"/>
            <a:ext cx="3168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u="sng">
                <a:latin typeface="Times New Roman" panose="02020603050405020304" pitchFamily="18" charset="0"/>
              </a:rPr>
              <a:t>Switched-mode power supply</a:t>
            </a:r>
          </a:p>
        </p:txBody>
      </p:sp>
      <p:sp>
        <p:nvSpPr>
          <p:cNvPr id="23" name="ZoneTexte 2"/>
          <p:cNvSpPr txBox="1">
            <a:spLocks noChangeArrowheads="1"/>
          </p:cNvSpPr>
          <p:nvPr/>
        </p:nvSpPr>
        <p:spPr bwMode="auto">
          <a:xfrm>
            <a:off x="6535016" y="2185843"/>
            <a:ext cx="8255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</a:rPr>
              <a:t>Chopper control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0" y="0"/>
            <a:ext cx="2479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2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57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Comparison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Group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1463415"/>
              </p:ext>
            </p:extLst>
          </p:nvPr>
        </p:nvGraphicFramePr>
        <p:xfrm>
          <a:off x="3338946" y="1440584"/>
          <a:ext cx="8229600" cy="4525965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1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Element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LINEAR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Switching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Transformer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Large (50 Hz)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Small (H.F.)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1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Transistor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Linear (losses)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Switching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1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Output filter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Large (50 Hz)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Simple (H.F.)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1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Command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autonomous, simple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control, complex</a:t>
                      </a:r>
                      <a:endParaRPr kumimoji="0" lang="en-CA" altLang="fr-FR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Efficiency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40 % &lt;   &lt; 50 %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70 % &lt;   &lt; 90 %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1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Control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0,1 %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079500" algn="l"/>
                          <a:tab pos="2178050" algn="l"/>
                        </a:tabLs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79500" algn="l"/>
                          <a:tab pos="2178050" algn="l"/>
                        </a:tabLst>
                      </a:pPr>
                      <a:r>
                        <a:rPr kumimoji="0" lang="en-CA" altLang="fr-FR" sz="2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cs typeface="Times New Roman" pitchFamily="18" charset="0"/>
                        </a:rPr>
                        <a:t>0,5 %</a:t>
                      </a:r>
                      <a:endParaRPr kumimoji="0" lang="en-CA" altLang="fr-FR" sz="2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0" y="0"/>
            <a:ext cx="2479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2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92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Switched-mode power supply nomenclature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252879" y="1947574"/>
            <a:ext cx="7169150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CA" altLang="fr-FR" sz="36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Flyback</a:t>
            </a:r>
            <a:r>
              <a:rPr lang="en-CA" altLang="fr-FR" sz="3600" b="1" i="1" dirty="0">
                <a:latin typeface="Times New Roman" panose="02020603050405020304" pitchFamily="18" charset="0"/>
              </a:rPr>
              <a:t> : energy storage converter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CA" altLang="fr-FR" sz="3600" b="1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CA" altLang="fr-FR" sz="36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Forward</a:t>
            </a:r>
            <a:r>
              <a:rPr lang="en-CA" altLang="fr-FR" sz="3600" b="1" i="1" dirty="0">
                <a:latin typeface="Times New Roman" panose="02020603050405020304" pitchFamily="18" charset="0"/>
              </a:rPr>
              <a:t> : direct converter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CA" altLang="fr-FR" sz="3600" b="1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CA" altLang="fr-FR" sz="36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Push-Pull</a:t>
            </a:r>
            <a:r>
              <a:rPr lang="en-CA" altLang="fr-FR" sz="3600" b="1" i="1" dirty="0">
                <a:latin typeface="Times New Roman" panose="02020603050405020304" pitchFamily="18" charset="0"/>
              </a:rPr>
              <a:t> : symmetric converter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CA" altLang="fr-FR" sz="3600" b="1" i="1" dirty="0">
                <a:latin typeface="Times New Roman" panose="02020603050405020304" pitchFamily="18" charset="0"/>
              </a:rPr>
              <a:t>	(full bridge or half bridge)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0" y="0"/>
            <a:ext cx="2479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2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718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Flyback principle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25" y="1783934"/>
            <a:ext cx="3600450" cy="272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5060521" y="5394391"/>
            <a:ext cx="37369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Easiness, low power, few components</a:t>
            </a:r>
          </a:p>
        </p:txBody>
      </p:sp>
      <p:sp>
        <p:nvSpPr>
          <p:cNvPr id="14" name="ZoneTexte 1"/>
          <p:cNvSpPr txBox="1">
            <a:spLocks noChangeArrowheads="1"/>
          </p:cNvSpPr>
          <p:nvPr/>
        </p:nvSpPr>
        <p:spPr bwMode="auto">
          <a:xfrm>
            <a:off x="8977750" y="3549234"/>
            <a:ext cx="1727200" cy="646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>
                <a:latin typeface="Times New Roman" panose="02020603050405020304" pitchFamily="18" charset="0"/>
              </a:rPr>
              <a:t>Full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>
                <a:latin typeface="Times New Roman" panose="02020603050405020304" pitchFamily="18" charset="0"/>
              </a:rPr>
              <a:t>demagnetization</a:t>
            </a:r>
          </a:p>
        </p:txBody>
      </p:sp>
      <p:sp>
        <p:nvSpPr>
          <p:cNvPr id="15" name="ZoneTexte 11"/>
          <p:cNvSpPr txBox="1">
            <a:spLocks noChangeArrowheads="1"/>
          </p:cNvSpPr>
          <p:nvPr/>
        </p:nvSpPr>
        <p:spPr bwMode="auto">
          <a:xfrm>
            <a:off x="9993750" y="2199859"/>
            <a:ext cx="1728788" cy="647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>
                <a:latin typeface="Times New Roman" panose="02020603050405020304" pitchFamily="18" charset="0"/>
              </a:rPr>
              <a:t>Partial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>
                <a:latin typeface="Times New Roman" panose="02020603050405020304" pitchFamily="18" charset="0"/>
              </a:rPr>
              <a:t>demagnetization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0" y="0"/>
            <a:ext cx="2479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2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38E8F04-1A9A-B0A2-4A94-1BF5EB3E6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362" y="1906171"/>
            <a:ext cx="525780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67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Forward principle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418" y="1576965"/>
            <a:ext cx="3455988" cy="291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978256" y="5413952"/>
            <a:ext cx="49625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>
                <a:solidFill>
                  <a:srgbClr val="FF3300"/>
                </a:solidFill>
                <a:latin typeface="Times New Roman" panose="02020603050405020304" pitchFamily="18" charset="0"/>
              </a:rPr>
              <a:t>Magnetic component optimized, more components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0" y="0"/>
            <a:ext cx="2479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2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828EF10B-8AB4-6CBB-C670-62A5A014B774}"/>
              </a:ext>
            </a:extLst>
          </p:cNvPr>
          <p:cNvGrpSpPr/>
          <p:nvPr/>
        </p:nvGrpSpPr>
        <p:grpSpPr>
          <a:xfrm>
            <a:off x="2479966" y="1842511"/>
            <a:ext cx="5192590" cy="2295525"/>
            <a:chOff x="2479966" y="1842511"/>
            <a:chExt cx="5192590" cy="2295525"/>
          </a:xfrm>
        </p:grpSpPr>
        <p:pic>
          <p:nvPicPr>
            <p:cNvPr id="11" name="Picture 5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807"/>
            <a:stretch>
              <a:fillRect/>
            </a:stretch>
          </p:blipFill>
          <p:spPr bwMode="auto">
            <a:xfrm>
              <a:off x="2479966" y="1842511"/>
              <a:ext cx="3977984" cy="2295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D9D1F424-8F72-2E1B-3809-A5C9B25F0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800" t="28255" r="29368" b="11230"/>
            <a:stretch>
              <a:fillRect/>
            </a:stretch>
          </p:blipFill>
          <p:spPr>
            <a:xfrm rot="16200000">
              <a:off x="6634675" y="1711467"/>
              <a:ext cx="377381" cy="991402"/>
            </a:xfrm>
            <a:prstGeom prst="rect">
              <a:avLst/>
            </a:prstGeom>
          </p:spPr>
        </p:pic>
        <p:pic>
          <p:nvPicPr>
            <p:cNvPr id="3" name="Picture 5">
              <a:extLst>
                <a:ext uri="{FF2B5EF4-FFF2-40B4-BE49-F238E27FC236}">
                  <a16:creationId xmlns:a16="http://schemas.microsoft.com/office/drawing/2014/main" id="{5DF1F69B-A0D0-818D-3207-91367EEDE3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125" t="10654" b="38724"/>
            <a:stretch>
              <a:fillRect/>
            </a:stretch>
          </p:blipFill>
          <p:spPr bwMode="auto">
            <a:xfrm>
              <a:off x="7246480" y="2087439"/>
              <a:ext cx="426076" cy="116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8CD2F6D-4922-957B-3FC4-5545862F71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545" t="53999" r="23444" b="39113"/>
            <a:stretch>
              <a:fillRect/>
            </a:stretch>
          </p:blipFill>
          <p:spPr bwMode="auto">
            <a:xfrm>
              <a:off x="6457949" y="3081848"/>
              <a:ext cx="816769" cy="158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8299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Symmetric converter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778" y="1990948"/>
            <a:ext cx="4849813" cy="264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916" y="1846485"/>
            <a:ext cx="3006725" cy="279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5550478" y="5118323"/>
            <a:ext cx="33909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>
                <a:solidFill>
                  <a:srgbClr val="FF3300"/>
                </a:solidFill>
                <a:latin typeface="Times New Roman" panose="02020603050405020304" pitchFamily="18" charset="0"/>
              </a:rPr>
              <a:t>High power, 2 transistors or more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0" y="0"/>
            <a:ext cx="2479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2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93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Flyback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0" y="0"/>
            <a:ext cx="2479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648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0" y="0"/>
            <a:ext cx="2479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FLYBACK converter study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559" y="738569"/>
            <a:ext cx="3038475" cy="2409825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394" y="1114910"/>
            <a:ext cx="3838575" cy="1638300"/>
          </a:xfrm>
          <a:prstGeom prst="rect">
            <a:avLst/>
          </a:prstGeom>
        </p:spPr>
      </p:pic>
      <p:grpSp>
        <p:nvGrpSpPr>
          <p:cNvPr id="21" name="Groupe 20"/>
          <p:cNvGrpSpPr/>
          <p:nvPr/>
        </p:nvGrpSpPr>
        <p:grpSpPr>
          <a:xfrm>
            <a:off x="6660628" y="5237308"/>
            <a:ext cx="406400" cy="356364"/>
            <a:chOff x="7061200" y="2120900"/>
            <a:chExt cx="406400" cy="356364"/>
          </a:xfrm>
        </p:grpSpPr>
        <p:cxnSp>
          <p:nvCxnSpPr>
            <p:cNvPr id="15" name="Connecteur droit 14"/>
            <p:cNvCxnSpPr/>
            <p:nvPr/>
          </p:nvCxnSpPr>
          <p:spPr>
            <a:xfrm>
              <a:off x="7061200" y="2120900"/>
              <a:ext cx="406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>
              <a:off x="7061200" y="2299464"/>
              <a:ext cx="406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>
              <a:off x="7061200" y="2477264"/>
              <a:ext cx="406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Imag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029" y="4196434"/>
            <a:ext cx="3390900" cy="2314575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4053559"/>
            <a:ext cx="3352800" cy="2457450"/>
          </a:xfrm>
          <a:prstGeom prst="rect">
            <a:avLst/>
          </a:prstGeom>
        </p:spPr>
      </p:pic>
      <p:sp>
        <p:nvSpPr>
          <p:cNvPr id="24" name="Flèche droite 23"/>
          <p:cNvSpPr/>
          <p:nvPr/>
        </p:nvSpPr>
        <p:spPr>
          <a:xfrm rot="5400000">
            <a:off x="8986837" y="3428574"/>
            <a:ext cx="840105" cy="48768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oupe 24"/>
          <p:cNvGrpSpPr/>
          <p:nvPr/>
        </p:nvGrpSpPr>
        <p:grpSpPr>
          <a:xfrm>
            <a:off x="7067028" y="1818583"/>
            <a:ext cx="406400" cy="356364"/>
            <a:chOff x="7061200" y="2120900"/>
            <a:chExt cx="406400" cy="356364"/>
          </a:xfrm>
        </p:grpSpPr>
        <p:cxnSp>
          <p:nvCxnSpPr>
            <p:cNvPr id="26" name="Connecteur droit 25"/>
            <p:cNvCxnSpPr/>
            <p:nvPr/>
          </p:nvCxnSpPr>
          <p:spPr>
            <a:xfrm>
              <a:off x="7061200" y="2120900"/>
              <a:ext cx="406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/>
            <p:cNvCxnSpPr/>
            <p:nvPr/>
          </p:nvCxnSpPr>
          <p:spPr>
            <a:xfrm>
              <a:off x="7061200" y="2299464"/>
              <a:ext cx="406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27"/>
            <p:cNvCxnSpPr/>
            <p:nvPr/>
          </p:nvCxnSpPr>
          <p:spPr>
            <a:xfrm>
              <a:off x="7061200" y="2477264"/>
              <a:ext cx="406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/>
          <p:cNvSpPr txBox="1"/>
          <p:nvPr/>
        </p:nvSpPr>
        <p:spPr>
          <a:xfrm>
            <a:off x="3535666" y="2944002"/>
            <a:ext cx="261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i="1" u="sng" dirty="0"/>
              <a:t>Buck - </a:t>
            </a:r>
            <a:r>
              <a:rPr lang="fr-FR" sz="2000" i="1" u="sng" dirty="0" err="1"/>
              <a:t>Boost</a:t>
            </a:r>
            <a:endParaRPr lang="fr-FR" sz="2000" i="1" u="sng" dirty="0"/>
          </a:p>
        </p:txBody>
      </p:sp>
      <p:sp>
        <p:nvSpPr>
          <p:cNvPr id="30" name="ZoneTexte 29"/>
          <p:cNvSpPr txBox="1"/>
          <p:nvPr/>
        </p:nvSpPr>
        <p:spPr>
          <a:xfrm>
            <a:off x="4251256" y="5971879"/>
            <a:ext cx="261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i="1" u="sng" dirty="0" err="1"/>
              <a:t>Flyback</a:t>
            </a:r>
            <a:endParaRPr lang="fr-FR" sz="2000" i="1" u="sng" dirty="0"/>
          </a:p>
        </p:txBody>
      </p:sp>
    </p:spTree>
    <p:extLst>
      <p:ext uri="{BB962C8B-B14F-4D97-AF65-F5344CB8AC3E}">
        <p14:creationId xmlns:p14="http://schemas.microsoft.com/office/powerpoint/2010/main" val="338373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FLYBACK converter study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4161194" y="4722235"/>
            <a:ext cx="603408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>
                <a:solidFill>
                  <a:srgbClr val="FF3300"/>
                </a:solidFill>
                <a:latin typeface="Times New Roman" panose="02020603050405020304" pitchFamily="18" charset="0"/>
              </a:rPr>
              <a:t>Hypothesis</a:t>
            </a:r>
            <a:r>
              <a:rPr lang="en-CA" altLang="fr-FR" sz="1800" b="1" i="1">
                <a:latin typeface="Times New Roman" panose="02020603050405020304" pitchFamily="18" charset="0"/>
              </a:rPr>
              <a:t> : E constant, V</a:t>
            </a:r>
            <a:r>
              <a:rPr lang="en-CA" altLang="fr-FR" sz="1800" b="1" i="1" baseline="-25000">
                <a:latin typeface="Times New Roman" panose="02020603050405020304" pitchFamily="18" charset="0"/>
              </a:rPr>
              <a:t>s</a:t>
            </a:r>
            <a:r>
              <a:rPr lang="en-CA" altLang="fr-FR" sz="1800" b="1" i="1">
                <a:latin typeface="Times New Roman" panose="02020603050405020304" pitchFamily="18" charset="0"/>
              </a:rPr>
              <a:t> constant, perfect semi-conductors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5024794" y="5227060"/>
            <a:ext cx="4337050" cy="941387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2 magnetic modes</a:t>
            </a:r>
            <a:br>
              <a:rPr lang="en-CA" altLang="fr-FR" sz="1800" b="1" i="1">
                <a:latin typeface="Times New Roman" panose="02020603050405020304" pitchFamily="18" charset="0"/>
              </a:rPr>
            </a:br>
            <a:r>
              <a:rPr lang="en-CA" altLang="fr-FR" sz="1800" b="1" i="1">
                <a:latin typeface="Times New Roman" panose="02020603050405020304" pitchFamily="18" charset="0"/>
              </a:rPr>
              <a:t>Partial demagnetization (continuous mode)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>
                <a:latin typeface="Times New Roman" panose="02020603050405020304" pitchFamily="18" charset="0"/>
              </a:rPr>
              <a:t>Full demagnetization (discontinuous mode)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0D3BB37-86AA-888F-61DC-D450BF9FE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288" y="1094552"/>
            <a:ext cx="5676899" cy="354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9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Transformer model: convention !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151" y="1714761"/>
            <a:ext cx="5205413" cy="199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040345" y="3918000"/>
            <a:ext cx="434388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2400" b="1" i="1" u="sng" dirty="0">
                <a:latin typeface="Times New Roman" panose="02020603050405020304" pitchFamily="18" charset="0"/>
              </a:rPr>
              <a:t>No losses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 dirty="0">
                <a:latin typeface="Times New Roman" panose="02020603050405020304" pitchFamily="18" charset="0"/>
              </a:rPr>
              <a:t>L : magnetizing inductance (at the primary)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 dirty="0">
                <a:latin typeface="Times New Roman" panose="02020603050405020304" pitchFamily="18" charset="0"/>
              </a:rPr>
              <a:t>R: Reluctance of the magnetic circuit</a:t>
            </a:r>
          </a:p>
        </p:txBody>
      </p:sp>
      <p:graphicFrame>
        <p:nvGraphicFramePr>
          <p:cNvPr id="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814869"/>
              </p:ext>
            </p:extLst>
          </p:nvPr>
        </p:nvGraphicFramePr>
        <p:xfrm>
          <a:off x="4533900" y="5319713"/>
          <a:ext cx="4665663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3" imgW="1777680" imgH="279360" progId="Equation.3">
                  <p:embed/>
                </p:oleObj>
              </mc:Choice>
              <mc:Fallback>
                <p:oleObj name="Équation" r:id="rId3" imgW="1777680" imgH="279360" progId="Equation.3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5319713"/>
                        <a:ext cx="4665663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9"/>
          <p:cNvGrpSpPr>
            <a:grpSpLocks/>
          </p:cNvGrpSpPr>
          <p:nvPr/>
        </p:nvGrpSpPr>
        <p:grpSpPr bwMode="auto">
          <a:xfrm>
            <a:off x="5931776" y="1544899"/>
            <a:ext cx="3209925" cy="3697287"/>
            <a:chOff x="2064" y="783"/>
            <a:chExt cx="2022" cy="2329"/>
          </a:xfrm>
        </p:grpSpPr>
        <p:sp>
          <p:nvSpPr>
            <p:cNvPr id="15" name="AutoShape 10"/>
            <p:cNvSpPr>
              <a:spLocks noChangeArrowheads="1"/>
            </p:cNvSpPr>
            <p:nvPr/>
          </p:nvSpPr>
          <p:spPr bwMode="auto">
            <a:xfrm rot="2888743">
              <a:off x="2857" y="2455"/>
              <a:ext cx="453" cy="862"/>
            </a:xfrm>
            <a:prstGeom prst="lightningBol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6" name="AutoShape 11"/>
            <p:cNvSpPr>
              <a:spLocks noChangeArrowheads="1"/>
            </p:cNvSpPr>
            <p:nvPr/>
          </p:nvSpPr>
          <p:spPr bwMode="auto">
            <a:xfrm rot="-9428741">
              <a:off x="3532" y="1718"/>
              <a:ext cx="271" cy="816"/>
            </a:xfrm>
            <a:prstGeom prst="lightningBol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7" name="AutoShape 12"/>
            <p:cNvSpPr>
              <a:spLocks noChangeArrowheads="1"/>
            </p:cNvSpPr>
            <p:nvPr/>
          </p:nvSpPr>
          <p:spPr bwMode="auto">
            <a:xfrm rot="10150441">
              <a:off x="2608" y="1570"/>
              <a:ext cx="272" cy="817"/>
            </a:xfrm>
            <a:prstGeom prst="lightningBol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8" name="Oval 13"/>
            <p:cNvSpPr>
              <a:spLocks noChangeArrowheads="1"/>
            </p:cNvSpPr>
            <p:nvPr/>
          </p:nvSpPr>
          <p:spPr bwMode="auto">
            <a:xfrm rot="-2378651">
              <a:off x="2064" y="845"/>
              <a:ext cx="544" cy="725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9" name="Oval 14"/>
            <p:cNvSpPr>
              <a:spLocks noChangeArrowheads="1"/>
            </p:cNvSpPr>
            <p:nvPr/>
          </p:nvSpPr>
          <p:spPr bwMode="auto">
            <a:xfrm rot="2411537">
              <a:off x="3388" y="783"/>
              <a:ext cx="698" cy="952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Rectangle à coins arrondis 1"/>
          <p:cNvSpPr/>
          <p:nvPr/>
        </p:nvSpPr>
        <p:spPr>
          <a:xfrm>
            <a:off x="4211782" y="5170750"/>
            <a:ext cx="5286764" cy="9792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à coins arrondis 19"/>
          <p:cNvSpPr/>
          <p:nvPr/>
        </p:nvSpPr>
        <p:spPr>
          <a:xfrm>
            <a:off x="4088024" y="5060530"/>
            <a:ext cx="5554739" cy="11918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9811380" y="5390087"/>
            <a:ext cx="2524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Hopkinson’s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9175053" y="4132266"/>
                <a:ext cx="2574103" cy="7823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053" y="4132266"/>
                <a:ext cx="2574103" cy="7823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28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Transformer model: convention !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151" y="1714761"/>
            <a:ext cx="5205413" cy="199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671496" y="4307149"/>
            <a:ext cx="1075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 dirty="0">
                <a:latin typeface="Times New Roman" panose="02020603050405020304" pitchFamily="18" charset="0"/>
              </a:rPr>
              <a:t>No losses</a:t>
            </a:r>
          </a:p>
        </p:txBody>
      </p:sp>
      <p:grpSp>
        <p:nvGrpSpPr>
          <p:cNvPr id="14" name="Group 9"/>
          <p:cNvGrpSpPr>
            <a:grpSpLocks/>
          </p:cNvGrpSpPr>
          <p:nvPr/>
        </p:nvGrpSpPr>
        <p:grpSpPr bwMode="auto">
          <a:xfrm>
            <a:off x="4645379" y="2204164"/>
            <a:ext cx="5549903" cy="2613026"/>
            <a:chOff x="1229" y="1160"/>
            <a:chExt cx="3496" cy="1646"/>
          </a:xfrm>
        </p:grpSpPr>
        <p:sp>
          <p:nvSpPr>
            <p:cNvPr id="16" name="AutoShape 11"/>
            <p:cNvSpPr>
              <a:spLocks noChangeArrowheads="1"/>
            </p:cNvSpPr>
            <p:nvPr/>
          </p:nvSpPr>
          <p:spPr bwMode="auto">
            <a:xfrm rot="12171259">
              <a:off x="3545" y="1990"/>
              <a:ext cx="271" cy="816"/>
            </a:xfrm>
            <a:prstGeom prst="lightningBol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7" name="AutoShape 12"/>
            <p:cNvSpPr>
              <a:spLocks noChangeArrowheads="1"/>
            </p:cNvSpPr>
            <p:nvPr/>
          </p:nvSpPr>
          <p:spPr bwMode="auto">
            <a:xfrm rot="10150441">
              <a:off x="1954" y="1885"/>
              <a:ext cx="272" cy="817"/>
            </a:xfrm>
            <a:prstGeom prst="lightningBol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8" name="Oval 13"/>
            <p:cNvSpPr>
              <a:spLocks noChangeArrowheads="1"/>
            </p:cNvSpPr>
            <p:nvPr/>
          </p:nvSpPr>
          <p:spPr bwMode="auto">
            <a:xfrm rot="14929719">
              <a:off x="1474" y="929"/>
              <a:ext cx="782" cy="1272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9" name="Oval 14"/>
            <p:cNvSpPr>
              <a:spLocks noChangeArrowheads="1"/>
            </p:cNvSpPr>
            <p:nvPr/>
          </p:nvSpPr>
          <p:spPr bwMode="auto">
            <a:xfrm rot="6379136">
              <a:off x="3611" y="932"/>
              <a:ext cx="885" cy="1342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Rectangle à coins arrondis 1"/>
          <p:cNvSpPr/>
          <p:nvPr/>
        </p:nvSpPr>
        <p:spPr>
          <a:xfrm>
            <a:off x="4211782" y="5170750"/>
            <a:ext cx="4594593" cy="9792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à coins arrondis 19"/>
          <p:cNvSpPr/>
          <p:nvPr/>
        </p:nvSpPr>
        <p:spPr>
          <a:xfrm>
            <a:off x="4088025" y="5060530"/>
            <a:ext cx="4863568" cy="11918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4394689" y="5283933"/>
                <a:ext cx="1858779" cy="701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𝝋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689" y="5283933"/>
                <a:ext cx="1858779" cy="7015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6800682" y="5309114"/>
                <a:ext cx="1858779" cy="701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𝝋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682" y="5309114"/>
                <a:ext cx="1858779" cy="7015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ZoneTexte 21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11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FLYBACK transformer model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5115809"/>
              </p:ext>
            </p:extLst>
          </p:nvPr>
        </p:nvGraphicFramePr>
        <p:xfrm>
          <a:off x="5276273" y="3838864"/>
          <a:ext cx="27813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032" imgH="380835" progId="Equation.3">
                  <p:embed/>
                </p:oleObj>
              </mc:Choice>
              <mc:Fallback>
                <p:oleObj name="Equation" r:id="rId2" imgW="1079032" imgH="380835" progId="Equation.3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6273" y="3838864"/>
                        <a:ext cx="27813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5323"/>
              </p:ext>
            </p:extLst>
          </p:nvPr>
        </p:nvGraphicFramePr>
        <p:xfrm>
          <a:off x="4748213" y="5173663"/>
          <a:ext cx="466725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4" imgW="1777680" imgH="279360" progId="Equation.3">
                  <p:embed/>
                </p:oleObj>
              </mc:Choice>
              <mc:Fallback>
                <p:oleObj name="Équation" r:id="rId4" imgW="1777680" imgH="279360" progId="Equation.3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8213" y="5173663"/>
                        <a:ext cx="466725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7"/>
          <p:cNvSpPr>
            <a:spLocks noChangeAspect="1" noChangeArrowheads="1" noTextEdit="1"/>
          </p:cNvSpPr>
          <p:nvPr/>
        </p:nvSpPr>
        <p:spPr bwMode="auto">
          <a:xfrm>
            <a:off x="4314248" y="1454439"/>
            <a:ext cx="5205413" cy="199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4314248" y="1456027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9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" name="Oval 9"/>
          <p:cNvSpPr>
            <a:spLocks noChangeArrowheads="1"/>
          </p:cNvSpPr>
          <p:nvPr/>
        </p:nvSpPr>
        <p:spPr bwMode="auto">
          <a:xfrm>
            <a:off x="6257348" y="2079914"/>
            <a:ext cx="1125538" cy="1127125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" name="Oval 10"/>
          <p:cNvSpPr>
            <a:spLocks noChangeArrowheads="1"/>
          </p:cNvSpPr>
          <p:nvPr/>
        </p:nvSpPr>
        <p:spPr bwMode="auto">
          <a:xfrm>
            <a:off x="6809798" y="2079914"/>
            <a:ext cx="1123950" cy="1127125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 flipH="1">
            <a:off x="7805161" y="1852902"/>
            <a:ext cx="236537" cy="454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 flipH="1" flipV="1">
            <a:off x="7805161" y="2978439"/>
            <a:ext cx="236537" cy="4349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 flipH="1">
            <a:off x="4907973" y="1852902"/>
            <a:ext cx="122237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 flipH="1">
            <a:off x="4907973" y="3413414"/>
            <a:ext cx="122237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 flipH="1">
            <a:off x="8041698" y="1852902"/>
            <a:ext cx="100647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 flipH="1">
            <a:off x="8041698" y="3413414"/>
            <a:ext cx="100647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Arc 17"/>
          <p:cNvSpPr>
            <a:spLocks/>
          </p:cNvSpPr>
          <p:nvPr/>
        </p:nvSpPr>
        <p:spPr bwMode="auto">
          <a:xfrm>
            <a:off x="5350886" y="2999077"/>
            <a:ext cx="128587" cy="109537"/>
          </a:xfrm>
          <a:custGeom>
            <a:avLst/>
            <a:gdLst>
              <a:gd name="T0" fmla="*/ 961421716 w 21600"/>
              <a:gd name="T1" fmla="*/ 367363451 h 21600"/>
              <a:gd name="T2" fmla="*/ 0 w 21600"/>
              <a:gd name="T3" fmla="*/ 0 h 21600"/>
              <a:gd name="T4" fmla="*/ 96142171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Arc 18"/>
          <p:cNvSpPr>
            <a:spLocks/>
          </p:cNvSpPr>
          <p:nvPr/>
        </p:nvSpPr>
        <p:spPr bwMode="auto">
          <a:xfrm>
            <a:off x="5479473" y="3059402"/>
            <a:ext cx="128588" cy="50800"/>
          </a:xfrm>
          <a:custGeom>
            <a:avLst/>
            <a:gdLst>
              <a:gd name="T0" fmla="*/ 961465448 w 21600"/>
              <a:gd name="T1" fmla="*/ 0 h 21645"/>
              <a:gd name="T2" fmla="*/ 0 w 21600"/>
              <a:gd name="T3" fmla="*/ 3617394 h 21645"/>
              <a:gd name="T4" fmla="*/ 0 w 21600"/>
              <a:gd name="T5" fmla="*/ 7553 h 216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45" fill="none" extrusionOk="0">
                <a:moveTo>
                  <a:pt x="21599" y="0"/>
                </a:moveTo>
                <a:cubicBezTo>
                  <a:pt x="21599" y="15"/>
                  <a:pt x="21600" y="30"/>
                  <a:pt x="21600" y="45"/>
                </a:cubicBezTo>
                <a:cubicBezTo>
                  <a:pt x="21600" y="11974"/>
                  <a:pt x="11929" y="21644"/>
                  <a:pt x="0" y="21645"/>
                </a:cubicBezTo>
              </a:path>
              <a:path w="21600" h="21645" stroke="0" extrusionOk="0">
                <a:moveTo>
                  <a:pt x="21599" y="0"/>
                </a:moveTo>
                <a:cubicBezTo>
                  <a:pt x="21599" y="15"/>
                  <a:pt x="21600" y="30"/>
                  <a:pt x="21600" y="45"/>
                </a:cubicBezTo>
                <a:cubicBezTo>
                  <a:pt x="21600" y="11974"/>
                  <a:pt x="11929" y="21644"/>
                  <a:pt x="0" y="21645"/>
                </a:cubicBezTo>
                <a:lnTo>
                  <a:pt x="0" y="45"/>
                </a:lnTo>
                <a:lnTo>
                  <a:pt x="21599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Arc 19"/>
          <p:cNvSpPr>
            <a:spLocks/>
          </p:cNvSpPr>
          <p:nvPr/>
        </p:nvSpPr>
        <p:spPr bwMode="auto">
          <a:xfrm>
            <a:off x="5350886" y="3008602"/>
            <a:ext cx="128587" cy="109537"/>
          </a:xfrm>
          <a:custGeom>
            <a:avLst/>
            <a:gdLst>
              <a:gd name="T0" fmla="*/ 0 w 21600"/>
              <a:gd name="T1" fmla="*/ 367363451 h 21600"/>
              <a:gd name="T2" fmla="*/ 961421716 w 21600"/>
              <a:gd name="T3" fmla="*/ 0 h 21600"/>
              <a:gd name="T4" fmla="*/ 961421716 w 21600"/>
              <a:gd name="T5" fmla="*/ 367363451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" name="Arc 20"/>
          <p:cNvSpPr>
            <a:spLocks/>
          </p:cNvSpPr>
          <p:nvPr/>
        </p:nvSpPr>
        <p:spPr bwMode="auto">
          <a:xfrm>
            <a:off x="5479473" y="3008602"/>
            <a:ext cx="128588" cy="50800"/>
          </a:xfrm>
          <a:custGeom>
            <a:avLst/>
            <a:gdLst>
              <a:gd name="T0" fmla="*/ 0 w 21600"/>
              <a:gd name="T1" fmla="*/ 0 h 21600"/>
              <a:gd name="T2" fmla="*/ 961465448 w 21600"/>
              <a:gd name="T3" fmla="*/ 3647605 h 21600"/>
              <a:gd name="T4" fmla="*/ 0 w 21600"/>
              <a:gd name="T5" fmla="*/ 365521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11" y="0"/>
                  <a:pt x="21575" y="9643"/>
                  <a:pt x="21599" y="21555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11" y="0"/>
                  <a:pt x="21575" y="9643"/>
                  <a:pt x="21599" y="2155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Arc 21"/>
          <p:cNvSpPr>
            <a:spLocks/>
          </p:cNvSpPr>
          <p:nvPr/>
        </p:nvSpPr>
        <p:spPr bwMode="auto">
          <a:xfrm>
            <a:off x="5350886" y="2880014"/>
            <a:ext cx="128587" cy="109538"/>
          </a:xfrm>
          <a:custGeom>
            <a:avLst/>
            <a:gdLst>
              <a:gd name="T0" fmla="*/ 961421716 w 21600"/>
              <a:gd name="T1" fmla="*/ 367384199 h 21600"/>
              <a:gd name="T2" fmla="*/ 0 w 21600"/>
              <a:gd name="T3" fmla="*/ 0 h 21600"/>
              <a:gd name="T4" fmla="*/ 96142171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7" name="Arc 22"/>
          <p:cNvSpPr>
            <a:spLocks/>
          </p:cNvSpPr>
          <p:nvPr/>
        </p:nvSpPr>
        <p:spPr bwMode="auto">
          <a:xfrm>
            <a:off x="5479473" y="2940339"/>
            <a:ext cx="128588" cy="50800"/>
          </a:xfrm>
          <a:custGeom>
            <a:avLst/>
            <a:gdLst>
              <a:gd name="T0" fmla="*/ 961465448 w 21600"/>
              <a:gd name="T1" fmla="*/ 0 h 21645"/>
              <a:gd name="T2" fmla="*/ 0 w 21600"/>
              <a:gd name="T3" fmla="*/ 3617394 h 21645"/>
              <a:gd name="T4" fmla="*/ 0 w 21600"/>
              <a:gd name="T5" fmla="*/ 7553 h 216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45" fill="none" extrusionOk="0">
                <a:moveTo>
                  <a:pt x="21599" y="0"/>
                </a:moveTo>
                <a:cubicBezTo>
                  <a:pt x="21599" y="15"/>
                  <a:pt x="21600" y="30"/>
                  <a:pt x="21600" y="45"/>
                </a:cubicBezTo>
                <a:cubicBezTo>
                  <a:pt x="21600" y="11974"/>
                  <a:pt x="11929" y="21644"/>
                  <a:pt x="0" y="21645"/>
                </a:cubicBezTo>
              </a:path>
              <a:path w="21600" h="21645" stroke="0" extrusionOk="0">
                <a:moveTo>
                  <a:pt x="21599" y="0"/>
                </a:moveTo>
                <a:cubicBezTo>
                  <a:pt x="21599" y="15"/>
                  <a:pt x="21600" y="30"/>
                  <a:pt x="21600" y="45"/>
                </a:cubicBezTo>
                <a:cubicBezTo>
                  <a:pt x="21600" y="11974"/>
                  <a:pt x="11929" y="21644"/>
                  <a:pt x="0" y="21645"/>
                </a:cubicBezTo>
                <a:lnTo>
                  <a:pt x="0" y="45"/>
                </a:lnTo>
                <a:lnTo>
                  <a:pt x="21599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8" name="Arc 23"/>
          <p:cNvSpPr>
            <a:spLocks/>
          </p:cNvSpPr>
          <p:nvPr/>
        </p:nvSpPr>
        <p:spPr bwMode="auto">
          <a:xfrm>
            <a:off x="5350886" y="2889539"/>
            <a:ext cx="128587" cy="109538"/>
          </a:xfrm>
          <a:custGeom>
            <a:avLst/>
            <a:gdLst>
              <a:gd name="T0" fmla="*/ 0 w 21600"/>
              <a:gd name="T1" fmla="*/ 367384199 h 21600"/>
              <a:gd name="T2" fmla="*/ 961421716 w 21600"/>
              <a:gd name="T3" fmla="*/ 0 h 21600"/>
              <a:gd name="T4" fmla="*/ 961421716 w 21600"/>
              <a:gd name="T5" fmla="*/ 367384199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" name="Arc 24"/>
          <p:cNvSpPr>
            <a:spLocks/>
          </p:cNvSpPr>
          <p:nvPr/>
        </p:nvSpPr>
        <p:spPr bwMode="auto">
          <a:xfrm>
            <a:off x="5479473" y="2889539"/>
            <a:ext cx="128588" cy="50800"/>
          </a:xfrm>
          <a:custGeom>
            <a:avLst/>
            <a:gdLst>
              <a:gd name="T0" fmla="*/ 0 w 21600"/>
              <a:gd name="T1" fmla="*/ 0 h 21600"/>
              <a:gd name="T2" fmla="*/ 961465448 w 21600"/>
              <a:gd name="T3" fmla="*/ 3647605 h 21600"/>
              <a:gd name="T4" fmla="*/ 0 w 21600"/>
              <a:gd name="T5" fmla="*/ 365521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11" y="0"/>
                  <a:pt x="21575" y="9643"/>
                  <a:pt x="21599" y="21555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11" y="0"/>
                  <a:pt x="21575" y="9643"/>
                  <a:pt x="21599" y="2155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" name="Arc 25"/>
          <p:cNvSpPr>
            <a:spLocks/>
          </p:cNvSpPr>
          <p:nvPr/>
        </p:nvSpPr>
        <p:spPr bwMode="auto">
          <a:xfrm>
            <a:off x="5350886" y="2751427"/>
            <a:ext cx="128587" cy="119062"/>
          </a:xfrm>
          <a:custGeom>
            <a:avLst/>
            <a:gdLst>
              <a:gd name="T0" fmla="*/ 961421716 w 21600"/>
              <a:gd name="T1" fmla="*/ 590119678 h 21714"/>
              <a:gd name="T2" fmla="*/ 0 w 21600"/>
              <a:gd name="T3" fmla="*/ 0 h 21714"/>
              <a:gd name="T4" fmla="*/ 961421716 w 21600"/>
              <a:gd name="T5" fmla="*/ 3097789 h 2171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714" fill="none" extrusionOk="0">
                <a:moveTo>
                  <a:pt x="21600" y="21714"/>
                </a:moveTo>
                <a:cubicBezTo>
                  <a:pt x="9670" y="21714"/>
                  <a:pt x="0" y="12043"/>
                  <a:pt x="0" y="114"/>
                </a:cubicBezTo>
                <a:cubicBezTo>
                  <a:pt x="-1" y="76"/>
                  <a:pt x="0" y="38"/>
                  <a:pt x="0" y="0"/>
                </a:cubicBezTo>
              </a:path>
              <a:path w="21600" h="21714" stroke="0" extrusionOk="0">
                <a:moveTo>
                  <a:pt x="21600" y="21714"/>
                </a:moveTo>
                <a:cubicBezTo>
                  <a:pt x="9670" y="21714"/>
                  <a:pt x="0" y="12043"/>
                  <a:pt x="0" y="114"/>
                </a:cubicBezTo>
                <a:cubicBezTo>
                  <a:pt x="-1" y="76"/>
                  <a:pt x="0" y="38"/>
                  <a:pt x="0" y="0"/>
                </a:cubicBezTo>
                <a:lnTo>
                  <a:pt x="21600" y="114"/>
                </a:lnTo>
                <a:lnTo>
                  <a:pt x="21600" y="21714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" name="Arc 26"/>
          <p:cNvSpPr>
            <a:spLocks/>
          </p:cNvSpPr>
          <p:nvPr/>
        </p:nvSpPr>
        <p:spPr bwMode="auto">
          <a:xfrm>
            <a:off x="5479473" y="2821277"/>
            <a:ext cx="128588" cy="50800"/>
          </a:xfrm>
          <a:custGeom>
            <a:avLst/>
            <a:gdLst>
              <a:gd name="T0" fmla="*/ 961465448 w 21600"/>
              <a:gd name="T1" fmla="*/ 0 h 21600"/>
              <a:gd name="T2" fmla="*/ 0 w 21600"/>
              <a:gd name="T3" fmla="*/ 3655215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" name="Arc 27"/>
          <p:cNvSpPr>
            <a:spLocks/>
          </p:cNvSpPr>
          <p:nvPr/>
        </p:nvSpPr>
        <p:spPr bwMode="auto">
          <a:xfrm>
            <a:off x="5350886" y="2770477"/>
            <a:ext cx="128587" cy="109537"/>
          </a:xfrm>
          <a:custGeom>
            <a:avLst/>
            <a:gdLst>
              <a:gd name="T0" fmla="*/ 0 w 21600"/>
              <a:gd name="T1" fmla="*/ 367363451 h 21600"/>
              <a:gd name="T2" fmla="*/ 961421716 w 21600"/>
              <a:gd name="T3" fmla="*/ 0 h 21600"/>
              <a:gd name="T4" fmla="*/ 961421716 w 21600"/>
              <a:gd name="T5" fmla="*/ 367363451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" name="Arc 28"/>
          <p:cNvSpPr>
            <a:spLocks/>
          </p:cNvSpPr>
          <p:nvPr/>
        </p:nvSpPr>
        <p:spPr bwMode="auto">
          <a:xfrm>
            <a:off x="5479473" y="2770477"/>
            <a:ext cx="128588" cy="50800"/>
          </a:xfrm>
          <a:custGeom>
            <a:avLst/>
            <a:gdLst>
              <a:gd name="T0" fmla="*/ 0 w 21600"/>
              <a:gd name="T1" fmla="*/ 0 h 21600"/>
              <a:gd name="T2" fmla="*/ 961465448 w 21600"/>
              <a:gd name="T3" fmla="*/ 3655215 h 21600"/>
              <a:gd name="T4" fmla="*/ 0 w 21600"/>
              <a:gd name="T5" fmla="*/ 365521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4" name="Arc 29"/>
          <p:cNvSpPr>
            <a:spLocks/>
          </p:cNvSpPr>
          <p:nvPr/>
        </p:nvSpPr>
        <p:spPr bwMode="auto">
          <a:xfrm>
            <a:off x="5350886" y="2622839"/>
            <a:ext cx="128587" cy="109538"/>
          </a:xfrm>
          <a:custGeom>
            <a:avLst/>
            <a:gdLst>
              <a:gd name="T0" fmla="*/ 961421716 w 21600"/>
              <a:gd name="T1" fmla="*/ 367384199 h 21600"/>
              <a:gd name="T2" fmla="*/ 0 w 21600"/>
              <a:gd name="T3" fmla="*/ 0 h 21600"/>
              <a:gd name="T4" fmla="*/ 96142171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" name="Arc 30"/>
          <p:cNvSpPr>
            <a:spLocks/>
          </p:cNvSpPr>
          <p:nvPr/>
        </p:nvSpPr>
        <p:spPr bwMode="auto">
          <a:xfrm>
            <a:off x="5479473" y="2692689"/>
            <a:ext cx="128588" cy="39688"/>
          </a:xfrm>
          <a:custGeom>
            <a:avLst/>
            <a:gdLst>
              <a:gd name="T0" fmla="*/ 961331062 w 21600"/>
              <a:gd name="T1" fmla="*/ 0 h 21942"/>
              <a:gd name="T2" fmla="*/ 0 w 21600"/>
              <a:gd name="T3" fmla="*/ 768372 h 21942"/>
              <a:gd name="T4" fmla="*/ 0 w 21600"/>
              <a:gd name="T5" fmla="*/ 11990 h 219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942" fill="none" extrusionOk="0">
                <a:moveTo>
                  <a:pt x="21597" y="-1"/>
                </a:moveTo>
                <a:cubicBezTo>
                  <a:pt x="21599" y="113"/>
                  <a:pt x="21600" y="227"/>
                  <a:pt x="21600" y="342"/>
                </a:cubicBezTo>
                <a:cubicBezTo>
                  <a:pt x="21600" y="12271"/>
                  <a:pt x="11929" y="21941"/>
                  <a:pt x="0" y="21942"/>
                </a:cubicBezTo>
              </a:path>
              <a:path w="21600" h="21942" stroke="0" extrusionOk="0">
                <a:moveTo>
                  <a:pt x="21597" y="-1"/>
                </a:moveTo>
                <a:cubicBezTo>
                  <a:pt x="21599" y="113"/>
                  <a:pt x="21600" y="227"/>
                  <a:pt x="21600" y="342"/>
                </a:cubicBezTo>
                <a:cubicBezTo>
                  <a:pt x="21600" y="12271"/>
                  <a:pt x="11929" y="21941"/>
                  <a:pt x="0" y="21942"/>
                </a:cubicBezTo>
                <a:lnTo>
                  <a:pt x="0" y="342"/>
                </a:lnTo>
                <a:lnTo>
                  <a:pt x="21597" y="-1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6" name="Arc 31"/>
          <p:cNvSpPr>
            <a:spLocks/>
          </p:cNvSpPr>
          <p:nvPr/>
        </p:nvSpPr>
        <p:spPr bwMode="auto">
          <a:xfrm>
            <a:off x="5350886" y="2653002"/>
            <a:ext cx="128587" cy="109537"/>
          </a:xfrm>
          <a:custGeom>
            <a:avLst/>
            <a:gdLst>
              <a:gd name="T0" fmla="*/ 0 w 21600"/>
              <a:gd name="T1" fmla="*/ 367008333 h 21600"/>
              <a:gd name="T2" fmla="*/ 961421716 w 21600"/>
              <a:gd name="T3" fmla="*/ 0 h 21600"/>
              <a:gd name="T4" fmla="*/ 961421716 w 21600"/>
              <a:gd name="T5" fmla="*/ 367363451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79"/>
                </a:moveTo>
                <a:cubicBezTo>
                  <a:pt x="11" y="9657"/>
                  <a:pt x="9678" y="0"/>
                  <a:pt x="21599" y="0"/>
                </a:cubicBezTo>
              </a:path>
              <a:path w="21600" h="21600" stroke="0" extrusionOk="0">
                <a:moveTo>
                  <a:pt x="0" y="21579"/>
                </a:moveTo>
                <a:cubicBezTo>
                  <a:pt x="11" y="9657"/>
                  <a:pt x="9678" y="0"/>
                  <a:pt x="21599" y="0"/>
                </a:cubicBezTo>
                <a:lnTo>
                  <a:pt x="21600" y="21600"/>
                </a:lnTo>
                <a:lnTo>
                  <a:pt x="0" y="21579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7" name="Arc 32"/>
          <p:cNvSpPr>
            <a:spLocks/>
          </p:cNvSpPr>
          <p:nvPr/>
        </p:nvSpPr>
        <p:spPr bwMode="auto">
          <a:xfrm>
            <a:off x="5479473" y="2653002"/>
            <a:ext cx="128588" cy="49212"/>
          </a:xfrm>
          <a:custGeom>
            <a:avLst/>
            <a:gdLst>
              <a:gd name="T0" fmla="*/ 0 w 21600"/>
              <a:gd name="T1" fmla="*/ 0 h 21600"/>
              <a:gd name="T2" fmla="*/ 961465448 w 21600"/>
              <a:gd name="T3" fmla="*/ 3021036 h 21600"/>
              <a:gd name="T4" fmla="*/ 0 w 21600"/>
              <a:gd name="T5" fmla="*/ 302103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" name="Arc 33"/>
          <p:cNvSpPr>
            <a:spLocks/>
          </p:cNvSpPr>
          <p:nvPr/>
        </p:nvSpPr>
        <p:spPr bwMode="auto">
          <a:xfrm>
            <a:off x="5350886" y="2505364"/>
            <a:ext cx="128587" cy="109538"/>
          </a:xfrm>
          <a:custGeom>
            <a:avLst/>
            <a:gdLst>
              <a:gd name="T0" fmla="*/ 961421716 w 21600"/>
              <a:gd name="T1" fmla="*/ 365603181 h 21621"/>
              <a:gd name="T2" fmla="*/ 0 w 21600"/>
              <a:gd name="T3" fmla="*/ 0 h 21621"/>
              <a:gd name="T4" fmla="*/ 961421716 w 21600"/>
              <a:gd name="T5" fmla="*/ 353824 h 2162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21" fill="none" extrusionOk="0">
                <a:moveTo>
                  <a:pt x="21600" y="21621"/>
                </a:moveTo>
                <a:cubicBezTo>
                  <a:pt x="9670" y="21621"/>
                  <a:pt x="0" y="11950"/>
                  <a:pt x="0" y="21"/>
                </a:cubicBezTo>
                <a:cubicBezTo>
                  <a:pt x="-1" y="14"/>
                  <a:pt x="0" y="7"/>
                  <a:pt x="0" y="0"/>
                </a:cubicBezTo>
              </a:path>
              <a:path w="21600" h="21621" stroke="0" extrusionOk="0">
                <a:moveTo>
                  <a:pt x="21600" y="21621"/>
                </a:moveTo>
                <a:cubicBezTo>
                  <a:pt x="9670" y="21621"/>
                  <a:pt x="0" y="11950"/>
                  <a:pt x="0" y="21"/>
                </a:cubicBezTo>
                <a:cubicBezTo>
                  <a:pt x="-1" y="14"/>
                  <a:pt x="0" y="7"/>
                  <a:pt x="0" y="0"/>
                </a:cubicBezTo>
                <a:lnTo>
                  <a:pt x="21600" y="21"/>
                </a:lnTo>
                <a:lnTo>
                  <a:pt x="21600" y="21621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Arc 34"/>
          <p:cNvSpPr>
            <a:spLocks/>
          </p:cNvSpPr>
          <p:nvPr/>
        </p:nvSpPr>
        <p:spPr bwMode="auto">
          <a:xfrm>
            <a:off x="5479473" y="2573627"/>
            <a:ext cx="128588" cy="39687"/>
          </a:xfrm>
          <a:custGeom>
            <a:avLst/>
            <a:gdLst>
              <a:gd name="T0" fmla="*/ 961331062 w 21600"/>
              <a:gd name="T1" fmla="*/ 0 h 21942"/>
              <a:gd name="T2" fmla="*/ 0 w 21600"/>
              <a:gd name="T3" fmla="*/ 768264 h 21942"/>
              <a:gd name="T4" fmla="*/ 0 w 21600"/>
              <a:gd name="T5" fmla="*/ 11986 h 219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942" fill="none" extrusionOk="0">
                <a:moveTo>
                  <a:pt x="21597" y="-1"/>
                </a:moveTo>
                <a:cubicBezTo>
                  <a:pt x="21599" y="113"/>
                  <a:pt x="21600" y="227"/>
                  <a:pt x="21600" y="342"/>
                </a:cubicBezTo>
                <a:cubicBezTo>
                  <a:pt x="21600" y="12271"/>
                  <a:pt x="11929" y="21941"/>
                  <a:pt x="0" y="21942"/>
                </a:cubicBezTo>
              </a:path>
              <a:path w="21600" h="21942" stroke="0" extrusionOk="0">
                <a:moveTo>
                  <a:pt x="21597" y="-1"/>
                </a:moveTo>
                <a:cubicBezTo>
                  <a:pt x="21599" y="113"/>
                  <a:pt x="21600" y="227"/>
                  <a:pt x="21600" y="342"/>
                </a:cubicBezTo>
                <a:cubicBezTo>
                  <a:pt x="21600" y="12271"/>
                  <a:pt x="11929" y="21941"/>
                  <a:pt x="0" y="21942"/>
                </a:cubicBezTo>
                <a:lnTo>
                  <a:pt x="0" y="342"/>
                </a:lnTo>
                <a:lnTo>
                  <a:pt x="21597" y="-1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" name="Arc 35"/>
          <p:cNvSpPr>
            <a:spLocks/>
          </p:cNvSpPr>
          <p:nvPr/>
        </p:nvSpPr>
        <p:spPr bwMode="auto">
          <a:xfrm>
            <a:off x="5350886" y="2533939"/>
            <a:ext cx="128587" cy="109538"/>
          </a:xfrm>
          <a:custGeom>
            <a:avLst/>
            <a:gdLst>
              <a:gd name="T0" fmla="*/ 0 w 21600"/>
              <a:gd name="T1" fmla="*/ 367384199 h 21600"/>
              <a:gd name="T2" fmla="*/ 961421716 w 21600"/>
              <a:gd name="T3" fmla="*/ 0 h 21600"/>
              <a:gd name="T4" fmla="*/ 961421716 w 21600"/>
              <a:gd name="T5" fmla="*/ 367384199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" name="Arc 36"/>
          <p:cNvSpPr>
            <a:spLocks/>
          </p:cNvSpPr>
          <p:nvPr/>
        </p:nvSpPr>
        <p:spPr bwMode="auto">
          <a:xfrm>
            <a:off x="5479473" y="2533939"/>
            <a:ext cx="128588" cy="50800"/>
          </a:xfrm>
          <a:custGeom>
            <a:avLst/>
            <a:gdLst>
              <a:gd name="T0" fmla="*/ 0 w 21600"/>
              <a:gd name="T1" fmla="*/ 0 h 21600"/>
              <a:gd name="T2" fmla="*/ 961465448 w 21600"/>
              <a:gd name="T3" fmla="*/ 3647605 h 21600"/>
              <a:gd name="T4" fmla="*/ 0 w 21600"/>
              <a:gd name="T5" fmla="*/ 365521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11" y="0"/>
                  <a:pt x="21575" y="9643"/>
                  <a:pt x="21599" y="21555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11" y="0"/>
                  <a:pt x="21575" y="9643"/>
                  <a:pt x="21599" y="2155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Arc 37"/>
          <p:cNvSpPr>
            <a:spLocks/>
          </p:cNvSpPr>
          <p:nvPr/>
        </p:nvSpPr>
        <p:spPr bwMode="auto">
          <a:xfrm>
            <a:off x="5350886" y="2386302"/>
            <a:ext cx="128587" cy="109537"/>
          </a:xfrm>
          <a:custGeom>
            <a:avLst/>
            <a:gdLst>
              <a:gd name="T0" fmla="*/ 961421716 w 21600"/>
              <a:gd name="T1" fmla="*/ 367363451 h 21600"/>
              <a:gd name="T2" fmla="*/ 0 w 21600"/>
              <a:gd name="T3" fmla="*/ 0 h 21600"/>
              <a:gd name="T4" fmla="*/ 96142171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3" name="Arc 38"/>
          <p:cNvSpPr>
            <a:spLocks/>
          </p:cNvSpPr>
          <p:nvPr/>
        </p:nvSpPr>
        <p:spPr bwMode="auto">
          <a:xfrm>
            <a:off x="5479473" y="2454564"/>
            <a:ext cx="128588" cy="39688"/>
          </a:xfrm>
          <a:custGeom>
            <a:avLst/>
            <a:gdLst>
              <a:gd name="T0" fmla="*/ 961331062 w 21600"/>
              <a:gd name="T1" fmla="*/ 0 h 21942"/>
              <a:gd name="T2" fmla="*/ 0 w 21600"/>
              <a:gd name="T3" fmla="*/ 768372 h 21942"/>
              <a:gd name="T4" fmla="*/ 0 w 21600"/>
              <a:gd name="T5" fmla="*/ 11990 h 219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942" fill="none" extrusionOk="0">
                <a:moveTo>
                  <a:pt x="21597" y="-1"/>
                </a:moveTo>
                <a:cubicBezTo>
                  <a:pt x="21599" y="113"/>
                  <a:pt x="21600" y="227"/>
                  <a:pt x="21600" y="342"/>
                </a:cubicBezTo>
                <a:cubicBezTo>
                  <a:pt x="21600" y="12271"/>
                  <a:pt x="11929" y="21941"/>
                  <a:pt x="0" y="21942"/>
                </a:cubicBezTo>
              </a:path>
              <a:path w="21600" h="21942" stroke="0" extrusionOk="0">
                <a:moveTo>
                  <a:pt x="21597" y="-1"/>
                </a:moveTo>
                <a:cubicBezTo>
                  <a:pt x="21599" y="113"/>
                  <a:pt x="21600" y="227"/>
                  <a:pt x="21600" y="342"/>
                </a:cubicBezTo>
                <a:cubicBezTo>
                  <a:pt x="21600" y="12271"/>
                  <a:pt x="11929" y="21941"/>
                  <a:pt x="0" y="21942"/>
                </a:cubicBezTo>
                <a:lnTo>
                  <a:pt x="0" y="342"/>
                </a:lnTo>
                <a:lnTo>
                  <a:pt x="21597" y="-1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4" name="Arc 39"/>
          <p:cNvSpPr>
            <a:spLocks/>
          </p:cNvSpPr>
          <p:nvPr/>
        </p:nvSpPr>
        <p:spPr bwMode="auto">
          <a:xfrm>
            <a:off x="5350886" y="2414877"/>
            <a:ext cx="128587" cy="109537"/>
          </a:xfrm>
          <a:custGeom>
            <a:avLst/>
            <a:gdLst>
              <a:gd name="T0" fmla="*/ 0 w 21600"/>
              <a:gd name="T1" fmla="*/ 367363451 h 21600"/>
              <a:gd name="T2" fmla="*/ 961421716 w 21600"/>
              <a:gd name="T3" fmla="*/ 0 h 21600"/>
              <a:gd name="T4" fmla="*/ 961421716 w 21600"/>
              <a:gd name="T5" fmla="*/ 367363451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5" name="Arc 40"/>
          <p:cNvSpPr>
            <a:spLocks/>
          </p:cNvSpPr>
          <p:nvPr/>
        </p:nvSpPr>
        <p:spPr bwMode="auto">
          <a:xfrm>
            <a:off x="5479473" y="2414877"/>
            <a:ext cx="128588" cy="50800"/>
          </a:xfrm>
          <a:custGeom>
            <a:avLst/>
            <a:gdLst>
              <a:gd name="T0" fmla="*/ 0 w 21600"/>
              <a:gd name="T1" fmla="*/ 0 h 21600"/>
              <a:gd name="T2" fmla="*/ 961465448 w 21600"/>
              <a:gd name="T3" fmla="*/ 3655215 h 21600"/>
              <a:gd name="T4" fmla="*/ 0 w 21600"/>
              <a:gd name="T5" fmla="*/ 365521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6" name="Arc 41"/>
          <p:cNvSpPr>
            <a:spLocks/>
          </p:cNvSpPr>
          <p:nvPr/>
        </p:nvSpPr>
        <p:spPr bwMode="auto">
          <a:xfrm>
            <a:off x="5350886" y="2297402"/>
            <a:ext cx="128587" cy="109537"/>
          </a:xfrm>
          <a:custGeom>
            <a:avLst/>
            <a:gdLst>
              <a:gd name="T0" fmla="*/ 0 w 21600"/>
              <a:gd name="T1" fmla="*/ 367008333 h 21600"/>
              <a:gd name="T2" fmla="*/ 961421716 w 21600"/>
              <a:gd name="T3" fmla="*/ 0 h 21600"/>
              <a:gd name="T4" fmla="*/ 961421716 w 21600"/>
              <a:gd name="T5" fmla="*/ 367363451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79"/>
                </a:moveTo>
                <a:cubicBezTo>
                  <a:pt x="11" y="9657"/>
                  <a:pt x="9678" y="0"/>
                  <a:pt x="21599" y="0"/>
                </a:cubicBezTo>
              </a:path>
              <a:path w="21600" h="21600" stroke="0" extrusionOk="0">
                <a:moveTo>
                  <a:pt x="0" y="21579"/>
                </a:moveTo>
                <a:cubicBezTo>
                  <a:pt x="11" y="9657"/>
                  <a:pt x="9678" y="0"/>
                  <a:pt x="21599" y="0"/>
                </a:cubicBezTo>
                <a:lnTo>
                  <a:pt x="21600" y="21600"/>
                </a:lnTo>
                <a:lnTo>
                  <a:pt x="0" y="21579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7" name="Arc 42"/>
          <p:cNvSpPr>
            <a:spLocks/>
          </p:cNvSpPr>
          <p:nvPr/>
        </p:nvSpPr>
        <p:spPr bwMode="auto">
          <a:xfrm>
            <a:off x="5350886" y="3118139"/>
            <a:ext cx="128587" cy="109538"/>
          </a:xfrm>
          <a:custGeom>
            <a:avLst/>
            <a:gdLst>
              <a:gd name="T0" fmla="*/ 961421716 w 21600"/>
              <a:gd name="T1" fmla="*/ 367384199 h 21600"/>
              <a:gd name="T2" fmla="*/ 0 w 21600"/>
              <a:gd name="T3" fmla="*/ 0 h 21600"/>
              <a:gd name="T4" fmla="*/ 96142171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8" name="Line 43"/>
          <p:cNvSpPr>
            <a:spLocks noChangeShapeType="1"/>
          </p:cNvSpPr>
          <p:nvPr/>
        </p:nvSpPr>
        <p:spPr bwMode="auto">
          <a:xfrm flipV="1">
            <a:off x="5460423" y="2187864"/>
            <a:ext cx="1588" cy="1000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9" name="Line 44"/>
          <p:cNvSpPr>
            <a:spLocks noChangeShapeType="1"/>
          </p:cNvSpPr>
          <p:nvPr/>
        </p:nvSpPr>
        <p:spPr bwMode="auto">
          <a:xfrm flipV="1">
            <a:off x="5460423" y="3216564"/>
            <a:ext cx="1588" cy="984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" name="Line 45"/>
          <p:cNvSpPr>
            <a:spLocks noChangeShapeType="1"/>
          </p:cNvSpPr>
          <p:nvPr/>
        </p:nvSpPr>
        <p:spPr bwMode="auto">
          <a:xfrm>
            <a:off x="6130348" y="1852902"/>
            <a:ext cx="236538" cy="454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" name="Line 46"/>
          <p:cNvSpPr>
            <a:spLocks noChangeShapeType="1"/>
          </p:cNvSpPr>
          <p:nvPr/>
        </p:nvSpPr>
        <p:spPr bwMode="auto">
          <a:xfrm flipV="1">
            <a:off x="6130348" y="2978439"/>
            <a:ext cx="236538" cy="4349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2" name="Freeform 47"/>
          <p:cNvSpPr>
            <a:spLocks/>
          </p:cNvSpPr>
          <p:nvPr/>
        </p:nvSpPr>
        <p:spPr bwMode="auto">
          <a:xfrm>
            <a:off x="5400098" y="2030702"/>
            <a:ext cx="138113" cy="276225"/>
          </a:xfrm>
          <a:custGeom>
            <a:avLst/>
            <a:gdLst>
              <a:gd name="T0" fmla="*/ 2147483646 w 87"/>
              <a:gd name="T1" fmla="*/ 2147483646 h 174"/>
              <a:gd name="T2" fmla="*/ 0 w 87"/>
              <a:gd name="T3" fmla="*/ 0 h 174"/>
              <a:gd name="T4" fmla="*/ 2147483646 w 87"/>
              <a:gd name="T5" fmla="*/ 0 h 174"/>
              <a:gd name="T6" fmla="*/ 2147483646 w 87"/>
              <a:gd name="T7" fmla="*/ 0 h 174"/>
              <a:gd name="T8" fmla="*/ 2147483646 w 87"/>
              <a:gd name="T9" fmla="*/ 2147483646 h 1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" h="174">
                <a:moveTo>
                  <a:pt x="38" y="174"/>
                </a:moveTo>
                <a:lnTo>
                  <a:pt x="0" y="0"/>
                </a:lnTo>
                <a:lnTo>
                  <a:pt x="38" y="0"/>
                </a:lnTo>
                <a:lnTo>
                  <a:pt x="87" y="0"/>
                </a:lnTo>
                <a:lnTo>
                  <a:pt x="38" y="17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" name="Line 48"/>
          <p:cNvSpPr>
            <a:spLocks noChangeShapeType="1"/>
          </p:cNvSpPr>
          <p:nvPr/>
        </p:nvSpPr>
        <p:spPr bwMode="auto">
          <a:xfrm flipV="1">
            <a:off x="5460423" y="1852902"/>
            <a:ext cx="1588" cy="177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4" name="Line 49"/>
          <p:cNvSpPr>
            <a:spLocks noChangeShapeType="1"/>
          </p:cNvSpPr>
          <p:nvPr/>
        </p:nvSpPr>
        <p:spPr bwMode="auto">
          <a:xfrm flipV="1">
            <a:off x="5460423" y="3314989"/>
            <a:ext cx="1588" cy="984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5" name="Freeform 50"/>
          <p:cNvSpPr>
            <a:spLocks/>
          </p:cNvSpPr>
          <p:nvPr/>
        </p:nvSpPr>
        <p:spPr bwMode="auto">
          <a:xfrm>
            <a:off x="5755698" y="1792577"/>
            <a:ext cx="276225" cy="138112"/>
          </a:xfrm>
          <a:custGeom>
            <a:avLst/>
            <a:gdLst>
              <a:gd name="T0" fmla="*/ 2147483646 w 174"/>
              <a:gd name="T1" fmla="*/ 2147483646 h 87"/>
              <a:gd name="T2" fmla="*/ 0 w 174"/>
              <a:gd name="T3" fmla="*/ 2147483646 h 87"/>
              <a:gd name="T4" fmla="*/ 0 w 174"/>
              <a:gd name="T5" fmla="*/ 2147483646 h 87"/>
              <a:gd name="T6" fmla="*/ 0 w 174"/>
              <a:gd name="T7" fmla="*/ 0 h 87"/>
              <a:gd name="T8" fmla="*/ 2147483646 w 174"/>
              <a:gd name="T9" fmla="*/ 2147483646 h 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4" h="87">
                <a:moveTo>
                  <a:pt x="174" y="38"/>
                </a:moveTo>
                <a:lnTo>
                  <a:pt x="0" y="87"/>
                </a:lnTo>
                <a:lnTo>
                  <a:pt x="0" y="38"/>
                </a:lnTo>
                <a:lnTo>
                  <a:pt x="0" y="0"/>
                </a:lnTo>
                <a:lnTo>
                  <a:pt x="174" y="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6" name="Line 51"/>
          <p:cNvSpPr>
            <a:spLocks noChangeShapeType="1"/>
          </p:cNvSpPr>
          <p:nvPr/>
        </p:nvSpPr>
        <p:spPr bwMode="auto">
          <a:xfrm flipH="1">
            <a:off x="5577898" y="1852902"/>
            <a:ext cx="1778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7" name="Freeform 52"/>
          <p:cNvSpPr>
            <a:spLocks/>
          </p:cNvSpPr>
          <p:nvPr/>
        </p:nvSpPr>
        <p:spPr bwMode="auto">
          <a:xfrm>
            <a:off x="5085773" y="1792577"/>
            <a:ext cx="276225" cy="138112"/>
          </a:xfrm>
          <a:custGeom>
            <a:avLst/>
            <a:gdLst>
              <a:gd name="T0" fmla="*/ 2147483646 w 174"/>
              <a:gd name="T1" fmla="*/ 2147483646 h 87"/>
              <a:gd name="T2" fmla="*/ 0 w 174"/>
              <a:gd name="T3" fmla="*/ 2147483646 h 87"/>
              <a:gd name="T4" fmla="*/ 0 w 174"/>
              <a:gd name="T5" fmla="*/ 2147483646 h 87"/>
              <a:gd name="T6" fmla="*/ 0 w 174"/>
              <a:gd name="T7" fmla="*/ 0 h 87"/>
              <a:gd name="T8" fmla="*/ 2147483646 w 174"/>
              <a:gd name="T9" fmla="*/ 2147483646 h 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4" h="87">
                <a:moveTo>
                  <a:pt x="174" y="38"/>
                </a:moveTo>
                <a:lnTo>
                  <a:pt x="0" y="87"/>
                </a:lnTo>
                <a:lnTo>
                  <a:pt x="0" y="38"/>
                </a:lnTo>
                <a:lnTo>
                  <a:pt x="0" y="0"/>
                </a:lnTo>
                <a:lnTo>
                  <a:pt x="174" y="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" name="Line 53"/>
          <p:cNvSpPr>
            <a:spLocks noChangeShapeType="1"/>
          </p:cNvSpPr>
          <p:nvPr/>
        </p:nvSpPr>
        <p:spPr bwMode="auto">
          <a:xfrm flipH="1">
            <a:off x="4907973" y="1852902"/>
            <a:ext cx="1778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9" name="Freeform 54"/>
          <p:cNvSpPr>
            <a:spLocks/>
          </p:cNvSpPr>
          <p:nvPr/>
        </p:nvSpPr>
        <p:spPr bwMode="auto">
          <a:xfrm>
            <a:off x="8652886" y="1792577"/>
            <a:ext cx="276225" cy="138112"/>
          </a:xfrm>
          <a:custGeom>
            <a:avLst/>
            <a:gdLst>
              <a:gd name="T0" fmla="*/ 2147483646 w 174"/>
              <a:gd name="T1" fmla="*/ 2147483646 h 87"/>
              <a:gd name="T2" fmla="*/ 0 w 174"/>
              <a:gd name="T3" fmla="*/ 2147483646 h 87"/>
              <a:gd name="T4" fmla="*/ 0 w 174"/>
              <a:gd name="T5" fmla="*/ 2147483646 h 87"/>
              <a:gd name="T6" fmla="*/ 0 w 174"/>
              <a:gd name="T7" fmla="*/ 0 h 87"/>
              <a:gd name="T8" fmla="*/ 2147483646 w 174"/>
              <a:gd name="T9" fmla="*/ 2147483646 h 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4" h="87">
                <a:moveTo>
                  <a:pt x="174" y="38"/>
                </a:moveTo>
                <a:lnTo>
                  <a:pt x="0" y="87"/>
                </a:lnTo>
                <a:lnTo>
                  <a:pt x="0" y="38"/>
                </a:lnTo>
                <a:lnTo>
                  <a:pt x="0" y="0"/>
                </a:lnTo>
                <a:lnTo>
                  <a:pt x="174" y="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0" name="Line 55"/>
          <p:cNvSpPr>
            <a:spLocks noChangeShapeType="1"/>
          </p:cNvSpPr>
          <p:nvPr/>
        </p:nvSpPr>
        <p:spPr bwMode="auto">
          <a:xfrm flipH="1">
            <a:off x="8476673" y="1852902"/>
            <a:ext cx="17621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" name="Freeform 56"/>
          <p:cNvSpPr>
            <a:spLocks/>
          </p:cNvSpPr>
          <p:nvPr/>
        </p:nvSpPr>
        <p:spPr bwMode="auto">
          <a:xfrm>
            <a:off x="8968798" y="1970377"/>
            <a:ext cx="138113" cy="277812"/>
          </a:xfrm>
          <a:custGeom>
            <a:avLst/>
            <a:gdLst>
              <a:gd name="T0" fmla="*/ 2147483646 w 87"/>
              <a:gd name="T1" fmla="*/ 0 h 175"/>
              <a:gd name="T2" fmla="*/ 2147483646 w 87"/>
              <a:gd name="T3" fmla="*/ 2147483646 h 175"/>
              <a:gd name="T4" fmla="*/ 2147483646 w 87"/>
              <a:gd name="T5" fmla="*/ 2147483646 h 175"/>
              <a:gd name="T6" fmla="*/ 0 w 87"/>
              <a:gd name="T7" fmla="*/ 2147483646 h 175"/>
              <a:gd name="T8" fmla="*/ 2147483646 w 87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" h="175">
                <a:moveTo>
                  <a:pt x="50" y="0"/>
                </a:moveTo>
                <a:lnTo>
                  <a:pt x="87" y="175"/>
                </a:lnTo>
                <a:lnTo>
                  <a:pt x="50" y="175"/>
                </a:lnTo>
                <a:lnTo>
                  <a:pt x="0" y="175"/>
                </a:lnTo>
                <a:lnTo>
                  <a:pt x="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2" name="Line 57"/>
          <p:cNvSpPr>
            <a:spLocks noChangeShapeType="1"/>
          </p:cNvSpPr>
          <p:nvPr/>
        </p:nvSpPr>
        <p:spPr bwMode="auto">
          <a:xfrm>
            <a:off x="9048173" y="2248189"/>
            <a:ext cx="1588" cy="1066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3" name="Freeform 58"/>
          <p:cNvSpPr>
            <a:spLocks/>
          </p:cNvSpPr>
          <p:nvPr/>
        </p:nvSpPr>
        <p:spPr bwMode="auto">
          <a:xfrm>
            <a:off x="4730173" y="1970377"/>
            <a:ext cx="138113" cy="277812"/>
          </a:xfrm>
          <a:custGeom>
            <a:avLst/>
            <a:gdLst>
              <a:gd name="T0" fmla="*/ 2147483646 w 87"/>
              <a:gd name="T1" fmla="*/ 0 h 175"/>
              <a:gd name="T2" fmla="*/ 2147483646 w 87"/>
              <a:gd name="T3" fmla="*/ 2147483646 h 175"/>
              <a:gd name="T4" fmla="*/ 2147483646 w 87"/>
              <a:gd name="T5" fmla="*/ 2147483646 h 175"/>
              <a:gd name="T6" fmla="*/ 0 w 87"/>
              <a:gd name="T7" fmla="*/ 2147483646 h 175"/>
              <a:gd name="T8" fmla="*/ 2147483646 w 87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" h="175">
                <a:moveTo>
                  <a:pt x="38" y="0"/>
                </a:moveTo>
                <a:lnTo>
                  <a:pt x="87" y="175"/>
                </a:lnTo>
                <a:lnTo>
                  <a:pt x="38" y="175"/>
                </a:lnTo>
                <a:lnTo>
                  <a:pt x="0" y="175"/>
                </a:lnTo>
                <a:lnTo>
                  <a:pt x="3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4" name="Line 59"/>
          <p:cNvSpPr>
            <a:spLocks noChangeShapeType="1"/>
          </p:cNvSpPr>
          <p:nvPr/>
        </p:nvSpPr>
        <p:spPr bwMode="auto">
          <a:xfrm>
            <a:off x="4790498" y="2248189"/>
            <a:ext cx="1588" cy="1066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5" name="Rectangle 60"/>
          <p:cNvSpPr>
            <a:spLocks noChangeArrowheads="1"/>
          </p:cNvSpPr>
          <p:nvPr/>
        </p:nvSpPr>
        <p:spPr bwMode="auto">
          <a:xfrm>
            <a:off x="7055861" y="1635414"/>
            <a:ext cx="20161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900" b="1">
                <a:solidFill>
                  <a:srgbClr val="000000"/>
                </a:solidFill>
                <a:latin typeface="Times" panose="02020603050405020304" pitchFamily="18" charset="0"/>
              </a:rPr>
              <a:t>m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6" name="Rectangle 61"/>
          <p:cNvSpPr>
            <a:spLocks noChangeArrowheads="1"/>
          </p:cNvSpPr>
          <p:nvPr/>
        </p:nvSpPr>
        <p:spPr bwMode="auto">
          <a:xfrm>
            <a:off x="4355523" y="2425989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900">
                <a:solidFill>
                  <a:srgbClr val="000000"/>
                </a:solidFill>
                <a:latin typeface="Times" panose="02020603050405020304" pitchFamily="18" charset="0"/>
              </a:rPr>
              <a:t>v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7" name="Rectangle 62"/>
          <p:cNvSpPr>
            <a:spLocks noChangeArrowheads="1"/>
          </p:cNvSpPr>
          <p:nvPr/>
        </p:nvSpPr>
        <p:spPr bwMode="auto">
          <a:xfrm>
            <a:off x="4493636" y="2583152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1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8" name="Rectangle 63"/>
          <p:cNvSpPr>
            <a:spLocks noChangeArrowheads="1"/>
          </p:cNvSpPr>
          <p:nvPr/>
        </p:nvSpPr>
        <p:spPr bwMode="auto">
          <a:xfrm>
            <a:off x="9264073" y="2425989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900">
                <a:solidFill>
                  <a:srgbClr val="000000"/>
                </a:solidFill>
                <a:latin typeface="Times" panose="02020603050405020304" pitchFamily="18" charset="0"/>
              </a:rPr>
              <a:t>v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9" name="Rectangle 64"/>
          <p:cNvSpPr>
            <a:spLocks noChangeArrowheads="1"/>
          </p:cNvSpPr>
          <p:nvPr/>
        </p:nvSpPr>
        <p:spPr bwMode="auto">
          <a:xfrm>
            <a:off x="9402186" y="2583152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2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0" name="Rectangle 65"/>
          <p:cNvSpPr>
            <a:spLocks noChangeArrowheads="1"/>
          </p:cNvSpPr>
          <p:nvPr/>
        </p:nvSpPr>
        <p:spPr bwMode="auto">
          <a:xfrm>
            <a:off x="8514773" y="1436977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90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1" name="Rectangle 66"/>
          <p:cNvSpPr>
            <a:spLocks noChangeArrowheads="1"/>
          </p:cNvSpPr>
          <p:nvPr/>
        </p:nvSpPr>
        <p:spPr bwMode="auto">
          <a:xfrm>
            <a:off x="8613198" y="1554452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2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2" name="Rectangle 67"/>
          <p:cNvSpPr>
            <a:spLocks noChangeArrowheads="1"/>
          </p:cNvSpPr>
          <p:nvPr/>
        </p:nvSpPr>
        <p:spPr bwMode="auto">
          <a:xfrm>
            <a:off x="4927023" y="1436977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90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3" name="Rectangle 68"/>
          <p:cNvSpPr>
            <a:spLocks noChangeArrowheads="1"/>
          </p:cNvSpPr>
          <p:nvPr/>
        </p:nvSpPr>
        <p:spPr bwMode="auto">
          <a:xfrm>
            <a:off x="5027036" y="1554452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1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4" name="Rectangle 69"/>
          <p:cNvSpPr>
            <a:spLocks noChangeArrowheads="1"/>
          </p:cNvSpPr>
          <p:nvPr/>
        </p:nvSpPr>
        <p:spPr bwMode="auto">
          <a:xfrm>
            <a:off x="5795386" y="1436977"/>
            <a:ext cx="1111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900">
                <a:solidFill>
                  <a:srgbClr val="000000"/>
                </a:solidFill>
                <a:latin typeface="Times" panose="02020603050405020304" pitchFamily="18" charset="0"/>
              </a:rPr>
              <a:t>i'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5" name="Rectangle 70"/>
          <p:cNvSpPr>
            <a:spLocks noChangeArrowheads="1"/>
          </p:cNvSpPr>
          <p:nvPr/>
        </p:nvSpPr>
        <p:spPr bwMode="auto">
          <a:xfrm>
            <a:off x="5933498" y="1554452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1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6" name="Rectangle 71"/>
          <p:cNvSpPr>
            <a:spLocks noChangeArrowheads="1"/>
          </p:cNvSpPr>
          <p:nvPr/>
        </p:nvSpPr>
        <p:spPr bwMode="auto">
          <a:xfrm>
            <a:off x="5598536" y="2010064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90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7" name="Rectangle 72"/>
          <p:cNvSpPr>
            <a:spLocks noChangeArrowheads="1"/>
          </p:cNvSpPr>
          <p:nvPr/>
        </p:nvSpPr>
        <p:spPr bwMode="auto">
          <a:xfrm>
            <a:off x="5657273" y="2108489"/>
            <a:ext cx="177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10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8" name="Oval 73"/>
          <p:cNvSpPr>
            <a:spLocks noChangeArrowheads="1"/>
          </p:cNvSpPr>
          <p:nvPr/>
        </p:nvSpPr>
        <p:spPr bwMode="auto">
          <a:xfrm>
            <a:off x="6100186" y="2257714"/>
            <a:ext cx="100012" cy="1190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9" name="Oval 74"/>
          <p:cNvSpPr>
            <a:spLocks noChangeArrowheads="1"/>
          </p:cNvSpPr>
          <p:nvPr/>
        </p:nvSpPr>
        <p:spPr bwMode="auto">
          <a:xfrm>
            <a:off x="7992486" y="2924464"/>
            <a:ext cx="119062" cy="1190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0" name="Rectangle 75"/>
          <p:cNvSpPr>
            <a:spLocks noChangeArrowheads="1"/>
          </p:cNvSpPr>
          <p:nvPr/>
        </p:nvSpPr>
        <p:spPr bwMode="auto">
          <a:xfrm>
            <a:off x="5736648" y="2543464"/>
            <a:ext cx="1603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900" b="1">
                <a:solidFill>
                  <a:srgbClr val="000000"/>
                </a:solidFill>
                <a:latin typeface="Times" panose="02020603050405020304" pitchFamily="18" charset="0"/>
              </a:rPr>
              <a:t>L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81" name="Group 76"/>
          <p:cNvGrpSpPr>
            <a:grpSpLocks/>
          </p:cNvGrpSpPr>
          <p:nvPr/>
        </p:nvGrpSpPr>
        <p:grpSpPr bwMode="auto">
          <a:xfrm>
            <a:off x="6406573" y="2233902"/>
            <a:ext cx="3360738" cy="2284412"/>
            <a:chOff x="2552" y="1381"/>
            <a:chExt cx="2117" cy="1439"/>
          </a:xfrm>
        </p:grpSpPr>
        <p:sp>
          <p:nvSpPr>
            <p:cNvPr id="82" name="Oval 77"/>
            <p:cNvSpPr>
              <a:spLocks noChangeArrowheads="1"/>
            </p:cNvSpPr>
            <p:nvPr/>
          </p:nvSpPr>
          <p:spPr bwMode="auto">
            <a:xfrm>
              <a:off x="2552" y="2532"/>
              <a:ext cx="294" cy="28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83" name="Oval 78"/>
            <p:cNvSpPr>
              <a:spLocks noChangeArrowheads="1"/>
            </p:cNvSpPr>
            <p:nvPr/>
          </p:nvSpPr>
          <p:spPr bwMode="auto">
            <a:xfrm rot="-1344325">
              <a:off x="3481" y="1381"/>
              <a:ext cx="1188" cy="73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4" name="Group 79"/>
          <p:cNvGrpSpPr>
            <a:grpSpLocks/>
          </p:cNvGrpSpPr>
          <p:nvPr/>
        </p:nvGrpSpPr>
        <p:grpSpPr bwMode="auto">
          <a:xfrm>
            <a:off x="7267000" y="1298864"/>
            <a:ext cx="1690688" cy="4506913"/>
            <a:chOff x="3094" y="792"/>
            <a:chExt cx="1065" cy="2839"/>
          </a:xfrm>
        </p:grpSpPr>
        <p:sp>
          <p:nvSpPr>
            <p:cNvPr id="85" name="Oval 80"/>
            <p:cNvSpPr>
              <a:spLocks noChangeArrowheads="1"/>
            </p:cNvSpPr>
            <p:nvPr/>
          </p:nvSpPr>
          <p:spPr bwMode="auto">
            <a:xfrm rot="-3787689">
              <a:off x="3212" y="1094"/>
              <a:ext cx="1250" cy="645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86" name="Oval 81"/>
            <p:cNvSpPr>
              <a:spLocks noChangeArrowheads="1"/>
            </p:cNvSpPr>
            <p:nvPr/>
          </p:nvSpPr>
          <p:spPr bwMode="auto">
            <a:xfrm>
              <a:off x="3094" y="3301"/>
              <a:ext cx="390" cy="33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ZoneTexte 86"/>
              <p:cNvSpPr txBox="1"/>
              <p:nvPr/>
            </p:nvSpPr>
            <p:spPr>
              <a:xfrm>
                <a:off x="9529186" y="3938577"/>
                <a:ext cx="1767792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87" name="ZoneTexte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9186" y="3938577"/>
                <a:ext cx="1767792" cy="7012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Oval 77"/>
          <p:cNvSpPr>
            <a:spLocks noChangeArrowheads="1"/>
          </p:cNvSpPr>
          <p:nvPr/>
        </p:nvSpPr>
        <p:spPr bwMode="auto">
          <a:xfrm>
            <a:off x="10141619" y="4100801"/>
            <a:ext cx="466725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9" name="ZoneTexte 88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06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00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 tmFilter="0, 0; .2, .5; .8, .5; 1, 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1000" autoRev="1" fill="hold"/>
                                        <p:tgtEl>
                                          <p:spTgt spid="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8" grpId="1" animBg="1"/>
      <p:bldP spid="88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Magnetizing current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459997"/>
              </p:ext>
            </p:extLst>
          </p:nvPr>
        </p:nvGraphicFramePr>
        <p:xfrm>
          <a:off x="7096011" y="2216373"/>
          <a:ext cx="17335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252" imgH="190417" progId="Equation.3">
                  <p:embed/>
                </p:oleObj>
              </mc:Choice>
              <mc:Fallback>
                <p:oleObj name="Equation" r:id="rId2" imgW="571252" imgH="190417" progId="Equation.3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011" y="2216373"/>
                        <a:ext cx="173355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247655"/>
              </p:ext>
            </p:extLst>
          </p:nvPr>
        </p:nvGraphicFramePr>
        <p:xfrm>
          <a:off x="6015038" y="3627438"/>
          <a:ext cx="222567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4" imgW="634680" imgH="228600" progId="Equation.3">
                  <p:embed/>
                </p:oleObj>
              </mc:Choice>
              <mc:Fallback>
                <p:oleObj name="Équation" r:id="rId4" imgW="634680" imgH="228600" progId="Equation.3">
                  <p:embed/>
                  <p:pic>
                    <p:nvPicPr>
                      <p:cNvPr id="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5038" y="3627438"/>
                        <a:ext cx="222567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024612"/>
              </p:ext>
            </p:extLst>
          </p:nvPr>
        </p:nvGraphicFramePr>
        <p:xfrm>
          <a:off x="9132888" y="3322638"/>
          <a:ext cx="1368425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6" imgW="482400" imgH="419040" progId="Equation.3">
                  <p:embed/>
                </p:oleObj>
              </mc:Choice>
              <mc:Fallback>
                <p:oleObj name="Équation" r:id="rId6" imgW="482400" imgH="419040" progId="Equation.3">
                  <p:embed/>
                  <p:pic>
                    <p:nvPicPr>
                      <p:cNvPr id="1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2888" y="3322638"/>
                        <a:ext cx="1368425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3627253" y="5192456"/>
            <a:ext cx="77231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Magnetizing current</a:t>
            </a:r>
            <a:r>
              <a:rPr lang="en-CA" altLang="fr-FR" sz="2800" b="1" i="1" dirty="0">
                <a:solidFill>
                  <a:srgbClr val="FF33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 flux in the magnetic circuit</a:t>
            </a:r>
            <a:endParaRPr lang="en-CA" altLang="fr-FR" sz="2800" b="1" i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" name="Group 9"/>
          <p:cNvGrpSpPr>
            <a:grpSpLocks/>
          </p:cNvGrpSpPr>
          <p:nvPr/>
        </p:nvGrpSpPr>
        <p:grpSpPr bwMode="auto">
          <a:xfrm>
            <a:off x="3566998" y="1514698"/>
            <a:ext cx="2544763" cy="1978025"/>
            <a:chOff x="1260" y="879"/>
            <a:chExt cx="1267" cy="1246"/>
          </a:xfrm>
        </p:grpSpPr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H="1">
              <a:off x="1608" y="1141"/>
              <a:ext cx="77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 flipH="1">
              <a:off x="1608" y="2124"/>
              <a:ext cx="77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Arc 12"/>
            <p:cNvSpPr>
              <a:spLocks/>
            </p:cNvSpPr>
            <p:nvPr/>
          </p:nvSpPr>
          <p:spPr bwMode="auto">
            <a:xfrm>
              <a:off x="1887" y="1863"/>
              <a:ext cx="81" cy="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Arc 13"/>
            <p:cNvSpPr>
              <a:spLocks/>
            </p:cNvSpPr>
            <p:nvPr/>
          </p:nvSpPr>
          <p:spPr bwMode="auto">
            <a:xfrm>
              <a:off x="1968" y="1901"/>
              <a:ext cx="81" cy="32"/>
            </a:xfrm>
            <a:custGeom>
              <a:avLst/>
              <a:gdLst>
                <a:gd name="T0" fmla="*/ 0 w 21600"/>
                <a:gd name="T1" fmla="*/ 0 h 21645"/>
                <a:gd name="T2" fmla="*/ 0 w 21600"/>
                <a:gd name="T3" fmla="*/ 0 h 21645"/>
                <a:gd name="T4" fmla="*/ 0 w 21600"/>
                <a:gd name="T5" fmla="*/ 0 h 216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45" fill="none" extrusionOk="0">
                  <a:moveTo>
                    <a:pt x="21599" y="0"/>
                  </a:moveTo>
                  <a:cubicBezTo>
                    <a:pt x="21599" y="15"/>
                    <a:pt x="21600" y="30"/>
                    <a:pt x="21600" y="45"/>
                  </a:cubicBezTo>
                  <a:cubicBezTo>
                    <a:pt x="21600" y="11974"/>
                    <a:pt x="11929" y="21644"/>
                    <a:pt x="0" y="21645"/>
                  </a:cubicBezTo>
                </a:path>
                <a:path w="21600" h="21645" stroke="0" extrusionOk="0">
                  <a:moveTo>
                    <a:pt x="21599" y="0"/>
                  </a:moveTo>
                  <a:cubicBezTo>
                    <a:pt x="21599" y="15"/>
                    <a:pt x="21600" y="30"/>
                    <a:pt x="21600" y="45"/>
                  </a:cubicBezTo>
                  <a:cubicBezTo>
                    <a:pt x="21600" y="11974"/>
                    <a:pt x="11929" y="21644"/>
                    <a:pt x="0" y="21645"/>
                  </a:cubicBezTo>
                  <a:lnTo>
                    <a:pt x="0" y="45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Arc 14"/>
            <p:cNvSpPr>
              <a:spLocks/>
            </p:cNvSpPr>
            <p:nvPr/>
          </p:nvSpPr>
          <p:spPr bwMode="auto">
            <a:xfrm>
              <a:off x="1887" y="1869"/>
              <a:ext cx="81" cy="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Arc 15"/>
            <p:cNvSpPr>
              <a:spLocks/>
            </p:cNvSpPr>
            <p:nvPr/>
          </p:nvSpPr>
          <p:spPr bwMode="auto">
            <a:xfrm>
              <a:off x="1968" y="1869"/>
              <a:ext cx="81" cy="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11" y="0"/>
                    <a:pt x="21575" y="9643"/>
                    <a:pt x="21599" y="21555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11" y="0"/>
                    <a:pt x="21575" y="9643"/>
                    <a:pt x="21599" y="2155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Arc 16"/>
            <p:cNvSpPr>
              <a:spLocks/>
            </p:cNvSpPr>
            <p:nvPr/>
          </p:nvSpPr>
          <p:spPr bwMode="auto">
            <a:xfrm>
              <a:off x="1887" y="1788"/>
              <a:ext cx="81" cy="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rc 17"/>
            <p:cNvSpPr>
              <a:spLocks/>
            </p:cNvSpPr>
            <p:nvPr/>
          </p:nvSpPr>
          <p:spPr bwMode="auto">
            <a:xfrm>
              <a:off x="1968" y="1826"/>
              <a:ext cx="81" cy="32"/>
            </a:xfrm>
            <a:custGeom>
              <a:avLst/>
              <a:gdLst>
                <a:gd name="T0" fmla="*/ 0 w 21600"/>
                <a:gd name="T1" fmla="*/ 0 h 21645"/>
                <a:gd name="T2" fmla="*/ 0 w 21600"/>
                <a:gd name="T3" fmla="*/ 0 h 21645"/>
                <a:gd name="T4" fmla="*/ 0 w 21600"/>
                <a:gd name="T5" fmla="*/ 0 h 216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45" fill="none" extrusionOk="0">
                  <a:moveTo>
                    <a:pt x="21599" y="0"/>
                  </a:moveTo>
                  <a:cubicBezTo>
                    <a:pt x="21599" y="15"/>
                    <a:pt x="21600" y="30"/>
                    <a:pt x="21600" y="45"/>
                  </a:cubicBezTo>
                  <a:cubicBezTo>
                    <a:pt x="21600" y="11974"/>
                    <a:pt x="11929" y="21644"/>
                    <a:pt x="0" y="21645"/>
                  </a:cubicBezTo>
                </a:path>
                <a:path w="21600" h="21645" stroke="0" extrusionOk="0">
                  <a:moveTo>
                    <a:pt x="21599" y="0"/>
                  </a:moveTo>
                  <a:cubicBezTo>
                    <a:pt x="21599" y="15"/>
                    <a:pt x="21600" y="30"/>
                    <a:pt x="21600" y="45"/>
                  </a:cubicBezTo>
                  <a:cubicBezTo>
                    <a:pt x="21600" y="11974"/>
                    <a:pt x="11929" y="21644"/>
                    <a:pt x="0" y="21645"/>
                  </a:cubicBezTo>
                  <a:lnTo>
                    <a:pt x="0" y="45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rc 18"/>
            <p:cNvSpPr>
              <a:spLocks/>
            </p:cNvSpPr>
            <p:nvPr/>
          </p:nvSpPr>
          <p:spPr bwMode="auto">
            <a:xfrm>
              <a:off x="1887" y="1794"/>
              <a:ext cx="81" cy="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Arc 19"/>
            <p:cNvSpPr>
              <a:spLocks/>
            </p:cNvSpPr>
            <p:nvPr/>
          </p:nvSpPr>
          <p:spPr bwMode="auto">
            <a:xfrm>
              <a:off x="1968" y="1794"/>
              <a:ext cx="81" cy="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11" y="0"/>
                    <a:pt x="21575" y="9643"/>
                    <a:pt x="21599" y="21555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11" y="0"/>
                    <a:pt x="21575" y="9643"/>
                    <a:pt x="21599" y="2155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Arc 20"/>
            <p:cNvSpPr>
              <a:spLocks/>
            </p:cNvSpPr>
            <p:nvPr/>
          </p:nvSpPr>
          <p:spPr bwMode="auto">
            <a:xfrm>
              <a:off x="1887" y="1707"/>
              <a:ext cx="81" cy="75"/>
            </a:xfrm>
            <a:custGeom>
              <a:avLst/>
              <a:gdLst>
                <a:gd name="T0" fmla="*/ 0 w 21600"/>
                <a:gd name="T1" fmla="*/ 0 h 21714"/>
                <a:gd name="T2" fmla="*/ 0 w 21600"/>
                <a:gd name="T3" fmla="*/ 0 h 21714"/>
                <a:gd name="T4" fmla="*/ 0 w 21600"/>
                <a:gd name="T5" fmla="*/ 0 h 217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714" fill="none" extrusionOk="0">
                  <a:moveTo>
                    <a:pt x="21600" y="21714"/>
                  </a:moveTo>
                  <a:cubicBezTo>
                    <a:pt x="9670" y="21714"/>
                    <a:pt x="0" y="12043"/>
                    <a:pt x="0" y="114"/>
                  </a:cubicBezTo>
                  <a:cubicBezTo>
                    <a:pt x="-1" y="76"/>
                    <a:pt x="0" y="38"/>
                    <a:pt x="0" y="0"/>
                  </a:cubicBezTo>
                </a:path>
                <a:path w="21600" h="21714" stroke="0" extrusionOk="0">
                  <a:moveTo>
                    <a:pt x="21600" y="21714"/>
                  </a:moveTo>
                  <a:cubicBezTo>
                    <a:pt x="9670" y="21714"/>
                    <a:pt x="0" y="12043"/>
                    <a:pt x="0" y="114"/>
                  </a:cubicBezTo>
                  <a:cubicBezTo>
                    <a:pt x="-1" y="76"/>
                    <a:pt x="0" y="38"/>
                    <a:pt x="0" y="0"/>
                  </a:cubicBezTo>
                  <a:lnTo>
                    <a:pt x="21600" y="114"/>
                  </a:lnTo>
                  <a:lnTo>
                    <a:pt x="21600" y="21714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rc 21"/>
            <p:cNvSpPr>
              <a:spLocks/>
            </p:cNvSpPr>
            <p:nvPr/>
          </p:nvSpPr>
          <p:spPr bwMode="auto">
            <a:xfrm>
              <a:off x="1968" y="1751"/>
              <a:ext cx="81" cy="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Arc 22"/>
            <p:cNvSpPr>
              <a:spLocks/>
            </p:cNvSpPr>
            <p:nvPr/>
          </p:nvSpPr>
          <p:spPr bwMode="auto">
            <a:xfrm>
              <a:off x="1887" y="1719"/>
              <a:ext cx="81" cy="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Arc 23"/>
            <p:cNvSpPr>
              <a:spLocks/>
            </p:cNvSpPr>
            <p:nvPr/>
          </p:nvSpPr>
          <p:spPr bwMode="auto">
            <a:xfrm>
              <a:off x="1968" y="1719"/>
              <a:ext cx="81" cy="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Arc 24"/>
            <p:cNvSpPr>
              <a:spLocks/>
            </p:cNvSpPr>
            <p:nvPr/>
          </p:nvSpPr>
          <p:spPr bwMode="auto">
            <a:xfrm>
              <a:off x="1887" y="1626"/>
              <a:ext cx="81" cy="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Arc 25"/>
            <p:cNvSpPr>
              <a:spLocks/>
            </p:cNvSpPr>
            <p:nvPr/>
          </p:nvSpPr>
          <p:spPr bwMode="auto">
            <a:xfrm>
              <a:off x="1968" y="1670"/>
              <a:ext cx="81" cy="25"/>
            </a:xfrm>
            <a:custGeom>
              <a:avLst/>
              <a:gdLst>
                <a:gd name="T0" fmla="*/ 0 w 21600"/>
                <a:gd name="T1" fmla="*/ 0 h 21942"/>
                <a:gd name="T2" fmla="*/ 0 w 21600"/>
                <a:gd name="T3" fmla="*/ 0 h 21942"/>
                <a:gd name="T4" fmla="*/ 0 w 21600"/>
                <a:gd name="T5" fmla="*/ 0 h 219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942" fill="none" extrusionOk="0">
                  <a:moveTo>
                    <a:pt x="21597" y="-1"/>
                  </a:moveTo>
                  <a:cubicBezTo>
                    <a:pt x="21599" y="113"/>
                    <a:pt x="21600" y="227"/>
                    <a:pt x="21600" y="342"/>
                  </a:cubicBezTo>
                  <a:cubicBezTo>
                    <a:pt x="21600" y="12271"/>
                    <a:pt x="11929" y="21941"/>
                    <a:pt x="0" y="21942"/>
                  </a:cubicBezTo>
                </a:path>
                <a:path w="21600" h="21942" stroke="0" extrusionOk="0">
                  <a:moveTo>
                    <a:pt x="21597" y="-1"/>
                  </a:moveTo>
                  <a:cubicBezTo>
                    <a:pt x="21599" y="113"/>
                    <a:pt x="21600" y="227"/>
                    <a:pt x="21600" y="342"/>
                  </a:cubicBezTo>
                  <a:cubicBezTo>
                    <a:pt x="21600" y="12271"/>
                    <a:pt x="11929" y="21941"/>
                    <a:pt x="0" y="21942"/>
                  </a:cubicBezTo>
                  <a:lnTo>
                    <a:pt x="0" y="342"/>
                  </a:lnTo>
                  <a:lnTo>
                    <a:pt x="21597" y="-1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Arc 26"/>
            <p:cNvSpPr>
              <a:spLocks/>
            </p:cNvSpPr>
            <p:nvPr/>
          </p:nvSpPr>
          <p:spPr bwMode="auto">
            <a:xfrm>
              <a:off x="1887" y="1645"/>
              <a:ext cx="81" cy="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579"/>
                  </a:moveTo>
                  <a:cubicBezTo>
                    <a:pt x="11" y="9657"/>
                    <a:pt x="9678" y="0"/>
                    <a:pt x="21599" y="0"/>
                  </a:cubicBezTo>
                </a:path>
                <a:path w="21600" h="21600" stroke="0" extrusionOk="0">
                  <a:moveTo>
                    <a:pt x="0" y="21579"/>
                  </a:moveTo>
                  <a:cubicBezTo>
                    <a:pt x="11" y="9657"/>
                    <a:pt x="9678" y="0"/>
                    <a:pt x="21599" y="0"/>
                  </a:cubicBezTo>
                  <a:lnTo>
                    <a:pt x="21600" y="21600"/>
                  </a:lnTo>
                  <a:lnTo>
                    <a:pt x="0" y="2157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Arc 27"/>
            <p:cNvSpPr>
              <a:spLocks/>
            </p:cNvSpPr>
            <p:nvPr/>
          </p:nvSpPr>
          <p:spPr bwMode="auto">
            <a:xfrm>
              <a:off x="1968" y="1645"/>
              <a:ext cx="81" cy="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Arc 28"/>
            <p:cNvSpPr>
              <a:spLocks/>
            </p:cNvSpPr>
            <p:nvPr/>
          </p:nvSpPr>
          <p:spPr bwMode="auto">
            <a:xfrm>
              <a:off x="1887" y="1552"/>
              <a:ext cx="81" cy="69"/>
            </a:xfrm>
            <a:custGeom>
              <a:avLst/>
              <a:gdLst>
                <a:gd name="T0" fmla="*/ 0 w 21600"/>
                <a:gd name="T1" fmla="*/ 0 h 21621"/>
                <a:gd name="T2" fmla="*/ 0 w 21600"/>
                <a:gd name="T3" fmla="*/ 0 h 21621"/>
                <a:gd name="T4" fmla="*/ 0 w 21600"/>
                <a:gd name="T5" fmla="*/ 0 h 216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21" fill="none" extrusionOk="0">
                  <a:moveTo>
                    <a:pt x="21600" y="21621"/>
                  </a:moveTo>
                  <a:cubicBezTo>
                    <a:pt x="9670" y="21621"/>
                    <a:pt x="0" y="11950"/>
                    <a:pt x="0" y="21"/>
                  </a:cubicBezTo>
                  <a:cubicBezTo>
                    <a:pt x="-1" y="14"/>
                    <a:pt x="0" y="7"/>
                    <a:pt x="0" y="0"/>
                  </a:cubicBezTo>
                </a:path>
                <a:path w="21600" h="21621" stroke="0" extrusionOk="0">
                  <a:moveTo>
                    <a:pt x="21600" y="21621"/>
                  </a:moveTo>
                  <a:cubicBezTo>
                    <a:pt x="9670" y="21621"/>
                    <a:pt x="0" y="11950"/>
                    <a:pt x="0" y="21"/>
                  </a:cubicBezTo>
                  <a:cubicBezTo>
                    <a:pt x="-1" y="14"/>
                    <a:pt x="0" y="7"/>
                    <a:pt x="0" y="0"/>
                  </a:cubicBezTo>
                  <a:lnTo>
                    <a:pt x="21600" y="21"/>
                  </a:lnTo>
                  <a:lnTo>
                    <a:pt x="21600" y="21621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Arc 29"/>
            <p:cNvSpPr>
              <a:spLocks/>
            </p:cNvSpPr>
            <p:nvPr/>
          </p:nvSpPr>
          <p:spPr bwMode="auto">
            <a:xfrm>
              <a:off x="1968" y="1595"/>
              <a:ext cx="81" cy="25"/>
            </a:xfrm>
            <a:custGeom>
              <a:avLst/>
              <a:gdLst>
                <a:gd name="T0" fmla="*/ 0 w 21600"/>
                <a:gd name="T1" fmla="*/ 0 h 21942"/>
                <a:gd name="T2" fmla="*/ 0 w 21600"/>
                <a:gd name="T3" fmla="*/ 0 h 21942"/>
                <a:gd name="T4" fmla="*/ 0 w 21600"/>
                <a:gd name="T5" fmla="*/ 0 h 219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942" fill="none" extrusionOk="0">
                  <a:moveTo>
                    <a:pt x="21597" y="-1"/>
                  </a:moveTo>
                  <a:cubicBezTo>
                    <a:pt x="21599" y="113"/>
                    <a:pt x="21600" y="227"/>
                    <a:pt x="21600" y="342"/>
                  </a:cubicBezTo>
                  <a:cubicBezTo>
                    <a:pt x="21600" y="12271"/>
                    <a:pt x="11929" y="21941"/>
                    <a:pt x="0" y="21942"/>
                  </a:cubicBezTo>
                </a:path>
                <a:path w="21600" h="21942" stroke="0" extrusionOk="0">
                  <a:moveTo>
                    <a:pt x="21597" y="-1"/>
                  </a:moveTo>
                  <a:cubicBezTo>
                    <a:pt x="21599" y="113"/>
                    <a:pt x="21600" y="227"/>
                    <a:pt x="21600" y="342"/>
                  </a:cubicBezTo>
                  <a:cubicBezTo>
                    <a:pt x="21600" y="12271"/>
                    <a:pt x="11929" y="21941"/>
                    <a:pt x="0" y="21942"/>
                  </a:cubicBezTo>
                  <a:lnTo>
                    <a:pt x="0" y="342"/>
                  </a:lnTo>
                  <a:lnTo>
                    <a:pt x="21597" y="-1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Arc 30"/>
            <p:cNvSpPr>
              <a:spLocks/>
            </p:cNvSpPr>
            <p:nvPr/>
          </p:nvSpPr>
          <p:spPr bwMode="auto">
            <a:xfrm>
              <a:off x="1887" y="1570"/>
              <a:ext cx="81" cy="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Arc 31"/>
            <p:cNvSpPr>
              <a:spLocks/>
            </p:cNvSpPr>
            <p:nvPr/>
          </p:nvSpPr>
          <p:spPr bwMode="auto">
            <a:xfrm>
              <a:off x="1968" y="1570"/>
              <a:ext cx="81" cy="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11" y="0"/>
                    <a:pt x="21575" y="9643"/>
                    <a:pt x="21599" y="21555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11" y="0"/>
                    <a:pt x="21575" y="9643"/>
                    <a:pt x="21599" y="2155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Arc 32"/>
            <p:cNvSpPr>
              <a:spLocks/>
            </p:cNvSpPr>
            <p:nvPr/>
          </p:nvSpPr>
          <p:spPr bwMode="auto">
            <a:xfrm>
              <a:off x="1887" y="1477"/>
              <a:ext cx="81" cy="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Arc 33"/>
            <p:cNvSpPr>
              <a:spLocks/>
            </p:cNvSpPr>
            <p:nvPr/>
          </p:nvSpPr>
          <p:spPr bwMode="auto">
            <a:xfrm>
              <a:off x="1968" y="1520"/>
              <a:ext cx="81" cy="25"/>
            </a:xfrm>
            <a:custGeom>
              <a:avLst/>
              <a:gdLst>
                <a:gd name="T0" fmla="*/ 0 w 21600"/>
                <a:gd name="T1" fmla="*/ 0 h 21942"/>
                <a:gd name="T2" fmla="*/ 0 w 21600"/>
                <a:gd name="T3" fmla="*/ 0 h 21942"/>
                <a:gd name="T4" fmla="*/ 0 w 21600"/>
                <a:gd name="T5" fmla="*/ 0 h 219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942" fill="none" extrusionOk="0">
                  <a:moveTo>
                    <a:pt x="21597" y="-1"/>
                  </a:moveTo>
                  <a:cubicBezTo>
                    <a:pt x="21599" y="113"/>
                    <a:pt x="21600" y="227"/>
                    <a:pt x="21600" y="342"/>
                  </a:cubicBezTo>
                  <a:cubicBezTo>
                    <a:pt x="21600" y="12271"/>
                    <a:pt x="11929" y="21941"/>
                    <a:pt x="0" y="21942"/>
                  </a:cubicBezTo>
                </a:path>
                <a:path w="21600" h="21942" stroke="0" extrusionOk="0">
                  <a:moveTo>
                    <a:pt x="21597" y="-1"/>
                  </a:moveTo>
                  <a:cubicBezTo>
                    <a:pt x="21599" y="113"/>
                    <a:pt x="21600" y="227"/>
                    <a:pt x="21600" y="342"/>
                  </a:cubicBezTo>
                  <a:cubicBezTo>
                    <a:pt x="21600" y="12271"/>
                    <a:pt x="11929" y="21941"/>
                    <a:pt x="0" y="21942"/>
                  </a:cubicBezTo>
                  <a:lnTo>
                    <a:pt x="0" y="342"/>
                  </a:lnTo>
                  <a:lnTo>
                    <a:pt x="21597" y="-1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Arc 34"/>
            <p:cNvSpPr>
              <a:spLocks/>
            </p:cNvSpPr>
            <p:nvPr/>
          </p:nvSpPr>
          <p:spPr bwMode="auto">
            <a:xfrm>
              <a:off x="1887" y="1495"/>
              <a:ext cx="81" cy="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Arc 35"/>
            <p:cNvSpPr>
              <a:spLocks/>
            </p:cNvSpPr>
            <p:nvPr/>
          </p:nvSpPr>
          <p:spPr bwMode="auto">
            <a:xfrm>
              <a:off x="1968" y="1495"/>
              <a:ext cx="81" cy="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Arc 36"/>
            <p:cNvSpPr>
              <a:spLocks/>
            </p:cNvSpPr>
            <p:nvPr/>
          </p:nvSpPr>
          <p:spPr bwMode="auto">
            <a:xfrm>
              <a:off x="1887" y="1421"/>
              <a:ext cx="81" cy="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579"/>
                  </a:moveTo>
                  <a:cubicBezTo>
                    <a:pt x="11" y="9657"/>
                    <a:pt x="9678" y="0"/>
                    <a:pt x="21599" y="0"/>
                  </a:cubicBezTo>
                </a:path>
                <a:path w="21600" h="21600" stroke="0" extrusionOk="0">
                  <a:moveTo>
                    <a:pt x="0" y="21579"/>
                  </a:moveTo>
                  <a:cubicBezTo>
                    <a:pt x="11" y="9657"/>
                    <a:pt x="9678" y="0"/>
                    <a:pt x="21599" y="0"/>
                  </a:cubicBezTo>
                  <a:lnTo>
                    <a:pt x="21600" y="21600"/>
                  </a:lnTo>
                  <a:lnTo>
                    <a:pt x="0" y="2157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Arc 37"/>
            <p:cNvSpPr>
              <a:spLocks/>
            </p:cNvSpPr>
            <p:nvPr/>
          </p:nvSpPr>
          <p:spPr bwMode="auto">
            <a:xfrm>
              <a:off x="1887" y="1938"/>
              <a:ext cx="81" cy="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Line 38"/>
            <p:cNvSpPr>
              <a:spLocks noChangeShapeType="1"/>
            </p:cNvSpPr>
            <p:nvPr/>
          </p:nvSpPr>
          <p:spPr bwMode="auto">
            <a:xfrm flipV="1">
              <a:off x="1956" y="1352"/>
              <a:ext cx="1" cy="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 flipV="1">
              <a:off x="1956" y="2000"/>
              <a:ext cx="1" cy="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2378" y="1141"/>
              <a:ext cx="149" cy="2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 flipV="1">
              <a:off x="2378" y="1850"/>
              <a:ext cx="149" cy="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Freeform 42"/>
            <p:cNvSpPr>
              <a:spLocks/>
            </p:cNvSpPr>
            <p:nvPr/>
          </p:nvSpPr>
          <p:spPr bwMode="auto">
            <a:xfrm>
              <a:off x="1918" y="1253"/>
              <a:ext cx="87" cy="174"/>
            </a:xfrm>
            <a:custGeom>
              <a:avLst/>
              <a:gdLst>
                <a:gd name="T0" fmla="*/ 38 w 87"/>
                <a:gd name="T1" fmla="*/ 174 h 174"/>
                <a:gd name="T2" fmla="*/ 0 w 87"/>
                <a:gd name="T3" fmla="*/ 0 h 174"/>
                <a:gd name="T4" fmla="*/ 38 w 87"/>
                <a:gd name="T5" fmla="*/ 0 h 174"/>
                <a:gd name="T6" fmla="*/ 87 w 87"/>
                <a:gd name="T7" fmla="*/ 0 h 174"/>
                <a:gd name="T8" fmla="*/ 38 w 87"/>
                <a:gd name="T9" fmla="*/ 174 h 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174">
                  <a:moveTo>
                    <a:pt x="38" y="174"/>
                  </a:moveTo>
                  <a:lnTo>
                    <a:pt x="0" y="0"/>
                  </a:lnTo>
                  <a:lnTo>
                    <a:pt x="38" y="0"/>
                  </a:lnTo>
                  <a:lnTo>
                    <a:pt x="87" y="0"/>
                  </a:lnTo>
                  <a:lnTo>
                    <a:pt x="38" y="1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 flipV="1">
              <a:off x="1956" y="1141"/>
              <a:ext cx="1" cy="1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 flipV="1">
              <a:off x="1956" y="2062"/>
              <a:ext cx="1" cy="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Freeform 45"/>
            <p:cNvSpPr>
              <a:spLocks/>
            </p:cNvSpPr>
            <p:nvPr/>
          </p:nvSpPr>
          <p:spPr bwMode="auto">
            <a:xfrm>
              <a:off x="2142" y="1103"/>
              <a:ext cx="174" cy="87"/>
            </a:xfrm>
            <a:custGeom>
              <a:avLst/>
              <a:gdLst>
                <a:gd name="T0" fmla="*/ 174 w 174"/>
                <a:gd name="T1" fmla="*/ 38 h 87"/>
                <a:gd name="T2" fmla="*/ 0 w 174"/>
                <a:gd name="T3" fmla="*/ 87 h 87"/>
                <a:gd name="T4" fmla="*/ 0 w 174"/>
                <a:gd name="T5" fmla="*/ 38 h 87"/>
                <a:gd name="T6" fmla="*/ 0 w 174"/>
                <a:gd name="T7" fmla="*/ 0 h 87"/>
                <a:gd name="T8" fmla="*/ 174 w 174"/>
                <a:gd name="T9" fmla="*/ 38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87">
                  <a:moveTo>
                    <a:pt x="174" y="38"/>
                  </a:moveTo>
                  <a:lnTo>
                    <a:pt x="0" y="87"/>
                  </a:lnTo>
                  <a:lnTo>
                    <a:pt x="0" y="38"/>
                  </a:lnTo>
                  <a:lnTo>
                    <a:pt x="0" y="0"/>
                  </a:lnTo>
                  <a:lnTo>
                    <a:pt x="174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 flipH="1">
              <a:off x="2030" y="1141"/>
              <a:ext cx="1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Freeform 47"/>
            <p:cNvSpPr>
              <a:spLocks/>
            </p:cNvSpPr>
            <p:nvPr/>
          </p:nvSpPr>
          <p:spPr bwMode="auto">
            <a:xfrm>
              <a:off x="1720" y="1103"/>
              <a:ext cx="174" cy="87"/>
            </a:xfrm>
            <a:custGeom>
              <a:avLst/>
              <a:gdLst>
                <a:gd name="T0" fmla="*/ 174 w 174"/>
                <a:gd name="T1" fmla="*/ 38 h 87"/>
                <a:gd name="T2" fmla="*/ 0 w 174"/>
                <a:gd name="T3" fmla="*/ 87 h 87"/>
                <a:gd name="T4" fmla="*/ 0 w 174"/>
                <a:gd name="T5" fmla="*/ 38 h 87"/>
                <a:gd name="T6" fmla="*/ 0 w 174"/>
                <a:gd name="T7" fmla="*/ 0 h 87"/>
                <a:gd name="T8" fmla="*/ 174 w 174"/>
                <a:gd name="T9" fmla="*/ 38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87">
                  <a:moveTo>
                    <a:pt x="174" y="38"/>
                  </a:moveTo>
                  <a:lnTo>
                    <a:pt x="0" y="87"/>
                  </a:lnTo>
                  <a:lnTo>
                    <a:pt x="0" y="38"/>
                  </a:lnTo>
                  <a:lnTo>
                    <a:pt x="0" y="0"/>
                  </a:lnTo>
                  <a:lnTo>
                    <a:pt x="174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 flipH="1">
              <a:off x="1608" y="1141"/>
              <a:ext cx="1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Freeform 49"/>
            <p:cNvSpPr>
              <a:spLocks/>
            </p:cNvSpPr>
            <p:nvPr/>
          </p:nvSpPr>
          <p:spPr bwMode="auto">
            <a:xfrm>
              <a:off x="1496" y="1215"/>
              <a:ext cx="87" cy="175"/>
            </a:xfrm>
            <a:custGeom>
              <a:avLst/>
              <a:gdLst>
                <a:gd name="T0" fmla="*/ 38 w 87"/>
                <a:gd name="T1" fmla="*/ 0 h 175"/>
                <a:gd name="T2" fmla="*/ 87 w 87"/>
                <a:gd name="T3" fmla="*/ 175 h 175"/>
                <a:gd name="T4" fmla="*/ 38 w 87"/>
                <a:gd name="T5" fmla="*/ 175 h 175"/>
                <a:gd name="T6" fmla="*/ 0 w 87"/>
                <a:gd name="T7" fmla="*/ 175 h 175"/>
                <a:gd name="T8" fmla="*/ 38 w 87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175">
                  <a:moveTo>
                    <a:pt x="38" y="0"/>
                  </a:moveTo>
                  <a:lnTo>
                    <a:pt x="87" y="175"/>
                  </a:lnTo>
                  <a:lnTo>
                    <a:pt x="38" y="175"/>
                  </a:lnTo>
                  <a:lnTo>
                    <a:pt x="0" y="17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1534" y="1390"/>
              <a:ext cx="1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Rectangle 51"/>
            <p:cNvSpPr>
              <a:spLocks noChangeArrowheads="1"/>
            </p:cNvSpPr>
            <p:nvPr/>
          </p:nvSpPr>
          <p:spPr bwMode="auto">
            <a:xfrm>
              <a:off x="1260" y="1502"/>
              <a:ext cx="6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900">
                  <a:solidFill>
                    <a:srgbClr val="000000"/>
                  </a:solidFill>
                  <a:latin typeface="Times" panose="02020603050405020304" pitchFamily="18" charset="0"/>
                </a:rPr>
                <a:t>v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52"/>
            <p:cNvSpPr>
              <a:spLocks noChangeArrowheads="1"/>
            </p:cNvSpPr>
            <p:nvPr/>
          </p:nvSpPr>
          <p:spPr bwMode="auto">
            <a:xfrm>
              <a:off x="1347" y="1601"/>
              <a:ext cx="4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53"/>
            <p:cNvSpPr>
              <a:spLocks noChangeArrowheads="1"/>
            </p:cNvSpPr>
            <p:nvPr/>
          </p:nvSpPr>
          <p:spPr bwMode="auto">
            <a:xfrm>
              <a:off x="1620" y="879"/>
              <a:ext cx="3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900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54"/>
            <p:cNvSpPr>
              <a:spLocks noChangeArrowheads="1"/>
            </p:cNvSpPr>
            <p:nvPr/>
          </p:nvSpPr>
          <p:spPr bwMode="auto">
            <a:xfrm>
              <a:off x="1683" y="953"/>
              <a:ext cx="4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55"/>
            <p:cNvSpPr>
              <a:spLocks noChangeArrowheads="1"/>
            </p:cNvSpPr>
            <p:nvPr/>
          </p:nvSpPr>
          <p:spPr bwMode="auto">
            <a:xfrm>
              <a:off x="2167" y="879"/>
              <a:ext cx="5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900">
                  <a:solidFill>
                    <a:srgbClr val="000000"/>
                  </a:solidFill>
                  <a:latin typeface="Times" panose="02020603050405020304" pitchFamily="18" charset="0"/>
                </a:rPr>
                <a:t>i'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56"/>
            <p:cNvSpPr>
              <a:spLocks noChangeArrowheads="1"/>
            </p:cNvSpPr>
            <p:nvPr/>
          </p:nvSpPr>
          <p:spPr bwMode="auto">
            <a:xfrm>
              <a:off x="2254" y="953"/>
              <a:ext cx="4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57"/>
            <p:cNvSpPr>
              <a:spLocks noChangeArrowheads="1"/>
            </p:cNvSpPr>
            <p:nvPr/>
          </p:nvSpPr>
          <p:spPr bwMode="auto">
            <a:xfrm>
              <a:off x="2043" y="1240"/>
              <a:ext cx="3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900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58"/>
            <p:cNvSpPr>
              <a:spLocks noChangeArrowheads="1"/>
            </p:cNvSpPr>
            <p:nvPr/>
          </p:nvSpPr>
          <p:spPr bwMode="auto">
            <a:xfrm>
              <a:off x="2080" y="1302"/>
              <a:ext cx="8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Times" panose="02020603050405020304" pitchFamily="18" charset="0"/>
                </a:rPr>
                <a:t>10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4" name="Oval 59"/>
            <p:cNvSpPr>
              <a:spLocks noChangeArrowheads="1"/>
            </p:cNvSpPr>
            <p:nvPr/>
          </p:nvSpPr>
          <p:spPr bwMode="auto">
            <a:xfrm>
              <a:off x="2359" y="1396"/>
              <a:ext cx="63" cy="75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5" name="Rectangle 60"/>
            <p:cNvSpPr>
              <a:spLocks noChangeArrowheads="1"/>
            </p:cNvSpPr>
            <p:nvPr/>
          </p:nvSpPr>
          <p:spPr bwMode="auto">
            <a:xfrm>
              <a:off x="2130" y="1576"/>
              <a:ext cx="8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900" b="1">
                  <a:solidFill>
                    <a:srgbClr val="000000"/>
                  </a:solidFill>
                  <a:latin typeface="Times" panose="02020603050405020304" pitchFamily="18" charset="0"/>
                </a:rPr>
                <a:t>L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66" name="ZoneTexte 65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62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FLYBACK equivalent scheme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utoShape 108"/>
          <p:cNvSpPr>
            <a:spLocks noChangeArrowheads="1"/>
          </p:cNvSpPr>
          <p:nvPr/>
        </p:nvSpPr>
        <p:spPr bwMode="auto">
          <a:xfrm>
            <a:off x="10031557" y="2050227"/>
            <a:ext cx="1266825" cy="2762250"/>
          </a:xfrm>
          <a:prstGeom prst="curvedLeftArrow">
            <a:avLst>
              <a:gd name="adj1" fmla="val 43609"/>
              <a:gd name="adj2" fmla="val 87218"/>
              <a:gd name="adj3" fmla="val 33333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14" name="ZoneTexte 113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A6AF87B-DD78-BF4B-82DA-B3EB4D250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060" y="832674"/>
            <a:ext cx="4574344" cy="2858965"/>
          </a:xfrm>
          <a:prstGeom prst="rect">
            <a:avLst/>
          </a:prstGeom>
        </p:spPr>
      </p:pic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3193C245-AB8C-BE2B-BC52-3CD0F4FE5BA4}"/>
              </a:ext>
            </a:extLst>
          </p:cNvPr>
          <p:cNvGrpSpPr/>
          <p:nvPr/>
        </p:nvGrpSpPr>
        <p:grpSpPr>
          <a:xfrm>
            <a:off x="3058993" y="3904104"/>
            <a:ext cx="6825932" cy="2427287"/>
            <a:chOff x="3058993" y="3904104"/>
            <a:chExt cx="6825932" cy="2427287"/>
          </a:xfrm>
        </p:grpSpPr>
        <p:grpSp>
          <p:nvGrpSpPr>
            <p:cNvPr id="13" name="Groupe 12"/>
            <p:cNvGrpSpPr>
              <a:grpSpLocks/>
            </p:cNvGrpSpPr>
            <p:nvPr/>
          </p:nvGrpSpPr>
          <p:grpSpPr bwMode="auto">
            <a:xfrm>
              <a:off x="3058993" y="3904104"/>
              <a:ext cx="6825932" cy="2427287"/>
              <a:chOff x="725170" y="3672449"/>
              <a:chExt cx="6825593" cy="2426726"/>
            </a:xfrm>
          </p:grpSpPr>
          <p:sp>
            <p:nvSpPr>
              <p:cNvPr id="14" name="Line 6"/>
              <p:cNvSpPr>
                <a:spLocks noChangeShapeType="1"/>
              </p:cNvSpPr>
              <p:nvPr/>
            </p:nvSpPr>
            <p:spPr bwMode="auto">
              <a:xfrm>
                <a:off x="5650230" y="5106259"/>
                <a:ext cx="1900533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" name="AutoShape 7"/>
              <p:cNvSpPr>
                <a:spLocks noChangeAspect="1" noChangeArrowheads="1" noTextEdit="1"/>
              </p:cNvSpPr>
              <p:nvPr/>
            </p:nvSpPr>
            <p:spPr bwMode="auto">
              <a:xfrm>
                <a:off x="2078990" y="3682112"/>
                <a:ext cx="3975100" cy="14495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" name="Oval 9"/>
              <p:cNvSpPr>
                <a:spLocks noChangeArrowheads="1"/>
              </p:cNvSpPr>
              <p:nvPr/>
            </p:nvSpPr>
            <p:spPr bwMode="auto">
              <a:xfrm>
                <a:off x="1195070" y="4910574"/>
                <a:ext cx="340360" cy="322517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Freeform 10"/>
              <p:cNvSpPr>
                <a:spLocks/>
              </p:cNvSpPr>
              <p:nvPr/>
            </p:nvSpPr>
            <p:spPr bwMode="auto">
              <a:xfrm>
                <a:off x="975360" y="4910574"/>
                <a:ext cx="102870" cy="195684"/>
              </a:xfrm>
              <a:custGeom>
                <a:avLst/>
                <a:gdLst>
                  <a:gd name="T0" fmla="*/ 2147483646 w 81"/>
                  <a:gd name="T1" fmla="*/ 0 h 162"/>
                  <a:gd name="T2" fmla="*/ 2147483646 w 81"/>
                  <a:gd name="T3" fmla="*/ 2147483646 h 162"/>
                  <a:gd name="T4" fmla="*/ 2147483646 w 81"/>
                  <a:gd name="T5" fmla="*/ 2147483646 h 162"/>
                  <a:gd name="T6" fmla="*/ 0 w 81"/>
                  <a:gd name="T7" fmla="*/ 2147483646 h 162"/>
                  <a:gd name="T8" fmla="*/ 2147483646 w 81"/>
                  <a:gd name="T9" fmla="*/ 0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1" h="162">
                    <a:moveTo>
                      <a:pt x="47" y="0"/>
                    </a:moveTo>
                    <a:lnTo>
                      <a:pt x="81" y="162"/>
                    </a:lnTo>
                    <a:lnTo>
                      <a:pt x="47" y="162"/>
                    </a:lnTo>
                    <a:lnTo>
                      <a:pt x="0" y="162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" name="Line 11"/>
              <p:cNvSpPr>
                <a:spLocks noChangeShapeType="1"/>
              </p:cNvSpPr>
              <p:nvPr/>
            </p:nvSpPr>
            <p:spPr bwMode="auto">
              <a:xfrm>
                <a:off x="1035050" y="5106259"/>
                <a:ext cx="1270" cy="12562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" name="Rectangle 12"/>
              <p:cNvSpPr>
                <a:spLocks noChangeArrowheads="1"/>
              </p:cNvSpPr>
              <p:nvPr/>
            </p:nvSpPr>
            <p:spPr bwMode="auto">
              <a:xfrm>
                <a:off x="725170" y="4911782"/>
                <a:ext cx="144780" cy="258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7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E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Line 13"/>
              <p:cNvSpPr>
                <a:spLocks noChangeShapeType="1"/>
              </p:cNvSpPr>
              <p:nvPr/>
            </p:nvSpPr>
            <p:spPr bwMode="auto">
              <a:xfrm flipH="1">
                <a:off x="2344420" y="5100219"/>
                <a:ext cx="220980" cy="195684"/>
              </a:xfrm>
              <a:prstGeom prst="line">
                <a:avLst/>
              </a:prstGeom>
              <a:noFill/>
              <a:ln w="365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1" name="Freeform 14"/>
              <p:cNvSpPr>
                <a:spLocks/>
              </p:cNvSpPr>
              <p:nvPr/>
            </p:nvSpPr>
            <p:spPr bwMode="auto">
              <a:xfrm>
                <a:off x="2402840" y="5602717"/>
                <a:ext cx="236220" cy="195684"/>
              </a:xfrm>
              <a:custGeom>
                <a:avLst/>
                <a:gdLst>
                  <a:gd name="T0" fmla="*/ 2147483646 w 186"/>
                  <a:gd name="T1" fmla="*/ 2147483646 h 162"/>
                  <a:gd name="T2" fmla="*/ 0 w 186"/>
                  <a:gd name="T3" fmla="*/ 2147483646 h 162"/>
                  <a:gd name="T4" fmla="*/ 2147483646 w 186"/>
                  <a:gd name="T5" fmla="*/ 2147483646 h 162"/>
                  <a:gd name="T6" fmla="*/ 2147483646 w 186"/>
                  <a:gd name="T7" fmla="*/ 0 h 162"/>
                  <a:gd name="T8" fmla="*/ 2147483646 w 186"/>
                  <a:gd name="T9" fmla="*/ 2147483646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6" h="162">
                    <a:moveTo>
                      <a:pt x="186" y="162"/>
                    </a:moveTo>
                    <a:lnTo>
                      <a:pt x="0" y="70"/>
                    </a:lnTo>
                    <a:lnTo>
                      <a:pt x="35" y="35"/>
                    </a:lnTo>
                    <a:lnTo>
                      <a:pt x="70" y="0"/>
                    </a:lnTo>
                    <a:lnTo>
                      <a:pt x="186" y="1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 flipH="1" flipV="1">
                <a:off x="2344420" y="5547152"/>
                <a:ext cx="102870" cy="97842"/>
              </a:xfrm>
              <a:prstGeom prst="line">
                <a:avLst/>
              </a:prstGeom>
              <a:noFill/>
              <a:ln w="365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" name="Line 16"/>
              <p:cNvSpPr>
                <a:spLocks noChangeShapeType="1"/>
              </p:cNvSpPr>
              <p:nvPr/>
            </p:nvSpPr>
            <p:spPr bwMode="auto">
              <a:xfrm>
                <a:off x="2344420" y="5128001"/>
                <a:ext cx="1270" cy="642617"/>
              </a:xfrm>
              <a:prstGeom prst="line">
                <a:avLst/>
              </a:prstGeom>
              <a:noFill/>
              <a:ln w="730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auto">
              <a:xfrm>
                <a:off x="1372870" y="3970807"/>
                <a:ext cx="1162050" cy="120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" name="Line 18"/>
              <p:cNvSpPr>
                <a:spLocks noChangeShapeType="1"/>
              </p:cNvSpPr>
              <p:nvPr/>
            </p:nvSpPr>
            <p:spPr bwMode="auto">
              <a:xfrm>
                <a:off x="1372870" y="6097967"/>
                <a:ext cx="1250950" cy="120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" name="Line 19"/>
              <p:cNvSpPr>
                <a:spLocks noChangeShapeType="1"/>
              </p:cNvSpPr>
              <p:nvPr/>
            </p:nvSpPr>
            <p:spPr bwMode="auto">
              <a:xfrm>
                <a:off x="1372870" y="3961143"/>
                <a:ext cx="1270" cy="94943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" name="Line 20"/>
              <p:cNvSpPr>
                <a:spLocks noChangeShapeType="1"/>
              </p:cNvSpPr>
              <p:nvPr/>
            </p:nvSpPr>
            <p:spPr bwMode="auto">
              <a:xfrm>
                <a:off x="2623820" y="5776658"/>
                <a:ext cx="1270" cy="32130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Line 21"/>
              <p:cNvSpPr>
                <a:spLocks noChangeShapeType="1"/>
              </p:cNvSpPr>
              <p:nvPr/>
            </p:nvSpPr>
            <p:spPr bwMode="auto">
              <a:xfrm>
                <a:off x="1372870" y="5231883"/>
                <a:ext cx="1270" cy="86608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9" name="Line 22"/>
              <p:cNvSpPr>
                <a:spLocks noChangeShapeType="1"/>
              </p:cNvSpPr>
              <p:nvPr/>
            </p:nvSpPr>
            <p:spPr bwMode="auto">
              <a:xfrm>
                <a:off x="1902460" y="5449310"/>
                <a:ext cx="412750" cy="120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0" name="Rectangle 23"/>
              <p:cNvSpPr>
                <a:spLocks noChangeArrowheads="1"/>
              </p:cNvSpPr>
              <p:nvPr/>
            </p:nvSpPr>
            <p:spPr bwMode="auto">
              <a:xfrm>
                <a:off x="1902460" y="5227051"/>
                <a:ext cx="135890" cy="259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7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a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" name="Rectangle 24"/>
              <p:cNvSpPr>
                <a:spLocks noChangeArrowheads="1"/>
              </p:cNvSpPr>
              <p:nvPr/>
            </p:nvSpPr>
            <p:spPr bwMode="auto">
              <a:xfrm>
                <a:off x="2049780" y="5253626"/>
                <a:ext cx="185420" cy="258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700">
                    <a:solidFill>
                      <a:srgbClr val="000000"/>
                    </a:solidFill>
                    <a:latin typeface="Times" panose="02020603050405020304" pitchFamily="18" charset="0"/>
                  </a:rPr>
                  <a:t>,T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" name="Line 25"/>
              <p:cNvSpPr>
                <a:spLocks noChangeShapeType="1"/>
              </p:cNvSpPr>
              <p:nvPr/>
            </p:nvSpPr>
            <p:spPr bwMode="auto">
              <a:xfrm flipV="1">
                <a:off x="6383020" y="3731637"/>
                <a:ext cx="1270" cy="474715"/>
              </a:xfrm>
              <a:prstGeom prst="line">
                <a:avLst/>
              </a:prstGeom>
              <a:noFill/>
              <a:ln w="730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3" name="Line 26"/>
              <p:cNvSpPr>
                <a:spLocks noChangeShapeType="1"/>
              </p:cNvSpPr>
              <p:nvPr/>
            </p:nvSpPr>
            <p:spPr bwMode="auto">
              <a:xfrm flipH="1">
                <a:off x="6043930" y="3968391"/>
                <a:ext cx="339090" cy="237962"/>
              </a:xfrm>
              <a:prstGeom prst="line">
                <a:avLst/>
              </a:prstGeom>
              <a:noFill/>
              <a:ln w="365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4" name="Line 27"/>
              <p:cNvSpPr>
                <a:spLocks noChangeShapeType="1"/>
              </p:cNvSpPr>
              <p:nvPr/>
            </p:nvSpPr>
            <p:spPr bwMode="auto">
              <a:xfrm flipV="1">
                <a:off x="6043930" y="3731637"/>
                <a:ext cx="1270" cy="474715"/>
              </a:xfrm>
              <a:prstGeom prst="line">
                <a:avLst/>
              </a:prstGeom>
              <a:noFill/>
              <a:ln w="365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5" name="Line 28"/>
              <p:cNvSpPr>
                <a:spLocks noChangeShapeType="1"/>
              </p:cNvSpPr>
              <p:nvPr/>
            </p:nvSpPr>
            <p:spPr bwMode="auto">
              <a:xfrm>
                <a:off x="6043930" y="3731637"/>
                <a:ext cx="339090" cy="236754"/>
              </a:xfrm>
              <a:prstGeom prst="line">
                <a:avLst/>
              </a:prstGeom>
              <a:noFill/>
              <a:ln w="365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6" name="Line 29"/>
              <p:cNvSpPr>
                <a:spLocks noChangeShapeType="1"/>
              </p:cNvSpPr>
              <p:nvPr/>
            </p:nvSpPr>
            <p:spPr bwMode="auto">
              <a:xfrm>
                <a:off x="5650230" y="3974361"/>
                <a:ext cx="3937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 dirty="0"/>
              </a:p>
            </p:txBody>
          </p:sp>
          <p:sp>
            <p:nvSpPr>
              <p:cNvPr id="37" name="Line 30"/>
              <p:cNvSpPr>
                <a:spLocks noChangeShapeType="1"/>
              </p:cNvSpPr>
              <p:nvPr/>
            </p:nvSpPr>
            <p:spPr bwMode="auto">
              <a:xfrm>
                <a:off x="6383020" y="3973152"/>
                <a:ext cx="1167743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" name="Freeform 31"/>
              <p:cNvSpPr>
                <a:spLocks/>
              </p:cNvSpPr>
              <p:nvPr/>
            </p:nvSpPr>
            <p:spPr bwMode="auto">
              <a:xfrm>
                <a:off x="6609407" y="4057205"/>
                <a:ext cx="102870" cy="194476"/>
              </a:xfrm>
              <a:custGeom>
                <a:avLst/>
                <a:gdLst>
                  <a:gd name="T0" fmla="*/ 2147483646 w 81"/>
                  <a:gd name="T1" fmla="*/ 0 h 161"/>
                  <a:gd name="T2" fmla="*/ 2147483646 w 81"/>
                  <a:gd name="T3" fmla="*/ 2147483646 h 161"/>
                  <a:gd name="T4" fmla="*/ 2147483646 w 81"/>
                  <a:gd name="T5" fmla="*/ 2147483646 h 161"/>
                  <a:gd name="T6" fmla="*/ 0 w 81"/>
                  <a:gd name="T7" fmla="*/ 2147483646 h 161"/>
                  <a:gd name="T8" fmla="*/ 2147483646 w 81"/>
                  <a:gd name="T9" fmla="*/ 0 h 1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1" h="161">
                    <a:moveTo>
                      <a:pt x="35" y="0"/>
                    </a:moveTo>
                    <a:lnTo>
                      <a:pt x="81" y="161"/>
                    </a:lnTo>
                    <a:lnTo>
                      <a:pt x="35" y="161"/>
                    </a:lnTo>
                    <a:lnTo>
                      <a:pt x="0" y="16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9" name="Line 32"/>
              <p:cNvSpPr>
                <a:spLocks noChangeShapeType="1"/>
              </p:cNvSpPr>
              <p:nvPr/>
            </p:nvSpPr>
            <p:spPr bwMode="auto">
              <a:xfrm>
                <a:off x="6653857" y="4244434"/>
                <a:ext cx="1270" cy="75495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0" name="Rectangle 33"/>
              <p:cNvSpPr>
                <a:spLocks noChangeArrowheads="1"/>
              </p:cNvSpPr>
              <p:nvPr/>
            </p:nvSpPr>
            <p:spPr bwMode="auto">
              <a:xfrm>
                <a:off x="6741486" y="4454613"/>
                <a:ext cx="280512" cy="3077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000" b="1" dirty="0">
                    <a:solidFill>
                      <a:srgbClr val="000000"/>
                    </a:solidFill>
                    <a:latin typeface="Times" panose="02020603050405020304" pitchFamily="18" charset="0"/>
                  </a:rPr>
                  <a:t>V</a:t>
                </a:r>
                <a:r>
                  <a:rPr lang="fr-FR" altLang="fr-FR" sz="2000" b="1" baseline="-25000" dirty="0">
                    <a:solidFill>
                      <a:srgbClr val="000000"/>
                    </a:solidFill>
                    <a:latin typeface="Times" panose="02020603050405020304" pitchFamily="18" charset="0"/>
                  </a:rPr>
                  <a:t>S</a:t>
                </a:r>
                <a:endParaRPr lang="fr-FR" altLang="fr-FR" sz="1800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" name="Freeform 35"/>
              <p:cNvSpPr>
                <a:spLocks/>
              </p:cNvSpPr>
              <p:nvPr/>
            </p:nvSpPr>
            <p:spPr bwMode="auto">
              <a:xfrm>
                <a:off x="2653030" y="5170279"/>
                <a:ext cx="102870" cy="195684"/>
              </a:xfrm>
              <a:custGeom>
                <a:avLst/>
                <a:gdLst>
                  <a:gd name="T0" fmla="*/ 2147483646 w 81"/>
                  <a:gd name="T1" fmla="*/ 0 h 162"/>
                  <a:gd name="T2" fmla="*/ 2147483646 w 81"/>
                  <a:gd name="T3" fmla="*/ 2147483646 h 162"/>
                  <a:gd name="T4" fmla="*/ 2147483646 w 81"/>
                  <a:gd name="T5" fmla="*/ 2147483646 h 162"/>
                  <a:gd name="T6" fmla="*/ 0 w 81"/>
                  <a:gd name="T7" fmla="*/ 2147483646 h 162"/>
                  <a:gd name="T8" fmla="*/ 2147483646 w 81"/>
                  <a:gd name="T9" fmla="*/ 0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1" h="162">
                    <a:moveTo>
                      <a:pt x="35" y="0"/>
                    </a:moveTo>
                    <a:lnTo>
                      <a:pt x="81" y="162"/>
                    </a:lnTo>
                    <a:lnTo>
                      <a:pt x="35" y="162"/>
                    </a:lnTo>
                    <a:lnTo>
                      <a:pt x="0" y="16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Line 36"/>
              <p:cNvSpPr>
                <a:spLocks noChangeShapeType="1"/>
              </p:cNvSpPr>
              <p:nvPr/>
            </p:nvSpPr>
            <p:spPr bwMode="auto">
              <a:xfrm>
                <a:off x="2697480" y="5365963"/>
                <a:ext cx="1270" cy="51699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" name="Rectangle 37"/>
              <p:cNvSpPr>
                <a:spLocks noChangeArrowheads="1"/>
              </p:cNvSpPr>
              <p:nvPr/>
            </p:nvSpPr>
            <p:spPr bwMode="auto">
              <a:xfrm>
                <a:off x="2816860" y="5420320"/>
                <a:ext cx="127000" cy="304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0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v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Rectangle 38"/>
              <p:cNvSpPr>
                <a:spLocks noChangeArrowheads="1"/>
              </p:cNvSpPr>
              <p:nvPr/>
            </p:nvSpPr>
            <p:spPr bwMode="auto">
              <a:xfrm>
                <a:off x="2905760" y="5533865"/>
                <a:ext cx="158750" cy="2125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ce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Rectangle 39"/>
              <p:cNvSpPr>
                <a:spLocks noChangeArrowheads="1"/>
              </p:cNvSpPr>
              <p:nvPr/>
            </p:nvSpPr>
            <p:spPr bwMode="auto">
              <a:xfrm>
                <a:off x="6169660" y="4229303"/>
                <a:ext cx="154940" cy="258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7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D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Rectangle 40"/>
              <p:cNvSpPr>
                <a:spLocks noChangeArrowheads="1"/>
              </p:cNvSpPr>
              <p:nvPr/>
            </p:nvSpPr>
            <p:spPr bwMode="auto">
              <a:xfrm>
                <a:off x="2080260" y="3683320"/>
                <a:ext cx="57150" cy="27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" name="Oval 41"/>
              <p:cNvSpPr>
                <a:spLocks noChangeArrowheads="1"/>
              </p:cNvSpPr>
              <p:nvPr/>
            </p:nvSpPr>
            <p:spPr bwMode="auto">
              <a:xfrm>
                <a:off x="3563620" y="4137501"/>
                <a:ext cx="857250" cy="817767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Oval 42"/>
              <p:cNvSpPr>
                <a:spLocks noChangeArrowheads="1"/>
              </p:cNvSpPr>
              <p:nvPr/>
            </p:nvSpPr>
            <p:spPr bwMode="auto">
              <a:xfrm>
                <a:off x="3985260" y="4137501"/>
                <a:ext cx="857250" cy="817767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Line 43"/>
              <p:cNvSpPr>
                <a:spLocks noChangeShapeType="1"/>
              </p:cNvSpPr>
              <p:nvPr/>
            </p:nvSpPr>
            <p:spPr bwMode="auto">
              <a:xfrm flipH="1">
                <a:off x="4744720" y="3972015"/>
                <a:ext cx="181610" cy="33097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" name="Line 44"/>
              <p:cNvSpPr>
                <a:spLocks noChangeShapeType="1"/>
              </p:cNvSpPr>
              <p:nvPr/>
            </p:nvSpPr>
            <p:spPr bwMode="auto">
              <a:xfrm flipH="1" flipV="1">
                <a:off x="4744720" y="4790990"/>
                <a:ext cx="181610" cy="31526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2" name="Line 45"/>
              <p:cNvSpPr>
                <a:spLocks noChangeShapeType="1"/>
              </p:cNvSpPr>
              <p:nvPr/>
            </p:nvSpPr>
            <p:spPr bwMode="auto">
              <a:xfrm flipH="1">
                <a:off x="2532380" y="3972015"/>
                <a:ext cx="933450" cy="120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3" name="Line 46"/>
              <p:cNvSpPr>
                <a:spLocks noChangeShapeType="1"/>
              </p:cNvSpPr>
              <p:nvPr/>
            </p:nvSpPr>
            <p:spPr bwMode="auto">
              <a:xfrm flipH="1">
                <a:off x="2532380" y="5106259"/>
                <a:ext cx="933450" cy="120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4" name="Line 47"/>
              <p:cNvSpPr>
                <a:spLocks noChangeShapeType="1"/>
              </p:cNvSpPr>
              <p:nvPr/>
            </p:nvSpPr>
            <p:spPr bwMode="auto">
              <a:xfrm flipH="1">
                <a:off x="4926330" y="3972015"/>
                <a:ext cx="767080" cy="120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5" name="Line 48"/>
              <p:cNvSpPr>
                <a:spLocks noChangeShapeType="1"/>
              </p:cNvSpPr>
              <p:nvPr/>
            </p:nvSpPr>
            <p:spPr bwMode="auto">
              <a:xfrm flipH="1">
                <a:off x="4926330" y="5106259"/>
                <a:ext cx="767080" cy="120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6" name="Arc 49"/>
              <p:cNvSpPr>
                <a:spLocks/>
              </p:cNvSpPr>
              <p:nvPr/>
            </p:nvSpPr>
            <p:spPr bwMode="auto">
              <a:xfrm>
                <a:off x="2871470" y="4805485"/>
                <a:ext cx="97790" cy="79723"/>
              </a:xfrm>
              <a:custGeom>
                <a:avLst/>
                <a:gdLst>
                  <a:gd name="T0" fmla="*/ 185993524 w 21600"/>
                  <a:gd name="T1" fmla="*/ 54605084 h 21600"/>
                  <a:gd name="T2" fmla="*/ 0 w 21600"/>
                  <a:gd name="T3" fmla="*/ 0 h 21600"/>
                  <a:gd name="T4" fmla="*/ 185993524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7" name="Arc 50"/>
              <p:cNvSpPr>
                <a:spLocks/>
              </p:cNvSpPr>
              <p:nvPr/>
            </p:nvSpPr>
            <p:spPr bwMode="auto">
              <a:xfrm>
                <a:off x="2969260" y="4848970"/>
                <a:ext cx="97790" cy="36238"/>
              </a:xfrm>
              <a:custGeom>
                <a:avLst/>
                <a:gdLst>
                  <a:gd name="T0" fmla="*/ 185993524 w 21600"/>
                  <a:gd name="T1" fmla="*/ 0 h 21648"/>
                  <a:gd name="T2" fmla="*/ 0 w 21600"/>
                  <a:gd name="T3" fmla="*/ 476313 h 21648"/>
                  <a:gd name="T4" fmla="*/ 0 w 21600"/>
                  <a:gd name="T5" fmla="*/ 1051 h 216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48" fill="none" extrusionOk="0">
                    <a:moveTo>
                      <a:pt x="21599" y="0"/>
                    </a:moveTo>
                    <a:cubicBezTo>
                      <a:pt x="21599" y="16"/>
                      <a:pt x="21600" y="32"/>
                      <a:pt x="21600" y="48"/>
                    </a:cubicBezTo>
                    <a:cubicBezTo>
                      <a:pt x="21600" y="11977"/>
                      <a:pt x="11929" y="21647"/>
                      <a:pt x="0" y="21648"/>
                    </a:cubicBezTo>
                  </a:path>
                  <a:path w="21600" h="21648" stroke="0" extrusionOk="0">
                    <a:moveTo>
                      <a:pt x="21599" y="0"/>
                    </a:moveTo>
                    <a:cubicBezTo>
                      <a:pt x="21599" y="16"/>
                      <a:pt x="21600" y="32"/>
                      <a:pt x="21600" y="48"/>
                    </a:cubicBezTo>
                    <a:cubicBezTo>
                      <a:pt x="21600" y="11977"/>
                      <a:pt x="11929" y="21647"/>
                      <a:pt x="0" y="21648"/>
                    </a:cubicBezTo>
                    <a:lnTo>
                      <a:pt x="0" y="48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8" name="Arc 51"/>
              <p:cNvSpPr>
                <a:spLocks/>
              </p:cNvSpPr>
              <p:nvPr/>
            </p:nvSpPr>
            <p:spPr bwMode="auto">
              <a:xfrm>
                <a:off x="2871470" y="4812732"/>
                <a:ext cx="97790" cy="78515"/>
              </a:xfrm>
              <a:custGeom>
                <a:avLst/>
                <a:gdLst>
                  <a:gd name="T0" fmla="*/ 0 w 21600"/>
                  <a:gd name="T1" fmla="*/ 49824932 h 21600"/>
                  <a:gd name="T2" fmla="*/ 185993524 w 21600"/>
                  <a:gd name="T3" fmla="*/ 0 h 21600"/>
                  <a:gd name="T4" fmla="*/ 185993524 w 21600"/>
                  <a:gd name="T5" fmla="*/ 4982493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9" name="Arc 52"/>
              <p:cNvSpPr>
                <a:spLocks/>
              </p:cNvSpPr>
              <p:nvPr/>
            </p:nvSpPr>
            <p:spPr bwMode="auto">
              <a:xfrm>
                <a:off x="2969260" y="4812732"/>
                <a:ext cx="97790" cy="36238"/>
              </a:xfrm>
              <a:custGeom>
                <a:avLst/>
                <a:gdLst>
                  <a:gd name="T0" fmla="*/ 0 w 21600"/>
                  <a:gd name="T1" fmla="*/ 0 h 21600"/>
                  <a:gd name="T2" fmla="*/ 185993524 w 21600"/>
                  <a:gd name="T3" fmla="*/ 480556 h 21600"/>
                  <a:gd name="T4" fmla="*/ 0 w 21600"/>
                  <a:gd name="T5" fmla="*/ 481637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10" y="0"/>
                      <a:pt x="21573" y="9641"/>
                      <a:pt x="21599" y="21552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10" y="0"/>
                      <a:pt x="21573" y="9641"/>
                      <a:pt x="21599" y="21552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0" name="Arc 53"/>
              <p:cNvSpPr>
                <a:spLocks/>
              </p:cNvSpPr>
              <p:nvPr/>
            </p:nvSpPr>
            <p:spPr bwMode="auto">
              <a:xfrm>
                <a:off x="2871470" y="4719722"/>
                <a:ext cx="97790" cy="79723"/>
              </a:xfrm>
              <a:custGeom>
                <a:avLst/>
                <a:gdLst>
                  <a:gd name="T0" fmla="*/ 185993524 w 21600"/>
                  <a:gd name="T1" fmla="*/ 54327895 h 21622"/>
                  <a:gd name="T2" fmla="*/ 0 w 21600"/>
                  <a:gd name="T3" fmla="*/ 0 h 21622"/>
                  <a:gd name="T4" fmla="*/ 185993524 w 21600"/>
                  <a:gd name="T5" fmla="*/ 55237 h 216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22" fill="none" extrusionOk="0">
                    <a:moveTo>
                      <a:pt x="21600" y="21622"/>
                    </a:moveTo>
                    <a:cubicBezTo>
                      <a:pt x="9670" y="21622"/>
                      <a:pt x="0" y="11951"/>
                      <a:pt x="0" y="22"/>
                    </a:cubicBezTo>
                    <a:cubicBezTo>
                      <a:pt x="-1" y="14"/>
                      <a:pt x="0" y="7"/>
                      <a:pt x="0" y="0"/>
                    </a:cubicBezTo>
                  </a:path>
                  <a:path w="21600" h="21622" stroke="0" extrusionOk="0">
                    <a:moveTo>
                      <a:pt x="21600" y="21622"/>
                    </a:moveTo>
                    <a:cubicBezTo>
                      <a:pt x="9670" y="21622"/>
                      <a:pt x="0" y="11951"/>
                      <a:pt x="0" y="22"/>
                    </a:cubicBezTo>
                    <a:cubicBezTo>
                      <a:pt x="-1" y="14"/>
                      <a:pt x="0" y="7"/>
                      <a:pt x="0" y="0"/>
                    </a:cubicBezTo>
                    <a:lnTo>
                      <a:pt x="21600" y="22"/>
                    </a:lnTo>
                    <a:lnTo>
                      <a:pt x="21600" y="21622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1" name="Arc 54"/>
              <p:cNvSpPr>
                <a:spLocks/>
              </p:cNvSpPr>
              <p:nvPr/>
            </p:nvSpPr>
            <p:spPr bwMode="auto">
              <a:xfrm>
                <a:off x="2969260" y="4761999"/>
                <a:ext cx="97790" cy="36238"/>
              </a:xfrm>
              <a:custGeom>
                <a:avLst/>
                <a:gdLst>
                  <a:gd name="T0" fmla="*/ 185993524 w 21600"/>
                  <a:gd name="T1" fmla="*/ 0 h 21600"/>
                  <a:gd name="T2" fmla="*/ 0 w 21600"/>
                  <a:gd name="T3" fmla="*/ 481637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2" name="Arc 55"/>
              <p:cNvSpPr>
                <a:spLocks/>
              </p:cNvSpPr>
              <p:nvPr/>
            </p:nvSpPr>
            <p:spPr bwMode="auto">
              <a:xfrm>
                <a:off x="2871470" y="4725761"/>
                <a:ext cx="97790" cy="79723"/>
              </a:xfrm>
              <a:custGeom>
                <a:avLst/>
                <a:gdLst>
                  <a:gd name="T0" fmla="*/ 0 w 21600"/>
                  <a:gd name="T1" fmla="*/ 54605084 h 21600"/>
                  <a:gd name="T2" fmla="*/ 185993524 w 21600"/>
                  <a:gd name="T3" fmla="*/ 0 h 21600"/>
                  <a:gd name="T4" fmla="*/ 185993524 w 21600"/>
                  <a:gd name="T5" fmla="*/ 5460508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3" name="Arc 56"/>
              <p:cNvSpPr>
                <a:spLocks/>
              </p:cNvSpPr>
              <p:nvPr/>
            </p:nvSpPr>
            <p:spPr bwMode="auto">
              <a:xfrm>
                <a:off x="2969260" y="4725761"/>
                <a:ext cx="97790" cy="36238"/>
              </a:xfrm>
              <a:custGeom>
                <a:avLst/>
                <a:gdLst>
                  <a:gd name="T0" fmla="*/ 0 w 21600"/>
                  <a:gd name="T1" fmla="*/ 0 h 21600"/>
                  <a:gd name="T2" fmla="*/ 185993524 w 21600"/>
                  <a:gd name="T3" fmla="*/ 481637 h 21600"/>
                  <a:gd name="T4" fmla="*/ 0 w 21600"/>
                  <a:gd name="T5" fmla="*/ 481637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4" name="Arc 57"/>
              <p:cNvSpPr>
                <a:spLocks/>
              </p:cNvSpPr>
              <p:nvPr/>
            </p:nvSpPr>
            <p:spPr bwMode="auto">
              <a:xfrm>
                <a:off x="2871470" y="4625504"/>
                <a:ext cx="97790" cy="85763"/>
              </a:xfrm>
              <a:custGeom>
                <a:avLst/>
                <a:gdLst>
                  <a:gd name="T0" fmla="*/ 185993524 w 21600"/>
                  <a:gd name="T1" fmla="*/ 82319027 h 21720"/>
                  <a:gd name="T2" fmla="*/ 0 w 21600"/>
                  <a:gd name="T3" fmla="*/ 0 h 21720"/>
                  <a:gd name="T4" fmla="*/ 185993524 w 21600"/>
                  <a:gd name="T5" fmla="*/ 455077 h 217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720" fill="none" extrusionOk="0">
                    <a:moveTo>
                      <a:pt x="21600" y="21720"/>
                    </a:moveTo>
                    <a:cubicBezTo>
                      <a:pt x="9670" y="21720"/>
                      <a:pt x="0" y="12049"/>
                      <a:pt x="0" y="120"/>
                    </a:cubicBezTo>
                    <a:cubicBezTo>
                      <a:pt x="-1" y="80"/>
                      <a:pt x="0" y="40"/>
                      <a:pt x="0" y="0"/>
                    </a:cubicBezTo>
                  </a:path>
                  <a:path w="21600" h="21720" stroke="0" extrusionOk="0">
                    <a:moveTo>
                      <a:pt x="21600" y="21720"/>
                    </a:moveTo>
                    <a:cubicBezTo>
                      <a:pt x="9670" y="21720"/>
                      <a:pt x="0" y="12049"/>
                      <a:pt x="0" y="120"/>
                    </a:cubicBezTo>
                    <a:cubicBezTo>
                      <a:pt x="-1" y="80"/>
                      <a:pt x="0" y="40"/>
                      <a:pt x="0" y="0"/>
                    </a:cubicBezTo>
                    <a:lnTo>
                      <a:pt x="21600" y="120"/>
                    </a:lnTo>
                    <a:lnTo>
                      <a:pt x="21600" y="2172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5" name="Arc 58"/>
              <p:cNvSpPr>
                <a:spLocks/>
              </p:cNvSpPr>
              <p:nvPr/>
            </p:nvSpPr>
            <p:spPr bwMode="auto">
              <a:xfrm>
                <a:off x="2969260" y="4676236"/>
                <a:ext cx="97790" cy="36238"/>
              </a:xfrm>
              <a:custGeom>
                <a:avLst/>
                <a:gdLst>
                  <a:gd name="T0" fmla="*/ 185993524 w 21600"/>
                  <a:gd name="T1" fmla="*/ 0 h 21600"/>
                  <a:gd name="T2" fmla="*/ 0 w 21600"/>
                  <a:gd name="T3" fmla="*/ 481637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6" name="Arc 59"/>
              <p:cNvSpPr>
                <a:spLocks/>
              </p:cNvSpPr>
              <p:nvPr/>
            </p:nvSpPr>
            <p:spPr bwMode="auto">
              <a:xfrm>
                <a:off x="2871470" y="4639999"/>
                <a:ext cx="97790" cy="79723"/>
              </a:xfrm>
              <a:custGeom>
                <a:avLst/>
                <a:gdLst>
                  <a:gd name="T0" fmla="*/ 0 w 21600"/>
                  <a:gd name="T1" fmla="*/ 54549573 h 21600"/>
                  <a:gd name="T2" fmla="*/ 185993524 w 21600"/>
                  <a:gd name="T3" fmla="*/ 0 h 21600"/>
                  <a:gd name="T4" fmla="*/ 185993524 w 21600"/>
                  <a:gd name="T5" fmla="*/ 5460508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578"/>
                    </a:moveTo>
                    <a:cubicBezTo>
                      <a:pt x="12" y="9657"/>
                      <a:pt x="9679" y="0"/>
                      <a:pt x="21599" y="0"/>
                    </a:cubicBezTo>
                  </a:path>
                  <a:path w="21600" h="21600" stroke="0" extrusionOk="0">
                    <a:moveTo>
                      <a:pt x="0" y="21578"/>
                    </a:moveTo>
                    <a:cubicBezTo>
                      <a:pt x="12" y="9657"/>
                      <a:pt x="9679" y="0"/>
                      <a:pt x="21599" y="0"/>
                    </a:cubicBezTo>
                    <a:lnTo>
                      <a:pt x="21600" y="21600"/>
                    </a:lnTo>
                    <a:lnTo>
                      <a:pt x="0" y="21578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" name="Arc 60"/>
              <p:cNvSpPr>
                <a:spLocks/>
              </p:cNvSpPr>
              <p:nvPr/>
            </p:nvSpPr>
            <p:spPr bwMode="auto">
              <a:xfrm>
                <a:off x="2969260" y="4639999"/>
                <a:ext cx="97790" cy="36238"/>
              </a:xfrm>
              <a:custGeom>
                <a:avLst/>
                <a:gdLst>
                  <a:gd name="T0" fmla="*/ 0 w 21600"/>
                  <a:gd name="T1" fmla="*/ 0 h 21600"/>
                  <a:gd name="T2" fmla="*/ 185993524 w 21600"/>
                  <a:gd name="T3" fmla="*/ 481637 h 21600"/>
                  <a:gd name="T4" fmla="*/ 0 w 21600"/>
                  <a:gd name="T5" fmla="*/ 481637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" name="Arc 61"/>
              <p:cNvSpPr>
                <a:spLocks/>
              </p:cNvSpPr>
              <p:nvPr/>
            </p:nvSpPr>
            <p:spPr bwMode="auto">
              <a:xfrm>
                <a:off x="2871470" y="4532493"/>
                <a:ext cx="97790" cy="79723"/>
              </a:xfrm>
              <a:custGeom>
                <a:avLst/>
                <a:gdLst>
                  <a:gd name="T0" fmla="*/ 185993524 w 21600"/>
                  <a:gd name="T1" fmla="*/ 54605084 h 21600"/>
                  <a:gd name="T2" fmla="*/ 0 w 21600"/>
                  <a:gd name="T3" fmla="*/ 0 h 21600"/>
                  <a:gd name="T4" fmla="*/ 185993524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" name="Arc 62"/>
              <p:cNvSpPr>
                <a:spLocks/>
              </p:cNvSpPr>
              <p:nvPr/>
            </p:nvSpPr>
            <p:spPr bwMode="auto">
              <a:xfrm>
                <a:off x="2969260" y="4583226"/>
                <a:ext cx="97790" cy="28990"/>
              </a:xfrm>
              <a:custGeom>
                <a:avLst/>
                <a:gdLst>
                  <a:gd name="T0" fmla="*/ 185959461 w 21600"/>
                  <a:gd name="T1" fmla="*/ 0 h 22022"/>
                  <a:gd name="T2" fmla="*/ 0 w 21600"/>
                  <a:gd name="T3" fmla="*/ 114607 h 22022"/>
                  <a:gd name="T4" fmla="*/ 0 w 21600"/>
                  <a:gd name="T5" fmla="*/ 2200 h 220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2022" fill="none" extrusionOk="0">
                    <a:moveTo>
                      <a:pt x="21595" y="0"/>
                    </a:moveTo>
                    <a:cubicBezTo>
                      <a:pt x="21598" y="140"/>
                      <a:pt x="21600" y="281"/>
                      <a:pt x="21600" y="422"/>
                    </a:cubicBezTo>
                    <a:cubicBezTo>
                      <a:pt x="21600" y="12351"/>
                      <a:pt x="11929" y="22021"/>
                      <a:pt x="0" y="22022"/>
                    </a:cubicBezTo>
                  </a:path>
                  <a:path w="21600" h="22022" stroke="0" extrusionOk="0">
                    <a:moveTo>
                      <a:pt x="21595" y="0"/>
                    </a:moveTo>
                    <a:cubicBezTo>
                      <a:pt x="21598" y="140"/>
                      <a:pt x="21600" y="281"/>
                      <a:pt x="21600" y="422"/>
                    </a:cubicBezTo>
                    <a:cubicBezTo>
                      <a:pt x="21600" y="12351"/>
                      <a:pt x="11929" y="22021"/>
                      <a:pt x="0" y="22022"/>
                    </a:cubicBezTo>
                    <a:lnTo>
                      <a:pt x="0" y="422"/>
                    </a:lnTo>
                    <a:lnTo>
                      <a:pt x="21595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0" name="Arc 63"/>
              <p:cNvSpPr>
                <a:spLocks/>
              </p:cNvSpPr>
              <p:nvPr/>
            </p:nvSpPr>
            <p:spPr bwMode="auto">
              <a:xfrm>
                <a:off x="2871470" y="4554236"/>
                <a:ext cx="97790" cy="78515"/>
              </a:xfrm>
              <a:custGeom>
                <a:avLst/>
                <a:gdLst>
                  <a:gd name="T0" fmla="*/ 0 w 21600"/>
                  <a:gd name="T1" fmla="*/ 49824932 h 21600"/>
                  <a:gd name="T2" fmla="*/ 185993524 w 21600"/>
                  <a:gd name="T3" fmla="*/ 0 h 21600"/>
                  <a:gd name="T4" fmla="*/ 185993524 w 21600"/>
                  <a:gd name="T5" fmla="*/ 4982493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1" name="Arc 64"/>
              <p:cNvSpPr>
                <a:spLocks/>
              </p:cNvSpPr>
              <p:nvPr/>
            </p:nvSpPr>
            <p:spPr bwMode="auto">
              <a:xfrm>
                <a:off x="2969260" y="4554236"/>
                <a:ext cx="97790" cy="36238"/>
              </a:xfrm>
              <a:custGeom>
                <a:avLst/>
                <a:gdLst>
                  <a:gd name="T0" fmla="*/ 0 w 21600"/>
                  <a:gd name="T1" fmla="*/ 0 h 21600"/>
                  <a:gd name="T2" fmla="*/ 185993524 w 21600"/>
                  <a:gd name="T3" fmla="*/ 480556 h 21600"/>
                  <a:gd name="T4" fmla="*/ 0 w 21600"/>
                  <a:gd name="T5" fmla="*/ 481637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10" y="0"/>
                      <a:pt x="21573" y="9641"/>
                      <a:pt x="21599" y="21552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10" y="0"/>
                      <a:pt x="21573" y="9641"/>
                      <a:pt x="21599" y="21552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2" name="Arc 65"/>
              <p:cNvSpPr>
                <a:spLocks/>
              </p:cNvSpPr>
              <p:nvPr/>
            </p:nvSpPr>
            <p:spPr bwMode="auto">
              <a:xfrm>
                <a:off x="2871470" y="4446730"/>
                <a:ext cx="97790" cy="79723"/>
              </a:xfrm>
              <a:custGeom>
                <a:avLst/>
                <a:gdLst>
                  <a:gd name="T0" fmla="*/ 185993524 w 21600"/>
                  <a:gd name="T1" fmla="*/ 54327895 h 21622"/>
                  <a:gd name="T2" fmla="*/ 0 w 21600"/>
                  <a:gd name="T3" fmla="*/ 0 h 21622"/>
                  <a:gd name="T4" fmla="*/ 185993524 w 21600"/>
                  <a:gd name="T5" fmla="*/ 55237 h 216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22" fill="none" extrusionOk="0">
                    <a:moveTo>
                      <a:pt x="21600" y="21622"/>
                    </a:moveTo>
                    <a:cubicBezTo>
                      <a:pt x="9670" y="21622"/>
                      <a:pt x="0" y="11951"/>
                      <a:pt x="0" y="22"/>
                    </a:cubicBezTo>
                    <a:cubicBezTo>
                      <a:pt x="-1" y="14"/>
                      <a:pt x="0" y="7"/>
                      <a:pt x="0" y="0"/>
                    </a:cubicBezTo>
                  </a:path>
                  <a:path w="21600" h="21622" stroke="0" extrusionOk="0">
                    <a:moveTo>
                      <a:pt x="21600" y="21622"/>
                    </a:moveTo>
                    <a:cubicBezTo>
                      <a:pt x="9670" y="21622"/>
                      <a:pt x="0" y="11951"/>
                      <a:pt x="0" y="22"/>
                    </a:cubicBezTo>
                    <a:cubicBezTo>
                      <a:pt x="-1" y="14"/>
                      <a:pt x="0" y="7"/>
                      <a:pt x="0" y="0"/>
                    </a:cubicBezTo>
                    <a:lnTo>
                      <a:pt x="21600" y="22"/>
                    </a:lnTo>
                    <a:lnTo>
                      <a:pt x="21600" y="21622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3" name="Arc 66"/>
              <p:cNvSpPr>
                <a:spLocks/>
              </p:cNvSpPr>
              <p:nvPr/>
            </p:nvSpPr>
            <p:spPr bwMode="auto">
              <a:xfrm>
                <a:off x="2969260" y="4496255"/>
                <a:ext cx="97790" cy="28990"/>
              </a:xfrm>
              <a:custGeom>
                <a:avLst/>
                <a:gdLst>
                  <a:gd name="T0" fmla="*/ 185967062 w 21600"/>
                  <a:gd name="T1" fmla="*/ 0 h 21954"/>
                  <a:gd name="T2" fmla="*/ 0 w 21600"/>
                  <a:gd name="T3" fmla="*/ 116393 h 21954"/>
                  <a:gd name="T4" fmla="*/ 0 w 21600"/>
                  <a:gd name="T5" fmla="*/ 1876 h 219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954" fill="none" extrusionOk="0">
                    <a:moveTo>
                      <a:pt x="21597" y="-1"/>
                    </a:moveTo>
                    <a:cubicBezTo>
                      <a:pt x="21599" y="117"/>
                      <a:pt x="21600" y="235"/>
                      <a:pt x="21600" y="354"/>
                    </a:cubicBezTo>
                    <a:cubicBezTo>
                      <a:pt x="21600" y="12283"/>
                      <a:pt x="11929" y="21953"/>
                      <a:pt x="0" y="21954"/>
                    </a:cubicBezTo>
                  </a:path>
                  <a:path w="21600" h="21954" stroke="0" extrusionOk="0">
                    <a:moveTo>
                      <a:pt x="21597" y="-1"/>
                    </a:moveTo>
                    <a:cubicBezTo>
                      <a:pt x="21599" y="117"/>
                      <a:pt x="21600" y="235"/>
                      <a:pt x="21600" y="354"/>
                    </a:cubicBezTo>
                    <a:cubicBezTo>
                      <a:pt x="21600" y="12283"/>
                      <a:pt x="11929" y="21953"/>
                      <a:pt x="0" y="21954"/>
                    </a:cubicBezTo>
                    <a:lnTo>
                      <a:pt x="0" y="354"/>
                    </a:lnTo>
                    <a:lnTo>
                      <a:pt x="21597" y="-1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4" name="Arc 67"/>
              <p:cNvSpPr>
                <a:spLocks/>
              </p:cNvSpPr>
              <p:nvPr/>
            </p:nvSpPr>
            <p:spPr bwMode="auto">
              <a:xfrm>
                <a:off x="2871470" y="4467265"/>
                <a:ext cx="97790" cy="79723"/>
              </a:xfrm>
              <a:custGeom>
                <a:avLst/>
                <a:gdLst>
                  <a:gd name="T0" fmla="*/ 0 w 21600"/>
                  <a:gd name="T1" fmla="*/ 54605084 h 21600"/>
                  <a:gd name="T2" fmla="*/ 185993524 w 21600"/>
                  <a:gd name="T3" fmla="*/ 0 h 21600"/>
                  <a:gd name="T4" fmla="*/ 185993524 w 21600"/>
                  <a:gd name="T5" fmla="*/ 5460508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5" name="Arc 68"/>
              <p:cNvSpPr>
                <a:spLocks/>
              </p:cNvSpPr>
              <p:nvPr/>
            </p:nvSpPr>
            <p:spPr bwMode="auto">
              <a:xfrm>
                <a:off x="2969260" y="4467265"/>
                <a:ext cx="97790" cy="36238"/>
              </a:xfrm>
              <a:custGeom>
                <a:avLst/>
                <a:gdLst>
                  <a:gd name="T0" fmla="*/ 0 w 21600"/>
                  <a:gd name="T1" fmla="*/ 0 h 21600"/>
                  <a:gd name="T2" fmla="*/ 185993524 w 21600"/>
                  <a:gd name="T3" fmla="*/ 481637 h 21600"/>
                  <a:gd name="T4" fmla="*/ 0 w 21600"/>
                  <a:gd name="T5" fmla="*/ 481637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6" name="Arc 69"/>
              <p:cNvSpPr>
                <a:spLocks/>
              </p:cNvSpPr>
              <p:nvPr/>
            </p:nvSpPr>
            <p:spPr bwMode="auto">
              <a:xfrm>
                <a:off x="2871470" y="4359759"/>
                <a:ext cx="97790" cy="78515"/>
              </a:xfrm>
              <a:custGeom>
                <a:avLst/>
                <a:gdLst>
                  <a:gd name="T0" fmla="*/ 185993524 w 21600"/>
                  <a:gd name="T1" fmla="*/ 49824932 h 21600"/>
                  <a:gd name="T2" fmla="*/ 0 w 21600"/>
                  <a:gd name="T3" fmla="*/ 0 h 21600"/>
                  <a:gd name="T4" fmla="*/ 185993524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7" name="Arc 70"/>
              <p:cNvSpPr>
                <a:spLocks/>
              </p:cNvSpPr>
              <p:nvPr/>
            </p:nvSpPr>
            <p:spPr bwMode="auto">
              <a:xfrm>
                <a:off x="2969260" y="4410492"/>
                <a:ext cx="97790" cy="28990"/>
              </a:xfrm>
              <a:custGeom>
                <a:avLst/>
                <a:gdLst>
                  <a:gd name="T0" fmla="*/ 185967062 w 21600"/>
                  <a:gd name="T1" fmla="*/ 0 h 21962"/>
                  <a:gd name="T2" fmla="*/ 0 w 21600"/>
                  <a:gd name="T3" fmla="*/ 116180 h 21962"/>
                  <a:gd name="T4" fmla="*/ 0 w 21600"/>
                  <a:gd name="T5" fmla="*/ 1917 h 219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962" fill="none" extrusionOk="0">
                    <a:moveTo>
                      <a:pt x="21596" y="0"/>
                    </a:moveTo>
                    <a:cubicBezTo>
                      <a:pt x="21598" y="120"/>
                      <a:pt x="21600" y="241"/>
                      <a:pt x="21600" y="362"/>
                    </a:cubicBezTo>
                    <a:cubicBezTo>
                      <a:pt x="21600" y="12291"/>
                      <a:pt x="11929" y="21961"/>
                      <a:pt x="0" y="21962"/>
                    </a:cubicBezTo>
                  </a:path>
                  <a:path w="21600" h="21962" stroke="0" extrusionOk="0">
                    <a:moveTo>
                      <a:pt x="21596" y="0"/>
                    </a:moveTo>
                    <a:cubicBezTo>
                      <a:pt x="21598" y="120"/>
                      <a:pt x="21600" y="241"/>
                      <a:pt x="21600" y="362"/>
                    </a:cubicBezTo>
                    <a:cubicBezTo>
                      <a:pt x="21600" y="12291"/>
                      <a:pt x="11929" y="21961"/>
                      <a:pt x="0" y="21962"/>
                    </a:cubicBezTo>
                    <a:lnTo>
                      <a:pt x="0" y="362"/>
                    </a:lnTo>
                    <a:lnTo>
                      <a:pt x="21596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" name="Arc 71"/>
              <p:cNvSpPr>
                <a:spLocks/>
              </p:cNvSpPr>
              <p:nvPr/>
            </p:nvSpPr>
            <p:spPr bwMode="auto">
              <a:xfrm>
                <a:off x="2871470" y="4381502"/>
                <a:ext cx="97790" cy="79723"/>
              </a:xfrm>
              <a:custGeom>
                <a:avLst/>
                <a:gdLst>
                  <a:gd name="T0" fmla="*/ 0 w 21600"/>
                  <a:gd name="T1" fmla="*/ 54549573 h 21600"/>
                  <a:gd name="T2" fmla="*/ 185993524 w 21600"/>
                  <a:gd name="T3" fmla="*/ 0 h 21600"/>
                  <a:gd name="T4" fmla="*/ 185993524 w 21600"/>
                  <a:gd name="T5" fmla="*/ 5460508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578"/>
                    </a:moveTo>
                    <a:cubicBezTo>
                      <a:pt x="12" y="9657"/>
                      <a:pt x="9679" y="0"/>
                      <a:pt x="21599" y="0"/>
                    </a:cubicBezTo>
                  </a:path>
                  <a:path w="21600" h="21600" stroke="0" extrusionOk="0">
                    <a:moveTo>
                      <a:pt x="0" y="21578"/>
                    </a:moveTo>
                    <a:cubicBezTo>
                      <a:pt x="12" y="9657"/>
                      <a:pt x="9679" y="0"/>
                      <a:pt x="21599" y="0"/>
                    </a:cubicBezTo>
                    <a:lnTo>
                      <a:pt x="21600" y="21600"/>
                    </a:lnTo>
                    <a:lnTo>
                      <a:pt x="0" y="21578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" name="Arc 72"/>
              <p:cNvSpPr>
                <a:spLocks/>
              </p:cNvSpPr>
              <p:nvPr/>
            </p:nvSpPr>
            <p:spPr bwMode="auto">
              <a:xfrm>
                <a:off x="2969260" y="4381502"/>
                <a:ext cx="97790" cy="36238"/>
              </a:xfrm>
              <a:custGeom>
                <a:avLst/>
                <a:gdLst>
                  <a:gd name="T0" fmla="*/ 0 w 21600"/>
                  <a:gd name="T1" fmla="*/ 0 h 21600"/>
                  <a:gd name="T2" fmla="*/ 185993524 w 21600"/>
                  <a:gd name="T3" fmla="*/ 481637 h 21600"/>
                  <a:gd name="T4" fmla="*/ 0 w 21600"/>
                  <a:gd name="T5" fmla="*/ 481637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0" name="Arc 73"/>
              <p:cNvSpPr>
                <a:spLocks/>
              </p:cNvSpPr>
              <p:nvPr/>
            </p:nvSpPr>
            <p:spPr bwMode="auto">
              <a:xfrm>
                <a:off x="2871470" y="4295739"/>
                <a:ext cx="97790" cy="78515"/>
              </a:xfrm>
              <a:custGeom>
                <a:avLst/>
                <a:gdLst>
                  <a:gd name="T0" fmla="*/ 0 w 21600"/>
                  <a:gd name="T1" fmla="*/ 49824932 h 21600"/>
                  <a:gd name="T2" fmla="*/ 185993524 w 21600"/>
                  <a:gd name="T3" fmla="*/ 0 h 21600"/>
                  <a:gd name="T4" fmla="*/ 185993524 w 21600"/>
                  <a:gd name="T5" fmla="*/ 4982493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1" name="Arc 74"/>
              <p:cNvSpPr>
                <a:spLocks/>
              </p:cNvSpPr>
              <p:nvPr/>
            </p:nvSpPr>
            <p:spPr bwMode="auto">
              <a:xfrm>
                <a:off x="2871470" y="4891248"/>
                <a:ext cx="97790" cy="78515"/>
              </a:xfrm>
              <a:custGeom>
                <a:avLst/>
                <a:gdLst>
                  <a:gd name="T0" fmla="*/ 185993524 w 21600"/>
                  <a:gd name="T1" fmla="*/ 49824932 h 21600"/>
                  <a:gd name="T2" fmla="*/ 0 w 21600"/>
                  <a:gd name="T3" fmla="*/ 0 h 21600"/>
                  <a:gd name="T4" fmla="*/ 185993524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2" name="Line 75"/>
              <p:cNvSpPr>
                <a:spLocks noChangeShapeType="1"/>
              </p:cNvSpPr>
              <p:nvPr/>
            </p:nvSpPr>
            <p:spPr bwMode="auto">
              <a:xfrm flipV="1">
                <a:off x="2954020" y="4216016"/>
                <a:ext cx="1270" cy="7247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3" name="Line 76"/>
              <p:cNvSpPr>
                <a:spLocks noChangeShapeType="1"/>
              </p:cNvSpPr>
              <p:nvPr/>
            </p:nvSpPr>
            <p:spPr bwMode="auto">
              <a:xfrm flipV="1">
                <a:off x="2954020" y="4984258"/>
                <a:ext cx="1270" cy="7247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4" name="Line 77"/>
              <p:cNvSpPr>
                <a:spLocks noChangeShapeType="1"/>
              </p:cNvSpPr>
              <p:nvPr/>
            </p:nvSpPr>
            <p:spPr bwMode="auto">
              <a:xfrm>
                <a:off x="3465830" y="3972015"/>
                <a:ext cx="180340" cy="33097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5" name="Line 78"/>
              <p:cNvSpPr>
                <a:spLocks noChangeShapeType="1"/>
              </p:cNvSpPr>
              <p:nvPr/>
            </p:nvSpPr>
            <p:spPr bwMode="auto">
              <a:xfrm flipV="1">
                <a:off x="3465830" y="4790990"/>
                <a:ext cx="180340" cy="31526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6" name="Freeform 79"/>
              <p:cNvSpPr>
                <a:spLocks/>
              </p:cNvSpPr>
              <p:nvPr/>
            </p:nvSpPr>
            <p:spPr bwMode="auto">
              <a:xfrm>
                <a:off x="2908300" y="4101263"/>
                <a:ext cx="105410" cy="201724"/>
              </a:xfrm>
              <a:custGeom>
                <a:avLst/>
                <a:gdLst>
                  <a:gd name="T0" fmla="*/ 2147483646 w 83"/>
                  <a:gd name="T1" fmla="*/ 2147483646 h 167"/>
                  <a:gd name="T2" fmla="*/ 0 w 83"/>
                  <a:gd name="T3" fmla="*/ 0 h 167"/>
                  <a:gd name="T4" fmla="*/ 2147483646 w 83"/>
                  <a:gd name="T5" fmla="*/ 0 h 167"/>
                  <a:gd name="T6" fmla="*/ 2147483646 w 83"/>
                  <a:gd name="T7" fmla="*/ 0 h 167"/>
                  <a:gd name="T8" fmla="*/ 2147483646 w 83"/>
                  <a:gd name="T9" fmla="*/ 2147483646 h 1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3" h="167">
                    <a:moveTo>
                      <a:pt x="36" y="167"/>
                    </a:moveTo>
                    <a:lnTo>
                      <a:pt x="0" y="0"/>
                    </a:lnTo>
                    <a:lnTo>
                      <a:pt x="36" y="0"/>
                    </a:lnTo>
                    <a:lnTo>
                      <a:pt x="83" y="0"/>
                    </a:lnTo>
                    <a:lnTo>
                      <a:pt x="36" y="167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7" name="Line 80"/>
              <p:cNvSpPr>
                <a:spLocks noChangeShapeType="1"/>
              </p:cNvSpPr>
              <p:nvPr/>
            </p:nvSpPr>
            <p:spPr bwMode="auto">
              <a:xfrm flipV="1">
                <a:off x="2954020" y="3972015"/>
                <a:ext cx="1270" cy="12924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8" name="Line 81"/>
              <p:cNvSpPr>
                <a:spLocks noChangeShapeType="1"/>
              </p:cNvSpPr>
              <p:nvPr/>
            </p:nvSpPr>
            <p:spPr bwMode="auto">
              <a:xfrm flipV="1">
                <a:off x="2954020" y="5056734"/>
                <a:ext cx="1270" cy="712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9" name="Freeform 82"/>
              <p:cNvSpPr>
                <a:spLocks/>
              </p:cNvSpPr>
              <p:nvPr/>
            </p:nvSpPr>
            <p:spPr bwMode="auto">
              <a:xfrm>
                <a:off x="3180080" y="3929737"/>
                <a:ext cx="210820" cy="100258"/>
              </a:xfrm>
              <a:custGeom>
                <a:avLst/>
                <a:gdLst>
                  <a:gd name="T0" fmla="*/ 2147483646 w 166"/>
                  <a:gd name="T1" fmla="*/ 2147483646 h 83"/>
                  <a:gd name="T2" fmla="*/ 0 w 166"/>
                  <a:gd name="T3" fmla="*/ 2147483646 h 83"/>
                  <a:gd name="T4" fmla="*/ 0 w 166"/>
                  <a:gd name="T5" fmla="*/ 2147483646 h 83"/>
                  <a:gd name="T6" fmla="*/ 0 w 166"/>
                  <a:gd name="T7" fmla="*/ 0 h 83"/>
                  <a:gd name="T8" fmla="*/ 2147483646 w 166"/>
                  <a:gd name="T9" fmla="*/ 2147483646 h 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" h="83">
                    <a:moveTo>
                      <a:pt x="166" y="35"/>
                    </a:moveTo>
                    <a:lnTo>
                      <a:pt x="0" y="83"/>
                    </a:lnTo>
                    <a:lnTo>
                      <a:pt x="0" y="35"/>
                    </a:lnTo>
                    <a:lnTo>
                      <a:pt x="0" y="0"/>
                    </a:lnTo>
                    <a:lnTo>
                      <a:pt x="166" y="35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0" name="Line 83"/>
              <p:cNvSpPr>
                <a:spLocks noChangeShapeType="1"/>
              </p:cNvSpPr>
              <p:nvPr/>
            </p:nvSpPr>
            <p:spPr bwMode="auto">
              <a:xfrm flipH="1">
                <a:off x="3044190" y="3972015"/>
                <a:ext cx="135890" cy="120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1" name="Freeform 84"/>
              <p:cNvSpPr>
                <a:spLocks/>
              </p:cNvSpPr>
              <p:nvPr/>
            </p:nvSpPr>
            <p:spPr bwMode="auto">
              <a:xfrm>
                <a:off x="2668270" y="3929737"/>
                <a:ext cx="210820" cy="100258"/>
              </a:xfrm>
              <a:custGeom>
                <a:avLst/>
                <a:gdLst>
                  <a:gd name="T0" fmla="*/ 2147483646 w 166"/>
                  <a:gd name="T1" fmla="*/ 2147483646 h 83"/>
                  <a:gd name="T2" fmla="*/ 0 w 166"/>
                  <a:gd name="T3" fmla="*/ 2147483646 h 83"/>
                  <a:gd name="T4" fmla="*/ 0 w 166"/>
                  <a:gd name="T5" fmla="*/ 2147483646 h 83"/>
                  <a:gd name="T6" fmla="*/ 0 w 166"/>
                  <a:gd name="T7" fmla="*/ 0 h 83"/>
                  <a:gd name="T8" fmla="*/ 2147483646 w 166"/>
                  <a:gd name="T9" fmla="*/ 2147483646 h 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" h="83">
                    <a:moveTo>
                      <a:pt x="166" y="35"/>
                    </a:moveTo>
                    <a:lnTo>
                      <a:pt x="0" y="83"/>
                    </a:lnTo>
                    <a:lnTo>
                      <a:pt x="0" y="35"/>
                    </a:lnTo>
                    <a:lnTo>
                      <a:pt x="0" y="0"/>
                    </a:lnTo>
                    <a:lnTo>
                      <a:pt x="166" y="35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" name="Line 85"/>
              <p:cNvSpPr>
                <a:spLocks noChangeShapeType="1"/>
              </p:cNvSpPr>
              <p:nvPr/>
            </p:nvSpPr>
            <p:spPr bwMode="auto">
              <a:xfrm flipH="1">
                <a:off x="2532380" y="3972015"/>
                <a:ext cx="135890" cy="120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3" name="Freeform 86"/>
              <p:cNvSpPr>
                <a:spLocks/>
              </p:cNvSpPr>
              <p:nvPr/>
            </p:nvSpPr>
            <p:spPr bwMode="auto">
              <a:xfrm>
                <a:off x="5324475" y="5057338"/>
                <a:ext cx="210820" cy="100258"/>
              </a:xfrm>
              <a:custGeom>
                <a:avLst/>
                <a:gdLst>
                  <a:gd name="T0" fmla="*/ 2147483646 w 166"/>
                  <a:gd name="T1" fmla="*/ 2147483646 h 83"/>
                  <a:gd name="T2" fmla="*/ 0 w 166"/>
                  <a:gd name="T3" fmla="*/ 2147483646 h 83"/>
                  <a:gd name="T4" fmla="*/ 0 w 166"/>
                  <a:gd name="T5" fmla="*/ 2147483646 h 83"/>
                  <a:gd name="T6" fmla="*/ 0 w 166"/>
                  <a:gd name="T7" fmla="*/ 0 h 83"/>
                  <a:gd name="T8" fmla="*/ 2147483646 w 166"/>
                  <a:gd name="T9" fmla="*/ 2147483646 h 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" h="83">
                    <a:moveTo>
                      <a:pt x="166" y="35"/>
                    </a:moveTo>
                    <a:lnTo>
                      <a:pt x="0" y="83"/>
                    </a:lnTo>
                    <a:lnTo>
                      <a:pt x="0" y="35"/>
                    </a:lnTo>
                    <a:lnTo>
                      <a:pt x="0" y="0"/>
                    </a:lnTo>
                    <a:lnTo>
                      <a:pt x="166" y="35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4" name="Line 87"/>
              <p:cNvSpPr>
                <a:spLocks noChangeShapeType="1"/>
              </p:cNvSpPr>
              <p:nvPr/>
            </p:nvSpPr>
            <p:spPr bwMode="auto">
              <a:xfrm flipH="1">
                <a:off x="5256530" y="3972015"/>
                <a:ext cx="135890" cy="120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5" name="Freeform 90"/>
              <p:cNvSpPr>
                <a:spLocks/>
              </p:cNvSpPr>
              <p:nvPr/>
            </p:nvSpPr>
            <p:spPr bwMode="auto">
              <a:xfrm>
                <a:off x="2396490" y="4058986"/>
                <a:ext cx="105410" cy="200516"/>
              </a:xfrm>
              <a:custGeom>
                <a:avLst/>
                <a:gdLst>
                  <a:gd name="T0" fmla="*/ 2147483646 w 83"/>
                  <a:gd name="T1" fmla="*/ 0 h 166"/>
                  <a:gd name="T2" fmla="*/ 2147483646 w 83"/>
                  <a:gd name="T3" fmla="*/ 2147483646 h 166"/>
                  <a:gd name="T4" fmla="*/ 2147483646 w 83"/>
                  <a:gd name="T5" fmla="*/ 2147483646 h 166"/>
                  <a:gd name="T6" fmla="*/ 0 w 83"/>
                  <a:gd name="T7" fmla="*/ 2147483646 h 166"/>
                  <a:gd name="T8" fmla="*/ 2147483646 w 83"/>
                  <a:gd name="T9" fmla="*/ 0 h 1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3" h="166">
                    <a:moveTo>
                      <a:pt x="36" y="0"/>
                    </a:moveTo>
                    <a:lnTo>
                      <a:pt x="83" y="166"/>
                    </a:lnTo>
                    <a:lnTo>
                      <a:pt x="36" y="166"/>
                    </a:lnTo>
                    <a:lnTo>
                      <a:pt x="0" y="1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" name="Line 91"/>
              <p:cNvSpPr>
                <a:spLocks noChangeShapeType="1"/>
              </p:cNvSpPr>
              <p:nvPr/>
            </p:nvSpPr>
            <p:spPr bwMode="auto">
              <a:xfrm>
                <a:off x="2442210" y="4259501"/>
                <a:ext cx="1270" cy="77548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7" name="Rectangle 92"/>
              <p:cNvSpPr>
                <a:spLocks noChangeArrowheads="1"/>
              </p:cNvSpPr>
              <p:nvPr/>
            </p:nvSpPr>
            <p:spPr bwMode="auto">
              <a:xfrm>
                <a:off x="4173220" y="3813776"/>
                <a:ext cx="190500" cy="27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m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" name="Rectangle 93"/>
              <p:cNvSpPr>
                <a:spLocks noChangeArrowheads="1"/>
              </p:cNvSpPr>
              <p:nvPr/>
            </p:nvSpPr>
            <p:spPr bwMode="auto">
              <a:xfrm>
                <a:off x="2112010" y="4389958"/>
                <a:ext cx="114300" cy="27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solidFill>
                      <a:srgbClr val="000000"/>
                    </a:solidFill>
                    <a:latin typeface="Times" panose="02020603050405020304" pitchFamily="18" charset="0"/>
                  </a:rPr>
                  <a:t>v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" name="Rectangle 94"/>
              <p:cNvSpPr>
                <a:spLocks noChangeArrowheads="1"/>
              </p:cNvSpPr>
              <p:nvPr/>
            </p:nvSpPr>
            <p:spPr bwMode="auto">
              <a:xfrm>
                <a:off x="2216150" y="4503503"/>
                <a:ext cx="82550" cy="198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300">
                    <a:solidFill>
                      <a:srgbClr val="000000"/>
                    </a:solidFill>
                    <a:latin typeface="Times" panose="02020603050405020304" pitchFamily="18" charset="0"/>
                  </a:rPr>
                  <a:t>1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" name="Rectangle 95"/>
              <p:cNvSpPr>
                <a:spLocks noChangeArrowheads="1"/>
              </p:cNvSpPr>
              <p:nvPr/>
            </p:nvSpPr>
            <p:spPr bwMode="auto">
              <a:xfrm>
                <a:off x="5364110" y="4389958"/>
                <a:ext cx="114300" cy="27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solidFill>
                      <a:srgbClr val="000000"/>
                    </a:solidFill>
                    <a:latin typeface="Times" panose="02020603050405020304" pitchFamily="18" charset="0"/>
                  </a:rPr>
                  <a:t>v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" name="Rectangle 96"/>
              <p:cNvSpPr>
                <a:spLocks noChangeArrowheads="1"/>
              </p:cNvSpPr>
              <p:nvPr/>
            </p:nvSpPr>
            <p:spPr bwMode="auto">
              <a:xfrm>
                <a:off x="5469520" y="4503503"/>
                <a:ext cx="82550" cy="198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300">
                    <a:solidFill>
                      <a:srgbClr val="000000"/>
                    </a:solidFill>
                    <a:latin typeface="Times" panose="02020603050405020304" pitchFamily="18" charset="0"/>
                  </a:rPr>
                  <a:t>2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" name="Rectangle 97"/>
              <p:cNvSpPr>
                <a:spLocks noChangeArrowheads="1"/>
              </p:cNvSpPr>
              <p:nvPr/>
            </p:nvSpPr>
            <p:spPr bwMode="auto">
              <a:xfrm>
                <a:off x="5287010" y="5161417"/>
                <a:ext cx="63500" cy="27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solidFill>
                      <a:srgbClr val="000000"/>
                    </a:solidFill>
                    <a:latin typeface="Times" panose="02020603050405020304" pitchFamily="18" charset="0"/>
                  </a:rPr>
                  <a:t>i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" name="Rectangle 98"/>
              <p:cNvSpPr>
                <a:spLocks noChangeArrowheads="1"/>
              </p:cNvSpPr>
              <p:nvPr/>
            </p:nvSpPr>
            <p:spPr bwMode="auto">
              <a:xfrm>
                <a:off x="5363210" y="5247180"/>
                <a:ext cx="82550" cy="198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300">
                    <a:solidFill>
                      <a:srgbClr val="000000"/>
                    </a:solidFill>
                    <a:latin typeface="Times" panose="02020603050405020304" pitchFamily="18" charset="0"/>
                  </a:rPr>
                  <a:t>2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" name="Rectangle 99"/>
              <p:cNvSpPr>
                <a:spLocks noChangeArrowheads="1"/>
              </p:cNvSpPr>
              <p:nvPr/>
            </p:nvSpPr>
            <p:spPr bwMode="auto">
              <a:xfrm>
                <a:off x="2546350" y="3672449"/>
                <a:ext cx="63500" cy="27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solidFill>
                      <a:srgbClr val="000000"/>
                    </a:solidFill>
                    <a:latin typeface="Times" panose="02020603050405020304" pitchFamily="18" charset="0"/>
                  </a:rPr>
                  <a:t>i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" name="Rectangle 100"/>
              <p:cNvSpPr>
                <a:spLocks noChangeArrowheads="1"/>
              </p:cNvSpPr>
              <p:nvPr/>
            </p:nvSpPr>
            <p:spPr bwMode="auto">
              <a:xfrm>
                <a:off x="2622550" y="3758212"/>
                <a:ext cx="82550" cy="198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300">
                    <a:solidFill>
                      <a:srgbClr val="000000"/>
                    </a:solidFill>
                    <a:latin typeface="Times" panose="02020603050405020304" pitchFamily="18" charset="0"/>
                  </a:rPr>
                  <a:t>1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" name="Rectangle 101"/>
              <p:cNvSpPr>
                <a:spLocks noChangeArrowheads="1"/>
              </p:cNvSpPr>
              <p:nvPr/>
            </p:nvSpPr>
            <p:spPr bwMode="auto">
              <a:xfrm>
                <a:off x="3211830" y="3672449"/>
                <a:ext cx="104140" cy="27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solidFill>
                      <a:srgbClr val="000000"/>
                    </a:solidFill>
                    <a:latin typeface="Times" panose="02020603050405020304" pitchFamily="18" charset="0"/>
                  </a:rPr>
                  <a:t>i'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" name="Rectangle 102"/>
              <p:cNvSpPr>
                <a:spLocks noChangeArrowheads="1"/>
              </p:cNvSpPr>
              <p:nvPr/>
            </p:nvSpPr>
            <p:spPr bwMode="auto">
              <a:xfrm>
                <a:off x="3315970" y="3758212"/>
                <a:ext cx="82550" cy="198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300">
                    <a:solidFill>
                      <a:srgbClr val="000000"/>
                    </a:solidFill>
                    <a:latin typeface="Times" panose="02020603050405020304" pitchFamily="18" charset="0"/>
                  </a:rPr>
                  <a:t>1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8" name="Rectangle 103"/>
              <p:cNvSpPr>
                <a:spLocks noChangeArrowheads="1"/>
              </p:cNvSpPr>
              <p:nvPr/>
            </p:nvSpPr>
            <p:spPr bwMode="auto">
              <a:xfrm>
                <a:off x="3059430" y="4086768"/>
                <a:ext cx="60960" cy="271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solidFill>
                      <a:srgbClr val="000000"/>
                    </a:solidFill>
                    <a:latin typeface="Times" panose="02020603050405020304" pitchFamily="18" charset="0"/>
                  </a:rPr>
                  <a:t>i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9" name="Rectangle 104"/>
              <p:cNvSpPr>
                <a:spLocks noChangeArrowheads="1"/>
              </p:cNvSpPr>
              <p:nvPr/>
            </p:nvSpPr>
            <p:spPr bwMode="auto">
              <a:xfrm>
                <a:off x="3103880" y="4160451"/>
                <a:ext cx="165100" cy="199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300">
                    <a:solidFill>
                      <a:srgbClr val="000000"/>
                    </a:solidFill>
                    <a:latin typeface="Times" panose="02020603050405020304" pitchFamily="18" charset="0"/>
                  </a:rPr>
                  <a:t>10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" name="Oval 105"/>
              <p:cNvSpPr>
                <a:spLocks noChangeArrowheads="1"/>
              </p:cNvSpPr>
              <p:nvPr/>
            </p:nvSpPr>
            <p:spPr bwMode="auto">
              <a:xfrm>
                <a:off x="3442970" y="4266749"/>
                <a:ext cx="74930" cy="85763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1" name="Oval 106"/>
              <p:cNvSpPr>
                <a:spLocks noChangeArrowheads="1"/>
              </p:cNvSpPr>
              <p:nvPr/>
            </p:nvSpPr>
            <p:spPr bwMode="auto">
              <a:xfrm>
                <a:off x="4888230" y="4801861"/>
                <a:ext cx="90170" cy="85763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" name="Rectangle 107"/>
              <p:cNvSpPr>
                <a:spLocks noChangeArrowheads="1"/>
              </p:cNvSpPr>
              <p:nvPr/>
            </p:nvSpPr>
            <p:spPr bwMode="auto">
              <a:xfrm>
                <a:off x="3163570" y="4475721"/>
                <a:ext cx="152400" cy="27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L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cxnSp>
            <p:nvCxnSpPr>
              <p:cNvPr id="113" name="Connecteur droit avec flèche 112"/>
              <p:cNvCxnSpPr/>
              <p:nvPr/>
            </p:nvCxnSpPr>
            <p:spPr>
              <a:xfrm>
                <a:off x="5257257" y="4159698"/>
                <a:ext cx="0" cy="79515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Line 29">
              <a:extLst>
                <a:ext uri="{FF2B5EF4-FFF2-40B4-BE49-F238E27FC236}">
                  <a16:creationId xmlns:a16="http://schemas.microsoft.com/office/drawing/2014/main" id="{EC0BC77C-6826-3486-B888-C2BB1CE5F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91205" y="4758536"/>
              <a:ext cx="3937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" name="Line 29">
              <a:extLst>
                <a:ext uri="{FF2B5EF4-FFF2-40B4-BE49-F238E27FC236}">
                  <a16:creationId xmlns:a16="http://schemas.microsoft.com/office/drawing/2014/main" id="{B632FCA6-6D24-2C20-19FD-7DE5D0B11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91205" y="4853786"/>
              <a:ext cx="3937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5" name="Line 29">
              <a:extLst>
                <a:ext uri="{FF2B5EF4-FFF2-40B4-BE49-F238E27FC236}">
                  <a16:creationId xmlns:a16="http://schemas.microsoft.com/office/drawing/2014/main" id="{55511ED7-DFC6-169C-43FE-85A43AE5A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88065" y="4214814"/>
              <a:ext cx="1" cy="53657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6" name="Line 29">
              <a:extLst>
                <a:ext uri="{FF2B5EF4-FFF2-40B4-BE49-F238E27FC236}">
                  <a16:creationId xmlns:a16="http://schemas.microsoft.com/office/drawing/2014/main" id="{693F9FBF-11C4-A1E5-51E0-E60B80EA5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88066" y="4853786"/>
              <a:ext cx="0" cy="4921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80026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Image 534">
            <a:extLst>
              <a:ext uri="{FF2B5EF4-FFF2-40B4-BE49-F238E27FC236}">
                <a16:creationId xmlns:a16="http://schemas.microsoft.com/office/drawing/2014/main" id="{AD3B3F73-4B8F-883C-454F-8EBA81DAC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183" y="3678775"/>
            <a:ext cx="5631296" cy="2030042"/>
          </a:xfrm>
          <a:prstGeom prst="rect">
            <a:avLst/>
          </a:prstGeom>
        </p:spPr>
      </p:pic>
      <p:pic>
        <p:nvPicPr>
          <p:cNvPr id="531" name="Image 530">
            <a:extLst>
              <a:ext uri="{FF2B5EF4-FFF2-40B4-BE49-F238E27FC236}">
                <a16:creationId xmlns:a16="http://schemas.microsoft.com/office/drawing/2014/main" id="{AFBDB5C2-8A33-C10A-C4BE-8BDAB6C79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129" y="1364427"/>
            <a:ext cx="5631296" cy="203004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6268884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Partial demagnetization mode: continuous conduction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99"/>
          <p:cNvSpPr txBox="1">
            <a:spLocks noChangeArrowheads="1"/>
          </p:cNvSpPr>
          <p:nvPr/>
        </p:nvSpPr>
        <p:spPr bwMode="auto">
          <a:xfrm>
            <a:off x="8039604" y="1433513"/>
            <a:ext cx="3214688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latin typeface="Times New Roman" panose="02020603050405020304" pitchFamily="18" charset="0"/>
              </a:rPr>
              <a:t>0 &lt; t &lt; </a:t>
            </a:r>
            <a:r>
              <a:rPr lang="en-CA" altLang="fr-FR" sz="1800" b="1" dirty="0" err="1">
                <a:latin typeface="Symbol" panose="05050102010706020507" pitchFamily="18" charset="2"/>
              </a:rPr>
              <a:t>a</a:t>
            </a:r>
            <a:r>
              <a:rPr lang="en-CA" altLang="fr-FR" sz="1800" b="1" dirty="0" err="1">
                <a:latin typeface="Times New Roman" panose="02020603050405020304" pitchFamily="18" charset="0"/>
              </a:rPr>
              <a:t>T</a:t>
            </a:r>
            <a:r>
              <a:rPr lang="en-CA" altLang="fr-FR" sz="1800" b="1" dirty="0">
                <a:latin typeface="Times New Roman" panose="02020603050405020304" pitchFamily="18" charset="0"/>
              </a:rPr>
              <a:t> : </a:t>
            </a:r>
            <a:r>
              <a:rPr lang="en-CA" altLang="fr-FR" sz="1800" b="1" dirty="0" err="1">
                <a:latin typeface="Times New Roman" panose="02020603050405020304" pitchFamily="18" charset="0"/>
              </a:rPr>
              <a:t>T</a:t>
            </a:r>
            <a:r>
              <a:rPr lang="en-CA" altLang="fr-FR" sz="1800" b="1" baseline="-25000" dirty="0" err="1">
                <a:latin typeface="Times New Roman" panose="02020603050405020304" pitchFamily="18" charset="0"/>
              </a:rPr>
              <a:t>p</a:t>
            </a:r>
            <a:r>
              <a:rPr lang="en-CA" altLang="fr-FR" sz="1800" b="1" dirty="0">
                <a:latin typeface="Times New Roman" panose="02020603050405020304" pitchFamily="18" charset="0"/>
              </a:rPr>
              <a:t> closed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latin typeface="Times New Roman" panose="02020603050405020304" pitchFamily="18" charset="0"/>
              </a:rPr>
              <a:t>=&gt; v</a:t>
            </a:r>
            <a:r>
              <a:rPr lang="en-CA" altLang="fr-FR" sz="1800" b="1" baseline="-25000" dirty="0">
                <a:latin typeface="Times New Roman" panose="02020603050405020304" pitchFamily="18" charset="0"/>
              </a:rPr>
              <a:t>1</a:t>
            </a:r>
            <a:r>
              <a:rPr lang="en-CA" altLang="fr-FR" sz="1800" b="1" dirty="0">
                <a:latin typeface="Times New Roman" panose="02020603050405020304" pitchFamily="18" charset="0"/>
              </a:rPr>
              <a:t> = E =&gt; v</a:t>
            </a:r>
            <a:r>
              <a:rPr lang="en-CA" altLang="fr-FR" sz="1800" b="1" baseline="-25000" dirty="0">
                <a:latin typeface="Times New Roman" panose="02020603050405020304" pitchFamily="18" charset="0"/>
              </a:rPr>
              <a:t>2</a:t>
            </a:r>
            <a:r>
              <a:rPr lang="en-CA" altLang="fr-FR" sz="1800" b="1" dirty="0">
                <a:latin typeface="Times New Roman" panose="02020603050405020304" pitchFamily="18" charset="0"/>
              </a:rPr>
              <a:t> = </a:t>
            </a:r>
            <a:r>
              <a:rPr lang="en-CA" altLang="fr-FR" sz="1800" b="1" dirty="0" err="1">
                <a:latin typeface="Times New Roman" panose="02020603050405020304" pitchFamily="18" charset="0"/>
              </a:rPr>
              <a:t>m.E</a:t>
            </a:r>
            <a:endParaRPr lang="en-CA" altLang="fr-FR" sz="1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 err="1">
                <a:latin typeface="Times New Roman" panose="02020603050405020304" pitchFamily="18" charset="0"/>
              </a:rPr>
              <a:t>v</a:t>
            </a:r>
            <a:r>
              <a:rPr lang="en-CA" altLang="fr-FR" sz="1800" b="1" baseline="-25000" dirty="0" err="1">
                <a:latin typeface="Times New Roman" panose="02020603050405020304" pitchFamily="18" charset="0"/>
              </a:rPr>
              <a:t>D</a:t>
            </a:r>
            <a:r>
              <a:rPr lang="en-CA" altLang="fr-FR" sz="1800" b="1" dirty="0">
                <a:latin typeface="Times New Roman" panose="02020603050405020304" pitchFamily="18" charset="0"/>
              </a:rPr>
              <a:t> =-</a:t>
            </a:r>
            <a:r>
              <a:rPr lang="en-CA" altLang="fr-FR" sz="1800" b="1" dirty="0" err="1">
                <a:latin typeface="Times New Roman" panose="02020603050405020304" pitchFamily="18" charset="0"/>
              </a:rPr>
              <a:t>mE</a:t>
            </a:r>
            <a:r>
              <a:rPr lang="en-CA" altLang="fr-FR" sz="1800" b="1" dirty="0">
                <a:latin typeface="Times New Roman" panose="02020603050405020304" pitchFamily="18" charset="0"/>
              </a:rPr>
              <a:t>-V</a:t>
            </a:r>
            <a:r>
              <a:rPr lang="en-CA" altLang="fr-FR" sz="1800" b="1" baseline="-25000" dirty="0">
                <a:latin typeface="Times New Roman" panose="02020603050405020304" pitchFamily="18" charset="0"/>
              </a:rPr>
              <a:t>s</a:t>
            </a:r>
            <a:r>
              <a:rPr lang="en-CA" altLang="fr-FR" sz="1800" b="1" dirty="0">
                <a:latin typeface="Times New Roman" panose="02020603050405020304" pitchFamily="18" charset="0"/>
              </a:rPr>
              <a:t> &lt; 0 </a:t>
            </a:r>
            <a:r>
              <a:rPr lang="en-CA" altLang="fr-FR" sz="1800" b="1" i="1" dirty="0">
                <a:latin typeface="Times New Roman" panose="02020603050405020304" pitchFamily="18" charset="0"/>
              </a:rPr>
              <a:t>=&gt; D reverse</a:t>
            </a:r>
          </a:p>
        </p:txBody>
      </p:sp>
      <p:sp>
        <p:nvSpPr>
          <p:cNvPr id="13" name="Text Box 101"/>
          <p:cNvSpPr txBox="1">
            <a:spLocks noChangeArrowheads="1"/>
          </p:cNvSpPr>
          <p:nvPr/>
        </p:nvSpPr>
        <p:spPr bwMode="auto">
          <a:xfrm>
            <a:off x="8079292" y="2478087"/>
            <a:ext cx="2606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i</a:t>
            </a:r>
            <a:r>
              <a:rPr lang="en-CA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2</a:t>
            </a:r>
            <a:r>
              <a:rPr lang="en-CA" altLang="fr-FR" sz="1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= 0 =&gt; i’</a:t>
            </a:r>
            <a:r>
              <a:rPr lang="en-CA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1</a:t>
            </a:r>
            <a:r>
              <a:rPr lang="en-CA" altLang="fr-FR" sz="1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= 0 =&gt; i</a:t>
            </a:r>
            <a:r>
              <a:rPr lang="en-CA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1</a:t>
            </a:r>
            <a:r>
              <a:rPr lang="en-CA" altLang="fr-FR" sz="1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= i</a:t>
            </a:r>
            <a:r>
              <a:rPr lang="en-CA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Energy storing</a:t>
            </a:r>
          </a:p>
        </p:txBody>
      </p:sp>
      <p:sp>
        <p:nvSpPr>
          <p:cNvPr id="15" name="Rectangle 201"/>
          <p:cNvSpPr>
            <a:spLocks noChangeArrowheads="1"/>
          </p:cNvSpPr>
          <p:nvPr/>
        </p:nvSpPr>
        <p:spPr bwMode="auto">
          <a:xfrm>
            <a:off x="4788404" y="5819775"/>
            <a:ext cx="3838575" cy="609600"/>
          </a:xfrm>
          <a:prstGeom prst="rect">
            <a:avLst/>
          </a:prstGeom>
          <a:solidFill>
            <a:srgbClr val="CC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" name="Arc 205"/>
          <p:cNvSpPr>
            <a:spLocks/>
          </p:cNvSpPr>
          <p:nvPr/>
        </p:nvSpPr>
        <p:spPr bwMode="auto">
          <a:xfrm rot="15952817">
            <a:off x="6222756" y="3694098"/>
            <a:ext cx="871436" cy="1500114"/>
          </a:xfrm>
          <a:custGeom>
            <a:avLst/>
            <a:gdLst>
              <a:gd name="T0" fmla="*/ 0 w 39000"/>
              <a:gd name="T1" fmla="*/ 2147483646 h 41809"/>
              <a:gd name="T2" fmla="*/ 2147483646 w 39000"/>
              <a:gd name="T3" fmla="*/ 2147483646 h 41809"/>
              <a:gd name="T4" fmla="*/ 2147483646 w 39000"/>
              <a:gd name="T5" fmla="*/ 2147483646 h 418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000" h="41809" fill="none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</a:path>
              <a:path w="39000" h="41809" stroke="0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  <a:lnTo>
                  <a:pt x="17400" y="21600"/>
                </a:lnTo>
                <a:lnTo>
                  <a:pt x="-1" y="8801"/>
                </a:lnTo>
                <a:close/>
              </a:path>
            </a:pathLst>
          </a:custGeom>
          <a:noFill/>
          <a:ln w="31750">
            <a:solidFill>
              <a:srgbClr val="FF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graphicFrame>
        <p:nvGraphicFramePr>
          <p:cNvPr id="223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501831"/>
              </p:ext>
            </p:extLst>
          </p:nvPr>
        </p:nvGraphicFramePr>
        <p:xfrm>
          <a:off x="5026025" y="5892800"/>
          <a:ext cx="334645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3" imgW="1777680" imgH="279360" progId="Equation.3">
                  <p:embed/>
                </p:oleObj>
              </mc:Choice>
              <mc:Fallback>
                <p:oleObj name="Équation" r:id="rId3" imgW="1777680" imgH="279360" progId="Equation.3">
                  <p:embed/>
                  <p:pic>
                    <p:nvPicPr>
                      <p:cNvPr id="223" name="Obje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025" y="5892800"/>
                        <a:ext cx="334645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" name="ZoneTexte 223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32" name="Arc 102"/>
          <p:cNvSpPr>
            <a:spLocks/>
          </p:cNvSpPr>
          <p:nvPr/>
        </p:nvSpPr>
        <p:spPr bwMode="auto">
          <a:xfrm>
            <a:off x="3111232" y="1714761"/>
            <a:ext cx="871538" cy="1500188"/>
          </a:xfrm>
          <a:custGeom>
            <a:avLst/>
            <a:gdLst>
              <a:gd name="T0" fmla="*/ 0 w 39000"/>
              <a:gd name="T1" fmla="*/ 0 h 41809"/>
              <a:gd name="T2" fmla="*/ 0 w 39000"/>
              <a:gd name="T3" fmla="*/ 0 h 41809"/>
              <a:gd name="T4" fmla="*/ 0 w 39000"/>
              <a:gd name="T5" fmla="*/ 0 h 418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000" h="41809" fill="none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</a:path>
              <a:path w="39000" h="41809" stroke="0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  <a:lnTo>
                  <a:pt x="17400" y="21600"/>
                </a:lnTo>
                <a:lnTo>
                  <a:pt x="-1" y="8801"/>
                </a:lnTo>
                <a:close/>
              </a:path>
            </a:pathLst>
          </a:custGeom>
          <a:noFill/>
          <a:ln w="3175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33" name="Text Box 199"/>
          <p:cNvSpPr txBox="1">
            <a:spLocks noChangeArrowheads="1"/>
          </p:cNvSpPr>
          <p:nvPr/>
        </p:nvSpPr>
        <p:spPr bwMode="auto">
          <a:xfrm>
            <a:off x="8126967" y="3863840"/>
            <a:ext cx="2828875" cy="915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 err="1">
                <a:latin typeface="Symbol" panose="05050102010706020507" pitchFamily="18" charset="2"/>
              </a:rPr>
              <a:t>a</a:t>
            </a:r>
            <a:r>
              <a:rPr lang="en-CA" altLang="fr-FR" sz="1800" b="1" dirty="0" err="1">
                <a:latin typeface="Times New Roman" panose="02020603050405020304" pitchFamily="18" charset="0"/>
              </a:rPr>
              <a:t>T</a:t>
            </a:r>
            <a:r>
              <a:rPr lang="en-CA" altLang="fr-FR" sz="1800" b="1" dirty="0">
                <a:latin typeface="Times New Roman" panose="02020603050405020304" pitchFamily="18" charset="0"/>
              </a:rPr>
              <a:t> &lt; t &lt; T : </a:t>
            </a:r>
            <a:r>
              <a:rPr lang="en-CA" altLang="fr-FR" sz="1800" b="1" dirty="0" err="1">
                <a:latin typeface="Times New Roman" panose="02020603050405020304" pitchFamily="18" charset="0"/>
              </a:rPr>
              <a:t>T</a:t>
            </a:r>
            <a:r>
              <a:rPr lang="en-CA" altLang="fr-FR" sz="1800" b="1" baseline="-25000" dirty="0" err="1">
                <a:latin typeface="Times New Roman" panose="02020603050405020304" pitchFamily="18" charset="0"/>
              </a:rPr>
              <a:t>p</a:t>
            </a:r>
            <a:r>
              <a:rPr lang="en-CA" altLang="fr-FR" sz="1800" b="1" dirty="0">
                <a:latin typeface="Times New Roman" panose="02020603050405020304" pitchFamily="18" charset="0"/>
              </a:rPr>
              <a:t> opened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latin typeface="Times New Roman" panose="02020603050405020304" pitchFamily="18" charset="0"/>
              </a:rPr>
              <a:t>=&gt; i</a:t>
            </a:r>
            <a:r>
              <a:rPr lang="en-CA" altLang="fr-FR" sz="1800" b="1" baseline="-25000" dirty="0">
                <a:latin typeface="Times New Roman" panose="02020603050405020304" pitchFamily="18" charset="0"/>
              </a:rPr>
              <a:t>1</a:t>
            </a:r>
            <a:r>
              <a:rPr lang="en-CA" altLang="fr-FR" sz="1800" b="1" dirty="0">
                <a:latin typeface="Times New Roman" panose="02020603050405020304" pitchFamily="18" charset="0"/>
              </a:rPr>
              <a:t> = 0 =&gt; i’</a:t>
            </a:r>
            <a:r>
              <a:rPr lang="en-CA" altLang="fr-FR" sz="1800" b="1" baseline="-25000" dirty="0">
                <a:latin typeface="Times New Roman" panose="02020603050405020304" pitchFamily="18" charset="0"/>
              </a:rPr>
              <a:t>1</a:t>
            </a:r>
            <a:r>
              <a:rPr lang="en-CA" altLang="fr-FR" sz="1800" b="1" dirty="0">
                <a:latin typeface="Times New Roman" panose="02020603050405020304" pitchFamily="18" charset="0"/>
              </a:rPr>
              <a:t> = - i</a:t>
            </a:r>
            <a:r>
              <a:rPr lang="en-CA" altLang="fr-FR" sz="1800" b="1" baseline="-25000" dirty="0">
                <a:latin typeface="Times New Roman" panose="02020603050405020304" pitchFamily="18" charset="0"/>
              </a:rPr>
              <a:t>10 </a:t>
            </a:r>
            <a:r>
              <a:rPr lang="en-CA" altLang="fr-FR" sz="1800" b="1" dirty="0">
                <a:latin typeface="Times New Roman" panose="02020603050405020304" pitchFamily="18" charset="0"/>
              </a:rPr>
              <a:t>&lt; 0</a:t>
            </a:r>
            <a:endParaRPr lang="en-CA" altLang="fr-FR" sz="1800" b="1" baseline="-25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latin typeface="Times New Roman" panose="02020603050405020304" pitchFamily="18" charset="0"/>
              </a:rPr>
              <a:t>=&gt; i</a:t>
            </a:r>
            <a:r>
              <a:rPr lang="en-CA" altLang="fr-FR" sz="1800" b="1" baseline="-25000" dirty="0">
                <a:latin typeface="Times New Roman" panose="02020603050405020304" pitchFamily="18" charset="0"/>
              </a:rPr>
              <a:t>2</a:t>
            </a:r>
            <a:r>
              <a:rPr lang="en-CA" altLang="fr-FR" sz="1800" b="1" dirty="0">
                <a:latin typeface="Times New Roman" panose="02020603050405020304" pitchFamily="18" charset="0"/>
              </a:rPr>
              <a:t> &lt; 0	</a:t>
            </a:r>
            <a:r>
              <a:rPr lang="en-CA" altLang="fr-FR" sz="1800" b="1" i="1" dirty="0">
                <a:latin typeface="Times New Roman" panose="02020603050405020304" pitchFamily="18" charset="0"/>
              </a:rPr>
              <a:t>=&gt; D forward</a:t>
            </a:r>
          </a:p>
        </p:txBody>
      </p:sp>
      <p:sp>
        <p:nvSpPr>
          <p:cNvPr id="534" name="Text Box 204"/>
          <p:cNvSpPr txBox="1">
            <a:spLocks noChangeArrowheads="1"/>
          </p:cNvSpPr>
          <p:nvPr/>
        </p:nvSpPr>
        <p:spPr bwMode="auto">
          <a:xfrm>
            <a:off x="7976479" y="4903591"/>
            <a:ext cx="3915988" cy="64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en-CA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= -V</a:t>
            </a:r>
            <a:r>
              <a:rPr lang="en-CA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=&gt; v</a:t>
            </a:r>
            <a:r>
              <a:rPr lang="en-CA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= - V</a:t>
            </a:r>
            <a:r>
              <a:rPr lang="en-CA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/m=&gt; </a:t>
            </a:r>
            <a:r>
              <a:rPr lang="en-CA" altLang="fr-FR" sz="1800" b="1" dirty="0">
                <a:solidFill>
                  <a:srgbClr val="FF3300"/>
                </a:solidFill>
                <a:latin typeface="Symbol" panose="05050102010706020507" pitchFamily="18" charset="2"/>
              </a:rPr>
              <a:t>j</a:t>
            </a: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decreases</a:t>
            </a:r>
            <a:endParaRPr lang="en-CA" altLang="fr-FR" sz="1800" b="1" baseline="-25000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Energy restitution</a:t>
            </a:r>
          </a:p>
        </p:txBody>
      </p:sp>
      <p:sp>
        <p:nvSpPr>
          <p:cNvPr id="536" name="Arc 206"/>
          <p:cNvSpPr>
            <a:spLocks/>
          </p:cNvSpPr>
          <p:nvPr/>
        </p:nvSpPr>
        <p:spPr bwMode="auto">
          <a:xfrm rot="15952817" flipH="1">
            <a:off x="4195614" y="4354800"/>
            <a:ext cx="699216" cy="339029"/>
          </a:xfrm>
          <a:custGeom>
            <a:avLst/>
            <a:gdLst>
              <a:gd name="T0" fmla="*/ 0 w 39000"/>
              <a:gd name="T1" fmla="*/ 2147483646 h 41809"/>
              <a:gd name="T2" fmla="*/ 2147483646 w 39000"/>
              <a:gd name="T3" fmla="*/ 2147483646 h 41809"/>
              <a:gd name="T4" fmla="*/ 2147483646 w 39000"/>
              <a:gd name="T5" fmla="*/ 2147483646 h 418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000" h="41809" fill="none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</a:path>
              <a:path w="39000" h="41809" stroke="0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  <a:lnTo>
                  <a:pt x="17400" y="21600"/>
                </a:lnTo>
                <a:lnTo>
                  <a:pt x="-1" y="8801"/>
                </a:lnTo>
                <a:close/>
              </a:path>
            </a:pathLst>
          </a:custGeom>
          <a:noFill/>
          <a:ln w="31750">
            <a:solidFill>
              <a:srgbClr val="FF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8341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891342" y="171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891342" y="3424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2" name="AutoShape 4"/>
          <p:cNvSpPr>
            <a:spLocks noChangeAspect="1" noChangeArrowheads="1" noTextEdit="1"/>
          </p:cNvSpPr>
          <p:nvPr/>
        </p:nvSpPr>
        <p:spPr bwMode="auto">
          <a:xfrm>
            <a:off x="2915155" y="307975"/>
            <a:ext cx="4162425" cy="616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13" name="Group 5"/>
          <p:cNvGrpSpPr>
            <a:grpSpLocks/>
          </p:cNvGrpSpPr>
          <p:nvPr/>
        </p:nvGrpSpPr>
        <p:grpSpPr bwMode="auto">
          <a:xfrm>
            <a:off x="3250117" y="387350"/>
            <a:ext cx="76200" cy="1219200"/>
            <a:chOff x="226" y="136"/>
            <a:chExt cx="48" cy="768"/>
          </a:xfrm>
        </p:grpSpPr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226" y="136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>
              <a:off x="250" y="224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3224717" y="1492250"/>
            <a:ext cx="3883025" cy="76200"/>
            <a:chOff x="210" y="832"/>
            <a:chExt cx="2446" cy="48"/>
          </a:xfrm>
        </p:grpSpPr>
        <p:sp>
          <p:nvSpPr>
            <p:cNvPr id="17" name="Freeform 9"/>
            <p:cNvSpPr>
              <a:spLocks/>
            </p:cNvSpPr>
            <p:nvPr/>
          </p:nvSpPr>
          <p:spPr bwMode="auto">
            <a:xfrm>
              <a:off x="2568" y="832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210" y="856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9" name="Line 11"/>
          <p:cNvSpPr>
            <a:spLocks noChangeShapeType="1"/>
          </p:cNvSpPr>
          <p:nvPr/>
        </p:nvSpPr>
        <p:spPr bwMode="auto">
          <a:xfrm flipV="1">
            <a:off x="3288217" y="819150"/>
            <a:ext cx="722313" cy="4953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Line 12"/>
          <p:cNvSpPr>
            <a:spLocks noChangeShapeType="1"/>
          </p:cNvSpPr>
          <p:nvPr/>
        </p:nvSpPr>
        <p:spPr bwMode="auto">
          <a:xfrm>
            <a:off x="4010530" y="819150"/>
            <a:ext cx="1435100" cy="4953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Line 13"/>
          <p:cNvSpPr>
            <a:spLocks noChangeShapeType="1"/>
          </p:cNvSpPr>
          <p:nvPr/>
        </p:nvSpPr>
        <p:spPr bwMode="auto">
          <a:xfrm flipV="1">
            <a:off x="5445630" y="819150"/>
            <a:ext cx="722312" cy="4953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3059617" y="298450"/>
            <a:ext cx="428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" name="Rectangle 15"/>
          <p:cNvSpPr>
            <a:spLocks noChangeArrowheads="1"/>
          </p:cNvSpPr>
          <p:nvPr/>
        </p:nvSpPr>
        <p:spPr bwMode="auto">
          <a:xfrm>
            <a:off x="3097717" y="387350"/>
            <a:ext cx="1143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10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4" name="Rectangle 16"/>
          <p:cNvSpPr>
            <a:spLocks noChangeArrowheads="1"/>
          </p:cNvSpPr>
          <p:nvPr/>
        </p:nvSpPr>
        <p:spPr bwMode="auto">
          <a:xfrm>
            <a:off x="3897817" y="1593850"/>
            <a:ext cx="936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5" name="Rectangle 17"/>
          <p:cNvSpPr>
            <a:spLocks noChangeArrowheads="1"/>
          </p:cNvSpPr>
          <p:nvPr/>
        </p:nvSpPr>
        <p:spPr bwMode="auto">
          <a:xfrm>
            <a:off x="5344030" y="1530350"/>
            <a:ext cx="936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3758117" y="1581150"/>
            <a:ext cx="968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27" name="Group 19"/>
          <p:cNvGrpSpPr>
            <a:grpSpLocks/>
          </p:cNvGrpSpPr>
          <p:nvPr/>
        </p:nvGrpSpPr>
        <p:grpSpPr bwMode="auto">
          <a:xfrm>
            <a:off x="4010530" y="666750"/>
            <a:ext cx="1587" cy="5756275"/>
            <a:chOff x="705" y="312"/>
            <a:chExt cx="1" cy="3626"/>
          </a:xfrm>
        </p:grpSpPr>
        <p:sp>
          <p:nvSpPr>
            <p:cNvPr id="28" name="Line 20"/>
            <p:cNvSpPr>
              <a:spLocks noChangeShapeType="1"/>
            </p:cNvSpPr>
            <p:nvPr/>
          </p:nvSpPr>
          <p:spPr bwMode="auto">
            <a:xfrm>
              <a:off x="705" y="31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Line 21"/>
            <p:cNvSpPr>
              <a:spLocks noChangeShapeType="1"/>
            </p:cNvSpPr>
            <p:nvPr/>
          </p:nvSpPr>
          <p:spPr bwMode="auto">
            <a:xfrm>
              <a:off x="705" y="38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22"/>
            <p:cNvSpPr>
              <a:spLocks noChangeShapeType="1"/>
            </p:cNvSpPr>
            <p:nvPr/>
          </p:nvSpPr>
          <p:spPr bwMode="auto">
            <a:xfrm>
              <a:off x="705" y="45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23"/>
            <p:cNvSpPr>
              <a:spLocks noChangeShapeType="1"/>
            </p:cNvSpPr>
            <p:nvPr/>
          </p:nvSpPr>
          <p:spPr bwMode="auto">
            <a:xfrm>
              <a:off x="705" y="52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24"/>
            <p:cNvSpPr>
              <a:spLocks noChangeShapeType="1"/>
            </p:cNvSpPr>
            <p:nvPr/>
          </p:nvSpPr>
          <p:spPr bwMode="auto">
            <a:xfrm>
              <a:off x="705" y="60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25"/>
            <p:cNvSpPr>
              <a:spLocks noChangeShapeType="1"/>
            </p:cNvSpPr>
            <p:nvPr/>
          </p:nvSpPr>
          <p:spPr bwMode="auto">
            <a:xfrm>
              <a:off x="705" y="67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26"/>
            <p:cNvSpPr>
              <a:spLocks noChangeShapeType="1"/>
            </p:cNvSpPr>
            <p:nvPr/>
          </p:nvSpPr>
          <p:spPr bwMode="auto">
            <a:xfrm>
              <a:off x="705" y="74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>
              <a:off x="705" y="81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705" y="88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Line 29"/>
            <p:cNvSpPr>
              <a:spLocks noChangeShapeType="1"/>
            </p:cNvSpPr>
            <p:nvPr/>
          </p:nvSpPr>
          <p:spPr bwMode="auto">
            <a:xfrm>
              <a:off x="705" y="96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Line 30"/>
            <p:cNvSpPr>
              <a:spLocks noChangeShapeType="1"/>
            </p:cNvSpPr>
            <p:nvPr/>
          </p:nvSpPr>
          <p:spPr bwMode="auto">
            <a:xfrm>
              <a:off x="705" y="103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Line 31"/>
            <p:cNvSpPr>
              <a:spLocks noChangeShapeType="1"/>
            </p:cNvSpPr>
            <p:nvPr/>
          </p:nvSpPr>
          <p:spPr bwMode="auto">
            <a:xfrm>
              <a:off x="705" y="110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Line 32"/>
            <p:cNvSpPr>
              <a:spLocks noChangeShapeType="1"/>
            </p:cNvSpPr>
            <p:nvPr/>
          </p:nvSpPr>
          <p:spPr bwMode="auto">
            <a:xfrm>
              <a:off x="705" y="117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33"/>
            <p:cNvSpPr>
              <a:spLocks noChangeShapeType="1"/>
            </p:cNvSpPr>
            <p:nvPr/>
          </p:nvSpPr>
          <p:spPr bwMode="auto">
            <a:xfrm>
              <a:off x="705" y="124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34"/>
            <p:cNvSpPr>
              <a:spLocks noChangeShapeType="1"/>
            </p:cNvSpPr>
            <p:nvPr/>
          </p:nvSpPr>
          <p:spPr bwMode="auto">
            <a:xfrm>
              <a:off x="705" y="132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Line 35"/>
            <p:cNvSpPr>
              <a:spLocks noChangeShapeType="1"/>
            </p:cNvSpPr>
            <p:nvPr/>
          </p:nvSpPr>
          <p:spPr bwMode="auto">
            <a:xfrm>
              <a:off x="705" y="139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Line 36"/>
            <p:cNvSpPr>
              <a:spLocks noChangeShapeType="1"/>
            </p:cNvSpPr>
            <p:nvPr/>
          </p:nvSpPr>
          <p:spPr bwMode="auto">
            <a:xfrm>
              <a:off x="705" y="146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37"/>
            <p:cNvSpPr>
              <a:spLocks noChangeShapeType="1"/>
            </p:cNvSpPr>
            <p:nvPr/>
          </p:nvSpPr>
          <p:spPr bwMode="auto">
            <a:xfrm>
              <a:off x="705" y="153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Line 38"/>
            <p:cNvSpPr>
              <a:spLocks noChangeShapeType="1"/>
            </p:cNvSpPr>
            <p:nvPr/>
          </p:nvSpPr>
          <p:spPr bwMode="auto">
            <a:xfrm>
              <a:off x="705" y="160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Line 39"/>
            <p:cNvSpPr>
              <a:spLocks noChangeShapeType="1"/>
            </p:cNvSpPr>
            <p:nvPr/>
          </p:nvSpPr>
          <p:spPr bwMode="auto">
            <a:xfrm>
              <a:off x="705" y="168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Line 40"/>
            <p:cNvSpPr>
              <a:spLocks noChangeShapeType="1"/>
            </p:cNvSpPr>
            <p:nvPr/>
          </p:nvSpPr>
          <p:spPr bwMode="auto">
            <a:xfrm>
              <a:off x="705" y="175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Line 41"/>
            <p:cNvSpPr>
              <a:spLocks noChangeShapeType="1"/>
            </p:cNvSpPr>
            <p:nvPr/>
          </p:nvSpPr>
          <p:spPr bwMode="auto">
            <a:xfrm>
              <a:off x="705" y="18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Line 42"/>
            <p:cNvSpPr>
              <a:spLocks noChangeShapeType="1"/>
            </p:cNvSpPr>
            <p:nvPr/>
          </p:nvSpPr>
          <p:spPr bwMode="auto">
            <a:xfrm>
              <a:off x="705" y="18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43"/>
            <p:cNvSpPr>
              <a:spLocks noChangeShapeType="1"/>
            </p:cNvSpPr>
            <p:nvPr/>
          </p:nvSpPr>
          <p:spPr bwMode="auto">
            <a:xfrm>
              <a:off x="705" y="19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44"/>
            <p:cNvSpPr>
              <a:spLocks noChangeShapeType="1"/>
            </p:cNvSpPr>
            <p:nvPr/>
          </p:nvSpPr>
          <p:spPr bwMode="auto">
            <a:xfrm>
              <a:off x="705" y="20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45"/>
            <p:cNvSpPr>
              <a:spLocks noChangeShapeType="1"/>
            </p:cNvSpPr>
            <p:nvPr/>
          </p:nvSpPr>
          <p:spPr bwMode="auto">
            <a:xfrm>
              <a:off x="705" y="21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46"/>
            <p:cNvSpPr>
              <a:spLocks noChangeShapeType="1"/>
            </p:cNvSpPr>
            <p:nvPr/>
          </p:nvSpPr>
          <p:spPr bwMode="auto">
            <a:xfrm>
              <a:off x="705" y="218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47"/>
            <p:cNvSpPr>
              <a:spLocks noChangeShapeType="1"/>
            </p:cNvSpPr>
            <p:nvPr/>
          </p:nvSpPr>
          <p:spPr bwMode="auto">
            <a:xfrm>
              <a:off x="705" y="225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Line 48"/>
            <p:cNvSpPr>
              <a:spLocks noChangeShapeType="1"/>
            </p:cNvSpPr>
            <p:nvPr/>
          </p:nvSpPr>
          <p:spPr bwMode="auto">
            <a:xfrm>
              <a:off x="705" y="232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Line 49"/>
            <p:cNvSpPr>
              <a:spLocks noChangeShapeType="1"/>
            </p:cNvSpPr>
            <p:nvPr/>
          </p:nvSpPr>
          <p:spPr bwMode="auto">
            <a:xfrm>
              <a:off x="705" y="240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Line 50"/>
            <p:cNvSpPr>
              <a:spLocks noChangeShapeType="1"/>
            </p:cNvSpPr>
            <p:nvPr/>
          </p:nvSpPr>
          <p:spPr bwMode="auto">
            <a:xfrm>
              <a:off x="705" y="247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Line 51"/>
            <p:cNvSpPr>
              <a:spLocks noChangeShapeType="1"/>
            </p:cNvSpPr>
            <p:nvPr/>
          </p:nvSpPr>
          <p:spPr bwMode="auto">
            <a:xfrm>
              <a:off x="705" y="254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Line 52"/>
            <p:cNvSpPr>
              <a:spLocks noChangeShapeType="1"/>
            </p:cNvSpPr>
            <p:nvPr/>
          </p:nvSpPr>
          <p:spPr bwMode="auto">
            <a:xfrm>
              <a:off x="705" y="261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Line 53"/>
            <p:cNvSpPr>
              <a:spLocks noChangeShapeType="1"/>
            </p:cNvSpPr>
            <p:nvPr/>
          </p:nvSpPr>
          <p:spPr bwMode="auto">
            <a:xfrm>
              <a:off x="705" y="268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Line 54"/>
            <p:cNvSpPr>
              <a:spLocks noChangeShapeType="1"/>
            </p:cNvSpPr>
            <p:nvPr/>
          </p:nvSpPr>
          <p:spPr bwMode="auto">
            <a:xfrm>
              <a:off x="705" y="276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Line 55"/>
            <p:cNvSpPr>
              <a:spLocks noChangeShapeType="1"/>
            </p:cNvSpPr>
            <p:nvPr/>
          </p:nvSpPr>
          <p:spPr bwMode="auto">
            <a:xfrm>
              <a:off x="705" y="283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Line 56"/>
            <p:cNvSpPr>
              <a:spLocks noChangeShapeType="1"/>
            </p:cNvSpPr>
            <p:nvPr/>
          </p:nvSpPr>
          <p:spPr bwMode="auto">
            <a:xfrm>
              <a:off x="705" y="290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Line 57"/>
            <p:cNvSpPr>
              <a:spLocks noChangeShapeType="1"/>
            </p:cNvSpPr>
            <p:nvPr/>
          </p:nvSpPr>
          <p:spPr bwMode="auto">
            <a:xfrm>
              <a:off x="705" y="2977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Line 58"/>
            <p:cNvSpPr>
              <a:spLocks noChangeShapeType="1"/>
            </p:cNvSpPr>
            <p:nvPr/>
          </p:nvSpPr>
          <p:spPr bwMode="auto">
            <a:xfrm>
              <a:off x="705" y="30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Line 59"/>
            <p:cNvSpPr>
              <a:spLocks noChangeShapeType="1"/>
            </p:cNvSpPr>
            <p:nvPr/>
          </p:nvSpPr>
          <p:spPr bwMode="auto">
            <a:xfrm>
              <a:off x="705" y="31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8" name="Line 60"/>
            <p:cNvSpPr>
              <a:spLocks noChangeShapeType="1"/>
            </p:cNvSpPr>
            <p:nvPr/>
          </p:nvSpPr>
          <p:spPr bwMode="auto">
            <a:xfrm>
              <a:off x="705" y="31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Line 61"/>
            <p:cNvSpPr>
              <a:spLocks noChangeShapeType="1"/>
            </p:cNvSpPr>
            <p:nvPr/>
          </p:nvSpPr>
          <p:spPr bwMode="auto">
            <a:xfrm>
              <a:off x="705" y="32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Line 62"/>
            <p:cNvSpPr>
              <a:spLocks noChangeShapeType="1"/>
            </p:cNvSpPr>
            <p:nvPr/>
          </p:nvSpPr>
          <p:spPr bwMode="auto">
            <a:xfrm>
              <a:off x="705" y="33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1" name="Line 63"/>
            <p:cNvSpPr>
              <a:spLocks noChangeShapeType="1"/>
            </p:cNvSpPr>
            <p:nvPr/>
          </p:nvSpPr>
          <p:spPr bwMode="auto">
            <a:xfrm>
              <a:off x="705" y="34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Line 64"/>
            <p:cNvSpPr>
              <a:spLocks noChangeShapeType="1"/>
            </p:cNvSpPr>
            <p:nvPr/>
          </p:nvSpPr>
          <p:spPr bwMode="auto">
            <a:xfrm>
              <a:off x="705" y="34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Line 65"/>
            <p:cNvSpPr>
              <a:spLocks noChangeShapeType="1"/>
            </p:cNvSpPr>
            <p:nvPr/>
          </p:nvSpPr>
          <p:spPr bwMode="auto">
            <a:xfrm>
              <a:off x="705" y="355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Line 66"/>
            <p:cNvSpPr>
              <a:spLocks noChangeShapeType="1"/>
            </p:cNvSpPr>
            <p:nvPr/>
          </p:nvSpPr>
          <p:spPr bwMode="auto">
            <a:xfrm>
              <a:off x="705" y="362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Line 67"/>
            <p:cNvSpPr>
              <a:spLocks noChangeShapeType="1"/>
            </p:cNvSpPr>
            <p:nvPr/>
          </p:nvSpPr>
          <p:spPr bwMode="auto">
            <a:xfrm>
              <a:off x="705" y="369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Line 68"/>
            <p:cNvSpPr>
              <a:spLocks noChangeShapeType="1"/>
            </p:cNvSpPr>
            <p:nvPr/>
          </p:nvSpPr>
          <p:spPr bwMode="auto">
            <a:xfrm>
              <a:off x="705" y="377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Line 69"/>
            <p:cNvSpPr>
              <a:spLocks noChangeShapeType="1"/>
            </p:cNvSpPr>
            <p:nvPr/>
          </p:nvSpPr>
          <p:spPr bwMode="auto">
            <a:xfrm>
              <a:off x="705" y="384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Line 70"/>
            <p:cNvSpPr>
              <a:spLocks noChangeShapeType="1"/>
            </p:cNvSpPr>
            <p:nvPr/>
          </p:nvSpPr>
          <p:spPr bwMode="auto">
            <a:xfrm>
              <a:off x="705" y="3914"/>
              <a:ext cx="1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9" name="Group 71"/>
          <p:cNvGrpSpPr>
            <a:grpSpLocks/>
          </p:cNvGrpSpPr>
          <p:nvPr/>
        </p:nvGrpSpPr>
        <p:grpSpPr bwMode="auto">
          <a:xfrm>
            <a:off x="5445630" y="666750"/>
            <a:ext cx="1587" cy="5756275"/>
            <a:chOff x="1609" y="312"/>
            <a:chExt cx="1" cy="3626"/>
          </a:xfrm>
        </p:grpSpPr>
        <p:sp>
          <p:nvSpPr>
            <p:cNvPr id="80" name="Line 72"/>
            <p:cNvSpPr>
              <a:spLocks noChangeShapeType="1"/>
            </p:cNvSpPr>
            <p:nvPr/>
          </p:nvSpPr>
          <p:spPr bwMode="auto">
            <a:xfrm>
              <a:off x="1609" y="31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Line 73"/>
            <p:cNvSpPr>
              <a:spLocks noChangeShapeType="1"/>
            </p:cNvSpPr>
            <p:nvPr/>
          </p:nvSpPr>
          <p:spPr bwMode="auto">
            <a:xfrm>
              <a:off x="1609" y="38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Line 74"/>
            <p:cNvSpPr>
              <a:spLocks noChangeShapeType="1"/>
            </p:cNvSpPr>
            <p:nvPr/>
          </p:nvSpPr>
          <p:spPr bwMode="auto">
            <a:xfrm>
              <a:off x="1609" y="45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Line 75"/>
            <p:cNvSpPr>
              <a:spLocks noChangeShapeType="1"/>
            </p:cNvSpPr>
            <p:nvPr/>
          </p:nvSpPr>
          <p:spPr bwMode="auto">
            <a:xfrm>
              <a:off x="1609" y="52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Line 76"/>
            <p:cNvSpPr>
              <a:spLocks noChangeShapeType="1"/>
            </p:cNvSpPr>
            <p:nvPr/>
          </p:nvSpPr>
          <p:spPr bwMode="auto">
            <a:xfrm>
              <a:off x="1609" y="60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Line 77"/>
            <p:cNvSpPr>
              <a:spLocks noChangeShapeType="1"/>
            </p:cNvSpPr>
            <p:nvPr/>
          </p:nvSpPr>
          <p:spPr bwMode="auto">
            <a:xfrm>
              <a:off x="1609" y="67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Line 78"/>
            <p:cNvSpPr>
              <a:spLocks noChangeShapeType="1"/>
            </p:cNvSpPr>
            <p:nvPr/>
          </p:nvSpPr>
          <p:spPr bwMode="auto">
            <a:xfrm>
              <a:off x="1609" y="74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7" name="Line 79"/>
            <p:cNvSpPr>
              <a:spLocks noChangeShapeType="1"/>
            </p:cNvSpPr>
            <p:nvPr/>
          </p:nvSpPr>
          <p:spPr bwMode="auto">
            <a:xfrm>
              <a:off x="1609" y="81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Line 80"/>
            <p:cNvSpPr>
              <a:spLocks noChangeShapeType="1"/>
            </p:cNvSpPr>
            <p:nvPr/>
          </p:nvSpPr>
          <p:spPr bwMode="auto">
            <a:xfrm>
              <a:off x="1609" y="88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Line 81"/>
            <p:cNvSpPr>
              <a:spLocks noChangeShapeType="1"/>
            </p:cNvSpPr>
            <p:nvPr/>
          </p:nvSpPr>
          <p:spPr bwMode="auto">
            <a:xfrm>
              <a:off x="1609" y="96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0" name="Line 82"/>
            <p:cNvSpPr>
              <a:spLocks noChangeShapeType="1"/>
            </p:cNvSpPr>
            <p:nvPr/>
          </p:nvSpPr>
          <p:spPr bwMode="auto">
            <a:xfrm>
              <a:off x="1609" y="103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Line 83"/>
            <p:cNvSpPr>
              <a:spLocks noChangeShapeType="1"/>
            </p:cNvSpPr>
            <p:nvPr/>
          </p:nvSpPr>
          <p:spPr bwMode="auto">
            <a:xfrm>
              <a:off x="1609" y="110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Line 84"/>
            <p:cNvSpPr>
              <a:spLocks noChangeShapeType="1"/>
            </p:cNvSpPr>
            <p:nvPr/>
          </p:nvSpPr>
          <p:spPr bwMode="auto">
            <a:xfrm>
              <a:off x="1609" y="117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3" name="Line 85"/>
            <p:cNvSpPr>
              <a:spLocks noChangeShapeType="1"/>
            </p:cNvSpPr>
            <p:nvPr/>
          </p:nvSpPr>
          <p:spPr bwMode="auto">
            <a:xfrm>
              <a:off x="1609" y="124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Line 86"/>
            <p:cNvSpPr>
              <a:spLocks noChangeShapeType="1"/>
            </p:cNvSpPr>
            <p:nvPr/>
          </p:nvSpPr>
          <p:spPr bwMode="auto">
            <a:xfrm>
              <a:off x="1609" y="132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Line 87"/>
            <p:cNvSpPr>
              <a:spLocks noChangeShapeType="1"/>
            </p:cNvSpPr>
            <p:nvPr/>
          </p:nvSpPr>
          <p:spPr bwMode="auto">
            <a:xfrm>
              <a:off x="1609" y="139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Line 88"/>
            <p:cNvSpPr>
              <a:spLocks noChangeShapeType="1"/>
            </p:cNvSpPr>
            <p:nvPr/>
          </p:nvSpPr>
          <p:spPr bwMode="auto">
            <a:xfrm>
              <a:off x="1609" y="146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Line 89"/>
            <p:cNvSpPr>
              <a:spLocks noChangeShapeType="1"/>
            </p:cNvSpPr>
            <p:nvPr/>
          </p:nvSpPr>
          <p:spPr bwMode="auto">
            <a:xfrm>
              <a:off x="1609" y="153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Line 90"/>
            <p:cNvSpPr>
              <a:spLocks noChangeShapeType="1"/>
            </p:cNvSpPr>
            <p:nvPr/>
          </p:nvSpPr>
          <p:spPr bwMode="auto">
            <a:xfrm>
              <a:off x="1609" y="160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Line 91"/>
            <p:cNvSpPr>
              <a:spLocks noChangeShapeType="1"/>
            </p:cNvSpPr>
            <p:nvPr/>
          </p:nvSpPr>
          <p:spPr bwMode="auto">
            <a:xfrm>
              <a:off x="1609" y="168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Line 92"/>
            <p:cNvSpPr>
              <a:spLocks noChangeShapeType="1"/>
            </p:cNvSpPr>
            <p:nvPr/>
          </p:nvSpPr>
          <p:spPr bwMode="auto">
            <a:xfrm>
              <a:off x="1609" y="175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Line 93"/>
            <p:cNvSpPr>
              <a:spLocks noChangeShapeType="1"/>
            </p:cNvSpPr>
            <p:nvPr/>
          </p:nvSpPr>
          <p:spPr bwMode="auto">
            <a:xfrm>
              <a:off x="1609" y="18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Line 94"/>
            <p:cNvSpPr>
              <a:spLocks noChangeShapeType="1"/>
            </p:cNvSpPr>
            <p:nvPr/>
          </p:nvSpPr>
          <p:spPr bwMode="auto">
            <a:xfrm>
              <a:off x="1609" y="18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Line 95"/>
            <p:cNvSpPr>
              <a:spLocks noChangeShapeType="1"/>
            </p:cNvSpPr>
            <p:nvPr/>
          </p:nvSpPr>
          <p:spPr bwMode="auto">
            <a:xfrm>
              <a:off x="1609" y="19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4" name="Line 96"/>
            <p:cNvSpPr>
              <a:spLocks noChangeShapeType="1"/>
            </p:cNvSpPr>
            <p:nvPr/>
          </p:nvSpPr>
          <p:spPr bwMode="auto">
            <a:xfrm>
              <a:off x="1609" y="20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Line 97"/>
            <p:cNvSpPr>
              <a:spLocks noChangeShapeType="1"/>
            </p:cNvSpPr>
            <p:nvPr/>
          </p:nvSpPr>
          <p:spPr bwMode="auto">
            <a:xfrm>
              <a:off x="1609" y="21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Line 98"/>
            <p:cNvSpPr>
              <a:spLocks noChangeShapeType="1"/>
            </p:cNvSpPr>
            <p:nvPr/>
          </p:nvSpPr>
          <p:spPr bwMode="auto">
            <a:xfrm>
              <a:off x="1609" y="218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Line 99"/>
            <p:cNvSpPr>
              <a:spLocks noChangeShapeType="1"/>
            </p:cNvSpPr>
            <p:nvPr/>
          </p:nvSpPr>
          <p:spPr bwMode="auto">
            <a:xfrm>
              <a:off x="1609" y="225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Line 100"/>
            <p:cNvSpPr>
              <a:spLocks noChangeShapeType="1"/>
            </p:cNvSpPr>
            <p:nvPr/>
          </p:nvSpPr>
          <p:spPr bwMode="auto">
            <a:xfrm>
              <a:off x="1609" y="232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Line 101"/>
            <p:cNvSpPr>
              <a:spLocks noChangeShapeType="1"/>
            </p:cNvSpPr>
            <p:nvPr/>
          </p:nvSpPr>
          <p:spPr bwMode="auto">
            <a:xfrm>
              <a:off x="1609" y="240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" name="Line 102"/>
            <p:cNvSpPr>
              <a:spLocks noChangeShapeType="1"/>
            </p:cNvSpPr>
            <p:nvPr/>
          </p:nvSpPr>
          <p:spPr bwMode="auto">
            <a:xfrm>
              <a:off x="1609" y="247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Line 103"/>
            <p:cNvSpPr>
              <a:spLocks noChangeShapeType="1"/>
            </p:cNvSpPr>
            <p:nvPr/>
          </p:nvSpPr>
          <p:spPr bwMode="auto">
            <a:xfrm>
              <a:off x="1609" y="254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2" name="Line 104"/>
            <p:cNvSpPr>
              <a:spLocks noChangeShapeType="1"/>
            </p:cNvSpPr>
            <p:nvPr/>
          </p:nvSpPr>
          <p:spPr bwMode="auto">
            <a:xfrm>
              <a:off x="1609" y="261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3" name="Line 105"/>
            <p:cNvSpPr>
              <a:spLocks noChangeShapeType="1"/>
            </p:cNvSpPr>
            <p:nvPr/>
          </p:nvSpPr>
          <p:spPr bwMode="auto">
            <a:xfrm>
              <a:off x="1609" y="268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4" name="Line 106"/>
            <p:cNvSpPr>
              <a:spLocks noChangeShapeType="1"/>
            </p:cNvSpPr>
            <p:nvPr/>
          </p:nvSpPr>
          <p:spPr bwMode="auto">
            <a:xfrm>
              <a:off x="1609" y="276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5" name="Line 107"/>
            <p:cNvSpPr>
              <a:spLocks noChangeShapeType="1"/>
            </p:cNvSpPr>
            <p:nvPr/>
          </p:nvSpPr>
          <p:spPr bwMode="auto">
            <a:xfrm>
              <a:off x="1609" y="283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6" name="Line 108"/>
            <p:cNvSpPr>
              <a:spLocks noChangeShapeType="1"/>
            </p:cNvSpPr>
            <p:nvPr/>
          </p:nvSpPr>
          <p:spPr bwMode="auto">
            <a:xfrm>
              <a:off x="1609" y="290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7" name="Line 109"/>
            <p:cNvSpPr>
              <a:spLocks noChangeShapeType="1"/>
            </p:cNvSpPr>
            <p:nvPr/>
          </p:nvSpPr>
          <p:spPr bwMode="auto">
            <a:xfrm>
              <a:off x="1609" y="2977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8" name="Line 110"/>
            <p:cNvSpPr>
              <a:spLocks noChangeShapeType="1"/>
            </p:cNvSpPr>
            <p:nvPr/>
          </p:nvSpPr>
          <p:spPr bwMode="auto">
            <a:xfrm>
              <a:off x="1609" y="30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9" name="Line 111"/>
            <p:cNvSpPr>
              <a:spLocks noChangeShapeType="1"/>
            </p:cNvSpPr>
            <p:nvPr/>
          </p:nvSpPr>
          <p:spPr bwMode="auto">
            <a:xfrm>
              <a:off x="1609" y="31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0" name="Line 112"/>
            <p:cNvSpPr>
              <a:spLocks noChangeShapeType="1"/>
            </p:cNvSpPr>
            <p:nvPr/>
          </p:nvSpPr>
          <p:spPr bwMode="auto">
            <a:xfrm>
              <a:off x="1609" y="31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1" name="Line 113"/>
            <p:cNvSpPr>
              <a:spLocks noChangeShapeType="1"/>
            </p:cNvSpPr>
            <p:nvPr/>
          </p:nvSpPr>
          <p:spPr bwMode="auto">
            <a:xfrm>
              <a:off x="1609" y="32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2" name="Line 114"/>
            <p:cNvSpPr>
              <a:spLocks noChangeShapeType="1"/>
            </p:cNvSpPr>
            <p:nvPr/>
          </p:nvSpPr>
          <p:spPr bwMode="auto">
            <a:xfrm>
              <a:off x="1609" y="33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3" name="Line 115"/>
            <p:cNvSpPr>
              <a:spLocks noChangeShapeType="1"/>
            </p:cNvSpPr>
            <p:nvPr/>
          </p:nvSpPr>
          <p:spPr bwMode="auto">
            <a:xfrm>
              <a:off x="1609" y="34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4" name="Line 116"/>
            <p:cNvSpPr>
              <a:spLocks noChangeShapeType="1"/>
            </p:cNvSpPr>
            <p:nvPr/>
          </p:nvSpPr>
          <p:spPr bwMode="auto">
            <a:xfrm>
              <a:off x="1609" y="34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5" name="Line 117"/>
            <p:cNvSpPr>
              <a:spLocks noChangeShapeType="1"/>
            </p:cNvSpPr>
            <p:nvPr/>
          </p:nvSpPr>
          <p:spPr bwMode="auto">
            <a:xfrm>
              <a:off x="1609" y="355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6" name="Line 118"/>
            <p:cNvSpPr>
              <a:spLocks noChangeShapeType="1"/>
            </p:cNvSpPr>
            <p:nvPr/>
          </p:nvSpPr>
          <p:spPr bwMode="auto">
            <a:xfrm>
              <a:off x="1609" y="362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7" name="Line 119"/>
            <p:cNvSpPr>
              <a:spLocks noChangeShapeType="1"/>
            </p:cNvSpPr>
            <p:nvPr/>
          </p:nvSpPr>
          <p:spPr bwMode="auto">
            <a:xfrm>
              <a:off x="1609" y="369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8" name="Line 120"/>
            <p:cNvSpPr>
              <a:spLocks noChangeShapeType="1"/>
            </p:cNvSpPr>
            <p:nvPr/>
          </p:nvSpPr>
          <p:spPr bwMode="auto">
            <a:xfrm>
              <a:off x="1609" y="377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9" name="Line 121"/>
            <p:cNvSpPr>
              <a:spLocks noChangeShapeType="1"/>
            </p:cNvSpPr>
            <p:nvPr/>
          </p:nvSpPr>
          <p:spPr bwMode="auto">
            <a:xfrm>
              <a:off x="1609" y="384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0" name="Line 122"/>
            <p:cNvSpPr>
              <a:spLocks noChangeShapeType="1"/>
            </p:cNvSpPr>
            <p:nvPr/>
          </p:nvSpPr>
          <p:spPr bwMode="auto">
            <a:xfrm>
              <a:off x="1609" y="3914"/>
              <a:ext cx="1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1" name="Rectangle 123"/>
          <p:cNvSpPr>
            <a:spLocks noChangeArrowheads="1"/>
          </p:cNvSpPr>
          <p:nvPr/>
        </p:nvSpPr>
        <p:spPr bwMode="auto">
          <a:xfrm>
            <a:off x="6942642" y="1200150"/>
            <a:ext cx="428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32" name="Rectangle 124"/>
          <p:cNvSpPr>
            <a:spLocks noChangeArrowheads="1"/>
          </p:cNvSpPr>
          <p:nvPr/>
        </p:nvSpPr>
        <p:spPr bwMode="auto">
          <a:xfrm>
            <a:off x="3186617" y="156845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33" name="Group 125"/>
          <p:cNvGrpSpPr>
            <a:grpSpLocks/>
          </p:cNvGrpSpPr>
          <p:nvPr/>
        </p:nvGrpSpPr>
        <p:grpSpPr bwMode="auto">
          <a:xfrm>
            <a:off x="3250117" y="1900238"/>
            <a:ext cx="76200" cy="1219200"/>
            <a:chOff x="226" y="1089"/>
            <a:chExt cx="48" cy="768"/>
          </a:xfrm>
        </p:grpSpPr>
        <p:sp>
          <p:nvSpPr>
            <p:cNvPr id="134" name="Freeform 126"/>
            <p:cNvSpPr>
              <a:spLocks/>
            </p:cNvSpPr>
            <p:nvPr/>
          </p:nvSpPr>
          <p:spPr bwMode="auto">
            <a:xfrm>
              <a:off x="226" y="1089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5" name="Line 127"/>
            <p:cNvSpPr>
              <a:spLocks noChangeShapeType="1"/>
            </p:cNvSpPr>
            <p:nvPr/>
          </p:nvSpPr>
          <p:spPr bwMode="auto">
            <a:xfrm>
              <a:off x="250" y="1177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36" name="Group 128"/>
          <p:cNvGrpSpPr>
            <a:grpSpLocks/>
          </p:cNvGrpSpPr>
          <p:nvPr/>
        </p:nvGrpSpPr>
        <p:grpSpPr bwMode="auto">
          <a:xfrm>
            <a:off x="3224717" y="3017838"/>
            <a:ext cx="3883025" cy="63500"/>
            <a:chOff x="210" y="1793"/>
            <a:chExt cx="2446" cy="40"/>
          </a:xfrm>
        </p:grpSpPr>
        <p:sp>
          <p:nvSpPr>
            <p:cNvPr id="137" name="Freeform 129"/>
            <p:cNvSpPr>
              <a:spLocks/>
            </p:cNvSpPr>
            <p:nvPr/>
          </p:nvSpPr>
          <p:spPr bwMode="auto">
            <a:xfrm>
              <a:off x="2568" y="1793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8" name="Line 130"/>
            <p:cNvSpPr>
              <a:spLocks noChangeShapeType="1"/>
            </p:cNvSpPr>
            <p:nvPr/>
          </p:nvSpPr>
          <p:spPr bwMode="auto">
            <a:xfrm>
              <a:off x="210" y="1809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9" name="Line 131"/>
          <p:cNvSpPr>
            <a:spLocks noChangeShapeType="1"/>
          </p:cNvSpPr>
          <p:nvPr/>
        </p:nvSpPr>
        <p:spPr bwMode="auto">
          <a:xfrm flipV="1">
            <a:off x="3288217" y="2332038"/>
            <a:ext cx="722313" cy="4953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0" name="Line 132"/>
          <p:cNvSpPr>
            <a:spLocks noChangeShapeType="1"/>
          </p:cNvSpPr>
          <p:nvPr/>
        </p:nvSpPr>
        <p:spPr bwMode="auto">
          <a:xfrm flipV="1">
            <a:off x="5445630" y="2332038"/>
            <a:ext cx="722312" cy="4953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1" name="Rectangle 133"/>
          <p:cNvSpPr>
            <a:spLocks noChangeArrowheads="1"/>
          </p:cNvSpPr>
          <p:nvPr/>
        </p:nvSpPr>
        <p:spPr bwMode="auto">
          <a:xfrm>
            <a:off x="3059617" y="181133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2" name="Rectangle 134"/>
          <p:cNvSpPr>
            <a:spLocks noChangeArrowheads="1"/>
          </p:cNvSpPr>
          <p:nvPr/>
        </p:nvSpPr>
        <p:spPr bwMode="auto">
          <a:xfrm>
            <a:off x="3123117" y="1900238"/>
            <a:ext cx="571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1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3" name="Rectangle 135"/>
          <p:cNvSpPr>
            <a:spLocks noChangeArrowheads="1"/>
          </p:cNvSpPr>
          <p:nvPr/>
        </p:nvSpPr>
        <p:spPr bwMode="auto">
          <a:xfrm>
            <a:off x="3897817" y="3106738"/>
            <a:ext cx="936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4" name="Rectangle 136"/>
          <p:cNvSpPr>
            <a:spLocks noChangeArrowheads="1"/>
          </p:cNvSpPr>
          <p:nvPr/>
        </p:nvSpPr>
        <p:spPr bwMode="auto">
          <a:xfrm>
            <a:off x="5344030" y="3043238"/>
            <a:ext cx="936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5" name="Rectangle 137"/>
          <p:cNvSpPr>
            <a:spLocks noChangeArrowheads="1"/>
          </p:cNvSpPr>
          <p:nvPr/>
        </p:nvSpPr>
        <p:spPr bwMode="auto">
          <a:xfrm>
            <a:off x="3758117" y="3094038"/>
            <a:ext cx="968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6" name="Rectangle 138"/>
          <p:cNvSpPr>
            <a:spLocks noChangeArrowheads="1"/>
          </p:cNvSpPr>
          <p:nvPr/>
        </p:nvSpPr>
        <p:spPr bwMode="auto">
          <a:xfrm>
            <a:off x="6942642" y="271303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7" name="Rectangle 139"/>
          <p:cNvSpPr>
            <a:spLocks noChangeArrowheads="1"/>
          </p:cNvSpPr>
          <p:nvPr/>
        </p:nvSpPr>
        <p:spPr bwMode="auto">
          <a:xfrm>
            <a:off x="3186617" y="3081338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8" name="Line 140"/>
          <p:cNvSpPr>
            <a:spLocks noChangeShapeType="1"/>
          </p:cNvSpPr>
          <p:nvPr/>
        </p:nvSpPr>
        <p:spPr bwMode="auto">
          <a:xfrm>
            <a:off x="4010530" y="2332038"/>
            <a:ext cx="1587" cy="7112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9" name="Line 141"/>
          <p:cNvSpPr>
            <a:spLocks noChangeShapeType="1"/>
          </p:cNvSpPr>
          <p:nvPr/>
        </p:nvSpPr>
        <p:spPr bwMode="auto">
          <a:xfrm>
            <a:off x="6167942" y="2332038"/>
            <a:ext cx="1588" cy="7112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0" name="Line 142"/>
          <p:cNvSpPr>
            <a:spLocks noChangeShapeType="1"/>
          </p:cNvSpPr>
          <p:nvPr/>
        </p:nvSpPr>
        <p:spPr bwMode="auto">
          <a:xfrm>
            <a:off x="5445630" y="2827338"/>
            <a:ext cx="1587" cy="2159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151" name="Group 143"/>
          <p:cNvGrpSpPr>
            <a:grpSpLocks/>
          </p:cNvGrpSpPr>
          <p:nvPr/>
        </p:nvGrpSpPr>
        <p:grpSpPr bwMode="auto">
          <a:xfrm>
            <a:off x="3250117" y="3411538"/>
            <a:ext cx="76200" cy="1219200"/>
            <a:chOff x="226" y="2041"/>
            <a:chExt cx="48" cy="768"/>
          </a:xfrm>
        </p:grpSpPr>
        <p:sp>
          <p:nvSpPr>
            <p:cNvPr id="152" name="Freeform 144"/>
            <p:cNvSpPr>
              <a:spLocks/>
            </p:cNvSpPr>
            <p:nvPr/>
          </p:nvSpPr>
          <p:spPr bwMode="auto">
            <a:xfrm>
              <a:off x="226" y="2041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" name="Line 145"/>
            <p:cNvSpPr>
              <a:spLocks noChangeShapeType="1"/>
            </p:cNvSpPr>
            <p:nvPr/>
          </p:nvSpPr>
          <p:spPr bwMode="auto">
            <a:xfrm>
              <a:off x="250" y="2129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4" name="Group 146"/>
          <p:cNvGrpSpPr>
            <a:grpSpLocks/>
          </p:cNvGrpSpPr>
          <p:nvPr/>
        </p:nvGrpSpPr>
        <p:grpSpPr bwMode="auto">
          <a:xfrm>
            <a:off x="3224717" y="4437063"/>
            <a:ext cx="3883025" cy="63500"/>
            <a:chOff x="210" y="2201"/>
            <a:chExt cx="2446" cy="40"/>
          </a:xfrm>
        </p:grpSpPr>
        <p:sp>
          <p:nvSpPr>
            <p:cNvPr id="155" name="Freeform 147"/>
            <p:cNvSpPr>
              <a:spLocks/>
            </p:cNvSpPr>
            <p:nvPr/>
          </p:nvSpPr>
          <p:spPr bwMode="auto">
            <a:xfrm>
              <a:off x="2568" y="2201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6" name="Line 148"/>
            <p:cNvSpPr>
              <a:spLocks noChangeShapeType="1"/>
            </p:cNvSpPr>
            <p:nvPr/>
          </p:nvSpPr>
          <p:spPr bwMode="auto">
            <a:xfrm>
              <a:off x="210" y="2217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7" name="Rectangle 149"/>
          <p:cNvSpPr>
            <a:spLocks noChangeArrowheads="1"/>
          </p:cNvSpPr>
          <p:nvPr/>
        </p:nvSpPr>
        <p:spPr bwMode="auto">
          <a:xfrm>
            <a:off x="3059617" y="3322638"/>
            <a:ext cx="952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-i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8" name="Rectangle 150"/>
          <p:cNvSpPr>
            <a:spLocks noChangeArrowheads="1"/>
          </p:cNvSpPr>
          <p:nvPr/>
        </p:nvSpPr>
        <p:spPr bwMode="auto">
          <a:xfrm>
            <a:off x="3158042" y="3411538"/>
            <a:ext cx="571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2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9" name="Rectangle 151"/>
          <p:cNvSpPr>
            <a:spLocks noChangeArrowheads="1"/>
          </p:cNvSpPr>
          <p:nvPr/>
        </p:nvSpPr>
        <p:spPr bwMode="auto">
          <a:xfrm>
            <a:off x="3897817" y="4525963"/>
            <a:ext cx="936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0" name="Rectangle 152"/>
          <p:cNvSpPr>
            <a:spLocks noChangeArrowheads="1"/>
          </p:cNvSpPr>
          <p:nvPr/>
        </p:nvSpPr>
        <p:spPr bwMode="auto">
          <a:xfrm>
            <a:off x="5344030" y="4462463"/>
            <a:ext cx="936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1" name="Rectangle 153"/>
          <p:cNvSpPr>
            <a:spLocks noChangeArrowheads="1"/>
          </p:cNvSpPr>
          <p:nvPr/>
        </p:nvSpPr>
        <p:spPr bwMode="auto">
          <a:xfrm>
            <a:off x="3758117" y="4513263"/>
            <a:ext cx="968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2" name="Rectangle 154"/>
          <p:cNvSpPr>
            <a:spLocks noChangeArrowheads="1"/>
          </p:cNvSpPr>
          <p:nvPr/>
        </p:nvSpPr>
        <p:spPr bwMode="auto">
          <a:xfrm>
            <a:off x="6942642" y="4132263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3" name="Rectangle 155"/>
          <p:cNvSpPr>
            <a:spLocks noChangeArrowheads="1"/>
          </p:cNvSpPr>
          <p:nvPr/>
        </p:nvSpPr>
        <p:spPr bwMode="auto">
          <a:xfrm>
            <a:off x="3186617" y="450056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64" name="Group 156"/>
          <p:cNvGrpSpPr>
            <a:grpSpLocks/>
          </p:cNvGrpSpPr>
          <p:nvPr/>
        </p:nvGrpSpPr>
        <p:grpSpPr bwMode="auto">
          <a:xfrm>
            <a:off x="3250117" y="5064125"/>
            <a:ext cx="98425" cy="1584325"/>
            <a:chOff x="226" y="3082"/>
            <a:chExt cx="48" cy="776"/>
          </a:xfrm>
        </p:grpSpPr>
        <p:sp>
          <p:nvSpPr>
            <p:cNvPr id="165" name="Freeform 157"/>
            <p:cNvSpPr>
              <a:spLocks/>
            </p:cNvSpPr>
            <p:nvPr/>
          </p:nvSpPr>
          <p:spPr bwMode="auto">
            <a:xfrm>
              <a:off x="226" y="3082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6" name="Line 158"/>
            <p:cNvSpPr>
              <a:spLocks noChangeShapeType="1"/>
            </p:cNvSpPr>
            <p:nvPr/>
          </p:nvSpPr>
          <p:spPr bwMode="auto">
            <a:xfrm>
              <a:off x="250" y="3170"/>
              <a:ext cx="1" cy="6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7" name="Group 159"/>
          <p:cNvGrpSpPr>
            <a:grpSpLocks/>
          </p:cNvGrpSpPr>
          <p:nvPr/>
        </p:nvGrpSpPr>
        <p:grpSpPr bwMode="auto">
          <a:xfrm>
            <a:off x="3224717" y="6181725"/>
            <a:ext cx="3883025" cy="76200"/>
            <a:chOff x="210" y="3786"/>
            <a:chExt cx="2446" cy="48"/>
          </a:xfrm>
        </p:grpSpPr>
        <p:sp>
          <p:nvSpPr>
            <p:cNvPr id="168" name="Freeform 160"/>
            <p:cNvSpPr>
              <a:spLocks/>
            </p:cNvSpPr>
            <p:nvPr/>
          </p:nvSpPr>
          <p:spPr bwMode="auto">
            <a:xfrm>
              <a:off x="2568" y="3786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9" name="Line 161"/>
            <p:cNvSpPr>
              <a:spLocks noChangeShapeType="1"/>
            </p:cNvSpPr>
            <p:nvPr/>
          </p:nvSpPr>
          <p:spPr bwMode="auto">
            <a:xfrm>
              <a:off x="210" y="3810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70" name="Line 162"/>
          <p:cNvSpPr>
            <a:spLocks noChangeShapeType="1"/>
          </p:cNvSpPr>
          <p:nvPr/>
        </p:nvSpPr>
        <p:spPr bwMode="auto">
          <a:xfrm>
            <a:off x="4001005" y="3697288"/>
            <a:ext cx="1435100" cy="5524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1" name="Line 164"/>
          <p:cNvSpPr>
            <a:spLocks noChangeShapeType="1"/>
          </p:cNvSpPr>
          <p:nvPr/>
        </p:nvSpPr>
        <p:spPr bwMode="auto">
          <a:xfrm>
            <a:off x="5436105" y="4224338"/>
            <a:ext cx="1587" cy="2254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2" name="Rectangle 165"/>
          <p:cNvSpPr>
            <a:spLocks noChangeArrowheads="1"/>
          </p:cNvSpPr>
          <p:nvPr/>
        </p:nvSpPr>
        <p:spPr bwMode="auto">
          <a:xfrm>
            <a:off x="2983417" y="4987925"/>
            <a:ext cx="746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v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3" name="Rectangle 166"/>
          <p:cNvSpPr>
            <a:spLocks noChangeArrowheads="1"/>
          </p:cNvSpPr>
          <p:nvPr/>
        </p:nvSpPr>
        <p:spPr bwMode="auto">
          <a:xfrm>
            <a:off x="3097717" y="5064125"/>
            <a:ext cx="100013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ce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4" name="Rectangle 167"/>
          <p:cNvSpPr>
            <a:spLocks noChangeArrowheads="1"/>
          </p:cNvSpPr>
          <p:nvPr/>
        </p:nvSpPr>
        <p:spPr bwMode="auto">
          <a:xfrm>
            <a:off x="3897817" y="6283325"/>
            <a:ext cx="936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5" name="Rectangle 168"/>
          <p:cNvSpPr>
            <a:spLocks noChangeArrowheads="1"/>
          </p:cNvSpPr>
          <p:nvPr/>
        </p:nvSpPr>
        <p:spPr bwMode="auto">
          <a:xfrm>
            <a:off x="5344030" y="6207125"/>
            <a:ext cx="936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6" name="Rectangle 169"/>
          <p:cNvSpPr>
            <a:spLocks noChangeArrowheads="1"/>
          </p:cNvSpPr>
          <p:nvPr/>
        </p:nvSpPr>
        <p:spPr bwMode="auto">
          <a:xfrm>
            <a:off x="3758117" y="6270625"/>
            <a:ext cx="968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7" name="Rectangle 170"/>
          <p:cNvSpPr>
            <a:spLocks noChangeArrowheads="1"/>
          </p:cNvSpPr>
          <p:nvPr/>
        </p:nvSpPr>
        <p:spPr bwMode="auto">
          <a:xfrm>
            <a:off x="6942642" y="5889625"/>
            <a:ext cx="428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8" name="Rectangle 171"/>
          <p:cNvSpPr>
            <a:spLocks noChangeArrowheads="1"/>
          </p:cNvSpPr>
          <p:nvPr/>
        </p:nvSpPr>
        <p:spPr bwMode="auto">
          <a:xfrm>
            <a:off x="3186617" y="6245225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9" name="Line 172"/>
          <p:cNvSpPr>
            <a:spLocks noChangeShapeType="1"/>
          </p:cNvSpPr>
          <p:nvPr/>
        </p:nvSpPr>
        <p:spPr bwMode="auto">
          <a:xfrm>
            <a:off x="4010530" y="5356225"/>
            <a:ext cx="1587" cy="863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" name="Line 173"/>
          <p:cNvSpPr>
            <a:spLocks noChangeShapeType="1"/>
          </p:cNvSpPr>
          <p:nvPr/>
        </p:nvSpPr>
        <p:spPr bwMode="auto">
          <a:xfrm>
            <a:off x="5445630" y="5356225"/>
            <a:ext cx="1587" cy="863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1" name="Line 174"/>
          <p:cNvSpPr>
            <a:spLocks noChangeShapeType="1"/>
          </p:cNvSpPr>
          <p:nvPr/>
        </p:nvSpPr>
        <p:spPr bwMode="auto">
          <a:xfrm>
            <a:off x="4010530" y="5356225"/>
            <a:ext cx="14351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2" name="Text Box 175"/>
          <p:cNvSpPr txBox="1">
            <a:spLocks noChangeArrowheads="1"/>
          </p:cNvSpPr>
          <p:nvPr/>
        </p:nvSpPr>
        <p:spPr bwMode="auto">
          <a:xfrm>
            <a:off x="3418392" y="273050"/>
            <a:ext cx="36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009900"/>
                </a:solidFill>
                <a:latin typeface="Symbol" panose="05050102010706020507" pitchFamily="18" charset="2"/>
              </a:rPr>
              <a:t>j</a:t>
            </a:r>
          </a:p>
        </p:txBody>
      </p:sp>
      <p:sp>
        <p:nvSpPr>
          <p:cNvPr id="183" name="Rectangle 176"/>
          <p:cNvSpPr>
            <a:spLocks noChangeArrowheads="1"/>
          </p:cNvSpPr>
          <p:nvPr/>
        </p:nvSpPr>
        <p:spPr bwMode="auto">
          <a:xfrm>
            <a:off x="2891342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4" name="Rectangle 177"/>
          <p:cNvSpPr>
            <a:spLocks noChangeArrowheads="1"/>
          </p:cNvSpPr>
          <p:nvPr/>
        </p:nvSpPr>
        <p:spPr bwMode="auto">
          <a:xfrm>
            <a:off x="2891342" y="3409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85" name="Group 178"/>
          <p:cNvGrpSpPr>
            <a:grpSpLocks/>
          </p:cNvGrpSpPr>
          <p:nvPr/>
        </p:nvGrpSpPr>
        <p:grpSpPr bwMode="auto">
          <a:xfrm>
            <a:off x="7587167" y="504825"/>
            <a:ext cx="3790950" cy="625475"/>
            <a:chOff x="2958" y="210"/>
            <a:chExt cx="2388" cy="394"/>
          </a:xfrm>
        </p:grpSpPr>
        <p:sp>
          <p:nvSpPr>
            <p:cNvPr id="186" name="AutoShape 179"/>
            <p:cNvSpPr>
              <a:spLocks/>
            </p:cNvSpPr>
            <p:nvPr/>
          </p:nvSpPr>
          <p:spPr bwMode="auto">
            <a:xfrm>
              <a:off x="2958" y="210"/>
              <a:ext cx="2388" cy="384"/>
            </a:xfrm>
            <a:prstGeom prst="borderCallout2">
              <a:avLst>
                <a:gd name="adj1" fmla="val 18750"/>
                <a:gd name="adj2" fmla="val -2009"/>
                <a:gd name="adj3" fmla="val 18750"/>
                <a:gd name="adj4" fmla="val -38778"/>
                <a:gd name="adj5" fmla="val 89065"/>
                <a:gd name="adj6" fmla="val -100505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 type="stealth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87" name="Object 18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991822"/>
                </p:ext>
              </p:extLst>
            </p:nvPr>
          </p:nvGraphicFramePr>
          <p:xfrm>
            <a:off x="3313" y="229"/>
            <a:ext cx="1031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Équation" r:id="rId2" imgW="1155600" imgH="393480" progId="Equation.3">
                    <p:embed/>
                  </p:oleObj>
                </mc:Choice>
                <mc:Fallback>
                  <p:oleObj name="Équation" r:id="rId2" imgW="1155600" imgH="393480" progId="Equation.3">
                    <p:embed/>
                    <p:pic>
                      <p:nvPicPr>
                        <p:cNvPr id="187" name="Object 1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3" y="229"/>
                          <a:ext cx="1031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8" name="Object 1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9035617"/>
                </p:ext>
              </p:extLst>
            </p:nvPr>
          </p:nvGraphicFramePr>
          <p:xfrm>
            <a:off x="4590" y="243"/>
            <a:ext cx="438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Équation" r:id="rId4" imgW="520560" imgH="431640" progId="Equation.3">
                    <p:embed/>
                  </p:oleObj>
                </mc:Choice>
                <mc:Fallback>
                  <p:oleObj name="Équation" r:id="rId4" imgW="520560" imgH="431640" progId="Equation.3">
                    <p:embed/>
                    <p:pic>
                      <p:nvPicPr>
                        <p:cNvPr id="188" name="Object 1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0" y="243"/>
                          <a:ext cx="438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9" name="Rectangle 182"/>
          <p:cNvSpPr>
            <a:spLocks noChangeArrowheads="1"/>
          </p:cNvSpPr>
          <p:nvPr/>
        </p:nvSpPr>
        <p:spPr bwMode="auto">
          <a:xfrm>
            <a:off x="2891342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90" name="Rectangle 183"/>
          <p:cNvSpPr>
            <a:spLocks noChangeArrowheads="1"/>
          </p:cNvSpPr>
          <p:nvPr/>
        </p:nvSpPr>
        <p:spPr bwMode="auto">
          <a:xfrm>
            <a:off x="2891342" y="3409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91" name="Groupe 190"/>
          <p:cNvGrpSpPr>
            <a:grpSpLocks/>
          </p:cNvGrpSpPr>
          <p:nvPr/>
        </p:nvGrpSpPr>
        <p:grpSpPr bwMode="auto">
          <a:xfrm>
            <a:off x="7598280" y="1627188"/>
            <a:ext cx="3790950" cy="688975"/>
            <a:chOff x="4706938" y="1455738"/>
            <a:chExt cx="3790950" cy="688975"/>
          </a:xfrm>
        </p:grpSpPr>
        <p:sp>
          <p:nvSpPr>
            <p:cNvPr id="192" name="AutoShape 185"/>
            <p:cNvSpPr>
              <a:spLocks/>
            </p:cNvSpPr>
            <p:nvPr/>
          </p:nvSpPr>
          <p:spPr bwMode="auto">
            <a:xfrm>
              <a:off x="4706938" y="1477963"/>
              <a:ext cx="3790950" cy="609600"/>
            </a:xfrm>
            <a:prstGeom prst="borderCallout2">
              <a:avLst>
                <a:gd name="adj1" fmla="val 18750"/>
                <a:gd name="adj2" fmla="val -2009"/>
                <a:gd name="adj3" fmla="val 18750"/>
                <a:gd name="adj4" fmla="val -35551"/>
                <a:gd name="adj5" fmla="val -76565"/>
                <a:gd name="adj6" fmla="val -70352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 type="stealth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93" name="Object 1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6953635"/>
                </p:ext>
              </p:extLst>
            </p:nvPr>
          </p:nvGraphicFramePr>
          <p:xfrm>
            <a:off x="5401758" y="1455738"/>
            <a:ext cx="1085850" cy="633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Équation" r:id="rId6" imgW="672840" imgH="393480" progId="Equation.3">
                    <p:embed/>
                  </p:oleObj>
                </mc:Choice>
                <mc:Fallback>
                  <p:oleObj name="Équation" r:id="rId6" imgW="672840" imgH="393480" progId="Equation.3">
                    <p:embed/>
                    <p:pic>
                      <p:nvPicPr>
                        <p:cNvPr id="193" name="Object 1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1758" y="1455738"/>
                          <a:ext cx="1085850" cy="633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" name="Object 18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7413983"/>
                </p:ext>
              </p:extLst>
            </p:nvPr>
          </p:nvGraphicFramePr>
          <p:xfrm>
            <a:off x="6922583" y="1485900"/>
            <a:ext cx="992188" cy="658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Équation" r:id="rId8" imgW="647640" imgH="431640" progId="Equation.3">
                    <p:embed/>
                  </p:oleObj>
                </mc:Choice>
                <mc:Fallback>
                  <p:oleObj name="Équation" r:id="rId8" imgW="647640" imgH="431640" progId="Equation.3">
                    <p:embed/>
                    <p:pic>
                      <p:nvPicPr>
                        <p:cNvPr id="194" name="Object 1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2583" y="1485900"/>
                          <a:ext cx="992188" cy="658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5" name="Rectangle 283"/>
          <p:cNvSpPr>
            <a:spLocks noChangeArrowheads="1"/>
          </p:cNvSpPr>
          <p:nvPr/>
        </p:nvSpPr>
        <p:spPr bwMode="auto">
          <a:xfrm>
            <a:off x="2891342" y="3505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96" name="Group 284"/>
          <p:cNvGrpSpPr>
            <a:grpSpLocks/>
          </p:cNvGrpSpPr>
          <p:nvPr/>
        </p:nvGrpSpPr>
        <p:grpSpPr bwMode="auto">
          <a:xfrm>
            <a:off x="4129592" y="2017715"/>
            <a:ext cx="1104900" cy="411163"/>
            <a:chOff x="780" y="1163"/>
            <a:chExt cx="696" cy="259"/>
          </a:xfrm>
        </p:grpSpPr>
        <p:graphicFrame>
          <p:nvGraphicFramePr>
            <p:cNvPr id="197" name="Object 2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6767083"/>
                </p:ext>
              </p:extLst>
            </p:nvPr>
          </p:nvGraphicFramePr>
          <p:xfrm>
            <a:off x="782" y="1163"/>
            <a:ext cx="653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Équation" r:id="rId10" imgW="609480" imgH="215640" progId="Equation.3">
                    <p:embed/>
                  </p:oleObj>
                </mc:Choice>
                <mc:Fallback>
                  <p:oleObj name="Équation" r:id="rId10" imgW="609480" imgH="215640" progId="Equation.3">
                    <p:embed/>
                    <p:pic>
                      <p:nvPicPr>
                        <p:cNvPr id="197" name="Object 2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2" y="1163"/>
                          <a:ext cx="653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8" name="AutoShape 286"/>
            <p:cNvSpPr>
              <a:spLocks/>
            </p:cNvSpPr>
            <p:nvPr/>
          </p:nvSpPr>
          <p:spPr bwMode="auto">
            <a:xfrm>
              <a:off x="780" y="1164"/>
              <a:ext cx="696" cy="258"/>
            </a:xfrm>
            <a:prstGeom prst="borderCallout2">
              <a:avLst>
                <a:gd name="adj1" fmla="val 27907"/>
                <a:gd name="adj2" fmla="val -6898"/>
                <a:gd name="adj3" fmla="val 27907"/>
                <a:gd name="adj4" fmla="val -27157"/>
                <a:gd name="adj5" fmla="val 134884"/>
                <a:gd name="adj6" fmla="val -48278"/>
              </a:avLst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199" name="Rectangle 287"/>
          <p:cNvSpPr>
            <a:spLocks noChangeArrowheads="1"/>
          </p:cNvSpPr>
          <p:nvPr/>
        </p:nvSpPr>
        <p:spPr bwMode="auto">
          <a:xfrm>
            <a:off x="2891342" y="171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00" name="AutoShape 289"/>
          <p:cNvSpPr>
            <a:spLocks/>
          </p:cNvSpPr>
          <p:nvPr/>
        </p:nvSpPr>
        <p:spPr bwMode="auto">
          <a:xfrm>
            <a:off x="5391655" y="3514725"/>
            <a:ext cx="1166812" cy="361950"/>
          </a:xfrm>
          <a:prstGeom prst="borderCallout1">
            <a:avLst>
              <a:gd name="adj1" fmla="val 31579"/>
              <a:gd name="adj2" fmla="val -7079"/>
              <a:gd name="adj3" fmla="val 115792"/>
              <a:gd name="adj4" fmla="val -72565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aphicFrame>
        <p:nvGraphicFramePr>
          <p:cNvPr id="201" name="Object 2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858603"/>
              </p:ext>
            </p:extLst>
          </p:nvPr>
        </p:nvGraphicFramePr>
        <p:xfrm>
          <a:off x="5411788" y="3524250"/>
          <a:ext cx="1189037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12" imgW="761760" imgH="215640" progId="Equation.3">
                  <p:embed/>
                </p:oleObj>
              </mc:Choice>
              <mc:Fallback>
                <p:oleObj name="Équation" r:id="rId12" imgW="761760" imgH="215640" progId="Equation.3">
                  <p:embed/>
                  <p:pic>
                    <p:nvPicPr>
                      <p:cNvPr id="201" name="Object 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1788" y="3524250"/>
                        <a:ext cx="1189037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" name="Line 291"/>
          <p:cNvSpPr>
            <a:spLocks noChangeShapeType="1"/>
          </p:cNvSpPr>
          <p:nvPr/>
        </p:nvSpPr>
        <p:spPr bwMode="auto">
          <a:xfrm flipH="1">
            <a:off x="3138992" y="5353050"/>
            <a:ext cx="3819525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3" name="Rectangle 292"/>
          <p:cNvSpPr>
            <a:spLocks noChangeArrowheads="1"/>
          </p:cNvSpPr>
          <p:nvPr/>
        </p:nvSpPr>
        <p:spPr bwMode="auto">
          <a:xfrm>
            <a:off x="2891342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204" name="Group 293"/>
          <p:cNvGrpSpPr>
            <a:grpSpLocks/>
          </p:cNvGrpSpPr>
          <p:nvPr/>
        </p:nvGrpSpPr>
        <p:grpSpPr bwMode="auto">
          <a:xfrm>
            <a:off x="5644067" y="4829175"/>
            <a:ext cx="1314450" cy="533400"/>
            <a:chOff x="1734" y="2934"/>
            <a:chExt cx="828" cy="336"/>
          </a:xfrm>
        </p:grpSpPr>
        <p:graphicFrame>
          <p:nvGraphicFramePr>
            <p:cNvPr id="205" name="Object 294"/>
            <p:cNvGraphicFramePr>
              <a:graphicFrameLocks noChangeAspect="1"/>
            </p:cNvGraphicFramePr>
            <p:nvPr/>
          </p:nvGraphicFramePr>
          <p:xfrm>
            <a:off x="1776" y="2938"/>
            <a:ext cx="738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837836" imgH="342751" progId="Equation.3">
                    <p:embed/>
                  </p:oleObj>
                </mc:Choice>
                <mc:Fallback>
                  <p:oleObj name="Equation" r:id="rId14" imgW="837836" imgH="342751" progId="Equation.3">
                    <p:embed/>
                    <p:pic>
                      <p:nvPicPr>
                        <p:cNvPr id="205" name="Object 2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2938"/>
                          <a:ext cx="738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" name="AutoShape 295"/>
            <p:cNvSpPr>
              <a:spLocks/>
            </p:cNvSpPr>
            <p:nvPr/>
          </p:nvSpPr>
          <p:spPr bwMode="auto">
            <a:xfrm>
              <a:off x="1734" y="2934"/>
              <a:ext cx="828" cy="336"/>
            </a:xfrm>
            <a:prstGeom prst="borderCallout2">
              <a:avLst>
                <a:gd name="adj1" fmla="val 21431"/>
                <a:gd name="adj2" fmla="val -5796"/>
                <a:gd name="adj3" fmla="val 21431"/>
                <a:gd name="adj4" fmla="val -20046"/>
                <a:gd name="adj5" fmla="val 91069"/>
                <a:gd name="adj6" fmla="val -34782"/>
              </a:avLst>
            </a:prstGeom>
            <a:noFill/>
            <a:ln w="9525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207" name="Line 296"/>
          <p:cNvSpPr>
            <a:spLocks noChangeShapeType="1"/>
          </p:cNvSpPr>
          <p:nvPr/>
        </p:nvSpPr>
        <p:spPr bwMode="auto">
          <a:xfrm>
            <a:off x="3291392" y="5591175"/>
            <a:ext cx="70485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8" name="Line 297"/>
          <p:cNvSpPr>
            <a:spLocks noChangeShapeType="1"/>
          </p:cNvSpPr>
          <p:nvPr/>
        </p:nvSpPr>
        <p:spPr bwMode="auto">
          <a:xfrm>
            <a:off x="3996242" y="5591175"/>
            <a:ext cx="0" cy="1038225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9" name="Line 298"/>
          <p:cNvSpPr>
            <a:spLocks noChangeShapeType="1"/>
          </p:cNvSpPr>
          <p:nvPr/>
        </p:nvSpPr>
        <p:spPr bwMode="auto">
          <a:xfrm>
            <a:off x="3986717" y="6629400"/>
            <a:ext cx="144780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0" name="Line 299"/>
          <p:cNvSpPr>
            <a:spLocks noChangeShapeType="1"/>
          </p:cNvSpPr>
          <p:nvPr/>
        </p:nvSpPr>
        <p:spPr bwMode="auto">
          <a:xfrm flipV="1">
            <a:off x="5434517" y="5581650"/>
            <a:ext cx="19050" cy="104775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1" name="Line 300"/>
          <p:cNvSpPr>
            <a:spLocks noChangeShapeType="1"/>
          </p:cNvSpPr>
          <p:nvPr/>
        </p:nvSpPr>
        <p:spPr bwMode="auto">
          <a:xfrm>
            <a:off x="5453567" y="5591175"/>
            <a:ext cx="78105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2" name="Text Box 301"/>
          <p:cNvSpPr txBox="1">
            <a:spLocks noChangeArrowheads="1"/>
          </p:cNvSpPr>
          <p:nvPr/>
        </p:nvSpPr>
        <p:spPr bwMode="auto">
          <a:xfrm>
            <a:off x="5856792" y="54864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aseline="-25000">
                <a:solidFill>
                  <a:srgbClr val="0099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13" name="Text Box 302"/>
          <p:cNvSpPr txBox="1">
            <a:spLocks noChangeArrowheads="1"/>
          </p:cNvSpPr>
          <p:nvPr/>
        </p:nvSpPr>
        <p:spPr bwMode="auto">
          <a:xfrm>
            <a:off x="3019930" y="54117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Times New Roman" panose="02020603050405020304" pitchFamily="18" charset="0"/>
              </a:rPr>
              <a:t>E</a:t>
            </a:r>
            <a:endParaRPr lang="fr-FR" altLang="fr-FR" sz="1800" baseline="-2500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4" name="Rectangle 303"/>
          <p:cNvSpPr>
            <a:spLocks noChangeArrowheads="1"/>
          </p:cNvSpPr>
          <p:nvPr/>
        </p:nvSpPr>
        <p:spPr bwMode="auto">
          <a:xfrm>
            <a:off x="2891342" y="171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aphicFrame>
        <p:nvGraphicFramePr>
          <p:cNvPr id="215" name="Object 3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507959"/>
              </p:ext>
            </p:extLst>
          </p:nvPr>
        </p:nvGraphicFramePr>
        <p:xfrm>
          <a:off x="2891342" y="6389688"/>
          <a:ext cx="4286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17225" imgH="342603" progId="Equation.3">
                  <p:embed/>
                </p:oleObj>
              </mc:Choice>
              <mc:Fallback>
                <p:oleObj name="Equation" r:id="rId16" imgW="317225" imgH="342603" progId="Equation.3">
                  <p:embed/>
                  <p:pic>
                    <p:nvPicPr>
                      <p:cNvPr id="215" name="Object 3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342" y="6389688"/>
                        <a:ext cx="4286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" name="Line 305"/>
          <p:cNvSpPr>
            <a:spLocks noChangeShapeType="1"/>
          </p:cNvSpPr>
          <p:nvPr/>
        </p:nvSpPr>
        <p:spPr bwMode="auto">
          <a:xfrm flipH="1">
            <a:off x="3291392" y="6610350"/>
            <a:ext cx="695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7" name="Rectangle 306"/>
          <p:cNvSpPr>
            <a:spLocks noChangeArrowheads="1"/>
          </p:cNvSpPr>
          <p:nvPr/>
        </p:nvSpPr>
        <p:spPr bwMode="auto">
          <a:xfrm>
            <a:off x="2891342" y="3505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aphicFrame>
        <p:nvGraphicFramePr>
          <p:cNvPr id="218" name="Object 3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542988"/>
              </p:ext>
            </p:extLst>
          </p:nvPr>
        </p:nvGraphicFramePr>
        <p:xfrm>
          <a:off x="7520492" y="5372100"/>
          <a:ext cx="9874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33169" imgH="190417" progId="Equation.3">
                  <p:embed/>
                </p:oleObj>
              </mc:Choice>
              <mc:Fallback>
                <p:oleObj name="Equation" r:id="rId18" imgW="533169" imgH="190417" progId="Equation.3">
                  <p:embed/>
                  <p:pic>
                    <p:nvPicPr>
                      <p:cNvPr id="218" name="Object 3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0492" y="5372100"/>
                        <a:ext cx="9874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" name="Rectangle 308"/>
          <p:cNvSpPr>
            <a:spLocks noChangeArrowheads="1"/>
          </p:cNvSpPr>
          <p:nvPr/>
        </p:nvSpPr>
        <p:spPr bwMode="auto">
          <a:xfrm>
            <a:off x="2891342" y="3395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aphicFrame>
        <p:nvGraphicFramePr>
          <p:cNvPr id="220" name="Object 3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119341"/>
              </p:ext>
            </p:extLst>
          </p:nvPr>
        </p:nvGraphicFramePr>
        <p:xfrm>
          <a:off x="8692067" y="5186363"/>
          <a:ext cx="322897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81200" imgH="406400" progId="Equation.3">
                  <p:embed/>
                </p:oleObj>
              </mc:Choice>
              <mc:Fallback>
                <p:oleObj name="Equation" r:id="rId20" imgW="1981200" imgH="406400" progId="Equation.3">
                  <p:embed/>
                  <p:pic>
                    <p:nvPicPr>
                      <p:cNvPr id="220" name="Object 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2067" y="5186363"/>
                        <a:ext cx="3228975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" name="Rectangle 310"/>
          <p:cNvSpPr>
            <a:spLocks noChangeArrowheads="1"/>
          </p:cNvSpPr>
          <p:nvPr/>
        </p:nvSpPr>
        <p:spPr bwMode="auto">
          <a:xfrm>
            <a:off x="2891342" y="3414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222" name="Group 311"/>
          <p:cNvGrpSpPr>
            <a:grpSpLocks/>
          </p:cNvGrpSpPr>
          <p:nvPr/>
        </p:nvGrpSpPr>
        <p:grpSpPr bwMode="auto">
          <a:xfrm>
            <a:off x="8479125" y="5871490"/>
            <a:ext cx="1666875" cy="795337"/>
            <a:chOff x="4044" y="3591"/>
            <a:chExt cx="1050" cy="501"/>
          </a:xfrm>
        </p:grpSpPr>
        <p:sp>
          <p:nvSpPr>
            <p:cNvPr id="223" name="Rectangle 312"/>
            <p:cNvSpPr>
              <a:spLocks noChangeArrowheads="1"/>
            </p:cNvSpPr>
            <p:nvPr/>
          </p:nvSpPr>
          <p:spPr bwMode="auto">
            <a:xfrm>
              <a:off x="4044" y="3642"/>
              <a:ext cx="1050" cy="45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24" name="Object 313"/>
            <p:cNvGraphicFramePr>
              <a:graphicFrameLocks noChangeAspect="1"/>
            </p:cNvGraphicFramePr>
            <p:nvPr/>
          </p:nvGraphicFramePr>
          <p:xfrm>
            <a:off x="4060" y="3591"/>
            <a:ext cx="1022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774364" imgH="368140" progId="Equation.3">
                    <p:embed/>
                  </p:oleObj>
                </mc:Choice>
                <mc:Fallback>
                  <p:oleObj name="Equation" r:id="rId22" imgW="774364" imgH="368140" progId="Equation.3">
                    <p:embed/>
                    <p:pic>
                      <p:nvPicPr>
                        <p:cNvPr id="224" name="Object 3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0" y="3591"/>
                          <a:ext cx="1022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" name="Text Box 314"/>
          <p:cNvSpPr txBox="1">
            <a:spLocks noChangeArrowheads="1"/>
          </p:cNvSpPr>
          <p:nvPr/>
        </p:nvSpPr>
        <p:spPr bwMode="auto">
          <a:xfrm>
            <a:off x="8476167" y="4783280"/>
            <a:ext cx="27114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 dirty="0">
                <a:solidFill>
                  <a:srgbClr val="009900"/>
                </a:solidFill>
                <a:latin typeface="Times New Roman" panose="02020603050405020304" pitchFamily="18" charset="0"/>
              </a:rPr>
              <a:t>Output voltage calculation</a:t>
            </a:r>
          </a:p>
        </p:txBody>
      </p:sp>
      <p:sp>
        <p:nvSpPr>
          <p:cNvPr id="327" name="ZoneTexte 326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05C6AFC-56A5-DEF3-0319-0083C445860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05" y="2766506"/>
            <a:ext cx="4957762" cy="1787238"/>
          </a:xfrm>
          <a:prstGeom prst="rect">
            <a:avLst/>
          </a:prstGeom>
        </p:spPr>
      </p:pic>
      <p:sp>
        <p:nvSpPr>
          <p:cNvPr id="4" name="Line 164">
            <a:extLst>
              <a:ext uri="{FF2B5EF4-FFF2-40B4-BE49-F238E27FC236}">
                <a16:creationId xmlns:a16="http://schemas.microsoft.com/office/drawing/2014/main" id="{E509A5D4-1E59-AA40-EE11-72A04C514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0531" y="3713163"/>
            <a:ext cx="0" cy="749299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164">
            <a:extLst>
              <a:ext uri="{FF2B5EF4-FFF2-40B4-BE49-F238E27FC236}">
                <a16:creationId xmlns:a16="http://schemas.microsoft.com/office/drawing/2014/main" id="{824359ED-3041-4EC0-6BA6-AEBE00AC615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91176" y="4464050"/>
            <a:ext cx="700303" cy="4761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7" name="Line 164">
            <a:extLst>
              <a:ext uri="{FF2B5EF4-FFF2-40B4-BE49-F238E27FC236}">
                <a16:creationId xmlns:a16="http://schemas.microsoft.com/office/drawing/2014/main" id="{CFA4A3B4-81B5-2DFC-34D4-C04E89A9147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31846" y="4453734"/>
            <a:ext cx="700303" cy="4761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06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 animBg="1"/>
      <p:bldP spid="2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42F7F617-CEB1-33A1-E63C-CE804DA62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491" y="3679431"/>
            <a:ext cx="5631296" cy="203004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E72D334-CE76-C905-662B-481BCE321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075" y="1194171"/>
            <a:ext cx="5631296" cy="203004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6268884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Demagnetization issue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02"/>
          <p:cNvSpPr>
            <a:spLocks/>
          </p:cNvSpPr>
          <p:nvPr/>
        </p:nvSpPr>
        <p:spPr bwMode="auto">
          <a:xfrm>
            <a:off x="3079012" y="1572989"/>
            <a:ext cx="871538" cy="1500188"/>
          </a:xfrm>
          <a:custGeom>
            <a:avLst/>
            <a:gdLst>
              <a:gd name="T0" fmla="*/ 0 w 39000"/>
              <a:gd name="T1" fmla="*/ 0 h 41809"/>
              <a:gd name="T2" fmla="*/ 0 w 39000"/>
              <a:gd name="T3" fmla="*/ 0 h 41809"/>
              <a:gd name="T4" fmla="*/ 0 w 39000"/>
              <a:gd name="T5" fmla="*/ 0 h 418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000" h="41809" fill="none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</a:path>
              <a:path w="39000" h="41809" stroke="0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  <a:lnTo>
                  <a:pt x="17400" y="21600"/>
                </a:lnTo>
                <a:lnTo>
                  <a:pt x="-1" y="8801"/>
                </a:lnTo>
                <a:close/>
              </a:path>
            </a:pathLst>
          </a:custGeom>
          <a:noFill/>
          <a:ln w="3175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Arc 205"/>
          <p:cNvSpPr>
            <a:spLocks/>
          </p:cNvSpPr>
          <p:nvPr/>
        </p:nvSpPr>
        <p:spPr bwMode="auto">
          <a:xfrm rot="15952817">
            <a:off x="5994157" y="3694098"/>
            <a:ext cx="871436" cy="1500114"/>
          </a:xfrm>
          <a:custGeom>
            <a:avLst/>
            <a:gdLst>
              <a:gd name="T0" fmla="*/ 0 w 39000"/>
              <a:gd name="T1" fmla="*/ 2147483646 h 41809"/>
              <a:gd name="T2" fmla="*/ 2147483646 w 39000"/>
              <a:gd name="T3" fmla="*/ 2147483646 h 41809"/>
              <a:gd name="T4" fmla="*/ 2147483646 w 39000"/>
              <a:gd name="T5" fmla="*/ 2147483646 h 418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000" h="41809" fill="none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</a:path>
              <a:path w="39000" h="41809" stroke="0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  <a:lnTo>
                  <a:pt x="17400" y="21600"/>
                </a:lnTo>
                <a:lnTo>
                  <a:pt x="-1" y="8801"/>
                </a:lnTo>
                <a:close/>
              </a:path>
            </a:pathLst>
          </a:custGeom>
          <a:noFill/>
          <a:ln w="31750">
            <a:solidFill>
              <a:srgbClr val="FF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4682183" y="2888511"/>
            <a:ext cx="1653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CA" altLang="fr-FR" b="1" dirty="0">
                <a:solidFill>
                  <a:srgbClr val="0033CC"/>
                </a:solidFill>
                <a:latin typeface="Times New Roman" panose="02020603050405020304" pitchFamily="18" charset="0"/>
              </a:rPr>
              <a:t>Energy storing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99884" y="5351721"/>
            <a:ext cx="1982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CA" altLang="fr-FR" b="1" dirty="0">
                <a:solidFill>
                  <a:srgbClr val="FF3300"/>
                </a:solidFill>
                <a:latin typeface="Times New Roman" panose="02020603050405020304" pitchFamily="18" charset="0"/>
              </a:rPr>
              <a:t>Energy restitution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8224380" y="802015"/>
            <a:ext cx="36791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Warning:</a:t>
            </a:r>
          </a:p>
          <a:p>
            <a:endParaRPr lang="en-US" sz="2400" dirty="0"/>
          </a:p>
          <a:p>
            <a:r>
              <a:rPr lang="en-US" sz="2400" dirty="0"/>
              <a:t>If no load connected</a:t>
            </a:r>
          </a:p>
          <a:p>
            <a:r>
              <a:rPr lang="en-US" sz="2400" dirty="0"/>
              <a:t>-&gt; Output capacitor never discharges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-&gt; Issue</a:t>
            </a:r>
          </a:p>
        </p:txBody>
      </p:sp>
      <p:grpSp>
        <p:nvGrpSpPr>
          <p:cNvPr id="10" name="Groupe 9"/>
          <p:cNvGrpSpPr/>
          <p:nvPr/>
        </p:nvGrpSpPr>
        <p:grpSpPr>
          <a:xfrm>
            <a:off x="7897657" y="3577720"/>
            <a:ext cx="3921125" cy="2440728"/>
            <a:chOff x="7897657" y="3577720"/>
            <a:chExt cx="3921125" cy="2440728"/>
          </a:xfrm>
        </p:grpSpPr>
        <p:grpSp>
          <p:nvGrpSpPr>
            <p:cNvPr id="226" name="Group 5"/>
            <p:cNvGrpSpPr>
              <a:grpSpLocks/>
            </p:cNvGrpSpPr>
            <p:nvPr/>
          </p:nvGrpSpPr>
          <p:grpSpPr bwMode="auto">
            <a:xfrm>
              <a:off x="7961157" y="3624831"/>
              <a:ext cx="76200" cy="1946280"/>
              <a:chOff x="226" y="-322"/>
              <a:chExt cx="48" cy="1226"/>
            </a:xfrm>
          </p:grpSpPr>
          <p:sp>
            <p:nvSpPr>
              <p:cNvPr id="227" name="Freeform 6"/>
              <p:cNvSpPr>
                <a:spLocks/>
              </p:cNvSpPr>
              <p:nvPr/>
            </p:nvSpPr>
            <p:spPr bwMode="auto">
              <a:xfrm>
                <a:off x="226" y="-322"/>
                <a:ext cx="48" cy="88"/>
              </a:xfrm>
              <a:custGeom>
                <a:avLst/>
                <a:gdLst>
                  <a:gd name="T0" fmla="*/ 24 w 48"/>
                  <a:gd name="T1" fmla="*/ 0 h 88"/>
                  <a:gd name="T2" fmla="*/ 48 w 48"/>
                  <a:gd name="T3" fmla="*/ 88 h 88"/>
                  <a:gd name="T4" fmla="*/ 24 w 48"/>
                  <a:gd name="T5" fmla="*/ 88 h 88"/>
                  <a:gd name="T6" fmla="*/ 0 w 48"/>
                  <a:gd name="T7" fmla="*/ 88 h 88"/>
                  <a:gd name="T8" fmla="*/ 24 w 48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88">
                    <a:moveTo>
                      <a:pt x="24" y="0"/>
                    </a:moveTo>
                    <a:lnTo>
                      <a:pt x="48" y="88"/>
                    </a:lnTo>
                    <a:lnTo>
                      <a:pt x="24" y="88"/>
                    </a:lnTo>
                    <a:lnTo>
                      <a:pt x="0" y="88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28" name="Line 7"/>
              <p:cNvSpPr>
                <a:spLocks noChangeShapeType="1"/>
              </p:cNvSpPr>
              <p:nvPr/>
            </p:nvSpPr>
            <p:spPr bwMode="auto">
              <a:xfrm>
                <a:off x="251" y="-234"/>
                <a:ext cx="0" cy="11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29" name="Group 8"/>
            <p:cNvGrpSpPr>
              <a:grpSpLocks/>
            </p:cNvGrpSpPr>
            <p:nvPr/>
          </p:nvGrpSpPr>
          <p:grpSpPr bwMode="auto">
            <a:xfrm>
              <a:off x="7935757" y="5456810"/>
              <a:ext cx="3883025" cy="76200"/>
              <a:chOff x="210" y="832"/>
              <a:chExt cx="2446" cy="48"/>
            </a:xfrm>
          </p:grpSpPr>
          <p:sp>
            <p:nvSpPr>
              <p:cNvPr id="230" name="Freeform 9"/>
              <p:cNvSpPr>
                <a:spLocks/>
              </p:cNvSpPr>
              <p:nvPr/>
            </p:nvSpPr>
            <p:spPr bwMode="auto">
              <a:xfrm>
                <a:off x="2568" y="832"/>
                <a:ext cx="88" cy="48"/>
              </a:xfrm>
              <a:custGeom>
                <a:avLst/>
                <a:gdLst>
                  <a:gd name="T0" fmla="*/ 88 w 88"/>
                  <a:gd name="T1" fmla="*/ 24 h 48"/>
                  <a:gd name="T2" fmla="*/ 0 w 88"/>
                  <a:gd name="T3" fmla="*/ 48 h 48"/>
                  <a:gd name="T4" fmla="*/ 0 w 88"/>
                  <a:gd name="T5" fmla="*/ 24 h 48"/>
                  <a:gd name="T6" fmla="*/ 0 w 88"/>
                  <a:gd name="T7" fmla="*/ 0 h 48"/>
                  <a:gd name="T8" fmla="*/ 88 w 88"/>
                  <a:gd name="T9" fmla="*/ 2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" h="48">
                    <a:moveTo>
                      <a:pt x="88" y="24"/>
                    </a:moveTo>
                    <a:lnTo>
                      <a:pt x="0" y="48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88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1" name="Line 10"/>
              <p:cNvSpPr>
                <a:spLocks noChangeShapeType="1"/>
              </p:cNvSpPr>
              <p:nvPr/>
            </p:nvSpPr>
            <p:spPr bwMode="auto">
              <a:xfrm>
                <a:off x="210" y="856"/>
                <a:ext cx="235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33" name="Line 12"/>
            <p:cNvSpPr>
              <a:spLocks noChangeShapeType="1"/>
            </p:cNvSpPr>
            <p:nvPr/>
          </p:nvSpPr>
          <p:spPr bwMode="auto">
            <a:xfrm>
              <a:off x="7999258" y="5241401"/>
              <a:ext cx="436210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40" name="Rectangle 123"/>
            <p:cNvSpPr>
              <a:spLocks noChangeArrowheads="1"/>
            </p:cNvSpPr>
            <p:nvPr/>
          </p:nvSpPr>
          <p:spPr bwMode="auto">
            <a:xfrm>
              <a:off x="11653682" y="5164710"/>
              <a:ext cx="4286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41" name="Rectangle 124"/>
            <p:cNvSpPr>
              <a:spLocks noChangeArrowheads="1"/>
            </p:cNvSpPr>
            <p:nvPr/>
          </p:nvSpPr>
          <p:spPr bwMode="auto">
            <a:xfrm>
              <a:off x="7897657" y="5533010"/>
              <a:ext cx="762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42" name="Text Box 175"/>
            <p:cNvSpPr txBox="1">
              <a:spLocks noChangeArrowheads="1"/>
            </p:cNvSpPr>
            <p:nvPr/>
          </p:nvSpPr>
          <p:spPr bwMode="auto">
            <a:xfrm>
              <a:off x="7999257" y="3577720"/>
              <a:ext cx="43621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400" b="1" dirty="0">
                  <a:solidFill>
                    <a:srgbClr val="009900"/>
                  </a:solidFill>
                  <a:latin typeface="+mn-lt"/>
                </a:rPr>
                <a:t>V</a:t>
              </a:r>
              <a:r>
                <a:rPr lang="fr-FR" altLang="fr-FR" sz="2400" b="1" baseline="-25000" dirty="0">
                  <a:solidFill>
                    <a:srgbClr val="009900"/>
                  </a:solidFill>
                  <a:latin typeface="+mn-lt"/>
                </a:rPr>
                <a:t>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ZoneTexte 6"/>
                <p:cNvSpPr txBox="1"/>
                <p:nvPr/>
              </p:nvSpPr>
              <p:spPr>
                <a:xfrm>
                  <a:off x="8204307" y="5502666"/>
                  <a:ext cx="29623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7" name="ZoneTexte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4307" y="5502666"/>
                  <a:ext cx="296235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16667" r="-14583" b="-5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" name="ZoneTexte 244"/>
                <p:cNvSpPr txBox="1"/>
                <p:nvPr/>
              </p:nvSpPr>
              <p:spPr>
                <a:xfrm>
                  <a:off x="8916710" y="5526005"/>
                  <a:ext cx="17280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245" name="ZoneTexte 2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710" y="5526005"/>
                  <a:ext cx="172804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28571" r="-25000" b="-487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ZoneTexte 245"/>
                <p:cNvSpPr txBox="1"/>
                <p:nvPr/>
              </p:nvSpPr>
              <p:spPr>
                <a:xfrm>
                  <a:off x="9130205" y="5509548"/>
                  <a:ext cx="450123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fr-FR" sz="16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246" name="ZoneTexte 2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0205" y="5509548"/>
                  <a:ext cx="450123" cy="492443"/>
                </a:xfrm>
                <a:prstGeom prst="rect">
                  <a:avLst/>
                </a:prstGeom>
                <a:blipFill>
                  <a:blip r:embed="rId5"/>
                  <a:stretch>
                    <a:fillRect l="-9459" r="-8108" b="-123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ZoneTexte 246"/>
                <p:cNvSpPr txBox="1"/>
                <p:nvPr/>
              </p:nvSpPr>
              <p:spPr>
                <a:xfrm>
                  <a:off x="9870661" y="5531522"/>
                  <a:ext cx="28661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247" name="ZoneTexte 2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0661" y="5531522"/>
                  <a:ext cx="286617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14894" r="-14894" b="-487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8" name="Line 11"/>
            <p:cNvSpPr>
              <a:spLocks noChangeShapeType="1"/>
            </p:cNvSpPr>
            <p:nvPr/>
          </p:nvSpPr>
          <p:spPr bwMode="auto">
            <a:xfrm flipV="1">
              <a:off x="8392081" y="4960111"/>
              <a:ext cx="642356" cy="281289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9" name="Line 12"/>
            <p:cNvSpPr>
              <a:spLocks noChangeShapeType="1"/>
            </p:cNvSpPr>
            <p:nvPr/>
          </p:nvSpPr>
          <p:spPr bwMode="auto">
            <a:xfrm>
              <a:off x="9025547" y="4954879"/>
              <a:ext cx="347053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0" name="Line 11"/>
            <p:cNvSpPr>
              <a:spLocks noChangeShapeType="1"/>
            </p:cNvSpPr>
            <p:nvPr/>
          </p:nvSpPr>
          <p:spPr bwMode="auto">
            <a:xfrm flipV="1">
              <a:off x="9372600" y="4686455"/>
              <a:ext cx="692458" cy="268424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1" name="Line 12"/>
            <p:cNvSpPr>
              <a:spLocks noChangeShapeType="1"/>
            </p:cNvSpPr>
            <p:nvPr/>
          </p:nvSpPr>
          <p:spPr bwMode="auto">
            <a:xfrm>
              <a:off x="10054029" y="4688506"/>
              <a:ext cx="353621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2" name="Line 11"/>
            <p:cNvSpPr>
              <a:spLocks noChangeShapeType="1"/>
            </p:cNvSpPr>
            <p:nvPr/>
          </p:nvSpPr>
          <p:spPr bwMode="auto">
            <a:xfrm flipV="1">
              <a:off x="10412111" y="4411446"/>
              <a:ext cx="680318" cy="279111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ZoneTexte 252"/>
                <p:cNvSpPr txBox="1"/>
                <p:nvPr/>
              </p:nvSpPr>
              <p:spPr>
                <a:xfrm>
                  <a:off x="10181504" y="5526005"/>
                  <a:ext cx="450123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fr-FR" sz="16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253" name="ZoneTexte 2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1504" y="5526005"/>
                  <a:ext cx="450123" cy="492443"/>
                </a:xfrm>
                <a:prstGeom prst="rect">
                  <a:avLst/>
                </a:prstGeom>
                <a:blipFill>
                  <a:blip r:embed="rId7"/>
                  <a:stretch>
                    <a:fillRect l="-8108" r="-9459" b="-246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ZoneTexte 253"/>
                <p:cNvSpPr txBox="1"/>
                <p:nvPr/>
              </p:nvSpPr>
              <p:spPr>
                <a:xfrm>
                  <a:off x="10874623" y="5516806"/>
                  <a:ext cx="28661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254" name="ZoneTexte 2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623" y="5516806"/>
                  <a:ext cx="286617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17021" r="-12766" b="-5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2" name="ZoneTexte 261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Arc 206">
            <a:extLst>
              <a:ext uri="{FF2B5EF4-FFF2-40B4-BE49-F238E27FC236}">
                <a16:creationId xmlns:a16="http://schemas.microsoft.com/office/drawing/2014/main" id="{363CCC6B-27E8-4017-20FA-01E130EE37B6}"/>
              </a:ext>
            </a:extLst>
          </p:cNvPr>
          <p:cNvSpPr>
            <a:spLocks/>
          </p:cNvSpPr>
          <p:nvPr/>
        </p:nvSpPr>
        <p:spPr bwMode="auto">
          <a:xfrm rot="15952817" flipH="1">
            <a:off x="4161100" y="4326633"/>
            <a:ext cx="699216" cy="339029"/>
          </a:xfrm>
          <a:custGeom>
            <a:avLst/>
            <a:gdLst>
              <a:gd name="T0" fmla="*/ 0 w 39000"/>
              <a:gd name="T1" fmla="*/ 2147483646 h 41809"/>
              <a:gd name="T2" fmla="*/ 2147483646 w 39000"/>
              <a:gd name="T3" fmla="*/ 2147483646 h 41809"/>
              <a:gd name="T4" fmla="*/ 2147483646 w 39000"/>
              <a:gd name="T5" fmla="*/ 2147483646 h 418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000" h="41809" fill="none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</a:path>
              <a:path w="39000" h="41809" stroke="0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  <a:lnTo>
                  <a:pt x="17400" y="21600"/>
                </a:lnTo>
                <a:lnTo>
                  <a:pt x="-1" y="8801"/>
                </a:lnTo>
                <a:close/>
              </a:path>
            </a:pathLst>
          </a:custGeom>
          <a:noFill/>
          <a:ln w="31750">
            <a:solidFill>
              <a:srgbClr val="FF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2925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Image 328">
            <a:extLst>
              <a:ext uri="{FF2B5EF4-FFF2-40B4-BE49-F238E27FC236}">
                <a16:creationId xmlns:a16="http://schemas.microsoft.com/office/drawing/2014/main" id="{C6FD85F0-C4A1-C65E-EE78-C628BBE85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376" y="868648"/>
            <a:ext cx="5504447" cy="1984314"/>
          </a:xfrm>
          <a:prstGeom prst="rect">
            <a:avLst/>
          </a:prstGeom>
        </p:spPr>
      </p:pic>
      <p:pic>
        <p:nvPicPr>
          <p:cNvPr id="328" name="Image 327">
            <a:extLst>
              <a:ext uri="{FF2B5EF4-FFF2-40B4-BE49-F238E27FC236}">
                <a16:creationId xmlns:a16="http://schemas.microsoft.com/office/drawing/2014/main" id="{C6450099-DAE7-94C2-AC9A-209A620CE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375" y="2825686"/>
            <a:ext cx="5504447" cy="19843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6684520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Discontinuous mode: behavior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99"/>
          <p:cNvSpPr txBox="1">
            <a:spLocks noChangeArrowheads="1"/>
          </p:cNvSpPr>
          <p:nvPr/>
        </p:nvSpPr>
        <p:spPr bwMode="auto">
          <a:xfrm>
            <a:off x="8126042" y="1084622"/>
            <a:ext cx="28289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latin typeface="Times New Roman" panose="02020603050405020304" pitchFamily="18" charset="0"/>
              </a:rPr>
              <a:t>0 &lt; t &lt; </a:t>
            </a:r>
            <a:r>
              <a:rPr lang="en-CA" altLang="fr-FR" sz="1800" b="1" dirty="0" err="1">
                <a:latin typeface="Symbol" panose="05050102010706020507" pitchFamily="18" charset="2"/>
              </a:rPr>
              <a:t>a</a:t>
            </a:r>
            <a:r>
              <a:rPr lang="en-CA" altLang="fr-FR" sz="1800" b="1" dirty="0" err="1">
                <a:latin typeface="Times New Roman" panose="02020603050405020304" pitchFamily="18" charset="0"/>
              </a:rPr>
              <a:t>T</a:t>
            </a:r>
            <a:r>
              <a:rPr lang="en-CA" altLang="fr-FR" sz="1800" b="1" dirty="0">
                <a:latin typeface="Times New Roman" panose="02020603050405020304" pitchFamily="18" charset="0"/>
              </a:rPr>
              <a:t> : </a:t>
            </a:r>
            <a:r>
              <a:rPr lang="en-CA" altLang="fr-FR" sz="1800" b="1" dirty="0" err="1">
                <a:latin typeface="Times New Roman" panose="02020603050405020304" pitchFamily="18" charset="0"/>
              </a:rPr>
              <a:t>T</a:t>
            </a:r>
            <a:r>
              <a:rPr lang="en-CA" altLang="fr-FR" sz="1800" b="1" baseline="-25000" dirty="0" err="1">
                <a:latin typeface="Times New Roman" panose="02020603050405020304" pitchFamily="18" charset="0"/>
              </a:rPr>
              <a:t>p</a:t>
            </a:r>
            <a:r>
              <a:rPr lang="en-CA" altLang="fr-FR" sz="1800" b="1" dirty="0">
                <a:latin typeface="Times New Roman" panose="02020603050405020304" pitchFamily="18" charset="0"/>
              </a:rPr>
              <a:t> closed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latin typeface="Times New Roman" panose="02020603050405020304" pitchFamily="18" charset="0"/>
              </a:rPr>
              <a:t>=&gt; v</a:t>
            </a:r>
            <a:r>
              <a:rPr lang="en-CA" altLang="fr-FR" sz="1800" b="1" baseline="-25000" dirty="0">
                <a:latin typeface="Times New Roman" panose="02020603050405020304" pitchFamily="18" charset="0"/>
              </a:rPr>
              <a:t>1</a:t>
            </a:r>
            <a:r>
              <a:rPr lang="en-CA" altLang="fr-FR" sz="1800" b="1" dirty="0">
                <a:latin typeface="Times New Roman" panose="02020603050405020304" pitchFamily="18" charset="0"/>
              </a:rPr>
              <a:t> = E =&gt; v</a:t>
            </a:r>
            <a:r>
              <a:rPr lang="en-CA" altLang="fr-FR" sz="1800" b="1" baseline="-25000" dirty="0">
                <a:latin typeface="Times New Roman" panose="02020603050405020304" pitchFamily="18" charset="0"/>
              </a:rPr>
              <a:t>2</a:t>
            </a:r>
            <a:r>
              <a:rPr lang="en-CA" altLang="fr-FR" sz="1800" b="1" dirty="0">
                <a:latin typeface="Times New Roman" panose="02020603050405020304" pitchFamily="18" charset="0"/>
              </a:rPr>
              <a:t> = </a:t>
            </a:r>
            <a:r>
              <a:rPr lang="en-CA" altLang="fr-FR" sz="1800" b="1" dirty="0" err="1">
                <a:latin typeface="Times New Roman" panose="02020603050405020304" pitchFamily="18" charset="0"/>
              </a:rPr>
              <a:t>m.E</a:t>
            </a:r>
            <a:endParaRPr lang="en-CA" altLang="fr-FR" sz="1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 err="1">
                <a:latin typeface="Times New Roman" panose="02020603050405020304" pitchFamily="18" charset="0"/>
              </a:rPr>
              <a:t>v</a:t>
            </a:r>
            <a:r>
              <a:rPr lang="en-CA" altLang="fr-FR" sz="1800" b="1" baseline="-25000" dirty="0" err="1">
                <a:latin typeface="Times New Roman" panose="02020603050405020304" pitchFamily="18" charset="0"/>
              </a:rPr>
              <a:t>D</a:t>
            </a:r>
            <a:r>
              <a:rPr lang="en-CA" altLang="fr-FR" sz="1800" b="1" dirty="0">
                <a:latin typeface="Times New Roman" panose="02020603050405020304" pitchFamily="18" charset="0"/>
              </a:rPr>
              <a:t> &lt;0 </a:t>
            </a:r>
            <a:r>
              <a:rPr lang="en-CA" altLang="fr-FR" sz="1800" b="1" i="1" dirty="0">
                <a:latin typeface="Times New Roman" panose="02020603050405020304" pitchFamily="18" charset="0"/>
              </a:rPr>
              <a:t>=&gt; D reverse</a:t>
            </a:r>
          </a:p>
        </p:txBody>
      </p:sp>
      <p:sp>
        <p:nvSpPr>
          <p:cNvPr id="13" name="Arc 102"/>
          <p:cNvSpPr>
            <a:spLocks/>
          </p:cNvSpPr>
          <p:nvPr/>
        </p:nvSpPr>
        <p:spPr bwMode="auto">
          <a:xfrm>
            <a:off x="3025404" y="1325498"/>
            <a:ext cx="871538" cy="1500188"/>
          </a:xfrm>
          <a:custGeom>
            <a:avLst/>
            <a:gdLst>
              <a:gd name="T0" fmla="*/ 0 w 39000"/>
              <a:gd name="T1" fmla="*/ 0 h 41809"/>
              <a:gd name="T2" fmla="*/ 0 w 39000"/>
              <a:gd name="T3" fmla="*/ 0 h 41809"/>
              <a:gd name="T4" fmla="*/ 0 w 39000"/>
              <a:gd name="T5" fmla="*/ 0 h 418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000" h="41809" fill="none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</a:path>
              <a:path w="39000" h="41809" stroke="0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  <a:lnTo>
                  <a:pt x="17400" y="21600"/>
                </a:lnTo>
                <a:lnTo>
                  <a:pt x="-1" y="8801"/>
                </a:lnTo>
                <a:close/>
              </a:path>
            </a:pathLst>
          </a:custGeom>
          <a:noFill/>
          <a:ln w="3175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" name="Text Box 199"/>
          <p:cNvSpPr txBox="1">
            <a:spLocks noChangeArrowheads="1"/>
          </p:cNvSpPr>
          <p:nvPr/>
        </p:nvSpPr>
        <p:spPr bwMode="auto">
          <a:xfrm>
            <a:off x="8178059" y="3247639"/>
            <a:ext cx="2325687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400" b="1" dirty="0" err="1">
                <a:latin typeface="Symbol" panose="05050102010706020507" pitchFamily="18" charset="2"/>
              </a:rPr>
              <a:t>a</a:t>
            </a:r>
            <a:r>
              <a:rPr lang="en-CA" altLang="fr-FR" sz="1400" b="1" dirty="0" err="1">
                <a:latin typeface="Times New Roman" panose="02020603050405020304" pitchFamily="18" charset="0"/>
              </a:rPr>
              <a:t>T</a:t>
            </a:r>
            <a:r>
              <a:rPr lang="en-CA" altLang="fr-FR" sz="1400" b="1" dirty="0">
                <a:latin typeface="Times New Roman" panose="02020603050405020304" pitchFamily="18" charset="0"/>
              </a:rPr>
              <a:t> &lt; t &lt; </a:t>
            </a:r>
            <a:r>
              <a:rPr lang="en-CA" altLang="fr-FR" sz="1400" b="1" dirty="0" err="1">
                <a:latin typeface="Symbol" panose="05050102010706020507" pitchFamily="18" charset="2"/>
              </a:rPr>
              <a:t>a</a:t>
            </a:r>
            <a:r>
              <a:rPr lang="en-CA" altLang="fr-FR" sz="1400" b="1" dirty="0" err="1">
                <a:latin typeface="Times New Roman" panose="02020603050405020304" pitchFamily="18" charset="0"/>
              </a:rPr>
              <a:t>’T</a:t>
            </a:r>
            <a:r>
              <a:rPr lang="en-CA" altLang="fr-FR" sz="1400" b="1" dirty="0">
                <a:latin typeface="Times New Roman" panose="02020603050405020304" pitchFamily="18" charset="0"/>
              </a:rPr>
              <a:t> : </a:t>
            </a:r>
            <a:r>
              <a:rPr lang="en-CA" altLang="fr-FR" sz="1400" b="1" dirty="0" err="1">
                <a:latin typeface="Times New Roman" panose="02020603050405020304" pitchFamily="18" charset="0"/>
              </a:rPr>
              <a:t>T</a:t>
            </a:r>
            <a:r>
              <a:rPr lang="en-CA" altLang="fr-FR" sz="1400" b="1" baseline="-25000" dirty="0" err="1">
                <a:latin typeface="Times New Roman" panose="02020603050405020304" pitchFamily="18" charset="0"/>
              </a:rPr>
              <a:t>p</a:t>
            </a:r>
            <a:r>
              <a:rPr lang="en-CA" altLang="fr-FR" sz="1400" b="1" dirty="0">
                <a:latin typeface="Times New Roman" panose="02020603050405020304" pitchFamily="18" charset="0"/>
              </a:rPr>
              <a:t> opened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400" b="1" dirty="0">
                <a:latin typeface="Times New Roman" panose="02020603050405020304" pitchFamily="18" charset="0"/>
              </a:rPr>
              <a:t>=&gt; i</a:t>
            </a:r>
            <a:r>
              <a:rPr lang="en-CA" altLang="fr-FR" sz="1400" b="1" baseline="-25000" dirty="0">
                <a:latin typeface="Times New Roman" panose="02020603050405020304" pitchFamily="18" charset="0"/>
              </a:rPr>
              <a:t>1</a:t>
            </a:r>
            <a:r>
              <a:rPr lang="en-CA" altLang="fr-FR" sz="1400" b="1" dirty="0">
                <a:latin typeface="Times New Roman" panose="02020603050405020304" pitchFamily="18" charset="0"/>
              </a:rPr>
              <a:t> = 0 =&gt; i’</a:t>
            </a:r>
            <a:r>
              <a:rPr lang="en-CA" altLang="fr-FR" sz="1400" b="1" baseline="-25000" dirty="0">
                <a:latin typeface="Times New Roman" panose="02020603050405020304" pitchFamily="18" charset="0"/>
              </a:rPr>
              <a:t>1</a:t>
            </a:r>
            <a:r>
              <a:rPr lang="en-CA" altLang="fr-FR" sz="1400" b="1" dirty="0">
                <a:latin typeface="Times New Roman" panose="02020603050405020304" pitchFamily="18" charset="0"/>
              </a:rPr>
              <a:t> = - i</a:t>
            </a:r>
            <a:r>
              <a:rPr lang="en-CA" altLang="fr-FR" sz="1400" b="1" baseline="-25000" dirty="0">
                <a:latin typeface="Times New Roman" panose="02020603050405020304" pitchFamily="18" charset="0"/>
              </a:rPr>
              <a:t>10 </a:t>
            </a:r>
            <a:r>
              <a:rPr lang="en-CA" altLang="fr-FR" sz="1400" b="1" dirty="0">
                <a:latin typeface="Times New Roman" panose="02020603050405020304" pitchFamily="18" charset="0"/>
              </a:rPr>
              <a:t>&lt; 0</a:t>
            </a:r>
            <a:endParaRPr lang="en-CA" altLang="fr-FR" sz="1400" b="1" baseline="-25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400" b="1" dirty="0">
                <a:latin typeface="Times New Roman" panose="02020603050405020304" pitchFamily="18" charset="0"/>
              </a:rPr>
              <a:t>=&gt; i</a:t>
            </a:r>
            <a:r>
              <a:rPr lang="en-CA" altLang="fr-FR" sz="1400" b="1" baseline="-25000" dirty="0">
                <a:latin typeface="Times New Roman" panose="02020603050405020304" pitchFamily="18" charset="0"/>
              </a:rPr>
              <a:t>2</a:t>
            </a:r>
            <a:r>
              <a:rPr lang="en-CA" altLang="fr-FR" sz="1400" b="1" dirty="0">
                <a:latin typeface="Times New Roman" panose="02020603050405020304" pitchFamily="18" charset="0"/>
              </a:rPr>
              <a:t> &lt; 0	</a:t>
            </a:r>
            <a:r>
              <a:rPr lang="en-CA" altLang="fr-FR" sz="1400" b="1" i="1" dirty="0">
                <a:latin typeface="Times New Roman" panose="02020603050405020304" pitchFamily="18" charset="0"/>
              </a:rPr>
              <a:t>=&gt; D forward and then reverse naturally</a:t>
            </a:r>
          </a:p>
        </p:txBody>
      </p:sp>
      <p:sp>
        <p:nvSpPr>
          <p:cNvPr id="17" name="Arc 202"/>
          <p:cNvSpPr>
            <a:spLocks/>
          </p:cNvSpPr>
          <p:nvPr/>
        </p:nvSpPr>
        <p:spPr bwMode="auto">
          <a:xfrm rot="15952817">
            <a:off x="5963240" y="2833217"/>
            <a:ext cx="871538" cy="1500188"/>
          </a:xfrm>
          <a:custGeom>
            <a:avLst/>
            <a:gdLst>
              <a:gd name="T0" fmla="*/ 0 w 39000"/>
              <a:gd name="T1" fmla="*/ 0 h 41809"/>
              <a:gd name="T2" fmla="*/ 0 w 39000"/>
              <a:gd name="T3" fmla="*/ 0 h 41809"/>
              <a:gd name="T4" fmla="*/ 0 w 39000"/>
              <a:gd name="T5" fmla="*/ 0 h 418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000" h="41809" fill="none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</a:path>
              <a:path w="39000" h="41809" stroke="0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  <a:lnTo>
                  <a:pt x="17400" y="21600"/>
                </a:lnTo>
                <a:lnTo>
                  <a:pt x="-1" y="8801"/>
                </a:lnTo>
                <a:close/>
              </a:path>
            </a:pathLst>
          </a:custGeom>
          <a:noFill/>
          <a:ln w="31750">
            <a:solidFill>
              <a:srgbClr val="FF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9" name="Text Box 300"/>
          <p:cNvSpPr txBox="1">
            <a:spLocks noChangeArrowheads="1"/>
          </p:cNvSpPr>
          <p:nvPr/>
        </p:nvSpPr>
        <p:spPr bwMode="auto">
          <a:xfrm>
            <a:off x="8246692" y="5073873"/>
            <a:ext cx="35687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 err="1">
                <a:latin typeface="Symbol" panose="05050102010706020507" pitchFamily="18" charset="2"/>
              </a:rPr>
              <a:t>a</a:t>
            </a:r>
            <a:r>
              <a:rPr lang="en-CA" altLang="fr-FR" sz="1800" b="1" dirty="0" err="1">
                <a:latin typeface="Times New Roman" panose="02020603050405020304" pitchFamily="18" charset="0"/>
              </a:rPr>
              <a:t>’T</a:t>
            </a:r>
            <a:r>
              <a:rPr lang="en-CA" altLang="fr-FR" sz="1800" b="1" dirty="0">
                <a:latin typeface="Times New Roman" panose="02020603050405020304" pitchFamily="18" charset="0"/>
              </a:rPr>
              <a:t> &lt; t &lt; T : T</a:t>
            </a:r>
            <a:r>
              <a:rPr lang="en-CA" altLang="fr-FR" sz="1800" b="1" baseline="-25000" dirty="0">
                <a:latin typeface="Times New Roman" panose="02020603050405020304" pitchFamily="18" charset="0"/>
              </a:rPr>
              <a:t> </a:t>
            </a:r>
            <a:r>
              <a:rPr lang="en-CA" altLang="fr-FR" sz="1800" b="1" dirty="0">
                <a:latin typeface="Times New Roman" panose="02020603050405020304" pitchFamily="18" charset="0"/>
              </a:rPr>
              <a:t>and D both reverse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latin typeface="Times New Roman" panose="02020603050405020304" pitchFamily="18" charset="0"/>
              </a:rPr>
              <a:t>All currents are zero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latin typeface="Times New Roman" panose="02020603050405020304" pitchFamily="18" charset="0"/>
              </a:rPr>
              <a:t>No more energy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latin typeface="Times New Roman" panose="02020603050405020304" pitchFamily="18" charset="0"/>
              </a:rPr>
              <a:t>=&gt; v</a:t>
            </a:r>
            <a:r>
              <a:rPr lang="en-CA" altLang="fr-FR" sz="1800" b="1" baseline="-25000" dirty="0">
                <a:latin typeface="Times New Roman" panose="02020603050405020304" pitchFamily="18" charset="0"/>
              </a:rPr>
              <a:t>1</a:t>
            </a:r>
            <a:r>
              <a:rPr lang="en-CA" altLang="fr-FR" sz="1800" b="1" dirty="0">
                <a:latin typeface="Times New Roman" panose="02020603050405020304" pitchFamily="18" charset="0"/>
              </a:rPr>
              <a:t> = 0 ; v</a:t>
            </a:r>
            <a:r>
              <a:rPr lang="en-CA" altLang="fr-FR" sz="1800" b="1" baseline="-25000" dirty="0">
                <a:latin typeface="Times New Roman" panose="02020603050405020304" pitchFamily="18" charset="0"/>
              </a:rPr>
              <a:t>2</a:t>
            </a:r>
            <a:r>
              <a:rPr lang="en-CA" altLang="fr-FR" sz="1800" b="1" dirty="0">
                <a:latin typeface="Times New Roman" panose="02020603050405020304" pitchFamily="18" charset="0"/>
              </a:rPr>
              <a:t> = 0 =&gt; </a:t>
            </a:r>
            <a:r>
              <a:rPr lang="en-CA" altLang="fr-FR" sz="1800" b="1" dirty="0">
                <a:latin typeface="Symbol" panose="05050102010706020507" pitchFamily="18" charset="2"/>
              </a:rPr>
              <a:t>j</a:t>
            </a:r>
            <a:r>
              <a:rPr lang="en-CA" altLang="fr-FR" sz="1800" b="1" dirty="0">
                <a:latin typeface="Times New Roman" panose="02020603050405020304" pitchFamily="18" charset="0"/>
              </a:rPr>
              <a:t> = 0</a:t>
            </a:r>
            <a:endParaRPr lang="en-CA" altLang="fr-FR" sz="1800" b="1" i="1" dirty="0">
              <a:latin typeface="Times New Roman" panose="02020603050405020304" pitchFamily="18" charset="0"/>
            </a:endParaRPr>
          </a:p>
        </p:txBody>
      </p:sp>
      <p:sp>
        <p:nvSpPr>
          <p:cNvPr id="20" name="Line 301"/>
          <p:cNvSpPr>
            <a:spLocks noChangeShapeType="1"/>
          </p:cNvSpPr>
          <p:nvPr/>
        </p:nvSpPr>
        <p:spPr bwMode="auto">
          <a:xfrm>
            <a:off x="3025404" y="2911068"/>
            <a:ext cx="8648700" cy="0"/>
          </a:xfrm>
          <a:prstGeom prst="line">
            <a:avLst/>
          </a:prstGeom>
          <a:noFill/>
          <a:ln w="22225">
            <a:solidFill>
              <a:srgbClr val="9933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Line 302"/>
          <p:cNvSpPr>
            <a:spLocks noChangeShapeType="1"/>
          </p:cNvSpPr>
          <p:nvPr/>
        </p:nvSpPr>
        <p:spPr bwMode="auto">
          <a:xfrm>
            <a:off x="3036517" y="4855756"/>
            <a:ext cx="8648700" cy="0"/>
          </a:xfrm>
          <a:prstGeom prst="line">
            <a:avLst/>
          </a:prstGeom>
          <a:noFill/>
          <a:ln w="22225">
            <a:solidFill>
              <a:srgbClr val="9933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5" name="ZoneTexte 324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Discontinuous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Text Box 201"/>
          <p:cNvSpPr txBox="1">
            <a:spLocks noChangeArrowheads="1"/>
          </p:cNvSpPr>
          <p:nvPr/>
        </p:nvSpPr>
        <p:spPr bwMode="auto">
          <a:xfrm>
            <a:off x="8178059" y="4187420"/>
            <a:ext cx="3916363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en-CA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= -V</a:t>
            </a:r>
            <a:r>
              <a:rPr lang="en-CA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=&gt; v</a:t>
            </a:r>
            <a:r>
              <a:rPr lang="en-CA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= - V</a:t>
            </a:r>
            <a:r>
              <a:rPr lang="en-CA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/m =&gt; </a:t>
            </a:r>
            <a:r>
              <a:rPr lang="en-CA" altLang="fr-FR" sz="1800" b="1" dirty="0">
                <a:solidFill>
                  <a:srgbClr val="FF3300"/>
                </a:solidFill>
                <a:latin typeface="Symbol" panose="05050102010706020507" pitchFamily="18" charset="2"/>
              </a:rPr>
              <a:t>j</a:t>
            </a: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decreases</a:t>
            </a:r>
            <a:endParaRPr lang="en-CA" altLang="fr-FR" sz="1800" b="1" baseline="-25000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Energy restitution</a:t>
            </a:r>
          </a:p>
        </p:txBody>
      </p:sp>
      <p:sp>
        <p:nvSpPr>
          <p:cNvPr id="6" name="Text Box 101"/>
          <p:cNvSpPr txBox="1">
            <a:spLocks noChangeArrowheads="1"/>
          </p:cNvSpPr>
          <p:nvPr/>
        </p:nvSpPr>
        <p:spPr bwMode="auto">
          <a:xfrm>
            <a:off x="8126042" y="2098268"/>
            <a:ext cx="23526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6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i</a:t>
            </a:r>
            <a:r>
              <a:rPr lang="en-CA" altLang="fr-FR" sz="16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2</a:t>
            </a:r>
            <a:r>
              <a:rPr lang="en-CA" altLang="fr-FR" sz="16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= 0 =&gt; i’</a:t>
            </a:r>
            <a:r>
              <a:rPr lang="en-CA" altLang="fr-FR" sz="16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1</a:t>
            </a:r>
            <a:r>
              <a:rPr lang="en-CA" altLang="fr-FR" sz="16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= 0 =&gt; i</a:t>
            </a:r>
            <a:r>
              <a:rPr lang="en-CA" altLang="fr-FR" sz="16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1</a:t>
            </a:r>
            <a:r>
              <a:rPr lang="en-CA" altLang="fr-FR" sz="16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= i</a:t>
            </a:r>
            <a:r>
              <a:rPr lang="en-CA" altLang="fr-FR" sz="16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6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Energy storage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6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Unchanged mode</a:t>
            </a:r>
          </a:p>
        </p:txBody>
      </p:sp>
      <p:pic>
        <p:nvPicPr>
          <p:cNvPr id="327" name="Image 326">
            <a:extLst>
              <a:ext uri="{FF2B5EF4-FFF2-40B4-BE49-F238E27FC236}">
                <a16:creationId xmlns:a16="http://schemas.microsoft.com/office/drawing/2014/main" id="{28A40853-66A8-8C9B-0839-9EE755D71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266" y="4789787"/>
            <a:ext cx="5504447" cy="1984314"/>
          </a:xfrm>
          <a:prstGeom prst="rect">
            <a:avLst/>
          </a:prstGeom>
        </p:spPr>
      </p:pic>
      <p:sp>
        <p:nvSpPr>
          <p:cNvPr id="330" name="Arc 206">
            <a:extLst>
              <a:ext uri="{FF2B5EF4-FFF2-40B4-BE49-F238E27FC236}">
                <a16:creationId xmlns:a16="http://schemas.microsoft.com/office/drawing/2014/main" id="{C61DE027-F016-10B7-37B9-A17611111A8C}"/>
              </a:ext>
            </a:extLst>
          </p:cNvPr>
          <p:cNvSpPr>
            <a:spLocks/>
          </p:cNvSpPr>
          <p:nvPr/>
        </p:nvSpPr>
        <p:spPr bwMode="auto">
          <a:xfrm rot="15952817" flipH="1">
            <a:off x="4075126" y="3486722"/>
            <a:ext cx="699216" cy="339029"/>
          </a:xfrm>
          <a:custGeom>
            <a:avLst/>
            <a:gdLst>
              <a:gd name="T0" fmla="*/ 0 w 39000"/>
              <a:gd name="T1" fmla="*/ 2147483646 h 41809"/>
              <a:gd name="T2" fmla="*/ 2147483646 w 39000"/>
              <a:gd name="T3" fmla="*/ 2147483646 h 41809"/>
              <a:gd name="T4" fmla="*/ 2147483646 w 39000"/>
              <a:gd name="T5" fmla="*/ 2147483646 h 418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000" h="41809" fill="none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</a:path>
              <a:path w="39000" h="41809" stroke="0" extrusionOk="0">
                <a:moveTo>
                  <a:pt x="-1" y="8801"/>
                </a:moveTo>
                <a:cubicBezTo>
                  <a:pt x="4070" y="3267"/>
                  <a:pt x="10530" y="-1"/>
                  <a:pt x="17400" y="0"/>
                </a:cubicBezTo>
                <a:cubicBezTo>
                  <a:pt x="29329" y="0"/>
                  <a:pt x="39000" y="9670"/>
                  <a:pt x="39000" y="21600"/>
                </a:cubicBezTo>
                <a:cubicBezTo>
                  <a:pt x="39000" y="30587"/>
                  <a:pt x="33434" y="38635"/>
                  <a:pt x="25026" y="41809"/>
                </a:cubicBezTo>
                <a:lnTo>
                  <a:pt x="17400" y="21600"/>
                </a:lnTo>
                <a:lnTo>
                  <a:pt x="-1" y="8801"/>
                </a:lnTo>
                <a:close/>
              </a:path>
            </a:pathLst>
          </a:custGeom>
          <a:noFill/>
          <a:ln w="31750">
            <a:solidFill>
              <a:srgbClr val="FF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680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4646347" y="162648"/>
            <a:ext cx="6049362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Discontinuous mode: chronograms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utoShape 4"/>
          <p:cNvSpPr>
            <a:spLocks noChangeAspect="1" noChangeArrowheads="1" noTextEdit="1"/>
          </p:cNvSpPr>
          <p:nvPr/>
        </p:nvSpPr>
        <p:spPr bwMode="auto">
          <a:xfrm>
            <a:off x="2749079" y="323850"/>
            <a:ext cx="4162425" cy="616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12" name="Group 5"/>
          <p:cNvGrpSpPr>
            <a:grpSpLocks/>
          </p:cNvGrpSpPr>
          <p:nvPr/>
        </p:nvGrpSpPr>
        <p:grpSpPr bwMode="auto">
          <a:xfrm>
            <a:off x="3041179" y="387350"/>
            <a:ext cx="76200" cy="1219200"/>
            <a:chOff x="226" y="136"/>
            <a:chExt cx="48" cy="76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226" y="136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>
              <a:off x="250" y="224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8"/>
          <p:cNvGrpSpPr>
            <a:grpSpLocks/>
          </p:cNvGrpSpPr>
          <p:nvPr/>
        </p:nvGrpSpPr>
        <p:grpSpPr bwMode="auto">
          <a:xfrm>
            <a:off x="3015779" y="1492250"/>
            <a:ext cx="3883025" cy="76200"/>
            <a:chOff x="210" y="832"/>
            <a:chExt cx="2446" cy="48"/>
          </a:xfrm>
        </p:grpSpPr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2568" y="832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>
              <a:off x="210" y="856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" name="Line 11"/>
          <p:cNvSpPr>
            <a:spLocks noChangeShapeType="1"/>
          </p:cNvSpPr>
          <p:nvPr/>
        </p:nvSpPr>
        <p:spPr bwMode="auto">
          <a:xfrm flipV="1">
            <a:off x="3079279" y="1028700"/>
            <a:ext cx="722313" cy="4953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>
            <a:off x="3801592" y="1019175"/>
            <a:ext cx="1025525" cy="504825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Line 13"/>
          <p:cNvSpPr>
            <a:spLocks noChangeShapeType="1"/>
          </p:cNvSpPr>
          <p:nvPr/>
        </p:nvSpPr>
        <p:spPr bwMode="auto">
          <a:xfrm flipV="1">
            <a:off x="5236692" y="1028700"/>
            <a:ext cx="722312" cy="4953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2850679" y="298450"/>
            <a:ext cx="428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2888779" y="387350"/>
            <a:ext cx="1143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10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3688879" y="1593850"/>
            <a:ext cx="936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5135092" y="1530350"/>
            <a:ext cx="936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3549179" y="1581150"/>
            <a:ext cx="968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26" name="Group 19"/>
          <p:cNvGrpSpPr>
            <a:grpSpLocks/>
          </p:cNvGrpSpPr>
          <p:nvPr/>
        </p:nvGrpSpPr>
        <p:grpSpPr bwMode="auto">
          <a:xfrm>
            <a:off x="3801592" y="666750"/>
            <a:ext cx="1587" cy="5756275"/>
            <a:chOff x="705" y="312"/>
            <a:chExt cx="1" cy="3626"/>
          </a:xfrm>
        </p:grpSpPr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705" y="31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705" y="38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705" y="45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705" y="52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>
              <a:off x="705" y="60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>
              <a:off x="705" y="67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705" y="74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>
              <a:off x="705" y="81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>
              <a:off x="705" y="88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>
              <a:off x="705" y="96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>
              <a:off x="705" y="103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>
              <a:off x="705" y="110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Line 32"/>
            <p:cNvSpPr>
              <a:spLocks noChangeShapeType="1"/>
            </p:cNvSpPr>
            <p:nvPr/>
          </p:nvSpPr>
          <p:spPr bwMode="auto">
            <a:xfrm>
              <a:off x="705" y="117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Line 33"/>
            <p:cNvSpPr>
              <a:spLocks noChangeShapeType="1"/>
            </p:cNvSpPr>
            <p:nvPr/>
          </p:nvSpPr>
          <p:spPr bwMode="auto">
            <a:xfrm>
              <a:off x="705" y="124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34"/>
            <p:cNvSpPr>
              <a:spLocks noChangeShapeType="1"/>
            </p:cNvSpPr>
            <p:nvPr/>
          </p:nvSpPr>
          <p:spPr bwMode="auto">
            <a:xfrm>
              <a:off x="705" y="132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35"/>
            <p:cNvSpPr>
              <a:spLocks noChangeShapeType="1"/>
            </p:cNvSpPr>
            <p:nvPr/>
          </p:nvSpPr>
          <p:spPr bwMode="auto">
            <a:xfrm>
              <a:off x="705" y="139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Line 36"/>
            <p:cNvSpPr>
              <a:spLocks noChangeShapeType="1"/>
            </p:cNvSpPr>
            <p:nvPr/>
          </p:nvSpPr>
          <p:spPr bwMode="auto">
            <a:xfrm>
              <a:off x="705" y="146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Line 37"/>
            <p:cNvSpPr>
              <a:spLocks noChangeShapeType="1"/>
            </p:cNvSpPr>
            <p:nvPr/>
          </p:nvSpPr>
          <p:spPr bwMode="auto">
            <a:xfrm>
              <a:off x="705" y="153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38"/>
            <p:cNvSpPr>
              <a:spLocks noChangeShapeType="1"/>
            </p:cNvSpPr>
            <p:nvPr/>
          </p:nvSpPr>
          <p:spPr bwMode="auto">
            <a:xfrm>
              <a:off x="705" y="160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Line 39"/>
            <p:cNvSpPr>
              <a:spLocks noChangeShapeType="1"/>
            </p:cNvSpPr>
            <p:nvPr/>
          </p:nvSpPr>
          <p:spPr bwMode="auto">
            <a:xfrm>
              <a:off x="705" y="168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705" y="175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Line 41"/>
            <p:cNvSpPr>
              <a:spLocks noChangeShapeType="1"/>
            </p:cNvSpPr>
            <p:nvPr/>
          </p:nvSpPr>
          <p:spPr bwMode="auto">
            <a:xfrm>
              <a:off x="705" y="18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Line 42"/>
            <p:cNvSpPr>
              <a:spLocks noChangeShapeType="1"/>
            </p:cNvSpPr>
            <p:nvPr/>
          </p:nvSpPr>
          <p:spPr bwMode="auto">
            <a:xfrm>
              <a:off x="705" y="18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Line 43"/>
            <p:cNvSpPr>
              <a:spLocks noChangeShapeType="1"/>
            </p:cNvSpPr>
            <p:nvPr/>
          </p:nvSpPr>
          <p:spPr bwMode="auto">
            <a:xfrm>
              <a:off x="705" y="19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44"/>
            <p:cNvSpPr>
              <a:spLocks noChangeShapeType="1"/>
            </p:cNvSpPr>
            <p:nvPr/>
          </p:nvSpPr>
          <p:spPr bwMode="auto">
            <a:xfrm>
              <a:off x="705" y="20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45"/>
            <p:cNvSpPr>
              <a:spLocks noChangeShapeType="1"/>
            </p:cNvSpPr>
            <p:nvPr/>
          </p:nvSpPr>
          <p:spPr bwMode="auto">
            <a:xfrm>
              <a:off x="705" y="21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46"/>
            <p:cNvSpPr>
              <a:spLocks noChangeShapeType="1"/>
            </p:cNvSpPr>
            <p:nvPr/>
          </p:nvSpPr>
          <p:spPr bwMode="auto">
            <a:xfrm>
              <a:off x="705" y="218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47"/>
            <p:cNvSpPr>
              <a:spLocks noChangeShapeType="1"/>
            </p:cNvSpPr>
            <p:nvPr/>
          </p:nvSpPr>
          <p:spPr bwMode="auto">
            <a:xfrm>
              <a:off x="705" y="225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48"/>
            <p:cNvSpPr>
              <a:spLocks noChangeShapeType="1"/>
            </p:cNvSpPr>
            <p:nvPr/>
          </p:nvSpPr>
          <p:spPr bwMode="auto">
            <a:xfrm>
              <a:off x="705" y="232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Line 49"/>
            <p:cNvSpPr>
              <a:spLocks noChangeShapeType="1"/>
            </p:cNvSpPr>
            <p:nvPr/>
          </p:nvSpPr>
          <p:spPr bwMode="auto">
            <a:xfrm>
              <a:off x="705" y="240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Line 50"/>
            <p:cNvSpPr>
              <a:spLocks noChangeShapeType="1"/>
            </p:cNvSpPr>
            <p:nvPr/>
          </p:nvSpPr>
          <p:spPr bwMode="auto">
            <a:xfrm>
              <a:off x="705" y="247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Line 51"/>
            <p:cNvSpPr>
              <a:spLocks noChangeShapeType="1"/>
            </p:cNvSpPr>
            <p:nvPr/>
          </p:nvSpPr>
          <p:spPr bwMode="auto">
            <a:xfrm>
              <a:off x="705" y="254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Line 52"/>
            <p:cNvSpPr>
              <a:spLocks noChangeShapeType="1"/>
            </p:cNvSpPr>
            <p:nvPr/>
          </p:nvSpPr>
          <p:spPr bwMode="auto">
            <a:xfrm>
              <a:off x="705" y="261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Line 53"/>
            <p:cNvSpPr>
              <a:spLocks noChangeShapeType="1"/>
            </p:cNvSpPr>
            <p:nvPr/>
          </p:nvSpPr>
          <p:spPr bwMode="auto">
            <a:xfrm>
              <a:off x="705" y="268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Line 54"/>
            <p:cNvSpPr>
              <a:spLocks noChangeShapeType="1"/>
            </p:cNvSpPr>
            <p:nvPr/>
          </p:nvSpPr>
          <p:spPr bwMode="auto">
            <a:xfrm>
              <a:off x="705" y="276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Line 55"/>
            <p:cNvSpPr>
              <a:spLocks noChangeShapeType="1"/>
            </p:cNvSpPr>
            <p:nvPr/>
          </p:nvSpPr>
          <p:spPr bwMode="auto">
            <a:xfrm>
              <a:off x="705" y="283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Line 56"/>
            <p:cNvSpPr>
              <a:spLocks noChangeShapeType="1"/>
            </p:cNvSpPr>
            <p:nvPr/>
          </p:nvSpPr>
          <p:spPr bwMode="auto">
            <a:xfrm>
              <a:off x="705" y="290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Line 57"/>
            <p:cNvSpPr>
              <a:spLocks noChangeShapeType="1"/>
            </p:cNvSpPr>
            <p:nvPr/>
          </p:nvSpPr>
          <p:spPr bwMode="auto">
            <a:xfrm>
              <a:off x="705" y="2977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Line 58"/>
            <p:cNvSpPr>
              <a:spLocks noChangeShapeType="1"/>
            </p:cNvSpPr>
            <p:nvPr/>
          </p:nvSpPr>
          <p:spPr bwMode="auto">
            <a:xfrm>
              <a:off x="705" y="30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Line 59"/>
            <p:cNvSpPr>
              <a:spLocks noChangeShapeType="1"/>
            </p:cNvSpPr>
            <p:nvPr/>
          </p:nvSpPr>
          <p:spPr bwMode="auto">
            <a:xfrm>
              <a:off x="705" y="31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Line 60"/>
            <p:cNvSpPr>
              <a:spLocks noChangeShapeType="1"/>
            </p:cNvSpPr>
            <p:nvPr/>
          </p:nvSpPr>
          <p:spPr bwMode="auto">
            <a:xfrm>
              <a:off x="705" y="31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8" name="Line 61"/>
            <p:cNvSpPr>
              <a:spLocks noChangeShapeType="1"/>
            </p:cNvSpPr>
            <p:nvPr/>
          </p:nvSpPr>
          <p:spPr bwMode="auto">
            <a:xfrm>
              <a:off x="705" y="32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Line 62"/>
            <p:cNvSpPr>
              <a:spLocks noChangeShapeType="1"/>
            </p:cNvSpPr>
            <p:nvPr/>
          </p:nvSpPr>
          <p:spPr bwMode="auto">
            <a:xfrm>
              <a:off x="705" y="33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Line 63"/>
            <p:cNvSpPr>
              <a:spLocks noChangeShapeType="1"/>
            </p:cNvSpPr>
            <p:nvPr/>
          </p:nvSpPr>
          <p:spPr bwMode="auto">
            <a:xfrm>
              <a:off x="705" y="34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1" name="Line 64"/>
            <p:cNvSpPr>
              <a:spLocks noChangeShapeType="1"/>
            </p:cNvSpPr>
            <p:nvPr/>
          </p:nvSpPr>
          <p:spPr bwMode="auto">
            <a:xfrm>
              <a:off x="705" y="34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Line 65"/>
            <p:cNvSpPr>
              <a:spLocks noChangeShapeType="1"/>
            </p:cNvSpPr>
            <p:nvPr/>
          </p:nvSpPr>
          <p:spPr bwMode="auto">
            <a:xfrm>
              <a:off x="705" y="355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Line 66"/>
            <p:cNvSpPr>
              <a:spLocks noChangeShapeType="1"/>
            </p:cNvSpPr>
            <p:nvPr/>
          </p:nvSpPr>
          <p:spPr bwMode="auto">
            <a:xfrm>
              <a:off x="705" y="362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Line 67"/>
            <p:cNvSpPr>
              <a:spLocks noChangeShapeType="1"/>
            </p:cNvSpPr>
            <p:nvPr/>
          </p:nvSpPr>
          <p:spPr bwMode="auto">
            <a:xfrm>
              <a:off x="705" y="369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Line 68"/>
            <p:cNvSpPr>
              <a:spLocks noChangeShapeType="1"/>
            </p:cNvSpPr>
            <p:nvPr/>
          </p:nvSpPr>
          <p:spPr bwMode="auto">
            <a:xfrm>
              <a:off x="705" y="377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Line 69"/>
            <p:cNvSpPr>
              <a:spLocks noChangeShapeType="1"/>
            </p:cNvSpPr>
            <p:nvPr/>
          </p:nvSpPr>
          <p:spPr bwMode="auto">
            <a:xfrm>
              <a:off x="705" y="384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Line 70"/>
            <p:cNvSpPr>
              <a:spLocks noChangeShapeType="1"/>
            </p:cNvSpPr>
            <p:nvPr/>
          </p:nvSpPr>
          <p:spPr bwMode="auto">
            <a:xfrm>
              <a:off x="705" y="3914"/>
              <a:ext cx="1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8" name="Group 71"/>
          <p:cNvGrpSpPr>
            <a:grpSpLocks/>
          </p:cNvGrpSpPr>
          <p:nvPr/>
        </p:nvGrpSpPr>
        <p:grpSpPr bwMode="auto">
          <a:xfrm>
            <a:off x="5236692" y="666750"/>
            <a:ext cx="1587" cy="5756275"/>
            <a:chOff x="1609" y="312"/>
            <a:chExt cx="1" cy="3626"/>
          </a:xfrm>
        </p:grpSpPr>
        <p:sp>
          <p:nvSpPr>
            <p:cNvPr id="79" name="Line 72"/>
            <p:cNvSpPr>
              <a:spLocks noChangeShapeType="1"/>
            </p:cNvSpPr>
            <p:nvPr/>
          </p:nvSpPr>
          <p:spPr bwMode="auto">
            <a:xfrm>
              <a:off x="1609" y="31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0" name="Line 73"/>
            <p:cNvSpPr>
              <a:spLocks noChangeShapeType="1"/>
            </p:cNvSpPr>
            <p:nvPr/>
          </p:nvSpPr>
          <p:spPr bwMode="auto">
            <a:xfrm>
              <a:off x="1609" y="38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Line 74"/>
            <p:cNvSpPr>
              <a:spLocks noChangeShapeType="1"/>
            </p:cNvSpPr>
            <p:nvPr/>
          </p:nvSpPr>
          <p:spPr bwMode="auto">
            <a:xfrm>
              <a:off x="1609" y="45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Line 75"/>
            <p:cNvSpPr>
              <a:spLocks noChangeShapeType="1"/>
            </p:cNvSpPr>
            <p:nvPr/>
          </p:nvSpPr>
          <p:spPr bwMode="auto">
            <a:xfrm>
              <a:off x="1609" y="52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Line 76"/>
            <p:cNvSpPr>
              <a:spLocks noChangeShapeType="1"/>
            </p:cNvSpPr>
            <p:nvPr/>
          </p:nvSpPr>
          <p:spPr bwMode="auto">
            <a:xfrm>
              <a:off x="1609" y="60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Line 77"/>
            <p:cNvSpPr>
              <a:spLocks noChangeShapeType="1"/>
            </p:cNvSpPr>
            <p:nvPr/>
          </p:nvSpPr>
          <p:spPr bwMode="auto">
            <a:xfrm>
              <a:off x="1609" y="67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Line 78"/>
            <p:cNvSpPr>
              <a:spLocks noChangeShapeType="1"/>
            </p:cNvSpPr>
            <p:nvPr/>
          </p:nvSpPr>
          <p:spPr bwMode="auto">
            <a:xfrm>
              <a:off x="1609" y="74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Line 79"/>
            <p:cNvSpPr>
              <a:spLocks noChangeShapeType="1"/>
            </p:cNvSpPr>
            <p:nvPr/>
          </p:nvSpPr>
          <p:spPr bwMode="auto">
            <a:xfrm>
              <a:off x="1609" y="81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7" name="Line 80"/>
            <p:cNvSpPr>
              <a:spLocks noChangeShapeType="1"/>
            </p:cNvSpPr>
            <p:nvPr/>
          </p:nvSpPr>
          <p:spPr bwMode="auto">
            <a:xfrm>
              <a:off x="1609" y="88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Line 81"/>
            <p:cNvSpPr>
              <a:spLocks noChangeShapeType="1"/>
            </p:cNvSpPr>
            <p:nvPr/>
          </p:nvSpPr>
          <p:spPr bwMode="auto">
            <a:xfrm>
              <a:off x="1609" y="96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Line 82"/>
            <p:cNvSpPr>
              <a:spLocks noChangeShapeType="1"/>
            </p:cNvSpPr>
            <p:nvPr/>
          </p:nvSpPr>
          <p:spPr bwMode="auto">
            <a:xfrm>
              <a:off x="1609" y="103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0" name="Line 83"/>
            <p:cNvSpPr>
              <a:spLocks noChangeShapeType="1"/>
            </p:cNvSpPr>
            <p:nvPr/>
          </p:nvSpPr>
          <p:spPr bwMode="auto">
            <a:xfrm>
              <a:off x="1609" y="110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Line 84"/>
            <p:cNvSpPr>
              <a:spLocks noChangeShapeType="1"/>
            </p:cNvSpPr>
            <p:nvPr/>
          </p:nvSpPr>
          <p:spPr bwMode="auto">
            <a:xfrm>
              <a:off x="1609" y="117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Line 85"/>
            <p:cNvSpPr>
              <a:spLocks noChangeShapeType="1"/>
            </p:cNvSpPr>
            <p:nvPr/>
          </p:nvSpPr>
          <p:spPr bwMode="auto">
            <a:xfrm>
              <a:off x="1609" y="124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3" name="Line 86"/>
            <p:cNvSpPr>
              <a:spLocks noChangeShapeType="1"/>
            </p:cNvSpPr>
            <p:nvPr/>
          </p:nvSpPr>
          <p:spPr bwMode="auto">
            <a:xfrm>
              <a:off x="1609" y="132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Line 87"/>
            <p:cNvSpPr>
              <a:spLocks noChangeShapeType="1"/>
            </p:cNvSpPr>
            <p:nvPr/>
          </p:nvSpPr>
          <p:spPr bwMode="auto">
            <a:xfrm>
              <a:off x="1609" y="139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Line 88"/>
            <p:cNvSpPr>
              <a:spLocks noChangeShapeType="1"/>
            </p:cNvSpPr>
            <p:nvPr/>
          </p:nvSpPr>
          <p:spPr bwMode="auto">
            <a:xfrm>
              <a:off x="1609" y="146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Line 89"/>
            <p:cNvSpPr>
              <a:spLocks noChangeShapeType="1"/>
            </p:cNvSpPr>
            <p:nvPr/>
          </p:nvSpPr>
          <p:spPr bwMode="auto">
            <a:xfrm>
              <a:off x="1609" y="153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Line 90"/>
            <p:cNvSpPr>
              <a:spLocks noChangeShapeType="1"/>
            </p:cNvSpPr>
            <p:nvPr/>
          </p:nvSpPr>
          <p:spPr bwMode="auto">
            <a:xfrm>
              <a:off x="1609" y="160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Line 91"/>
            <p:cNvSpPr>
              <a:spLocks noChangeShapeType="1"/>
            </p:cNvSpPr>
            <p:nvPr/>
          </p:nvSpPr>
          <p:spPr bwMode="auto">
            <a:xfrm>
              <a:off x="1609" y="168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Line 92"/>
            <p:cNvSpPr>
              <a:spLocks noChangeShapeType="1"/>
            </p:cNvSpPr>
            <p:nvPr/>
          </p:nvSpPr>
          <p:spPr bwMode="auto">
            <a:xfrm>
              <a:off x="1609" y="175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Line 93"/>
            <p:cNvSpPr>
              <a:spLocks noChangeShapeType="1"/>
            </p:cNvSpPr>
            <p:nvPr/>
          </p:nvSpPr>
          <p:spPr bwMode="auto">
            <a:xfrm>
              <a:off x="1609" y="18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Line 94"/>
            <p:cNvSpPr>
              <a:spLocks noChangeShapeType="1"/>
            </p:cNvSpPr>
            <p:nvPr/>
          </p:nvSpPr>
          <p:spPr bwMode="auto">
            <a:xfrm>
              <a:off x="1609" y="18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Line 95"/>
            <p:cNvSpPr>
              <a:spLocks noChangeShapeType="1"/>
            </p:cNvSpPr>
            <p:nvPr/>
          </p:nvSpPr>
          <p:spPr bwMode="auto">
            <a:xfrm>
              <a:off x="1609" y="19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Line 96"/>
            <p:cNvSpPr>
              <a:spLocks noChangeShapeType="1"/>
            </p:cNvSpPr>
            <p:nvPr/>
          </p:nvSpPr>
          <p:spPr bwMode="auto">
            <a:xfrm>
              <a:off x="1609" y="20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4" name="Line 97"/>
            <p:cNvSpPr>
              <a:spLocks noChangeShapeType="1"/>
            </p:cNvSpPr>
            <p:nvPr/>
          </p:nvSpPr>
          <p:spPr bwMode="auto">
            <a:xfrm>
              <a:off x="1609" y="21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Line 98"/>
            <p:cNvSpPr>
              <a:spLocks noChangeShapeType="1"/>
            </p:cNvSpPr>
            <p:nvPr/>
          </p:nvSpPr>
          <p:spPr bwMode="auto">
            <a:xfrm>
              <a:off x="1609" y="218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Line 99"/>
            <p:cNvSpPr>
              <a:spLocks noChangeShapeType="1"/>
            </p:cNvSpPr>
            <p:nvPr/>
          </p:nvSpPr>
          <p:spPr bwMode="auto">
            <a:xfrm>
              <a:off x="1609" y="225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Line 100"/>
            <p:cNvSpPr>
              <a:spLocks noChangeShapeType="1"/>
            </p:cNvSpPr>
            <p:nvPr/>
          </p:nvSpPr>
          <p:spPr bwMode="auto">
            <a:xfrm>
              <a:off x="1609" y="232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Line 101"/>
            <p:cNvSpPr>
              <a:spLocks noChangeShapeType="1"/>
            </p:cNvSpPr>
            <p:nvPr/>
          </p:nvSpPr>
          <p:spPr bwMode="auto">
            <a:xfrm>
              <a:off x="1609" y="240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Line 102"/>
            <p:cNvSpPr>
              <a:spLocks noChangeShapeType="1"/>
            </p:cNvSpPr>
            <p:nvPr/>
          </p:nvSpPr>
          <p:spPr bwMode="auto">
            <a:xfrm>
              <a:off x="1609" y="247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" name="Line 103"/>
            <p:cNvSpPr>
              <a:spLocks noChangeShapeType="1"/>
            </p:cNvSpPr>
            <p:nvPr/>
          </p:nvSpPr>
          <p:spPr bwMode="auto">
            <a:xfrm>
              <a:off x="1609" y="254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Line 104"/>
            <p:cNvSpPr>
              <a:spLocks noChangeShapeType="1"/>
            </p:cNvSpPr>
            <p:nvPr/>
          </p:nvSpPr>
          <p:spPr bwMode="auto">
            <a:xfrm>
              <a:off x="1609" y="261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2" name="Line 105"/>
            <p:cNvSpPr>
              <a:spLocks noChangeShapeType="1"/>
            </p:cNvSpPr>
            <p:nvPr/>
          </p:nvSpPr>
          <p:spPr bwMode="auto">
            <a:xfrm>
              <a:off x="1609" y="268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3" name="Line 106"/>
            <p:cNvSpPr>
              <a:spLocks noChangeShapeType="1"/>
            </p:cNvSpPr>
            <p:nvPr/>
          </p:nvSpPr>
          <p:spPr bwMode="auto">
            <a:xfrm>
              <a:off x="1609" y="276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4" name="Line 107"/>
            <p:cNvSpPr>
              <a:spLocks noChangeShapeType="1"/>
            </p:cNvSpPr>
            <p:nvPr/>
          </p:nvSpPr>
          <p:spPr bwMode="auto">
            <a:xfrm>
              <a:off x="1609" y="283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5" name="Line 108"/>
            <p:cNvSpPr>
              <a:spLocks noChangeShapeType="1"/>
            </p:cNvSpPr>
            <p:nvPr/>
          </p:nvSpPr>
          <p:spPr bwMode="auto">
            <a:xfrm>
              <a:off x="1609" y="290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6" name="Line 109"/>
            <p:cNvSpPr>
              <a:spLocks noChangeShapeType="1"/>
            </p:cNvSpPr>
            <p:nvPr/>
          </p:nvSpPr>
          <p:spPr bwMode="auto">
            <a:xfrm>
              <a:off x="1609" y="2977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7" name="Line 110"/>
            <p:cNvSpPr>
              <a:spLocks noChangeShapeType="1"/>
            </p:cNvSpPr>
            <p:nvPr/>
          </p:nvSpPr>
          <p:spPr bwMode="auto">
            <a:xfrm>
              <a:off x="1609" y="30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8" name="Line 111"/>
            <p:cNvSpPr>
              <a:spLocks noChangeShapeType="1"/>
            </p:cNvSpPr>
            <p:nvPr/>
          </p:nvSpPr>
          <p:spPr bwMode="auto">
            <a:xfrm>
              <a:off x="1609" y="31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9" name="Line 112"/>
            <p:cNvSpPr>
              <a:spLocks noChangeShapeType="1"/>
            </p:cNvSpPr>
            <p:nvPr/>
          </p:nvSpPr>
          <p:spPr bwMode="auto">
            <a:xfrm>
              <a:off x="1609" y="31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0" name="Line 113"/>
            <p:cNvSpPr>
              <a:spLocks noChangeShapeType="1"/>
            </p:cNvSpPr>
            <p:nvPr/>
          </p:nvSpPr>
          <p:spPr bwMode="auto">
            <a:xfrm>
              <a:off x="1609" y="32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1" name="Line 114"/>
            <p:cNvSpPr>
              <a:spLocks noChangeShapeType="1"/>
            </p:cNvSpPr>
            <p:nvPr/>
          </p:nvSpPr>
          <p:spPr bwMode="auto">
            <a:xfrm>
              <a:off x="1609" y="33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2" name="Line 115"/>
            <p:cNvSpPr>
              <a:spLocks noChangeShapeType="1"/>
            </p:cNvSpPr>
            <p:nvPr/>
          </p:nvSpPr>
          <p:spPr bwMode="auto">
            <a:xfrm>
              <a:off x="1609" y="34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3" name="Line 116"/>
            <p:cNvSpPr>
              <a:spLocks noChangeShapeType="1"/>
            </p:cNvSpPr>
            <p:nvPr/>
          </p:nvSpPr>
          <p:spPr bwMode="auto">
            <a:xfrm>
              <a:off x="1609" y="34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4" name="Line 117"/>
            <p:cNvSpPr>
              <a:spLocks noChangeShapeType="1"/>
            </p:cNvSpPr>
            <p:nvPr/>
          </p:nvSpPr>
          <p:spPr bwMode="auto">
            <a:xfrm>
              <a:off x="1609" y="355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5" name="Line 118"/>
            <p:cNvSpPr>
              <a:spLocks noChangeShapeType="1"/>
            </p:cNvSpPr>
            <p:nvPr/>
          </p:nvSpPr>
          <p:spPr bwMode="auto">
            <a:xfrm>
              <a:off x="1609" y="362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6" name="Line 119"/>
            <p:cNvSpPr>
              <a:spLocks noChangeShapeType="1"/>
            </p:cNvSpPr>
            <p:nvPr/>
          </p:nvSpPr>
          <p:spPr bwMode="auto">
            <a:xfrm>
              <a:off x="1609" y="369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7" name="Line 120"/>
            <p:cNvSpPr>
              <a:spLocks noChangeShapeType="1"/>
            </p:cNvSpPr>
            <p:nvPr/>
          </p:nvSpPr>
          <p:spPr bwMode="auto">
            <a:xfrm>
              <a:off x="1609" y="377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8" name="Line 121"/>
            <p:cNvSpPr>
              <a:spLocks noChangeShapeType="1"/>
            </p:cNvSpPr>
            <p:nvPr/>
          </p:nvSpPr>
          <p:spPr bwMode="auto">
            <a:xfrm>
              <a:off x="1609" y="384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9" name="Line 122"/>
            <p:cNvSpPr>
              <a:spLocks noChangeShapeType="1"/>
            </p:cNvSpPr>
            <p:nvPr/>
          </p:nvSpPr>
          <p:spPr bwMode="auto">
            <a:xfrm>
              <a:off x="1609" y="3914"/>
              <a:ext cx="1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0" name="Rectangle 123"/>
          <p:cNvSpPr>
            <a:spLocks noChangeArrowheads="1"/>
          </p:cNvSpPr>
          <p:nvPr/>
        </p:nvSpPr>
        <p:spPr bwMode="auto">
          <a:xfrm>
            <a:off x="6733704" y="1200150"/>
            <a:ext cx="428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31" name="Rectangle 124"/>
          <p:cNvSpPr>
            <a:spLocks noChangeArrowheads="1"/>
          </p:cNvSpPr>
          <p:nvPr/>
        </p:nvSpPr>
        <p:spPr bwMode="auto">
          <a:xfrm>
            <a:off x="2977679" y="156845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32" name="Group 125"/>
          <p:cNvGrpSpPr>
            <a:grpSpLocks/>
          </p:cNvGrpSpPr>
          <p:nvPr/>
        </p:nvGrpSpPr>
        <p:grpSpPr bwMode="auto">
          <a:xfrm>
            <a:off x="3041179" y="1900238"/>
            <a:ext cx="76200" cy="1219200"/>
            <a:chOff x="226" y="1089"/>
            <a:chExt cx="48" cy="768"/>
          </a:xfrm>
        </p:grpSpPr>
        <p:sp>
          <p:nvSpPr>
            <p:cNvPr id="133" name="Freeform 126"/>
            <p:cNvSpPr>
              <a:spLocks/>
            </p:cNvSpPr>
            <p:nvPr/>
          </p:nvSpPr>
          <p:spPr bwMode="auto">
            <a:xfrm>
              <a:off x="226" y="1089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4" name="Line 127"/>
            <p:cNvSpPr>
              <a:spLocks noChangeShapeType="1"/>
            </p:cNvSpPr>
            <p:nvPr/>
          </p:nvSpPr>
          <p:spPr bwMode="auto">
            <a:xfrm>
              <a:off x="250" y="1177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35" name="Group 128"/>
          <p:cNvGrpSpPr>
            <a:grpSpLocks/>
          </p:cNvGrpSpPr>
          <p:nvPr/>
        </p:nvGrpSpPr>
        <p:grpSpPr bwMode="auto">
          <a:xfrm>
            <a:off x="3015779" y="3017838"/>
            <a:ext cx="3883025" cy="63500"/>
            <a:chOff x="210" y="1793"/>
            <a:chExt cx="2446" cy="40"/>
          </a:xfrm>
        </p:grpSpPr>
        <p:sp>
          <p:nvSpPr>
            <p:cNvPr id="136" name="Freeform 129"/>
            <p:cNvSpPr>
              <a:spLocks/>
            </p:cNvSpPr>
            <p:nvPr/>
          </p:nvSpPr>
          <p:spPr bwMode="auto">
            <a:xfrm>
              <a:off x="2568" y="1793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7" name="Line 130"/>
            <p:cNvSpPr>
              <a:spLocks noChangeShapeType="1"/>
            </p:cNvSpPr>
            <p:nvPr/>
          </p:nvSpPr>
          <p:spPr bwMode="auto">
            <a:xfrm>
              <a:off x="210" y="1809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8" name="Line 131"/>
          <p:cNvSpPr>
            <a:spLocks noChangeShapeType="1"/>
          </p:cNvSpPr>
          <p:nvPr/>
        </p:nvSpPr>
        <p:spPr bwMode="auto">
          <a:xfrm flipV="1">
            <a:off x="3079279" y="2541588"/>
            <a:ext cx="722313" cy="4953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9" name="Line 132"/>
          <p:cNvSpPr>
            <a:spLocks noChangeShapeType="1"/>
          </p:cNvSpPr>
          <p:nvPr/>
        </p:nvSpPr>
        <p:spPr bwMode="auto">
          <a:xfrm flipV="1">
            <a:off x="5236692" y="2532063"/>
            <a:ext cx="722312" cy="4953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0" name="Rectangle 133"/>
          <p:cNvSpPr>
            <a:spLocks noChangeArrowheads="1"/>
          </p:cNvSpPr>
          <p:nvPr/>
        </p:nvSpPr>
        <p:spPr bwMode="auto">
          <a:xfrm>
            <a:off x="2850679" y="181133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1" name="Rectangle 134"/>
          <p:cNvSpPr>
            <a:spLocks noChangeArrowheads="1"/>
          </p:cNvSpPr>
          <p:nvPr/>
        </p:nvSpPr>
        <p:spPr bwMode="auto">
          <a:xfrm>
            <a:off x="2914179" y="1900238"/>
            <a:ext cx="571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1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2" name="Rectangle 135"/>
          <p:cNvSpPr>
            <a:spLocks noChangeArrowheads="1"/>
          </p:cNvSpPr>
          <p:nvPr/>
        </p:nvSpPr>
        <p:spPr bwMode="auto">
          <a:xfrm>
            <a:off x="3688879" y="3106738"/>
            <a:ext cx="936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3" name="Rectangle 136"/>
          <p:cNvSpPr>
            <a:spLocks noChangeArrowheads="1"/>
          </p:cNvSpPr>
          <p:nvPr/>
        </p:nvSpPr>
        <p:spPr bwMode="auto">
          <a:xfrm>
            <a:off x="5135092" y="3043238"/>
            <a:ext cx="936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4" name="Rectangle 137"/>
          <p:cNvSpPr>
            <a:spLocks noChangeArrowheads="1"/>
          </p:cNvSpPr>
          <p:nvPr/>
        </p:nvSpPr>
        <p:spPr bwMode="auto">
          <a:xfrm>
            <a:off x="3549179" y="3094038"/>
            <a:ext cx="968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5" name="Rectangle 138"/>
          <p:cNvSpPr>
            <a:spLocks noChangeArrowheads="1"/>
          </p:cNvSpPr>
          <p:nvPr/>
        </p:nvSpPr>
        <p:spPr bwMode="auto">
          <a:xfrm>
            <a:off x="6733704" y="271303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6" name="Rectangle 139"/>
          <p:cNvSpPr>
            <a:spLocks noChangeArrowheads="1"/>
          </p:cNvSpPr>
          <p:nvPr/>
        </p:nvSpPr>
        <p:spPr bwMode="auto">
          <a:xfrm>
            <a:off x="2977679" y="3081338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7" name="Line 140"/>
          <p:cNvSpPr>
            <a:spLocks noChangeShapeType="1"/>
          </p:cNvSpPr>
          <p:nvPr/>
        </p:nvSpPr>
        <p:spPr bwMode="auto">
          <a:xfrm>
            <a:off x="3801592" y="2551113"/>
            <a:ext cx="1587" cy="4921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8" name="Line 141"/>
          <p:cNvSpPr>
            <a:spLocks noChangeShapeType="1"/>
          </p:cNvSpPr>
          <p:nvPr/>
        </p:nvSpPr>
        <p:spPr bwMode="auto">
          <a:xfrm>
            <a:off x="5959004" y="2532063"/>
            <a:ext cx="1588" cy="51117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149" name="Group 142"/>
          <p:cNvGrpSpPr>
            <a:grpSpLocks/>
          </p:cNvGrpSpPr>
          <p:nvPr/>
        </p:nvGrpSpPr>
        <p:grpSpPr bwMode="auto">
          <a:xfrm>
            <a:off x="3041179" y="3411538"/>
            <a:ext cx="76200" cy="1219200"/>
            <a:chOff x="226" y="2041"/>
            <a:chExt cx="48" cy="768"/>
          </a:xfrm>
        </p:grpSpPr>
        <p:sp>
          <p:nvSpPr>
            <p:cNvPr id="150" name="Freeform 143"/>
            <p:cNvSpPr>
              <a:spLocks/>
            </p:cNvSpPr>
            <p:nvPr/>
          </p:nvSpPr>
          <p:spPr bwMode="auto">
            <a:xfrm>
              <a:off x="226" y="2041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1" name="Line 144"/>
            <p:cNvSpPr>
              <a:spLocks noChangeShapeType="1"/>
            </p:cNvSpPr>
            <p:nvPr/>
          </p:nvSpPr>
          <p:spPr bwMode="auto">
            <a:xfrm>
              <a:off x="250" y="2129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2" name="Group 145"/>
          <p:cNvGrpSpPr>
            <a:grpSpLocks/>
          </p:cNvGrpSpPr>
          <p:nvPr/>
        </p:nvGrpSpPr>
        <p:grpSpPr bwMode="auto">
          <a:xfrm>
            <a:off x="3015779" y="4437063"/>
            <a:ext cx="3883025" cy="63500"/>
            <a:chOff x="210" y="2201"/>
            <a:chExt cx="2446" cy="40"/>
          </a:xfrm>
        </p:grpSpPr>
        <p:sp>
          <p:nvSpPr>
            <p:cNvPr id="153" name="Freeform 146"/>
            <p:cNvSpPr>
              <a:spLocks/>
            </p:cNvSpPr>
            <p:nvPr/>
          </p:nvSpPr>
          <p:spPr bwMode="auto">
            <a:xfrm>
              <a:off x="2568" y="2201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4" name="Line 147"/>
            <p:cNvSpPr>
              <a:spLocks noChangeShapeType="1"/>
            </p:cNvSpPr>
            <p:nvPr/>
          </p:nvSpPr>
          <p:spPr bwMode="auto">
            <a:xfrm>
              <a:off x="210" y="2217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5" name="Rectangle 148"/>
          <p:cNvSpPr>
            <a:spLocks noChangeArrowheads="1"/>
          </p:cNvSpPr>
          <p:nvPr/>
        </p:nvSpPr>
        <p:spPr bwMode="auto">
          <a:xfrm>
            <a:off x="2790354" y="3322638"/>
            <a:ext cx="936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-i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6" name="Rectangle 149"/>
          <p:cNvSpPr>
            <a:spLocks noChangeArrowheads="1"/>
          </p:cNvSpPr>
          <p:nvPr/>
        </p:nvSpPr>
        <p:spPr bwMode="auto">
          <a:xfrm>
            <a:off x="2914179" y="3411538"/>
            <a:ext cx="571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2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7" name="Rectangle 150"/>
          <p:cNvSpPr>
            <a:spLocks noChangeArrowheads="1"/>
          </p:cNvSpPr>
          <p:nvPr/>
        </p:nvSpPr>
        <p:spPr bwMode="auto">
          <a:xfrm>
            <a:off x="3688879" y="4525963"/>
            <a:ext cx="936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8" name="Rectangle 151"/>
          <p:cNvSpPr>
            <a:spLocks noChangeArrowheads="1"/>
          </p:cNvSpPr>
          <p:nvPr/>
        </p:nvSpPr>
        <p:spPr bwMode="auto">
          <a:xfrm>
            <a:off x="5135092" y="4462463"/>
            <a:ext cx="936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9" name="Rectangle 152"/>
          <p:cNvSpPr>
            <a:spLocks noChangeArrowheads="1"/>
          </p:cNvSpPr>
          <p:nvPr/>
        </p:nvSpPr>
        <p:spPr bwMode="auto">
          <a:xfrm>
            <a:off x="3549179" y="4513263"/>
            <a:ext cx="968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0" name="Rectangle 153"/>
          <p:cNvSpPr>
            <a:spLocks noChangeArrowheads="1"/>
          </p:cNvSpPr>
          <p:nvPr/>
        </p:nvSpPr>
        <p:spPr bwMode="auto">
          <a:xfrm>
            <a:off x="6733704" y="4132263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1" name="Rectangle 154"/>
          <p:cNvSpPr>
            <a:spLocks noChangeArrowheads="1"/>
          </p:cNvSpPr>
          <p:nvPr/>
        </p:nvSpPr>
        <p:spPr bwMode="auto">
          <a:xfrm>
            <a:off x="2977679" y="450056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62" name="Group 155"/>
          <p:cNvGrpSpPr>
            <a:grpSpLocks/>
          </p:cNvGrpSpPr>
          <p:nvPr/>
        </p:nvGrpSpPr>
        <p:grpSpPr bwMode="auto">
          <a:xfrm>
            <a:off x="3041179" y="5064125"/>
            <a:ext cx="98425" cy="1584325"/>
            <a:chOff x="226" y="3082"/>
            <a:chExt cx="48" cy="776"/>
          </a:xfrm>
        </p:grpSpPr>
        <p:sp>
          <p:nvSpPr>
            <p:cNvPr id="163" name="Freeform 156"/>
            <p:cNvSpPr>
              <a:spLocks/>
            </p:cNvSpPr>
            <p:nvPr/>
          </p:nvSpPr>
          <p:spPr bwMode="auto">
            <a:xfrm>
              <a:off x="226" y="3082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4" name="Line 157"/>
            <p:cNvSpPr>
              <a:spLocks noChangeShapeType="1"/>
            </p:cNvSpPr>
            <p:nvPr/>
          </p:nvSpPr>
          <p:spPr bwMode="auto">
            <a:xfrm>
              <a:off x="250" y="3170"/>
              <a:ext cx="1" cy="6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5" name="Group 158"/>
          <p:cNvGrpSpPr>
            <a:grpSpLocks/>
          </p:cNvGrpSpPr>
          <p:nvPr/>
        </p:nvGrpSpPr>
        <p:grpSpPr bwMode="auto">
          <a:xfrm>
            <a:off x="3015779" y="6181725"/>
            <a:ext cx="3883025" cy="76200"/>
            <a:chOff x="210" y="3786"/>
            <a:chExt cx="2446" cy="48"/>
          </a:xfrm>
        </p:grpSpPr>
        <p:sp>
          <p:nvSpPr>
            <p:cNvPr id="166" name="Freeform 159"/>
            <p:cNvSpPr>
              <a:spLocks/>
            </p:cNvSpPr>
            <p:nvPr/>
          </p:nvSpPr>
          <p:spPr bwMode="auto">
            <a:xfrm>
              <a:off x="2568" y="3786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7" name="Line 160"/>
            <p:cNvSpPr>
              <a:spLocks noChangeShapeType="1"/>
            </p:cNvSpPr>
            <p:nvPr/>
          </p:nvSpPr>
          <p:spPr bwMode="auto">
            <a:xfrm>
              <a:off x="210" y="3810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68" name="Line 161"/>
          <p:cNvSpPr>
            <a:spLocks noChangeShapeType="1"/>
          </p:cNvSpPr>
          <p:nvPr/>
        </p:nvSpPr>
        <p:spPr bwMode="auto">
          <a:xfrm>
            <a:off x="3792067" y="3697288"/>
            <a:ext cx="996950" cy="7524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9" name="Line 162"/>
          <p:cNvSpPr>
            <a:spLocks noChangeShapeType="1"/>
          </p:cNvSpPr>
          <p:nvPr/>
        </p:nvSpPr>
        <p:spPr bwMode="auto">
          <a:xfrm flipH="1" flipV="1">
            <a:off x="3793654" y="3690938"/>
            <a:ext cx="7938" cy="7683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0" name="Line 163"/>
          <p:cNvSpPr>
            <a:spLocks noChangeShapeType="1"/>
          </p:cNvSpPr>
          <p:nvPr/>
        </p:nvSpPr>
        <p:spPr bwMode="auto">
          <a:xfrm flipV="1">
            <a:off x="4789017" y="4449763"/>
            <a:ext cx="439737" cy="3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1" name="Rectangle 164"/>
          <p:cNvSpPr>
            <a:spLocks noChangeArrowheads="1"/>
          </p:cNvSpPr>
          <p:nvPr/>
        </p:nvSpPr>
        <p:spPr bwMode="auto">
          <a:xfrm>
            <a:off x="2774479" y="4987925"/>
            <a:ext cx="746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v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2" name="Rectangle 165"/>
          <p:cNvSpPr>
            <a:spLocks noChangeArrowheads="1"/>
          </p:cNvSpPr>
          <p:nvPr/>
        </p:nvSpPr>
        <p:spPr bwMode="auto">
          <a:xfrm>
            <a:off x="2888779" y="5064125"/>
            <a:ext cx="100013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ce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3" name="Rectangle 166"/>
          <p:cNvSpPr>
            <a:spLocks noChangeArrowheads="1"/>
          </p:cNvSpPr>
          <p:nvPr/>
        </p:nvSpPr>
        <p:spPr bwMode="auto">
          <a:xfrm>
            <a:off x="3688879" y="6283325"/>
            <a:ext cx="936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4" name="Rectangle 167"/>
          <p:cNvSpPr>
            <a:spLocks noChangeArrowheads="1"/>
          </p:cNvSpPr>
          <p:nvPr/>
        </p:nvSpPr>
        <p:spPr bwMode="auto">
          <a:xfrm>
            <a:off x="5135092" y="6207125"/>
            <a:ext cx="936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5" name="Rectangle 168"/>
          <p:cNvSpPr>
            <a:spLocks noChangeArrowheads="1"/>
          </p:cNvSpPr>
          <p:nvPr/>
        </p:nvSpPr>
        <p:spPr bwMode="auto">
          <a:xfrm>
            <a:off x="3549179" y="6270625"/>
            <a:ext cx="968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6" name="Rectangle 169"/>
          <p:cNvSpPr>
            <a:spLocks noChangeArrowheads="1"/>
          </p:cNvSpPr>
          <p:nvPr/>
        </p:nvSpPr>
        <p:spPr bwMode="auto">
          <a:xfrm>
            <a:off x="6733704" y="5889625"/>
            <a:ext cx="428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7" name="Rectangle 170"/>
          <p:cNvSpPr>
            <a:spLocks noChangeArrowheads="1"/>
          </p:cNvSpPr>
          <p:nvPr/>
        </p:nvSpPr>
        <p:spPr bwMode="auto">
          <a:xfrm>
            <a:off x="2977679" y="6245225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8" name="Line 171"/>
          <p:cNvSpPr>
            <a:spLocks noChangeShapeType="1"/>
          </p:cNvSpPr>
          <p:nvPr/>
        </p:nvSpPr>
        <p:spPr bwMode="auto">
          <a:xfrm>
            <a:off x="3801592" y="5356225"/>
            <a:ext cx="1587" cy="863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9" name="Line 172"/>
          <p:cNvSpPr>
            <a:spLocks noChangeShapeType="1"/>
          </p:cNvSpPr>
          <p:nvPr/>
        </p:nvSpPr>
        <p:spPr bwMode="auto">
          <a:xfrm>
            <a:off x="5236692" y="5565775"/>
            <a:ext cx="1587" cy="6540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" name="Line 173"/>
          <p:cNvSpPr>
            <a:spLocks noChangeShapeType="1"/>
          </p:cNvSpPr>
          <p:nvPr/>
        </p:nvSpPr>
        <p:spPr bwMode="auto">
          <a:xfrm>
            <a:off x="3801592" y="5356225"/>
            <a:ext cx="9779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1" name="Text Box 174"/>
          <p:cNvSpPr txBox="1">
            <a:spLocks noChangeArrowheads="1"/>
          </p:cNvSpPr>
          <p:nvPr/>
        </p:nvSpPr>
        <p:spPr bwMode="auto">
          <a:xfrm>
            <a:off x="3209454" y="273050"/>
            <a:ext cx="36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009900"/>
                </a:solidFill>
                <a:latin typeface="Symbol" panose="05050102010706020507" pitchFamily="18" charset="2"/>
              </a:rPr>
              <a:t>j</a:t>
            </a:r>
          </a:p>
        </p:txBody>
      </p:sp>
      <p:grpSp>
        <p:nvGrpSpPr>
          <p:cNvPr id="187" name="Group 275"/>
          <p:cNvGrpSpPr>
            <a:grpSpLocks/>
          </p:cNvGrpSpPr>
          <p:nvPr/>
        </p:nvGrpSpPr>
        <p:grpSpPr bwMode="auto">
          <a:xfrm>
            <a:off x="3920654" y="2017715"/>
            <a:ext cx="1104900" cy="411163"/>
            <a:chOff x="780" y="1163"/>
            <a:chExt cx="696" cy="259"/>
          </a:xfrm>
        </p:grpSpPr>
        <p:graphicFrame>
          <p:nvGraphicFramePr>
            <p:cNvPr id="188" name="Object 2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7200606"/>
                </p:ext>
              </p:extLst>
            </p:nvPr>
          </p:nvGraphicFramePr>
          <p:xfrm>
            <a:off x="782" y="1163"/>
            <a:ext cx="653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Équation" r:id="rId2" imgW="609480" imgH="215640" progId="Equation.3">
                    <p:embed/>
                  </p:oleObj>
                </mc:Choice>
                <mc:Fallback>
                  <p:oleObj name="Équation" r:id="rId2" imgW="609480" imgH="215640" progId="Equation.3">
                    <p:embed/>
                    <p:pic>
                      <p:nvPicPr>
                        <p:cNvPr id="188" name="Object 2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2" y="1163"/>
                          <a:ext cx="653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9" name="AutoShape 277"/>
            <p:cNvSpPr>
              <a:spLocks/>
            </p:cNvSpPr>
            <p:nvPr/>
          </p:nvSpPr>
          <p:spPr bwMode="auto">
            <a:xfrm>
              <a:off x="780" y="1164"/>
              <a:ext cx="696" cy="258"/>
            </a:xfrm>
            <a:prstGeom prst="borderCallout2">
              <a:avLst>
                <a:gd name="adj1" fmla="val 27907"/>
                <a:gd name="adj2" fmla="val -6898"/>
                <a:gd name="adj3" fmla="val 27907"/>
                <a:gd name="adj4" fmla="val -27157"/>
                <a:gd name="adj5" fmla="val 134884"/>
                <a:gd name="adj6" fmla="val -48278"/>
              </a:avLst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0" name="Groupe 189"/>
          <p:cNvGrpSpPr>
            <a:grpSpLocks/>
          </p:cNvGrpSpPr>
          <p:nvPr/>
        </p:nvGrpSpPr>
        <p:grpSpPr bwMode="auto">
          <a:xfrm>
            <a:off x="4993804" y="3621088"/>
            <a:ext cx="1397000" cy="387350"/>
            <a:chOff x="2311400" y="3449638"/>
            <a:chExt cx="1396480" cy="387350"/>
          </a:xfrm>
        </p:grpSpPr>
        <p:sp>
          <p:nvSpPr>
            <p:cNvPr id="191" name="AutoShape 280"/>
            <p:cNvSpPr>
              <a:spLocks/>
            </p:cNvSpPr>
            <p:nvPr/>
          </p:nvSpPr>
          <p:spPr bwMode="auto">
            <a:xfrm>
              <a:off x="2311400" y="3449638"/>
              <a:ext cx="1396480" cy="387350"/>
            </a:xfrm>
            <a:prstGeom prst="borderCallout1">
              <a:avLst>
                <a:gd name="adj1" fmla="val 31579"/>
                <a:gd name="adj2" fmla="val -7079"/>
                <a:gd name="adj3" fmla="val 91204"/>
                <a:gd name="adj4" fmla="val -50056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92" name="Object 2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4691573"/>
                </p:ext>
              </p:extLst>
            </p:nvPr>
          </p:nvGraphicFramePr>
          <p:xfrm>
            <a:off x="2384869" y="3459163"/>
            <a:ext cx="1187008" cy="334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Équation" r:id="rId4" imgW="761760" imgH="215640" progId="Equation.3">
                    <p:embed/>
                  </p:oleObj>
                </mc:Choice>
                <mc:Fallback>
                  <p:oleObj name="Équation" r:id="rId4" imgW="761760" imgH="215640" progId="Equation.3">
                    <p:embed/>
                    <p:pic>
                      <p:nvPicPr>
                        <p:cNvPr id="192" name="Object 2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4869" y="3459163"/>
                          <a:ext cx="1187008" cy="334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3" name="Line 282"/>
          <p:cNvSpPr>
            <a:spLocks noChangeShapeType="1"/>
          </p:cNvSpPr>
          <p:nvPr/>
        </p:nvSpPr>
        <p:spPr bwMode="auto">
          <a:xfrm flipH="1">
            <a:off x="2930054" y="5353050"/>
            <a:ext cx="3819525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5" name="Line 284"/>
          <p:cNvSpPr>
            <a:spLocks noChangeShapeType="1"/>
          </p:cNvSpPr>
          <p:nvPr/>
        </p:nvSpPr>
        <p:spPr bwMode="auto">
          <a:xfrm>
            <a:off x="3082454" y="5591175"/>
            <a:ext cx="70485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6" name="Line 285"/>
          <p:cNvSpPr>
            <a:spLocks noChangeShapeType="1"/>
          </p:cNvSpPr>
          <p:nvPr/>
        </p:nvSpPr>
        <p:spPr bwMode="auto">
          <a:xfrm>
            <a:off x="3787304" y="5591175"/>
            <a:ext cx="0" cy="103822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7" name="Line 286"/>
          <p:cNvSpPr>
            <a:spLocks noChangeShapeType="1"/>
          </p:cNvSpPr>
          <p:nvPr/>
        </p:nvSpPr>
        <p:spPr bwMode="auto">
          <a:xfrm>
            <a:off x="3777779" y="6629400"/>
            <a:ext cx="100965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8" name="Line 287"/>
          <p:cNvSpPr>
            <a:spLocks noChangeShapeType="1"/>
          </p:cNvSpPr>
          <p:nvPr/>
        </p:nvSpPr>
        <p:spPr bwMode="auto">
          <a:xfrm flipV="1">
            <a:off x="4781079" y="6200775"/>
            <a:ext cx="6350" cy="42862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9" name="Line 288"/>
          <p:cNvSpPr>
            <a:spLocks noChangeShapeType="1"/>
          </p:cNvSpPr>
          <p:nvPr/>
        </p:nvSpPr>
        <p:spPr bwMode="auto">
          <a:xfrm>
            <a:off x="5244629" y="5591175"/>
            <a:ext cx="78105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0" name="Text Box 289"/>
          <p:cNvSpPr txBox="1">
            <a:spLocks noChangeArrowheads="1"/>
          </p:cNvSpPr>
          <p:nvPr/>
        </p:nvSpPr>
        <p:spPr bwMode="auto">
          <a:xfrm>
            <a:off x="5647854" y="54864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aseline="-25000">
                <a:solidFill>
                  <a:srgbClr val="0099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1" name="Text Box 290"/>
          <p:cNvSpPr txBox="1">
            <a:spLocks noChangeArrowheads="1"/>
          </p:cNvSpPr>
          <p:nvPr/>
        </p:nvSpPr>
        <p:spPr bwMode="auto">
          <a:xfrm>
            <a:off x="2810992" y="54117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Times New Roman" panose="02020603050405020304" pitchFamily="18" charset="0"/>
              </a:rPr>
              <a:t>E</a:t>
            </a:r>
            <a:endParaRPr lang="fr-FR" altLang="fr-FR" sz="1800" baseline="-2500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02" name="Object 2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1144005"/>
              </p:ext>
            </p:extLst>
          </p:nvPr>
        </p:nvGraphicFramePr>
        <p:xfrm>
          <a:off x="2682404" y="6389688"/>
          <a:ext cx="4286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225" imgH="342603" progId="Equation.3">
                  <p:embed/>
                </p:oleObj>
              </mc:Choice>
              <mc:Fallback>
                <p:oleObj name="Equation" r:id="rId6" imgW="317225" imgH="342603" progId="Equation.3">
                  <p:embed/>
                  <p:pic>
                    <p:nvPicPr>
                      <p:cNvPr id="202" name="Object 2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404" y="6389688"/>
                        <a:ext cx="4286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" name="Line 293"/>
          <p:cNvSpPr>
            <a:spLocks noChangeShapeType="1"/>
          </p:cNvSpPr>
          <p:nvPr/>
        </p:nvSpPr>
        <p:spPr bwMode="auto">
          <a:xfrm flipH="1">
            <a:off x="3082454" y="6610350"/>
            <a:ext cx="695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7" name="Text Box 297"/>
          <p:cNvSpPr txBox="1">
            <a:spLocks noChangeArrowheads="1"/>
          </p:cNvSpPr>
          <p:nvPr/>
        </p:nvSpPr>
        <p:spPr bwMode="auto">
          <a:xfrm>
            <a:off x="8156104" y="3752850"/>
            <a:ext cx="28448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>
                <a:solidFill>
                  <a:srgbClr val="009900"/>
                </a:solidFill>
                <a:latin typeface="Times New Roman" panose="02020603050405020304" pitchFamily="18" charset="0"/>
              </a:rPr>
              <a:t>Output voltage calculation: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>
                <a:solidFill>
                  <a:srgbClr val="009900"/>
                </a:solidFill>
                <a:latin typeface="Times New Roman" panose="02020603050405020304" pitchFamily="18" charset="0"/>
              </a:rPr>
              <a:t>Transferred energy</a:t>
            </a:r>
          </a:p>
        </p:txBody>
      </p:sp>
      <p:sp>
        <p:nvSpPr>
          <p:cNvPr id="208" name="Line 298"/>
          <p:cNvSpPr>
            <a:spLocks noChangeShapeType="1"/>
          </p:cNvSpPr>
          <p:nvPr/>
        </p:nvSpPr>
        <p:spPr bwMode="auto">
          <a:xfrm flipV="1">
            <a:off x="4819179" y="1516063"/>
            <a:ext cx="407988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9" name="Line 299"/>
          <p:cNvSpPr>
            <a:spLocks noChangeShapeType="1"/>
          </p:cNvSpPr>
          <p:nvPr/>
        </p:nvSpPr>
        <p:spPr bwMode="auto">
          <a:xfrm>
            <a:off x="4777904" y="657225"/>
            <a:ext cx="0" cy="584835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0" name="Rectangle 300"/>
          <p:cNvSpPr>
            <a:spLocks noChangeArrowheads="1"/>
          </p:cNvSpPr>
          <p:nvPr/>
        </p:nvSpPr>
        <p:spPr bwMode="auto">
          <a:xfrm>
            <a:off x="4566767" y="6303963"/>
            <a:ext cx="1016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211" name="Rectangle 301"/>
          <p:cNvSpPr>
            <a:spLocks noChangeArrowheads="1"/>
          </p:cNvSpPr>
          <p:nvPr/>
        </p:nvSpPr>
        <p:spPr bwMode="auto">
          <a:xfrm>
            <a:off x="4427067" y="6291263"/>
            <a:ext cx="1476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r>
              <a:rPr lang="fr-FR" altLang="fr-F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’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212" name="Line 302"/>
          <p:cNvSpPr>
            <a:spLocks noChangeShapeType="1"/>
          </p:cNvSpPr>
          <p:nvPr/>
        </p:nvSpPr>
        <p:spPr bwMode="auto">
          <a:xfrm flipH="1" flipV="1">
            <a:off x="5227167" y="5592763"/>
            <a:ext cx="9525" cy="62865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3" name="Line 303"/>
          <p:cNvSpPr>
            <a:spLocks noChangeShapeType="1"/>
          </p:cNvSpPr>
          <p:nvPr/>
        </p:nvSpPr>
        <p:spPr bwMode="auto">
          <a:xfrm>
            <a:off x="4769967" y="6221413"/>
            <a:ext cx="45085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4" name="Line 304"/>
          <p:cNvSpPr>
            <a:spLocks noChangeShapeType="1"/>
          </p:cNvSpPr>
          <p:nvPr/>
        </p:nvSpPr>
        <p:spPr bwMode="auto">
          <a:xfrm>
            <a:off x="4777904" y="5354638"/>
            <a:ext cx="0" cy="228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5" name="Line 305"/>
          <p:cNvSpPr>
            <a:spLocks noChangeShapeType="1"/>
          </p:cNvSpPr>
          <p:nvPr/>
        </p:nvSpPr>
        <p:spPr bwMode="auto">
          <a:xfrm flipV="1">
            <a:off x="4771554" y="5578475"/>
            <a:ext cx="450850" cy="47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6" name="Line 307"/>
          <p:cNvSpPr>
            <a:spLocks noChangeShapeType="1"/>
          </p:cNvSpPr>
          <p:nvPr/>
        </p:nvSpPr>
        <p:spPr bwMode="auto">
          <a:xfrm flipH="1">
            <a:off x="3819054" y="3019425"/>
            <a:ext cx="1455738" cy="635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7" name="Line 308"/>
          <p:cNvSpPr>
            <a:spLocks noChangeShapeType="1"/>
          </p:cNvSpPr>
          <p:nvPr/>
        </p:nvSpPr>
        <p:spPr bwMode="auto">
          <a:xfrm flipV="1">
            <a:off x="3085629" y="4460875"/>
            <a:ext cx="715963" cy="3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219" name="Object 3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628366"/>
              </p:ext>
            </p:extLst>
          </p:nvPr>
        </p:nvGraphicFramePr>
        <p:xfrm>
          <a:off x="7913217" y="4405313"/>
          <a:ext cx="28829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65300" imgH="419100" progId="Equation.3">
                  <p:embed/>
                </p:oleObj>
              </mc:Choice>
              <mc:Fallback>
                <p:oleObj name="Equation" r:id="rId8" imgW="1765300" imgH="419100" progId="Equation.3">
                  <p:embed/>
                  <p:pic>
                    <p:nvPicPr>
                      <p:cNvPr id="219" name="Object 3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3217" y="4405313"/>
                        <a:ext cx="28829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" name="Object 3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293834"/>
              </p:ext>
            </p:extLst>
          </p:nvPr>
        </p:nvGraphicFramePr>
        <p:xfrm>
          <a:off x="8445029" y="5200650"/>
          <a:ext cx="190817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02865" imgH="190417" progId="Equation.3">
                  <p:embed/>
                </p:oleObj>
              </mc:Choice>
              <mc:Fallback>
                <p:oleObj name="Equation" r:id="rId10" imgW="1002865" imgH="190417" progId="Equation.3">
                  <p:embed/>
                  <p:pic>
                    <p:nvPicPr>
                      <p:cNvPr id="221" name="Object 3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029" y="5200650"/>
                        <a:ext cx="1908175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3" name="Group 314"/>
          <p:cNvGrpSpPr>
            <a:grpSpLocks/>
          </p:cNvGrpSpPr>
          <p:nvPr/>
        </p:nvGrpSpPr>
        <p:grpSpPr bwMode="auto">
          <a:xfrm>
            <a:off x="9007004" y="5610225"/>
            <a:ext cx="1943100" cy="1047750"/>
            <a:chOff x="3984" y="3426"/>
            <a:chExt cx="1224" cy="660"/>
          </a:xfrm>
        </p:grpSpPr>
        <p:sp>
          <p:nvSpPr>
            <p:cNvPr id="224" name="Rectangle 315"/>
            <p:cNvSpPr>
              <a:spLocks noChangeArrowheads="1"/>
            </p:cNvSpPr>
            <p:nvPr/>
          </p:nvSpPr>
          <p:spPr bwMode="auto">
            <a:xfrm>
              <a:off x="3984" y="3426"/>
              <a:ext cx="1224" cy="6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25" name="Object 316"/>
            <p:cNvGraphicFramePr>
              <a:graphicFrameLocks noChangeAspect="1"/>
            </p:cNvGraphicFramePr>
            <p:nvPr/>
          </p:nvGraphicFramePr>
          <p:xfrm>
            <a:off x="4014" y="3447"/>
            <a:ext cx="1104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74364" imgH="406224" progId="Equation.3">
                    <p:embed/>
                  </p:oleObj>
                </mc:Choice>
                <mc:Fallback>
                  <p:oleObj name="Equation" r:id="rId12" imgW="774364" imgH="406224" progId="Equation.3">
                    <p:embed/>
                    <p:pic>
                      <p:nvPicPr>
                        <p:cNvPr id="225" name="Object 3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3447"/>
                          <a:ext cx="1104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" name="ZoneTexte 326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Discontinuous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9E94A97-5644-F5F1-E313-7A332282765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942" y="1038317"/>
            <a:ext cx="5504447" cy="198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0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Discontinuous mode: output characteristics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3861088" y="1867766"/>
            <a:ext cx="5591175" cy="3857625"/>
            <a:chOff x="678" y="906"/>
            <a:chExt cx="3522" cy="2430"/>
          </a:xfrm>
        </p:grpSpPr>
        <p:sp>
          <p:nvSpPr>
            <p:cNvPr id="11" name="Freeform 3" descr="blanc)"/>
            <p:cNvSpPr>
              <a:spLocks/>
            </p:cNvSpPr>
            <p:nvPr/>
          </p:nvSpPr>
          <p:spPr bwMode="auto">
            <a:xfrm>
              <a:off x="678" y="906"/>
              <a:ext cx="3522" cy="2430"/>
            </a:xfrm>
            <a:custGeom>
              <a:avLst/>
              <a:gdLst>
                <a:gd name="T0" fmla="*/ 1632 w 3522"/>
                <a:gd name="T1" fmla="*/ 0 h 2430"/>
                <a:gd name="T2" fmla="*/ 0 w 3522"/>
                <a:gd name="T3" fmla="*/ 2430 h 2430"/>
                <a:gd name="T4" fmla="*/ 3522 w 3522"/>
                <a:gd name="T5" fmla="*/ 1290 h 24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22" h="2430">
                  <a:moveTo>
                    <a:pt x="1632" y="0"/>
                  </a:moveTo>
                  <a:lnTo>
                    <a:pt x="0" y="2430"/>
                  </a:lnTo>
                  <a:lnTo>
                    <a:pt x="3522" y="1290"/>
                  </a:lnTo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 Box 4"/>
            <p:cNvSpPr txBox="1">
              <a:spLocks noChangeArrowheads="1"/>
            </p:cNvSpPr>
            <p:nvPr/>
          </p:nvSpPr>
          <p:spPr bwMode="auto">
            <a:xfrm>
              <a:off x="2516" y="1644"/>
              <a:ext cx="81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Useful area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V="1">
            <a:off x="3845213" y="2120179"/>
            <a:ext cx="1588" cy="36068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805526" y="5726979"/>
            <a:ext cx="698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>
            <a:off x="3805526" y="5133254"/>
            <a:ext cx="698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3805526" y="4525241"/>
            <a:ext cx="69850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3805526" y="3931516"/>
            <a:ext cx="69850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805526" y="3323504"/>
            <a:ext cx="698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>
            <a:off x="3805526" y="2729779"/>
            <a:ext cx="698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3845213" y="5726979"/>
            <a:ext cx="6297613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 flipV="1">
            <a:off x="3845213" y="5680941"/>
            <a:ext cx="1588" cy="1079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 flipV="1">
            <a:off x="3869026" y="5601566"/>
            <a:ext cx="873125" cy="136525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 flipV="1">
            <a:off x="4742151" y="5571404"/>
            <a:ext cx="158750" cy="30162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 flipV="1">
            <a:off x="4900901" y="5539654"/>
            <a:ext cx="149225" cy="31750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 flipV="1">
            <a:off x="5050126" y="5507904"/>
            <a:ext cx="139700" cy="31750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 flipV="1">
            <a:off x="5189826" y="5477741"/>
            <a:ext cx="128587" cy="30163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 flipV="1">
            <a:off x="5318413" y="5430116"/>
            <a:ext cx="130175" cy="47625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 flipV="1">
            <a:off x="5448588" y="5399954"/>
            <a:ext cx="119063" cy="30162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 flipV="1">
            <a:off x="5567651" y="5352329"/>
            <a:ext cx="109537" cy="47625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 flipV="1">
            <a:off x="5677188" y="5306291"/>
            <a:ext cx="100013" cy="46038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 flipV="1">
            <a:off x="5777201" y="5274541"/>
            <a:ext cx="88900" cy="31750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" name="Line 28"/>
          <p:cNvSpPr>
            <a:spLocks noChangeShapeType="1"/>
          </p:cNvSpPr>
          <p:nvPr/>
        </p:nvSpPr>
        <p:spPr bwMode="auto">
          <a:xfrm flipV="1">
            <a:off x="5866101" y="5212629"/>
            <a:ext cx="80962" cy="61912"/>
          </a:xfrm>
          <a:prstGeom prst="line">
            <a:avLst/>
          </a:prstGeom>
          <a:noFill/>
          <a:ln w="619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" name="Line 29"/>
          <p:cNvSpPr>
            <a:spLocks noChangeShapeType="1"/>
          </p:cNvSpPr>
          <p:nvPr/>
        </p:nvSpPr>
        <p:spPr bwMode="auto">
          <a:xfrm flipV="1">
            <a:off x="5947063" y="5165004"/>
            <a:ext cx="79375" cy="47625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 flipV="1">
            <a:off x="6026438" y="5118966"/>
            <a:ext cx="69850" cy="46038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 flipV="1">
            <a:off x="6096288" y="5055466"/>
            <a:ext cx="58738" cy="63500"/>
          </a:xfrm>
          <a:prstGeom prst="line">
            <a:avLst/>
          </a:prstGeom>
          <a:noFill/>
          <a:ln w="619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6" name="Line 32"/>
          <p:cNvSpPr>
            <a:spLocks noChangeShapeType="1"/>
          </p:cNvSpPr>
          <p:nvPr/>
        </p:nvSpPr>
        <p:spPr bwMode="auto">
          <a:xfrm flipV="1">
            <a:off x="6155026" y="4993554"/>
            <a:ext cx="49212" cy="61912"/>
          </a:xfrm>
          <a:prstGeom prst="line">
            <a:avLst/>
          </a:prstGeom>
          <a:noFill/>
          <a:ln w="619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7" name="Line 33"/>
          <p:cNvSpPr>
            <a:spLocks noChangeShapeType="1"/>
          </p:cNvSpPr>
          <p:nvPr/>
        </p:nvSpPr>
        <p:spPr bwMode="auto">
          <a:xfrm flipV="1">
            <a:off x="6204238" y="4931641"/>
            <a:ext cx="50800" cy="61913"/>
          </a:xfrm>
          <a:prstGeom prst="line">
            <a:avLst/>
          </a:prstGeom>
          <a:noFill/>
          <a:ln w="619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" name="Line 34"/>
          <p:cNvSpPr>
            <a:spLocks noChangeShapeType="1"/>
          </p:cNvSpPr>
          <p:nvPr/>
        </p:nvSpPr>
        <p:spPr bwMode="auto">
          <a:xfrm flipV="1">
            <a:off x="6255038" y="4868141"/>
            <a:ext cx="30163" cy="63500"/>
          </a:xfrm>
          <a:prstGeom prst="line">
            <a:avLst/>
          </a:prstGeom>
          <a:noFill/>
          <a:ln w="619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Line 35"/>
          <p:cNvSpPr>
            <a:spLocks noChangeShapeType="1"/>
          </p:cNvSpPr>
          <p:nvPr/>
        </p:nvSpPr>
        <p:spPr bwMode="auto">
          <a:xfrm flipV="1">
            <a:off x="6285201" y="4790354"/>
            <a:ext cx="28575" cy="77787"/>
          </a:xfrm>
          <a:prstGeom prst="line">
            <a:avLst/>
          </a:prstGeom>
          <a:noFill/>
          <a:ln w="619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" name="Line 36"/>
          <p:cNvSpPr>
            <a:spLocks noChangeShapeType="1"/>
          </p:cNvSpPr>
          <p:nvPr/>
        </p:nvSpPr>
        <p:spPr bwMode="auto">
          <a:xfrm flipV="1">
            <a:off x="6313776" y="4712566"/>
            <a:ext cx="20637" cy="77788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" name="Line 37"/>
          <p:cNvSpPr>
            <a:spLocks noChangeShapeType="1"/>
          </p:cNvSpPr>
          <p:nvPr/>
        </p:nvSpPr>
        <p:spPr bwMode="auto">
          <a:xfrm flipV="1">
            <a:off x="6334413" y="4618904"/>
            <a:ext cx="9525" cy="93662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Line 38"/>
          <p:cNvSpPr>
            <a:spLocks noChangeShapeType="1"/>
          </p:cNvSpPr>
          <p:nvPr/>
        </p:nvSpPr>
        <p:spPr bwMode="auto">
          <a:xfrm flipV="1">
            <a:off x="6343938" y="4525241"/>
            <a:ext cx="11113" cy="93663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3" name="Line 39"/>
          <p:cNvSpPr>
            <a:spLocks noChangeShapeType="1"/>
          </p:cNvSpPr>
          <p:nvPr/>
        </p:nvSpPr>
        <p:spPr bwMode="auto">
          <a:xfrm flipH="1" flipV="1">
            <a:off x="6343938" y="4431579"/>
            <a:ext cx="11113" cy="93662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4" name="Line 40"/>
          <p:cNvSpPr>
            <a:spLocks noChangeShapeType="1"/>
          </p:cNvSpPr>
          <p:nvPr/>
        </p:nvSpPr>
        <p:spPr bwMode="auto">
          <a:xfrm flipH="1" flipV="1">
            <a:off x="6334413" y="4322041"/>
            <a:ext cx="9525" cy="109538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5" name="Line 41"/>
          <p:cNvSpPr>
            <a:spLocks noChangeShapeType="1"/>
          </p:cNvSpPr>
          <p:nvPr/>
        </p:nvSpPr>
        <p:spPr bwMode="auto">
          <a:xfrm flipH="1" flipV="1">
            <a:off x="6313776" y="4196629"/>
            <a:ext cx="20637" cy="125412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6" name="Line 42"/>
          <p:cNvSpPr>
            <a:spLocks noChangeShapeType="1"/>
          </p:cNvSpPr>
          <p:nvPr/>
        </p:nvSpPr>
        <p:spPr bwMode="auto">
          <a:xfrm flipH="1" flipV="1">
            <a:off x="6285201" y="4072804"/>
            <a:ext cx="28575" cy="123825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7" name="Line 43"/>
          <p:cNvSpPr>
            <a:spLocks noChangeShapeType="1"/>
          </p:cNvSpPr>
          <p:nvPr/>
        </p:nvSpPr>
        <p:spPr bwMode="auto">
          <a:xfrm flipH="1" flipV="1">
            <a:off x="6255038" y="3931516"/>
            <a:ext cx="30163" cy="141288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8" name="Line 44"/>
          <p:cNvSpPr>
            <a:spLocks noChangeShapeType="1"/>
          </p:cNvSpPr>
          <p:nvPr/>
        </p:nvSpPr>
        <p:spPr bwMode="auto">
          <a:xfrm flipH="1" flipV="1">
            <a:off x="6204238" y="3775941"/>
            <a:ext cx="50800" cy="155575"/>
          </a:xfrm>
          <a:prstGeom prst="line">
            <a:avLst/>
          </a:prstGeom>
          <a:noFill/>
          <a:ln w="619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9" name="Line 45"/>
          <p:cNvSpPr>
            <a:spLocks noChangeShapeType="1"/>
          </p:cNvSpPr>
          <p:nvPr/>
        </p:nvSpPr>
        <p:spPr bwMode="auto">
          <a:xfrm flipH="1" flipV="1">
            <a:off x="6155026" y="3604491"/>
            <a:ext cx="49212" cy="171450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" name="Line 46"/>
          <p:cNvSpPr>
            <a:spLocks noChangeShapeType="1"/>
          </p:cNvSpPr>
          <p:nvPr/>
        </p:nvSpPr>
        <p:spPr bwMode="auto">
          <a:xfrm flipH="1" flipV="1">
            <a:off x="6096288" y="3401291"/>
            <a:ext cx="58738" cy="203200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" name="Line 47"/>
          <p:cNvSpPr>
            <a:spLocks noChangeShapeType="1"/>
          </p:cNvSpPr>
          <p:nvPr/>
        </p:nvSpPr>
        <p:spPr bwMode="auto">
          <a:xfrm flipH="1" flipV="1">
            <a:off x="6026438" y="3182216"/>
            <a:ext cx="69850" cy="219075"/>
          </a:xfrm>
          <a:prstGeom prst="line">
            <a:avLst/>
          </a:prstGeom>
          <a:noFill/>
          <a:ln w="619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2" name="Line 48"/>
          <p:cNvSpPr>
            <a:spLocks noChangeShapeType="1"/>
          </p:cNvSpPr>
          <p:nvPr/>
        </p:nvSpPr>
        <p:spPr bwMode="auto">
          <a:xfrm flipH="1" flipV="1">
            <a:off x="5947063" y="2932979"/>
            <a:ext cx="79375" cy="249237"/>
          </a:xfrm>
          <a:prstGeom prst="line">
            <a:avLst/>
          </a:prstGeom>
          <a:noFill/>
          <a:ln w="619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" name="Line 49"/>
          <p:cNvSpPr>
            <a:spLocks noChangeShapeType="1"/>
          </p:cNvSpPr>
          <p:nvPr/>
        </p:nvSpPr>
        <p:spPr bwMode="auto">
          <a:xfrm flipH="1" flipV="1">
            <a:off x="5866101" y="2636116"/>
            <a:ext cx="80962" cy="296863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4" name="Line 50"/>
          <p:cNvSpPr>
            <a:spLocks noChangeShapeType="1"/>
          </p:cNvSpPr>
          <p:nvPr/>
        </p:nvSpPr>
        <p:spPr bwMode="auto">
          <a:xfrm flipH="1" flipV="1">
            <a:off x="5777201" y="2307504"/>
            <a:ext cx="88900" cy="328612"/>
          </a:xfrm>
          <a:prstGeom prst="line">
            <a:avLst/>
          </a:prstGeom>
          <a:noFill/>
          <a:ln w="460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5" name="Line 51"/>
          <p:cNvSpPr>
            <a:spLocks noChangeShapeType="1"/>
          </p:cNvSpPr>
          <p:nvPr/>
        </p:nvSpPr>
        <p:spPr bwMode="auto">
          <a:xfrm flipH="1">
            <a:off x="5947063" y="5211041"/>
            <a:ext cx="4252913" cy="31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6" name="Line 52"/>
          <p:cNvSpPr>
            <a:spLocks noChangeShapeType="1"/>
          </p:cNvSpPr>
          <p:nvPr/>
        </p:nvSpPr>
        <p:spPr bwMode="auto">
          <a:xfrm flipH="1" flipV="1">
            <a:off x="5756563" y="5165004"/>
            <a:ext cx="190500" cy="4762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7" name="Line 53"/>
          <p:cNvSpPr>
            <a:spLocks noChangeShapeType="1"/>
          </p:cNvSpPr>
          <p:nvPr/>
        </p:nvSpPr>
        <p:spPr bwMode="auto">
          <a:xfrm flipH="1" flipV="1">
            <a:off x="5597813" y="5118966"/>
            <a:ext cx="158750" cy="4603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" name="Line 54"/>
          <p:cNvSpPr>
            <a:spLocks noChangeShapeType="1"/>
          </p:cNvSpPr>
          <p:nvPr/>
        </p:nvSpPr>
        <p:spPr bwMode="auto">
          <a:xfrm flipH="1" flipV="1">
            <a:off x="5448588" y="5055466"/>
            <a:ext cx="149225" cy="635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9" name="Line 55"/>
          <p:cNvSpPr>
            <a:spLocks noChangeShapeType="1"/>
          </p:cNvSpPr>
          <p:nvPr/>
        </p:nvSpPr>
        <p:spPr bwMode="auto">
          <a:xfrm flipH="1" flipV="1">
            <a:off x="5318413" y="4993554"/>
            <a:ext cx="130175" cy="619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0" name="Line 56"/>
          <p:cNvSpPr>
            <a:spLocks noChangeShapeType="1"/>
          </p:cNvSpPr>
          <p:nvPr/>
        </p:nvSpPr>
        <p:spPr bwMode="auto">
          <a:xfrm flipH="1" flipV="1">
            <a:off x="5199351" y="4931641"/>
            <a:ext cx="119062" cy="6191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" name="Line 57"/>
          <p:cNvSpPr>
            <a:spLocks noChangeShapeType="1"/>
          </p:cNvSpPr>
          <p:nvPr/>
        </p:nvSpPr>
        <p:spPr bwMode="auto">
          <a:xfrm flipH="1" flipV="1">
            <a:off x="5089813" y="4868141"/>
            <a:ext cx="109538" cy="635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2" name="Line 58"/>
          <p:cNvSpPr>
            <a:spLocks noChangeShapeType="1"/>
          </p:cNvSpPr>
          <p:nvPr/>
        </p:nvSpPr>
        <p:spPr bwMode="auto">
          <a:xfrm flipH="1" flipV="1">
            <a:off x="4991388" y="4790354"/>
            <a:ext cx="98425" cy="77787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3" name="Line 59"/>
          <p:cNvSpPr>
            <a:spLocks noChangeShapeType="1"/>
          </p:cNvSpPr>
          <p:nvPr/>
        </p:nvSpPr>
        <p:spPr bwMode="auto">
          <a:xfrm flipH="1" flipV="1">
            <a:off x="4900901" y="4712566"/>
            <a:ext cx="90487" cy="7778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4" name="Line 60"/>
          <p:cNvSpPr>
            <a:spLocks noChangeShapeType="1"/>
          </p:cNvSpPr>
          <p:nvPr/>
        </p:nvSpPr>
        <p:spPr bwMode="auto">
          <a:xfrm flipH="1" flipV="1">
            <a:off x="4821526" y="4618904"/>
            <a:ext cx="79375" cy="9366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5" name="Line 61"/>
          <p:cNvSpPr>
            <a:spLocks noChangeShapeType="1"/>
          </p:cNvSpPr>
          <p:nvPr/>
        </p:nvSpPr>
        <p:spPr bwMode="auto">
          <a:xfrm flipH="1" flipV="1">
            <a:off x="4742151" y="4525241"/>
            <a:ext cx="79375" cy="936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" name="Line 62"/>
          <p:cNvSpPr>
            <a:spLocks noChangeShapeType="1"/>
          </p:cNvSpPr>
          <p:nvPr/>
        </p:nvSpPr>
        <p:spPr bwMode="auto">
          <a:xfrm flipH="1" flipV="1">
            <a:off x="4672301" y="4431579"/>
            <a:ext cx="69850" cy="9366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7" name="Line 63"/>
          <p:cNvSpPr>
            <a:spLocks noChangeShapeType="1"/>
          </p:cNvSpPr>
          <p:nvPr/>
        </p:nvSpPr>
        <p:spPr bwMode="auto">
          <a:xfrm flipH="1" flipV="1">
            <a:off x="4611976" y="4322041"/>
            <a:ext cx="60325" cy="10953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8" name="Line 64"/>
          <p:cNvSpPr>
            <a:spLocks noChangeShapeType="1"/>
          </p:cNvSpPr>
          <p:nvPr/>
        </p:nvSpPr>
        <p:spPr bwMode="auto">
          <a:xfrm flipH="1" flipV="1">
            <a:off x="4551651" y="4196629"/>
            <a:ext cx="60325" cy="1254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9" name="Line 65"/>
          <p:cNvSpPr>
            <a:spLocks noChangeShapeType="1"/>
          </p:cNvSpPr>
          <p:nvPr/>
        </p:nvSpPr>
        <p:spPr bwMode="auto">
          <a:xfrm flipH="1" flipV="1">
            <a:off x="4492913" y="4072804"/>
            <a:ext cx="58738" cy="12382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0" name="Line 66"/>
          <p:cNvSpPr>
            <a:spLocks noChangeShapeType="1"/>
          </p:cNvSpPr>
          <p:nvPr/>
        </p:nvSpPr>
        <p:spPr bwMode="auto">
          <a:xfrm flipH="1" flipV="1">
            <a:off x="4443701" y="3931516"/>
            <a:ext cx="49212" cy="14128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1" name="Line 67"/>
          <p:cNvSpPr>
            <a:spLocks noChangeShapeType="1"/>
          </p:cNvSpPr>
          <p:nvPr/>
        </p:nvSpPr>
        <p:spPr bwMode="auto">
          <a:xfrm flipH="1" flipV="1">
            <a:off x="4392901" y="3775941"/>
            <a:ext cx="50800" cy="1555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2" name="Line 68"/>
          <p:cNvSpPr>
            <a:spLocks noChangeShapeType="1"/>
          </p:cNvSpPr>
          <p:nvPr/>
        </p:nvSpPr>
        <p:spPr bwMode="auto">
          <a:xfrm flipH="1" flipV="1">
            <a:off x="4353213" y="3604491"/>
            <a:ext cx="39688" cy="17145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3" name="Line 69"/>
          <p:cNvSpPr>
            <a:spLocks noChangeShapeType="1"/>
          </p:cNvSpPr>
          <p:nvPr/>
        </p:nvSpPr>
        <p:spPr bwMode="auto">
          <a:xfrm flipH="1" flipV="1">
            <a:off x="4304001" y="3401291"/>
            <a:ext cx="49212" cy="2032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4" name="Line 70"/>
          <p:cNvSpPr>
            <a:spLocks noChangeShapeType="1"/>
          </p:cNvSpPr>
          <p:nvPr/>
        </p:nvSpPr>
        <p:spPr bwMode="auto">
          <a:xfrm flipH="1" flipV="1">
            <a:off x="4264313" y="3182216"/>
            <a:ext cx="39688" cy="2190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5" name="Line 71"/>
          <p:cNvSpPr>
            <a:spLocks noChangeShapeType="1"/>
          </p:cNvSpPr>
          <p:nvPr/>
        </p:nvSpPr>
        <p:spPr bwMode="auto">
          <a:xfrm flipH="1" flipV="1">
            <a:off x="4224626" y="2932979"/>
            <a:ext cx="39687" cy="249237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6" name="Line 72"/>
          <p:cNvSpPr>
            <a:spLocks noChangeShapeType="1"/>
          </p:cNvSpPr>
          <p:nvPr/>
        </p:nvSpPr>
        <p:spPr bwMode="auto">
          <a:xfrm flipH="1" flipV="1">
            <a:off x="4194463" y="2636116"/>
            <a:ext cx="30163" cy="2968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" name="Line 73"/>
          <p:cNvSpPr>
            <a:spLocks noChangeShapeType="1"/>
          </p:cNvSpPr>
          <p:nvPr/>
        </p:nvSpPr>
        <p:spPr bwMode="auto">
          <a:xfrm flipH="1" flipV="1">
            <a:off x="4154776" y="2307504"/>
            <a:ext cx="39687" cy="3286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" name="Line 74"/>
          <p:cNvSpPr>
            <a:spLocks noChangeShapeType="1"/>
          </p:cNvSpPr>
          <p:nvPr/>
        </p:nvSpPr>
        <p:spPr bwMode="auto">
          <a:xfrm flipH="1">
            <a:off x="4742151" y="5599979"/>
            <a:ext cx="5438775" cy="31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9" name="Line 75"/>
          <p:cNvSpPr>
            <a:spLocks noChangeShapeType="1"/>
          </p:cNvSpPr>
          <p:nvPr/>
        </p:nvSpPr>
        <p:spPr bwMode="auto">
          <a:xfrm flipH="1" flipV="1">
            <a:off x="4572288" y="5571404"/>
            <a:ext cx="169863" cy="3016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0" name="Line 76"/>
          <p:cNvSpPr>
            <a:spLocks noChangeShapeType="1"/>
          </p:cNvSpPr>
          <p:nvPr/>
        </p:nvSpPr>
        <p:spPr bwMode="auto">
          <a:xfrm flipH="1" flipV="1">
            <a:off x="4453226" y="5539654"/>
            <a:ext cx="119062" cy="3175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1" name="Line 77"/>
          <p:cNvSpPr>
            <a:spLocks noChangeShapeType="1"/>
          </p:cNvSpPr>
          <p:nvPr/>
        </p:nvSpPr>
        <p:spPr bwMode="auto">
          <a:xfrm flipH="1" flipV="1">
            <a:off x="4364326" y="5507904"/>
            <a:ext cx="88900" cy="3175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" name="Line 78"/>
          <p:cNvSpPr>
            <a:spLocks noChangeShapeType="1"/>
          </p:cNvSpPr>
          <p:nvPr/>
        </p:nvSpPr>
        <p:spPr bwMode="auto">
          <a:xfrm flipH="1" flipV="1">
            <a:off x="4294476" y="5477741"/>
            <a:ext cx="69850" cy="301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3" name="Line 79"/>
          <p:cNvSpPr>
            <a:spLocks noChangeShapeType="1"/>
          </p:cNvSpPr>
          <p:nvPr/>
        </p:nvSpPr>
        <p:spPr bwMode="auto">
          <a:xfrm flipH="1" flipV="1">
            <a:off x="4245263" y="5430116"/>
            <a:ext cx="49213" cy="4762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4" name="Line 80"/>
          <p:cNvSpPr>
            <a:spLocks noChangeShapeType="1"/>
          </p:cNvSpPr>
          <p:nvPr/>
        </p:nvSpPr>
        <p:spPr bwMode="auto">
          <a:xfrm flipH="1" flipV="1">
            <a:off x="4194463" y="5399954"/>
            <a:ext cx="50800" cy="3016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5" name="Line 81"/>
          <p:cNvSpPr>
            <a:spLocks noChangeShapeType="1"/>
          </p:cNvSpPr>
          <p:nvPr/>
        </p:nvSpPr>
        <p:spPr bwMode="auto">
          <a:xfrm flipH="1" flipV="1">
            <a:off x="4154776" y="5352329"/>
            <a:ext cx="39687" cy="4762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6" name="Line 82"/>
          <p:cNvSpPr>
            <a:spLocks noChangeShapeType="1"/>
          </p:cNvSpPr>
          <p:nvPr/>
        </p:nvSpPr>
        <p:spPr bwMode="auto">
          <a:xfrm flipH="1" flipV="1">
            <a:off x="4124613" y="5306291"/>
            <a:ext cx="30163" cy="4603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7" name="Line 83"/>
          <p:cNvSpPr>
            <a:spLocks noChangeShapeType="1"/>
          </p:cNvSpPr>
          <p:nvPr/>
        </p:nvSpPr>
        <p:spPr bwMode="auto">
          <a:xfrm flipH="1" flipV="1">
            <a:off x="4094451" y="5274541"/>
            <a:ext cx="30162" cy="3175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8" name="Line 84"/>
          <p:cNvSpPr>
            <a:spLocks noChangeShapeType="1"/>
          </p:cNvSpPr>
          <p:nvPr/>
        </p:nvSpPr>
        <p:spPr bwMode="auto">
          <a:xfrm flipH="1" flipV="1">
            <a:off x="4075401" y="5212629"/>
            <a:ext cx="19050" cy="619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9" name="Line 85"/>
          <p:cNvSpPr>
            <a:spLocks noChangeShapeType="1"/>
          </p:cNvSpPr>
          <p:nvPr/>
        </p:nvSpPr>
        <p:spPr bwMode="auto">
          <a:xfrm flipH="1" flipV="1">
            <a:off x="4054763" y="5165004"/>
            <a:ext cx="20638" cy="4762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0" name="Line 86"/>
          <p:cNvSpPr>
            <a:spLocks noChangeShapeType="1"/>
          </p:cNvSpPr>
          <p:nvPr/>
        </p:nvSpPr>
        <p:spPr bwMode="auto">
          <a:xfrm flipH="1" flipV="1">
            <a:off x="4035713" y="5118966"/>
            <a:ext cx="19050" cy="4603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1" name="Line 87"/>
          <p:cNvSpPr>
            <a:spLocks noChangeShapeType="1"/>
          </p:cNvSpPr>
          <p:nvPr/>
        </p:nvSpPr>
        <p:spPr bwMode="auto">
          <a:xfrm flipH="1" flipV="1">
            <a:off x="4015076" y="5055466"/>
            <a:ext cx="20637" cy="635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2" name="Line 88"/>
          <p:cNvSpPr>
            <a:spLocks noChangeShapeType="1"/>
          </p:cNvSpPr>
          <p:nvPr/>
        </p:nvSpPr>
        <p:spPr bwMode="auto">
          <a:xfrm flipH="1" flipV="1">
            <a:off x="4005551" y="4993554"/>
            <a:ext cx="9525" cy="619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3" name="Line 89"/>
          <p:cNvSpPr>
            <a:spLocks noChangeShapeType="1"/>
          </p:cNvSpPr>
          <p:nvPr/>
        </p:nvSpPr>
        <p:spPr bwMode="auto">
          <a:xfrm flipH="1" flipV="1">
            <a:off x="3996026" y="4931641"/>
            <a:ext cx="9525" cy="6191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4" name="Line 90"/>
          <p:cNvSpPr>
            <a:spLocks noChangeShapeType="1"/>
          </p:cNvSpPr>
          <p:nvPr/>
        </p:nvSpPr>
        <p:spPr bwMode="auto">
          <a:xfrm flipH="1" flipV="1">
            <a:off x="3975388" y="4868141"/>
            <a:ext cx="20638" cy="635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5" name="Line 91"/>
          <p:cNvSpPr>
            <a:spLocks noChangeShapeType="1"/>
          </p:cNvSpPr>
          <p:nvPr/>
        </p:nvSpPr>
        <p:spPr bwMode="auto">
          <a:xfrm flipH="1" flipV="1">
            <a:off x="3965863" y="4790354"/>
            <a:ext cx="9525" cy="77787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6" name="Line 92"/>
          <p:cNvSpPr>
            <a:spLocks noChangeShapeType="1"/>
          </p:cNvSpPr>
          <p:nvPr/>
        </p:nvSpPr>
        <p:spPr bwMode="auto">
          <a:xfrm flipH="1" flipV="1">
            <a:off x="3956338" y="4712566"/>
            <a:ext cx="9525" cy="7778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7" name="Line 93"/>
          <p:cNvSpPr>
            <a:spLocks noChangeShapeType="1"/>
          </p:cNvSpPr>
          <p:nvPr/>
        </p:nvSpPr>
        <p:spPr bwMode="auto">
          <a:xfrm flipH="1" flipV="1">
            <a:off x="3945226" y="4618904"/>
            <a:ext cx="11112" cy="9366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8" name="Line 94"/>
          <p:cNvSpPr>
            <a:spLocks noChangeShapeType="1"/>
          </p:cNvSpPr>
          <p:nvPr/>
        </p:nvSpPr>
        <p:spPr bwMode="auto">
          <a:xfrm flipV="1">
            <a:off x="3945226" y="4525241"/>
            <a:ext cx="1587" cy="936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9" name="Line 95"/>
          <p:cNvSpPr>
            <a:spLocks noChangeShapeType="1"/>
          </p:cNvSpPr>
          <p:nvPr/>
        </p:nvSpPr>
        <p:spPr bwMode="auto">
          <a:xfrm flipH="1" flipV="1">
            <a:off x="3935701" y="4431579"/>
            <a:ext cx="9525" cy="9366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0" name="Line 96"/>
          <p:cNvSpPr>
            <a:spLocks noChangeShapeType="1"/>
          </p:cNvSpPr>
          <p:nvPr/>
        </p:nvSpPr>
        <p:spPr bwMode="auto">
          <a:xfrm flipH="1" flipV="1">
            <a:off x="3926176" y="4322041"/>
            <a:ext cx="9525" cy="10953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1" name="Line 97"/>
          <p:cNvSpPr>
            <a:spLocks noChangeShapeType="1"/>
          </p:cNvSpPr>
          <p:nvPr/>
        </p:nvSpPr>
        <p:spPr bwMode="auto">
          <a:xfrm flipH="1" flipV="1">
            <a:off x="3915063" y="4196629"/>
            <a:ext cx="11113" cy="1254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2" name="Line 98"/>
          <p:cNvSpPr>
            <a:spLocks noChangeShapeType="1"/>
          </p:cNvSpPr>
          <p:nvPr/>
        </p:nvSpPr>
        <p:spPr bwMode="auto">
          <a:xfrm flipV="1">
            <a:off x="3915063" y="4072804"/>
            <a:ext cx="1588" cy="12382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3" name="Line 99"/>
          <p:cNvSpPr>
            <a:spLocks noChangeShapeType="1"/>
          </p:cNvSpPr>
          <p:nvPr/>
        </p:nvSpPr>
        <p:spPr bwMode="auto">
          <a:xfrm flipH="1" flipV="1">
            <a:off x="3905538" y="3931516"/>
            <a:ext cx="9525" cy="14128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4" name="Line 100"/>
          <p:cNvSpPr>
            <a:spLocks noChangeShapeType="1"/>
          </p:cNvSpPr>
          <p:nvPr/>
        </p:nvSpPr>
        <p:spPr bwMode="auto">
          <a:xfrm flipV="1">
            <a:off x="3905538" y="3775941"/>
            <a:ext cx="1588" cy="1555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5" name="Line 101"/>
          <p:cNvSpPr>
            <a:spLocks noChangeShapeType="1"/>
          </p:cNvSpPr>
          <p:nvPr/>
        </p:nvSpPr>
        <p:spPr bwMode="auto">
          <a:xfrm flipH="1" flipV="1">
            <a:off x="3896013" y="3604491"/>
            <a:ext cx="9525" cy="17145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6" name="Line 102"/>
          <p:cNvSpPr>
            <a:spLocks noChangeShapeType="1"/>
          </p:cNvSpPr>
          <p:nvPr/>
        </p:nvSpPr>
        <p:spPr bwMode="auto">
          <a:xfrm flipV="1">
            <a:off x="3896013" y="3401291"/>
            <a:ext cx="1588" cy="2032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7" name="Line 103"/>
          <p:cNvSpPr>
            <a:spLocks noChangeShapeType="1"/>
          </p:cNvSpPr>
          <p:nvPr/>
        </p:nvSpPr>
        <p:spPr bwMode="auto">
          <a:xfrm flipH="1" flipV="1">
            <a:off x="3886488" y="3182216"/>
            <a:ext cx="9525" cy="2190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8" name="Line 104"/>
          <p:cNvSpPr>
            <a:spLocks noChangeShapeType="1"/>
          </p:cNvSpPr>
          <p:nvPr/>
        </p:nvSpPr>
        <p:spPr bwMode="auto">
          <a:xfrm flipV="1">
            <a:off x="3886488" y="2932979"/>
            <a:ext cx="0" cy="249237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9" name="Line 105"/>
          <p:cNvSpPr>
            <a:spLocks noChangeShapeType="1"/>
          </p:cNvSpPr>
          <p:nvPr/>
        </p:nvSpPr>
        <p:spPr bwMode="auto">
          <a:xfrm flipH="1" flipV="1">
            <a:off x="3875376" y="2636116"/>
            <a:ext cx="11112" cy="2968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0" name="Line 106"/>
          <p:cNvSpPr>
            <a:spLocks noChangeShapeType="1"/>
          </p:cNvSpPr>
          <p:nvPr/>
        </p:nvSpPr>
        <p:spPr bwMode="auto">
          <a:xfrm flipV="1">
            <a:off x="3875376" y="2307504"/>
            <a:ext cx="1587" cy="3286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1" name="Line 107"/>
          <p:cNvSpPr>
            <a:spLocks noChangeShapeType="1"/>
          </p:cNvSpPr>
          <p:nvPr/>
        </p:nvSpPr>
        <p:spPr bwMode="auto">
          <a:xfrm flipH="1">
            <a:off x="5448588" y="5428529"/>
            <a:ext cx="4751388" cy="31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2" name="Line 108"/>
          <p:cNvSpPr>
            <a:spLocks noChangeShapeType="1"/>
          </p:cNvSpPr>
          <p:nvPr/>
        </p:nvSpPr>
        <p:spPr bwMode="auto">
          <a:xfrm flipH="1" flipV="1">
            <a:off x="5269201" y="5399954"/>
            <a:ext cx="179387" cy="3016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3" name="Line 109"/>
          <p:cNvSpPr>
            <a:spLocks noChangeShapeType="1"/>
          </p:cNvSpPr>
          <p:nvPr/>
        </p:nvSpPr>
        <p:spPr bwMode="auto">
          <a:xfrm flipH="1" flipV="1">
            <a:off x="5110451" y="5352329"/>
            <a:ext cx="158750" cy="4762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4" name="Line 110"/>
          <p:cNvSpPr>
            <a:spLocks noChangeShapeType="1"/>
          </p:cNvSpPr>
          <p:nvPr/>
        </p:nvSpPr>
        <p:spPr bwMode="auto">
          <a:xfrm flipH="1" flipV="1">
            <a:off x="4980276" y="5306291"/>
            <a:ext cx="130175" cy="4603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5" name="Line 111"/>
          <p:cNvSpPr>
            <a:spLocks noChangeShapeType="1"/>
          </p:cNvSpPr>
          <p:nvPr/>
        </p:nvSpPr>
        <p:spPr bwMode="auto">
          <a:xfrm flipH="1" flipV="1">
            <a:off x="4870738" y="5274541"/>
            <a:ext cx="109538" cy="3175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6" name="Line 112"/>
          <p:cNvSpPr>
            <a:spLocks noChangeShapeType="1"/>
          </p:cNvSpPr>
          <p:nvPr/>
        </p:nvSpPr>
        <p:spPr bwMode="auto">
          <a:xfrm flipH="1" flipV="1">
            <a:off x="4781838" y="5212629"/>
            <a:ext cx="88900" cy="619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7" name="Line 113"/>
          <p:cNvSpPr>
            <a:spLocks noChangeShapeType="1"/>
          </p:cNvSpPr>
          <p:nvPr/>
        </p:nvSpPr>
        <p:spPr bwMode="auto">
          <a:xfrm flipH="1" flipV="1">
            <a:off x="4691351" y="5165004"/>
            <a:ext cx="90487" cy="4762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8" name="Line 114"/>
          <p:cNvSpPr>
            <a:spLocks noChangeShapeType="1"/>
          </p:cNvSpPr>
          <p:nvPr/>
        </p:nvSpPr>
        <p:spPr bwMode="auto">
          <a:xfrm flipH="1" flipV="1">
            <a:off x="4621501" y="5118966"/>
            <a:ext cx="69850" cy="4603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9" name="Line 115"/>
          <p:cNvSpPr>
            <a:spLocks noChangeShapeType="1"/>
          </p:cNvSpPr>
          <p:nvPr/>
        </p:nvSpPr>
        <p:spPr bwMode="auto">
          <a:xfrm flipH="1" flipV="1">
            <a:off x="4551651" y="5055466"/>
            <a:ext cx="69850" cy="635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0" name="Line 116"/>
          <p:cNvSpPr>
            <a:spLocks noChangeShapeType="1"/>
          </p:cNvSpPr>
          <p:nvPr/>
        </p:nvSpPr>
        <p:spPr bwMode="auto">
          <a:xfrm flipH="1" flipV="1">
            <a:off x="4492913" y="4993554"/>
            <a:ext cx="58738" cy="619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1" name="Line 117"/>
          <p:cNvSpPr>
            <a:spLocks noChangeShapeType="1"/>
          </p:cNvSpPr>
          <p:nvPr/>
        </p:nvSpPr>
        <p:spPr bwMode="auto">
          <a:xfrm flipH="1" flipV="1">
            <a:off x="4443701" y="4931641"/>
            <a:ext cx="49212" cy="6191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2" name="Line 118"/>
          <p:cNvSpPr>
            <a:spLocks noChangeShapeType="1"/>
          </p:cNvSpPr>
          <p:nvPr/>
        </p:nvSpPr>
        <p:spPr bwMode="auto">
          <a:xfrm flipH="1" flipV="1">
            <a:off x="4392901" y="4868141"/>
            <a:ext cx="50800" cy="635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3" name="Line 119"/>
          <p:cNvSpPr>
            <a:spLocks noChangeShapeType="1"/>
          </p:cNvSpPr>
          <p:nvPr/>
        </p:nvSpPr>
        <p:spPr bwMode="auto">
          <a:xfrm flipH="1" flipV="1">
            <a:off x="4353213" y="4790354"/>
            <a:ext cx="39688" cy="77787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4" name="Line 120"/>
          <p:cNvSpPr>
            <a:spLocks noChangeShapeType="1"/>
          </p:cNvSpPr>
          <p:nvPr/>
        </p:nvSpPr>
        <p:spPr bwMode="auto">
          <a:xfrm flipH="1" flipV="1">
            <a:off x="4313526" y="4712566"/>
            <a:ext cx="39687" cy="7778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5" name="Line 121"/>
          <p:cNvSpPr>
            <a:spLocks noChangeShapeType="1"/>
          </p:cNvSpPr>
          <p:nvPr/>
        </p:nvSpPr>
        <p:spPr bwMode="auto">
          <a:xfrm flipH="1" flipV="1">
            <a:off x="4273838" y="4618904"/>
            <a:ext cx="39688" cy="9366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6" name="Line 122"/>
          <p:cNvSpPr>
            <a:spLocks noChangeShapeType="1"/>
          </p:cNvSpPr>
          <p:nvPr/>
        </p:nvSpPr>
        <p:spPr bwMode="auto">
          <a:xfrm flipH="1" flipV="1">
            <a:off x="4245263" y="4525241"/>
            <a:ext cx="28575" cy="936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7" name="Line 123"/>
          <p:cNvSpPr>
            <a:spLocks noChangeShapeType="1"/>
          </p:cNvSpPr>
          <p:nvPr/>
        </p:nvSpPr>
        <p:spPr bwMode="auto">
          <a:xfrm flipH="1" flipV="1">
            <a:off x="4213513" y="4431579"/>
            <a:ext cx="31750" cy="9366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8" name="Line 124"/>
          <p:cNvSpPr>
            <a:spLocks noChangeShapeType="1"/>
          </p:cNvSpPr>
          <p:nvPr/>
        </p:nvSpPr>
        <p:spPr bwMode="auto">
          <a:xfrm flipH="1" flipV="1">
            <a:off x="4184938" y="4322041"/>
            <a:ext cx="28575" cy="10953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9" name="Line 125"/>
          <p:cNvSpPr>
            <a:spLocks noChangeShapeType="1"/>
          </p:cNvSpPr>
          <p:nvPr/>
        </p:nvSpPr>
        <p:spPr bwMode="auto">
          <a:xfrm flipH="1" flipV="1">
            <a:off x="4154776" y="4196629"/>
            <a:ext cx="30162" cy="1254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0" name="Line 126"/>
          <p:cNvSpPr>
            <a:spLocks noChangeShapeType="1"/>
          </p:cNvSpPr>
          <p:nvPr/>
        </p:nvSpPr>
        <p:spPr bwMode="auto">
          <a:xfrm flipH="1" flipV="1">
            <a:off x="4135726" y="4072804"/>
            <a:ext cx="19050" cy="12382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1" name="Line 127"/>
          <p:cNvSpPr>
            <a:spLocks noChangeShapeType="1"/>
          </p:cNvSpPr>
          <p:nvPr/>
        </p:nvSpPr>
        <p:spPr bwMode="auto">
          <a:xfrm flipH="1" flipV="1">
            <a:off x="4105563" y="3931516"/>
            <a:ext cx="30163" cy="14128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2" name="Line 128"/>
          <p:cNvSpPr>
            <a:spLocks noChangeShapeType="1"/>
          </p:cNvSpPr>
          <p:nvPr/>
        </p:nvSpPr>
        <p:spPr bwMode="auto">
          <a:xfrm flipH="1" flipV="1">
            <a:off x="4084926" y="3775941"/>
            <a:ext cx="20637" cy="1555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" name="Line 129"/>
          <p:cNvSpPr>
            <a:spLocks noChangeShapeType="1"/>
          </p:cNvSpPr>
          <p:nvPr/>
        </p:nvSpPr>
        <p:spPr bwMode="auto">
          <a:xfrm flipH="1" flipV="1">
            <a:off x="4065876" y="3604491"/>
            <a:ext cx="19050" cy="17145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4" name="Line 130"/>
          <p:cNvSpPr>
            <a:spLocks noChangeShapeType="1"/>
          </p:cNvSpPr>
          <p:nvPr/>
        </p:nvSpPr>
        <p:spPr bwMode="auto">
          <a:xfrm flipH="1" flipV="1">
            <a:off x="4045238" y="3401291"/>
            <a:ext cx="20638" cy="2032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5" name="Line 131"/>
          <p:cNvSpPr>
            <a:spLocks noChangeShapeType="1"/>
          </p:cNvSpPr>
          <p:nvPr/>
        </p:nvSpPr>
        <p:spPr bwMode="auto">
          <a:xfrm flipH="1" flipV="1">
            <a:off x="4024601" y="3182216"/>
            <a:ext cx="20637" cy="2190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6" name="Line 132"/>
          <p:cNvSpPr>
            <a:spLocks noChangeShapeType="1"/>
          </p:cNvSpPr>
          <p:nvPr/>
        </p:nvSpPr>
        <p:spPr bwMode="auto">
          <a:xfrm flipH="1" flipV="1">
            <a:off x="4015076" y="2932979"/>
            <a:ext cx="9525" cy="249237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7" name="Line 133"/>
          <p:cNvSpPr>
            <a:spLocks noChangeShapeType="1"/>
          </p:cNvSpPr>
          <p:nvPr/>
        </p:nvSpPr>
        <p:spPr bwMode="auto">
          <a:xfrm flipH="1" flipV="1">
            <a:off x="3996026" y="2636116"/>
            <a:ext cx="19050" cy="2968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8" name="Line 134"/>
          <p:cNvSpPr>
            <a:spLocks noChangeShapeType="1"/>
          </p:cNvSpPr>
          <p:nvPr/>
        </p:nvSpPr>
        <p:spPr bwMode="auto">
          <a:xfrm flipH="1" flipV="1">
            <a:off x="3984913" y="2307504"/>
            <a:ext cx="11113" cy="3286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9" name="Line 135"/>
          <p:cNvSpPr>
            <a:spLocks noChangeShapeType="1"/>
          </p:cNvSpPr>
          <p:nvPr/>
        </p:nvSpPr>
        <p:spPr bwMode="auto">
          <a:xfrm flipH="1">
            <a:off x="6355051" y="4522066"/>
            <a:ext cx="3883025" cy="47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0" name="Line 136"/>
          <p:cNvSpPr>
            <a:spLocks noChangeShapeType="1"/>
          </p:cNvSpPr>
          <p:nvPr/>
        </p:nvSpPr>
        <p:spPr bwMode="auto">
          <a:xfrm flipH="1" flipV="1">
            <a:off x="6155026" y="4431579"/>
            <a:ext cx="200025" cy="9366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1" name="Line 137"/>
          <p:cNvSpPr>
            <a:spLocks noChangeShapeType="1"/>
          </p:cNvSpPr>
          <p:nvPr/>
        </p:nvSpPr>
        <p:spPr bwMode="auto">
          <a:xfrm flipH="1" flipV="1">
            <a:off x="5975638" y="4322041"/>
            <a:ext cx="179388" cy="10953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2" name="Line 138"/>
          <p:cNvSpPr>
            <a:spLocks noChangeShapeType="1"/>
          </p:cNvSpPr>
          <p:nvPr/>
        </p:nvSpPr>
        <p:spPr bwMode="auto">
          <a:xfrm flipH="1" flipV="1">
            <a:off x="5816888" y="4196629"/>
            <a:ext cx="158750" cy="1254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3" name="Line 139"/>
          <p:cNvSpPr>
            <a:spLocks noChangeShapeType="1"/>
          </p:cNvSpPr>
          <p:nvPr/>
        </p:nvSpPr>
        <p:spPr bwMode="auto">
          <a:xfrm flipH="1" flipV="1">
            <a:off x="5658138" y="4072804"/>
            <a:ext cx="158750" cy="12382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4" name="Line 140"/>
          <p:cNvSpPr>
            <a:spLocks noChangeShapeType="1"/>
          </p:cNvSpPr>
          <p:nvPr/>
        </p:nvSpPr>
        <p:spPr bwMode="auto">
          <a:xfrm flipH="1" flipV="1">
            <a:off x="5518438" y="3931516"/>
            <a:ext cx="139700" cy="14128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5" name="Line 141"/>
          <p:cNvSpPr>
            <a:spLocks noChangeShapeType="1"/>
          </p:cNvSpPr>
          <p:nvPr/>
        </p:nvSpPr>
        <p:spPr bwMode="auto">
          <a:xfrm flipH="1" flipV="1">
            <a:off x="5378738" y="3775941"/>
            <a:ext cx="139700" cy="1555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6" name="Line 142"/>
          <p:cNvSpPr>
            <a:spLocks noChangeShapeType="1"/>
          </p:cNvSpPr>
          <p:nvPr/>
        </p:nvSpPr>
        <p:spPr bwMode="auto">
          <a:xfrm flipH="1" flipV="1">
            <a:off x="5250151" y="3604491"/>
            <a:ext cx="128587" cy="17145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7" name="Line 143"/>
          <p:cNvSpPr>
            <a:spLocks noChangeShapeType="1"/>
          </p:cNvSpPr>
          <p:nvPr/>
        </p:nvSpPr>
        <p:spPr bwMode="auto">
          <a:xfrm flipH="1" flipV="1">
            <a:off x="5131088" y="3401291"/>
            <a:ext cx="119063" cy="2032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8" name="Line 144"/>
          <p:cNvSpPr>
            <a:spLocks noChangeShapeType="1"/>
          </p:cNvSpPr>
          <p:nvPr/>
        </p:nvSpPr>
        <p:spPr bwMode="auto">
          <a:xfrm flipH="1" flipV="1">
            <a:off x="5019963" y="3182216"/>
            <a:ext cx="111125" cy="2190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9" name="Line 145"/>
          <p:cNvSpPr>
            <a:spLocks noChangeShapeType="1"/>
          </p:cNvSpPr>
          <p:nvPr/>
        </p:nvSpPr>
        <p:spPr bwMode="auto">
          <a:xfrm flipH="1" flipV="1">
            <a:off x="4921538" y="2932979"/>
            <a:ext cx="98425" cy="249237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0" name="Line 146"/>
          <p:cNvSpPr>
            <a:spLocks noChangeShapeType="1"/>
          </p:cNvSpPr>
          <p:nvPr/>
        </p:nvSpPr>
        <p:spPr bwMode="auto">
          <a:xfrm flipH="1" flipV="1">
            <a:off x="4821526" y="2636116"/>
            <a:ext cx="100012" cy="2968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1" name="Line 147"/>
          <p:cNvSpPr>
            <a:spLocks noChangeShapeType="1"/>
          </p:cNvSpPr>
          <p:nvPr/>
        </p:nvSpPr>
        <p:spPr bwMode="auto">
          <a:xfrm flipH="1" flipV="1">
            <a:off x="4723101" y="2307504"/>
            <a:ext cx="98425" cy="3286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2" name="Line 148"/>
          <p:cNvSpPr>
            <a:spLocks noChangeShapeType="1"/>
          </p:cNvSpPr>
          <p:nvPr/>
        </p:nvSpPr>
        <p:spPr bwMode="auto">
          <a:xfrm flipH="1">
            <a:off x="6255038" y="3928341"/>
            <a:ext cx="4011613" cy="47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3" name="Line 149"/>
          <p:cNvSpPr>
            <a:spLocks noChangeShapeType="1"/>
          </p:cNvSpPr>
          <p:nvPr/>
        </p:nvSpPr>
        <p:spPr bwMode="auto">
          <a:xfrm flipH="1" flipV="1">
            <a:off x="6056601" y="3775941"/>
            <a:ext cx="198437" cy="1555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4" name="Line 150"/>
          <p:cNvSpPr>
            <a:spLocks noChangeShapeType="1"/>
          </p:cNvSpPr>
          <p:nvPr/>
        </p:nvSpPr>
        <p:spPr bwMode="auto">
          <a:xfrm flipH="1" flipV="1">
            <a:off x="5877213" y="3604491"/>
            <a:ext cx="179388" cy="17145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5" name="Line 151"/>
          <p:cNvSpPr>
            <a:spLocks noChangeShapeType="1"/>
          </p:cNvSpPr>
          <p:nvPr/>
        </p:nvSpPr>
        <p:spPr bwMode="auto">
          <a:xfrm flipH="1" flipV="1">
            <a:off x="5707351" y="3401291"/>
            <a:ext cx="169862" cy="2032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6" name="Line 152"/>
          <p:cNvSpPr>
            <a:spLocks noChangeShapeType="1"/>
          </p:cNvSpPr>
          <p:nvPr/>
        </p:nvSpPr>
        <p:spPr bwMode="auto">
          <a:xfrm flipH="1" flipV="1">
            <a:off x="5539076" y="3182216"/>
            <a:ext cx="168275" cy="2190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7" name="Line 153"/>
          <p:cNvSpPr>
            <a:spLocks noChangeShapeType="1"/>
          </p:cNvSpPr>
          <p:nvPr/>
        </p:nvSpPr>
        <p:spPr bwMode="auto">
          <a:xfrm flipH="1" flipV="1">
            <a:off x="5388263" y="2932979"/>
            <a:ext cx="150813" cy="249237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8" name="Line 154"/>
          <p:cNvSpPr>
            <a:spLocks noChangeShapeType="1"/>
          </p:cNvSpPr>
          <p:nvPr/>
        </p:nvSpPr>
        <p:spPr bwMode="auto">
          <a:xfrm flipH="1" flipV="1">
            <a:off x="5250151" y="2636116"/>
            <a:ext cx="138112" cy="2968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9" name="Line 155"/>
          <p:cNvSpPr>
            <a:spLocks noChangeShapeType="1"/>
          </p:cNvSpPr>
          <p:nvPr/>
        </p:nvSpPr>
        <p:spPr bwMode="auto">
          <a:xfrm flipH="1" flipV="1">
            <a:off x="5110451" y="2307504"/>
            <a:ext cx="139700" cy="3286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0" name="Line 156"/>
          <p:cNvSpPr>
            <a:spLocks noChangeShapeType="1"/>
          </p:cNvSpPr>
          <p:nvPr/>
        </p:nvSpPr>
        <p:spPr bwMode="auto">
          <a:xfrm flipH="1">
            <a:off x="6255038" y="4930054"/>
            <a:ext cx="3983038" cy="31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1" name="Line 157"/>
          <p:cNvSpPr>
            <a:spLocks noChangeShapeType="1"/>
          </p:cNvSpPr>
          <p:nvPr/>
        </p:nvSpPr>
        <p:spPr bwMode="auto">
          <a:xfrm flipH="1" flipV="1">
            <a:off x="6056601" y="4868141"/>
            <a:ext cx="198437" cy="635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2" name="Line 158"/>
          <p:cNvSpPr>
            <a:spLocks noChangeShapeType="1"/>
          </p:cNvSpPr>
          <p:nvPr/>
        </p:nvSpPr>
        <p:spPr bwMode="auto">
          <a:xfrm flipH="1" flipV="1">
            <a:off x="5886738" y="4790354"/>
            <a:ext cx="169863" cy="77787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3" name="Line 159"/>
          <p:cNvSpPr>
            <a:spLocks noChangeShapeType="1"/>
          </p:cNvSpPr>
          <p:nvPr/>
        </p:nvSpPr>
        <p:spPr bwMode="auto">
          <a:xfrm flipH="1" flipV="1">
            <a:off x="5726401" y="4712566"/>
            <a:ext cx="160337" cy="7778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4" name="Line 160"/>
          <p:cNvSpPr>
            <a:spLocks noChangeShapeType="1"/>
          </p:cNvSpPr>
          <p:nvPr/>
        </p:nvSpPr>
        <p:spPr bwMode="auto">
          <a:xfrm flipH="1" flipV="1">
            <a:off x="5578763" y="4618904"/>
            <a:ext cx="147638" cy="9366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5" name="Line 161"/>
          <p:cNvSpPr>
            <a:spLocks noChangeShapeType="1"/>
          </p:cNvSpPr>
          <p:nvPr/>
        </p:nvSpPr>
        <p:spPr bwMode="auto">
          <a:xfrm flipH="1" flipV="1">
            <a:off x="5448588" y="4525241"/>
            <a:ext cx="130175" cy="936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6" name="Line 162"/>
          <p:cNvSpPr>
            <a:spLocks noChangeShapeType="1"/>
          </p:cNvSpPr>
          <p:nvPr/>
        </p:nvSpPr>
        <p:spPr bwMode="auto">
          <a:xfrm flipH="1" flipV="1">
            <a:off x="5329526" y="4431579"/>
            <a:ext cx="119062" cy="9366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7" name="Line 163"/>
          <p:cNvSpPr>
            <a:spLocks noChangeShapeType="1"/>
          </p:cNvSpPr>
          <p:nvPr/>
        </p:nvSpPr>
        <p:spPr bwMode="auto">
          <a:xfrm flipH="1" flipV="1">
            <a:off x="5208876" y="4322041"/>
            <a:ext cx="120650" cy="10953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8" name="Line 164"/>
          <p:cNvSpPr>
            <a:spLocks noChangeShapeType="1"/>
          </p:cNvSpPr>
          <p:nvPr/>
        </p:nvSpPr>
        <p:spPr bwMode="auto">
          <a:xfrm flipH="1" flipV="1">
            <a:off x="5100926" y="4196629"/>
            <a:ext cx="107950" cy="1254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9" name="Line 165"/>
          <p:cNvSpPr>
            <a:spLocks noChangeShapeType="1"/>
          </p:cNvSpPr>
          <p:nvPr/>
        </p:nvSpPr>
        <p:spPr bwMode="auto">
          <a:xfrm flipH="1" flipV="1">
            <a:off x="5000913" y="4072804"/>
            <a:ext cx="100013" cy="12382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0" name="Line 166"/>
          <p:cNvSpPr>
            <a:spLocks noChangeShapeType="1"/>
          </p:cNvSpPr>
          <p:nvPr/>
        </p:nvSpPr>
        <p:spPr bwMode="auto">
          <a:xfrm flipH="1" flipV="1">
            <a:off x="4910426" y="3931516"/>
            <a:ext cx="90487" cy="141288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1" name="Line 167"/>
          <p:cNvSpPr>
            <a:spLocks noChangeShapeType="1"/>
          </p:cNvSpPr>
          <p:nvPr/>
        </p:nvSpPr>
        <p:spPr bwMode="auto">
          <a:xfrm flipH="1" flipV="1">
            <a:off x="4821526" y="3775941"/>
            <a:ext cx="88900" cy="1555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2" name="Line 168"/>
          <p:cNvSpPr>
            <a:spLocks noChangeShapeType="1"/>
          </p:cNvSpPr>
          <p:nvPr/>
        </p:nvSpPr>
        <p:spPr bwMode="auto">
          <a:xfrm flipH="1" flipV="1">
            <a:off x="4742151" y="3604491"/>
            <a:ext cx="79375" cy="17145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3" name="Line 169"/>
          <p:cNvSpPr>
            <a:spLocks noChangeShapeType="1"/>
          </p:cNvSpPr>
          <p:nvPr/>
        </p:nvSpPr>
        <p:spPr bwMode="auto">
          <a:xfrm flipH="1" flipV="1">
            <a:off x="4672301" y="3401291"/>
            <a:ext cx="69850" cy="2032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4" name="Line 170"/>
          <p:cNvSpPr>
            <a:spLocks noChangeShapeType="1"/>
          </p:cNvSpPr>
          <p:nvPr/>
        </p:nvSpPr>
        <p:spPr bwMode="auto">
          <a:xfrm flipH="1" flipV="1">
            <a:off x="4592926" y="3182216"/>
            <a:ext cx="79375" cy="2190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5" name="Line 171"/>
          <p:cNvSpPr>
            <a:spLocks noChangeShapeType="1"/>
          </p:cNvSpPr>
          <p:nvPr/>
        </p:nvSpPr>
        <p:spPr bwMode="auto">
          <a:xfrm flipH="1" flipV="1">
            <a:off x="4532601" y="2932979"/>
            <a:ext cx="60325" cy="249237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6" name="Line 172"/>
          <p:cNvSpPr>
            <a:spLocks noChangeShapeType="1"/>
          </p:cNvSpPr>
          <p:nvPr/>
        </p:nvSpPr>
        <p:spPr bwMode="auto">
          <a:xfrm flipH="1" flipV="1">
            <a:off x="4462751" y="2636116"/>
            <a:ext cx="69850" cy="296863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7" name="Line 173"/>
          <p:cNvSpPr>
            <a:spLocks noChangeShapeType="1"/>
          </p:cNvSpPr>
          <p:nvPr/>
        </p:nvSpPr>
        <p:spPr bwMode="auto">
          <a:xfrm flipH="1" flipV="1">
            <a:off x="4404013" y="2307504"/>
            <a:ext cx="58738" cy="328612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8" name="Rectangle 174"/>
          <p:cNvSpPr>
            <a:spLocks noChangeArrowheads="1"/>
          </p:cNvSpPr>
          <p:nvPr/>
        </p:nvSpPr>
        <p:spPr bwMode="auto">
          <a:xfrm>
            <a:off x="3697576" y="5619029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9" name="Rectangle 175"/>
          <p:cNvSpPr>
            <a:spLocks noChangeArrowheads="1"/>
          </p:cNvSpPr>
          <p:nvPr/>
        </p:nvSpPr>
        <p:spPr bwMode="auto">
          <a:xfrm>
            <a:off x="3646776" y="5025304"/>
            <a:ext cx="1524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50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0" name="Rectangle 176"/>
          <p:cNvSpPr>
            <a:spLocks noChangeArrowheads="1"/>
          </p:cNvSpPr>
          <p:nvPr/>
        </p:nvSpPr>
        <p:spPr bwMode="auto">
          <a:xfrm>
            <a:off x="3597563" y="4415704"/>
            <a:ext cx="2286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100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1" name="Rectangle 177"/>
          <p:cNvSpPr>
            <a:spLocks noChangeArrowheads="1"/>
          </p:cNvSpPr>
          <p:nvPr/>
        </p:nvSpPr>
        <p:spPr bwMode="auto">
          <a:xfrm>
            <a:off x="3597563" y="3823566"/>
            <a:ext cx="2286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150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2" name="Rectangle 178"/>
          <p:cNvSpPr>
            <a:spLocks noChangeArrowheads="1"/>
          </p:cNvSpPr>
          <p:nvPr/>
        </p:nvSpPr>
        <p:spPr bwMode="auto">
          <a:xfrm>
            <a:off x="3597563" y="3213966"/>
            <a:ext cx="2286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200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3" name="Rectangle 179"/>
          <p:cNvSpPr>
            <a:spLocks noChangeArrowheads="1"/>
          </p:cNvSpPr>
          <p:nvPr/>
        </p:nvSpPr>
        <p:spPr bwMode="auto">
          <a:xfrm>
            <a:off x="3597563" y="2620241"/>
            <a:ext cx="2286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250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4" name="Rectangle 180"/>
          <p:cNvSpPr>
            <a:spLocks noChangeArrowheads="1"/>
          </p:cNvSpPr>
          <p:nvPr/>
        </p:nvSpPr>
        <p:spPr bwMode="auto">
          <a:xfrm>
            <a:off x="10414288" y="4806229"/>
            <a:ext cx="174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100">
                <a:solidFill>
                  <a:srgbClr val="000000"/>
                </a:solidFill>
                <a:latin typeface="Times" panose="02020603050405020304" pitchFamily="18" charset="0"/>
              </a:rPr>
              <a:t>0,4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5" name="Rectangle 181"/>
          <p:cNvSpPr>
            <a:spLocks noChangeArrowheads="1"/>
          </p:cNvSpPr>
          <p:nvPr/>
        </p:nvSpPr>
        <p:spPr bwMode="auto">
          <a:xfrm>
            <a:off x="10414288" y="3807691"/>
            <a:ext cx="174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100">
                <a:solidFill>
                  <a:srgbClr val="000000"/>
                </a:solidFill>
                <a:latin typeface="Times" panose="02020603050405020304" pitchFamily="18" charset="0"/>
              </a:rPr>
              <a:t>0,6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6" name="Rectangle 182"/>
          <p:cNvSpPr>
            <a:spLocks noChangeArrowheads="1"/>
          </p:cNvSpPr>
          <p:nvPr/>
        </p:nvSpPr>
        <p:spPr bwMode="auto">
          <a:xfrm>
            <a:off x="10414288" y="4415704"/>
            <a:ext cx="174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100">
                <a:solidFill>
                  <a:srgbClr val="000000"/>
                </a:solidFill>
                <a:latin typeface="Times" panose="02020603050405020304" pitchFamily="18" charset="0"/>
              </a:rPr>
              <a:t>0,5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7" name="Rectangle 183"/>
          <p:cNvSpPr>
            <a:spLocks noChangeArrowheads="1"/>
          </p:cNvSpPr>
          <p:nvPr/>
        </p:nvSpPr>
        <p:spPr bwMode="auto">
          <a:xfrm>
            <a:off x="10414288" y="5322166"/>
            <a:ext cx="174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100">
                <a:solidFill>
                  <a:srgbClr val="000000"/>
                </a:solidFill>
                <a:latin typeface="Times" panose="02020603050405020304" pitchFamily="18" charset="0"/>
              </a:rPr>
              <a:t>0,2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8" name="Rectangle 184"/>
          <p:cNvSpPr>
            <a:spLocks noChangeArrowheads="1"/>
          </p:cNvSpPr>
          <p:nvPr/>
        </p:nvSpPr>
        <p:spPr bwMode="auto">
          <a:xfrm>
            <a:off x="10412701" y="5493616"/>
            <a:ext cx="1905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0,1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9" name="Rectangle 185"/>
          <p:cNvSpPr>
            <a:spLocks noChangeArrowheads="1"/>
          </p:cNvSpPr>
          <p:nvPr/>
        </p:nvSpPr>
        <p:spPr bwMode="auto">
          <a:xfrm>
            <a:off x="10401588" y="5087216"/>
            <a:ext cx="174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100">
                <a:solidFill>
                  <a:srgbClr val="000000"/>
                </a:solidFill>
                <a:latin typeface="Times" panose="02020603050405020304" pitchFamily="18" charset="0"/>
              </a:rPr>
              <a:t>0,3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90" name="Group 186"/>
          <p:cNvGrpSpPr>
            <a:grpSpLocks/>
          </p:cNvGrpSpPr>
          <p:nvPr/>
        </p:nvGrpSpPr>
        <p:grpSpPr bwMode="auto">
          <a:xfrm>
            <a:off x="3908713" y="1715366"/>
            <a:ext cx="157163" cy="669925"/>
            <a:chOff x="708" y="810"/>
            <a:chExt cx="99" cy="422"/>
          </a:xfrm>
        </p:grpSpPr>
        <p:sp>
          <p:nvSpPr>
            <p:cNvPr id="191" name="Freeform 187"/>
            <p:cNvSpPr>
              <a:spLocks/>
            </p:cNvSpPr>
            <p:nvPr/>
          </p:nvSpPr>
          <p:spPr bwMode="auto">
            <a:xfrm>
              <a:off x="708" y="810"/>
              <a:ext cx="99" cy="147"/>
            </a:xfrm>
            <a:custGeom>
              <a:avLst/>
              <a:gdLst>
                <a:gd name="T0" fmla="*/ 49 w 99"/>
                <a:gd name="T1" fmla="*/ 0 h 147"/>
                <a:gd name="T2" fmla="*/ 99 w 99"/>
                <a:gd name="T3" fmla="*/ 147 h 147"/>
                <a:gd name="T4" fmla="*/ 49 w 99"/>
                <a:gd name="T5" fmla="*/ 98 h 147"/>
                <a:gd name="T6" fmla="*/ 0 w 99"/>
                <a:gd name="T7" fmla="*/ 147 h 147"/>
                <a:gd name="T8" fmla="*/ 49 w 99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" h="147">
                  <a:moveTo>
                    <a:pt x="49" y="0"/>
                  </a:moveTo>
                  <a:lnTo>
                    <a:pt x="99" y="147"/>
                  </a:lnTo>
                  <a:lnTo>
                    <a:pt x="49" y="98"/>
                  </a:lnTo>
                  <a:lnTo>
                    <a:pt x="0" y="147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2" name="Line 188"/>
            <p:cNvSpPr>
              <a:spLocks noChangeShapeType="1"/>
            </p:cNvSpPr>
            <p:nvPr/>
          </p:nvSpPr>
          <p:spPr bwMode="auto">
            <a:xfrm flipV="1">
              <a:off x="757" y="908"/>
              <a:ext cx="1" cy="32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93" name="Rectangle 189"/>
          <p:cNvSpPr>
            <a:spLocks noChangeArrowheads="1"/>
          </p:cNvSpPr>
          <p:nvPr/>
        </p:nvSpPr>
        <p:spPr bwMode="auto">
          <a:xfrm>
            <a:off x="3643601" y="1651866"/>
            <a:ext cx="15557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700" b="1">
                <a:solidFill>
                  <a:srgbClr val="000000"/>
                </a:solidFill>
                <a:latin typeface="Times" panose="02020603050405020304" pitchFamily="18" charset="0"/>
              </a:rPr>
              <a:t>V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94" name="Rectangle 190"/>
          <p:cNvSpPr>
            <a:spLocks noChangeArrowheads="1"/>
          </p:cNvSpPr>
          <p:nvPr/>
        </p:nvSpPr>
        <p:spPr bwMode="auto">
          <a:xfrm>
            <a:off x="3799176" y="1777279"/>
            <a:ext cx="587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Times" panose="02020603050405020304" pitchFamily="18" charset="0"/>
              </a:rPr>
              <a:t>s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95" name="Rectangle 191"/>
          <p:cNvSpPr>
            <a:spLocks noChangeArrowheads="1"/>
          </p:cNvSpPr>
          <p:nvPr/>
        </p:nvSpPr>
        <p:spPr bwMode="auto">
          <a:xfrm>
            <a:off x="10822276" y="5866679"/>
            <a:ext cx="84137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700" b="1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96" name="Rectangle 192"/>
          <p:cNvSpPr>
            <a:spLocks noChangeArrowheads="1"/>
          </p:cNvSpPr>
          <p:nvPr/>
        </p:nvSpPr>
        <p:spPr bwMode="auto">
          <a:xfrm>
            <a:off x="10947688" y="5993679"/>
            <a:ext cx="587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Times" panose="02020603050405020304" pitchFamily="18" charset="0"/>
              </a:rPr>
              <a:t>s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97" name="Freeform 193"/>
          <p:cNvSpPr>
            <a:spLocks/>
          </p:cNvSpPr>
          <p:nvPr/>
        </p:nvSpPr>
        <p:spPr bwMode="auto">
          <a:xfrm>
            <a:off x="10604788" y="5674591"/>
            <a:ext cx="217488" cy="139700"/>
          </a:xfrm>
          <a:custGeom>
            <a:avLst/>
            <a:gdLst>
              <a:gd name="T0" fmla="*/ 2147483646 w 137"/>
              <a:gd name="T1" fmla="*/ 2147483646 h 88"/>
              <a:gd name="T2" fmla="*/ 0 w 137"/>
              <a:gd name="T3" fmla="*/ 2147483646 h 88"/>
              <a:gd name="T4" fmla="*/ 2147483646 w 137"/>
              <a:gd name="T5" fmla="*/ 2147483646 h 88"/>
              <a:gd name="T6" fmla="*/ 0 w 137"/>
              <a:gd name="T7" fmla="*/ 0 h 88"/>
              <a:gd name="T8" fmla="*/ 2147483646 w 137"/>
              <a:gd name="T9" fmla="*/ 2147483646 h 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7" h="88">
                <a:moveTo>
                  <a:pt x="137" y="39"/>
                </a:moveTo>
                <a:lnTo>
                  <a:pt x="0" y="88"/>
                </a:lnTo>
                <a:lnTo>
                  <a:pt x="39" y="39"/>
                </a:lnTo>
                <a:lnTo>
                  <a:pt x="0" y="0"/>
                </a:lnTo>
                <a:lnTo>
                  <a:pt x="137" y="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8" name="Line 194"/>
          <p:cNvSpPr>
            <a:spLocks noChangeShapeType="1"/>
          </p:cNvSpPr>
          <p:nvPr/>
        </p:nvSpPr>
        <p:spPr bwMode="auto">
          <a:xfrm>
            <a:off x="10026938" y="5736504"/>
            <a:ext cx="639763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9" name="Line 195"/>
          <p:cNvSpPr>
            <a:spLocks noChangeShapeType="1"/>
          </p:cNvSpPr>
          <p:nvPr/>
        </p:nvSpPr>
        <p:spPr bwMode="auto">
          <a:xfrm>
            <a:off x="3489613" y="2715491"/>
            <a:ext cx="268605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0" name="Line 196"/>
          <p:cNvSpPr>
            <a:spLocks noChangeShapeType="1"/>
          </p:cNvSpPr>
          <p:nvPr/>
        </p:nvSpPr>
        <p:spPr bwMode="auto">
          <a:xfrm flipH="1" flipV="1">
            <a:off x="9463376" y="2821854"/>
            <a:ext cx="9525" cy="30099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01" name="Groupe 200"/>
          <p:cNvGrpSpPr>
            <a:grpSpLocks/>
          </p:cNvGrpSpPr>
          <p:nvPr/>
        </p:nvGrpSpPr>
        <p:grpSpPr bwMode="auto">
          <a:xfrm>
            <a:off x="3870613" y="1572491"/>
            <a:ext cx="4826000" cy="4152900"/>
            <a:chOff x="1085850" y="1143000"/>
            <a:chExt cx="4826255" cy="4152900"/>
          </a:xfrm>
        </p:grpSpPr>
        <p:sp>
          <p:nvSpPr>
            <p:cNvPr id="202" name="Line 8"/>
            <p:cNvSpPr>
              <a:spLocks noChangeShapeType="1"/>
            </p:cNvSpPr>
            <p:nvPr/>
          </p:nvSpPr>
          <p:spPr bwMode="auto">
            <a:xfrm flipV="1">
              <a:off x="1085850" y="1438275"/>
              <a:ext cx="2581275" cy="3857625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3" name="Text Box 198"/>
            <p:cNvSpPr txBox="1">
              <a:spLocks noChangeArrowheads="1"/>
            </p:cNvSpPr>
            <p:nvPr/>
          </p:nvSpPr>
          <p:spPr bwMode="auto">
            <a:xfrm>
              <a:off x="3784600" y="1143000"/>
              <a:ext cx="212750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>
                  <a:solidFill>
                    <a:srgbClr val="009900"/>
                  </a:solidFill>
                  <a:latin typeface="Times New Roman" panose="02020603050405020304" pitchFamily="18" charset="0"/>
                </a:rPr>
                <a:t>R</a:t>
              </a:r>
              <a:r>
                <a:rPr lang="en-CA" altLang="fr-FR" sz="1800" b="1" baseline="-25000">
                  <a:solidFill>
                    <a:srgbClr val="009900"/>
                  </a:solidFill>
                  <a:latin typeface="Times New Roman" panose="02020603050405020304" pitchFamily="18" charset="0"/>
                </a:rPr>
                <a:t>max</a:t>
              </a:r>
              <a:r>
                <a:rPr lang="en-CA" altLang="fr-FR" sz="1800" b="1">
                  <a:solidFill>
                    <a:srgbClr val="009900"/>
                  </a:solidFill>
                  <a:latin typeface="Times New Roman" panose="02020603050405020304" pitchFamily="18" charset="0"/>
                </a:rPr>
                <a:t> : minimal load</a:t>
              </a:r>
            </a:p>
          </p:txBody>
        </p:sp>
      </p:grpSp>
      <p:grpSp>
        <p:nvGrpSpPr>
          <p:cNvPr id="204" name="Groupe 203"/>
          <p:cNvGrpSpPr>
            <a:grpSpLocks/>
          </p:cNvGrpSpPr>
          <p:nvPr/>
        </p:nvGrpSpPr>
        <p:grpSpPr bwMode="auto">
          <a:xfrm>
            <a:off x="3872201" y="2993304"/>
            <a:ext cx="7058025" cy="2752725"/>
            <a:chOff x="1087438" y="2563813"/>
            <a:chExt cx="7058405" cy="2752725"/>
          </a:xfrm>
        </p:grpSpPr>
        <p:sp>
          <p:nvSpPr>
            <p:cNvPr id="205" name="Line 197"/>
            <p:cNvSpPr>
              <a:spLocks noChangeShapeType="1"/>
            </p:cNvSpPr>
            <p:nvPr/>
          </p:nvSpPr>
          <p:spPr bwMode="auto">
            <a:xfrm flipV="1">
              <a:off x="1087438" y="3068638"/>
              <a:ext cx="6943725" cy="22479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6" name="Text Box 199"/>
            <p:cNvSpPr txBox="1">
              <a:spLocks noChangeArrowheads="1"/>
            </p:cNvSpPr>
            <p:nvPr/>
          </p:nvSpPr>
          <p:spPr bwMode="auto">
            <a:xfrm>
              <a:off x="6005513" y="2563813"/>
              <a:ext cx="21403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R</a:t>
              </a:r>
              <a:r>
                <a:rPr lang="en-CA" altLang="fr-FR" sz="1800" b="1" baseline="-25000">
                  <a:solidFill>
                    <a:srgbClr val="0033CC"/>
                  </a:solidFill>
                  <a:latin typeface="Times New Roman" panose="02020603050405020304" pitchFamily="18" charset="0"/>
                </a:rPr>
                <a:t>min</a:t>
              </a:r>
              <a:r>
                <a:rPr lang="en-CA" altLang="fr-FR" sz="18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 : maximal load</a:t>
              </a:r>
            </a:p>
          </p:txBody>
        </p:sp>
      </p:grpSp>
      <p:sp>
        <p:nvSpPr>
          <p:cNvPr id="207" name="Text Box 200"/>
          <p:cNvSpPr txBox="1">
            <a:spLocks noChangeArrowheads="1"/>
          </p:cNvSpPr>
          <p:nvPr/>
        </p:nvSpPr>
        <p:spPr bwMode="auto">
          <a:xfrm>
            <a:off x="3054638" y="2505941"/>
            <a:ext cx="687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smax</a:t>
            </a:r>
          </a:p>
        </p:txBody>
      </p:sp>
      <p:sp>
        <p:nvSpPr>
          <p:cNvPr id="208" name="Text Box 201"/>
          <p:cNvSpPr txBox="1">
            <a:spLocks noChangeArrowheads="1"/>
          </p:cNvSpPr>
          <p:nvPr/>
        </p:nvSpPr>
        <p:spPr bwMode="auto">
          <a:xfrm>
            <a:off x="9123651" y="5879379"/>
            <a:ext cx="6111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smax</a:t>
            </a:r>
          </a:p>
        </p:txBody>
      </p:sp>
      <p:sp>
        <p:nvSpPr>
          <p:cNvPr id="209" name="ZoneTexte 208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Discontinuous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2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Boundary mode: Output filtering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614666" y="2512924"/>
            <a:ext cx="288925" cy="10795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1" name="Line 4"/>
          <p:cNvSpPr>
            <a:spLocks noChangeShapeType="1"/>
          </p:cNvSpPr>
          <p:nvPr/>
        </p:nvSpPr>
        <p:spPr bwMode="auto">
          <a:xfrm>
            <a:off x="5759129" y="3594012"/>
            <a:ext cx="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5"/>
          <p:cNvSpPr>
            <a:spLocks noChangeShapeType="1"/>
          </p:cNvSpPr>
          <p:nvPr/>
        </p:nvSpPr>
        <p:spPr bwMode="auto">
          <a:xfrm flipH="1">
            <a:off x="3387404" y="3881349"/>
            <a:ext cx="2371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 flipV="1">
            <a:off x="5759129" y="2154149"/>
            <a:ext cx="0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Line 7"/>
          <p:cNvSpPr>
            <a:spLocks noChangeShapeType="1"/>
          </p:cNvSpPr>
          <p:nvPr/>
        </p:nvSpPr>
        <p:spPr bwMode="auto">
          <a:xfrm flipH="1">
            <a:off x="4030341" y="2154149"/>
            <a:ext cx="17287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8"/>
          <p:cNvSpPr>
            <a:spLocks noChangeShapeType="1"/>
          </p:cNvSpPr>
          <p:nvPr/>
        </p:nvSpPr>
        <p:spPr bwMode="auto">
          <a:xfrm>
            <a:off x="4895529" y="2154149"/>
            <a:ext cx="0" cy="790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Line 9"/>
          <p:cNvSpPr>
            <a:spLocks noChangeShapeType="1"/>
          </p:cNvSpPr>
          <p:nvPr/>
        </p:nvSpPr>
        <p:spPr bwMode="auto">
          <a:xfrm>
            <a:off x="4535166" y="2946312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>
            <a:off x="4535166" y="3089187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4895529" y="3089187"/>
            <a:ext cx="0" cy="792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 flipH="1">
            <a:off x="4301804" y="2298612"/>
            <a:ext cx="19050" cy="1450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5111429" y="3162212"/>
            <a:ext cx="4206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R</a:t>
            </a:r>
            <a:r>
              <a:rPr lang="fr-FR" altLang="fr-FR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1" name="Text Box 14"/>
          <p:cNvSpPr txBox="1">
            <a:spLocks noChangeArrowheads="1"/>
          </p:cNvSpPr>
          <p:nvPr/>
        </p:nvSpPr>
        <p:spPr bwMode="auto">
          <a:xfrm>
            <a:off x="4390704" y="3298737"/>
            <a:ext cx="4206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C</a:t>
            </a:r>
            <a:r>
              <a:rPr lang="fr-FR" altLang="fr-FR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2" name="Line 15"/>
          <p:cNvSpPr>
            <a:spLocks noChangeShapeType="1"/>
          </p:cNvSpPr>
          <p:nvPr/>
        </p:nvSpPr>
        <p:spPr bwMode="auto">
          <a:xfrm>
            <a:off x="4319266" y="2154149"/>
            <a:ext cx="8731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4174804" y="1650912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4" name="Line 17"/>
          <p:cNvSpPr>
            <a:spLocks noChangeShapeType="1"/>
          </p:cNvSpPr>
          <p:nvPr/>
        </p:nvSpPr>
        <p:spPr bwMode="auto">
          <a:xfrm flipV="1">
            <a:off x="5216204" y="2135099"/>
            <a:ext cx="236537" cy="28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5111429" y="1650912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6" name="Line 19"/>
          <p:cNvSpPr>
            <a:spLocks noChangeShapeType="1"/>
          </p:cNvSpPr>
          <p:nvPr/>
        </p:nvSpPr>
        <p:spPr bwMode="auto">
          <a:xfrm>
            <a:off x="4895529" y="2585949"/>
            <a:ext cx="9525" cy="68263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4966966" y="2443074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solidFill>
                  <a:srgbClr val="009900"/>
                </a:solidFill>
                <a:latin typeface="Times New Roman" panose="02020603050405020304" pitchFamily="18" charset="0"/>
              </a:rPr>
              <a:t>C</a:t>
            </a:r>
          </a:p>
        </p:txBody>
      </p:sp>
      <p:grpSp>
        <p:nvGrpSpPr>
          <p:cNvPr id="28" name="Group 21"/>
          <p:cNvGrpSpPr>
            <a:grpSpLocks/>
          </p:cNvGrpSpPr>
          <p:nvPr/>
        </p:nvGrpSpPr>
        <p:grpSpPr bwMode="auto">
          <a:xfrm>
            <a:off x="6752904" y="3030449"/>
            <a:ext cx="4397375" cy="1428750"/>
            <a:chOff x="2605" y="1734"/>
            <a:chExt cx="2770" cy="900"/>
          </a:xfrm>
        </p:grpSpPr>
        <p:grpSp>
          <p:nvGrpSpPr>
            <p:cNvPr id="29" name="Group 22"/>
            <p:cNvGrpSpPr>
              <a:grpSpLocks/>
            </p:cNvGrpSpPr>
            <p:nvPr/>
          </p:nvGrpSpPr>
          <p:grpSpPr bwMode="auto">
            <a:xfrm>
              <a:off x="2605" y="2335"/>
              <a:ext cx="2770" cy="56"/>
              <a:chOff x="300" y="5640"/>
              <a:chExt cx="6925" cy="140"/>
            </a:xfrm>
          </p:grpSpPr>
          <p:sp>
            <p:nvSpPr>
              <p:cNvPr id="36" name="Freeform 23"/>
              <p:cNvSpPr>
                <a:spLocks/>
              </p:cNvSpPr>
              <p:nvPr/>
            </p:nvSpPr>
            <p:spPr bwMode="auto">
              <a:xfrm>
                <a:off x="6945" y="5640"/>
                <a:ext cx="280" cy="140"/>
              </a:xfrm>
              <a:custGeom>
                <a:avLst/>
                <a:gdLst>
                  <a:gd name="T0" fmla="*/ 280 w 280"/>
                  <a:gd name="T1" fmla="*/ 80 h 140"/>
                  <a:gd name="T2" fmla="*/ 0 w 280"/>
                  <a:gd name="T3" fmla="*/ 140 h 140"/>
                  <a:gd name="T4" fmla="*/ 0 w 280"/>
                  <a:gd name="T5" fmla="*/ 80 h 140"/>
                  <a:gd name="T6" fmla="*/ 0 w 280"/>
                  <a:gd name="T7" fmla="*/ 0 h 140"/>
                  <a:gd name="T8" fmla="*/ 280 w 280"/>
                  <a:gd name="T9" fmla="*/ 8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80"/>
                    </a:moveTo>
                    <a:lnTo>
                      <a:pt x="0" y="140"/>
                    </a:lnTo>
                    <a:lnTo>
                      <a:pt x="0" y="80"/>
                    </a:lnTo>
                    <a:lnTo>
                      <a:pt x="0" y="0"/>
                    </a:lnTo>
                    <a:lnTo>
                      <a:pt x="280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7" name="Line 24"/>
              <p:cNvSpPr>
                <a:spLocks noChangeShapeType="1"/>
              </p:cNvSpPr>
              <p:nvPr/>
            </p:nvSpPr>
            <p:spPr bwMode="auto">
              <a:xfrm>
                <a:off x="300" y="5720"/>
                <a:ext cx="664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 flipV="1">
              <a:off x="2699" y="1772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3604" y="1863"/>
              <a:ext cx="456" cy="638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2699" y="2498"/>
              <a:ext cx="908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V="1">
              <a:off x="3607" y="1863"/>
              <a:ext cx="0" cy="635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4060" y="2498"/>
              <a:ext cx="907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2756" y="1734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>
                  <a:solidFill>
                    <a:srgbClr val="0099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>
                  <a:solidFill>
                    <a:srgbClr val="0099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38" name="Group 31"/>
          <p:cNvGrpSpPr>
            <a:grpSpLocks/>
          </p:cNvGrpSpPr>
          <p:nvPr/>
        </p:nvGrpSpPr>
        <p:grpSpPr bwMode="auto">
          <a:xfrm>
            <a:off x="3766816" y="1925549"/>
            <a:ext cx="265113" cy="388938"/>
            <a:chOff x="939" y="1043"/>
            <a:chExt cx="167" cy="245"/>
          </a:xfrm>
        </p:grpSpPr>
        <p:sp>
          <p:nvSpPr>
            <p:cNvPr id="39" name="Line 32"/>
            <p:cNvSpPr>
              <a:spLocks noChangeShapeType="1"/>
            </p:cNvSpPr>
            <p:nvPr/>
          </p:nvSpPr>
          <p:spPr bwMode="auto">
            <a:xfrm>
              <a:off x="1105" y="1043"/>
              <a:ext cx="1" cy="245"/>
            </a:xfrm>
            <a:prstGeom prst="line">
              <a:avLst/>
            </a:prstGeom>
            <a:noFill/>
            <a:ln w="460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Line 33"/>
            <p:cNvSpPr>
              <a:spLocks noChangeShapeType="1"/>
            </p:cNvSpPr>
            <p:nvPr/>
          </p:nvSpPr>
          <p:spPr bwMode="auto">
            <a:xfrm flipH="1" flipV="1">
              <a:off x="939" y="1043"/>
              <a:ext cx="166" cy="12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34"/>
            <p:cNvSpPr>
              <a:spLocks noChangeShapeType="1"/>
            </p:cNvSpPr>
            <p:nvPr/>
          </p:nvSpPr>
          <p:spPr bwMode="auto">
            <a:xfrm>
              <a:off x="939" y="1043"/>
              <a:ext cx="1" cy="24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35"/>
            <p:cNvSpPr>
              <a:spLocks noChangeShapeType="1"/>
            </p:cNvSpPr>
            <p:nvPr/>
          </p:nvSpPr>
          <p:spPr bwMode="auto">
            <a:xfrm flipV="1">
              <a:off x="939" y="1166"/>
              <a:ext cx="166" cy="122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3" name="Line 36"/>
          <p:cNvSpPr>
            <a:spLocks noChangeShapeType="1"/>
          </p:cNvSpPr>
          <p:nvPr/>
        </p:nvSpPr>
        <p:spPr bwMode="auto">
          <a:xfrm flipH="1">
            <a:off x="3384229" y="2136687"/>
            <a:ext cx="395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4" name="Text Box 37"/>
          <p:cNvSpPr txBox="1">
            <a:spLocks noChangeArrowheads="1"/>
          </p:cNvSpPr>
          <p:nvPr/>
        </p:nvSpPr>
        <p:spPr bwMode="auto">
          <a:xfrm>
            <a:off x="3903341" y="2805024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S</a:t>
            </a:r>
          </a:p>
        </p:txBody>
      </p:sp>
      <p:grpSp>
        <p:nvGrpSpPr>
          <p:cNvPr id="45" name="Group 38"/>
          <p:cNvGrpSpPr>
            <a:grpSpLocks/>
          </p:cNvGrpSpPr>
          <p:nvPr/>
        </p:nvGrpSpPr>
        <p:grpSpPr bwMode="auto">
          <a:xfrm>
            <a:off x="6451279" y="1139737"/>
            <a:ext cx="4703762" cy="4976812"/>
            <a:chOff x="2415" y="543"/>
            <a:chExt cx="2963" cy="3135"/>
          </a:xfrm>
        </p:grpSpPr>
        <p:grpSp>
          <p:nvGrpSpPr>
            <p:cNvPr id="46" name="Group 39"/>
            <p:cNvGrpSpPr>
              <a:grpSpLocks/>
            </p:cNvGrpSpPr>
            <p:nvPr/>
          </p:nvGrpSpPr>
          <p:grpSpPr bwMode="auto">
            <a:xfrm>
              <a:off x="2608" y="1383"/>
              <a:ext cx="2770" cy="56"/>
              <a:chOff x="300" y="5640"/>
              <a:chExt cx="6925" cy="140"/>
            </a:xfrm>
          </p:grpSpPr>
          <p:sp>
            <p:nvSpPr>
              <p:cNvPr id="60" name="Freeform 40"/>
              <p:cNvSpPr>
                <a:spLocks/>
              </p:cNvSpPr>
              <p:nvPr/>
            </p:nvSpPr>
            <p:spPr bwMode="auto">
              <a:xfrm>
                <a:off x="6945" y="5640"/>
                <a:ext cx="280" cy="140"/>
              </a:xfrm>
              <a:custGeom>
                <a:avLst/>
                <a:gdLst>
                  <a:gd name="T0" fmla="*/ 280 w 280"/>
                  <a:gd name="T1" fmla="*/ 80 h 140"/>
                  <a:gd name="T2" fmla="*/ 0 w 280"/>
                  <a:gd name="T3" fmla="*/ 140 h 140"/>
                  <a:gd name="T4" fmla="*/ 0 w 280"/>
                  <a:gd name="T5" fmla="*/ 80 h 140"/>
                  <a:gd name="T6" fmla="*/ 0 w 280"/>
                  <a:gd name="T7" fmla="*/ 0 h 140"/>
                  <a:gd name="T8" fmla="*/ 280 w 280"/>
                  <a:gd name="T9" fmla="*/ 8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80"/>
                    </a:moveTo>
                    <a:lnTo>
                      <a:pt x="0" y="140"/>
                    </a:lnTo>
                    <a:lnTo>
                      <a:pt x="0" y="80"/>
                    </a:lnTo>
                    <a:lnTo>
                      <a:pt x="0" y="0"/>
                    </a:lnTo>
                    <a:lnTo>
                      <a:pt x="280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1" name="Line 41"/>
              <p:cNvSpPr>
                <a:spLocks noChangeShapeType="1"/>
              </p:cNvSpPr>
              <p:nvPr/>
            </p:nvSpPr>
            <p:spPr bwMode="auto">
              <a:xfrm>
                <a:off x="300" y="5720"/>
                <a:ext cx="664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7" name="Rectangle 42"/>
            <p:cNvSpPr>
              <a:spLocks noChangeArrowheads="1"/>
            </p:cNvSpPr>
            <p:nvPr/>
          </p:nvSpPr>
          <p:spPr bwMode="auto">
            <a:xfrm>
              <a:off x="5346" y="1207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 flipV="1">
              <a:off x="2702" y="548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>
              <a:off x="3606" y="775"/>
              <a:ext cx="0" cy="29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4059" y="820"/>
              <a:ext cx="0" cy="28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3604" y="775"/>
              <a:ext cx="456" cy="63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47"/>
            <p:cNvSpPr>
              <a:spLocks noChangeShapeType="1"/>
            </p:cNvSpPr>
            <p:nvPr/>
          </p:nvSpPr>
          <p:spPr bwMode="auto">
            <a:xfrm>
              <a:off x="2699" y="1410"/>
              <a:ext cx="90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 flipV="1">
              <a:off x="3607" y="775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>
              <a:off x="4060" y="1410"/>
              <a:ext cx="907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Text Box 50"/>
            <p:cNvSpPr txBox="1">
              <a:spLocks noChangeArrowheads="1"/>
            </p:cNvSpPr>
            <p:nvPr/>
          </p:nvSpPr>
          <p:spPr bwMode="auto">
            <a:xfrm>
              <a:off x="2747" y="543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>
                  <a:solidFill>
                    <a:srgbClr val="FF33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6" name="Line 51"/>
            <p:cNvSpPr>
              <a:spLocks noChangeShapeType="1"/>
            </p:cNvSpPr>
            <p:nvPr/>
          </p:nvSpPr>
          <p:spPr bwMode="auto">
            <a:xfrm>
              <a:off x="2664" y="1254"/>
              <a:ext cx="2280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Text Box 52"/>
            <p:cNvSpPr txBox="1">
              <a:spLocks noChangeArrowheads="1"/>
            </p:cNvSpPr>
            <p:nvPr/>
          </p:nvSpPr>
          <p:spPr bwMode="auto">
            <a:xfrm>
              <a:off x="2415" y="1069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>
                  <a:solidFill>
                    <a:srgbClr val="FF99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>
                  <a:solidFill>
                    <a:srgbClr val="FF9900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58" name="Rectangle 53"/>
            <p:cNvSpPr>
              <a:spLocks noChangeArrowheads="1"/>
            </p:cNvSpPr>
            <p:nvPr/>
          </p:nvSpPr>
          <p:spPr bwMode="auto">
            <a:xfrm>
              <a:off x="4105" y="1454"/>
              <a:ext cx="7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6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600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54"/>
            <p:cNvSpPr>
              <a:spLocks noChangeArrowheads="1"/>
            </p:cNvSpPr>
            <p:nvPr/>
          </p:nvSpPr>
          <p:spPr bwMode="auto">
            <a:xfrm>
              <a:off x="3428" y="1449"/>
              <a:ext cx="15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600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r>
                <a:rPr lang="en-US" altLang="fr-FR" sz="16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600">
                <a:latin typeface="Times New Roman" panose="02020603050405020304" pitchFamily="18" charset="0"/>
              </a:endParaRPr>
            </a:p>
          </p:txBody>
        </p:sp>
      </p:grpSp>
      <p:sp>
        <p:nvSpPr>
          <p:cNvPr id="62" name="Line 55"/>
          <p:cNvSpPr>
            <a:spLocks noChangeShapeType="1"/>
          </p:cNvSpPr>
          <p:nvPr/>
        </p:nvSpPr>
        <p:spPr bwMode="auto">
          <a:xfrm flipV="1">
            <a:off x="8892854" y="3774987"/>
            <a:ext cx="1587" cy="185737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63" name="Group 56"/>
          <p:cNvGrpSpPr>
            <a:grpSpLocks/>
          </p:cNvGrpSpPr>
          <p:nvPr/>
        </p:nvGrpSpPr>
        <p:grpSpPr bwMode="auto">
          <a:xfrm>
            <a:off x="6752904" y="4532224"/>
            <a:ext cx="4579937" cy="1871663"/>
            <a:chOff x="2605" y="2680"/>
            <a:chExt cx="2885" cy="1179"/>
          </a:xfrm>
        </p:grpSpPr>
        <p:sp>
          <p:nvSpPr>
            <p:cNvPr id="64" name="Text Box 57"/>
            <p:cNvSpPr txBox="1">
              <a:spLocks noChangeArrowheads="1"/>
            </p:cNvSpPr>
            <p:nvPr/>
          </p:nvSpPr>
          <p:spPr bwMode="auto">
            <a:xfrm>
              <a:off x="2744" y="2680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>
                  <a:solidFill>
                    <a:srgbClr val="0033CC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2605" y="2725"/>
              <a:ext cx="2885" cy="1134"/>
              <a:chOff x="2605" y="2725"/>
              <a:chExt cx="2885" cy="1134"/>
            </a:xfrm>
          </p:grpSpPr>
          <p:grpSp>
            <p:nvGrpSpPr>
              <p:cNvPr id="66" name="Group 59"/>
              <p:cNvGrpSpPr>
                <a:grpSpLocks/>
              </p:cNvGrpSpPr>
              <p:nvPr/>
            </p:nvGrpSpPr>
            <p:grpSpPr bwMode="auto">
              <a:xfrm>
                <a:off x="2605" y="3712"/>
                <a:ext cx="2770" cy="56"/>
                <a:chOff x="300" y="5640"/>
                <a:chExt cx="6925" cy="140"/>
              </a:xfrm>
            </p:grpSpPr>
            <p:sp>
              <p:nvSpPr>
                <p:cNvPr id="75" name="Freeform 60"/>
                <p:cNvSpPr>
                  <a:spLocks/>
                </p:cNvSpPr>
                <p:nvPr/>
              </p:nvSpPr>
              <p:spPr bwMode="auto">
                <a:xfrm>
                  <a:off x="6945" y="5640"/>
                  <a:ext cx="280" cy="140"/>
                </a:xfrm>
                <a:custGeom>
                  <a:avLst/>
                  <a:gdLst>
                    <a:gd name="T0" fmla="*/ 280 w 280"/>
                    <a:gd name="T1" fmla="*/ 80 h 140"/>
                    <a:gd name="T2" fmla="*/ 0 w 280"/>
                    <a:gd name="T3" fmla="*/ 140 h 140"/>
                    <a:gd name="T4" fmla="*/ 0 w 280"/>
                    <a:gd name="T5" fmla="*/ 80 h 140"/>
                    <a:gd name="T6" fmla="*/ 0 w 280"/>
                    <a:gd name="T7" fmla="*/ 0 h 140"/>
                    <a:gd name="T8" fmla="*/ 280 w 280"/>
                    <a:gd name="T9" fmla="*/ 8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80" h="140">
                      <a:moveTo>
                        <a:pt x="280" y="80"/>
                      </a:moveTo>
                      <a:lnTo>
                        <a:pt x="0" y="140"/>
                      </a:lnTo>
                      <a:lnTo>
                        <a:pt x="0" y="80"/>
                      </a:lnTo>
                      <a:lnTo>
                        <a:pt x="0" y="0"/>
                      </a:lnTo>
                      <a:lnTo>
                        <a:pt x="280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6" name="Line 61"/>
                <p:cNvSpPr>
                  <a:spLocks noChangeShapeType="1"/>
                </p:cNvSpPr>
                <p:nvPr/>
              </p:nvSpPr>
              <p:spPr bwMode="auto">
                <a:xfrm>
                  <a:off x="300" y="5720"/>
                  <a:ext cx="6645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67" name="Line 62"/>
              <p:cNvSpPr>
                <a:spLocks noChangeShapeType="1"/>
              </p:cNvSpPr>
              <p:nvPr/>
            </p:nvSpPr>
            <p:spPr bwMode="auto">
              <a:xfrm flipV="1">
                <a:off x="2699" y="2725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" name="Line 63"/>
              <p:cNvSpPr>
                <a:spLocks noChangeShapeType="1"/>
              </p:cNvSpPr>
              <p:nvPr/>
            </p:nvSpPr>
            <p:spPr bwMode="auto">
              <a:xfrm>
                <a:off x="2699" y="2952"/>
                <a:ext cx="907" cy="31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" name="Arc 64"/>
              <p:cNvSpPr>
                <a:spLocks/>
              </p:cNvSpPr>
              <p:nvPr/>
            </p:nvSpPr>
            <p:spPr bwMode="auto">
              <a:xfrm rot="5795392" flipH="1" flipV="1">
                <a:off x="3611" y="2913"/>
                <a:ext cx="443" cy="414"/>
              </a:xfrm>
              <a:custGeom>
                <a:avLst/>
                <a:gdLst>
                  <a:gd name="T0" fmla="*/ 0 w 21600"/>
                  <a:gd name="T1" fmla="*/ 0 h 27567"/>
                  <a:gd name="T2" fmla="*/ 0 w 21600"/>
                  <a:gd name="T3" fmla="*/ 0 h 27567"/>
                  <a:gd name="T4" fmla="*/ 0 w 21600"/>
                  <a:gd name="T5" fmla="*/ 0 h 275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7567" fill="none" extrusionOk="0">
                    <a:moveTo>
                      <a:pt x="2157" y="-1"/>
                    </a:moveTo>
                    <a:cubicBezTo>
                      <a:pt x="13195" y="1107"/>
                      <a:pt x="21600" y="10397"/>
                      <a:pt x="21600" y="21492"/>
                    </a:cubicBezTo>
                    <a:cubicBezTo>
                      <a:pt x="21600" y="23548"/>
                      <a:pt x="21306" y="25593"/>
                      <a:pt x="20728" y="27567"/>
                    </a:cubicBezTo>
                  </a:path>
                  <a:path w="21600" h="27567" stroke="0" extrusionOk="0">
                    <a:moveTo>
                      <a:pt x="2157" y="-1"/>
                    </a:moveTo>
                    <a:cubicBezTo>
                      <a:pt x="13195" y="1107"/>
                      <a:pt x="21600" y="10397"/>
                      <a:pt x="21600" y="21492"/>
                    </a:cubicBezTo>
                    <a:cubicBezTo>
                      <a:pt x="21600" y="23548"/>
                      <a:pt x="21306" y="25593"/>
                      <a:pt x="20728" y="27567"/>
                    </a:cubicBezTo>
                    <a:lnTo>
                      <a:pt x="0" y="21492"/>
                    </a:lnTo>
                    <a:lnTo>
                      <a:pt x="2157" y="-1"/>
                    </a:lnTo>
                    <a:close/>
                  </a:path>
                </a:pathLst>
              </a:cu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0" name="Line 65"/>
              <p:cNvSpPr>
                <a:spLocks noChangeShapeType="1"/>
              </p:cNvSpPr>
              <p:nvPr/>
            </p:nvSpPr>
            <p:spPr bwMode="auto">
              <a:xfrm>
                <a:off x="2608" y="2898"/>
                <a:ext cx="23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1" name="Line 66"/>
              <p:cNvSpPr>
                <a:spLocks noChangeShapeType="1"/>
              </p:cNvSpPr>
              <p:nvPr/>
            </p:nvSpPr>
            <p:spPr bwMode="auto">
              <a:xfrm>
                <a:off x="4059" y="2946"/>
                <a:ext cx="907" cy="31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2" name="Line 67"/>
              <p:cNvSpPr>
                <a:spLocks noChangeShapeType="1"/>
              </p:cNvSpPr>
              <p:nvPr/>
            </p:nvSpPr>
            <p:spPr bwMode="auto">
              <a:xfrm>
                <a:off x="2608" y="3269"/>
                <a:ext cx="23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3" name="Line 68"/>
              <p:cNvSpPr>
                <a:spLocks noChangeShapeType="1"/>
              </p:cNvSpPr>
              <p:nvPr/>
            </p:nvSpPr>
            <p:spPr bwMode="auto">
              <a:xfrm>
                <a:off x="5136" y="2898"/>
                <a:ext cx="0" cy="36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triangle" w="lg" len="lg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4" name="Text Box 69"/>
              <p:cNvSpPr txBox="1">
                <a:spLocks noChangeArrowheads="1"/>
              </p:cNvSpPr>
              <p:nvPr/>
            </p:nvSpPr>
            <p:spPr bwMode="auto">
              <a:xfrm>
                <a:off x="5138" y="2939"/>
                <a:ext cx="35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000" b="1">
                    <a:latin typeface="Symbol" panose="05050102010706020507" pitchFamily="18" charset="2"/>
                  </a:rPr>
                  <a:t>D</a:t>
                </a:r>
                <a:r>
                  <a:rPr lang="fr-FR" altLang="fr-FR" sz="2000" b="1">
                    <a:latin typeface="Times New Roman" panose="02020603050405020304" pitchFamily="18" charset="0"/>
                  </a:rPr>
                  <a:t>v</a:t>
                </a:r>
                <a:r>
                  <a:rPr lang="fr-FR" altLang="fr-FR" sz="2000" b="1" baseline="-25000">
                    <a:latin typeface="Times New Roman" panose="02020603050405020304" pitchFamily="18" charset="0"/>
                  </a:rPr>
                  <a:t>S</a:t>
                </a:r>
              </a:p>
            </p:txBody>
          </p:sp>
        </p:grpSp>
      </p:grpSp>
      <p:sp>
        <p:nvSpPr>
          <p:cNvPr id="77" name="ZoneTexte 76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33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Boundary mode: capacitor calculation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"/>
              <p:cNvSpPr txBox="1"/>
              <p:nvPr/>
            </p:nvSpPr>
            <p:spPr bwMode="auto">
              <a:xfrm>
                <a:off x="8783560" y="1394630"/>
                <a:ext cx="2823444" cy="7254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𝜟</m:t>
                      </m:r>
                      <m:sSub>
                        <m:sSubPr>
                          <m:ctrlP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fr-FR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fr-FR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fr-FR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fr-FR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fr-FR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fr-FR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fr-FR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fr-FR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83560" y="1394630"/>
                <a:ext cx="2823444" cy="725488"/>
              </a:xfrm>
              <a:prstGeom prst="rect">
                <a:avLst/>
              </a:prstGeom>
              <a:blipFill>
                <a:blip r:embed="rId2"/>
                <a:stretch>
                  <a:fillRect b="-361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4"/>
              <p:cNvSpPr txBox="1"/>
              <p:nvPr/>
            </p:nvSpPr>
            <p:spPr bwMode="auto">
              <a:xfrm>
                <a:off x="8608790" y="2927524"/>
                <a:ext cx="2525713" cy="930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fr-FR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𝑬𝑻</m:t>
                          </m:r>
                        </m:num>
                        <m:den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1" name="Rectangl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08790" y="2927524"/>
                <a:ext cx="2525713" cy="9302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3972713" y="1114860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solidFill>
                  <a:srgbClr val="0033CC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>
                <a:solidFill>
                  <a:srgbClr val="0033CC"/>
                </a:solidFill>
                <a:latin typeface="Times New Roman" panose="02020603050405020304" pitchFamily="18" charset="0"/>
              </a:rPr>
              <a:t>S</a:t>
            </a:r>
          </a:p>
        </p:txBody>
      </p:sp>
      <p:grpSp>
        <p:nvGrpSpPr>
          <p:cNvPr id="14" name="Group 7"/>
          <p:cNvGrpSpPr>
            <a:grpSpLocks/>
          </p:cNvGrpSpPr>
          <p:nvPr/>
        </p:nvGrpSpPr>
        <p:grpSpPr bwMode="auto">
          <a:xfrm>
            <a:off x="3752051" y="2876985"/>
            <a:ext cx="4397375" cy="88900"/>
            <a:chOff x="300" y="5640"/>
            <a:chExt cx="6925" cy="140"/>
          </a:xfrm>
        </p:grpSpPr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6945" y="5640"/>
              <a:ext cx="280" cy="140"/>
            </a:xfrm>
            <a:custGeom>
              <a:avLst/>
              <a:gdLst>
                <a:gd name="T0" fmla="*/ 280 w 280"/>
                <a:gd name="T1" fmla="*/ 80 h 140"/>
                <a:gd name="T2" fmla="*/ 0 w 280"/>
                <a:gd name="T3" fmla="*/ 140 h 140"/>
                <a:gd name="T4" fmla="*/ 0 w 280"/>
                <a:gd name="T5" fmla="*/ 80 h 140"/>
                <a:gd name="T6" fmla="*/ 0 w 280"/>
                <a:gd name="T7" fmla="*/ 0 h 140"/>
                <a:gd name="T8" fmla="*/ 280 w 280"/>
                <a:gd name="T9" fmla="*/ 80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0" h="140">
                  <a:moveTo>
                    <a:pt x="280" y="80"/>
                  </a:moveTo>
                  <a:lnTo>
                    <a:pt x="0" y="140"/>
                  </a:lnTo>
                  <a:lnTo>
                    <a:pt x="0" y="80"/>
                  </a:lnTo>
                  <a:lnTo>
                    <a:pt x="0" y="0"/>
                  </a:lnTo>
                  <a:lnTo>
                    <a:pt x="280" y="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9"/>
            <p:cNvSpPr>
              <a:spLocks noChangeShapeType="1"/>
            </p:cNvSpPr>
            <p:nvPr/>
          </p:nvSpPr>
          <p:spPr bwMode="auto">
            <a:xfrm>
              <a:off x="300" y="5720"/>
              <a:ext cx="664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7" name="Line 10"/>
          <p:cNvSpPr>
            <a:spLocks noChangeShapeType="1"/>
          </p:cNvSpPr>
          <p:nvPr/>
        </p:nvSpPr>
        <p:spPr bwMode="auto">
          <a:xfrm flipV="1">
            <a:off x="3901276" y="1186298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3901276" y="1546660"/>
            <a:ext cx="1439862" cy="503238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Arc 12"/>
          <p:cNvSpPr>
            <a:spLocks/>
          </p:cNvSpPr>
          <p:nvPr/>
        </p:nvSpPr>
        <p:spPr bwMode="auto">
          <a:xfrm rot="5795392" flipH="1" flipV="1">
            <a:off x="5349869" y="1483954"/>
            <a:ext cx="703263" cy="657225"/>
          </a:xfrm>
          <a:custGeom>
            <a:avLst/>
            <a:gdLst>
              <a:gd name="T0" fmla="*/ 2147483646 w 21600"/>
              <a:gd name="T1" fmla="*/ 0 h 27567"/>
              <a:gd name="T2" fmla="*/ 2147483646 w 21600"/>
              <a:gd name="T3" fmla="*/ 2147483646 h 27567"/>
              <a:gd name="T4" fmla="*/ 0 w 21600"/>
              <a:gd name="T5" fmla="*/ 2147483646 h 2756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7567" fill="none" extrusionOk="0">
                <a:moveTo>
                  <a:pt x="2157" y="-1"/>
                </a:moveTo>
                <a:cubicBezTo>
                  <a:pt x="13195" y="1107"/>
                  <a:pt x="21600" y="10397"/>
                  <a:pt x="21600" y="21492"/>
                </a:cubicBezTo>
                <a:cubicBezTo>
                  <a:pt x="21600" y="23548"/>
                  <a:pt x="21306" y="25593"/>
                  <a:pt x="20728" y="27567"/>
                </a:cubicBezTo>
              </a:path>
              <a:path w="21600" h="27567" stroke="0" extrusionOk="0">
                <a:moveTo>
                  <a:pt x="2157" y="-1"/>
                </a:moveTo>
                <a:cubicBezTo>
                  <a:pt x="13195" y="1107"/>
                  <a:pt x="21600" y="10397"/>
                  <a:pt x="21600" y="21492"/>
                </a:cubicBezTo>
                <a:cubicBezTo>
                  <a:pt x="21600" y="23548"/>
                  <a:pt x="21306" y="25593"/>
                  <a:pt x="20728" y="27567"/>
                </a:cubicBezTo>
                <a:lnTo>
                  <a:pt x="0" y="21492"/>
                </a:lnTo>
                <a:lnTo>
                  <a:pt x="2157" y="-1"/>
                </a:lnTo>
                <a:close/>
              </a:path>
            </a:pathLst>
          </a:cu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" name="Line 13"/>
          <p:cNvSpPr>
            <a:spLocks noChangeShapeType="1"/>
          </p:cNvSpPr>
          <p:nvPr/>
        </p:nvSpPr>
        <p:spPr bwMode="auto">
          <a:xfrm>
            <a:off x="3756813" y="1460935"/>
            <a:ext cx="37449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6060276" y="1537135"/>
            <a:ext cx="1439862" cy="503238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Line 15"/>
          <p:cNvSpPr>
            <a:spLocks noChangeShapeType="1"/>
          </p:cNvSpPr>
          <p:nvPr/>
        </p:nvSpPr>
        <p:spPr bwMode="auto">
          <a:xfrm>
            <a:off x="3756813" y="2049898"/>
            <a:ext cx="37449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Line 16"/>
          <p:cNvSpPr>
            <a:spLocks noChangeShapeType="1"/>
          </p:cNvSpPr>
          <p:nvPr/>
        </p:nvSpPr>
        <p:spPr bwMode="auto">
          <a:xfrm>
            <a:off x="7770013" y="1460935"/>
            <a:ext cx="0" cy="5715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7773188" y="1526023"/>
            <a:ext cx="701684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>
                <a:latin typeface="Symbol" panose="05050102010706020507" pitchFamily="18" charset="2"/>
              </a:rPr>
              <a:t>D</a:t>
            </a:r>
            <a:r>
              <a:rPr lang="fr-FR" altLang="fr-FR" sz="2000" b="1">
                <a:latin typeface="Times New Roman" panose="02020603050405020304" pitchFamily="18" charset="0"/>
              </a:rPr>
              <a:t>v</a:t>
            </a:r>
            <a:r>
              <a:rPr lang="fr-FR" altLang="fr-FR" sz="2000" b="1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5" name="Line 18"/>
          <p:cNvSpPr>
            <a:spLocks noChangeShapeType="1"/>
          </p:cNvSpPr>
          <p:nvPr/>
        </p:nvSpPr>
        <p:spPr bwMode="auto">
          <a:xfrm flipV="1">
            <a:off x="5882476" y="1176773"/>
            <a:ext cx="1587" cy="185737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Line 19"/>
          <p:cNvSpPr>
            <a:spLocks noChangeShapeType="1"/>
          </p:cNvSpPr>
          <p:nvPr/>
        </p:nvSpPr>
        <p:spPr bwMode="auto">
          <a:xfrm flipV="1">
            <a:off x="5350663" y="1197410"/>
            <a:ext cx="1588" cy="185737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5060151" y="2573773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t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" name="Text Box 21"/>
          <p:cNvSpPr txBox="1">
            <a:spLocks noChangeArrowheads="1"/>
          </p:cNvSpPr>
          <p:nvPr/>
        </p:nvSpPr>
        <p:spPr bwMode="auto">
          <a:xfrm>
            <a:off x="5909463" y="2546785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t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" name="Line 22"/>
          <p:cNvSpPr>
            <a:spLocks noChangeShapeType="1"/>
          </p:cNvSpPr>
          <p:nvPr/>
        </p:nvSpPr>
        <p:spPr bwMode="auto">
          <a:xfrm>
            <a:off x="5347488" y="2180073"/>
            <a:ext cx="723900" cy="1012825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" name="Line 23"/>
          <p:cNvSpPr>
            <a:spLocks noChangeShapeType="1"/>
          </p:cNvSpPr>
          <p:nvPr/>
        </p:nvSpPr>
        <p:spPr bwMode="auto">
          <a:xfrm>
            <a:off x="3910801" y="3188135"/>
            <a:ext cx="144145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" name="Line 24"/>
          <p:cNvSpPr>
            <a:spLocks noChangeShapeType="1"/>
          </p:cNvSpPr>
          <p:nvPr/>
        </p:nvSpPr>
        <p:spPr bwMode="auto">
          <a:xfrm flipV="1">
            <a:off x="5352251" y="2180073"/>
            <a:ext cx="0" cy="1008062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" name="Line 25"/>
          <p:cNvSpPr>
            <a:spLocks noChangeShapeType="1"/>
          </p:cNvSpPr>
          <p:nvPr/>
        </p:nvSpPr>
        <p:spPr bwMode="auto">
          <a:xfrm>
            <a:off x="6071388" y="3188135"/>
            <a:ext cx="1439863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auto">
          <a:xfrm>
            <a:off x="3896513" y="2241985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solidFill>
                  <a:srgbClr val="009900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4" name="Text Box 27"/>
          <p:cNvSpPr txBox="1">
            <a:spLocks noChangeArrowheads="1"/>
          </p:cNvSpPr>
          <p:nvPr/>
        </p:nvSpPr>
        <p:spPr bwMode="auto">
          <a:xfrm>
            <a:off x="9030488" y="2503923"/>
            <a:ext cx="8778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Times New Roman" panose="02020603050405020304" pitchFamily="18" charset="0"/>
              </a:rPr>
              <a:t>t</a:t>
            </a:r>
            <a:r>
              <a:rPr lang="fr-FR" altLang="fr-FR" sz="1800" b="1" baseline="-25000" dirty="0">
                <a:latin typeface="Times New Roman" panose="02020603050405020304" pitchFamily="18" charset="0"/>
              </a:rPr>
              <a:t>1</a:t>
            </a:r>
            <a:r>
              <a:rPr lang="fr-FR" altLang="fr-FR" sz="1800" b="1" dirty="0">
                <a:latin typeface="Times New Roman" panose="02020603050405020304" pitchFamily="18" charset="0"/>
              </a:rPr>
              <a:t> = </a:t>
            </a:r>
            <a:r>
              <a:rPr lang="fr-FR" altLang="fr-FR" sz="1800" b="1" dirty="0">
                <a:latin typeface="Symbol" panose="05050102010706020507" pitchFamily="18" charset="2"/>
              </a:rPr>
              <a:t>a</a:t>
            </a:r>
            <a:r>
              <a:rPr lang="fr-FR" altLang="fr-FR" sz="1800" b="1" dirty="0">
                <a:latin typeface="Times New Roman" panose="02020603050405020304" pitchFamily="18" charset="0"/>
              </a:rPr>
              <a:t>T</a:t>
            </a:r>
          </a:p>
        </p:txBody>
      </p:sp>
      <p:graphicFrame>
        <p:nvGraphicFramePr>
          <p:cNvPr id="35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419371"/>
              </p:ext>
            </p:extLst>
          </p:nvPr>
        </p:nvGraphicFramePr>
        <p:xfrm>
          <a:off x="6385713" y="3956485"/>
          <a:ext cx="18780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170" imgH="190417" progId="Equation.3">
                  <p:embed/>
                </p:oleObj>
              </mc:Choice>
              <mc:Fallback>
                <p:oleObj name="Equation" r:id="rId4" imgW="990170" imgH="190417" progId="Equation.3">
                  <p:embed/>
                  <p:pic>
                    <p:nvPicPr>
                      <p:cNvPr id="35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5713" y="3956485"/>
                        <a:ext cx="187801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269823"/>
              </p:ext>
            </p:extLst>
          </p:nvPr>
        </p:nvGraphicFramePr>
        <p:xfrm>
          <a:off x="8859038" y="3927910"/>
          <a:ext cx="1117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8000" imgH="190500" progId="Equation.3">
                  <p:embed/>
                </p:oleObj>
              </mc:Choice>
              <mc:Fallback>
                <p:oleObj name="Equation" r:id="rId6" imgW="508000" imgH="190500" progId="Equation.3">
                  <p:embed/>
                  <p:pic>
                    <p:nvPicPr>
                      <p:cNvPr id="36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9038" y="3927910"/>
                        <a:ext cx="1117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AutoShape 30"/>
          <p:cNvSpPr>
            <a:spLocks noChangeArrowheads="1"/>
          </p:cNvSpPr>
          <p:nvPr/>
        </p:nvSpPr>
        <p:spPr bwMode="auto">
          <a:xfrm>
            <a:off x="2535909" y="4849835"/>
            <a:ext cx="495300" cy="428625"/>
          </a:xfrm>
          <a:prstGeom prst="rightArrow">
            <a:avLst>
              <a:gd name="adj1" fmla="val 50000"/>
              <a:gd name="adj2" fmla="val 288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9" name="Arc 32"/>
          <p:cNvSpPr>
            <a:spLocks/>
          </p:cNvSpPr>
          <p:nvPr/>
        </p:nvSpPr>
        <p:spPr bwMode="auto">
          <a:xfrm>
            <a:off x="5514176" y="2184835"/>
            <a:ext cx="1333500" cy="1819275"/>
          </a:xfrm>
          <a:custGeom>
            <a:avLst/>
            <a:gdLst>
              <a:gd name="T0" fmla="*/ 0 w 22380"/>
              <a:gd name="T1" fmla="*/ 2147483646 h 21600"/>
              <a:gd name="T2" fmla="*/ 2147483646 w 22380"/>
              <a:gd name="T3" fmla="*/ 2147483646 h 21600"/>
              <a:gd name="T4" fmla="*/ 2147483646 w 2238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380" h="21600" fill="none" extrusionOk="0">
                <a:moveTo>
                  <a:pt x="0" y="14"/>
                </a:moveTo>
                <a:cubicBezTo>
                  <a:pt x="259" y="4"/>
                  <a:pt x="519" y="-1"/>
                  <a:pt x="780" y="0"/>
                </a:cubicBezTo>
                <a:cubicBezTo>
                  <a:pt x="12709" y="0"/>
                  <a:pt x="22380" y="9670"/>
                  <a:pt x="22380" y="21600"/>
                </a:cubicBezTo>
              </a:path>
              <a:path w="22380" h="21600" stroke="0" extrusionOk="0">
                <a:moveTo>
                  <a:pt x="0" y="14"/>
                </a:moveTo>
                <a:cubicBezTo>
                  <a:pt x="259" y="4"/>
                  <a:pt x="519" y="-1"/>
                  <a:pt x="780" y="0"/>
                </a:cubicBezTo>
                <a:cubicBezTo>
                  <a:pt x="12709" y="0"/>
                  <a:pt x="22380" y="9670"/>
                  <a:pt x="22380" y="21600"/>
                </a:cubicBezTo>
                <a:lnTo>
                  <a:pt x="780" y="21600"/>
                </a:lnTo>
                <a:lnTo>
                  <a:pt x="0" y="14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" name="ZoneTexte 39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ACD01D8A-27EF-6381-BD4D-1F9917C75799}"/>
                  </a:ext>
                </a:extLst>
              </p:cNvPr>
              <p:cNvSpPr txBox="1"/>
              <p:nvPr/>
            </p:nvSpPr>
            <p:spPr>
              <a:xfrm>
                <a:off x="8097628" y="5781740"/>
                <a:ext cx="1825949" cy="87870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𝑬𝑺𝑹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sub>
                          </m:sSub>
                        </m:num>
                        <m:den>
                          <m:r>
                            <a:rPr lang="fr-FR" sz="28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e>
                            <m:sub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ACD01D8A-27EF-6381-BD4D-1F9917C75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628" y="5781740"/>
                <a:ext cx="1825949" cy="8787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46D23C73-F890-24F0-03A0-4A881F1A6527}"/>
                  </a:ext>
                </a:extLst>
              </p:cNvPr>
              <p:cNvSpPr txBox="1"/>
              <p:nvPr/>
            </p:nvSpPr>
            <p:spPr>
              <a:xfrm>
                <a:off x="3312058" y="4500997"/>
                <a:ext cx="3410228" cy="97526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p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.∆</m:t>
                          </m:r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46D23C73-F890-24F0-03A0-4A881F1A6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058" y="4500997"/>
                <a:ext cx="3410228" cy="9752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ZoneTexte 48">
            <a:extLst>
              <a:ext uri="{FF2B5EF4-FFF2-40B4-BE49-F238E27FC236}">
                <a16:creationId xmlns:a16="http://schemas.microsoft.com/office/drawing/2014/main" id="{DF39A96E-3C47-12E5-1677-833DB26D9E2D}"/>
              </a:ext>
            </a:extLst>
          </p:cNvPr>
          <p:cNvSpPr txBox="1"/>
          <p:nvPr/>
        </p:nvSpPr>
        <p:spPr>
          <a:xfrm>
            <a:off x="6538136" y="4629723"/>
            <a:ext cx="1618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noProof="0" dirty="0"/>
              <a:t>same as Buck-Boost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90D76E92-7B2E-0D5D-98E4-2B65B50B5015}"/>
                  </a:ext>
                </a:extLst>
              </p:cNvPr>
              <p:cNvSpPr txBox="1"/>
              <p:nvPr/>
            </p:nvSpPr>
            <p:spPr>
              <a:xfrm>
                <a:off x="2753590" y="5715603"/>
                <a:ext cx="501642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fr-FR" sz="2400" dirty="0"/>
                  <a:t>For high value of C</a:t>
                </a:r>
                <a:r>
                  <a:rPr lang="fr-FR" sz="2400" baseline="-25000" dirty="0"/>
                  <a:t>S</a:t>
                </a:r>
                <a:r>
                  <a:rPr lang="fr-FR" sz="2400" dirty="0"/>
                  <a:t>, </a:t>
                </a:r>
                <a:br>
                  <a:rPr lang="fr-FR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𝐸𝑆𝑅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𝐸𝑆𝑅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𝐸𝑆𝑅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90D76E92-7B2E-0D5D-98E4-2B65B50B5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590" y="5715603"/>
                <a:ext cx="5016423" cy="830997"/>
              </a:xfrm>
              <a:prstGeom prst="rect">
                <a:avLst/>
              </a:prstGeom>
              <a:blipFill>
                <a:blip r:embed="rId10"/>
                <a:stretch>
                  <a:fillRect l="-1944" t="-5882" b="-7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308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Boundary mode: sizing components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3388992" y="1534680"/>
            <a:ext cx="76200" cy="1219200"/>
            <a:chOff x="226" y="1089"/>
            <a:chExt cx="48" cy="768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226" y="1089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250" y="1177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3" name="Group 7"/>
          <p:cNvGrpSpPr>
            <a:grpSpLocks/>
          </p:cNvGrpSpPr>
          <p:nvPr/>
        </p:nvGrpSpPr>
        <p:grpSpPr bwMode="auto">
          <a:xfrm>
            <a:off x="3363592" y="2652280"/>
            <a:ext cx="2778125" cy="63500"/>
            <a:chOff x="210" y="1793"/>
            <a:chExt cx="2446" cy="40"/>
          </a:xfrm>
        </p:grpSpPr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568" y="1793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210" y="1809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6" name="Line 10"/>
          <p:cNvSpPr>
            <a:spLocks noChangeShapeType="1"/>
          </p:cNvSpPr>
          <p:nvPr/>
        </p:nvSpPr>
        <p:spPr bwMode="auto">
          <a:xfrm flipV="1">
            <a:off x="3427092" y="2176030"/>
            <a:ext cx="722312" cy="4953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 flipV="1">
            <a:off x="5127304" y="2328430"/>
            <a:ext cx="465138" cy="33337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3198492" y="1445780"/>
            <a:ext cx="428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3261992" y="1534680"/>
            <a:ext cx="571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1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4036692" y="2741180"/>
            <a:ext cx="936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4959029" y="2677680"/>
            <a:ext cx="936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3896992" y="2728480"/>
            <a:ext cx="9683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6033767" y="2414155"/>
            <a:ext cx="428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3325492" y="271578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5" name="Line 19"/>
          <p:cNvSpPr>
            <a:spLocks noChangeShapeType="1"/>
          </p:cNvSpPr>
          <p:nvPr/>
        </p:nvSpPr>
        <p:spPr bwMode="auto">
          <a:xfrm>
            <a:off x="4149404" y="2185555"/>
            <a:ext cx="1588" cy="4921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6" name="Group 20"/>
          <p:cNvGrpSpPr>
            <a:grpSpLocks/>
          </p:cNvGrpSpPr>
          <p:nvPr/>
        </p:nvGrpSpPr>
        <p:grpSpPr bwMode="auto">
          <a:xfrm>
            <a:off x="3388992" y="3036455"/>
            <a:ext cx="76200" cy="1219200"/>
            <a:chOff x="226" y="2041"/>
            <a:chExt cx="48" cy="768"/>
          </a:xfrm>
        </p:grpSpPr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226" y="2041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250" y="2129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9" name="Group 23"/>
          <p:cNvGrpSpPr>
            <a:grpSpLocks/>
          </p:cNvGrpSpPr>
          <p:nvPr/>
        </p:nvGrpSpPr>
        <p:grpSpPr bwMode="auto">
          <a:xfrm>
            <a:off x="3363592" y="4061980"/>
            <a:ext cx="2797175" cy="53975"/>
            <a:chOff x="210" y="2201"/>
            <a:chExt cx="2446" cy="40"/>
          </a:xfrm>
        </p:grpSpPr>
        <p:sp>
          <p:nvSpPr>
            <p:cNvPr id="30" name="Freeform 24"/>
            <p:cNvSpPr>
              <a:spLocks/>
            </p:cNvSpPr>
            <p:nvPr/>
          </p:nvSpPr>
          <p:spPr bwMode="auto">
            <a:xfrm>
              <a:off x="2568" y="2201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210" y="2217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" name="Rectangle 26"/>
          <p:cNvSpPr>
            <a:spLocks noChangeArrowheads="1"/>
          </p:cNvSpPr>
          <p:nvPr/>
        </p:nvSpPr>
        <p:spPr bwMode="auto">
          <a:xfrm>
            <a:off x="3198492" y="2947555"/>
            <a:ext cx="428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3" name="Rectangle 27"/>
          <p:cNvSpPr>
            <a:spLocks noChangeArrowheads="1"/>
          </p:cNvSpPr>
          <p:nvPr/>
        </p:nvSpPr>
        <p:spPr bwMode="auto">
          <a:xfrm>
            <a:off x="3261992" y="3036455"/>
            <a:ext cx="571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2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4" name="Rectangle 28"/>
          <p:cNvSpPr>
            <a:spLocks noChangeArrowheads="1"/>
          </p:cNvSpPr>
          <p:nvPr/>
        </p:nvSpPr>
        <p:spPr bwMode="auto">
          <a:xfrm>
            <a:off x="4036692" y="4150880"/>
            <a:ext cx="936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5" name="Rectangle 29"/>
          <p:cNvSpPr>
            <a:spLocks noChangeArrowheads="1"/>
          </p:cNvSpPr>
          <p:nvPr/>
        </p:nvSpPr>
        <p:spPr bwMode="auto">
          <a:xfrm>
            <a:off x="5187629" y="4087380"/>
            <a:ext cx="936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3896992" y="4138180"/>
            <a:ext cx="9683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7" name="Rectangle 31"/>
          <p:cNvSpPr>
            <a:spLocks noChangeArrowheads="1"/>
          </p:cNvSpPr>
          <p:nvPr/>
        </p:nvSpPr>
        <p:spPr bwMode="auto">
          <a:xfrm>
            <a:off x="6033767" y="3823855"/>
            <a:ext cx="428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8" name="Rectangle 32"/>
          <p:cNvSpPr>
            <a:spLocks noChangeArrowheads="1"/>
          </p:cNvSpPr>
          <p:nvPr/>
        </p:nvSpPr>
        <p:spPr bwMode="auto">
          <a:xfrm>
            <a:off x="3325492" y="412548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9" name="Line 33"/>
          <p:cNvSpPr>
            <a:spLocks noChangeShapeType="1"/>
          </p:cNvSpPr>
          <p:nvPr/>
        </p:nvSpPr>
        <p:spPr bwMode="auto">
          <a:xfrm>
            <a:off x="4139879" y="3322205"/>
            <a:ext cx="996950" cy="7524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" name="Line 34"/>
          <p:cNvSpPr>
            <a:spLocks noChangeShapeType="1"/>
          </p:cNvSpPr>
          <p:nvPr/>
        </p:nvSpPr>
        <p:spPr bwMode="auto">
          <a:xfrm flipH="1" flipV="1">
            <a:off x="4141467" y="3315855"/>
            <a:ext cx="7937" cy="7683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" name="Line 35"/>
          <p:cNvSpPr>
            <a:spLocks noChangeShapeType="1"/>
          </p:cNvSpPr>
          <p:nvPr/>
        </p:nvSpPr>
        <p:spPr bwMode="auto">
          <a:xfrm flipV="1">
            <a:off x="5136829" y="4074680"/>
            <a:ext cx="439738" cy="3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Line 36"/>
          <p:cNvSpPr>
            <a:spLocks noChangeShapeType="1"/>
          </p:cNvSpPr>
          <p:nvPr/>
        </p:nvSpPr>
        <p:spPr bwMode="auto">
          <a:xfrm flipH="1">
            <a:off x="4166867" y="2653868"/>
            <a:ext cx="969962" cy="635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3" name="Line 37"/>
          <p:cNvSpPr>
            <a:spLocks noChangeShapeType="1"/>
          </p:cNvSpPr>
          <p:nvPr/>
        </p:nvSpPr>
        <p:spPr bwMode="auto">
          <a:xfrm flipV="1">
            <a:off x="3433442" y="4085793"/>
            <a:ext cx="715962" cy="3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5114604" y="2099830"/>
            <a:ext cx="0" cy="3857625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45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97278"/>
              </p:ext>
            </p:extLst>
          </p:nvPr>
        </p:nvGraphicFramePr>
        <p:xfrm>
          <a:off x="7143429" y="1499755"/>
          <a:ext cx="11287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342900" progId="Equation.3">
                  <p:embed/>
                </p:oleObj>
              </mc:Choice>
              <mc:Fallback>
                <p:oleObj name="Equation" r:id="rId2" imgW="825500" imgH="342900" progId="Equation.3">
                  <p:embed/>
                  <p:pic>
                    <p:nvPicPr>
                      <p:cNvPr id="45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29" y="1499755"/>
                        <a:ext cx="112871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985386"/>
              </p:ext>
            </p:extLst>
          </p:nvPr>
        </p:nvGraphicFramePr>
        <p:xfrm>
          <a:off x="8832529" y="1444193"/>
          <a:ext cx="126523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300" imgH="368300" progId="Equation.3">
                  <p:embed/>
                </p:oleObj>
              </mc:Choice>
              <mc:Fallback>
                <p:oleObj name="Equation" r:id="rId4" imgW="876300" imgH="368300" progId="Equation.3">
                  <p:embed/>
                  <p:pic>
                    <p:nvPicPr>
                      <p:cNvPr id="46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529" y="1444193"/>
                        <a:ext cx="1265238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057594"/>
              </p:ext>
            </p:extLst>
          </p:nvPr>
        </p:nvGraphicFramePr>
        <p:xfrm>
          <a:off x="7057704" y="2066493"/>
          <a:ext cx="378777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54300" imgH="444500" progId="Equation.3">
                  <p:embed/>
                </p:oleObj>
              </mc:Choice>
              <mc:Fallback>
                <p:oleObj name="Equation" r:id="rId6" imgW="2654300" imgH="444500" progId="Equation.3">
                  <p:embed/>
                  <p:pic>
                    <p:nvPicPr>
                      <p:cNvPr id="47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7704" y="2066493"/>
                        <a:ext cx="3787775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46"/>
          <p:cNvGrpSpPr>
            <a:grpSpLocks/>
          </p:cNvGrpSpPr>
          <p:nvPr/>
        </p:nvGrpSpPr>
        <p:grpSpPr bwMode="auto">
          <a:xfrm>
            <a:off x="7181529" y="2757055"/>
            <a:ext cx="2619375" cy="742950"/>
            <a:chOff x="2706" y="1536"/>
            <a:chExt cx="1650" cy="468"/>
          </a:xfrm>
        </p:grpSpPr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3378" y="1536"/>
              <a:ext cx="978" cy="46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0" name="Object 48"/>
            <p:cNvGraphicFramePr>
              <a:graphicFrameLocks noChangeAspect="1"/>
            </p:cNvGraphicFramePr>
            <p:nvPr/>
          </p:nvGraphicFramePr>
          <p:xfrm>
            <a:off x="3420" y="1584"/>
            <a:ext cx="870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27100" imgH="381000" progId="Equation.3">
                    <p:embed/>
                  </p:oleObj>
                </mc:Choice>
                <mc:Fallback>
                  <p:oleObj name="Equation" r:id="rId8" imgW="927100" imgH="381000" progId="Equation.3">
                    <p:embed/>
                    <p:pic>
                      <p:nvPicPr>
                        <p:cNvPr id="5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0" y="1584"/>
                          <a:ext cx="870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AutoShape 49"/>
            <p:cNvSpPr>
              <a:spLocks noChangeArrowheads="1"/>
            </p:cNvSpPr>
            <p:nvPr/>
          </p:nvSpPr>
          <p:spPr bwMode="auto">
            <a:xfrm>
              <a:off x="2706" y="1680"/>
              <a:ext cx="474" cy="198"/>
            </a:xfrm>
            <a:prstGeom prst="rightArrow">
              <a:avLst>
                <a:gd name="adj1" fmla="val 50000"/>
                <a:gd name="adj2" fmla="val 5984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" name="Group 52"/>
          <p:cNvGrpSpPr>
            <a:grpSpLocks/>
          </p:cNvGrpSpPr>
          <p:nvPr/>
        </p:nvGrpSpPr>
        <p:grpSpPr bwMode="auto">
          <a:xfrm>
            <a:off x="9297667" y="3339668"/>
            <a:ext cx="1828800" cy="742950"/>
            <a:chOff x="4039" y="1903"/>
            <a:chExt cx="1152" cy="468"/>
          </a:xfrm>
        </p:grpSpPr>
        <p:sp>
          <p:nvSpPr>
            <p:cNvPr id="53" name="Rectangle 53"/>
            <p:cNvSpPr>
              <a:spLocks noChangeArrowheads="1"/>
            </p:cNvSpPr>
            <p:nvPr/>
          </p:nvSpPr>
          <p:spPr bwMode="auto">
            <a:xfrm>
              <a:off x="4039" y="1903"/>
              <a:ext cx="1152" cy="46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4" name="Object 54"/>
            <p:cNvGraphicFramePr>
              <a:graphicFrameLocks noChangeAspect="1"/>
            </p:cNvGraphicFramePr>
            <p:nvPr/>
          </p:nvGraphicFramePr>
          <p:xfrm>
            <a:off x="4068" y="1962"/>
            <a:ext cx="1068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79032" imgH="380835" progId="Equation.3">
                    <p:embed/>
                  </p:oleObj>
                </mc:Choice>
                <mc:Fallback>
                  <p:oleObj name="Equation" r:id="rId10" imgW="1079032" imgH="380835" progId="Equation.3">
                    <p:embed/>
                    <p:pic>
                      <p:nvPicPr>
                        <p:cNvPr id="54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8" y="1962"/>
                          <a:ext cx="1068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" name="AutoShape 55"/>
          <p:cNvSpPr>
            <a:spLocks/>
          </p:cNvSpPr>
          <p:nvPr/>
        </p:nvSpPr>
        <p:spPr bwMode="auto">
          <a:xfrm flipH="1">
            <a:off x="3974779" y="1471180"/>
            <a:ext cx="1304925" cy="438150"/>
          </a:xfrm>
          <a:prstGeom prst="borderCallout3">
            <a:avLst>
              <a:gd name="adj1" fmla="val 26083"/>
              <a:gd name="adj2" fmla="val 105838"/>
              <a:gd name="adj3" fmla="val 26083"/>
              <a:gd name="adj4" fmla="val 134426"/>
              <a:gd name="adj5" fmla="val 110144"/>
              <a:gd name="adj6" fmla="val 134426"/>
              <a:gd name="adj7" fmla="val 195648"/>
              <a:gd name="adj8" fmla="val 119218"/>
            </a:avLst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6" name="Text Box 56"/>
          <p:cNvSpPr txBox="1">
            <a:spLocks noChangeArrowheads="1"/>
          </p:cNvSpPr>
          <p:nvPr/>
        </p:nvSpPr>
        <p:spPr bwMode="auto">
          <a:xfrm>
            <a:off x="3984304" y="1518805"/>
            <a:ext cx="1265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di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  <a:r>
              <a:rPr lang="fr-FR" altLang="fr-FR" sz="1800">
                <a:latin typeface="Times New Roman" panose="02020603050405020304" pitchFamily="18" charset="0"/>
              </a:rPr>
              <a:t>/dt = E/L</a:t>
            </a:r>
          </a:p>
        </p:txBody>
      </p:sp>
      <p:sp>
        <p:nvSpPr>
          <p:cNvPr id="57" name="Text Box 57"/>
          <p:cNvSpPr txBox="1">
            <a:spLocks noChangeArrowheads="1"/>
          </p:cNvSpPr>
          <p:nvPr/>
        </p:nvSpPr>
        <p:spPr bwMode="auto">
          <a:xfrm>
            <a:off x="4031929" y="1575955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8" name="Line 58"/>
          <p:cNvSpPr>
            <a:spLocks noChangeShapeType="1"/>
          </p:cNvSpPr>
          <p:nvPr/>
        </p:nvSpPr>
        <p:spPr bwMode="auto">
          <a:xfrm flipH="1">
            <a:off x="4228779" y="1766455"/>
            <a:ext cx="2857500" cy="400050"/>
          </a:xfrm>
          <a:prstGeom prst="line">
            <a:avLst/>
          </a:prstGeom>
          <a:noFill/>
          <a:ln w="15875">
            <a:solidFill>
              <a:srgbClr val="00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59" name="Group 59"/>
          <p:cNvGrpSpPr>
            <a:grpSpLocks/>
          </p:cNvGrpSpPr>
          <p:nvPr/>
        </p:nvGrpSpPr>
        <p:grpSpPr bwMode="auto">
          <a:xfrm>
            <a:off x="4238304" y="3290457"/>
            <a:ext cx="4295775" cy="833438"/>
            <a:chOff x="852" y="1872"/>
            <a:chExt cx="2706" cy="525"/>
          </a:xfrm>
        </p:grpSpPr>
        <p:graphicFrame>
          <p:nvGraphicFramePr>
            <p:cNvPr id="60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6085977"/>
                </p:ext>
              </p:extLst>
            </p:nvPr>
          </p:nvGraphicFramePr>
          <p:xfrm>
            <a:off x="2741" y="2005"/>
            <a:ext cx="817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Équation" r:id="rId12" imgW="901440" imgH="431640" progId="Equation.3">
                    <p:embed/>
                  </p:oleObj>
                </mc:Choice>
                <mc:Fallback>
                  <p:oleObj name="Équation" r:id="rId12" imgW="901440" imgH="431640" progId="Equation.3">
                    <p:embed/>
                    <p:pic>
                      <p:nvPicPr>
                        <p:cNvPr id="6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1" y="2005"/>
                          <a:ext cx="817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" name="Line 61"/>
            <p:cNvSpPr>
              <a:spLocks noChangeShapeType="1"/>
            </p:cNvSpPr>
            <p:nvPr/>
          </p:nvSpPr>
          <p:spPr bwMode="auto">
            <a:xfrm flipH="1" flipV="1">
              <a:off x="852" y="1872"/>
              <a:ext cx="1842" cy="32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2" name="Group 62"/>
          <p:cNvGrpSpPr>
            <a:grpSpLocks/>
          </p:cNvGrpSpPr>
          <p:nvPr/>
        </p:nvGrpSpPr>
        <p:grpSpPr bwMode="auto">
          <a:xfrm>
            <a:off x="3388992" y="4679518"/>
            <a:ext cx="76200" cy="1219200"/>
            <a:chOff x="226" y="136"/>
            <a:chExt cx="48" cy="768"/>
          </a:xfrm>
        </p:grpSpPr>
        <p:sp>
          <p:nvSpPr>
            <p:cNvPr id="63" name="Freeform 63"/>
            <p:cNvSpPr>
              <a:spLocks/>
            </p:cNvSpPr>
            <p:nvPr/>
          </p:nvSpPr>
          <p:spPr bwMode="auto">
            <a:xfrm>
              <a:off x="226" y="136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Line 64"/>
            <p:cNvSpPr>
              <a:spLocks noChangeShapeType="1"/>
            </p:cNvSpPr>
            <p:nvPr/>
          </p:nvSpPr>
          <p:spPr bwMode="auto">
            <a:xfrm>
              <a:off x="250" y="224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5" name="Group 65"/>
          <p:cNvGrpSpPr>
            <a:grpSpLocks/>
          </p:cNvGrpSpPr>
          <p:nvPr/>
        </p:nvGrpSpPr>
        <p:grpSpPr bwMode="auto">
          <a:xfrm>
            <a:off x="3363592" y="5784418"/>
            <a:ext cx="2835275" cy="57150"/>
            <a:chOff x="210" y="832"/>
            <a:chExt cx="2446" cy="48"/>
          </a:xfrm>
        </p:grpSpPr>
        <p:sp>
          <p:nvSpPr>
            <p:cNvPr id="66" name="Freeform 66"/>
            <p:cNvSpPr>
              <a:spLocks/>
            </p:cNvSpPr>
            <p:nvPr/>
          </p:nvSpPr>
          <p:spPr bwMode="auto">
            <a:xfrm>
              <a:off x="2568" y="832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Line 67"/>
            <p:cNvSpPr>
              <a:spLocks noChangeShapeType="1"/>
            </p:cNvSpPr>
            <p:nvPr/>
          </p:nvSpPr>
          <p:spPr bwMode="auto">
            <a:xfrm>
              <a:off x="210" y="856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8" name="Line 68"/>
          <p:cNvSpPr>
            <a:spLocks noChangeShapeType="1"/>
          </p:cNvSpPr>
          <p:nvPr/>
        </p:nvSpPr>
        <p:spPr bwMode="auto">
          <a:xfrm flipV="1">
            <a:off x="3427092" y="5311343"/>
            <a:ext cx="722312" cy="4953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9" name="Line 69"/>
          <p:cNvSpPr>
            <a:spLocks noChangeShapeType="1"/>
          </p:cNvSpPr>
          <p:nvPr/>
        </p:nvSpPr>
        <p:spPr bwMode="auto">
          <a:xfrm>
            <a:off x="4149404" y="5311343"/>
            <a:ext cx="977900" cy="4953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0" name="Text Box 70"/>
          <p:cNvSpPr txBox="1">
            <a:spLocks noChangeArrowheads="1"/>
          </p:cNvSpPr>
          <p:nvPr/>
        </p:nvSpPr>
        <p:spPr bwMode="auto">
          <a:xfrm>
            <a:off x="3557267" y="4565218"/>
            <a:ext cx="36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009900"/>
                </a:solidFill>
                <a:latin typeface="Symbol" panose="05050102010706020507" pitchFamily="18" charset="2"/>
              </a:rPr>
              <a:t>j</a:t>
            </a:r>
          </a:p>
        </p:txBody>
      </p:sp>
      <p:sp>
        <p:nvSpPr>
          <p:cNvPr id="71" name="Line 71"/>
          <p:cNvSpPr>
            <a:spLocks noChangeShapeType="1"/>
          </p:cNvSpPr>
          <p:nvPr/>
        </p:nvSpPr>
        <p:spPr bwMode="auto">
          <a:xfrm flipV="1">
            <a:off x="5133654" y="5455805"/>
            <a:ext cx="493713" cy="333375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2" name="Rectangle 72"/>
          <p:cNvSpPr>
            <a:spLocks noChangeArrowheads="1"/>
          </p:cNvSpPr>
          <p:nvPr/>
        </p:nvSpPr>
        <p:spPr bwMode="auto">
          <a:xfrm>
            <a:off x="6054404" y="5520893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73" name="Group 74"/>
          <p:cNvGrpSpPr>
            <a:grpSpLocks/>
          </p:cNvGrpSpPr>
          <p:nvPr/>
        </p:nvGrpSpPr>
        <p:grpSpPr bwMode="auto">
          <a:xfrm>
            <a:off x="4238304" y="4444570"/>
            <a:ext cx="4143375" cy="846138"/>
            <a:chOff x="852" y="2599"/>
            <a:chExt cx="2610" cy="533"/>
          </a:xfrm>
        </p:grpSpPr>
        <p:sp>
          <p:nvSpPr>
            <p:cNvPr id="74" name="Line 75"/>
            <p:cNvSpPr>
              <a:spLocks noChangeShapeType="1"/>
            </p:cNvSpPr>
            <p:nvPr/>
          </p:nvSpPr>
          <p:spPr bwMode="auto">
            <a:xfrm flipH="1">
              <a:off x="852" y="2802"/>
              <a:ext cx="1650" cy="330"/>
            </a:xfrm>
            <a:prstGeom prst="line">
              <a:avLst/>
            </a:prstGeom>
            <a:noFill/>
            <a:ln w="158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75" name="Object 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2516557"/>
                </p:ext>
              </p:extLst>
            </p:nvPr>
          </p:nvGraphicFramePr>
          <p:xfrm>
            <a:off x="2687" y="2599"/>
            <a:ext cx="775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Équation" r:id="rId14" imgW="838080" imgH="393480" progId="Equation.3">
                    <p:embed/>
                  </p:oleObj>
                </mc:Choice>
                <mc:Fallback>
                  <p:oleObj name="Équation" r:id="rId14" imgW="838080" imgH="393480" progId="Equation.3">
                    <p:embed/>
                    <p:pic>
                      <p:nvPicPr>
                        <p:cNvPr id="75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7" y="2599"/>
                          <a:ext cx="775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" name="Text Box 77"/>
          <p:cNvSpPr txBox="1">
            <a:spLocks noChangeArrowheads="1"/>
          </p:cNvSpPr>
          <p:nvPr/>
        </p:nvSpPr>
        <p:spPr bwMode="auto">
          <a:xfrm>
            <a:off x="8622979" y="4514418"/>
            <a:ext cx="304641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>
                <a:latin typeface="Times New Roman" panose="02020603050405020304" pitchFamily="18" charset="0"/>
              </a:rPr>
              <a:t>Non-saturation : </a:t>
            </a:r>
            <a:r>
              <a:rPr lang="en-CA" altLang="fr-FR" sz="1800" b="1" i="1">
                <a:latin typeface="Symbol" panose="05050102010706020507" pitchFamily="18" charset="2"/>
              </a:rPr>
              <a:t>j</a:t>
            </a:r>
            <a:r>
              <a:rPr lang="en-CA" altLang="fr-FR" sz="1800" b="1" i="1" baseline="-25000">
                <a:latin typeface="Times New Roman" panose="02020603050405020304" pitchFamily="18" charset="0"/>
              </a:rPr>
              <a:t>max</a:t>
            </a:r>
            <a:r>
              <a:rPr lang="en-CA" altLang="fr-FR" sz="1800" b="1" i="1">
                <a:latin typeface="Times New Roman" panose="02020603050405020304" pitchFamily="18" charset="0"/>
              </a:rPr>
              <a:t> = A</a:t>
            </a:r>
            <a:r>
              <a:rPr lang="en-CA" altLang="fr-FR" sz="1800" b="1" i="1" baseline="-25000">
                <a:latin typeface="Times New Roman" panose="02020603050405020304" pitchFamily="18" charset="0"/>
              </a:rPr>
              <a:t>e</a:t>
            </a:r>
            <a:r>
              <a:rPr lang="en-CA" altLang="fr-FR" sz="1800" b="1" i="1">
                <a:latin typeface="Times New Roman" panose="02020603050405020304" pitchFamily="18" charset="0"/>
              </a:rPr>
              <a:t>B</a:t>
            </a:r>
            <a:r>
              <a:rPr lang="en-CA" altLang="fr-FR" sz="1800" b="1" i="1" baseline="-25000">
                <a:latin typeface="Times New Roman" panose="02020603050405020304" pitchFamily="18" charset="0"/>
              </a:rPr>
              <a:t>sat</a:t>
            </a:r>
          </a:p>
        </p:txBody>
      </p:sp>
      <p:grpSp>
        <p:nvGrpSpPr>
          <p:cNvPr id="77" name="Group 79"/>
          <p:cNvGrpSpPr>
            <a:grpSpLocks/>
          </p:cNvGrpSpPr>
          <p:nvPr/>
        </p:nvGrpSpPr>
        <p:grpSpPr bwMode="auto">
          <a:xfrm>
            <a:off x="7381554" y="5203396"/>
            <a:ext cx="2809875" cy="687388"/>
            <a:chOff x="2832" y="3077"/>
            <a:chExt cx="1770" cy="433"/>
          </a:xfrm>
        </p:grpSpPr>
        <p:sp>
          <p:nvSpPr>
            <p:cNvPr id="78" name="Rectangle 80"/>
            <p:cNvSpPr>
              <a:spLocks noChangeArrowheads="1"/>
            </p:cNvSpPr>
            <p:nvPr/>
          </p:nvSpPr>
          <p:spPr bwMode="auto">
            <a:xfrm>
              <a:off x="3540" y="3078"/>
              <a:ext cx="1062" cy="4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79" name="AutoShape 81"/>
            <p:cNvSpPr>
              <a:spLocks noChangeArrowheads="1"/>
            </p:cNvSpPr>
            <p:nvPr/>
          </p:nvSpPr>
          <p:spPr bwMode="auto">
            <a:xfrm>
              <a:off x="2832" y="3216"/>
              <a:ext cx="486" cy="198"/>
            </a:xfrm>
            <a:prstGeom prst="rightArrow">
              <a:avLst>
                <a:gd name="adj1" fmla="val 50000"/>
                <a:gd name="adj2" fmla="val 61364"/>
              </a:avLst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0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0696089"/>
                </p:ext>
              </p:extLst>
            </p:nvPr>
          </p:nvGraphicFramePr>
          <p:xfrm>
            <a:off x="3583" y="3077"/>
            <a:ext cx="983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Équation" r:id="rId16" imgW="990360" imgH="431640" progId="Equation.3">
                    <p:embed/>
                  </p:oleObj>
                </mc:Choice>
                <mc:Fallback>
                  <p:oleObj name="Équation" r:id="rId16" imgW="990360" imgH="431640" progId="Equation.3">
                    <p:embed/>
                    <p:pic>
                      <p:nvPicPr>
                        <p:cNvPr id="80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3" y="3077"/>
                          <a:ext cx="983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 useBgFill="1">
        <p:nvSpPr>
          <p:cNvPr id="81" name="Rectangle 83"/>
          <p:cNvSpPr>
            <a:spLocks noChangeArrowheads="1"/>
          </p:cNvSpPr>
          <p:nvPr/>
        </p:nvSpPr>
        <p:spPr bwMode="auto">
          <a:xfrm>
            <a:off x="9143679" y="2156980"/>
            <a:ext cx="166688" cy="185738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2" name="ZoneTexte 81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76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Boundary mode: transformer sizing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5"/>
          <p:cNvGrpSpPr>
            <a:grpSpLocks/>
          </p:cNvGrpSpPr>
          <p:nvPr/>
        </p:nvGrpSpPr>
        <p:grpSpPr bwMode="auto">
          <a:xfrm>
            <a:off x="3382906" y="1543901"/>
            <a:ext cx="1895475" cy="2347913"/>
            <a:chOff x="1429" y="1280"/>
            <a:chExt cx="2268" cy="2223"/>
          </a:xfrm>
        </p:grpSpPr>
        <p:grpSp>
          <p:nvGrpSpPr>
            <p:cNvPr id="12" name="Group 6"/>
            <p:cNvGrpSpPr>
              <a:grpSpLocks/>
            </p:cNvGrpSpPr>
            <p:nvPr/>
          </p:nvGrpSpPr>
          <p:grpSpPr bwMode="auto">
            <a:xfrm>
              <a:off x="1429" y="1280"/>
              <a:ext cx="2268" cy="2223"/>
              <a:chOff x="1202" y="1298"/>
              <a:chExt cx="2268" cy="2223"/>
            </a:xfrm>
          </p:grpSpPr>
          <p:sp>
            <p:nvSpPr>
              <p:cNvPr id="14" name="Rectangle 7"/>
              <p:cNvSpPr>
                <a:spLocks noChangeArrowheads="1"/>
              </p:cNvSpPr>
              <p:nvPr/>
            </p:nvSpPr>
            <p:spPr bwMode="auto">
              <a:xfrm>
                <a:off x="1202" y="1298"/>
                <a:ext cx="2268" cy="222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" name="Group 8"/>
              <p:cNvGrpSpPr>
                <a:grpSpLocks/>
              </p:cNvGrpSpPr>
              <p:nvPr/>
            </p:nvGrpSpPr>
            <p:grpSpPr bwMode="auto">
              <a:xfrm>
                <a:off x="1383" y="1480"/>
                <a:ext cx="1860" cy="1814"/>
                <a:chOff x="1383" y="1480"/>
                <a:chExt cx="1860" cy="1814"/>
              </a:xfrm>
            </p:grpSpPr>
            <p:sp>
              <p:nvSpPr>
                <p:cNvPr id="16" name="AutoShape 9"/>
                <p:cNvSpPr>
                  <a:spLocks noChangeArrowheads="1"/>
                </p:cNvSpPr>
                <p:nvPr/>
              </p:nvSpPr>
              <p:spPr bwMode="auto">
                <a:xfrm>
                  <a:off x="1429" y="1480"/>
                  <a:ext cx="1814" cy="181"/>
                </a:xfrm>
                <a:prstGeom prst="parallelogram">
                  <a:avLst>
                    <a:gd name="adj" fmla="val 123699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" name="AutoShape 10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2223" y="2273"/>
                  <a:ext cx="1814" cy="227"/>
                </a:xfrm>
                <a:prstGeom prst="parallelogram">
                  <a:avLst>
                    <a:gd name="adj" fmla="val 78395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" name="Rectangle 11"/>
                <p:cNvSpPr>
                  <a:spLocks noChangeArrowheads="1"/>
                </p:cNvSpPr>
                <p:nvPr/>
              </p:nvSpPr>
              <p:spPr bwMode="auto">
                <a:xfrm>
                  <a:off x="1429" y="1661"/>
                  <a:ext cx="1587" cy="163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" name="Rectangle 12"/>
                <p:cNvSpPr>
                  <a:spLocks noChangeArrowheads="1"/>
                </p:cNvSpPr>
                <p:nvPr/>
              </p:nvSpPr>
              <p:spPr bwMode="auto">
                <a:xfrm>
                  <a:off x="1746" y="1979"/>
                  <a:ext cx="953" cy="997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" name="AutoShape 13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1270" y="2273"/>
                  <a:ext cx="1179" cy="227"/>
                </a:xfrm>
                <a:prstGeom prst="parallelogram">
                  <a:avLst>
                    <a:gd name="adj" fmla="val 79278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" name="AutoShape 14"/>
                <p:cNvSpPr>
                  <a:spLocks noChangeArrowheads="1"/>
                </p:cNvSpPr>
                <p:nvPr/>
              </p:nvSpPr>
              <p:spPr bwMode="auto">
                <a:xfrm>
                  <a:off x="1746" y="2795"/>
                  <a:ext cx="1179" cy="181"/>
                </a:xfrm>
                <a:prstGeom prst="parallelogram">
                  <a:avLst>
                    <a:gd name="adj" fmla="val 126808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" name="AutoShape 15"/>
                <p:cNvSpPr>
                  <a:spLocks noChangeArrowheads="1"/>
                </p:cNvSpPr>
                <p:nvPr/>
              </p:nvSpPr>
              <p:spPr bwMode="auto">
                <a:xfrm>
                  <a:off x="1746" y="1797"/>
                  <a:ext cx="1179" cy="181"/>
                </a:xfrm>
                <a:prstGeom prst="parallelogram">
                  <a:avLst>
                    <a:gd name="adj" fmla="val 126808"/>
                  </a:avLst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" name="AutoShape 16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2223" y="2273"/>
                  <a:ext cx="1179" cy="227"/>
                </a:xfrm>
                <a:prstGeom prst="parallelogram">
                  <a:avLst>
                    <a:gd name="adj" fmla="val 79278"/>
                  </a:avLst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" name="Rectangle 17"/>
                <p:cNvSpPr>
                  <a:spLocks noChangeArrowheads="1"/>
                </p:cNvSpPr>
                <p:nvPr/>
              </p:nvSpPr>
              <p:spPr bwMode="auto">
                <a:xfrm>
                  <a:off x="1429" y="1661"/>
                  <a:ext cx="1587" cy="31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" name="Rectangle 18"/>
                <p:cNvSpPr>
                  <a:spLocks noChangeArrowheads="1"/>
                </p:cNvSpPr>
                <p:nvPr/>
              </p:nvSpPr>
              <p:spPr bwMode="auto">
                <a:xfrm>
                  <a:off x="2699" y="1888"/>
                  <a:ext cx="317" cy="131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" name="Rectangle 19"/>
                <p:cNvSpPr>
                  <a:spLocks noChangeArrowheads="1"/>
                </p:cNvSpPr>
                <p:nvPr/>
              </p:nvSpPr>
              <p:spPr bwMode="auto">
                <a:xfrm>
                  <a:off x="1429" y="1661"/>
                  <a:ext cx="1587" cy="163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" name="Rectangle 20"/>
                <p:cNvSpPr>
                  <a:spLocks noChangeArrowheads="1"/>
                </p:cNvSpPr>
                <p:nvPr/>
              </p:nvSpPr>
              <p:spPr bwMode="auto">
                <a:xfrm>
                  <a:off x="1746" y="1979"/>
                  <a:ext cx="953" cy="99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" name="Rectangle 21"/>
                <p:cNvSpPr>
                  <a:spLocks noChangeArrowheads="1"/>
                </p:cNvSpPr>
                <p:nvPr/>
              </p:nvSpPr>
              <p:spPr bwMode="auto">
                <a:xfrm>
                  <a:off x="1837" y="2341"/>
                  <a:ext cx="136" cy="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" name="Rectangle 22"/>
                <p:cNvSpPr>
                  <a:spLocks noChangeArrowheads="1"/>
                </p:cNvSpPr>
                <p:nvPr/>
              </p:nvSpPr>
              <p:spPr bwMode="auto">
                <a:xfrm>
                  <a:off x="1383" y="2478"/>
                  <a:ext cx="227" cy="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" name="AutoShape 23"/>
                <p:cNvSpPr>
                  <a:spLocks noChangeArrowheads="1"/>
                </p:cNvSpPr>
                <p:nvPr/>
              </p:nvSpPr>
              <p:spPr bwMode="auto">
                <a:xfrm>
                  <a:off x="1429" y="2432"/>
                  <a:ext cx="544" cy="136"/>
                </a:xfrm>
                <a:prstGeom prst="parallelogram">
                  <a:avLst>
                    <a:gd name="adj" fmla="val 171574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" name="Rectangle 24"/>
                <p:cNvSpPr>
                  <a:spLocks noChangeArrowheads="1"/>
                </p:cNvSpPr>
                <p:nvPr/>
              </p:nvSpPr>
              <p:spPr bwMode="auto">
                <a:xfrm>
                  <a:off x="1429" y="2387"/>
                  <a:ext cx="317" cy="91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" name="Line 25"/>
                <p:cNvSpPr>
                  <a:spLocks noChangeShapeType="1"/>
                </p:cNvSpPr>
                <p:nvPr/>
              </p:nvSpPr>
              <p:spPr bwMode="auto">
                <a:xfrm>
                  <a:off x="1429" y="2341"/>
                  <a:ext cx="0" cy="1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3" name="Line 26"/>
                <p:cNvSpPr>
                  <a:spLocks noChangeShapeType="1"/>
                </p:cNvSpPr>
                <p:nvPr/>
              </p:nvSpPr>
              <p:spPr bwMode="auto">
                <a:xfrm>
                  <a:off x="1429" y="2478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4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1746" y="2341"/>
                  <a:ext cx="0" cy="1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5" name="AutoShape 28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1746" y="2251"/>
                  <a:ext cx="228" cy="227"/>
                </a:xfrm>
                <a:prstGeom prst="parallelogram">
                  <a:avLst>
                    <a:gd name="adj" fmla="val 64752"/>
                  </a:avLst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" name="Line 29"/>
                <p:cNvSpPr>
                  <a:spLocks noChangeShapeType="1"/>
                </p:cNvSpPr>
                <p:nvPr/>
              </p:nvSpPr>
              <p:spPr bwMode="auto">
                <a:xfrm>
                  <a:off x="1746" y="2341"/>
                  <a:ext cx="0" cy="1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7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1746" y="2341"/>
                  <a:ext cx="227" cy="1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8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1973" y="2251"/>
                  <a:ext cx="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sp>
          <p:nvSpPr>
            <p:cNvPr id="13" name="AutoShape 32"/>
            <p:cNvSpPr>
              <a:spLocks noChangeArrowheads="1"/>
            </p:cNvSpPr>
            <p:nvPr/>
          </p:nvSpPr>
          <p:spPr bwMode="auto">
            <a:xfrm>
              <a:off x="2926" y="2414"/>
              <a:ext cx="544" cy="136"/>
            </a:xfrm>
            <a:prstGeom prst="parallelogram">
              <a:avLst>
                <a:gd name="adj" fmla="val 173944"/>
              </a:avLst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39" name="Text Box 33"/>
          <p:cNvSpPr txBox="1">
            <a:spLocks noChangeArrowheads="1"/>
          </p:cNvSpPr>
          <p:nvPr/>
        </p:nvSpPr>
        <p:spPr bwMode="auto">
          <a:xfrm>
            <a:off x="4108393" y="2486876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>
                <a:solidFill>
                  <a:schemeClr val="bg1"/>
                </a:solidFill>
                <a:latin typeface="Times New Roman" panose="02020603050405020304" pitchFamily="18" charset="0"/>
              </a:rPr>
              <a:t>S</a:t>
            </a:r>
            <a:r>
              <a:rPr lang="fr-FR" altLang="fr-FR" sz="2400" b="1" i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0" name="Text Box 34"/>
          <p:cNvSpPr txBox="1">
            <a:spLocks noChangeArrowheads="1"/>
          </p:cNvSpPr>
          <p:nvPr/>
        </p:nvSpPr>
        <p:spPr bwMode="auto">
          <a:xfrm>
            <a:off x="4956118" y="2702776"/>
            <a:ext cx="4048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A</a:t>
            </a:r>
            <a:r>
              <a:rPr lang="fr-FR" altLang="fr-FR" sz="1800" b="1" i="1" baseline="-25000">
                <a:solidFill>
                  <a:srgbClr val="0033CC"/>
                </a:solidFill>
                <a:latin typeface="Times New Roman" panose="02020603050405020304" pitchFamily="18" charset="0"/>
              </a:rPr>
              <a:t>e</a:t>
            </a:r>
          </a:p>
        </p:txBody>
      </p:sp>
      <p:graphicFrame>
        <p:nvGraphicFramePr>
          <p:cNvPr id="4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205582"/>
              </p:ext>
            </p:extLst>
          </p:nvPr>
        </p:nvGraphicFramePr>
        <p:xfrm>
          <a:off x="6619818" y="1583589"/>
          <a:ext cx="1443038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531" imgH="406224" progId="Equation.3">
                  <p:embed/>
                </p:oleObj>
              </mc:Choice>
              <mc:Fallback>
                <p:oleObj name="Equation" r:id="rId2" imgW="850531" imgH="406224" progId="Equation.3">
                  <p:embed/>
                  <p:pic>
                    <p:nvPicPr>
                      <p:cNvPr id="42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18" y="1583589"/>
                        <a:ext cx="1443038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37"/>
          <p:cNvSpPr txBox="1">
            <a:spLocks noChangeArrowheads="1"/>
          </p:cNvSpPr>
          <p:nvPr/>
        </p:nvSpPr>
        <p:spPr bwMode="auto">
          <a:xfrm>
            <a:off x="8213668" y="1716939"/>
            <a:ext cx="271621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>
                <a:latin typeface="Times New Roman" panose="02020603050405020304" pitchFamily="18" charset="0"/>
              </a:rPr>
              <a:t>&lt; max current density: </a:t>
            </a:r>
            <a:r>
              <a:rPr lang="en-CA" altLang="fr-FR" sz="1800" b="1" i="1">
                <a:latin typeface="Symbol" panose="05050102010706020507" pitchFamily="18" charset="2"/>
              </a:rPr>
              <a:t>d</a:t>
            </a:r>
            <a:r>
              <a:rPr lang="en-CA" altLang="fr-FR" sz="1800" b="1" i="1" baseline="-25000">
                <a:latin typeface="Times New Roman" panose="02020603050405020304" pitchFamily="18" charset="0"/>
              </a:rPr>
              <a:t>max</a:t>
            </a:r>
          </a:p>
        </p:txBody>
      </p:sp>
      <p:graphicFrame>
        <p:nvGraphicFramePr>
          <p:cNvPr id="4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367509"/>
              </p:ext>
            </p:extLst>
          </p:nvPr>
        </p:nvGraphicFramePr>
        <p:xfrm>
          <a:off x="6673850" y="2381250"/>
          <a:ext cx="21796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4" imgW="1231560" imgH="241200" progId="Equation.3">
                  <p:embed/>
                </p:oleObj>
              </mc:Choice>
              <mc:Fallback>
                <p:oleObj name="Équation" r:id="rId4" imgW="1231560" imgH="241200" progId="Equation.3">
                  <p:embed/>
                  <p:pic>
                    <p:nvPicPr>
                      <p:cNvPr id="45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850" y="2381250"/>
                        <a:ext cx="217963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 40"/>
          <p:cNvGrpSpPr>
            <a:grpSpLocks/>
          </p:cNvGrpSpPr>
          <p:nvPr/>
        </p:nvGrpSpPr>
        <p:grpSpPr bwMode="auto">
          <a:xfrm>
            <a:off x="8529581" y="2370989"/>
            <a:ext cx="2598737" cy="865187"/>
            <a:chOff x="3483" y="1519"/>
            <a:chExt cx="1637" cy="545"/>
          </a:xfrm>
        </p:grpSpPr>
        <p:sp>
          <p:nvSpPr>
            <p:cNvPr id="47" name="Text Box 41"/>
            <p:cNvSpPr txBox="1">
              <a:spLocks noChangeArrowheads="1"/>
            </p:cNvSpPr>
            <p:nvPr/>
          </p:nvSpPr>
          <p:spPr bwMode="auto">
            <a:xfrm>
              <a:off x="3723" y="1519"/>
              <a:ext cx="13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>
                  <a:latin typeface="Times New Roman" panose="02020603050405020304" pitchFamily="18" charset="0"/>
                </a:rPr>
                <a:t>&lt; </a:t>
              </a:r>
              <a:r>
                <a:rPr lang="en-CA" altLang="fr-FR" sz="1800" b="1" i="1">
                  <a:latin typeface="Times New Roman" panose="02020603050405020304" pitchFamily="18" charset="0"/>
                </a:rPr>
                <a:t>k</a:t>
              </a:r>
              <a:r>
                <a:rPr lang="en-CA" altLang="fr-FR" sz="1800" b="1" i="1" baseline="-25000">
                  <a:latin typeface="Times New Roman" panose="02020603050405020304" pitchFamily="18" charset="0"/>
                </a:rPr>
                <a:t>B</a:t>
              </a:r>
              <a:r>
                <a:rPr lang="en-CA" altLang="fr-FR" sz="1800">
                  <a:latin typeface="Times New Roman" panose="02020603050405020304" pitchFamily="18" charset="0"/>
                </a:rPr>
                <a:t>. Window area </a:t>
              </a:r>
              <a:r>
                <a:rPr lang="en-CA" altLang="fr-FR" sz="1800" b="1" i="1">
                  <a:latin typeface="Times New Roman" panose="02020603050405020304" pitchFamily="18" charset="0"/>
                </a:rPr>
                <a:t>S</a:t>
              </a:r>
              <a:r>
                <a:rPr lang="en-CA" altLang="fr-FR" sz="1800" b="1" i="1" baseline="-250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8" name="Text Box 42"/>
            <p:cNvSpPr txBox="1">
              <a:spLocks noChangeArrowheads="1"/>
            </p:cNvSpPr>
            <p:nvPr/>
          </p:nvSpPr>
          <p:spPr bwMode="auto">
            <a:xfrm>
              <a:off x="3483" y="1831"/>
              <a:ext cx="152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i="1">
                  <a:latin typeface="Times New Roman" panose="02020603050405020304" pitchFamily="18" charset="0"/>
                </a:rPr>
                <a:t>k</a:t>
              </a:r>
              <a:r>
                <a:rPr lang="en-CA" altLang="fr-FR" sz="1800" i="1" baseline="-25000">
                  <a:latin typeface="Times New Roman" panose="02020603050405020304" pitchFamily="18" charset="0"/>
                </a:rPr>
                <a:t>B</a:t>
              </a:r>
              <a:r>
                <a:rPr lang="en-CA" altLang="fr-FR" sz="1800" i="1">
                  <a:latin typeface="Times New Roman" panose="02020603050405020304" pitchFamily="18" charset="0"/>
                </a:rPr>
                <a:t> = winding coefficient</a:t>
              </a:r>
              <a:endParaRPr lang="en-CA" altLang="fr-FR" sz="1800" b="1" i="1" baseline="-250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49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123835"/>
              </p:ext>
            </p:extLst>
          </p:nvPr>
        </p:nvGraphicFramePr>
        <p:xfrm>
          <a:off x="7016750" y="3487738"/>
          <a:ext cx="260667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6" imgW="1523880" imgH="457200" progId="Equation.3">
                  <p:embed/>
                </p:oleObj>
              </mc:Choice>
              <mc:Fallback>
                <p:oleObj name="Équation" r:id="rId6" imgW="1523880" imgH="457200" progId="Equation.3">
                  <p:embed/>
                  <p:pic>
                    <p:nvPicPr>
                      <p:cNvPr id="49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0" y="3487738"/>
                        <a:ext cx="260667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46"/>
          <p:cNvGrpSpPr>
            <a:grpSpLocks/>
          </p:cNvGrpSpPr>
          <p:nvPr/>
        </p:nvGrpSpPr>
        <p:grpSpPr bwMode="auto">
          <a:xfrm>
            <a:off x="5943543" y="4569676"/>
            <a:ext cx="4097338" cy="990600"/>
            <a:chOff x="1854" y="2904"/>
            <a:chExt cx="2581" cy="624"/>
          </a:xfrm>
        </p:grpSpPr>
        <p:sp>
          <p:nvSpPr>
            <p:cNvPr id="51" name="AutoShape 47"/>
            <p:cNvSpPr>
              <a:spLocks noChangeArrowheads="1"/>
            </p:cNvSpPr>
            <p:nvPr/>
          </p:nvSpPr>
          <p:spPr bwMode="auto">
            <a:xfrm>
              <a:off x="1854" y="2904"/>
              <a:ext cx="282" cy="62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48"/>
            <p:cNvSpPr>
              <a:spLocks noChangeArrowheads="1"/>
            </p:cNvSpPr>
            <p:nvPr/>
          </p:nvSpPr>
          <p:spPr bwMode="auto">
            <a:xfrm>
              <a:off x="2461" y="2953"/>
              <a:ext cx="1974" cy="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3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1728187"/>
                </p:ext>
              </p:extLst>
            </p:nvPr>
          </p:nvGraphicFramePr>
          <p:xfrm>
            <a:off x="2494" y="2951"/>
            <a:ext cx="1859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Équation" r:id="rId8" imgW="1841400" imgH="482400" progId="Equation.3">
                    <p:embed/>
                  </p:oleObj>
                </mc:Choice>
                <mc:Fallback>
                  <p:oleObj name="Équation" r:id="rId8" imgW="1841400" imgH="482400" progId="Equation.3">
                    <p:embed/>
                    <p:pic>
                      <p:nvPicPr>
                        <p:cNvPr id="53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4" y="2951"/>
                          <a:ext cx="1859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Group 50"/>
          <p:cNvGrpSpPr>
            <a:grpSpLocks/>
          </p:cNvGrpSpPr>
          <p:nvPr/>
        </p:nvGrpSpPr>
        <p:grpSpPr bwMode="auto">
          <a:xfrm>
            <a:off x="3867093" y="4341076"/>
            <a:ext cx="1819275" cy="2170113"/>
            <a:chOff x="546" y="2760"/>
            <a:chExt cx="1146" cy="1367"/>
          </a:xfrm>
        </p:grpSpPr>
        <p:grpSp>
          <p:nvGrpSpPr>
            <p:cNvPr id="55" name="Group 51"/>
            <p:cNvGrpSpPr>
              <a:grpSpLocks/>
            </p:cNvGrpSpPr>
            <p:nvPr/>
          </p:nvGrpSpPr>
          <p:grpSpPr bwMode="auto">
            <a:xfrm>
              <a:off x="546" y="2814"/>
              <a:ext cx="1068" cy="1313"/>
              <a:chOff x="546" y="2814"/>
              <a:chExt cx="1068" cy="1313"/>
            </a:xfrm>
          </p:grpSpPr>
          <p:grpSp>
            <p:nvGrpSpPr>
              <p:cNvPr id="57" name="Group 52"/>
              <p:cNvGrpSpPr>
                <a:grpSpLocks/>
              </p:cNvGrpSpPr>
              <p:nvPr/>
            </p:nvGrpSpPr>
            <p:grpSpPr bwMode="auto">
              <a:xfrm>
                <a:off x="546" y="2814"/>
                <a:ext cx="1068" cy="846"/>
                <a:chOff x="546" y="2814"/>
                <a:chExt cx="1068" cy="846"/>
              </a:xfrm>
            </p:grpSpPr>
            <p:graphicFrame>
              <p:nvGraphicFramePr>
                <p:cNvPr id="59" name="Object 53"/>
                <p:cNvGraphicFramePr>
                  <a:graphicFrameLocks noChangeAspect="1"/>
                </p:cNvGraphicFramePr>
                <p:nvPr/>
              </p:nvGraphicFramePr>
              <p:xfrm>
                <a:off x="630" y="2814"/>
                <a:ext cx="870" cy="3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0" imgW="927100" imgH="381000" progId="Equation.3">
                        <p:embed/>
                      </p:oleObj>
                    </mc:Choice>
                    <mc:Fallback>
                      <p:oleObj name="Equation" r:id="rId10" imgW="927100" imgH="381000" progId="Equation.3">
                        <p:embed/>
                        <p:pic>
                          <p:nvPicPr>
                            <p:cNvPr id="59" name="Object 5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0" y="2814"/>
                              <a:ext cx="870" cy="35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0" name="Object 54"/>
                <p:cNvGraphicFramePr>
                  <a:graphicFrameLocks noChangeAspect="1"/>
                </p:cNvGraphicFramePr>
                <p:nvPr/>
              </p:nvGraphicFramePr>
              <p:xfrm>
                <a:off x="546" y="3282"/>
                <a:ext cx="1068" cy="3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2" imgW="1079032" imgH="380835" progId="Equation.3">
                        <p:embed/>
                      </p:oleObj>
                    </mc:Choice>
                    <mc:Fallback>
                      <p:oleObj name="Equation" r:id="rId12" imgW="1079032" imgH="380835" progId="Equation.3">
                        <p:embed/>
                        <p:pic>
                          <p:nvPicPr>
                            <p:cNvPr id="60" name="Object 5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6" y="3282"/>
                              <a:ext cx="1068" cy="3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58" name="Object 5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43216262"/>
                  </p:ext>
                </p:extLst>
              </p:nvPr>
            </p:nvGraphicFramePr>
            <p:xfrm>
              <a:off x="637" y="3692"/>
              <a:ext cx="909" cy="4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Équation" r:id="rId14" imgW="901440" imgH="431640" progId="Equation.3">
                      <p:embed/>
                    </p:oleObj>
                  </mc:Choice>
                  <mc:Fallback>
                    <p:oleObj name="Équation" r:id="rId14" imgW="901440" imgH="431640" progId="Equation.3">
                      <p:embed/>
                      <p:pic>
                        <p:nvPicPr>
                          <p:cNvPr id="58" name="Object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7" y="3692"/>
                            <a:ext cx="909" cy="4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6" name="Line 56"/>
            <p:cNvSpPr>
              <a:spLocks noChangeShapeType="1"/>
            </p:cNvSpPr>
            <p:nvPr/>
          </p:nvSpPr>
          <p:spPr bwMode="auto">
            <a:xfrm>
              <a:off x="1692" y="2760"/>
              <a:ext cx="0" cy="1314"/>
            </a:xfrm>
            <a:prstGeom prst="line">
              <a:avLst/>
            </a:prstGeom>
            <a:noFill/>
            <a:ln w="22225">
              <a:solidFill>
                <a:srgbClr val="33CC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1" name="ZoneTexte 60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69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Boundary mode: transformer sizing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744686" y="4765319"/>
            <a:ext cx="5924921" cy="128938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737738"/>
              </p:ext>
            </p:extLst>
          </p:nvPr>
        </p:nvGraphicFramePr>
        <p:xfrm>
          <a:off x="2994986" y="1967345"/>
          <a:ext cx="3417787" cy="836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394" imgH="342751" progId="Equation.3">
                  <p:embed/>
                </p:oleObj>
              </mc:Choice>
              <mc:Fallback>
                <p:oleObj name="Equation" r:id="rId2" imgW="1396394" imgH="342751" progId="Equation.3">
                  <p:embed/>
                  <p:pic>
                    <p:nvPicPr>
                      <p:cNvPr id="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986" y="1967345"/>
                        <a:ext cx="3417787" cy="836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959262"/>
              </p:ext>
            </p:extLst>
          </p:nvPr>
        </p:nvGraphicFramePr>
        <p:xfrm>
          <a:off x="7294563" y="2343150"/>
          <a:ext cx="3938587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4" imgW="1841400" imgH="482400" progId="Equation.3">
                  <p:embed/>
                </p:oleObj>
              </mc:Choice>
              <mc:Fallback>
                <p:oleObj name="Équation" r:id="rId4" imgW="1841400" imgH="482400" progId="Equation.3">
                  <p:embed/>
                  <p:pic>
                    <p:nvPicPr>
                      <p:cNvPr id="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4563" y="2343150"/>
                        <a:ext cx="3938587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382798"/>
              </p:ext>
            </p:extLst>
          </p:nvPr>
        </p:nvGraphicFramePr>
        <p:xfrm>
          <a:off x="7478713" y="1435100"/>
          <a:ext cx="224790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6" imgW="990360" imgH="431640" progId="Equation.3">
                  <p:embed/>
                </p:oleObj>
              </mc:Choice>
              <mc:Fallback>
                <p:oleObj name="Équation" r:id="rId6" imgW="990360" imgH="431640" progId="Equation.3">
                  <p:embed/>
                  <p:pic>
                    <p:nvPicPr>
                      <p:cNvPr id="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8713" y="1435100"/>
                        <a:ext cx="2247900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AutoShape 10"/>
          <p:cNvSpPr>
            <a:spLocks noChangeArrowheads="1"/>
          </p:cNvSpPr>
          <p:nvPr/>
        </p:nvSpPr>
        <p:spPr bwMode="auto">
          <a:xfrm rot="16200000" flipH="1">
            <a:off x="6527551" y="1519394"/>
            <a:ext cx="521241" cy="117182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4389 h 21600"/>
              <a:gd name="T14" fmla="*/ 20652 w 21600"/>
              <a:gd name="T15" fmla="*/ 7769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8189" y="0"/>
                </a:lnTo>
                <a:lnTo>
                  <a:pt x="18189" y="4389"/>
                </a:lnTo>
                <a:lnTo>
                  <a:pt x="12427" y="4389"/>
                </a:lnTo>
                <a:cubicBezTo>
                  <a:pt x="5564" y="4389"/>
                  <a:pt x="0" y="7867"/>
                  <a:pt x="0" y="12158"/>
                </a:cubicBezTo>
                <a:lnTo>
                  <a:pt x="0" y="21600"/>
                </a:lnTo>
                <a:lnTo>
                  <a:pt x="3455" y="21600"/>
                </a:lnTo>
                <a:lnTo>
                  <a:pt x="3455" y="12158"/>
                </a:lnTo>
                <a:cubicBezTo>
                  <a:pt x="3455" y="9734"/>
                  <a:pt x="7472" y="7769"/>
                  <a:pt x="12427" y="7769"/>
                </a:cubicBezTo>
                <a:lnTo>
                  <a:pt x="18189" y="7769"/>
                </a:lnTo>
                <a:lnTo>
                  <a:pt x="18189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5" name="AutoShape 11"/>
          <p:cNvSpPr>
            <a:spLocks noChangeArrowheads="1"/>
          </p:cNvSpPr>
          <p:nvPr/>
        </p:nvSpPr>
        <p:spPr bwMode="auto">
          <a:xfrm rot="5400000" flipH="1" flipV="1">
            <a:off x="6471989" y="2235357"/>
            <a:ext cx="521241" cy="117182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4389 h 21600"/>
              <a:gd name="T14" fmla="*/ 20652 w 21600"/>
              <a:gd name="T15" fmla="*/ 7769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8189" y="0"/>
                </a:lnTo>
                <a:lnTo>
                  <a:pt x="18189" y="4389"/>
                </a:lnTo>
                <a:lnTo>
                  <a:pt x="12427" y="4389"/>
                </a:lnTo>
                <a:cubicBezTo>
                  <a:pt x="5564" y="4389"/>
                  <a:pt x="0" y="7867"/>
                  <a:pt x="0" y="12158"/>
                </a:cubicBezTo>
                <a:lnTo>
                  <a:pt x="0" y="21600"/>
                </a:lnTo>
                <a:lnTo>
                  <a:pt x="3455" y="21600"/>
                </a:lnTo>
                <a:lnTo>
                  <a:pt x="3455" y="12158"/>
                </a:lnTo>
                <a:cubicBezTo>
                  <a:pt x="3455" y="9734"/>
                  <a:pt x="7472" y="7769"/>
                  <a:pt x="12427" y="7769"/>
                </a:cubicBezTo>
                <a:lnTo>
                  <a:pt x="18189" y="7769"/>
                </a:lnTo>
                <a:lnTo>
                  <a:pt x="18189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224039"/>
              </p:ext>
            </p:extLst>
          </p:nvPr>
        </p:nvGraphicFramePr>
        <p:xfrm>
          <a:off x="3330575" y="3427413"/>
          <a:ext cx="6623050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8" imgW="2654280" imgH="482400" progId="Equation.3">
                  <p:embed/>
                </p:oleObj>
              </mc:Choice>
              <mc:Fallback>
                <p:oleObj name="Équation" r:id="rId8" imgW="2654280" imgH="482400" progId="Equation.3">
                  <p:embed/>
                  <p:pic>
                    <p:nvPicPr>
                      <p:cNvPr id="1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0575" y="3427413"/>
                        <a:ext cx="6623050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utoShape 14"/>
          <p:cNvSpPr>
            <a:spLocks noChangeArrowheads="1"/>
          </p:cNvSpPr>
          <p:nvPr/>
        </p:nvSpPr>
        <p:spPr bwMode="auto">
          <a:xfrm>
            <a:off x="11018003" y="2230582"/>
            <a:ext cx="493398" cy="1967545"/>
          </a:xfrm>
          <a:prstGeom prst="curvedLeftArrow">
            <a:avLst>
              <a:gd name="adj1" fmla="val 31256"/>
              <a:gd name="adj2" fmla="val 100006"/>
              <a:gd name="adj3" fmla="val 33333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aphicFrame>
        <p:nvGraphicFramePr>
          <p:cNvPr id="1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145305"/>
              </p:ext>
            </p:extLst>
          </p:nvPr>
        </p:nvGraphicFramePr>
        <p:xfrm>
          <a:off x="3957872" y="4876965"/>
          <a:ext cx="5630773" cy="1111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20900" imgH="419100" progId="Equation.3">
                  <p:embed/>
                </p:oleObj>
              </mc:Choice>
              <mc:Fallback>
                <p:oleObj name="Equation" r:id="rId10" imgW="2120900" imgH="419100" progId="Equation.3">
                  <p:embed/>
                  <p:pic>
                    <p:nvPicPr>
                      <p:cNvPr id="1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872" y="4876965"/>
                        <a:ext cx="5630773" cy="1111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7"/>
          <p:cNvGrpSpPr>
            <a:grpSpLocks/>
          </p:cNvGrpSpPr>
          <p:nvPr/>
        </p:nvGrpSpPr>
        <p:grpSpPr bwMode="auto">
          <a:xfrm>
            <a:off x="10004639" y="5034671"/>
            <a:ext cx="1665218" cy="532672"/>
            <a:chOff x="4014" y="2742"/>
            <a:chExt cx="972" cy="233"/>
          </a:xfrm>
        </p:grpSpPr>
        <p:sp>
          <p:nvSpPr>
            <p:cNvPr id="20" name="AutoShape 18"/>
            <p:cNvSpPr>
              <a:spLocks noChangeArrowheads="1"/>
            </p:cNvSpPr>
            <p:nvPr/>
          </p:nvSpPr>
          <p:spPr bwMode="auto">
            <a:xfrm rot="-2474486">
              <a:off x="4014" y="2778"/>
              <a:ext cx="366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64 w 21600"/>
                <a:gd name="T13" fmla="*/ 5400 h 21600"/>
                <a:gd name="T14" fmla="*/ 18885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99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4406" y="2742"/>
              <a:ext cx="5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With P</a:t>
              </a:r>
              <a:r>
                <a:rPr lang="en-CA" altLang="fr-FR" sz="1800" b="1" i="1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9977555" y="5624900"/>
            <a:ext cx="1536728" cy="601255"/>
            <a:chOff x="3991" y="3127"/>
            <a:chExt cx="897" cy="263"/>
          </a:xfrm>
        </p:grpSpPr>
        <p:sp>
          <p:nvSpPr>
            <p:cNvPr id="23" name="AutoShape 21"/>
            <p:cNvSpPr>
              <a:spLocks noChangeArrowheads="1"/>
            </p:cNvSpPr>
            <p:nvPr/>
          </p:nvSpPr>
          <p:spPr bwMode="auto">
            <a:xfrm rot="2600802">
              <a:off x="3991" y="3127"/>
              <a:ext cx="366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64 w 21600"/>
                <a:gd name="T13" fmla="*/ 5400 h 21600"/>
                <a:gd name="T14" fmla="*/ 18885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4401" y="3157"/>
              <a:ext cx="48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i="1">
                  <a:solidFill>
                    <a:srgbClr val="FF9900"/>
                  </a:solidFill>
                  <a:latin typeface="Times New Roman" panose="02020603050405020304" pitchFamily="18" charset="0"/>
                </a:rPr>
                <a:t>With f</a:t>
              </a:r>
              <a:endParaRPr lang="en-CA" altLang="fr-FR" sz="1800" b="1" i="1" baseline="-25000">
                <a:solidFill>
                  <a:srgbClr val="FF99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5" name="ZoneTexte 24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84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Control principle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http://www.epsic.ch/branches/electronique/techn99/elnthcircuit/aldec4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22"/>
          <a:stretch/>
        </p:blipFill>
        <p:spPr bwMode="auto">
          <a:xfrm>
            <a:off x="2875252" y="1424422"/>
            <a:ext cx="9104448" cy="3009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733797" y="5147523"/>
            <a:ext cx="367585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Output voltage control</a:t>
            </a:r>
          </a:p>
        </p:txBody>
      </p:sp>
      <p:sp>
        <p:nvSpPr>
          <p:cNvPr id="13" name="ZoneTexte 1"/>
          <p:cNvSpPr txBox="1">
            <a:spLocks noChangeArrowheads="1"/>
          </p:cNvSpPr>
          <p:nvPr/>
        </p:nvSpPr>
        <p:spPr bwMode="auto">
          <a:xfrm>
            <a:off x="4073379" y="1644652"/>
            <a:ext cx="1207121" cy="49244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Rectifying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Filtering</a:t>
            </a:r>
          </a:p>
        </p:txBody>
      </p:sp>
      <p:sp>
        <p:nvSpPr>
          <p:cNvPr id="14" name="ZoneTexte 11"/>
          <p:cNvSpPr txBox="1">
            <a:spLocks noChangeArrowheads="1"/>
          </p:cNvSpPr>
          <p:nvPr/>
        </p:nvSpPr>
        <p:spPr bwMode="auto">
          <a:xfrm>
            <a:off x="5645524" y="1851217"/>
            <a:ext cx="1113819" cy="24622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Switching</a:t>
            </a:r>
          </a:p>
        </p:txBody>
      </p:sp>
      <p:sp>
        <p:nvSpPr>
          <p:cNvPr id="15" name="ZoneTexte 12"/>
          <p:cNvSpPr txBox="1">
            <a:spLocks noChangeArrowheads="1"/>
          </p:cNvSpPr>
          <p:nvPr/>
        </p:nvSpPr>
        <p:spPr bwMode="auto">
          <a:xfrm>
            <a:off x="6947841" y="1662601"/>
            <a:ext cx="1157802" cy="49244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Energy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storage</a:t>
            </a:r>
          </a:p>
        </p:txBody>
      </p:sp>
      <p:sp>
        <p:nvSpPr>
          <p:cNvPr id="16" name="ZoneTexte 13"/>
          <p:cNvSpPr txBox="1">
            <a:spLocks noChangeArrowheads="1"/>
          </p:cNvSpPr>
          <p:nvPr/>
        </p:nvSpPr>
        <p:spPr bwMode="auto">
          <a:xfrm>
            <a:off x="8558000" y="1659143"/>
            <a:ext cx="1114773" cy="49244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Transfer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and storage</a:t>
            </a:r>
          </a:p>
        </p:txBody>
      </p:sp>
      <p:sp>
        <p:nvSpPr>
          <p:cNvPr id="17" name="ZoneTexte 14"/>
          <p:cNvSpPr txBox="1">
            <a:spLocks noChangeArrowheads="1"/>
          </p:cNvSpPr>
          <p:nvPr/>
        </p:nvSpPr>
        <p:spPr bwMode="auto">
          <a:xfrm>
            <a:off x="3920248" y="4054530"/>
            <a:ext cx="1853557" cy="24622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PRIMARY CIRCUIT</a:t>
            </a:r>
          </a:p>
        </p:txBody>
      </p:sp>
      <p:sp>
        <p:nvSpPr>
          <p:cNvPr id="18" name="ZoneTexte 15"/>
          <p:cNvSpPr txBox="1">
            <a:spLocks noChangeArrowheads="1"/>
          </p:cNvSpPr>
          <p:nvPr/>
        </p:nvSpPr>
        <p:spPr bwMode="auto">
          <a:xfrm>
            <a:off x="6922686" y="3420425"/>
            <a:ext cx="2219370" cy="49244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Control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Switching command</a:t>
            </a:r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 flipH="1">
            <a:off x="6928354" y="857380"/>
            <a:ext cx="682716" cy="4082041"/>
          </a:xfrm>
          <a:prstGeom prst="line">
            <a:avLst/>
          </a:prstGeom>
          <a:noFill/>
          <a:ln w="38100">
            <a:solidFill>
              <a:srgbClr val="008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ZoneTexte 16"/>
          <p:cNvSpPr txBox="1">
            <a:spLocks noChangeArrowheads="1"/>
          </p:cNvSpPr>
          <p:nvPr/>
        </p:nvSpPr>
        <p:spPr bwMode="auto">
          <a:xfrm>
            <a:off x="10217529" y="2732327"/>
            <a:ext cx="1114773" cy="49244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U output measurement</a:t>
            </a:r>
          </a:p>
        </p:txBody>
      </p:sp>
      <p:sp>
        <p:nvSpPr>
          <p:cNvPr id="21" name="ZoneTexte 17"/>
          <p:cNvSpPr txBox="1">
            <a:spLocks noChangeArrowheads="1"/>
          </p:cNvSpPr>
          <p:nvPr/>
        </p:nvSpPr>
        <p:spPr bwMode="auto">
          <a:xfrm>
            <a:off x="10535575" y="3442855"/>
            <a:ext cx="879775" cy="49244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Reference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voltage</a:t>
            </a:r>
          </a:p>
        </p:txBody>
      </p:sp>
      <p:sp>
        <p:nvSpPr>
          <p:cNvPr id="22" name="Oval 7"/>
          <p:cNvSpPr>
            <a:spLocks noChangeArrowheads="1"/>
          </p:cNvSpPr>
          <p:nvPr/>
        </p:nvSpPr>
        <p:spPr bwMode="auto">
          <a:xfrm>
            <a:off x="8964214" y="2768948"/>
            <a:ext cx="2691286" cy="1816615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" name="ZoneTexte 18"/>
          <p:cNvSpPr txBox="1">
            <a:spLocks noChangeArrowheads="1"/>
          </p:cNvSpPr>
          <p:nvPr/>
        </p:nvSpPr>
        <p:spPr bwMode="auto">
          <a:xfrm>
            <a:off x="10383261" y="2216262"/>
            <a:ext cx="1114773" cy="24622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U output</a:t>
            </a:r>
          </a:p>
        </p:txBody>
      </p:sp>
      <p:sp>
        <p:nvSpPr>
          <p:cNvPr id="24" name="ZoneTexte 19"/>
          <p:cNvSpPr txBox="1">
            <a:spLocks noChangeArrowheads="1"/>
          </p:cNvSpPr>
          <p:nvPr/>
        </p:nvSpPr>
        <p:spPr bwMode="auto">
          <a:xfrm>
            <a:off x="10051798" y="1672078"/>
            <a:ext cx="1446236" cy="49244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SECONDARY CIRCUIT</a:t>
            </a:r>
          </a:p>
        </p:txBody>
      </p:sp>
      <p:sp>
        <p:nvSpPr>
          <p:cNvPr id="25" name="ZoneTexte 20"/>
          <p:cNvSpPr txBox="1">
            <a:spLocks noChangeArrowheads="1"/>
          </p:cNvSpPr>
          <p:nvPr/>
        </p:nvSpPr>
        <p:spPr bwMode="auto">
          <a:xfrm>
            <a:off x="3117997" y="2379522"/>
            <a:ext cx="603560" cy="24622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600" dirty="0">
                <a:latin typeface="Times New Roman" panose="02020603050405020304" pitchFamily="18" charset="0"/>
              </a:rPr>
              <a:t>Supply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96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Boundary mode holding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151" y="1114860"/>
            <a:ext cx="5487119" cy="3080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Group 11"/>
          <p:cNvGrpSpPr>
            <a:grpSpLocks/>
          </p:cNvGrpSpPr>
          <p:nvPr/>
        </p:nvGrpSpPr>
        <p:grpSpPr bwMode="auto">
          <a:xfrm>
            <a:off x="6757592" y="2689088"/>
            <a:ext cx="3803522" cy="3486728"/>
            <a:chOff x="2472" y="1888"/>
            <a:chExt cx="1726" cy="1724"/>
          </a:xfrm>
        </p:grpSpPr>
        <p:sp>
          <p:nvSpPr>
            <p:cNvPr id="18" name="Oval 12"/>
            <p:cNvSpPr>
              <a:spLocks noChangeArrowheads="1"/>
            </p:cNvSpPr>
            <p:nvPr/>
          </p:nvSpPr>
          <p:spPr bwMode="auto">
            <a:xfrm>
              <a:off x="3470" y="1888"/>
              <a:ext cx="91" cy="182"/>
            </a:xfrm>
            <a:prstGeom prst="ellips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3515" y="2069"/>
              <a:ext cx="0" cy="409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3424" y="2478"/>
              <a:ext cx="363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Line 15"/>
            <p:cNvSpPr>
              <a:spLocks noChangeShapeType="1"/>
            </p:cNvSpPr>
            <p:nvPr/>
          </p:nvSpPr>
          <p:spPr bwMode="auto">
            <a:xfrm flipH="1">
              <a:off x="3605" y="2478"/>
              <a:ext cx="182" cy="408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 flipH="1" flipV="1">
              <a:off x="3424" y="2478"/>
              <a:ext cx="181" cy="408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 flipV="1">
              <a:off x="3696" y="2341"/>
              <a:ext cx="0" cy="137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3696" y="2341"/>
              <a:ext cx="227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 Box 19"/>
            <p:cNvSpPr txBox="1">
              <a:spLocks noChangeArrowheads="1"/>
            </p:cNvSpPr>
            <p:nvPr/>
          </p:nvSpPr>
          <p:spPr bwMode="auto">
            <a:xfrm>
              <a:off x="3924" y="2249"/>
              <a:ext cx="274" cy="183"/>
            </a:xfrm>
            <a:prstGeom prst="rect">
              <a:avLst/>
            </a:prstGeom>
            <a:noFill/>
            <a:ln w="38100">
              <a:solidFill>
                <a:srgbClr val="00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zéro</a:t>
              </a: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3606" y="2886"/>
              <a:ext cx="0" cy="726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>
              <a:off x="2472" y="3612"/>
              <a:ext cx="1134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3469" y="2542"/>
              <a:ext cx="91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3515" y="2496"/>
              <a:ext cx="0" cy="91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3651" y="2535"/>
              <a:ext cx="90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1" name="Group 25"/>
          <p:cNvGrpSpPr>
            <a:grpSpLocks/>
          </p:cNvGrpSpPr>
          <p:nvPr/>
        </p:nvGrpSpPr>
        <p:grpSpPr bwMode="auto">
          <a:xfrm>
            <a:off x="6781538" y="3774942"/>
            <a:ext cx="1965667" cy="1652354"/>
            <a:chOff x="2472" y="2432"/>
            <a:chExt cx="892" cy="817"/>
          </a:xfrm>
        </p:grpSpPr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2654" y="2704"/>
              <a:ext cx="363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 flipH="1">
              <a:off x="2835" y="2704"/>
              <a:ext cx="182" cy="408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 flipH="1" flipV="1">
              <a:off x="2654" y="2704"/>
              <a:ext cx="181" cy="408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 flipV="1">
              <a:off x="2926" y="2567"/>
              <a:ext cx="0" cy="137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>
              <a:off x="2926" y="2567"/>
              <a:ext cx="89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Line 31"/>
            <p:cNvSpPr>
              <a:spLocks noChangeShapeType="1"/>
            </p:cNvSpPr>
            <p:nvPr/>
          </p:nvSpPr>
          <p:spPr bwMode="auto">
            <a:xfrm>
              <a:off x="2699" y="2762"/>
              <a:ext cx="91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Line 32"/>
            <p:cNvSpPr>
              <a:spLocks noChangeShapeType="1"/>
            </p:cNvSpPr>
            <p:nvPr/>
          </p:nvSpPr>
          <p:spPr bwMode="auto">
            <a:xfrm>
              <a:off x="2745" y="2716"/>
              <a:ext cx="0" cy="91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Line 33"/>
            <p:cNvSpPr>
              <a:spLocks noChangeShapeType="1"/>
            </p:cNvSpPr>
            <p:nvPr/>
          </p:nvSpPr>
          <p:spPr bwMode="auto">
            <a:xfrm>
              <a:off x="2881" y="2761"/>
              <a:ext cx="90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Line 34"/>
            <p:cNvSpPr>
              <a:spLocks noChangeShapeType="1"/>
            </p:cNvSpPr>
            <p:nvPr/>
          </p:nvSpPr>
          <p:spPr bwMode="auto">
            <a:xfrm>
              <a:off x="2744" y="2478"/>
              <a:ext cx="0" cy="227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Oval 35"/>
            <p:cNvSpPr>
              <a:spLocks noChangeArrowheads="1"/>
            </p:cNvSpPr>
            <p:nvPr/>
          </p:nvSpPr>
          <p:spPr bwMode="auto">
            <a:xfrm>
              <a:off x="2472" y="2432"/>
              <a:ext cx="136" cy="91"/>
            </a:xfrm>
            <a:prstGeom prst="ellips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2" name="Line 36"/>
            <p:cNvSpPr>
              <a:spLocks noChangeShapeType="1"/>
            </p:cNvSpPr>
            <p:nvPr/>
          </p:nvSpPr>
          <p:spPr bwMode="auto">
            <a:xfrm>
              <a:off x="2608" y="2478"/>
              <a:ext cx="135" cy="1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>
              <a:off x="2835" y="3113"/>
              <a:ext cx="0" cy="13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Line 38"/>
            <p:cNvSpPr>
              <a:spLocks noChangeShapeType="1"/>
            </p:cNvSpPr>
            <p:nvPr/>
          </p:nvSpPr>
          <p:spPr bwMode="auto">
            <a:xfrm flipH="1">
              <a:off x="2472" y="3249"/>
              <a:ext cx="363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Text Box 39"/>
            <p:cNvSpPr txBox="1">
              <a:spLocks noChangeArrowheads="1"/>
            </p:cNvSpPr>
            <p:nvPr/>
          </p:nvSpPr>
          <p:spPr bwMode="auto">
            <a:xfrm>
              <a:off x="3016" y="2432"/>
              <a:ext cx="348" cy="231"/>
            </a:xfrm>
            <a:prstGeom prst="rect">
              <a:avLst/>
            </a:prstGeom>
            <a:noFill/>
            <a:ln w="38100">
              <a:solidFill>
                <a:srgbClr val="009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0099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>
                  <a:solidFill>
                    <a:srgbClr val="009900"/>
                  </a:solidFill>
                  <a:latin typeface="Times New Roman" panose="02020603050405020304" pitchFamily="18" charset="0"/>
                </a:rPr>
                <a:t>max</a:t>
              </a:r>
            </a:p>
          </p:txBody>
        </p:sp>
      </p:grpSp>
      <p:sp>
        <p:nvSpPr>
          <p:cNvPr id="46" name="ZoneTexte 45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5352854" y="3306527"/>
            <a:ext cx="1535955" cy="3136840"/>
            <a:chOff x="5352854" y="3306527"/>
            <a:chExt cx="1535955" cy="3136840"/>
          </a:xfrm>
        </p:grpSpPr>
        <p:grpSp>
          <p:nvGrpSpPr>
            <p:cNvPr id="11" name="Group 5"/>
            <p:cNvGrpSpPr>
              <a:grpSpLocks/>
            </p:cNvGrpSpPr>
            <p:nvPr/>
          </p:nvGrpSpPr>
          <p:grpSpPr bwMode="auto">
            <a:xfrm>
              <a:off x="5352854" y="3306527"/>
              <a:ext cx="1535955" cy="3136840"/>
              <a:chOff x="1837" y="2205"/>
              <a:chExt cx="697" cy="1551"/>
            </a:xfrm>
          </p:grpSpPr>
          <p:grpSp>
            <p:nvGrpSpPr>
              <p:cNvPr id="12" name="Group 6"/>
              <p:cNvGrpSpPr>
                <a:grpSpLocks/>
              </p:cNvGrpSpPr>
              <p:nvPr/>
            </p:nvGrpSpPr>
            <p:grpSpPr bwMode="auto">
              <a:xfrm>
                <a:off x="1837" y="2205"/>
                <a:ext cx="635" cy="1543"/>
                <a:chOff x="1837" y="2205"/>
                <a:chExt cx="635" cy="1543"/>
              </a:xfrm>
            </p:grpSpPr>
            <p:sp>
              <p:nvSpPr>
                <p:cNvPr id="15" name="Line 7"/>
                <p:cNvSpPr>
                  <a:spLocks noChangeShapeType="1"/>
                </p:cNvSpPr>
                <p:nvPr/>
              </p:nvSpPr>
              <p:spPr bwMode="auto">
                <a:xfrm>
                  <a:off x="2154" y="2205"/>
                  <a:ext cx="0" cy="862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" name="Rectangle 8"/>
                <p:cNvSpPr>
                  <a:spLocks noChangeArrowheads="1"/>
                </p:cNvSpPr>
                <p:nvPr/>
              </p:nvSpPr>
              <p:spPr bwMode="auto">
                <a:xfrm>
                  <a:off x="1837" y="3068"/>
                  <a:ext cx="635" cy="68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33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" name="Text Box 9"/>
              <p:cNvSpPr txBox="1">
                <a:spLocks noChangeArrowheads="1"/>
              </p:cNvSpPr>
              <p:nvPr/>
            </p:nvSpPr>
            <p:spPr bwMode="auto">
              <a:xfrm>
                <a:off x="2333" y="3525"/>
                <a:ext cx="18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 dirty="0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4" name="Text Box 10"/>
              <p:cNvSpPr txBox="1">
                <a:spLocks noChangeArrowheads="1"/>
              </p:cNvSpPr>
              <p:nvPr/>
            </p:nvSpPr>
            <p:spPr bwMode="auto">
              <a:xfrm>
                <a:off x="2314" y="3169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 dirty="0">
                    <a:latin typeface="Times New Roman" panose="02020603050405020304" pitchFamily="18" charset="0"/>
                  </a:rPr>
                  <a:t>R</a:t>
                </a:r>
              </a:p>
            </p:txBody>
          </p:sp>
        </p:grpSp>
        <p:sp>
          <p:nvSpPr>
            <p:cNvPr id="47" name="Text Box 10"/>
            <p:cNvSpPr txBox="1">
              <a:spLocks noChangeArrowheads="1"/>
            </p:cNvSpPr>
            <p:nvPr/>
          </p:nvSpPr>
          <p:spPr bwMode="auto">
            <a:xfrm>
              <a:off x="5839112" y="5080823"/>
              <a:ext cx="36420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100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Example: LT8302 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245" y="1275052"/>
            <a:ext cx="6335712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114" y="2947267"/>
            <a:ext cx="2749550" cy="280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301" y="4087957"/>
            <a:ext cx="2795587" cy="190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74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Example: LT8302 (internal scheme)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057" y="1311708"/>
            <a:ext cx="7968961" cy="4963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1860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Example: LT8302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328" y="1665084"/>
            <a:ext cx="8480023" cy="3738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908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Flyback examples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5" descr="24391_P0_2006471447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868" y="1389008"/>
            <a:ext cx="2386342" cy="1789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 descr="24392_P0_2006471448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5466" y="1197750"/>
            <a:ext cx="2193895" cy="164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" descr="NTXGAL_2134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07" y="3492645"/>
            <a:ext cx="4056782" cy="2927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8" descr="NTXGAL_2134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920" y="3030834"/>
            <a:ext cx="3490988" cy="306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Flyback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Discontinuous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793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Forward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0" y="0"/>
            <a:ext cx="2479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503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Flyback principle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054" y="1714761"/>
            <a:ext cx="3600450" cy="272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936692" y="5170748"/>
            <a:ext cx="49205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24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Easiness, low power, few components</a:t>
            </a:r>
          </a:p>
        </p:txBody>
      </p:sp>
      <p:sp>
        <p:nvSpPr>
          <p:cNvPr id="13" name="ZoneTexte 1"/>
          <p:cNvSpPr txBox="1">
            <a:spLocks noChangeArrowheads="1"/>
          </p:cNvSpPr>
          <p:nvPr/>
        </p:nvSpPr>
        <p:spPr bwMode="auto">
          <a:xfrm>
            <a:off x="8583179" y="3480061"/>
            <a:ext cx="1727200" cy="646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>
                <a:latin typeface="Times New Roman" panose="02020603050405020304" pitchFamily="18" charset="0"/>
              </a:rPr>
              <a:t>Full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>
                <a:latin typeface="Times New Roman" panose="02020603050405020304" pitchFamily="18" charset="0"/>
              </a:rPr>
              <a:t>demagnetization</a:t>
            </a:r>
          </a:p>
        </p:txBody>
      </p:sp>
      <p:sp>
        <p:nvSpPr>
          <p:cNvPr id="14" name="ZoneTexte 11"/>
          <p:cNvSpPr txBox="1">
            <a:spLocks noChangeArrowheads="1"/>
          </p:cNvSpPr>
          <p:nvPr/>
        </p:nvSpPr>
        <p:spPr bwMode="auto">
          <a:xfrm>
            <a:off x="9599179" y="2130686"/>
            <a:ext cx="1728788" cy="647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>
                <a:latin typeface="Times New Roman" panose="02020603050405020304" pitchFamily="18" charset="0"/>
              </a:rPr>
              <a:t>Partial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>
                <a:latin typeface="Times New Roman" panose="02020603050405020304" pitchFamily="18" charset="0"/>
              </a:rPr>
              <a:t>demagnetization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rgbClr val="FF0000"/>
                </a:solidFill>
              </a:rPr>
              <a:t>Principle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793032" y="5767263"/>
            <a:ext cx="73260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2400" b="1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Limited for high power due to energy storage limitations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94136BF-0597-7BE3-E642-D8F48CA59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393" y="1581533"/>
            <a:ext cx="4574344" cy="285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9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Forward principle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931" y="1509288"/>
            <a:ext cx="3455988" cy="291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355373" y="5182286"/>
            <a:ext cx="65485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24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Magnetic component optimized, more components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rgbClr val="FF0000"/>
                </a:solidFill>
              </a:rPr>
              <a:t>Principle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2" name="Image 271">
            <a:extLst>
              <a:ext uri="{FF2B5EF4-FFF2-40B4-BE49-F238E27FC236}">
                <a16:creationId xmlns:a16="http://schemas.microsoft.com/office/drawing/2014/main" id="{C66D7A75-85CA-34CA-283D-A678BC284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802" y="1825272"/>
            <a:ext cx="5528347" cy="253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Hopkinson’s law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Line 215"/>
          <p:cNvSpPr>
            <a:spLocks noChangeShapeType="1"/>
          </p:cNvSpPr>
          <p:nvPr/>
        </p:nvSpPr>
        <p:spPr bwMode="auto">
          <a:xfrm>
            <a:off x="5642440" y="2116728"/>
            <a:ext cx="0" cy="3143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1" name="Line 216"/>
          <p:cNvSpPr>
            <a:spLocks noChangeShapeType="1"/>
          </p:cNvSpPr>
          <p:nvPr/>
        </p:nvSpPr>
        <p:spPr bwMode="auto">
          <a:xfrm flipV="1">
            <a:off x="6386977" y="3499440"/>
            <a:ext cx="0" cy="219075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70" name="Line 265"/>
          <p:cNvSpPr>
            <a:spLocks noChangeShapeType="1"/>
          </p:cNvSpPr>
          <p:nvPr/>
        </p:nvSpPr>
        <p:spPr bwMode="auto">
          <a:xfrm flipV="1">
            <a:off x="7341065" y="2024653"/>
            <a:ext cx="371475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72" name="Text Box 267"/>
          <p:cNvSpPr txBox="1">
            <a:spLocks noChangeArrowheads="1"/>
          </p:cNvSpPr>
          <p:nvPr/>
        </p:nvSpPr>
        <p:spPr bwMode="auto">
          <a:xfrm>
            <a:off x="5263027" y="2056403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20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3" name="Text Box 268"/>
          <p:cNvSpPr txBox="1">
            <a:spLocks noChangeArrowheads="1"/>
          </p:cNvSpPr>
          <p:nvPr/>
        </p:nvSpPr>
        <p:spPr bwMode="auto">
          <a:xfrm>
            <a:off x="6493340" y="3391490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>
                <a:solidFill>
                  <a:srgbClr val="0033CC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2000" b="1" baseline="-25000">
                <a:solidFill>
                  <a:srgbClr val="0033CC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4" name="Text Box 269"/>
          <p:cNvSpPr txBox="1">
            <a:spLocks noChangeArrowheads="1"/>
          </p:cNvSpPr>
          <p:nvPr/>
        </p:nvSpPr>
        <p:spPr bwMode="auto">
          <a:xfrm>
            <a:off x="7523627" y="1469028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2000" b="1" baseline="-25000">
                <a:solidFill>
                  <a:srgbClr val="009900"/>
                </a:solidFill>
                <a:latin typeface="Times New Roman" panose="02020603050405020304" pitchFamily="18" charset="0"/>
              </a:rPr>
              <a:t>2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439E6EB0-20B2-4A39-8CA2-7BB49AF284E5}"/>
              </a:ext>
            </a:extLst>
          </p:cNvPr>
          <p:cNvGrpSpPr/>
          <p:nvPr/>
        </p:nvGrpSpPr>
        <p:grpSpPr>
          <a:xfrm>
            <a:off x="3448515" y="1480140"/>
            <a:ext cx="7334250" cy="3408363"/>
            <a:chOff x="3448515" y="1480140"/>
            <a:chExt cx="7334250" cy="3408363"/>
          </a:xfrm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5509090" y="2400890"/>
              <a:ext cx="282575" cy="1236663"/>
              <a:chOff x="2179" y="1204"/>
              <a:chExt cx="178" cy="779"/>
            </a:xfrm>
          </p:grpSpPr>
          <p:grpSp>
            <p:nvGrpSpPr>
              <p:cNvPr id="11" name="Group 6"/>
              <p:cNvGrpSpPr>
                <a:grpSpLocks/>
              </p:cNvGrpSpPr>
              <p:nvPr/>
            </p:nvGrpSpPr>
            <p:grpSpPr bwMode="auto">
              <a:xfrm>
                <a:off x="2179" y="1753"/>
                <a:ext cx="178" cy="95"/>
                <a:chOff x="2179" y="1753"/>
                <a:chExt cx="178" cy="95"/>
              </a:xfrm>
            </p:grpSpPr>
            <p:grpSp>
              <p:nvGrpSpPr>
                <p:cNvPr id="51" name="Group 7"/>
                <p:cNvGrpSpPr>
                  <a:grpSpLocks/>
                </p:cNvGrpSpPr>
                <p:nvPr/>
              </p:nvGrpSpPr>
              <p:grpSpPr bwMode="auto">
                <a:xfrm>
                  <a:off x="2179" y="1753"/>
                  <a:ext cx="178" cy="77"/>
                  <a:chOff x="2179" y="1753"/>
                  <a:chExt cx="178" cy="77"/>
                </a:xfrm>
              </p:grpSpPr>
              <p:sp>
                <p:nvSpPr>
                  <p:cNvPr id="55" name="Arc 8"/>
                  <p:cNvSpPr>
                    <a:spLocks/>
                  </p:cNvSpPr>
                  <p:nvPr/>
                </p:nvSpPr>
                <p:spPr bwMode="auto">
                  <a:xfrm>
                    <a:off x="2268" y="175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56" name="Arc 9"/>
                  <p:cNvSpPr>
                    <a:spLocks/>
                  </p:cNvSpPr>
                  <p:nvPr/>
                </p:nvSpPr>
                <p:spPr bwMode="auto">
                  <a:xfrm>
                    <a:off x="2179" y="1800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52" name="Group 10"/>
                <p:cNvGrpSpPr>
                  <a:grpSpLocks/>
                </p:cNvGrpSpPr>
                <p:nvPr/>
              </p:nvGrpSpPr>
              <p:grpSpPr bwMode="auto">
                <a:xfrm>
                  <a:off x="2179" y="1771"/>
                  <a:ext cx="178" cy="77"/>
                  <a:chOff x="2179" y="1771"/>
                  <a:chExt cx="178" cy="77"/>
                </a:xfrm>
              </p:grpSpPr>
              <p:sp>
                <p:nvSpPr>
                  <p:cNvPr id="53" name="Arc 11"/>
                  <p:cNvSpPr>
                    <a:spLocks/>
                  </p:cNvSpPr>
                  <p:nvPr/>
                </p:nvSpPr>
                <p:spPr bwMode="auto">
                  <a:xfrm>
                    <a:off x="2268" y="177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54" name="Arc 12"/>
                  <p:cNvSpPr>
                    <a:spLocks/>
                  </p:cNvSpPr>
                  <p:nvPr/>
                </p:nvSpPr>
                <p:spPr bwMode="auto">
                  <a:xfrm>
                    <a:off x="2179" y="1771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2" name="Group 13"/>
              <p:cNvGrpSpPr>
                <a:grpSpLocks/>
              </p:cNvGrpSpPr>
              <p:nvPr/>
            </p:nvGrpSpPr>
            <p:grpSpPr bwMode="auto">
              <a:xfrm>
                <a:off x="2179" y="1670"/>
                <a:ext cx="178" cy="95"/>
                <a:chOff x="2179" y="1670"/>
                <a:chExt cx="178" cy="95"/>
              </a:xfrm>
            </p:grpSpPr>
            <p:grpSp>
              <p:nvGrpSpPr>
                <p:cNvPr id="45" name="Group 14"/>
                <p:cNvGrpSpPr>
                  <a:grpSpLocks/>
                </p:cNvGrpSpPr>
                <p:nvPr/>
              </p:nvGrpSpPr>
              <p:grpSpPr bwMode="auto">
                <a:xfrm>
                  <a:off x="2179" y="1670"/>
                  <a:ext cx="178" cy="78"/>
                  <a:chOff x="2179" y="1670"/>
                  <a:chExt cx="178" cy="78"/>
                </a:xfrm>
              </p:grpSpPr>
              <p:sp>
                <p:nvSpPr>
                  <p:cNvPr id="49" name="Arc 15"/>
                  <p:cNvSpPr>
                    <a:spLocks/>
                  </p:cNvSpPr>
                  <p:nvPr/>
                </p:nvSpPr>
                <p:spPr bwMode="auto">
                  <a:xfrm>
                    <a:off x="2268" y="167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50" name="Arc 16"/>
                  <p:cNvSpPr>
                    <a:spLocks/>
                  </p:cNvSpPr>
                  <p:nvPr/>
                </p:nvSpPr>
                <p:spPr bwMode="auto">
                  <a:xfrm>
                    <a:off x="2179" y="1718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46" name="Group 17"/>
                <p:cNvGrpSpPr>
                  <a:grpSpLocks/>
                </p:cNvGrpSpPr>
                <p:nvPr/>
              </p:nvGrpSpPr>
              <p:grpSpPr bwMode="auto">
                <a:xfrm>
                  <a:off x="2179" y="1688"/>
                  <a:ext cx="178" cy="77"/>
                  <a:chOff x="2179" y="1688"/>
                  <a:chExt cx="178" cy="77"/>
                </a:xfrm>
              </p:grpSpPr>
              <p:sp>
                <p:nvSpPr>
                  <p:cNvPr id="47" name="Arc 18"/>
                  <p:cNvSpPr>
                    <a:spLocks/>
                  </p:cNvSpPr>
                  <p:nvPr/>
                </p:nvSpPr>
                <p:spPr bwMode="auto">
                  <a:xfrm>
                    <a:off x="2268" y="168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8" name="Arc 19"/>
                  <p:cNvSpPr>
                    <a:spLocks/>
                  </p:cNvSpPr>
                  <p:nvPr/>
                </p:nvSpPr>
                <p:spPr bwMode="auto">
                  <a:xfrm>
                    <a:off x="2179" y="1688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</a:path>
                      <a:path w="21600" h="21600" stroke="0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  <a:lnTo>
                          <a:pt x="21600" y="21600"/>
                        </a:lnTo>
                        <a:lnTo>
                          <a:pt x="0" y="2155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" name="Group 20"/>
              <p:cNvGrpSpPr>
                <a:grpSpLocks/>
              </p:cNvGrpSpPr>
              <p:nvPr/>
            </p:nvGrpSpPr>
            <p:grpSpPr bwMode="auto">
              <a:xfrm>
                <a:off x="2179" y="1588"/>
                <a:ext cx="178" cy="95"/>
                <a:chOff x="2179" y="1588"/>
                <a:chExt cx="178" cy="95"/>
              </a:xfrm>
            </p:grpSpPr>
            <p:grpSp>
              <p:nvGrpSpPr>
                <p:cNvPr id="39" name="Group 21"/>
                <p:cNvGrpSpPr>
                  <a:grpSpLocks/>
                </p:cNvGrpSpPr>
                <p:nvPr/>
              </p:nvGrpSpPr>
              <p:grpSpPr bwMode="auto">
                <a:xfrm>
                  <a:off x="2179" y="1588"/>
                  <a:ext cx="178" cy="77"/>
                  <a:chOff x="2179" y="1588"/>
                  <a:chExt cx="178" cy="77"/>
                </a:xfrm>
              </p:grpSpPr>
              <p:sp>
                <p:nvSpPr>
                  <p:cNvPr id="43" name="Arc 22"/>
                  <p:cNvSpPr>
                    <a:spLocks/>
                  </p:cNvSpPr>
                  <p:nvPr/>
                </p:nvSpPr>
                <p:spPr bwMode="auto">
                  <a:xfrm>
                    <a:off x="2268" y="1588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4" name="Arc 23"/>
                  <p:cNvSpPr>
                    <a:spLocks/>
                  </p:cNvSpPr>
                  <p:nvPr/>
                </p:nvSpPr>
                <p:spPr bwMode="auto">
                  <a:xfrm>
                    <a:off x="2179" y="1635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40" name="Group 24"/>
                <p:cNvGrpSpPr>
                  <a:grpSpLocks/>
                </p:cNvGrpSpPr>
                <p:nvPr/>
              </p:nvGrpSpPr>
              <p:grpSpPr bwMode="auto">
                <a:xfrm>
                  <a:off x="2179" y="1606"/>
                  <a:ext cx="178" cy="77"/>
                  <a:chOff x="2179" y="1606"/>
                  <a:chExt cx="178" cy="77"/>
                </a:xfrm>
              </p:grpSpPr>
              <p:sp>
                <p:nvSpPr>
                  <p:cNvPr id="41" name="Arc 25"/>
                  <p:cNvSpPr>
                    <a:spLocks/>
                  </p:cNvSpPr>
                  <p:nvPr/>
                </p:nvSpPr>
                <p:spPr bwMode="auto">
                  <a:xfrm>
                    <a:off x="2268" y="1606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2" name="Arc 26"/>
                  <p:cNvSpPr>
                    <a:spLocks/>
                  </p:cNvSpPr>
                  <p:nvPr/>
                </p:nvSpPr>
                <p:spPr bwMode="auto">
                  <a:xfrm>
                    <a:off x="2179" y="1606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4" name="Group 27"/>
              <p:cNvGrpSpPr>
                <a:grpSpLocks/>
              </p:cNvGrpSpPr>
              <p:nvPr/>
            </p:nvGrpSpPr>
            <p:grpSpPr bwMode="auto">
              <a:xfrm>
                <a:off x="2179" y="1505"/>
                <a:ext cx="178" cy="95"/>
                <a:chOff x="2179" y="1505"/>
                <a:chExt cx="178" cy="95"/>
              </a:xfrm>
            </p:grpSpPr>
            <p:grpSp>
              <p:nvGrpSpPr>
                <p:cNvPr id="33" name="Group 28"/>
                <p:cNvGrpSpPr>
                  <a:grpSpLocks/>
                </p:cNvGrpSpPr>
                <p:nvPr/>
              </p:nvGrpSpPr>
              <p:grpSpPr bwMode="auto">
                <a:xfrm>
                  <a:off x="2179" y="1505"/>
                  <a:ext cx="178" cy="78"/>
                  <a:chOff x="2179" y="1505"/>
                  <a:chExt cx="178" cy="78"/>
                </a:xfrm>
              </p:grpSpPr>
              <p:sp>
                <p:nvSpPr>
                  <p:cNvPr id="37" name="Arc 29"/>
                  <p:cNvSpPr>
                    <a:spLocks/>
                  </p:cNvSpPr>
                  <p:nvPr/>
                </p:nvSpPr>
                <p:spPr bwMode="auto">
                  <a:xfrm>
                    <a:off x="2268" y="1505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38" name="Arc 30"/>
                  <p:cNvSpPr>
                    <a:spLocks/>
                  </p:cNvSpPr>
                  <p:nvPr/>
                </p:nvSpPr>
                <p:spPr bwMode="auto">
                  <a:xfrm>
                    <a:off x="2179" y="1553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34" name="Group 31"/>
                <p:cNvGrpSpPr>
                  <a:grpSpLocks/>
                </p:cNvGrpSpPr>
                <p:nvPr/>
              </p:nvGrpSpPr>
              <p:grpSpPr bwMode="auto">
                <a:xfrm>
                  <a:off x="2180" y="1523"/>
                  <a:ext cx="177" cy="77"/>
                  <a:chOff x="2180" y="1523"/>
                  <a:chExt cx="177" cy="77"/>
                </a:xfrm>
              </p:grpSpPr>
              <p:sp>
                <p:nvSpPr>
                  <p:cNvPr id="35" name="Arc 32"/>
                  <p:cNvSpPr>
                    <a:spLocks/>
                  </p:cNvSpPr>
                  <p:nvPr/>
                </p:nvSpPr>
                <p:spPr bwMode="auto">
                  <a:xfrm>
                    <a:off x="2268" y="1523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36" name="Arc 33"/>
                  <p:cNvSpPr>
                    <a:spLocks/>
                  </p:cNvSpPr>
                  <p:nvPr/>
                </p:nvSpPr>
                <p:spPr bwMode="auto">
                  <a:xfrm>
                    <a:off x="2180" y="1523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-1" y="21268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5" name="Group 34"/>
              <p:cNvGrpSpPr>
                <a:grpSpLocks/>
              </p:cNvGrpSpPr>
              <p:nvPr/>
            </p:nvGrpSpPr>
            <p:grpSpPr bwMode="auto">
              <a:xfrm>
                <a:off x="2179" y="1423"/>
                <a:ext cx="178" cy="95"/>
                <a:chOff x="2179" y="1423"/>
                <a:chExt cx="178" cy="95"/>
              </a:xfrm>
            </p:grpSpPr>
            <p:grpSp>
              <p:nvGrpSpPr>
                <p:cNvPr id="27" name="Group 35"/>
                <p:cNvGrpSpPr>
                  <a:grpSpLocks/>
                </p:cNvGrpSpPr>
                <p:nvPr/>
              </p:nvGrpSpPr>
              <p:grpSpPr bwMode="auto">
                <a:xfrm>
                  <a:off x="2179" y="1423"/>
                  <a:ext cx="178" cy="77"/>
                  <a:chOff x="2179" y="1423"/>
                  <a:chExt cx="178" cy="77"/>
                </a:xfrm>
              </p:grpSpPr>
              <p:sp>
                <p:nvSpPr>
                  <p:cNvPr id="31" name="Arc 36"/>
                  <p:cNvSpPr>
                    <a:spLocks/>
                  </p:cNvSpPr>
                  <p:nvPr/>
                </p:nvSpPr>
                <p:spPr bwMode="auto">
                  <a:xfrm>
                    <a:off x="2268" y="142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32" name="Arc 37"/>
                  <p:cNvSpPr>
                    <a:spLocks/>
                  </p:cNvSpPr>
                  <p:nvPr/>
                </p:nvSpPr>
                <p:spPr bwMode="auto">
                  <a:xfrm>
                    <a:off x="2179" y="1464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</a:path>
                      <a:path w="21600" h="21600" stroke="0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  <a:lnTo>
                          <a:pt x="21600" y="0"/>
                        </a:lnTo>
                        <a:lnTo>
                          <a:pt x="21506" y="2159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8" name="Group 38"/>
                <p:cNvGrpSpPr>
                  <a:grpSpLocks/>
                </p:cNvGrpSpPr>
                <p:nvPr/>
              </p:nvGrpSpPr>
              <p:grpSpPr bwMode="auto">
                <a:xfrm>
                  <a:off x="2180" y="1441"/>
                  <a:ext cx="177" cy="77"/>
                  <a:chOff x="2180" y="1441"/>
                  <a:chExt cx="177" cy="77"/>
                </a:xfrm>
              </p:grpSpPr>
              <p:sp>
                <p:nvSpPr>
                  <p:cNvPr id="29" name="Arc 39"/>
                  <p:cNvSpPr>
                    <a:spLocks/>
                  </p:cNvSpPr>
                  <p:nvPr/>
                </p:nvSpPr>
                <p:spPr bwMode="auto">
                  <a:xfrm>
                    <a:off x="2268" y="144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30" name="Arc 40"/>
                  <p:cNvSpPr>
                    <a:spLocks/>
                  </p:cNvSpPr>
                  <p:nvPr/>
                </p:nvSpPr>
                <p:spPr bwMode="auto">
                  <a:xfrm>
                    <a:off x="2180" y="1441"/>
                    <a:ext cx="88" cy="29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</a:path>
                      <a:path w="21597" h="21600" stroke="0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  <a:lnTo>
                          <a:pt x="21597" y="21600"/>
                        </a:lnTo>
                        <a:lnTo>
                          <a:pt x="-1" y="21262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6" name="Group 41"/>
              <p:cNvGrpSpPr>
                <a:grpSpLocks/>
              </p:cNvGrpSpPr>
              <p:nvPr/>
            </p:nvGrpSpPr>
            <p:grpSpPr bwMode="auto">
              <a:xfrm>
                <a:off x="2179" y="1340"/>
                <a:ext cx="178" cy="95"/>
                <a:chOff x="2179" y="1340"/>
                <a:chExt cx="178" cy="95"/>
              </a:xfrm>
            </p:grpSpPr>
            <p:grpSp>
              <p:nvGrpSpPr>
                <p:cNvPr id="21" name="Group 42"/>
                <p:cNvGrpSpPr>
                  <a:grpSpLocks/>
                </p:cNvGrpSpPr>
                <p:nvPr/>
              </p:nvGrpSpPr>
              <p:grpSpPr bwMode="auto">
                <a:xfrm>
                  <a:off x="2179" y="1340"/>
                  <a:ext cx="178" cy="78"/>
                  <a:chOff x="2179" y="1340"/>
                  <a:chExt cx="178" cy="78"/>
                </a:xfrm>
              </p:grpSpPr>
              <p:sp>
                <p:nvSpPr>
                  <p:cNvPr id="25" name="Arc 43"/>
                  <p:cNvSpPr>
                    <a:spLocks/>
                  </p:cNvSpPr>
                  <p:nvPr/>
                </p:nvSpPr>
                <p:spPr bwMode="auto">
                  <a:xfrm>
                    <a:off x="2268" y="134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" name="Arc 44"/>
                  <p:cNvSpPr>
                    <a:spLocks/>
                  </p:cNvSpPr>
                  <p:nvPr/>
                </p:nvSpPr>
                <p:spPr bwMode="auto">
                  <a:xfrm>
                    <a:off x="2179" y="1382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46"/>
                      <a:gd name="T2" fmla="*/ 0 w 21600"/>
                      <a:gd name="T3" fmla="*/ 0 h 21646"/>
                      <a:gd name="T4" fmla="*/ 0 w 21600"/>
                      <a:gd name="T5" fmla="*/ 0 h 2164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6" fill="none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</a:path>
                      <a:path w="21600" h="21646" stroke="0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  <a:lnTo>
                          <a:pt x="21600" y="46"/>
                        </a:lnTo>
                        <a:lnTo>
                          <a:pt x="21504" y="21645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2" name="Group 45"/>
                <p:cNvGrpSpPr>
                  <a:grpSpLocks/>
                </p:cNvGrpSpPr>
                <p:nvPr/>
              </p:nvGrpSpPr>
              <p:grpSpPr bwMode="auto">
                <a:xfrm>
                  <a:off x="2180" y="1358"/>
                  <a:ext cx="177" cy="77"/>
                  <a:chOff x="2180" y="1358"/>
                  <a:chExt cx="177" cy="77"/>
                </a:xfrm>
              </p:grpSpPr>
              <p:sp>
                <p:nvSpPr>
                  <p:cNvPr id="23" name="Arc 46"/>
                  <p:cNvSpPr>
                    <a:spLocks/>
                  </p:cNvSpPr>
                  <p:nvPr/>
                </p:nvSpPr>
                <p:spPr bwMode="auto">
                  <a:xfrm>
                    <a:off x="2268" y="135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4" name="Arc 47"/>
                  <p:cNvSpPr>
                    <a:spLocks/>
                  </p:cNvSpPr>
                  <p:nvPr/>
                </p:nvSpPr>
                <p:spPr bwMode="auto">
                  <a:xfrm>
                    <a:off x="2180" y="1358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0" y="212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7" name="Arc 48"/>
              <p:cNvSpPr>
                <a:spLocks/>
              </p:cNvSpPr>
              <p:nvPr/>
            </p:nvSpPr>
            <p:spPr bwMode="auto">
              <a:xfrm>
                <a:off x="2268" y="1275"/>
                <a:ext cx="89" cy="77"/>
              </a:xfrm>
              <a:custGeom>
                <a:avLst/>
                <a:gdLst>
                  <a:gd name="T0" fmla="*/ 0 w 21707"/>
                  <a:gd name="T1" fmla="*/ 0 h 21600"/>
                  <a:gd name="T2" fmla="*/ 0 w 21707"/>
                  <a:gd name="T3" fmla="*/ 0 h 21600"/>
                  <a:gd name="T4" fmla="*/ 0 w 2170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07" h="21600" fill="none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</a:path>
                  <a:path w="21707" h="21600" stroke="0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  <a:lnTo>
                      <a:pt x="107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" name="Arc 49"/>
              <p:cNvSpPr>
                <a:spLocks/>
              </p:cNvSpPr>
              <p:nvPr/>
            </p:nvSpPr>
            <p:spPr bwMode="auto">
              <a:xfrm>
                <a:off x="2268" y="1847"/>
                <a:ext cx="89" cy="77"/>
              </a:xfrm>
              <a:custGeom>
                <a:avLst/>
                <a:gdLst>
                  <a:gd name="T0" fmla="*/ 0 w 21710"/>
                  <a:gd name="T1" fmla="*/ 0 h 21750"/>
                  <a:gd name="T2" fmla="*/ 0 w 21710"/>
                  <a:gd name="T3" fmla="*/ 0 h 21750"/>
                  <a:gd name="T4" fmla="*/ 0 w 21710"/>
                  <a:gd name="T5" fmla="*/ 0 h 217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10" h="21750" fill="none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</a:path>
                  <a:path w="21710" h="21750" stroke="0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  <a:lnTo>
                      <a:pt x="110" y="150"/>
                    </a:lnTo>
                    <a:lnTo>
                      <a:pt x="21709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" name="Line 50"/>
              <p:cNvSpPr>
                <a:spLocks noChangeShapeType="1"/>
              </p:cNvSpPr>
              <p:nvPr/>
            </p:nvSpPr>
            <p:spPr bwMode="auto">
              <a:xfrm flipV="1">
                <a:off x="2262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" name="Line 51"/>
              <p:cNvSpPr>
                <a:spLocks noChangeShapeType="1"/>
              </p:cNvSpPr>
              <p:nvPr/>
            </p:nvSpPr>
            <p:spPr bwMode="auto">
              <a:xfrm flipV="1">
                <a:off x="2262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57" name="Line 52"/>
            <p:cNvSpPr>
              <a:spLocks noChangeShapeType="1"/>
            </p:cNvSpPr>
            <p:nvPr/>
          </p:nvSpPr>
          <p:spPr bwMode="auto">
            <a:xfrm flipV="1">
              <a:off x="7121990" y="2023065"/>
              <a:ext cx="1587" cy="1492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58" name="Group 53"/>
            <p:cNvGrpSpPr>
              <a:grpSpLocks/>
            </p:cNvGrpSpPr>
            <p:nvPr/>
          </p:nvGrpSpPr>
          <p:grpSpPr bwMode="auto">
            <a:xfrm>
              <a:off x="6990227" y="2134190"/>
              <a:ext cx="263525" cy="1236663"/>
              <a:chOff x="3112" y="1204"/>
              <a:chExt cx="166" cy="779"/>
            </a:xfrm>
          </p:grpSpPr>
          <p:grpSp>
            <p:nvGrpSpPr>
              <p:cNvPr id="59" name="Group 54"/>
              <p:cNvGrpSpPr>
                <a:grpSpLocks/>
              </p:cNvGrpSpPr>
              <p:nvPr/>
            </p:nvGrpSpPr>
            <p:grpSpPr bwMode="auto">
              <a:xfrm>
                <a:off x="3112" y="1753"/>
                <a:ext cx="166" cy="95"/>
                <a:chOff x="3112" y="1753"/>
                <a:chExt cx="166" cy="95"/>
              </a:xfrm>
            </p:grpSpPr>
            <p:grpSp>
              <p:nvGrpSpPr>
                <p:cNvPr id="99" name="Group 55"/>
                <p:cNvGrpSpPr>
                  <a:grpSpLocks/>
                </p:cNvGrpSpPr>
                <p:nvPr/>
              </p:nvGrpSpPr>
              <p:grpSpPr bwMode="auto">
                <a:xfrm>
                  <a:off x="3112" y="1753"/>
                  <a:ext cx="166" cy="77"/>
                  <a:chOff x="3112" y="1753"/>
                  <a:chExt cx="166" cy="77"/>
                </a:xfrm>
              </p:grpSpPr>
              <p:sp>
                <p:nvSpPr>
                  <p:cNvPr id="103" name="Arc 56"/>
                  <p:cNvSpPr>
                    <a:spLocks/>
                  </p:cNvSpPr>
                  <p:nvPr/>
                </p:nvSpPr>
                <p:spPr bwMode="auto">
                  <a:xfrm>
                    <a:off x="3112" y="1753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20"/>
                      <a:gd name="T2" fmla="*/ 0 w 21600"/>
                      <a:gd name="T3" fmla="*/ 0 h 21720"/>
                      <a:gd name="T4" fmla="*/ 0 w 21600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20" fill="none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</a:path>
                      <a:path w="21600" h="21720" stroke="0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  <a:lnTo>
                          <a:pt x="21600" y="120"/>
                        </a:lnTo>
                        <a:lnTo>
                          <a:pt x="21600" y="2172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" name="Arc 57"/>
                  <p:cNvSpPr>
                    <a:spLocks/>
                  </p:cNvSpPr>
                  <p:nvPr/>
                </p:nvSpPr>
                <p:spPr bwMode="auto">
                  <a:xfrm>
                    <a:off x="3195" y="1800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6"/>
                      <a:gd name="T2" fmla="*/ 0 w 21600"/>
                      <a:gd name="T3" fmla="*/ 0 h 21916"/>
                      <a:gd name="T4" fmla="*/ 0 w 21600"/>
                      <a:gd name="T5" fmla="*/ 0 h 219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6" fill="none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</a:path>
                      <a:path w="21600" h="21916" stroke="0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  <a:lnTo>
                          <a:pt x="0" y="316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00" name="Group 58"/>
                <p:cNvGrpSpPr>
                  <a:grpSpLocks/>
                </p:cNvGrpSpPr>
                <p:nvPr/>
              </p:nvGrpSpPr>
              <p:grpSpPr bwMode="auto">
                <a:xfrm>
                  <a:off x="3112" y="1771"/>
                  <a:ext cx="166" cy="77"/>
                  <a:chOff x="3112" y="1771"/>
                  <a:chExt cx="166" cy="77"/>
                </a:xfrm>
              </p:grpSpPr>
              <p:sp>
                <p:nvSpPr>
                  <p:cNvPr id="101" name="Arc 59"/>
                  <p:cNvSpPr>
                    <a:spLocks/>
                  </p:cNvSpPr>
                  <p:nvPr/>
                </p:nvSpPr>
                <p:spPr bwMode="auto">
                  <a:xfrm>
                    <a:off x="3112" y="177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6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" name="Arc 60"/>
                  <p:cNvSpPr>
                    <a:spLocks/>
                  </p:cNvSpPr>
                  <p:nvPr/>
                </p:nvSpPr>
                <p:spPr bwMode="auto">
                  <a:xfrm>
                    <a:off x="3195" y="1771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60" name="Group 61"/>
              <p:cNvGrpSpPr>
                <a:grpSpLocks/>
              </p:cNvGrpSpPr>
              <p:nvPr/>
            </p:nvGrpSpPr>
            <p:grpSpPr bwMode="auto">
              <a:xfrm>
                <a:off x="3112" y="1671"/>
                <a:ext cx="166" cy="94"/>
                <a:chOff x="3112" y="1671"/>
                <a:chExt cx="166" cy="94"/>
              </a:xfrm>
            </p:grpSpPr>
            <p:grpSp>
              <p:nvGrpSpPr>
                <p:cNvPr id="93" name="Group 62"/>
                <p:cNvGrpSpPr>
                  <a:grpSpLocks/>
                </p:cNvGrpSpPr>
                <p:nvPr/>
              </p:nvGrpSpPr>
              <p:grpSpPr bwMode="auto">
                <a:xfrm>
                  <a:off x="3112" y="1671"/>
                  <a:ext cx="166" cy="77"/>
                  <a:chOff x="3112" y="1671"/>
                  <a:chExt cx="166" cy="77"/>
                </a:xfrm>
              </p:grpSpPr>
              <p:sp>
                <p:nvSpPr>
                  <p:cNvPr id="97" name="Arc 63"/>
                  <p:cNvSpPr>
                    <a:spLocks/>
                  </p:cNvSpPr>
                  <p:nvPr/>
                </p:nvSpPr>
                <p:spPr bwMode="auto">
                  <a:xfrm>
                    <a:off x="3112" y="167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39"/>
                      <a:gd name="T2" fmla="*/ 0 w 21600"/>
                      <a:gd name="T3" fmla="*/ 0 h 21739"/>
                      <a:gd name="T4" fmla="*/ 0 w 21600"/>
                      <a:gd name="T5" fmla="*/ 0 h 2173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39" fill="none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</a:path>
                      <a:path w="21600" h="21739" stroke="0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  <a:lnTo>
                          <a:pt x="21600" y="139"/>
                        </a:lnTo>
                        <a:lnTo>
                          <a:pt x="21600" y="217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8" name="Arc 64"/>
                  <p:cNvSpPr>
                    <a:spLocks/>
                  </p:cNvSpPr>
                  <p:nvPr/>
                </p:nvSpPr>
                <p:spPr bwMode="auto">
                  <a:xfrm>
                    <a:off x="3195" y="1718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</a:path>
                      <a:path w="21600" h="21910" stroke="0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  <a:lnTo>
                          <a:pt x="0" y="310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94" name="Group 65"/>
                <p:cNvGrpSpPr>
                  <a:grpSpLocks/>
                </p:cNvGrpSpPr>
                <p:nvPr/>
              </p:nvGrpSpPr>
              <p:grpSpPr bwMode="auto">
                <a:xfrm>
                  <a:off x="3112" y="1688"/>
                  <a:ext cx="166" cy="77"/>
                  <a:chOff x="3112" y="1688"/>
                  <a:chExt cx="166" cy="77"/>
                </a:xfrm>
              </p:grpSpPr>
              <p:sp>
                <p:nvSpPr>
                  <p:cNvPr id="95" name="Arc 66"/>
                  <p:cNvSpPr>
                    <a:spLocks/>
                  </p:cNvSpPr>
                  <p:nvPr/>
                </p:nvSpPr>
                <p:spPr bwMode="auto">
                  <a:xfrm>
                    <a:off x="3112" y="1688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8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6" name="Arc 67"/>
                  <p:cNvSpPr>
                    <a:spLocks/>
                  </p:cNvSpPr>
                  <p:nvPr/>
                </p:nvSpPr>
                <p:spPr bwMode="auto">
                  <a:xfrm>
                    <a:off x="3195" y="1688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12" y="0"/>
                          <a:pt x="21576" y="9644"/>
                          <a:pt x="21599" y="21557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12" y="0"/>
                          <a:pt x="21576" y="9644"/>
                          <a:pt x="21599" y="21557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61" name="Group 68"/>
              <p:cNvGrpSpPr>
                <a:grpSpLocks/>
              </p:cNvGrpSpPr>
              <p:nvPr/>
            </p:nvGrpSpPr>
            <p:grpSpPr bwMode="auto">
              <a:xfrm>
                <a:off x="3112" y="1588"/>
                <a:ext cx="166" cy="95"/>
                <a:chOff x="3112" y="1588"/>
                <a:chExt cx="166" cy="95"/>
              </a:xfrm>
            </p:grpSpPr>
            <p:grpSp>
              <p:nvGrpSpPr>
                <p:cNvPr id="87" name="Group 69"/>
                <p:cNvGrpSpPr>
                  <a:grpSpLocks/>
                </p:cNvGrpSpPr>
                <p:nvPr/>
              </p:nvGrpSpPr>
              <p:grpSpPr bwMode="auto">
                <a:xfrm>
                  <a:off x="3112" y="1588"/>
                  <a:ext cx="166" cy="77"/>
                  <a:chOff x="3112" y="1588"/>
                  <a:chExt cx="166" cy="77"/>
                </a:xfrm>
              </p:grpSpPr>
              <p:sp>
                <p:nvSpPr>
                  <p:cNvPr id="91" name="Arc 70"/>
                  <p:cNvSpPr>
                    <a:spLocks/>
                  </p:cNvSpPr>
                  <p:nvPr/>
                </p:nvSpPr>
                <p:spPr bwMode="auto">
                  <a:xfrm>
                    <a:off x="3112" y="1588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20"/>
                      <a:gd name="T2" fmla="*/ 0 w 21600"/>
                      <a:gd name="T3" fmla="*/ 0 h 21720"/>
                      <a:gd name="T4" fmla="*/ 0 w 21600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20" fill="none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</a:path>
                      <a:path w="21600" h="21720" stroke="0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  <a:lnTo>
                          <a:pt x="21600" y="120"/>
                        </a:lnTo>
                        <a:lnTo>
                          <a:pt x="21600" y="2172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2" name="Arc 71"/>
                  <p:cNvSpPr>
                    <a:spLocks/>
                  </p:cNvSpPr>
                  <p:nvPr/>
                </p:nvSpPr>
                <p:spPr bwMode="auto">
                  <a:xfrm>
                    <a:off x="3195" y="1635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6"/>
                      <a:gd name="T2" fmla="*/ 0 w 21600"/>
                      <a:gd name="T3" fmla="*/ 0 h 21916"/>
                      <a:gd name="T4" fmla="*/ 0 w 21600"/>
                      <a:gd name="T5" fmla="*/ 0 h 219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6" fill="none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</a:path>
                      <a:path w="21600" h="21916" stroke="0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  <a:lnTo>
                          <a:pt x="0" y="316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88" name="Group 72"/>
                <p:cNvGrpSpPr>
                  <a:grpSpLocks/>
                </p:cNvGrpSpPr>
                <p:nvPr/>
              </p:nvGrpSpPr>
              <p:grpSpPr bwMode="auto">
                <a:xfrm>
                  <a:off x="3112" y="1606"/>
                  <a:ext cx="166" cy="77"/>
                  <a:chOff x="3112" y="1606"/>
                  <a:chExt cx="166" cy="77"/>
                </a:xfrm>
              </p:grpSpPr>
              <p:sp>
                <p:nvSpPr>
                  <p:cNvPr id="89" name="Arc 73"/>
                  <p:cNvSpPr>
                    <a:spLocks/>
                  </p:cNvSpPr>
                  <p:nvPr/>
                </p:nvSpPr>
                <p:spPr bwMode="auto">
                  <a:xfrm>
                    <a:off x="3112" y="1606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6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0" name="Arc 74"/>
                  <p:cNvSpPr>
                    <a:spLocks/>
                  </p:cNvSpPr>
                  <p:nvPr/>
                </p:nvSpPr>
                <p:spPr bwMode="auto">
                  <a:xfrm>
                    <a:off x="3195" y="1606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62" name="Group 75"/>
              <p:cNvGrpSpPr>
                <a:grpSpLocks/>
              </p:cNvGrpSpPr>
              <p:nvPr/>
            </p:nvGrpSpPr>
            <p:grpSpPr bwMode="auto">
              <a:xfrm>
                <a:off x="3112" y="1506"/>
                <a:ext cx="166" cy="94"/>
                <a:chOff x="3112" y="1506"/>
                <a:chExt cx="166" cy="94"/>
              </a:xfrm>
            </p:grpSpPr>
            <p:grpSp>
              <p:nvGrpSpPr>
                <p:cNvPr id="81" name="Group 76"/>
                <p:cNvGrpSpPr>
                  <a:grpSpLocks/>
                </p:cNvGrpSpPr>
                <p:nvPr/>
              </p:nvGrpSpPr>
              <p:grpSpPr bwMode="auto">
                <a:xfrm>
                  <a:off x="3112" y="1506"/>
                  <a:ext cx="166" cy="77"/>
                  <a:chOff x="3112" y="1506"/>
                  <a:chExt cx="166" cy="77"/>
                </a:xfrm>
              </p:grpSpPr>
              <p:sp>
                <p:nvSpPr>
                  <p:cNvPr id="85" name="Arc 77"/>
                  <p:cNvSpPr>
                    <a:spLocks/>
                  </p:cNvSpPr>
                  <p:nvPr/>
                </p:nvSpPr>
                <p:spPr bwMode="auto">
                  <a:xfrm>
                    <a:off x="3112" y="1506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39"/>
                      <a:gd name="T2" fmla="*/ 0 w 21600"/>
                      <a:gd name="T3" fmla="*/ 0 h 21739"/>
                      <a:gd name="T4" fmla="*/ 0 w 21600"/>
                      <a:gd name="T5" fmla="*/ 0 h 2173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39" fill="none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</a:path>
                      <a:path w="21600" h="21739" stroke="0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  <a:lnTo>
                          <a:pt x="21600" y="139"/>
                        </a:lnTo>
                        <a:lnTo>
                          <a:pt x="21600" y="217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86" name="Arc 78"/>
                  <p:cNvSpPr>
                    <a:spLocks/>
                  </p:cNvSpPr>
                  <p:nvPr/>
                </p:nvSpPr>
                <p:spPr bwMode="auto">
                  <a:xfrm>
                    <a:off x="3195" y="1553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</a:path>
                      <a:path w="21600" h="21910" stroke="0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  <a:lnTo>
                          <a:pt x="0" y="310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82" name="Group 79"/>
                <p:cNvGrpSpPr>
                  <a:grpSpLocks/>
                </p:cNvGrpSpPr>
                <p:nvPr/>
              </p:nvGrpSpPr>
              <p:grpSpPr bwMode="auto">
                <a:xfrm>
                  <a:off x="3112" y="1523"/>
                  <a:ext cx="165" cy="77"/>
                  <a:chOff x="3112" y="1523"/>
                  <a:chExt cx="165" cy="77"/>
                </a:xfrm>
              </p:grpSpPr>
              <p:sp>
                <p:nvSpPr>
                  <p:cNvPr id="83" name="Arc 80"/>
                  <p:cNvSpPr>
                    <a:spLocks/>
                  </p:cNvSpPr>
                  <p:nvPr/>
                </p:nvSpPr>
                <p:spPr bwMode="auto">
                  <a:xfrm>
                    <a:off x="3112" y="1523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8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84" name="Arc 81"/>
                  <p:cNvSpPr>
                    <a:spLocks/>
                  </p:cNvSpPr>
                  <p:nvPr/>
                </p:nvSpPr>
                <p:spPr bwMode="auto">
                  <a:xfrm>
                    <a:off x="3195" y="1523"/>
                    <a:ext cx="82" cy="30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-1" y="0"/>
                        </a:moveTo>
                        <a:cubicBezTo>
                          <a:pt x="11808" y="0"/>
                          <a:pt x="21428" y="9482"/>
                          <a:pt x="21597" y="21290"/>
                        </a:cubicBezTo>
                      </a:path>
                      <a:path w="21598" h="21600" stroke="0" extrusionOk="0">
                        <a:moveTo>
                          <a:pt x="-1" y="0"/>
                        </a:moveTo>
                        <a:cubicBezTo>
                          <a:pt x="11808" y="0"/>
                          <a:pt x="21428" y="9482"/>
                          <a:pt x="21597" y="2129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63" name="Group 82"/>
              <p:cNvGrpSpPr>
                <a:grpSpLocks/>
              </p:cNvGrpSpPr>
              <p:nvPr/>
            </p:nvGrpSpPr>
            <p:grpSpPr bwMode="auto">
              <a:xfrm>
                <a:off x="3112" y="1423"/>
                <a:ext cx="166" cy="95"/>
                <a:chOff x="3112" y="1423"/>
                <a:chExt cx="166" cy="95"/>
              </a:xfrm>
            </p:grpSpPr>
            <p:grpSp>
              <p:nvGrpSpPr>
                <p:cNvPr id="75" name="Group 83"/>
                <p:cNvGrpSpPr>
                  <a:grpSpLocks/>
                </p:cNvGrpSpPr>
                <p:nvPr/>
              </p:nvGrpSpPr>
              <p:grpSpPr bwMode="auto">
                <a:xfrm>
                  <a:off x="3112" y="1423"/>
                  <a:ext cx="166" cy="77"/>
                  <a:chOff x="3112" y="1423"/>
                  <a:chExt cx="166" cy="77"/>
                </a:xfrm>
              </p:grpSpPr>
              <p:sp>
                <p:nvSpPr>
                  <p:cNvPr id="79" name="Arc 84"/>
                  <p:cNvSpPr>
                    <a:spLocks/>
                  </p:cNvSpPr>
                  <p:nvPr/>
                </p:nvSpPr>
                <p:spPr bwMode="auto">
                  <a:xfrm>
                    <a:off x="3112" y="1423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20"/>
                      <a:gd name="T2" fmla="*/ 0 w 21600"/>
                      <a:gd name="T3" fmla="*/ 0 h 21720"/>
                      <a:gd name="T4" fmla="*/ 0 w 21600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20" fill="none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</a:path>
                      <a:path w="21600" h="21720" stroke="0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  <a:lnTo>
                          <a:pt x="21600" y="120"/>
                        </a:lnTo>
                        <a:lnTo>
                          <a:pt x="21600" y="2172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80" name="Arc 85"/>
                  <p:cNvSpPr>
                    <a:spLocks/>
                  </p:cNvSpPr>
                  <p:nvPr/>
                </p:nvSpPr>
                <p:spPr bwMode="auto">
                  <a:xfrm>
                    <a:off x="3195" y="1464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600" y="0"/>
                        </a:moveTo>
                        <a:cubicBezTo>
                          <a:pt x="21600" y="11929"/>
                          <a:pt x="11929" y="21599"/>
                          <a:pt x="0" y="21600"/>
                        </a:cubicBezTo>
                      </a:path>
                      <a:path w="21600" h="21600" stroke="0" extrusionOk="0">
                        <a:moveTo>
                          <a:pt x="21600" y="0"/>
                        </a:moveTo>
                        <a:cubicBezTo>
                          <a:pt x="21600" y="11929"/>
                          <a:pt x="11929" y="21599"/>
                          <a:pt x="0" y="21600"/>
                        </a:cubicBezTo>
                        <a:lnTo>
                          <a:pt x="0" y="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76" name="Group 86"/>
                <p:cNvGrpSpPr>
                  <a:grpSpLocks/>
                </p:cNvGrpSpPr>
                <p:nvPr/>
              </p:nvGrpSpPr>
              <p:grpSpPr bwMode="auto">
                <a:xfrm>
                  <a:off x="3112" y="1441"/>
                  <a:ext cx="165" cy="77"/>
                  <a:chOff x="3112" y="1441"/>
                  <a:chExt cx="165" cy="77"/>
                </a:xfrm>
              </p:grpSpPr>
              <p:sp>
                <p:nvSpPr>
                  <p:cNvPr id="77" name="Arc 87"/>
                  <p:cNvSpPr>
                    <a:spLocks/>
                  </p:cNvSpPr>
                  <p:nvPr/>
                </p:nvSpPr>
                <p:spPr bwMode="auto">
                  <a:xfrm>
                    <a:off x="3112" y="144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6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" name="Arc 88"/>
                  <p:cNvSpPr>
                    <a:spLocks/>
                  </p:cNvSpPr>
                  <p:nvPr/>
                </p:nvSpPr>
                <p:spPr bwMode="auto">
                  <a:xfrm>
                    <a:off x="3195" y="1441"/>
                    <a:ext cx="82" cy="29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-1" y="0"/>
                        </a:moveTo>
                        <a:cubicBezTo>
                          <a:pt x="11806" y="0"/>
                          <a:pt x="21424" y="9479"/>
                          <a:pt x="21597" y="21284"/>
                        </a:cubicBezTo>
                      </a:path>
                      <a:path w="21598" h="21600" stroke="0" extrusionOk="0">
                        <a:moveTo>
                          <a:pt x="-1" y="0"/>
                        </a:moveTo>
                        <a:cubicBezTo>
                          <a:pt x="11806" y="0"/>
                          <a:pt x="21424" y="9479"/>
                          <a:pt x="21597" y="21284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64" name="Group 89"/>
              <p:cNvGrpSpPr>
                <a:grpSpLocks/>
              </p:cNvGrpSpPr>
              <p:nvPr/>
            </p:nvGrpSpPr>
            <p:grpSpPr bwMode="auto">
              <a:xfrm>
                <a:off x="3112" y="1341"/>
                <a:ext cx="166" cy="94"/>
                <a:chOff x="3112" y="1341"/>
                <a:chExt cx="166" cy="94"/>
              </a:xfrm>
            </p:grpSpPr>
            <p:grpSp>
              <p:nvGrpSpPr>
                <p:cNvPr id="69" name="Group 90"/>
                <p:cNvGrpSpPr>
                  <a:grpSpLocks/>
                </p:cNvGrpSpPr>
                <p:nvPr/>
              </p:nvGrpSpPr>
              <p:grpSpPr bwMode="auto">
                <a:xfrm>
                  <a:off x="3112" y="1341"/>
                  <a:ext cx="166" cy="77"/>
                  <a:chOff x="3112" y="1341"/>
                  <a:chExt cx="166" cy="77"/>
                </a:xfrm>
              </p:grpSpPr>
              <p:sp>
                <p:nvSpPr>
                  <p:cNvPr id="73" name="Arc 91"/>
                  <p:cNvSpPr>
                    <a:spLocks/>
                  </p:cNvSpPr>
                  <p:nvPr/>
                </p:nvSpPr>
                <p:spPr bwMode="auto">
                  <a:xfrm>
                    <a:off x="3112" y="134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39"/>
                      <a:gd name="T2" fmla="*/ 0 w 21600"/>
                      <a:gd name="T3" fmla="*/ 0 h 21739"/>
                      <a:gd name="T4" fmla="*/ 0 w 21600"/>
                      <a:gd name="T5" fmla="*/ 0 h 2173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39" fill="none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</a:path>
                      <a:path w="21600" h="21739" stroke="0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  <a:lnTo>
                          <a:pt x="21600" y="139"/>
                        </a:lnTo>
                        <a:lnTo>
                          <a:pt x="21600" y="217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4" name="Arc 92"/>
                  <p:cNvSpPr>
                    <a:spLocks/>
                  </p:cNvSpPr>
                  <p:nvPr/>
                </p:nvSpPr>
                <p:spPr bwMode="auto">
                  <a:xfrm>
                    <a:off x="3195" y="1382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43"/>
                      <a:gd name="T2" fmla="*/ 0 w 21600"/>
                      <a:gd name="T3" fmla="*/ 0 h 21643"/>
                      <a:gd name="T4" fmla="*/ 0 w 21600"/>
                      <a:gd name="T5" fmla="*/ 0 h 2164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3" fill="none" extrusionOk="0">
                        <a:moveTo>
                          <a:pt x="21599" y="0"/>
                        </a:moveTo>
                        <a:cubicBezTo>
                          <a:pt x="21599" y="14"/>
                          <a:pt x="21600" y="28"/>
                          <a:pt x="21600" y="43"/>
                        </a:cubicBezTo>
                        <a:cubicBezTo>
                          <a:pt x="21600" y="11972"/>
                          <a:pt x="11929" y="21642"/>
                          <a:pt x="0" y="21643"/>
                        </a:cubicBezTo>
                      </a:path>
                      <a:path w="21600" h="21643" stroke="0" extrusionOk="0">
                        <a:moveTo>
                          <a:pt x="21599" y="0"/>
                        </a:moveTo>
                        <a:cubicBezTo>
                          <a:pt x="21599" y="14"/>
                          <a:pt x="21600" y="28"/>
                          <a:pt x="21600" y="43"/>
                        </a:cubicBezTo>
                        <a:cubicBezTo>
                          <a:pt x="21600" y="11972"/>
                          <a:pt x="11929" y="21642"/>
                          <a:pt x="0" y="21643"/>
                        </a:cubicBezTo>
                        <a:lnTo>
                          <a:pt x="0" y="43"/>
                        </a:lnTo>
                        <a:lnTo>
                          <a:pt x="2159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70" name="Group 93"/>
                <p:cNvGrpSpPr>
                  <a:grpSpLocks/>
                </p:cNvGrpSpPr>
                <p:nvPr/>
              </p:nvGrpSpPr>
              <p:grpSpPr bwMode="auto">
                <a:xfrm>
                  <a:off x="3112" y="1358"/>
                  <a:ext cx="165" cy="77"/>
                  <a:chOff x="3112" y="1358"/>
                  <a:chExt cx="165" cy="77"/>
                </a:xfrm>
              </p:grpSpPr>
              <p:sp>
                <p:nvSpPr>
                  <p:cNvPr id="71" name="Arc 94"/>
                  <p:cNvSpPr>
                    <a:spLocks/>
                  </p:cNvSpPr>
                  <p:nvPr/>
                </p:nvSpPr>
                <p:spPr bwMode="auto">
                  <a:xfrm>
                    <a:off x="3112" y="1358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8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2" name="Arc 95"/>
                  <p:cNvSpPr>
                    <a:spLocks/>
                  </p:cNvSpPr>
                  <p:nvPr/>
                </p:nvSpPr>
                <p:spPr bwMode="auto">
                  <a:xfrm>
                    <a:off x="3195" y="1358"/>
                    <a:ext cx="82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0"/>
                        </a:moveTo>
                        <a:cubicBezTo>
                          <a:pt x="11788" y="0"/>
                          <a:pt x="21399" y="9451"/>
                          <a:pt x="21596" y="21238"/>
                        </a:cubicBezTo>
                      </a:path>
                      <a:path w="21597" h="21600" stroke="0" extrusionOk="0">
                        <a:moveTo>
                          <a:pt x="-1" y="0"/>
                        </a:moveTo>
                        <a:cubicBezTo>
                          <a:pt x="11788" y="0"/>
                          <a:pt x="21399" y="9451"/>
                          <a:pt x="21596" y="21238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65" name="Arc 96"/>
              <p:cNvSpPr>
                <a:spLocks/>
              </p:cNvSpPr>
              <p:nvPr/>
            </p:nvSpPr>
            <p:spPr bwMode="auto">
              <a:xfrm>
                <a:off x="3112" y="1275"/>
                <a:ext cx="83" cy="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480"/>
                    </a:moveTo>
                    <a:cubicBezTo>
                      <a:pt x="66" y="9597"/>
                      <a:pt x="9717" y="0"/>
                      <a:pt x="21599" y="0"/>
                    </a:cubicBezTo>
                  </a:path>
                  <a:path w="21600" h="21600" stroke="0" extrusionOk="0">
                    <a:moveTo>
                      <a:pt x="0" y="21480"/>
                    </a:moveTo>
                    <a:cubicBezTo>
                      <a:pt x="66" y="9597"/>
                      <a:pt x="9717" y="0"/>
                      <a:pt x="21599" y="0"/>
                    </a:cubicBezTo>
                    <a:lnTo>
                      <a:pt x="21600" y="21600"/>
                    </a:lnTo>
                    <a:lnTo>
                      <a:pt x="0" y="2148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6" name="Arc 97"/>
              <p:cNvSpPr>
                <a:spLocks/>
              </p:cNvSpPr>
              <p:nvPr/>
            </p:nvSpPr>
            <p:spPr bwMode="auto">
              <a:xfrm>
                <a:off x="3112" y="1848"/>
                <a:ext cx="83" cy="77"/>
              </a:xfrm>
              <a:custGeom>
                <a:avLst/>
                <a:gdLst>
                  <a:gd name="T0" fmla="*/ 0 w 21600"/>
                  <a:gd name="T1" fmla="*/ 0 h 21739"/>
                  <a:gd name="T2" fmla="*/ 0 w 21600"/>
                  <a:gd name="T3" fmla="*/ 0 h 21739"/>
                  <a:gd name="T4" fmla="*/ 0 w 21600"/>
                  <a:gd name="T5" fmla="*/ 0 h 217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739" fill="none" extrusionOk="0">
                    <a:moveTo>
                      <a:pt x="21600" y="21739"/>
                    </a:moveTo>
                    <a:cubicBezTo>
                      <a:pt x="9670" y="21739"/>
                      <a:pt x="0" y="12068"/>
                      <a:pt x="0" y="139"/>
                    </a:cubicBezTo>
                    <a:cubicBezTo>
                      <a:pt x="-1" y="92"/>
                      <a:pt x="0" y="46"/>
                      <a:pt x="0" y="0"/>
                    </a:cubicBezTo>
                  </a:path>
                  <a:path w="21600" h="21739" stroke="0" extrusionOk="0">
                    <a:moveTo>
                      <a:pt x="21600" y="21739"/>
                    </a:moveTo>
                    <a:cubicBezTo>
                      <a:pt x="9670" y="21739"/>
                      <a:pt x="0" y="12068"/>
                      <a:pt x="0" y="139"/>
                    </a:cubicBezTo>
                    <a:cubicBezTo>
                      <a:pt x="-1" y="92"/>
                      <a:pt x="0" y="46"/>
                      <a:pt x="0" y="0"/>
                    </a:cubicBezTo>
                    <a:lnTo>
                      <a:pt x="21600" y="139"/>
                    </a:lnTo>
                    <a:lnTo>
                      <a:pt x="21600" y="21739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" name="Line 98"/>
              <p:cNvSpPr>
                <a:spLocks noChangeShapeType="1"/>
              </p:cNvSpPr>
              <p:nvPr/>
            </p:nvSpPr>
            <p:spPr bwMode="auto">
              <a:xfrm flipV="1">
                <a:off x="3195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" name="Line 99"/>
              <p:cNvSpPr>
                <a:spLocks noChangeShapeType="1"/>
              </p:cNvSpPr>
              <p:nvPr/>
            </p:nvSpPr>
            <p:spPr bwMode="auto">
              <a:xfrm flipV="1">
                <a:off x="3195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05" name="Line 100"/>
            <p:cNvSpPr>
              <a:spLocks noChangeShapeType="1"/>
            </p:cNvSpPr>
            <p:nvPr/>
          </p:nvSpPr>
          <p:spPr bwMode="auto">
            <a:xfrm>
              <a:off x="6821952" y="2227853"/>
              <a:ext cx="1588" cy="10683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Line 101"/>
            <p:cNvSpPr>
              <a:spLocks noChangeShapeType="1"/>
            </p:cNvSpPr>
            <p:nvPr/>
          </p:nvSpPr>
          <p:spPr bwMode="auto">
            <a:xfrm flipV="1">
              <a:off x="5640852" y="2040528"/>
              <a:ext cx="1588" cy="1698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Line 102"/>
            <p:cNvSpPr>
              <a:spLocks noChangeShapeType="1"/>
            </p:cNvSpPr>
            <p:nvPr/>
          </p:nvSpPr>
          <p:spPr bwMode="auto">
            <a:xfrm flipV="1">
              <a:off x="7121990" y="3332753"/>
              <a:ext cx="1587" cy="1698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Line 103"/>
            <p:cNvSpPr>
              <a:spLocks noChangeShapeType="1"/>
            </p:cNvSpPr>
            <p:nvPr/>
          </p:nvSpPr>
          <p:spPr bwMode="auto">
            <a:xfrm flipV="1">
              <a:off x="5640852" y="3639140"/>
              <a:ext cx="1588" cy="1682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Oval 104"/>
            <p:cNvSpPr>
              <a:spLocks noChangeArrowheads="1"/>
            </p:cNvSpPr>
            <p:nvPr/>
          </p:nvSpPr>
          <p:spPr bwMode="auto">
            <a:xfrm>
              <a:off x="3954927" y="3296240"/>
              <a:ext cx="411163" cy="41116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10" name="Group 105"/>
            <p:cNvGrpSpPr>
              <a:grpSpLocks/>
            </p:cNvGrpSpPr>
            <p:nvPr/>
          </p:nvGrpSpPr>
          <p:grpSpPr bwMode="auto">
            <a:xfrm>
              <a:off x="3672352" y="3296240"/>
              <a:ext cx="131763" cy="411163"/>
              <a:chOff x="1022" y="1936"/>
              <a:chExt cx="83" cy="259"/>
            </a:xfrm>
          </p:grpSpPr>
          <p:sp>
            <p:nvSpPr>
              <p:cNvPr id="111" name="Freeform 106"/>
              <p:cNvSpPr>
                <a:spLocks/>
              </p:cNvSpPr>
              <p:nvPr/>
            </p:nvSpPr>
            <p:spPr bwMode="auto">
              <a:xfrm>
                <a:off x="1022" y="1936"/>
                <a:ext cx="83" cy="165"/>
              </a:xfrm>
              <a:custGeom>
                <a:avLst/>
                <a:gdLst>
                  <a:gd name="T0" fmla="*/ 36 w 83"/>
                  <a:gd name="T1" fmla="*/ 0 h 165"/>
                  <a:gd name="T2" fmla="*/ 83 w 83"/>
                  <a:gd name="T3" fmla="*/ 165 h 165"/>
                  <a:gd name="T4" fmla="*/ 36 w 83"/>
                  <a:gd name="T5" fmla="*/ 165 h 165"/>
                  <a:gd name="T6" fmla="*/ 0 w 83"/>
                  <a:gd name="T7" fmla="*/ 165 h 165"/>
                  <a:gd name="T8" fmla="*/ 36 w 83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3" h="165">
                    <a:moveTo>
                      <a:pt x="36" y="0"/>
                    </a:moveTo>
                    <a:lnTo>
                      <a:pt x="83" y="165"/>
                    </a:lnTo>
                    <a:lnTo>
                      <a:pt x="36" y="165"/>
                    </a:lnTo>
                    <a:lnTo>
                      <a:pt x="0" y="16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2" name="Line 107"/>
              <p:cNvSpPr>
                <a:spLocks noChangeShapeType="1"/>
              </p:cNvSpPr>
              <p:nvPr/>
            </p:nvSpPr>
            <p:spPr bwMode="auto">
              <a:xfrm>
                <a:off x="1058" y="2101"/>
                <a:ext cx="1" cy="9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13" name="Rectangle 108"/>
            <p:cNvSpPr>
              <a:spLocks noChangeArrowheads="1"/>
            </p:cNvSpPr>
            <p:nvPr/>
          </p:nvSpPr>
          <p:spPr bwMode="auto">
            <a:xfrm>
              <a:off x="3448515" y="3332753"/>
              <a:ext cx="1524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000000"/>
                  </a:solidFill>
                  <a:latin typeface="Times" panose="02020603050405020304" pitchFamily="18" charset="0"/>
                </a:rPr>
                <a:t>E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14" name="Line 109"/>
            <p:cNvSpPr>
              <a:spLocks noChangeShapeType="1"/>
            </p:cNvSpPr>
            <p:nvPr/>
          </p:nvSpPr>
          <p:spPr bwMode="auto">
            <a:xfrm flipH="1">
              <a:off x="5386852" y="3816940"/>
              <a:ext cx="263525" cy="2619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15" name="Group 110"/>
            <p:cNvGrpSpPr>
              <a:grpSpLocks/>
            </p:cNvGrpSpPr>
            <p:nvPr/>
          </p:nvGrpSpPr>
          <p:grpSpPr bwMode="auto">
            <a:xfrm>
              <a:off x="5424952" y="4396378"/>
              <a:ext cx="336550" cy="280987"/>
              <a:chOff x="2144" y="2419"/>
              <a:chExt cx="212" cy="177"/>
            </a:xfrm>
          </p:grpSpPr>
          <p:sp>
            <p:nvSpPr>
              <p:cNvPr id="116" name="Freeform 111"/>
              <p:cNvSpPr>
                <a:spLocks/>
              </p:cNvSpPr>
              <p:nvPr/>
            </p:nvSpPr>
            <p:spPr bwMode="auto">
              <a:xfrm>
                <a:off x="2167" y="2431"/>
                <a:ext cx="189" cy="165"/>
              </a:xfrm>
              <a:custGeom>
                <a:avLst/>
                <a:gdLst>
                  <a:gd name="T0" fmla="*/ 189 w 189"/>
                  <a:gd name="T1" fmla="*/ 165 h 165"/>
                  <a:gd name="T2" fmla="*/ 0 w 189"/>
                  <a:gd name="T3" fmla="*/ 71 h 165"/>
                  <a:gd name="T4" fmla="*/ 36 w 189"/>
                  <a:gd name="T5" fmla="*/ 36 h 165"/>
                  <a:gd name="T6" fmla="*/ 71 w 189"/>
                  <a:gd name="T7" fmla="*/ 0 h 165"/>
                  <a:gd name="T8" fmla="*/ 189 w 189"/>
                  <a:gd name="T9" fmla="*/ 165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9" h="165">
                    <a:moveTo>
                      <a:pt x="189" y="165"/>
                    </a:moveTo>
                    <a:lnTo>
                      <a:pt x="0" y="71"/>
                    </a:lnTo>
                    <a:lnTo>
                      <a:pt x="36" y="36"/>
                    </a:lnTo>
                    <a:lnTo>
                      <a:pt x="71" y="0"/>
                    </a:lnTo>
                    <a:lnTo>
                      <a:pt x="189" y="16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7" name="Line 112"/>
              <p:cNvSpPr>
                <a:spLocks noChangeShapeType="1"/>
              </p:cNvSpPr>
              <p:nvPr/>
            </p:nvSpPr>
            <p:spPr bwMode="auto">
              <a:xfrm flipH="1" flipV="1">
                <a:off x="2144" y="2419"/>
                <a:ext cx="59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18" name="Line 113"/>
            <p:cNvSpPr>
              <a:spLocks noChangeShapeType="1"/>
            </p:cNvSpPr>
            <p:nvPr/>
          </p:nvSpPr>
          <p:spPr bwMode="auto">
            <a:xfrm>
              <a:off x="5405902" y="3835990"/>
              <a:ext cx="1588" cy="860425"/>
            </a:xfrm>
            <a:prstGeom prst="line">
              <a:avLst/>
            </a:prstGeom>
            <a:noFill/>
            <a:ln w="746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9" name="Line 114"/>
            <p:cNvSpPr>
              <a:spLocks noChangeShapeType="1"/>
            </p:cNvSpPr>
            <p:nvPr/>
          </p:nvSpPr>
          <p:spPr bwMode="auto">
            <a:xfrm>
              <a:off x="7139452" y="3502615"/>
              <a:ext cx="3354388" cy="31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0" name="Line 115"/>
            <p:cNvSpPr>
              <a:spLocks noChangeShapeType="1"/>
            </p:cNvSpPr>
            <p:nvPr/>
          </p:nvSpPr>
          <p:spPr bwMode="auto">
            <a:xfrm>
              <a:off x="4159715" y="2023065"/>
              <a:ext cx="1587" cy="12731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1" name="Line 116"/>
            <p:cNvSpPr>
              <a:spLocks noChangeShapeType="1"/>
            </p:cNvSpPr>
            <p:nvPr/>
          </p:nvSpPr>
          <p:spPr bwMode="auto">
            <a:xfrm>
              <a:off x="5755152" y="4629740"/>
              <a:ext cx="0" cy="2571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2" name="Line 117"/>
            <p:cNvSpPr>
              <a:spLocks noChangeShapeType="1"/>
            </p:cNvSpPr>
            <p:nvPr/>
          </p:nvSpPr>
          <p:spPr bwMode="auto">
            <a:xfrm>
              <a:off x="4853452" y="4266203"/>
              <a:ext cx="52546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23" name="Group 118"/>
            <p:cNvGrpSpPr>
              <a:grpSpLocks/>
            </p:cNvGrpSpPr>
            <p:nvPr/>
          </p:nvGrpSpPr>
          <p:grpSpPr bwMode="auto">
            <a:xfrm>
              <a:off x="4928065" y="3909015"/>
              <a:ext cx="384175" cy="293688"/>
              <a:chOff x="1813" y="2112"/>
              <a:chExt cx="242" cy="185"/>
            </a:xfrm>
          </p:grpSpPr>
          <p:sp>
            <p:nvSpPr>
              <p:cNvPr id="124" name="Rectangle 119"/>
              <p:cNvSpPr>
                <a:spLocks noChangeArrowheads="1"/>
              </p:cNvSpPr>
              <p:nvPr/>
            </p:nvSpPr>
            <p:spPr bwMode="auto">
              <a:xfrm>
                <a:off x="1813" y="2112"/>
                <a:ext cx="91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a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" name="Rectangle 120"/>
              <p:cNvSpPr>
                <a:spLocks noChangeArrowheads="1"/>
              </p:cNvSpPr>
              <p:nvPr/>
            </p:nvSpPr>
            <p:spPr bwMode="auto">
              <a:xfrm>
                <a:off x="1931" y="2124"/>
                <a:ext cx="12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solidFill>
                      <a:srgbClr val="000000"/>
                    </a:solidFill>
                    <a:latin typeface="Times" panose="02020603050405020304" pitchFamily="18" charset="0"/>
                  </a:rPr>
                  <a:t>,T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6" name="Oval 121"/>
            <p:cNvSpPr>
              <a:spLocks noChangeArrowheads="1"/>
            </p:cNvSpPr>
            <p:nvPr/>
          </p:nvSpPr>
          <p:spPr bwMode="auto">
            <a:xfrm>
              <a:off x="5388440" y="2477090"/>
              <a:ext cx="111125" cy="112713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27" name="Oval 122"/>
            <p:cNvSpPr>
              <a:spLocks noChangeArrowheads="1"/>
            </p:cNvSpPr>
            <p:nvPr/>
          </p:nvSpPr>
          <p:spPr bwMode="auto">
            <a:xfrm>
              <a:off x="7206127" y="2181815"/>
              <a:ext cx="111125" cy="112713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28" name="Group 123"/>
            <p:cNvGrpSpPr>
              <a:grpSpLocks/>
            </p:cNvGrpSpPr>
            <p:nvPr/>
          </p:nvGrpSpPr>
          <p:grpSpPr bwMode="auto">
            <a:xfrm>
              <a:off x="7923677" y="1684928"/>
              <a:ext cx="431800" cy="655637"/>
              <a:chOff x="3478" y="921"/>
              <a:chExt cx="272" cy="413"/>
            </a:xfrm>
          </p:grpSpPr>
          <p:sp>
            <p:nvSpPr>
              <p:cNvPr id="129" name="Line 124"/>
              <p:cNvSpPr>
                <a:spLocks noChangeShapeType="1"/>
              </p:cNvSpPr>
              <p:nvPr/>
            </p:nvSpPr>
            <p:spPr bwMode="auto">
              <a:xfrm flipV="1">
                <a:off x="3749" y="921"/>
                <a:ext cx="1" cy="413"/>
              </a:xfrm>
              <a:prstGeom prst="line">
                <a:avLst/>
              </a:prstGeom>
              <a:noFill/>
              <a:ln w="746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0" name="Line 125"/>
              <p:cNvSpPr>
                <a:spLocks noChangeShapeType="1"/>
              </p:cNvSpPr>
              <p:nvPr/>
            </p:nvSpPr>
            <p:spPr bwMode="auto">
              <a:xfrm flipH="1">
                <a:off x="3478" y="1134"/>
                <a:ext cx="271" cy="2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1" name="Line 126"/>
              <p:cNvSpPr>
                <a:spLocks noChangeShapeType="1"/>
              </p:cNvSpPr>
              <p:nvPr/>
            </p:nvSpPr>
            <p:spPr bwMode="auto">
              <a:xfrm flipV="1">
                <a:off x="3478" y="921"/>
                <a:ext cx="1" cy="4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2" name="Line 127"/>
              <p:cNvSpPr>
                <a:spLocks noChangeShapeType="1"/>
              </p:cNvSpPr>
              <p:nvPr/>
            </p:nvSpPr>
            <p:spPr bwMode="auto">
              <a:xfrm>
                <a:off x="3478" y="921"/>
                <a:ext cx="271" cy="2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33" name="Line 128"/>
            <p:cNvSpPr>
              <a:spLocks noChangeShapeType="1"/>
            </p:cNvSpPr>
            <p:nvPr/>
          </p:nvSpPr>
          <p:spPr bwMode="auto">
            <a:xfrm>
              <a:off x="7110877" y="2013540"/>
              <a:ext cx="812800" cy="206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4" name="Line 129"/>
            <p:cNvSpPr>
              <a:spLocks noChangeShapeType="1"/>
            </p:cNvSpPr>
            <p:nvPr/>
          </p:nvSpPr>
          <p:spPr bwMode="auto">
            <a:xfrm>
              <a:off x="8372940" y="2023065"/>
              <a:ext cx="654050" cy="15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35" name="Group 130"/>
            <p:cNvGrpSpPr>
              <a:grpSpLocks/>
            </p:cNvGrpSpPr>
            <p:nvPr/>
          </p:nvGrpSpPr>
          <p:grpSpPr bwMode="auto">
            <a:xfrm>
              <a:off x="10314452" y="2154828"/>
              <a:ext cx="130175" cy="1273175"/>
              <a:chOff x="4576" y="1193"/>
              <a:chExt cx="82" cy="802"/>
            </a:xfrm>
          </p:grpSpPr>
          <p:sp>
            <p:nvSpPr>
              <p:cNvPr id="136" name="Freeform 131"/>
              <p:cNvSpPr>
                <a:spLocks/>
              </p:cNvSpPr>
              <p:nvPr/>
            </p:nvSpPr>
            <p:spPr bwMode="auto">
              <a:xfrm>
                <a:off x="4576" y="1193"/>
                <a:ext cx="82" cy="165"/>
              </a:xfrm>
              <a:custGeom>
                <a:avLst/>
                <a:gdLst>
                  <a:gd name="T0" fmla="*/ 47 w 82"/>
                  <a:gd name="T1" fmla="*/ 0 h 165"/>
                  <a:gd name="T2" fmla="*/ 82 w 82"/>
                  <a:gd name="T3" fmla="*/ 165 h 165"/>
                  <a:gd name="T4" fmla="*/ 47 w 82"/>
                  <a:gd name="T5" fmla="*/ 165 h 165"/>
                  <a:gd name="T6" fmla="*/ 0 w 82"/>
                  <a:gd name="T7" fmla="*/ 165 h 165"/>
                  <a:gd name="T8" fmla="*/ 47 w 82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165">
                    <a:moveTo>
                      <a:pt x="47" y="0"/>
                    </a:moveTo>
                    <a:lnTo>
                      <a:pt x="82" y="165"/>
                    </a:lnTo>
                    <a:lnTo>
                      <a:pt x="47" y="165"/>
                    </a:lnTo>
                    <a:lnTo>
                      <a:pt x="0" y="165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7" name="Line 132"/>
              <p:cNvSpPr>
                <a:spLocks noChangeShapeType="1"/>
              </p:cNvSpPr>
              <p:nvPr/>
            </p:nvSpPr>
            <p:spPr bwMode="auto">
              <a:xfrm>
                <a:off x="4623" y="1358"/>
                <a:ext cx="1" cy="63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38" name="Group 133"/>
            <p:cNvGrpSpPr>
              <a:grpSpLocks/>
            </p:cNvGrpSpPr>
            <p:nvPr/>
          </p:nvGrpSpPr>
          <p:grpSpPr bwMode="auto">
            <a:xfrm>
              <a:off x="10501777" y="2612028"/>
              <a:ext cx="280988" cy="377825"/>
              <a:chOff x="4682" y="1523"/>
              <a:chExt cx="177" cy="238"/>
            </a:xfrm>
          </p:grpSpPr>
          <p:sp>
            <p:nvSpPr>
              <p:cNvPr id="139" name="Rectangle 134"/>
              <p:cNvSpPr>
                <a:spLocks noChangeArrowheads="1"/>
              </p:cNvSpPr>
              <p:nvPr/>
            </p:nvSpPr>
            <p:spPr bwMode="auto">
              <a:xfrm>
                <a:off x="4682" y="1523"/>
                <a:ext cx="121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1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V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0" name="Rectangle 135"/>
              <p:cNvSpPr>
                <a:spLocks noChangeArrowheads="1"/>
              </p:cNvSpPr>
              <p:nvPr/>
            </p:nvSpPr>
            <p:spPr bwMode="auto">
              <a:xfrm>
                <a:off x="4812" y="1617"/>
                <a:ext cx="4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5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s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41" name="Rectangle 136"/>
            <p:cNvSpPr>
              <a:spLocks noChangeArrowheads="1"/>
            </p:cNvSpPr>
            <p:nvPr/>
          </p:nvSpPr>
          <p:spPr bwMode="auto">
            <a:xfrm>
              <a:off x="5285252" y="2748553"/>
              <a:ext cx="1143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solidFill>
                    <a:srgbClr val="000000"/>
                  </a:solidFill>
                  <a:latin typeface="Times" panose="02020603050405020304" pitchFamily="18" charset="0"/>
                </a:rPr>
                <a:t>n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42" name="Rectangle 137"/>
            <p:cNvSpPr>
              <a:spLocks noChangeArrowheads="1"/>
            </p:cNvSpPr>
            <p:nvPr/>
          </p:nvSpPr>
          <p:spPr bwMode="auto">
            <a:xfrm>
              <a:off x="5396377" y="2880315"/>
              <a:ext cx="82550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43" name="Rectangle 138"/>
            <p:cNvSpPr>
              <a:spLocks noChangeArrowheads="1"/>
            </p:cNvSpPr>
            <p:nvPr/>
          </p:nvSpPr>
          <p:spPr bwMode="auto">
            <a:xfrm>
              <a:off x="7326777" y="2321515"/>
              <a:ext cx="114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solidFill>
                    <a:srgbClr val="000000"/>
                  </a:solidFill>
                  <a:latin typeface="Times" panose="02020603050405020304" pitchFamily="18" charset="0"/>
                </a:rPr>
                <a:t>n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44" name="Rectangle 139"/>
            <p:cNvSpPr>
              <a:spLocks noChangeArrowheads="1"/>
            </p:cNvSpPr>
            <p:nvPr/>
          </p:nvSpPr>
          <p:spPr bwMode="auto">
            <a:xfrm>
              <a:off x="7439490" y="2453278"/>
              <a:ext cx="82550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Times" panose="02020603050405020304" pitchFamily="18" charset="0"/>
                </a:rPr>
                <a:t>2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45" name="Group 140"/>
            <p:cNvGrpSpPr>
              <a:grpSpLocks/>
            </p:cNvGrpSpPr>
            <p:nvPr/>
          </p:nvGrpSpPr>
          <p:grpSpPr bwMode="auto">
            <a:xfrm>
              <a:off x="6259977" y="2134190"/>
              <a:ext cx="263525" cy="1236663"/>
              <a:chOff x="2652" y="1204"/>
              <a:chExt cx="166" cy="779"/>
            </a:xfrm>
          </p:grpSpPr>
          <p:grpSp>
            <p:nvGrpSpPr>
              <p:cNvPr id="146" name="Group 141"/>
              <p:cNvGrpSpPr>
                <a:grpSpLocks/>
              </p:cNvGrpSpPr>
              <p:nvPr/>
            </p:nvGrpSpPr>
            <p:grpSpPr bwMode="auto">
              <a:xfrm>
                <a:off x="2652" y="1753"/>
                <a:ext cx="166" cy="95"/>
                <a:chOff x="2652" y="1753"/>
                <a:chExt cx="166" cy="95"/>
              </a:xfrm>
            </p:grpSpPr>
            <p:grpSp>
              <p:nvGrpSpPr>
                <p:cNvPr id="186" name="Group 142"/>
                <p:cNvGrpSpPr>
                  <a:grpSpLocks/>
                </p:cNvGrpSpPr>
                <p:nvPr/>
              </p:nvGrpSpPr>
              <p:grpSpPr bwMode="auto">
                <a:xfrm>
                  <a:off x="2652" y="1753"/>
                  <a:ext cx="166" cy="77"/>
                  <a:chOff x="2652" y="1753"/>
                  <a:chExt cx="166" cy="77"/>
                </a:xfrm>
              </p:grpSpPr>
              <p:sp>
                <p:nvSpPr>
                  <p:cNvPr id="190" name="Arc 143"/>
                  <p:cNvSpPr>
                    <a:spLocks/>
                  </p:cNvSpPr>
                  <p:nvPr/>
                </p:nvSpPr>
                <p:spPr bwMode="auto">
                  <a:xfrm>
                    <a:off x="2735" y="1753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20"/>
                      <a:gd name="T2" fmla="*/ 0 w 21619"/>
                      <a:gd name="T3" fmla="*/ 0 h 21720"/>
                      <a:gd name="T4" fmla="*/ 0 w 21619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20" fill="none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</a:path>
                      <a:path w="21619" h="21720" stroke="0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  <a:lnTo>
                          <a:pt x="19" y="12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91" name="Arc 144"/>
                  <p:cNvSpPr>
                    <a:spLocks/>
                  </p:cNvSpPr>
                  <p:nvPr/>
                </p:nvSpPr>
                <p:spPr bwMode="auto">
                  <a:xfrm>
                    <a:off x="2652" y="1800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5"/>
                      <a:gd name="T2" fmla="*/ 0 w 21600"/>
                      <a:gd name="T3" fmla="*/ 0 h 21915"/>
                      <a:gd name="T4" fmla="*/ 0 w 21600"/>
                      <a:gd name="T5" fmla="*/ 0 h 219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5" fill="none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</a:path>
                      <a:path w="21600" h="21915" stroke="0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  <a:lnTo>
                          <a:pt x="21600" y="315"/>
                        </a:lnTo>
                        <a:lnTo>
                          <a:pt x="21585" y="219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87" name="Group 145"/>
                <p:cNvGrpSpPr>
                  <a:grpSpLocks/>
                </p:cNvGrpSpPr>
                <p:nvPr/>
              </p:nvGrpSpPr>
              <p:grpSpPr bwMode="auto">
                <a:xfrm>
                  <a:off x="2652" y="1771"/>
                  <a:ext cx="166" cy="77"/>
                  <a:chOff x="2652" y="1771"/>
                  <a:chExt cx="166" cy="77"/>
                </a:xfrm>
              </p:grpSpPr>
              <p:sp>
                <p:nvSpPr>
                  <p:cNvPr id="188" name="Arc 146"/>
                  <p:cNvSpPr>
                    <a:spLocks/>
                  </p:cNvSpPr>
                  <p:nvPr/>
                </p:nvSpPr>
                <p:spPr bwMode="auto">
                  <a:xfrm>
                    <a:off x="2735" y="1771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9" name="Arc 147"/>
                  <p:cNvSpPr>
                    <a:spLocks/>
                  </p:cNvSpPr>
                  <p:nvPr/>
                </p:nvSpPr>
                <p:spPr bwMode="auto">
                  <a:xfrm>
                    <a:off x="2652" y="1771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47" name="Group 148"/>
              <p:cNvGrpSpPr>
                <a:grpSpLocks/>
              </p:cNvGrpSpPr>
              <p:nvPr/>
            </p:nvGrpSpPr>
            <p:grpSpPr bwMode="auto">
              <a:xfrm>
                <a:off x="2652" y="1671"/>
                <a:ext cx="166" cy="94"/>
                <a:chOff x="2652" y="1671"/>
                <a:chExt cx="166" cy="94"/>
              </a:xfrm>
            </p:grpSpPr>
            <p:grpSp>
              <p:nvGrpSpPr>
                <p:cNvPr id="180" name="Group 149"/>
                <p:cNvGrpSpPr>
                  <a:grpSpLocks/>
                </p:cNvGrpSpPr>
                <p:nvPr/>
              </p:nvGrpSpPr>
              <p:grpSpPr bwMode="auto">
                <a:xfrm>
                  <a:off x="2652" y="1671"/>
                  <a:ext cx="166" cy="77"/>
                  <a:chOff x="2652" y="1671"/>
                  <a:chExt cx="166" cy="77"/>
                </a:xfrm>
              </p:grpSpPr>
              <p:sp>
                <p:nvSpPr>
                  <p:cNvPr id="184" name="Arc 150"/>
                  <p:cNvSpPr>
                    <a:spLocks/>
                  </p:cNvSpPr>
                  <p:nvPr/>
                </p:nvSpPr>
                <p:spPr bwMode="auto">
                  <a:xfrm>
                    <a:off x="2735" y="1671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40"/>
                      <a:gd name="T2" fmla="*/ 0 w 21619"/>
                      <a:gd name="T3" fmla="*/ 0 h 21740"/>
                      <a:gd name="T4" fmla="*/ 0 w 21619"/>
                      <a:gd name="T5" fmla="*/ 0 h 21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40" fill="none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</a:path>
                      <a:path w="21619" h="21740" stroke="0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  <a:lnTo>
                          <a:pt x="19" y="14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5" name="Arc 151"/>
                  <p:cNvSpPr>
                    <a:spLocks/>
                  </p:cNvSpPr>
                  <p:nvPr/>
                </p:nvSpPr>
                <p:spPr bwMode="auto">
                  <a:xfrm>
                    <a:off x="2652" y="1718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</a:path>
                      <a:path w="21600" h="21910" stroke="0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  <a:lnTo>
                          <a:pt x="21600" y="310"/>
                        </a:lnTo>
                        <a:lnTo>
                          <a:pt x="21585" y="2190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81" name="Group 152"/>
                <p:cNvGrpSpPr>
                  <a:grpSpLocks/>
                </p:cNvGrpSpPr>
                <p:nvPr/>
              </p:nvGrpSpPr>
              <p:grpSpPr bwMode="auto">
                <a:xfrm>
                  <a:off x="2652" y="1688"/>
                  <a:ext cx="166" cy="77"/>
                  <a:chOff x="2652" y="1688"/>
                  <a:chExt cx="166" cy="77"/>
                </a:xfrm>
              </p:grpSpPr>
              <p:sp>
                <p:nvSpPr>
                  <p:cNvPr id="182" name="Arc 153"/>
                  <p:cNvSpPr>
                    <a:spLocks/>
                  </p:cNvSpPr>
                  <p:nvPr/>
                </p:nvSpPr>
                <p:spPr bwMode="auto">
                  <a:xfrm>
                    <a:off x="2735" y="1688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3" name="Arc 154"/>
                  <p:cNvSpPr>
                    <a:spLocks/>
                  </p:cNvSpPr>
                  <p:nvPr/>
                </p:nvSpPr>
                <p:spPr bwMode="auto">
                  <a:xfrm>
                    <a:off x="2652" y="1688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557"/>
                        </a:moveTo>
                        <a:cubicBezTo>
                          <a:pt x="23" y="9650"/>
                          <a:pt x="9677" y="8"/>
                          <a:pt x="21584" y="0"/>
                        </a:cubicBezTo>
                      </a:path>
                      <a:path w="21600" h="21600" stroke="0" extrusionOk="0">
                        <a:moveTo>
                          <a:pt x="0" y="21557"/>
                        </a:moveTo>
                        <a:cubicBezTo>
                          <a:pt x="23" y="9650"/>
                          <a:pt x="9677" y="8"/>
                          <a:pt x="21584" y="0"/>
                        </a:cubicBezTo>
                        <a:lnTo>
                          <a:pt x="21600" y="21600"/>
                        </a:lnTo>
                        <a:lnTo>
                          <a:pt x="0" y="21557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48" name="Group 155"/>
              <p:cNvGrpSpPr>
                <a:grpSpLocks/>
              </p:cNvGrpSpPr>
              <p:nvPr/>
            </p:nvGrpSpPr>
            <p:grpSpPr bwMode="auto">
              <a:xfrm>
                <a:off x="2652" y="1588"/>
                <a:ext cx="166" cy="95"/>
                <a:chOff x="2652" y="1588"/>
                <a:chExt cx="166" cy="95"/>
              </a:xfrm>
            </p:grpSpPr>
            <p:grpSp>
              <p:nvGrpSpPr>
                <p:cNvPr id="174" name="Group 156"/>
                <p:cNvGrpSpPr>
                  <a:grpSpLocks/>
                </p:cNvGrpSpPr>
                <p:nvPr/>
              </p:nvGrpSpPr>
              <p:grpSpPr bwMode="auto">
                <a:xfrm>
                  <a:off x="2652" y="1588"/>
                  <a:ext cx="166" cy="77"/>
                  <a:chOff x="2652" y="1588"/>
                  <a:chExt cx="166" cy="77"/>
                </a:xfrm>
              </p:grpSpPr>
              <p:sp>
                <p:nvSpPr>
                  <p:cNvPr id="178" name="Arc 157"/>
                  <p:cNvSpPr>
                    <a:spLocks/>
                  </p:cNvSpPr>
                  <p:nvPr/>
                </p:nvSpPr>
                <p:spPr bwMode="auto">
                  <a:xfrm>
                    <a:off x="2735" y="1588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20"/>
                      <a:gd name="T2" fmla="*/ 0 w 21619"/>
                      <a:gd name="T3" fmla="*/ 0 h 21720"/>
                      <a:gd name="T4" fmla="*/ 0 w 21619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20" fill="none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</a:path>
                      <a:path w="21619" h="21720" stroke="0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  <a:lnTo>
                          <a:pt x="19" y="12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9" name="Arc 158"/>
                  <p:cNvSpPr>
                    <a:spLocks/>
                  </p:cNvSpPr>
                  <p:nvPr/>
                </p:nvSpPr>
                <p:spPr bwMode="auto">
                  <a:xfrm>
                    <a:off x="2652" y="1635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5"/>
                      <a:gd name="T2" fmla="*/ 0 w 21600"/>
                      <a:gd name="T3" fmla="*/ 0 h 21915"/>
                      <a:gd name="T4" fmla="*/ 0 w 21600"/>
                      <a:gd name="T5" fmla="*/ 0 h 219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5" fill="none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</a:path>
                      <a:path w="21600" h="21915" stroke="0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  <a:lnTo>
                          <a:pt x="21600" y="315"/>
                        </a:lnTo>
                        <a:lnTo>
                          <a:pt x="21585" y="219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75" name="Group 159"/>
                <p:cNvGrpSpPr>
                  <a:grpSpLocks/>
                </p:cNvGrpSpPr>
                <p:nvPr/>
              </p:nvGrpSpPr>
              <p:grpSpPr bwMode="auto">
                <a:xfrm>
                  <a:off x="2652" y="1606"/>
                  <a:ext cx="166" cy="77"/>
                  <a:chOff x="2652" y="1606"/>
                  <a:chExt cx="166" cy="77"/>
                </a:xfrm>
              </p:grpSpPr>
              <p:sp>
                <p:nvSpPr>
                  <p:cNvPr id="176" name="Arc 160"/>
                  <p:cNvSpPr>
                    <a:spLocks/>
                  </p:cNvSpPr>
                  <p:nvPr/>
                </p:nvSpPr>
                <p:spPr bwMode="auto">
                  <a:xfrm>
                    <a:off x="2735" y="1606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7" name="Arc 161"/>
                  <p:cNvSpPr>
                    <a:spLocks/>
                  </p:cNvSpPr>
                  <p:nvPr/>
                </p:nvSpPr>
                <p:spPr bwMode="auto">
                  <a:xfrm>
                    <a:off x="2652" y="1606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49" name="Group 162"/>
              <p:cNvGrpSpPr>
                <a:grpSpLocks/>
              </p:cNvGrpSpPr>
              <p:nvPr/>
            </p:nvGrpSpPr>
            <p:grpSpPr bwMode="auto">
              <a:xfrm>
                <a:off x="2652" y="1506"/>
                <a:ext cx="166" cy="94"/>
                <a:chOff x="2652" y="1506"/>
                <a:chExt cx="166" cy="94"/>
              </a:xfrm>
            </p:grpSpPr>
            <p:grpSp>
              <p:nvGrpSpPr>
                <p:cNvPr id="168" name="Group 163"/>
                <p:cNvGrpSpPr>
                  <a:grpSpLocks/>
                </p:cNvGrpSpPr>
                <p:nvPr/>
              </p:nvGrpSpPr>
              <p:grpSpPr bwMode="auto">
                <a:xfrm>
                  <a:off x="2652" y="1506"/>
                  <a:ext cx="166" cy="77"/>
                  <a:chOff x="2652" y="1506"/>
                  <a:chExt cx="166" cy="77"/>
                </a:xfrm>
              </p:grpSpPr>
              <p:sp>
                <p:nvSpPr>
                  <p:cNvPr id="172" name="Arc 164"/>
                  <p:cNvSpPr>
                    <a:spLocks/>
                  </p:cNvSpPr>
                  <p:nvPr/>
                </p:nvSpPr>
                <p:spPr bwMode="auto">
                  <a:xfrm>
                    <a:off x="2735" y="1506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40"/>
                      <a:gd name="T2" fmla="*/ 0 w 21619"/>
                      <a:gd name="T3" fmla="*/ 0 h 21740"/>
                      <a:gd name="T4" fmla="*/ 0 w 21619"/>
                      <a:gd name="T5" fmla="*/ 0 h 21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40" fill="none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</a:path>
                      <a:path w="21619" h="21740" stroke="0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  <a:lnTo>
                          <a:pt x="19" y="14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3" name="Arc 165"/>
                  <p:cNvSpPr>
                    <a:spLocks/>
                  </p:cNvSpPr>
                  <p:nvPr/>
                </p:nvSpPr>
                <p:spPr bwMode="auto">
                  <a:xfrm>
                    <a:off x="2652" y="1553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</a:path>
                      <a:path w="21600" h="21910" stroke="0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  <a:lnTo>
                          <a:pt x="21600" y="310"/>
                        </a:lnTo>
                        <a:lnTo>
                          <a:pt x="21585" y="2190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69" name="Group 166"/>
                <p:cNvGrpSpPr>
                  <a:grpSpLocks/>
                </p:cNvGrpSpPr>
                <p:nvPr/>
              </p:nvGrpSpPr>
              <p:grpSpPr bwMode="auto">
                <a:xfrm>
                  <a:off x="2653" y="1523"/>
                  <a:ext cx="165" cy="77"/>
                  <a:chOff x="2653" y="1523"/>
                  <a:chExt cx="165" cy="77"/>
                </a:xfrm>
              </p:grpSpPr>
              <p:sp>
                <p:nvSpPr>
                  <p:cNvPr id="170" name="Arc 167"/>
                  <p:cNvSpPr>
                    <a:spLocks/>
                  </p:cNvSpPr>
                  <p:nvPr/>
                </p:nvSpPr>
                <p:spPr bwMode="auto">
                  <a:xfrm>
                    <a:off x="2735" y="1523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1" name="Arc 168"/>
                  <p:cNvSpPr>
                    <a:spLocks/>
                  </p:cNvSpPr>
                  <p:nvPr/>
                </p:nvSpPr>
                <p:spPr bwMode="auto">
                  <a:xfrm>
                    <a:off x="2653" y="1523"/>
                    <a:ext cx="82" cy="30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0" y="21290"/>
                        </a:moveTo>
                        <a:cubicBezTo>
                          <a:pt x="169" y="9488"/>
                          <a:pt x="9780" y="8"/>
                          <a:pt x="21583" y="0"/>
                        </a:cubicBezTo>
                      </a:path>
                      <a:path w="21598" h="21600" stroke="0" extrusionOk="0">
                        <a:moveTo>
                          <a:pt x="0" y="21290"/>
                        </a:moveTo>
                        <a:cubicBezTo>
                          <a:pt x="169" y="9488"/>
                          <a:pt x="9780" y="8"/>
                          <a:pt x="21583" y="0"/>
                        </a:cubicBezTo>
                        <a:lnTo>
                          <a:pt x="21598" y="21600"/>
                        </a:lnTo>
                        <a:lnTo>
                          <a:pt x="0" y="2129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50" name="Group 169"/>
              <p:cNvGrpSpPr>
                <a:grpSpLocks/>
              </p:cNvGrpSpPr>
              <p:nvPr/>
            </p:nvGrpSpPr>
            <p:grpSpPr bwMode="auto">
              <a:xfrm>
                <a:off x="2652" y="1423"/>
                <a:ext cx="166" cy="95"/>
                <a:chOff x="2652" y="1423"/>
                <a:chExt cx="166" cy="95"/>
              </a:xfrm>
            </p:grpSpPr>
            <p:grpSp>
              <p:nvGrpSpPr>
                <p:cNvPr id="162" name="Group 170"/>
                <p:cNvGrpSpPr>
                  <a:grpSpLocks/>
                </p:cNvGrpSpPr>
                <p:nvPr/>
              </p:nvGrpSpPr>
              <p:grpSpPr bwMode="auto">
                <a:xfrm>
                  <a:off x="2652" y="1423"/>
                  <a:ext cx="166" cy="77"/>
                  <a:chOff x="2652" y="1423"/>
                  <a:chExt cx="166" cy="77"/>
                </a:xfrm>
              </p:grpSpPr>
              <p:sp>
                <p:nvSpPr>
                  <p:cNvPr id="166" name="Arc 171"/>
                  <p:cNvSpPr>
                    <a:spLocks/>
                  </p:cNvSpPr>
                  <p:nvPr/>
                </p:nvSpPr>
                <p:spPr bwMode="auto">
                  <a:xfrm>
                    <a:off x="2735" y="1423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20"/>
                      <a:gd name="T2" fmla="*/ 0 w 21619"/>
                      <a:gd name="T3" fmla="*/ 0 h 21720"/>
                      <a:gd name="T4" fmla="*/ 0 w 21619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20" fill="none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</a:path>
                      <a:path w="21619" h="21720" stroke="0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  <a:lnTo>
                          <a:pt x="19" y="12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7" name="Arc 172"/>
                  <p:cNvSpPr>
                    <a:spLocks/>
                  </p:cNvSpPr>
                  <p:nvPr/>
                </p:nvSpPr>
                <p:spPr bwMode="auto">
                  <a:xfrm>
                    <a:off x="2652" y="1464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584" y="21599"/>
                        </a:moveTo>
                        <a:cubicBezTo>
                          <a:pt x="9660" y="21591"/>
                          <a:pt x="0" y="11923"/>
                          <a:pt x="0" y="0"/>
                        </a:cubicBezTo>
                      </a:path>
                      <a:path w="21600" h="21600" stroke="0" extrusionOk="0">
                        <a:moveTo>
                          <a:pt x="21584" y="21599"/>
                        </a:moveTo>
                        <a:cubicBezTo>
                          <a:pt x="9660" y="21591"/>
                          <a:pt x="0" y="11923"/>
                          <a:pt x="0" y="0"/>
                        </a:cubicBezTo>
                        <a:lnTo>
                          <a:pt x="21600" y="0"/>
                        </a:lnTo>
                        <a:lnTo>
                          <a:pt x="21584" y="2159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63" name="Group 173"/>
                <p:cNvGrpSpPr>
                  <a:grpSpLocks/>
                </p:cNvGrpSpPr>
                <p:nvPr/>
              </p:nvGrpSpPr>
              <p:grpSpPr bwMode="auto">
                <a:xfrm>
                  <a:off x="2653" y="1441"/>
                  <a:ext cx="165" cy="77"/>
                  <a:chOff x="2653" y="1441"/>
                  <a:chExt cx="165" cy="77"/>
                </a:xfrm>
              </p:grpSpPr>
              <p:sp>
                <p:nvSpPr>
                  <p:cNvPr id="164" name="Arc 174"/>
                  <p:cNvSpPr>
                    <a:spLocks/>
                  </p:cNvSpPr>
                  <p:nvPr/>
                </p:nvSpPr>
                <p:spPr bwMode="auto">
                  <a:xfrm>
                    <a:off x="2735" y="1441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5" name="Arc 175"/>
                  <p:cNvSpPr>
                    <a:spLocks/>
                  </p:cNvSpPr>
                  <p:nvPr/>
                </p:nvSpPr>
                <p:spPr bwMode="auto">
                  <a:xfrm>
                    <a:off x="2653" y="1441"/>
                    <a:ext cx="82" cy="29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0" y="21285"/>
                        </a:moveTo>
                        <a:cubicBezTo>
                          <a:pt x="172" y="9485"/>
                          <a:pt x="9782" y="8"/>
                          <a:pt x="21583" y="0"/>
                        </a:cubicBezTo>
                      </a:path>
                      <a:path w="21598" h="21600" stroke="0" extrusionOk="0">
                        <a:moveTo>
                          <a:pt x="0" y="21285"/>
                        </a:moveTo>
                        <a:cubicBezTo>
                          <a:pt x="172" y="9485"/>
                          <a:pt x="9782" y="8"/>
                          <a:pt x="21583" y="0"/>
                        </a:cubicBezTo>
                        <a:lnTo>
                          <a:pt x="21598" y="21600"/>
                        </a:lnTo>
                        <a:lnTo>
                          <a:pt x="0" y="21285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51" name="Group 176"/>
              <p:cNvGrpSpPr>
                <a:grpSpLocks/>
              </p:cNvGrpSpPr>
              <p:nvPr/>
            </p:nvGrpSpPr>
            <p:grpSpPr bwMode="auto">
              <a:xfrm>
                <a:off x="2652" y="1341"/>
                <a:ext cx="166" cy="94"/>
                <a:chOff x="2652" y="1341"/>
                <a:chExt cx="166" cy="94"/>
              </a:xfrm>
            </p:grpSpPr>
            <p:grpSp>
              <p:nvGrpSpPr>
                <p:cNvPr id="156" name="Group 177"/>
                <p:cNvGrpSpPr>
                  <a:grpSpLocks/>
                </p:cNvGrpSpPr>
                <p:nvPr/>
              </p:nvGrpSpPr>
              <p:grpSpPr bwMode="auto">
                <a:xfrm>
                  <a:off x="2652" y="1341"/>
                  <a:ext cx="166" cy="77"/>
                  <a:chOff x="2652" y="1341"/>
                  <a:chExt cx="166" cy="77"/>
                </a:xfrm>
              </p:grpSpPr>
              <p:sp>
                <p:nvSpPr>
                  <p:cNvPr id="160" name="Arc 178"/>
                  <p:cNvSpPr>
                    <a:spLocks/>
                  </p:cNvSpPr>
                  <p:nvPr/>
                </p:nvSpPr>
                <p:spPr bwMode="auto">
                  <a:xfrm>
                    <a:off x="2735" y="1341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40"/>
                      <a:gd name="T2" fmla="*/ 0 w 21619"/>
                      <a:gd name="T3" fmla="*/ 0 h 21740"/>
                      <a:gd name="T4" fmla="*/ 0 w 21619"/>
                      <a:gd name="T5" fmla="*/ 0 h 21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40" fill="none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</a:path>
                      <a:path w="21619" h="21740" stroke="0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  <a:lnTo>
                          <a:pt x="19" y="14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1" name="Arc 179"/>
                  <p:cNvSpPr>
                    <a:spLocks/>
                  </p:cNvSpPr>
                  <p:nvPr/>
                </p:nvSpPr>
                <p:spPr bwMode="auto">
                  <a:xfrm>
                    <a:off x="2652" y="1382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43"/>
                      <a:gd name="T2" fmla="*/ 0 w 21600"/>
                      <a:gd name="T3" fmla="*/ 0 h 21643"/>
                      <a:gd name="T4" fmla="*/ 0 w 21600"/>
                      <a:gd name="T5" fmla="*/ 0 h 2164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3" fill="none" extrusionOk="0">
                        <a:moveTo>
                          <a:pt x="21584" y="21642"/>
                        </a:moveTo>
                        <a:cubicBezTo>
                          <a:pt x="9660" y="21634"/>
                          <a:pt x="0" y="11966"/>
                          <a:pt x="0" y="43"/>
                        </a:cubicBezTo>
                        <a:cubicBezTo>
                          <a:pt x="-1" y="28"/>
                          <a:pt x="0" y="14"/>
                          <a:pt x="0" y="0"/>
                        </a:cubicBezTo>
                      </a:path>
                      <a:path w="21600" h="21643" stroke="0" extrusionOk="0">
                        <a:moveTo>
                          <a:pt x="21584" y="21642"/>
                        </a:moveTo>
                        <a:cubicBezTo>
                          <a:pt x="9660" y="21634"/>
                          <a:pt x="0" y="11966"/>
                          <a:pt x="0" y="43"/>
                        </a:cubicBezTo>
                        <a:cubicBezTo>
                          <a:pt x="-1" y="28"/>
                          <a:pt x="0" y="14"/>
                          <a:pt x="0" y="0"/>
                        </a:cubicBezTo>
                        <a:lnTo>
                          <a:pt x="21600" y="43"/>
                        </a:lnTo>
                        <a:lnTo>
                          <a:pt x="21584" y="21642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57" name="Group 180"/>
                <p:cNvGrpSpPr>
                  <a:grpSpLocks/>
                </p:cNvGrpSpPr>
                <p:nvPr/>
              </p:nvGrpSpPr>
              <p:grpSpPr bwMode="auto">
                <a:xfrm>
                  <a:off x="2653" y="1358"/>
                  <a:ext cx="165" cy="77"/>
                  <a:chOff x="2653" y="1358"/>
                  <a:chExt cx="165" cy="77"/>
                </a:xfrm>
              </p:grpSpPr>
              <p:sp>
                <p:nvSpPr>
                  <p:cNvPr id="158" name="Arc 181"/>
                  <p:cNvSpPr>
                    <a:spLocks/>
                  </p:cNvSpPr>
                  <p:nvPr/>
                </p:nvSpPr>
                <p:spPr bwMode="auto">
                  <a:xfrm>
                    <a:off x="2735" y="1358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9" name="Arc 182"/>
                  <p:cNvSpPr>
                    <a:spLocks/>
                  </p:cNvSpPr>
                  <p:nvPr/>
                </p:nvSpPr>
                <p:spPr bwMode="auto">
                  <a:xfrm>
                    <a:off x="2653" y="1358"/>
                    <a:ext cx="82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0" y="21239"/>
                        </a:moveTo>
                        <a:cubicBezTo>
                          <a:pt x="196" y="9457"/>
                          <a:pt x="9799" y="8"/>
                          <a:pt x="21582" y="0"/>
                        </a:cubicBezTo>
                      </a:path>
                      <a:path w="21597" h="21600" stroke="0" extrusionOk="0">
                        <a:moveTo>
                          <a:pt x="0" y="21239"/>
                        </a:moveTo>
                        <a:cubicBezTo>
                          <a:pt x="196" y="9457"/>
                          <a:pt x="9799" y="8"/>
                          <a:pt x="21582" y="0"/>
                        </a:cubicBezTo>
                        <a:lnTo>
                          <a:pt x="21597" y="21600"/>
                        </a:lnTo>
                        <a:lnTo>
                          <a:pt x="0" y="212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52" name="Arc 183"/>
              <p:cNvSpPr>
                <a:spLocks/>
              </p:cNvSpPr>
              <p:nvPr/>
            </p:nvSpPr>
            <p:spPr bwMode="auto">
              <a:xfrm>
                <a:off x="2735" y="1275"/>
                <a:ext cx="83" cy="77"/>
              </a:xfrm>
              <a:custGeom>
                <a:avLst/>
                <a:gdLst>
                  <a:gd name="T0" fmla="*/ 0 w 21618"/>
                  <a:gd name="T1" fmla="*/ 0 h 21600"/>
                  <a:gd name="T2" fmla="*/ 0 w 21618"/>
                  <a:gd name="T3" fmla="*/ 0 h 21600"/>
                  <a:gd name="T4" fmla="*/ 0 w 21618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18" h="21600" fill="none" extrusionOk="0">
                    <a:moveTo>
                      <a:pt x="0" y="0"/>
                    </a:moveTo>
                    <a:cubicBezTo>
                      <a:pt x="6" y="0"/>
                      <a:pt x="12" y="-1"/>
                      <a:pt x="18" y="0"/>
                    </a:cubicBezTo>
                    <a:cubicBezTo>
                      <a:pt x="11900" y="0"/>
                      <a:pt x="21551" y="9597"/>
                      <a:pt x="21617" y="21480"/>
                    </a:cubicBezTo>
                  </a:path>
                  <a:path w="21618" h="21600" stroke="0" extrusionOk="0">
                    <a:moveTo>
                      <a:pt x="0" y="0"/>
                    </a:moveTo>
                    <a:cubicBezTo>
                      <a:pt x="6" y="0"/>
                      <a:pt x="12" y="-1"/>
                      <a:pt x="18" y="0"/>
                    </a:cubicBezTo>
                    <a:cubicBezTo>
                      <a:pt x="11900" y="0"/>
                      <a:pt x="21551" y="9597"/>
                      <a:pt x="21617" y="21480"/>
                    </a:cubicBezTo>
                    <a:lnTo>
                      <a:pt x="18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" name="Arc 184"/>
              <p:cNvSpPr>
                <a:spLocks/>
              </p:cNvSpPr>
              <p:nvPr/>
            </p:nvSpPr>
            <p:spPr bwMode="auto">
              <a:xfrm>
                <a:off x="2735" y="1848"/>
                <a:ext cx="83" cy="77"/>
              </a:xfrm>
              <a:custGeom>
                <a:avLst/>
                <a:gdLst>
                  <a:gd name="T0" fmla="*/ 0 w 21619"/>
                  <a:gd name="T1" fmla="*/ 0 h 21740"/>
                  <a:gd name="T2" fmla="*/ 0 w 21619"/>
                  <a:gd name="T3" fmla="*/ 0 h 21740"/>
                  <a:gd name="T4" fmla="*/ 0 w 21619"/>
                  <a:gd name="T5" fmla="*/ 0 h 217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19" h="21740" fill="none" extrusionOk="0">
                    <a:moveTo>
                      <a:pt x="21618" y="0"/>
                    </a:moveTo>
                    <a:cubicBezTo>
                      <a:pt x="21618" y="46"/>
                      <a:pt x="21619" y="93"/>
                      <a:pt x="21619" y="140"/>
                    </a:cubicBezTo>
                    <a:cubicBezTo>
                      <a:pt x="21619" y="12069"/>
                      <a:pt x="11948" y="21740"/>
                      <a:pt x="19" y="21740"/>
                    </a:cubicBezTo>
                    <a:cubicBezTo>
                      <a:pt x="12" y="21740"/>
                      <a:pt x="6" y="21739"/>
                      <a:pt x="0" y="21739"/>
                    </a:cubicBezTo>
                  </a:path>
                  <a:path w="21619" h="21740" stroke="0" extrusionOk="0">
                    <a:moveTo>
                      <a:pt x="21618" y="0"/>
                    </a:moveTo>
                    <a:cubicBezTo>
                      <a:pt x="21618" y="46"/>
                      <a:pt x="21619" y="93"/>
                      <a:pt x="21619" y="140"/>
                    </a:cubicBezTo>
                    <a:cubicBezTo>
                      <a:pt x="21619" y="12069"/>
                      <a:pt x="11948" y="21740"/>
                      <a:pt x="19" y="21740"/>
                    </a:cubicBezTo>
                    <a:cubicBezTo>
                      <a:pt x="12" y="21740"/>
                      <a:pt x="6" y="21739"/>
                      <a:pt x="0" y="21739"/>
                    </a:cubicBezTo>
                    <a:lnTo>
                      <a:pt x="19" y="140"/>
                    </a:lnTo>
                    <a:lnTo>
                      <a:pt x="21618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4" name="Line 185"/>
              <p:cNvSpPr>
                <a:spLocks noChangeShapeType="1"/>
              </p:cNvSpPr>
              <p:nvPr/>
            </p:nvSpPr>
            <p:spPr bwMode="auto">
              <a:xfrm flipV="1">
                <a:off x="2734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5" name="Line 186"/>
              <p:cNvSpPr>
                <a:spLocks noChangeShapeType="1"/>
              </p:cNvSpPr>
              <p:nvPr/>
            </p:nvSpPr>
            <p:spPr bwMode="auto">
              <a:xfrm flipV="1">
                <a:off x="2734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92" name="Line 187"/>
            <p:cNvSpPr>
              <a:spLocks noChangeShapeType="1"/>
            </p:cNvSpPr>
            <p:nvPr/>
          </p:nvSpPr>
          <p:spPr bwMode="auto">
            <a:xfrm flipV="1">
              <a:off x="6390152" y="2040528"/>
              <a:ext cx="1588" cy="1698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3" name="Line 188"/>
            <p:cNvSpPr>
              <a:spLocks noChangeShapeType="1"/>
            </p:cNvSpPr>
            <p:nvPr/>
          </p:nvSpPr>
          <p:spPr bwMode="auto">
            <a:xfrm flipV="1">
              <a:off x="6390152" y="3315290"/>
              <a:ext cx="1588" cy="5794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" name="Oval 189"/>
            <p:cNvSpPr>
              <a:spLocks noChangeArrowheads="1"/>
            </p:cNvSpPr>
            <p:nvPr/>
          </p:nvSpPr>
          <p:spPr bwMode="auto">
            <a:xfrm>
              <a:off x="6137740" y="3248615"/>
              <a:ext cx="111125" cy="93663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95" name="Rectangle 190"/>
            <p:cNvSpPr>
              <a:spLocks noChangeArrowheads="1"/>
            </p:cNvSpPr>
            <p:nvPr/>
          </p:nvSpPr>
          <p:spPr bwMode="auto">
            <a:xfrm>
              <a:off x="6034552" y="2377078"/>
              <a:ext cx="1143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solidFill>
                    <a:srgbClr val="000000"/>
                  </a:solidFill>
                  <a:latin typeface="Times" panose="02020603050405020304" pitchFamily="18" charset="0"/>
                </a:rPr>
                <a:t>n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96" name="Rectangle 191"/>
            <p:cNvSpPr>
              <a:spLocks noChangeArrowheads="1"/>
            </p:cNvSpPr>
            <p:nvPr/>
          </p:nvSpPr>
          <p:spPr bwMode="auto">
            <a:xfrm>
              <a:off x="6147265" y="2508840"/>
              <a:ext cx="82550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Times" panose="02020603050405020304" pitchFamily="18" charset="0"/>
                </a:rPr>
                <a:t>3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97" name="Group 192"/>
            <p:cNvGrpSpPr>
              <a:grpSpLocks/>
            </p:cNvGrpSpPr>
            <p:nvPr/>
          </p:nvGrpSpPr>
          <p:grpSpPr bwMode="auto">
            <a:xfrm>
              <a:off x="6071065" y="3932828"/>
              <a:ext cx="638175" cy="412750"/>
              <a:chOff x="2533" y="2337"/>
              <a:chExt cx="402" cy="260"/>
            </a:xfrm>
          </p:grpSpPr>
          <p:sp>
            <p:nvSpPr>
              <p:cNvPr id="198" name="Line 193"/>
              <p:cNvSpPr>
                <a:spLocks noChangeShapeType="1"/>
              </p:cNvSpPr>
              <p:nvPr/>
            </p:nvSpPr>
            <p:spPr bwMode="auto">
              <a:xfrm flipH="1">
                <a:off x="2533" y="2337"/>
                <a:ext cx="402" cy="1"/>
              </a:xfrm>
              <a:prstGeom prst="line">
                <a:avLst/>
              </a:prstGeom>
              <a:noFill/>
              <a:ln w="746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9" name="Line 194"/>
              <p:cNvSpPr>
                <a:spLocks noChangeShapeType="1"/>
              </p:cNvSpPr>
              <p:nvPr/>
            </p:nvSpPr>
            <p:spPr bwMode="auto">
              <a:xfrm>
                <a:off x="2734" y="2337"/>
                <a:ext cx="201" cy="2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0" name="Line 195"/>
              <p:cNvSpPr>
                <a:spLocks noChangeShapeType="1"/>
              </p:cNvSpPr>
              <p:nvPr/>
            </p:nvSpPr>
            <p:spPr bwMode="auto">
              <a:xfrm flipH="1">
                <a:off x="2533" y="2596"/>
                <a:ext cx="402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1" name="Line 196"/>
              <p:cNvSpPr>
                <a:spLocks noChangeShapeType="1"/>
              </p:cNvSpPr>
              <p:nvPr/>
            </p:nvSpPr>
            <p:spPr bwMode="auto">
              <a:xfrm flipV="1">
                <a:off x="2533" y="2337"/>
                <a:ext cx="201" cy="2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02" name="Line 197"/>
            <p:cNvSpPr>
              <a:spLocks noChangeShapeType="1"/>
            </p:cNvSpPr>
            <p:nvPr/>
          </p:nvSpPr>
          <p:spPr bwMode="auto">
            <a:xfrm>
              <a:off x="4159715" y="3707403"/>
              <a:ext cx="1587" cy="11795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3" name="Line 198"/>
            <p:cNvSpPr>
              <a:spLocks noChangeShapeType="1"/>
            </p:cNvSpPr>
            <p:nvPr/>
          </p:nvSpPr>
          <p:spPr bwMode="auto">
            <a:xfrm>
              <a:off x="4178765" y="4886915"/>
              <a:ext cx="2230437" cy="15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" name="Line 199"/>
            <p:cNvSpPr>
              <a:spLocks noChangeShapeType="1"/>
            </p:cNvSpPr>
            <p:nvPr/>
          </p:nvSpPr>
          <p:spPr bwMode="auto">
            <a:xfrm>
              <a:off x="6390152" y="4343990"/>
              <a:ext cx="1588" cy="5429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5" name="Line 200"/>
            <p:cNvSpPr>
              <a:spLocks noChangeShapeType="1"/>
            </p:cNvSpPr>
            <p:nvPr/>
          </p:nvSpPr>
          <p:spPr bwMode="auto">
            <a:xfrm>
              <a:off x="4140665" y="2023065"/>
              <a:ext cx="2268537" cy="15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6" name="Line 201"/>
            <p:cNvSpPr>
              <a:spLocks noChangeShapeType="1"/>
            </p:cNvSpPr>
            <p:nvPr/>
          </p:nvSpPr>
          <p:spPr bwMode="auto">
            <a:xfrm>
              <a:off x="6709240" y="2227853"/>
              <a:ext cx="1587" cy="10683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07" name="Group 202"/>
            <p:cNvGrpSpPr>
              <a:grpSpLocks/>
            </p:cNvGrpSpPr>
            <p:nvPr/>
          </p:nvGrpSpPr>
          <p:grpSpPr bwMode="auto">
            <a:xfrm>
              <a:off x="8301502" y="2546940"/>
              <a:ext cx="638175" cy="431800"/>
              <a:chOff x="3938" y="1464"/>
              <a:chExt cx="402" cy="272"/>
            </a:xfrm>
          </p:grpSpPr>
          <p:sp>
            <p:nvSpPr>
              <p:cNvPr id="208" name="Line 203"/>
              <p:cNvSpPr>
                <a:spLocks noChangeShapeType="1"/>
              </p:cNvSpPr>
              <p:nvPr/>
            </p:nvSpPr>
            <p:spPr bwMode="auto">
              <a:xfrm flipH="1">
                <a:off x="3938" y="1464"/>
                <a:ext cx="402" cy="1"/>
              </a:xfrm>
              <a:prstGeom prst="line">
                <a:avLst/>
              </a:prstGeom>
              <a:noFill/>
              <a:ln w="746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9" name="Line 204"/>
              <p:cNvSpPr>
                <a:spLocks noChangeShapeType="1"/>
              </p:cNvSpPr>
              <p:nvPr/>
            </p:nvSpPr>
            <p:spPr bwMode="auto">
              <a:xfrm>
                <a:off x="4139" y="1464"/>
                <a:ext cx="201" cy="2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10" name="Line 205"/>
              <p:cNvSpPr>
                <a:spLocks noChangeShapeType="1"/>
              </p:cNvSpPr>
              <p:nvPr/>
            </p:nvSpPr>
            <p:spPr bwMode="auto">
              <a:xfrm flipH="1">
                <a:off x="3938" y="1735"/>
                <a:ext cx="402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11" name="Line 206"/>
              <p:cNvSpPr>
                <a:spLocks noChangeShapeType="1"/>
              </p:cNvSpPr>
              <p:nvPr/>
            </p:nvSpPr>
            <p:spPr bwMode="auto">
              <a:xfrm flipV="1">
                <a:off x="3938" y="1464"/>
                <a:ext cx="201" cy="2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12" name="Line 207"/>
            <p:cNvSpPr>
              <a:spLocks noChangeShapeType="1"/>
            </p:cNvSpPr>
            <p:nvPr/>
          </p:nvSpPr>
          <p:spPr bwMode="auto">
            <a:xfrm>
              <a:off x="8620590" y="2977153"/>
              <a:ext cx="1587" cy="5254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3" name="Line 208"/>
            <p:cNvSpPr>
              <a:spLocks noChangeShapeType="1"/>
            </p:cNvSpPr>
            <p:nvPr/>
          </p:nvSpPr>
          <p:spPr bwMode="auto">
            <a:xfrm>
              <a:off x="8620590" y="2023065"/>
              <a:ext cx="1587" cy="5238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4" name="Rectangle 209"/>
            <p:cNvSpPr>
              <a:spLocks noChangeArrowheads="1"/>
            </p:cNvSpPr>
            <p:nvPr/>
          </p:nvSpPr>
          <p:spPr bwMode="auto">
            <a:xfrm>
              <a:off x="7139452" y="1516653"/>
              <a:ext cx="1920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100" b="1">
                  <a:solidFill>
                    <a:srgbClr val="000000"/>
                  </a:solidFill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15" name="Rectangle 210"/>
            <p:cNvSpPr>
              <a:spLocks noChangeArrowheads="1"/>
            </p:cNvSpPr>
            <p:nvPr/>
          </p:nvSpPr>
          <p:spPr bwMode="auto">
            <a:xfrm>
              <a:off x="7363290" y="1667465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500" b="1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16" name="Rectangle 211"/>
            <p:cNvSpPr>
              <a:spLocks noChangeArrowheads="1"/>
            </p:cNvSpPr>
            <p:nvPr/>
          </p:nvSpPr>
          <p:spPr bwMode="auto">
            <a:xfrm>
              <a:off x="9030165" y="2902540"/>
              <a:ext cx="1920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100" b="1">
                  <a:solidFill>
                    <a:srgbClr val="000000"/>
                  </a:solidFill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17" name="Rectangle 212"/>
            <p:cNvSpPr>
              <a:spLocks noChangeArrowheads="1"/>
            </p:cNvSpPr>
            <p:nvPr/>
          </p:nvSpPr>
          <p:spPr bwMode="auto">
            <a:xfrm>
              <a:off x="9274640" y="3051765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500" b="1">
                  <a:solidFill>
                    <a:srgbClr val="000000"/>
                  </a:solidFill>
                  <a:latin typeface="Times" panose="02020603050405020304" pitchFamily="18" charset="0"/>
                </a:rPr>
                <a:t>2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18" name="Rectangle 213"/>
            <p:cNvSpPr>
              <a:spLocks noChangeArrowheads="1"/>
            </p:cNvSpPr>
            <p:nvPr/>
          </p:nvSpPr>
          <p:spPr bwMode="auto">
            <a:xfrm>
              <a:off x="6502865" y="4382090"/>
              <a:ext cx="1920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100" b="1">
                  <a:solidFill>
                    <a:srgbClr val="000000"/>
                  </a:solidFill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19" name="Rectangle 214"/>
            <p:cNvSpPr>
              <a:spLocks noChangeArrowheads="1"/>
            </p:cNvSpPr>
            <p:nvPr/>
          </p:nvSpPr>
          <p:spPr bwMode="auto">
            <a:xfrm>
              <a:off x="6783852" y="4531315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500" b="1">
                  <a:solidFill>
                    <a:srgbClr val="000000"/>
                  </a:solidFill>
                  <a:latin typeface="Times" panose="02020603050405020304" pitchFamily="18" charset="0"/>
                </a:rPr>
                <a:t>3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222" name="Group 217"/>
            <p:cNvGrpSpPr>
              <a:grpSpLocks/>
            </p:cNvGrpSpPr>
            <p:nvPr/>
          </p:nvGrpSpPr>
          <p:grpSpPr bwMode="auto">
            <a:xfrm rot="16200000">
              <a:off x="9453233" y="1393622"/>
              <a:ext cx="282575" cy="1236662"/>
              <a:chOff x="2179" y="1204"/>
              <a:chExt cx="178" cy="779"/>
            </a:xfrm>
          </p:grpSpPr>
          <p:grpSp>
            <p:nvGrpSpPr>
              <p:cNvPr id="223" name="Group 218"/>
              <p:cNvGrpSpPr>
                <a:grpSpLocks/>
              </p:cNvGrpSpPr>
              <p:nvPr/>
            </p:nvGrpSpPr>
            <p:grpSpPr bwMode="auto">
              <a:xfrm>
                <a:off x="2179" y="1753"/>
                <a:ext cx="178" cy="95"/>
                <a:chOff x="2179" y="1753"/>
                <a:chExt cx="178" cy="95"/>
              </a:xfrm>
            </p:grpSpPr>
            <p:grpSp>
              <p:nvGrpSpPr>
                <p:cNvPr id="263" name="Group 219"/>
                <p:cNvGrpSpPr>
                  <a:grpSpLocks/>
                </p:cNvGrpSpPr>
                <p:nvPr/>
              </p:nvGrpSpPr>
              <p:grpSpPr bwMode="auto">
                <a:xfrm>
                  <a:off x="2179" y="1753"/>
                  <a:ext cx="178" cy="77"/>
                  <a:chOff x="2179" y="1753"/>
                  <a:chExt cx="178" cy="77"/>
                </a:xfrm>
              </p:grpSpPr>
              <p:sp>
                <p:nvSpPr>
                  <p:cNvPr id="267" name="Arc 220"/>
                  <p:cNvSpPr>
                    <a:spLocks/>
                  </p:cNvSpPr>
                  <p:nvPr/>
                </p:nvSpPr>
                <p:spPr bwMode="auto">
                  <a:xfrm>
                    <a:off x="2268" y="175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8" name="Arc 221"/>
                  <p:cNvSpPr>
                    <a:spLocks/>
                  </p:cNvSpPr>
                  <p:nvPr/>
                </p:nvSpPr>
                <p:spPr bwMode="auto">
                  <a:xfrm>
                    <a:off x="2179" y="1800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64" name="Group 222"/>
                <p:cNvGrpSpPr>
                  <a:grpSpLocks/>
                </p:cNvGrpSpPr>
                <p:nvPr/>
              </p:nvGrpSpPr>
              <p:grpSpPr bwMode="auto">
                <a:xfrm>
                  <a:off x="2179" y="1771"/>
                  <a:ext cx="178" cy="77"/>
                  <a:chOff x="2179" y="1771"/>
                  <a:chExt cx="178" cy="77"/>
                </a:xfrm>
              </p:grpSpPr>
              <p:sp>
                <p:nvSpPr>
                  <p:cNvPr id="265" name="Arc 223"/>
                  <p:cNvSpPr>
                    <a:spLocks/>
                  </p:cNvSpPr>
                  <p:nvPr/>
                </p:nvSpPr>
                <p:spPr bwMode="auto">
                  <a:xfrm>
                    <a:off x="2268" y="177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6" name="Arc 224"/>
                  <p:cNvSpPr>
                    <a:spLocks/>
                  </p:cNvSpPr>
                  <p:nvPr/>
                </p:nvSpPr>
                <p:spPr bwMode="auto">
                  <a:xfrm>
                    <a:off x="2179" y="1771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24" name="Group 225"/>
              <p:cNvGrpSpPr>
                <a:grpSpLocks/>
              </p:cNvGrpSpPr>
              <p:nvPr/>
            </p:nvGrpSpPr>
            <p:grpSpPr bwMode="auto">
              <a:xfrm>
                <a:off x="2179" y="1670"/>
                <a:ext cx="178" cy="95"/>
                <a:chOff x="2179" y="1670"/>
                <a:chExt cx="178" cy="95"/>
              </a:xfrm>
            </p:grpSpPr>
            <p:grpSp>
              <p:nvGrpSpPr>
                <p:cNvPr id="257" name="Group 226"/>
                <p:cNvGrpSpPr>
                  <a:grpSpLocks/>
                </p:cNvGrpSpPr>
                <p:nvPr/>
              </p:nvGrpSpPr>
              <p:grpSpPr bwMode="auto">
                <a:xfrm>
                  <a:off x="2179" y="1670"/>
                  <a:ext cx="178" cy="78"/>
                  <a:chOff x="2179" y="1670"/>
                  <a:chExt cx="178" cy="78"/>
                </a:xfrm>
              </p:grpSpPr>
              <p:sp>
                <p:nvSpPr>
                  <p:cNvPr id="261" name="Arc 227"/>
                  <p:cNvSpPr>
                    <a:spLocks/>
                  </p:cNvSpPr>
                  <p:nvPr/>
                </p:nvSpPr>
                <p:spPr bwMode="auto">
                  <a:xfrm>
                    <a:off x="2268" y="167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2" name="Arc 228"/>
                  <p:cNvSpPr>
                    <a:spLocks/>
                  </p:cNvSpPr>
                  <p:nvPr/>
                </p:nvSpPr>
                <p:spPr bwMode="auto">
                  <a:xfrm>
                    <a:off x="2179" y="1718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58" name="Group 229"/>
                <p:cNvGrpSpPr>
                  <a:grpSpLocks/>
                </p:cNvGrpSpPr>
                <p:nvPr/>
              </p:nvGrpSpPr>
              <p:grpSpPr bwMode="auto">
                <a:xfrm>
                  <a:off x="2179" y="1688"/>
                  <a:ext cx="178" cy="77"/>
                  <a:chOff x="2179" y="1688"/>
                  <a:chExt cx="178" cy="77"/>
                </a:xfrm>
              </p:grpSpPr>
              <p:sp>
                <p:nvSpPr>
                  <p:cNvPr id="259" name="Arc 230"/>
                  <p:cNvSpPr>
                    <a:spLocks/>
                  </p:cNvSpPr>
                  <p:nvPr/>
                </p:nvSpPr>
                <p:spPr bwMode="auto">
                  <a:xfrm>
                    <a:off x="2268" y="168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0" name="Arc 231"/>
                  <p:cNvSpPr>
                    <a:spLocks/>
                  </p:cNvSpPr>
                  <p:nvPr/>
                </p:nvSpPr>
                <p:spPr bwMode="auto">
                  <a:xfrm>
                    <a:off x="2179" y="1688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</a:path>
                      <a:path w="21600" h="21600" stroke="0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  <a:lnTo>
                          <a:pt x="21600" y="21600"/>
                        </a:lnTo>
                        <a:lnTo>
                          <a:pt x="0" y="2155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25" name="Group 232"/>
              <p:cNvGrpSpPr>
                <a:grpSpLocks/>
              </p:cNvGrpSpPr>
              <p:nvPr/>
            </p:nvGrpSpPr>
            <p:grpSpPr bwMode="auto">
              <a:xfrm>
                <a:off x="2179" y="1588"/>
                <a:ext cx="178" cy="95"/>
                <a:chOff x="2179" y="1588"/>
                <a:chExt cx="178" cy="95"/>
              </a:xfrm>
            </p:grpSpPr>
            <p:grpSp>
              <p:nvGrpSpPr>
                <p:cNvPr id="251" name="Group 233"/>
                <p:cNvGrpSpPr>
                  <a:grpSpLocks/>
                </p:cNvGrpSpPr>
                <p:nvPr/>
              </p:nvGrpSpPr>
              <p:grpSpPr bwMode="auto">
                <a:xfrm>
                  <a:off x="2179" y="1588"/>
                  <a:ext cx="178" cy="77"/>
                  <a:chOff x="2179" y="1588"/>
                  <a:chExt cx="178" cy="77"/>
                </a:xfrm>
              </p:grpSpPr>
              <p:sp>
                <p:nvSpPr>
                  <p:cNvPr id="255" name="Arc 234"/>
                  <p:cNvSpPr>
                    <a:spLocks/>
                  </p:cNvSpPr>
                  <p:nvPr/>
                </p:nvSpPr>
                <p:spPr bwMode="auto">
                  <a:xfrm>
                    <a:off x="2268" y="1588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6" name="Arc 235"/>
                  <p:cNvSpPr>
                    <a:spLocks/>
                  </p:cNvSpPr>
                  <p:nvPr/>
                </p:nvSpPr>
                <p:spPr bwMode="auto">
                  <a:xfrm>
                    <a:off x="2179" y="1635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52" name="Group 236"/>
                <p:cNvGrpSpPr>
                  <a:grpSpLocks/>
                </p:cNvGrpSpPr>
                <p:nvPr/>
              </p:nvGrpSpPr>
              <p:grpSpPr bwMode="auto">
                <a:xfrm>
                  <a:off x="2179" y="1606"/>
                  <a:ext cx="178" cy="77"/>
                  <a:chOff x="2179" y="1606"/>
                  <a:chExt cx="178" cy="77"/>
                </a:xfrm>
              </p:grpSpPr>
              <p:sp>
                <p:nvSpPr>
                  <p:cNvPr id="253" name="Arc 237"/>
                  <p:cNvSpPr>
                    <a:spLocks/>
                  </p:cNvSpPr>
                  <p:nvPr/>
                </p:nvSpPr>
                <p:spPr bwMode="auto">
                  <a:xfrm>
                    <a:off x="2268" y="1606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4" name="Arc 238"/>
                  <p:cNvSpPr>
                    <a:spLocks/>
                  </p:cNvSpPr>
                  <p:nvPr/>
                </p:nvSpPr>
                <p:spPr bwMode="auto">
                  <a:xfrm>
                    <a:off x="2179" y="1606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26" name="Group 239"/>
              <p:cNvGrpSpPr>
                <a:grpSpLocks/>
              </p:cNvGrpSpPr>
              <p:nvPr/>
            </p:nvGrpSpPr>
            <p:grpSpPr bwMode="auto">
              <a:xfrm>
                <a:off x="2179" y="1505"/>
                <a:ext cx="178" cy="95"/>
                <a:chOff x="2179" y="1505"/>
                <a:chExt cx="178" cy="95"/>
              </a:xfrm>
            </p:grpSpPr>
            <p:grpSp>
              <p:nvGrpSpPr>
                <p:cNvPr id="245" name="Group 240"/>
                <p:cNvGrpSpPr>
                  <a:grpSpLocks/>
                </p:cNvGrpSpPr>
                <p:nvPr/>
              </p:nvGrpSpPr>
              <p:grpSpPr bwMode="auto">
                <a:xfrm>
                  <a:off x="2179" y="1505"/>
                  <a:ext cx="178" cy="78"/>
                  <a:chOff x="2179" y="1505"/>
                  <a:chExt cx="178" cy="78"/>
                </a:xfrm>
              </p:grpSpPr>
              <p:sp>
                <p:nvSpPr>
                  <p:cNvPr id="249" name="Arc 241"/>
                  <p:cNvSpPr>
                    <a:spLocks/>
                  </p:cNvSpPr>
                  <p:nvPr/>
                </p:nvSpPr>
                <p:spPr bwMode="auto">
                  <a:xfrm>
                    <a:off x="2268" y="1505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0" name="Arc 242"/>
                  <p:cNvSpPr>
                    <a:spLocks/>
                  </p:cNvSpPr>
                  <p:nvPr/>
                </p:nvSpPr>
                <p:spPr bwMode="auto">
                  <a:xfrm>
                    <a:off x="2179" y="1553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46" name="Group 243"/>
                <p:cNvGrpSpPr>
                  <a:grpSpLocks/>
                </p:cNvGrpSpPr>
                <p:nvPr/>
              </p:nvGrpSpPr>
              <p:grpSpPr bwMode="auto">
                <a:xfrm>
                  <a:off x="2180" y="1523"/>
                  <a:ext cx="177" cy="77"/>
                  <a:chOff x="2180" y="1523"/>
                  <a:chExt cx="177" cy="77"/>
                </a:xfrm>
              </p:grpSpPr>
              <p:sp>
                <p:nvSpPr>
                  <p:cNvPr id="247" name="Arc 244"/>
                  <p:cNvSpPr>
                    <a:spLocks/>
                  </p:cNvSpPr>
                  <p:nvPr/>
                </p:nvSpPr>
                <p:spPr bwMode="auto">
                  <a:xfrm>
                    <a:off x="2268" y="1523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48" name="Arc 245"/>
                  <p:cNvSpPr>
                    <a:spLocks/>
                  </p:cNvSpPr>
                  <p:nvPr/>
                </p:nvSpPr>
                <p:spPr bwMode="auto">
                  <a:xfrm>
                    <a:off x="2180" y="1523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-1" y="21268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27" name="Group 246"/>
              <p:cNvGrpSpPr>
                <a:grpSpLocks/>
              </p:cNvGrpSpPr>
              <p:nvPr/>
            </p:nvGrpSpPr>
            <p:grpSpPr bwMode="auto">
              <a:xfrm>
                <a:off x="2179" y="1423"/>
                <a:ext cx="178" cy="95"/>
                <a:chOff x="2179" y="1423"/>
                <a:chExt cx="178" cy="95"/>
              </a:xfrm>
            </p:grpSpPr>
            <p:grpSp>
              <p:nvGrpSpPr>
                <p:cNvPr id="239" name="Group 247"/>
                <p:cNvGrpSpPr>
                  <a:grpSpLocks/>
                </p:cNvGrpSpPr>
                <p:nvPr/>
              </p:nvGrpSpPr>
              <p:grpSpPr bwMode="auto">
                <a:xfrm>
                  <a:off x="2179" y="1423"/>
                  <a:ext cx="178" cy="77"/>
                  <a:chOff x="2179" y="1423"/>
                  <a:chExt cx="178" cy="77"/>
                </a:xfrm>
              </p:grpSpPr>
              <p:sp>
                <p:nvSpPr>
                  <p:cNvPr id="243" name="Arc 248"/>
                  <p:cNvSpPr>
                    <a:spLocks/>
                  </p:cNvSpPr>
                  <p:nvPr/>
                </p:nvSpPr>
                <p:spPr bwMode="auto">
                  <a:xfrm>
                    <a:off x="2268" y="142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44" name="Arc 249"/>
                  <p:cNvSpPr>
                    <a:spLocks/>
                  </p:cNvSpPr>
                  <p:nvPr/>
                </p:nvSpPr>
                <p:spPr bwMode="auto">
                  <a:xfrm>
                    <a:off x="2179" y="1464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</a:path>
                      <a:path w="21600" h="21600" stroke="0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  <a:lnTo>
                          <a:pt x="21600" y="0"/>
                        </a:lnTo>
                        <a:lnTo>
                          <a:pt x="21506" y="2159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40" name="Group 250"/>
                <p:cNvGrpSpPr>
                  <a:grpSpLocks/>
                </p:cNvGrpSpPr>
                <p:nvPr/>
              </p:nvGrpSpPr>
              <p:grpSpPr bwMode="auto">
                <a:xfrm>
                  <a:off x="2180" y="1441"/>
                  <a:ext cx="177" cy="77"/>
                  <a:chOff x="2180" y="1441"/>
                  <a:chExt cx="177" cy="77"/>
                </a:xfrm>
              </p:grpSpPr>
              <p:sp>
                <p:nvSpPr>
                  <p:cNvPr id="241" name="Arc 251"/>
                  <p:cNvSpPr>
                    <a:spLocks/>
                  </p:cNvSpPr>
                  <p:nvPr/>
                </p:nvSpPr>
                <p:spPr bwMode="auto">
                  <a:xfrm>
                    <a:off x="2268" y="144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42" name="Arc 252"/>
                  <p:cNvSpPr>
                    <a:spLocks/>
                  </p:cNvSpPr>
                  <p:nvPr/>
                </p:nvSpPr>
                <p:spPr bwMode="auto">
                  <a:xfrm>
                    <a:off x="2180" y="1441"/>
                    <a:ext cx="88" cy="29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</a:path>
                      <a:path w="21597" h="21600" stroke="0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  <a:lnTo>
                          <a:pt x="21597" y="21600"/>
                        </a:lnTo>
                        <a:lnTo>
                          <a:pt x="-1" y="21262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28" name="Group 253"/>
              <p:cNvGrpSpPr>
                <a:grpSpLocks/>
              </p:cNvGrpSpPr>
              <p:nvPr/>
            </p:nvGrpSpPr>
            <p:grpSpPr bwMode="auto">
              <a:xfrm>
                <a:off x="2179" y="1340"/>
                <a:ext cx="178" cy="95"/>
                <a:chOff x="2179" y="1340"/>
                <a:chExt cx="178" cy="95"/>
              </a:xfrm>
            </p:grpSpPr>
            <p:grpSp>
              <p:nvGrpSpPr>
                <p:cNvPr id="233" name="Group 254"/>
                <p:cNvGrpSpPr>
                  <a:grpSpLocks/>
                </p:cNvGrpSpPr>
                <p:nvPr/>
              </p:nvGrpSpPr>
              <p:grpSpPr bwMode="auto">
                <a:xfrm>
                  <a:off x="2179" y="1340"/>
                  <a:ext cx="178" cy="78"/>
                  <a:chOff x="2179" y="1340"/>
                  <a:chExt cx="178" cy="78"/>
                </a:xfrm>
              </p:grpSpPr>
              <p:sp>
                <p:nvSpPr>
                  <p:cNvPr id="237" name="Arc 255"/>
                  <p:cNvSpPr>
                    <a:spLocks/>
                  </p:cNvSpPr>
                  <p:nvPr/>
                </p:nvSpPr>
                <p:spPr bwMode="auto">
                  <a:xfrm>
                    <a:off x="2268" y="134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38" name="Arc 256"/>
                  <p:cNvSpPr>
                    <a:spLocks/>
                  </p:cNvSpPr>
                  <p:nvPr/>
                </p:nvSpPr>
                <p:spPr bwMode="auto">
                  <a:xfrm>
                    <a:off x="2179" y="1382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46"/>
                      <a:gd name="T2" fmla="*/ 0 w 21600"/>
                      <a:gd name="T3" fmla="*/ 0 h 21646"/>
                      <a:gd name="T4" fmla="*/ 0 w 21600"/>
                      <a:gd name="T5" fmla="*/ 0 h 2164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6" fill="none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</a:path>
                      <a:path w="21600" h="21646" stroke="0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  <a:lnTo>
                          <a:pt x="21600" y="46"/>
                        </a:lnTo>
                        <a:lnTo>
                          <a:pt x="21504" y="21645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34" name="Group 257"/>
                <p:cNvGrpSpPr>
                  <a:grpSpLocks/>
                </p:cNvGrpSpPr>
                <p:nvPr/>
              </p:nvGrpSpPr>
              <p:grpSpPr bwMode="auto">
                <a:xfrm>
                  <a:off x="2180" y="1358"/>
                  <a:ext cx="177" cy="77"/>
                  <a:chOff x="2180" y="1358"/>
                  <a:chExt cx="177" cy="77"/>
                </a:xfrm>
              </p:grpSpPr>
              <p:sp>
                <p:nvSpPr>
                  <p:cNvPr id="235" name="Arc 258"/>
                  <p:cNvSpPr>
                    <a:spLocks/>
                  </p:cNvSpPr>
                  <p:nvPr/>
                </p:nvSpPr>
                <p:spPr bwMode="auto">
                  <a:xfrm>
                    <a:off x="2268" y="135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36" name="Arc 259"/>
                  <p:cNvSpPr>
                    <a:spLocks/>
                  </p:cNvSpPr>
                  <p:nvPr/>
                </p:nvSpPr>
                <p:spPr bwMode="auto">
                  <a:xfrm>
                    <a:off x="2180" y="1358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0" y="212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229" name="Arc 260"/>
              <p:cNvSpPr>
                <a:spLocks/>
              </p:cNvSpPr>
              <p:nvPr/>
            </p:nvSpPr>
            <p:spPr bwMode="auto">
              <a:xfrm>
                <a:off x="2268" y="1275"/>
                <a:ext cx="89" cy="77"/>
              </a:xfrm>
              <a:custGeom>
                <a:avLst/>
                <a:gdLst>
                  <a:gd name="T0" fmla="*/ 0 w 21707"/>
                  <a:gd name="T1" fmla="*/ 0 h 21600"/>
                  <a:gd name="T2" fmla="*/ 0 w 21707"/>
                  <a:gd name="T3" fmla="*/ 0 h 21600"/>
                  <a:gd name="T4" fmla="*/ 0 w 2170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07" h="21600" fill="none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</a:path>
                  <a:path w="21707" h="21600" stroke="0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  <a:lnTo>
                      <a:pt x="107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0" name="Arc 261"/>
              <p:cNvSpPr>
                <a:spLocks/>
              </p:cNvSpPr>
              <p:nvPr/>
            </p:nvSpPr>
            <p:spPr bwMode="auto">
              <a:xfrm>
                <a:off x="2268" y="1847"/>
                <a:ext cx="89" cy="77"/>
              </a:xfrm>
              <a:custGeom>
                <a:avLst/>
                <a:gdLst>
                  <a:gd name="T0" fmla="*/ 0 w 21710"/>
                  <a:gd name="T1" fmla="*/ 0 h 21750"/>
                  <a:gd name="T2" fmla="*/ 0 w 21710"/>
                  <a:gd name="T3" fmla="*/ 0 h 21750"/>
                  <a:gd name="T4" fmla="*/ 0 w 21710"/>
                  <a:gd name="T5" fmla="*/ 0 h 217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10" h="21750" fill="none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</a:path>
                  <a:path w="21710" h="21750" stroke="0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  <a:lnTo>
                      <a:pt x="110" y="150"/>
                    </a:lnTo>
                    <a:lnTo>
                      <a:pt x="21709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1" name="Line 262"/>
              <p:cNvSpPr>
                <a:spLocks noChangeShapeType="1"/>
              </p:cNvSpPr>
              <p:nvPr/>
            </p:nvSpPr>
            <p:spPr bwMode="auto">
              <a:xfrm flipV="1">
                <a:off x="2262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2" name="Line 263"/>
              <p:cNvSpPr>
                <a:spLocks noChangeShapeType="1"/>
              </p:cNvSpPr>
              <p:nvPr/>
            </p:nvSpPr>
            <p:spPr bwMode="auto">
              <a:xfrm flipV="1">
                <a:off x="2262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69" name="Line 264"/>
            <p:cNvSpPr>
              <a:spLocks noChangeShapeType="1"/>
            </p:cNvSpPr>
            <p:nvPr/>
          </p:nvSpPr>
          <p:spPr bwMode="auto">
            <a:xfrm>
              <a:off x="10127127" y="2015128"/>
              <a:ext cx="368300" cy="111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1" name="Line 266"/>
            <p:cNvSpPr>
              <a:spLocks noChangeShapeType="1"/>
            </p:cNvSpPr>
            <p:nvPr/>
          </p:nvSpPr>
          <p:spPr bwMode="auto">
            <a:xfrm flipV="1">
              <a:off x="8561852" y="2026240"/>
              <a:ext cx="37147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5" name="Text Box 270"/>
            <p:cNvSpPr txBox="1">
              <a:spLocks noChangeArrowheads="1"/>
            </p:cNvSpPr>
            <p:nvPr/>
          </p:nvSpPr>
          <p:spPr bwMode="auto">
            <a:xfrm>
              <a:off x="8734890" y="1480140"/>
              <a:ext cx="36353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L</a:t>
              </a:r>
            </a:p>
          </p:txBody>
        </p:sp>
      </p:grpSp>
      <p:sp>
        <p:nvSpPr>
          <p:cNvPr id="276" name="Oval 276"/>
          <p:cNvSpPr>
            <a:spLocks noChangeArrowheads="1"/>
          </p:cNvSpPr>
          <p:nvPr/>
        </p:nvSpPr>
        <p:spPr bwMode="auto">
          <a:xfrm>
            <a:off x="5145552" y="1851615"/>
            <a:ext cx="828675" cy="866775"/>
          </a:xfrm>
          <a:prstGeom prst="ellips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77" name="Oval 277"/>
          <p:cNvSpPr>
            <a:spLocks noChangeArrowheads="1"/>
          </p:cNvSpPr>
          <p:nvPr/>
        </p:nvSpPr>
        <p:spPr bwMode="auto">
          <a:xfrm>
            <a:off x="6013915" y="3034303"/>
            <a:ext cx="828675" cy="866775"/>
          </a:xfrm>
          <a:prstGeom prst="ellips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78" name="Oval 278"/>
          <p:cNvSpPr>
            <a:spLocks noChangeArrowheads="1"/>
          </p:cNvSpPr>
          <p:nvPr/>
        </p:nvSpPr>
        <p:spPr bwMode="auto">
          <a:xfrm>
            <a:off x="7082302" y="1502365"/>
            <a:ext cx="971550" cy="1009650"/>
          </a:xfrm>
          <a:prstGeom prst="ellipse">
            <a:avLst/>
          </a:prstGeom>
          <a:noFill/>
          <a:ln w="158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279" name="Group 271"/>
          <p:cNvGrpSpPr>
            <a:grpSpLocks/>
          </p:cNvGrpSpPr>
          <p:nvPr/>
        </p:nvGrpSpPr>
        <p:grpSpPr bwMode="auto">
          <a:xfrm>
            <a:off x="4193052" y="5388565"/>
            <a:ext cx="6019800" cy="914400"/>
            <a:chOff x="876" y="3234"/>
            <a:chExt cx="3792" cy="576"/>
          </a:xfrm>
        </p:grpSpPr>
        <p:sp>
          <p:nvSpPr>
            <p:cNvPr id="280" name="Rectangle 272"/>
            <p:cNvSpPr>
              <a:spLocks noChangeArrowheads="1"/>
            </p:cNvSpPr>
            <p:nvPr/>
          </p:nvSpPr>
          <p:spPr bwMode="auto">
            <a:xfrm>
              <a:off x="876" y="3234"/>
              <a:ext cx="3792" cy="57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CA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83" name="Object 275"/>
            <p:cNvGraphicFramePr>
              <a:graphicFrameLocks noChangeAspect="1"/>
            </p:cNvGraphicFramePr>
            <p:nvPr/>
          </p:nvGraphicFramePr>
          <p:xfrm>
            <a:off x="1346" y="3255"/>
            <a:ext cx="2982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12900" imgH="292100" progId="Equation.3">
                    <p:embed/>
                  </p:oleObj>
                </mc:Choice>
                <mc:Fallback>
                  <p:oleObj name="Equation" r:id="rId2" imgW="1612900" imgH="292100" progId="Equation.3">
                    <p:embed/>
                    <p:pic>
                      <p:nvPicPr>
                        <p:cNvPr id="283" name="Object 2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6" y="3255"/>
                          <a:ext cx="2982" cy="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1" name="ZoneTexte 280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rgbClr val="FF0000"/>
                </a:solidFill>
              </a:rPr>
              <a:t>Principle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67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8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" grpId="0" animBg="1"/>
      <p:bldP spid="276" grpId="1" animBg="1"/>
      <p:bldP spid="277" grpId="0" animBg="1"/>
      <p:bldP spid="277" grpId="1" animBg="1"/>
      <p:bldP spid="278" grpId="0" animBg="1"/>
      <p:bldP spid="278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study: i</a:t>
            </a:r>
            <a:r>
              <a:rPr lang="en-US" sz="2000" baseline="-25000" dirty="0">
                <a:solidFill>
                  <a:srgbClr val="9E003B"/>
                </a:solidFill>
                <a:latin typeface="Myriad Pro"/>
                <a:cs typeface="Myriad Pro"/>
              </a:rPr>
              <a:t>L</a:t>
            </a: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 &gt; 0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476857" y="339810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4137382" y="1243864"/>
            <a:ext cx="6519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2400" b="1" i="1" dirty="0">
                <a:latin typeface="Times New Roman" panose="02020603050405020304" pitchFamily="18" charset="0"/>
              </a:rPr>
              <a:t>At least one of the two diodes D</a:t>
            </a:r>
            <a:r>
              <a:rPr lang="en-CA" altLang="fr-FR" sz="2400" b="1" i="1" baseline="-25000" dirty="0">
                <a:latin typeface="Times New Roman" panose="02020603050405020304" pitchFamily="18" charset="0"/>
              </a:rPr>
              <a:t>1</a:t>
            </a:r>
            <a:r>
              <a:rPr lang="en-CA" altLang="fr-FR" sz="2400" b="1" i="1" dirty="0">
                <a:latin typeface="Times New Roman" panose="02020603050405020304" pitchFamily="18" charset="0"/>
              </a:rPr>
              <a:t> and D</a:t>
            </a:r>
            <a:r>
              <a:rPr lang="en-CA" altLang="fr-FR" sz="2400" b="1" i="1" baseline="-25000" dirty="0">
                <a:latin typeface="Times New Roman" panose="02020603050405020304" pitchFamily="18" charset="0"/>
              </a:rPr>
              <a:t>2</a:t>
            </a:r>
            <a:r>
              <a:rPr lang="en-CA" altLang="fr-FR" sz="2400" b="1" i="1" dirty="0">
                <a:latin typeface="Times New Roman" panose="02020603050405020304" pitchFamily="18" charset="0"/>
              </a:rPr>
              <a:t> forwards.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2943582" y="1288314"/>
            <a:ext cx="1019175" cy="438150"/>
          </a:xfrm>
          <a:prstGeom prst="rightArrow">
            <a:avLst>
              <a:gd name="adj1" fmla="val 50000"/>
              <a:gd name="adj2" fmla="val 5815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3" name="Group 7"/>
          <p:cNvGrpSpPr>
            <a:grpSpLocks/>
          </p:cNvGrpSpPr>
          <p:nvPr/>
        </p:nvGrpSpPr>
        <p:grpSpPr bwMode="auto">
          <a:xfrm>
            <a:off x="2592745" y="2431314"/>
            <a:ext cx="5116512" cy="2552700"/>
            <a:chOff x="511" y="1590"/>
            <a:chExt cx="4317" cy="2154"/>
          </a:xfrm>
        </p:grpSpPr>
        <p:grpSp>
          <p:nvGrpSpPr>
            <p:cNvPr id="14" name="Group 8"/>
            <p:cNvGrpSpPr>
              <a:grpSpLocks/>
            </p:cNvGrpSpPr>
            <p:nvPr/>
          </p:nvGrpSpPr>
          <p:grpSpPr bwMode="auto">
            <a:xfrm>
              <a:off x="1490" y="2177"/>
              <a:ext cx="178" cy="779"/>
              <a:chOff x="2179" y="1204"/>
              <a:chExt cx="178" cy="779"/>
            </a:xfrm>
          </p:grpSpPr>
          <p:grpSp>
            <p:nvGrpSpPr>
              <p:cNvPr id="238" name="Group 9"/>
              <p:cNvGrpSpPr>
                <a:grpSpLocks/>
              </p:cNvGrpSpPr>
              <p:nvPr/>
            </p:nvGrpSpPr>
            <p:grpSpPr bwMode="auto">
              <a:xfrm>
                <a:off x="2179" y="1753"/>
                <a:ext cx="178" cy="95"/>
                <a:chOff x="2179" y="1753"/>
                <a:chExt cx="178" cy="95"/>
              </a:xfrm>
            </p:grpSpPr>
            <p:grpSp>
              <p:nvGrpSpPr>
                <p:cNvPr id="278" name="Group 10"/>
                <p:cNvGrpSpPr>
                  <a:grpSpLocks/>
                </p:cNvGrpSpPr>
                <p:nvPr/>
              </p:nvGrpSpPr>
              <p:grpSpPr bwMode="auto">
                <a:xfrm>
                  <a:off x="2179" y="1753"/>
                  <a:ext cx="178" cy="77"/>
                  <a:chOff x="2179" y="1753"/>
                  <a:chExt cx="178" cy="77"/>
                </a:xfrm>
              </p:grpSpPr>
              <p:sp>
                <p:nvSpPr>
                  <p:cNvPr id="282" name="Arc 11"/>
                  <p:cNvSpPr>
                    <a:spLocks/>
                  </p:cNvSpPr>
                  <p:nvPr/>
                </p:nvSpPr>
                <p:spPr bwMode="auto">
                  <a:xfrm>
                    <a:off x="2268" y="175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83" name="Arc 12"/>
                  <p:cNvSpPr>
                    <a:spLocks/>
                  </p:cNvSpPr>
                  <p:nvPr/>
                </p:nvSpPr>
                <p:spPr bwMode="auto">
                  <a:xfrm>
                    <a:off x="2179" y="1800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79" name="Group 13"/>
                <p:cNvGrpSpPr>
                  <a:grpSpLocks/>
                </p:cNvGrpSpPr>
                <p:nvPr/>
              </p:nvGrpSpPr>
              <p:grpSpPr bwMode="auto">
                <a:xfrm>
                  <a:off x="2179" y="1771"/>
                  <a:ext cx="178" cy="77"/>
                  <a:chOff x="2179" y="1771"/>
                  <a:chExt cx="178" cy="77"/>
                </a:xfrm>
              </p:grpSpPr>
              <p:sp>
                <p:nvSpPr>
                  <p:cNvPr id="280" name="Arc 14"/>
                  <p:cNvSpPr>
                    <a:spLocks/>
                  </p:cNvSpPr>
                  <p:nvPr/>
                </p:nvSpPr>
                <p:spPr bwMode="auto">
                  <a:xfrm>
                    <a:off x="2268" y="177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81" name="Arc 15"/>
                  <p:cNvSpPr>
                    <a:spLocks/>
                  </p:cNvSpPr>
                  <p:nvPr/>
                </p:nvSpPr>
                <p:spPr bwMode="auto">
                  <a:xfrm>
                    <a:off x="2179" y="1771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39" name="Group 16"/>
              <p:cNvGrpSpPr>
                <a:grpSpLocks/>
              </p:cNvGrpSpPr>
              <p:nvPr/>
            </p:nvGrpSpPr>
            <p:grpSpPr bwMode="auto">
              <a:xfrm>
                <a:off x="2179" y="1670"/>
                <a:ext cx="178" cy="95"/>
                <a:chOff x="2179" y="1670"/>
                <a:chExt cx="178" cy="95"/>
              </a:xfrm>
            </p:grpSpPr>
            <p:grpSp>
              <p:nvGrpSpPr>
                <p:cNvPr id="272" name="Group 17"/>
                <p:cNvGrpSpPr>
                  <a:grpSpLocks/>
                </p:cNvGrpSpPr>
                <p:nvPr/>
              </p:nvGrpSpPr>
              <p:grpSpPr bwMode="auto">
                <a:xfrm>
                  <a:off x="2179" y="1670"/>
                  <a:ext cx="178" cy="78"/>
                  <a:chOff x="2179" y="1670"/>
                  <a:chExt cx="178" cy="78"/>
                </a:xfrm>
              </p:grpSpPr>
              <p:sp>
                <p:nvSpPr>
                  <p:cNvPr id="276" name="Arc 18"/>
                  <p:cNvSpPr>
                    <a:spLocks/>
                  </p:cNvSpPr>
                  <p:nvPr/>
                </p:nvSpPr>
                <p:spPr bwMode="auto">
                  <a:xfrm>
                    <a:off x="2268" y="167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77" name="Arc 19"/>
                  <p:cNvSpPr>
                    <a:spLocks/>
                  </p:cNvSpPr>
                  <p:nvPr/>
                </p:nvSpPr>
                <p:spPr bwMode="auto">
                  <a:xfrm>
                    <a:off x="2179" y="1718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73" name="Group 20"/>
                <p:cNvGrpSpPr>
                  <a:grpSpLocks/>
                </p:cNvGrpSpPr>
                <p:nvPr/>
              </p:nvGrpSpPr>
              <p:grpSpPr bwMode="auto">
                <a:xfrm>
                  <a:off x="2179" y="1688"/>
                  <a:ext cx="178" cy="77"/>
                  <a:chOff x="2179" y="1688"/>
                  <a:chExt cx="178" cy="77"/>
                </a:xfrm>
              </p:grpSpPr>
              <p:sp>
                <p:nvSpPr>
                  <p:cNvPr id="274" name="Arc 21"/>
                  <p:cNvSpPr>
                    <a:spLocks/>
                  </p:cNvSpPr>
                  <p:nvPr/>
                </p:nvSpPr>
                <p:spPr bwMode="auto">
                  <a:xfrm>
                    <a:off x="2268" y="168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75" name="Arc 22"/>
                  <p:cNvSpPr>
                    <a:spLocks/>
                  </p:cNvSpPr>
                  <p:nvPr/>
                </p:nvSpPr>
                <p:spPr bwMode="auto">
                  <a:xfrm>
                    <a:off x="2179" y="1688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</a:path>
                      <a:path w="21600" h="21600" stroke="0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  <a:lnTo>
                          <a:pt x="21600" y="21600"/>
                        </a:lnTo>
                        <a:lnTo>
                          <a:pt x="0" y="2155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40" name="Group 23"/>
              <p:cNvGrpSpPr>
                <a:grpSpLocks/>
              </p:cNvGrpSpPr>
              <p:nvPr/>
            </p:nvGrpSpPr>
            <p:grpSpPr bwMode="auto">
              <a:xfrm>
                <a:off x="2179" y="1588"/>
                <a:ext cx="178" cy="95"/>
                <a:chOff x="2179" y="1588"/>
                <a:chExt cx="178" cy="95"/>
              </a:xfrm>
            </p:grpSpPr>
            <p:grpSp>
              <p:nvGrpSpPr>
                <p:cNvPr id="266" name="Group 24"/>
                <p:cNvGrpSpPr>
                  <a:grpSpLocks/>
                </p:cNvGrpSpPr>
                <p:nvPr/>
              </p:nvGrpSpPr>
              <p:grpSpPr bwMode="auto">
                <a:xfrm>
                  <a:off x="2179" y="1588"/>
                  <a:ext cx="178" cy="77"/>
                  <a:chOff x="2179" y="1588"/>
                  <a:chExt cx="178" cy="77"/>
                </a:xfrm>
              </p:grpSpPr>
              <p:sp>
                <p:nvSpPr>
                  <p:cNvPr id="270" name="Arc 25"/>
                  <p:cNvSpPr>
                    <a:spLocks/>
                  </p:cNvSpPr>
                  <p:nvPr/>
                </p:nvSpPr>
                <p:spPr bwMode="auto">
                  <a:xfrm>
                    <a:off x="2268" y="1588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71" name="Arc 26"/>
                  <p:cNvSpPr>
                    <a:spLocks/>
                  </p:cNvSpPr>
                  <p:nvPr/>
                </p:nvSpPr>
                <p:spPr bwMode="auto">
                  <a:xfrm>
                    <a:off x="2179" y="1635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67" name="Group 27"/>
                <p:cNvGrpSpPr>
                  <a:grpSpLocks/>
                </p:cNvGrpSpPr>
                <p:nvPr/>
              </p:nvGrpSpPr>
              <p:grpSpPr bwMode="auto">
                <a:xfrm>
                  <a:off x="2179" y="1606"/>
                  <a:ext cx="178" cy="77"/>
                  <a:chOff x="2179" y="1606"/>
                  <a:chExt cx="178" cy="77"/>
                </a:xfrm>
              </p:grpSpPr>
              <p:sp>
                <p:nvSpPr>
                  <p:cNvPr id="268" name="Arc 28"/>
                  <p:cNvSpPr>
                    <a:spLocks/>
                  </p:cNvSpPr>
                  <p:nvPr/>
                </p:nvSpPr>
                <p:spPr bwMode="auto">
                  <a:xfrm>
                    <a:off x="2268" y="1606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9" name="Arc 29"/>
                  <p:cNvSpPr>
                    <a:spLocks/>
                  </p:cNvSpPr>
                  <p:nvPr/>
                </p:nvSpPr>
                <p:spPr bwMode="auto">
                  <a:xfrm>
                    <a:off x="2179" y="1606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41" name="Group 30"/>
              <p:cNvGrpSpPr>
                <a:grpSpLocks/>
              </p:cNvGrpSpPr>
              <p:nvPr/>
            </p:nvGrpSpPr>
            <p:grpSpPr bwMode="auto">
              <a:xfrm>
                <a:off x="2179" y="1505"/>
                <a:ext cx="178" cy="95"/>
                <a:chOff x="2179" y="1505"/>
                <a:chExt cx="178" cy="95"/>
              </a:xfrm>
            </p:grpSpPr>
            <p:grpSp>
              <p:nvGrpSpPr>
                <p:cNvPr id="260" name="Group 31"/>
                <p:cNvGrpSpPr>
                  <a:grpSpLocks/>
                </p:cNvGrpSpPr>
                <p:nvPr/>
              </p:nvGrpSpPr>
              <p:grpSpPr bwMode="auto">
                <a:xfrm>
                  <a:off x="2179" y="1505"/>
                  <a:ext cx="178" cy="78"/>
                  <a:chOff x="2179" y="1505"/>
                  <a:chExt cx="178" cy="78"/>
                </a:xfrm>
              </p:grpSpPr>
              <p:sp>
                <p:nvSpPr>
                  <p:cNvPr id="264" name="Arc 32"/>
                  <p:cNvSpPr>
                    <a:spLocks/>
                  </p:cNvSpPr>
                  <p:nvPr/>
                </p:nvSpPr>
                <p:spPr bwMode="auto">
                  <a:xfrm>
                    <a:off x="2268" y="1505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5" name="Arc 33"/>
                  <p:cNvSpPr>
                    <a:spLocks/>
                  </p:cNvSpPr>
                  <p:nvPr/>
                </p:nvSpPr>
                <p:spPr bwMode="auto">
                  <a:xfrm>
                    <a:off x="2179" y="1553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61" name="Group 34"/>
                <p:cNvGrpSpPr>
                  <a:grpSpLocks/>
                </p:cNvGrpSpPr>
                <p:nvPr/>
              </p:nvGrpSpPr>
              <p:grpSpPr bwMode="auto">
                <a:xfrm>
                  <a:off x="2180" y="1523"/>
                  <a:ext cx="177" cy="77"/>
                  <a:chOff x="2180" y="1523"/>
                  <a:chExt cx="177" cy="77"/>
                </a:xfrm>
              </p:grpSpPr>
              <p:sp>
                <p:nvSpPr>
                  <p:cNvPr id="262" name="Arc 35"/>
                  <p:cNvSpPr>
                    <a:spLocks/>
                  </p:cNvSpPr>
                  <p:nvPr/>
                </p:nvSpPr>
                <p:spPr bwMode="auto">
                  <a:xfrm>
                    <a:off x="2268" y="1523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3" name="Arc 36"/>
                  <p:cNvSpPr>
                    <a:spLocks/>
                  </p:cNvSpPr>
                  <p:nvPr/>
                </p:nvSpPr>
                <p:spPr bwMode="auto">
                  <a:xfrm>
                    <a:off x="2180" y="1523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-1" y="21268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42" name="Group 37"/>
              <p:cNvGrpSpPr>
                <a:grpSpLocks/>
              </p:cNvGrpSpPr>
              <p:nvPr/>
            </p:nvGrpSpPr>
            <p:grpSpPr bwMode="auto">
              <a:xfrm>
                <a:off x="2179" y="1423"/>
                <a:ext cx="178" cy="95"/>
                <a:chOff x="2179" y="1423"/>
                <a:chExt cx="178" cy="95"/>
              </a:xfrm>
            </p:grpSpPr>
            <p:grpSp>
              <p:nvGrpSpPr>
                <p:cNvPr id="254" name="Group 38"/>
                <p:cNvGrpSpPr>
                  <a:grpSpLocks/>
                </p:cNvGrpSpPr>
                <p:nvPr/>
              </p:nvGrpSpPr>
              <p:grpSpPr bwMode="auto">
                <a:xfrm>
                  <a:off x="2179" y="1423"/>
                  <a:ext cx="178" cy="77"/>
                  <a:chOff x="2179" y="1423"/>
                  <a:chExt cx="178" cy="77"/>
                </a:xfrm>
              </p:grpSpPr>
              <p:sp>
                <p:nvSpPr>
                  <p:cNvPr id="258" name="Arc 39"/>
                  <p:cNvSpPr>
                    <a:spLocks/>
                  </p:cNvSpPr>
                  <p:nvPr/>
                </p:nvSpPr>
                <p:spPr bwMode="auto">
                  <a:xfrm>
                    <a:off x="2268" y="142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9" name="Arc 40"/>
                  <p:cNvSpPr>
                    <a:spLocks/>
                  </p:cNvSpPr>
                  <p:nvPr/>
                </p:nvSpPr>
                <p:spPr bwMode="auto">
                  <a:xfrm>
                    <a:off x="2179" y="1464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</a:path>
                      <a:path w="21600" h="21600" stroke="0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  <a:lnTo>
                          <a:pt x="21600" y="0"/>
                        </a:lnTo>
                        <a:lnTo>
                          <a:pt x="21506" y="2159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55" name="Group 41"/>
                <p:cNvGrpSpPr>
                  <a:grpSpLocks/>
                </p:cNvGrpSpPr>
                <p:nvPr/>
              </p:nvGrpSpPr>
              <p:grpSpPr bwMode="auto">
                <a:xfrm>
                  <a:off x="2180" y="1441"/>
                  <a:ext cx="177" cy="77"/>
                  <a:chOff x="2180" y="1441"/>
                  <a:chExt cx="177" cy="77"/>
                </a:xfrm>
              </p:grpSpPr>
              <p:sp>
                <p:nvSpPr>
                  <p:cNvPr id="256" name="Arc 42"/>
                  <p:cNvSpPr>
                    <a:spLocks/>
                  </p:cNvSpPr>
                  <p:nvPr/>
                </p:nvSpPr>
                <p:spPr bwMode="auto">
                  <a:xfrm>
                    <a:off x="2268" y="144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7" name="Arc 43"/>
                  <p:cNvSpPr>
                    <a:spLocks/>
                  </p:cNvSpPr>
                  <p:nvPr/>
                </p:nvSpPr>
                <p:spPr bwMode="auto">
                  <a:xfrm>
                    <a:off x="2180" y="1441"/>
                    <a:ext cx="88" cy="29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</a:path>
                      <a:path w="21597" h="21600" stroke="0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  <a:lnTo>
                          <a:pt x="21597" y="21600"/>
                        </a:lnTo>
                        <a:lnTo>
                          <a:pt x="-1" y="21262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43" name="Group 44"/>
              <p:cNvGrpSpPr>
                <a:grpSpLocks/>
              </p:cNvGrpSpPr>
              <p:nvPr/>
            </p:nvGrpSpPr>
            <p:grpSpPr bwMode="auto">
              <a:xfrm>
                <a:off x="2179" y="1340"/>
                <a:ext cx="178" cy="95"/>
                <a:chOff x="2179" y="1340"/>
                <a:chExt cx="178" cy="95"/>
              </a:xfrm>
            </p:grpSpPr>
            <p:grpSp>
              <p:nvGrpSpPr>
                <p:cNvPr id="248" name="Group 45"/>
                <p:cNvGrpSpPr>
                  <a:grpSpLocks/>
                </p:cNvGrpSpPr>
                <p:nvPr/>
              </p:nvGrpSpPr>
              <p:grpSpPr bwMode="auto">
                <a:xfrm>
                  <a:off x="2179" y="1340"/>
                  <a:ext cx="178" cy="78"/>
                  <a:chOff x="2179" y="1340"/>
                  <a:chExt cx="178" cy="78"/>
                </a:xfrm>
              </p:grpSpPr>
              <p:sp>
                <p:nvSpPr>
                  <p:cNvPr id="252" name="Arc 46"/>
                  <p:cNvSpPr>
                    <a:spLocks/>
                  </p:cNvSpPr>
                  <p:nvPr/>
                </p:nvSpPr>
                <p:spPr bwMode="auto">
                  <a:xfrm>
                    <a:off x="2268" y="134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3" name="Arc 47"/>
                  <p:cNvSpPr>
                    <a:spLocks/>
                  </p:cNvSpPr>
                  <p:nvPr/>
                </p:nvSpPr>
                <p:spPr bwMode="auto">
                  <a:xfrm>
                    <a:off x="2179" y="1382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46"/>
                      <a:gd name="T2" fmla="*/ 0 w 21600"/>
                      <a:gd name="T3" fmla="*/ 0 h 21646"/>
                      <a:gd name="T4" fmla="*/ 0 w 21600"/>
                      <a:gd name="T5" fmla="*/ 0 h 2164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6" fill="none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</a:path>
                      <a:path w="21600" h="21646" stroke="0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  <a:lnTo>
                          <a:pt x="21600" y="46"/>
                        </a:lnTo>
                        <a:lnTo>
                          <a:pt x="21504" y="21645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49" name="Group 48"/>
                <p:cNvGrpSpPr>
                  <a:grpSpLocks/>
                </p:cNvGrpSpPr>
                <p:nvPr/>
              </p:nvGrpSpPr>
              <p:grpSpPr bwMode="auto">
                <a:xfrm>
                  <a:off x="2180" y="1358"/>
                  <a:ext cx="177" cy="77"/>
                  <a:chOff x="2180" y="1358"/>
                  <a:chExt cx="177" cy="77"/>
                </a:xfrm>
              </p:grpSpPr>
              <p:sp>
                <p:nvSpPr>
                  <p:cNvPr id="250" name="Arc 49"/>
                  <p:cNvSpPr>
                    <a:spLocks/>
                  </p:cNvSpPr>
                  <p:nvPr/>
                </p:nvSpPr>
                <p:spPr bwMode="auto">
                  <a:xfrm>
                    <a:off x="2268" y="135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1" name="Arc 50"/>
                  <p:cNvSpPr>
                    <a:spLocks/>
                  </p:cNvSpPr>
                  <p:nvPr/>
                </p:nvSpPr>
                <p:spPr bwMode="auto">
                  <a:xfrm>
                    <a:off x="2180" y="1358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0" y="212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244" name="Arc 51"/>
              <p:cNvSpPr>
                <a:spLocks/>
              </p:cNvSpPr>
              <p:nvPr/>
            </p:nvSpPr>
            <p:spPr bwMode="auto">
              <a:xfrm>
                <a:off x="2268" y="1275"/>
                <a:ext cx="89" cy="77"/>
              </a:xfrm>
              <a:custGeom>
                <a:avLst/>
                <a:gdLst>
                  <a:gd name="T0" fmla="*/ 0 w 21707"/>
                  <a:gd name="T1" fmla="*/ 0 h 21600"/>
                  <a:gd name="T2" fmla="*/ 0 w 21707"/>
                  <a:gd name="T3" fmla="*/ 0 h 21600"/>
                  <a:gd name="T4" fmla="*/ 0 w 2170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07" h="21600" fill="none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</a:path>
                  <a:path w="21707" h="21600" stroke="0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  <a:lnTo>
                      <a:pt x="107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5" name="Arc 52"/>
              <p:cNvSpPr>
                <a:spLocks/>
              </p:cNvSpPr>
              <p:nvPr/>
            </p:nvSpPr>
            <p:spPr bwMode="auto">
              <a:xfrm>
                <a:off x="2268" y="1847"/>
                <a:ext cx="89" cy="77"/>
              </a:xfrm>
              <a:custGeom>
                <a:avLst/>
                <a:gdLst>
                  <a:gd name="T0" fmla="*/ 0 w 21710"/>
                  <a:gd name="T1" fmla="*/ 0 h 21750"/>
                  <a:gd name="T2" fmla="*/ 0 w 21710"/>
                  <a:gd name="T3" fmla="*/ 0 h 21750"/>
                  <a:gd name="T4" fmla="*/ 0 w 21710"/>
                  <a:gd name="T5" fmla="*/ 0 h 217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10" h="21750" fill="none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</a:path>
                  <a:path w="21710" h="21750" stroke="0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  <a:lnTo>
                      <a:pt x="110" y="150"/>
                    </a:lnTo>
                    <a:lnTo>
                      <a:pt x="21709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6" name="Line 53"/>
              <p:cNvSpPr>
                <a:spLocks noChangeShapeType="1"/>
              </p:cNvSpPr>
              <p:nvPr/>
            </p:nvSpPr>
            <p:spPr bwMode="auto">
              <a:xfrm flipV="1">
                <a:off x="2262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7" name="Line 54"/>
              <p:cNvSpPr>
                <a:spLocks noChangeShapeType="1"/>
              </p:cNvSpPr>
              <p:nvPr/>
            </p:nvSpPr>
            <p:spPr bwMode="auto">
              <a:xfrm flipV="1">
                <a:off x="2262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" name="Line 55"/>
            <p:cNvSpPr>
              <a:spLocks noChangeShapeType="1"/>
            </p:cNvSpPr>
            <p:nvPr/>
          </p:nvSpPr>
          <p:spPr bwMode="auto">
            <a:xfrm flipV="1">
              <a:off x="2506" y="1939"/>
              <a:ext cx="1" cy="9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6" name="Group 56"/>
            <p:cNvGrpSpPr>
              <a:grpSpLocks/>
            </p:cNvGrpSpPr>
            <p:nvPr/>
          </p:nvGrpSpPr>
          <p:grpSpPr bwMode="auto">
            <a:xfrm>
              <a:off x="2423" y="2009"/>
              <a:ext cx="166" cy="779"/>
              <a:chOff x="3112" y="1204"/>
              <a:chExt cx="166" cy="779"/>
            </a:xfrm>
          </p:grpSpPr>
          <p:grpSp>
            <p:nvGrpSpPr>
              <p:cNvPr id="192" name="Group 57"/>
              <p:cNvGrpSpPr>
                <a:grpSpLocks/>
              </p:cNvGrpSpPr>
              <p:nvPr/>
            </p:nvGrpSpPr>
            <p:grpSpPr bwMode="auto">
              <a:xfrm>
                <a:off x="3112" y="1753"/>
                <a:ext cx="166" cy="95"/>
                <a:chOff x="3112" y="1753"/>
                <a:chExt cx="166" cy="95"/>
              </a:xfrm>
            </p:grpSpPr>
            <p:grpSp>
              <p:nvGrpSpPr>
                <p:cNvPr id="232" name="Group 58"/>
                <p:cNvGrpSpPr>
                  <a:grpSpLocks/>
                </p:cNvGrpSpPr>
                <p:nvPr/>
              </p:nvGrpSpPr>
              <p:grpSpPr bwMode="auto">
                <a:xfrm>
                  <a:off x="3112" y="1753"/>
                  <a:ext cx="166" cy="77"/>
                  <a:chOff x="3112" y="1753"/>
                  <a:chExt cx="166" cy="77"/>
                </a:xfrm>
              </p:grpSpPr>
              <p:sp>
                <p:nvSpPr>
                  <p:cNvPr id="236" name="Arc 59"/>
                  <p:cNvSpPr>
                    <a:spLocks/>
                  </p:cNvSpPr>
                  <p:nvPr/>
                </p:nvSpPr>
                <p:spPr bwMode="auto">
                  <a:xfrm>
                    <a:off x="3112" y="1753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20"/>
                      <a:gd name="T2" fmla="*/ 0 w 21600"/>
                      <a:gd name="T3" fmla="*/ 0 h 21720"/>
                      <a:gd name="T4" fmla="*/ 0 w 21600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20" fill="none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</a:path>
                      <a:path w="21600" h="21720" stroke="0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  <a:lnTo>
                          <a:pt x="21600" y="120"/>
                        </a:lnTo>
                        <a:lnTo>
                          <a:pt x="21600" y="2172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37" name="Arc 60"/>
                  <p:cNvSpPr>
                    <a:spLocks/>
                  </p:cNvSpPr>
                  <p:nvPr/>
                </p:nvSpPr>
                <p:spPr bwMode="auto">
                  <a:xfrm>
                    <a:off x="3195" y="1800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6"/>
                      <a:gd name="T2" fmla="*/ 0 w 21600"/>
                      <a:gd name="T3" fmla="*/ 0 h 21916"/>
                      <a:gd name="T4" fmla="*/ 0 w 21600"/>
                      <a:gd name="T5" fmla="*/ 0 h 219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6" fill="none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</a:path>
                      <a:path w="21600" h="21916" stroke="0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  <a:lnTo>
                          <a:pt x="0" y="316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33" name="Group 61"/>
                <p:cNvGrpSpPr>
                  <a:grpSpLocks/>
                </p:cNvGrpSpPr>
                <p:nvPr/>
              </p:nvGrpSpPr>
              <p:grpSpPr bwMode="auto">
                <a:xfrm>
                  <a:off x="3112" y="1771"/>
                  <a:ext cx="166" cy="77"/>
                  <a:chOff x="3112" y="1771"/>
                  <a:chExt cx="166" cy="77"/>
                </a:xfrm>
              </p:grpSpPr>
              <p:sp>
                <p:nvSpPr>
                  <p:cNvPr id="234" name="Arc 62"/>
                  <p:cNvSpPr>
                    <a:spLocks/>
                  </p:cNvSpPr>
                  <p:nvPr/>
                </p:nvSpPr>
                <p:spPr bwMode="auto">
                  <a:xfrm>
                    <a:off x="3112" y="177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6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35" name="Arc 63"/>
                  <p:cNvSpPr>
                    <a:spLocks/>
                  </p:cNvSpPr>
                  <p:nvPr/>
                </p:nvSpPr>
                <p:spPr bwMode="auto">
                  <a:xfrm>
                    <a:off x="3195" y="1771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3" name="Group 64"/>
              <p:cNvGrpSpPr>
                <a:grpSpLocks/>
              </p:cNvGrpSpPr>
              <p:nvPr/>
            </p:nvGrpSpPr>
            <p:grpSpPr bwMode="auto">
              <a:xfrm>
                <a:off x="3112" y="1671"/>
                <a:ext cx="166" cy="94"/>
                <a:chOff x="3112" y="1671"/>
                <a:chExt cx="166" cy="94"/>
              </a:xfrm>
            </p:grpSpPr>
            <p:grpSp>
              <p:nvGrpSpPr>
                <p:cNvPr id="226" name="Group 65"/>
                <p:cNvGrpSpPr>
                  <a:grpSpLocks/>
                </p:cNvGrpSpPr>
                <p:nvPr/>
              </p:nvGrpSpPr>
              <p:grpSpPr bwMode="auto">
                <a:xfrm>
                  <a:off x="3112" y="1671"/>
                  <a:ext cx="166" cy="77"/>
                  <a:chOff x="3112" y="1671"/>
                  <a:chExt cx="166" cy="77"/>
                </a:xfrm>
              </p:grpSpPr>
              <p:sp>
                <p:nvSpPr>
                  <p:cNvPr id="230" name="Arc 66"/>
                  <p:cNvSpPr>
                    <a:spLocks/>
                  </p:cNvSpPr>
                  <p:nvPr/>
                </p:nvSpPr>
                <p:spPr bwMode="auto">
                  <a:xfrm>
                    <a:off x="3112" y="167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39"/>
                      <a:gd name="T2" fmla="*/ 0 w 21600"/>
                      <a:gd name="T3" fmla="*/ 0 h 21739"/>
                      <a:gd name="T4" fmla="*/ 0 w 21600"/>
                      <a:gd name="T5" fmla="*/ 0 h 2173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39" fill="none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</a:path>
                      <a:path w="21600" h="21739" stroke="0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  <a:lnTo>
                          <a:pt x="21600" y="139"/>
                        </a:lnTo>
                        <a:lnTo>
                          <a:pt x="21600" y="217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31" name="Arc 67"/>
                  <p:cNvSpPr>
                    <a:spLocks/>
                  </p:cNvSpPr>
                  <p:nvPr/>
                </p:nvSpPr>
                <p:spPr bwMode="auto">
                  <a:xfrm>
                    <a:off x="3195" y="1718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</a:path>
                      <a:path w="21600" h="21910" stroke="0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  <a:lnTo>
                          <a:pt x="0" y="310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27" name="Group 68"/>
                <p:cNvGrpSpPr>
                  <a:grpSpLocks/>
                </p:cNvGrpSpPr>
                <p:nvPr/>
              </p:nvGrpSpPr>
              <p:grpSpPr bwMode="auto">
                <a:xfrm>
                  <a:off x="3112" y="1688"/>
                  <a:ext cx="166" cy="77"/>
                  <a:chOff x="3112" y="1688"/>
                  <a:chExt cx="166" cy="77"/>
                </a:xfrm>
              </p:grpSpPr>
              <p:sp>
                <p:nvSpPr>
                  <p:cNvPr id="228" name="Arc 69"/>
                  <p:cNvSpPr>
                    <a:spLocks/>
                  </p:cNvSpPr>
                  <p:nvPr/>
                </p:nvSpPr>
                <p:spPr bwMode="auto">
                  <a:xfrm>
                    <a:off x="3112" y="1688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8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9" name="Arc 70"/>
                  <p:cNvSpPr>
                    <a:spLocks/>
                  </p:cNvSpPr>
                  <p:nvPr/>
                </p:nvSpPr>
                <p:spPr bwMode="auto">
                  <a:xfrm>
                    <a:off x="3195" y="1688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12" y="0"/>
                          <a:pt x="21576" y="9644"/>
                          <a:pt x="21599" y="21557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12" y="0"/>
                          <a:pt x="21576" y="9644"/>
                          <a:pt x="21599" y="21557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4" name="Group 71"/>
              <p:cNvGrpSpPr>
                <a:grpSpLocks/>
              </p:cNvGrpSpPr>
              <p:nvPr/>
            </p:nvGrpSpPr>
            <p:grpSpPr bwMode="auto">
              <a:xfrm>
                <a:off x="3112" y="1588"/>
                <a:ext cx="166" cy="95"/>
                <a:chOff x="3112" y="1588"/>
                <a:chExt cx="166" cy="95"/>
              </a:xfrm>
            </p:grpSpPr>
            <p:grpSp>
              <p:nvGrpSpPr>
                <p:cNvPr id="220" name="Group 72"/>
                <p:cNvGrpSpPr>
                  <a:grpSpLocks/>
                </p:cNvGrpSpPr>
                <p:nvPr/>
              </p:nvGrpSpPr>
              <p:grpSpPr bwMode="auto">
                <a:xfrm>
                  <a:off x="3112" y="1588"/>
                  <a:ext cx="166" cy="77"/>
                  <a:chOff x="3112" y="1588"/>
                  <a:chExt cx="166" cy="77"/>
                </a:xfrm>
              </p:grpSpPr>
              <p:sp>
                <p:nvSpPr>
                  <p:cNvPr id="224" name="Arc 73"/>
                  <p:cNvSpPr>
                    <a:spLocks/>
                  </p:cNvSpPr>
                  <p:nvPr/>
                </p:nvSpPr>
                <p:spPr bwMode="auto">
                  <a:xfrm>
                    <a:off x="3112" y="1588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20"/>
                      <a:gd name="T2" fmla="*/ 0 w 21600"/>
                      <a:gd name="T3" fmla="*/ 0 h 21720"/>
                      <a:gd name="T4" fmla="*/ 0 w 21600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20" fill="none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</a:path>
                      <a:path w="21600" h="21720" stroke="0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  <a:lnTo>
                          <a:pt x="21600" y="120"/>
                        </a:lnTo>
                        <a:lnTo>
                          <a:pt x="21600" y="2172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5" name="Arc 74"/>
                  <p:cNvSpPr>
                    <a:spLocks/>
                  </p:cNvSpPr>
                  <p:nvPr/>
                </p:nvSpPr>
                <p:spPr bwMode="auto">
                  <a:xfrm>
                    <a:off x="3195" y="1635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6"/>
                      <a:gd name="T2" fmla="*/ 0 w 21600"/>
                      <a:gd name="T3" fmla="*/ 0 h 21916"/>
                      <a:gd name="T4" fmla="*/ 0 w 21600"/>
                      <a:gd name="T5" fmla="*/ 0 h 219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6" fill="none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</a:path>
                      <a:path w="21600" h="21916" stroke="0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  <a:lnTo>
                          <a:pt x="0" y="316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21" name="Group 75"/>
                <p:cNvGrpSpPr>
                  <a:grpSpLocks/>
                </p:cNvGrpSpPr>
                <p:nvPr/>
              </p:nvGrpSpPr>
              <p:grpSpPr bwMode="auto">
                <a:xfrm>
                  <a:off x="3112" y="1606"/>
                  <a:ext cx="166" cy="77"/>
                  <a:chOff x="3112" y="1606"/>
                  <a:chExt cx="166" cy="77"/>
                </a:xfrm>
              </p:grpSpPr>
              <p:sp>
                <p:nvSpPr>
                  <p:cNvPr id="222" name="Arc 76"/>
                  <p:cNvSpPr>
                    <a:spLocks/>
                  </p:cNvSpPr>
                  <p:nvPr/>
                </p:nvSpPr>
                <p:spPr bwMode="auto">
                  <a:xfrm>
                    <a:off x="3112" y="1606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6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3" name="Arc 77"/>
                  <p:cNvSpPr>
                    <a:spLocks/>
                  </p:cNvSpPr>
                  <p:nvPr/>
                </p:nvSpPr>
                <p:spPr bwMode="auto">
                  <a:xfrm>
                    <a:off x="3195" y="1606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5" name="Group 78"/>
              <p:cNvGrpSpPr>
                <a:grpSpLocks/>
              </p:cNvGrpSpPr>
              <p:nvPr/>
            </p:nvGrpSpPr>
            <p:grpSpPr bwMode="auto">
              <a:xfrm>
                <a:off x="3112" y="1506"/>
                <a:ext cx="166" cy="94"/>
                <a:chOff x="3112" y="1506"/>
                <a:chExt cx="166" cy="94"/>
              </a:xfrm>
            </p:grpSpPr>
            <p:grpSp>
              <p:nvGrpSpPr>
                <p:cNvPr id="214" name="Group 79"/>
                <p:cNvGrpSpPr>
                  <a:grpSpLocks/>
                </p:cNvGrpSpPr>
                <p:nvPr/>
              </p:nvGrpSpPr>
              <p:grpSpPr bwMode="auto">
                <a:xfrm>
                  <a:off x="3112" y="1506"/>
                  <a:ext cx="166" cy="77"/>
                  <a:chOff x="3112" y="1506"/>
                  <a:chExt cx="166" cy="77"/>
                </a:xfrm>
              </p:grpSpPr>
              <p:sp>
                <p:nvSpPr>
                  <p:cNvPr id="218" name="Arc 80"/>
                  <p:cNvSpPr>
                    <a:spLocks/>
                  </p:cNvSpPr>
                  <p:nvPr/>
                </p:nvSpPr>
                <p:spPr bwMode="auto">
                  <a:xfrm>
                    <a:off x="3112" y="1506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39"/>
                      <a:gd name="T2" fmla="*/ 0 w 21600"/>
                      <a:gd name="T3" fmla="*/ 0 h 21739"/>
                      <a:gd name="T4" fmla="*/ 0 w 21600"/>
                      <a:gd name="T5" fmla="*/ 0 h 2173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39" fill="none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</a:path>
                      <a:path w="21600" h="21739" stroke="0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  <a:lnTo>
                          <a:pt x="21600" y="139"/>
                        </a:lnTo>
                        <a:lnTo>
                          <a:pt x="21600" y="217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19" name="Arc 81"/>
                  <p:cNvSpPr>
                    <a:spLocks/>
                  </p:cNvSpPr>
                  <p:nvPr/>
                </p:nvSpPr>
                <p:spPr bwMode="auto">
                  <a:xfrm>
                    <a:off x="3195" y="1553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</a:path>
                      <a:path w="21600" h="21910" stroke="0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  <a:lnTo>
                          <a:pt x="0" y="310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15" name="Group 82"/>
                <p:cNvGrpSpPr>
                  <a:grpSpLocks/>
                </p:cNvGrpSpPr>
                <p:nvPr/>
              </p:nvGrpSpPr>
              <p:grpSpPr bwMode="auto">
                <a:xfrm>
                  <a:off x="3112" y="1523"/>
                  <a:ext cx="165" cy="77"/>
                  <a:chOff x="3112" y="1523"/>
                  <a:chExt cx="165" cy="77"/>
                </a:xfrm>
              </p:grpSpPr>
              <p:sp>
                <p:nvSpPr>
                  <p:cNvPr id="216" name="Arc 83"/>
                  <p:cNvSpPr>
                    <a:spLocks/>
                  </p:cNvSpPr>
                  <p:nvPr/>
                </p:nvSpPr>
                <p:spPr bwMode="auto">
                  <a:xfrm>
                    <a:off x="3112" y="1523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8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17" name="Arc 84"/>
                  <p:cNvSpPr>
                    <a:spLocks/>
                  </p:cNvSpPr>
                  <p:nvPr/>
                </p:nvSpPr>
                <p:spPr bwMode="auto">
                  <a:xfrm>
                    <a:off x="3195" y="1523"/>
                    <a:ext cx="82" cy="30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-1" y="0"/>
                        </a:moveTo>
                        <a:cubicBezTo>
                          <a:pt x="11808" y="0"/>
                          <a:pt x="21428" y="9482"/>
                          <a:pt x="21597" y="21290"/>
                        </a:cubicBezTo>
                      </a:path>
                      <a:path w="21598" h="21600" stroke="0" extrusionOk="0">
                        <a:moveTo>
                          <a:pt x="-1" y="0"/>
                        </a:moveTo>
                        <a:cubicBezTo>
                          <a:pt x="11808" y="0"/>
                          <a:pt x="21428" y="9482"/>
                          <a:pt x="21597" y="2129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6" name="Group 85"/>
              <p:cNvGrpSpPr>
                <a:grpSpLocks/>
              </p:cNvGrpSpPr>
              <p:nvPr/>
            </p:nvGrpSpPr>
            <p:grpSpPr bwMode="auto">
              <a:xfrm>
                <a:off x="3112" y="1423"/>
                <a:ext cx="166" cy="95"/>
                <a:chOff x="3112" y="1423"/>
                <a:chExt cx="166" cy="95"/>
              </a:xfrm>
            </p:grpSpPr>
            <p:grpSp>
              <p:nvGrpSpPr>
                <p:cNvPr id="208" name="Group 86"/>
                <p:cNvGrpSpPr>
                  <a:grpSpLocks/>
                </p:cNvGrpSpPr>
                <p:nvPr/>
              </p:nvGrpSpPr>
              <p:grpSpPr bwMode="auto">
                <a:xfrm>
                  <a:off x="3112" y="1423"/>
                  <a:ext cx="166" cy="77"/>
                  <a:chOff x="3112" y="1423"/>
                  <a:chExt cx="166" cy="77"/>
                </a:xfrm>
              </p:grpSpPr>
              <p:sp>
                <p:nvSpPr>
                  <p:cNvPr id="212" name="Arc 87"/>
                  <p:cNvSpPr>
                    <a:spLocks/>
                  </p:cNvSpPr>
                  <p:nvPr/>
                </p:nvSpPr>
                <p:spPr bwMode="auto">
                  <a:xfrm>
                    <a:off x="3112" y="1423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20"/>
                      <a:gd name="T2" fmla="*/ 0 w 21600"/>
                      <a:gd name="T3" fmla="*/ 0 h 21720"/>
                      <a:gd name="T4" fmla="*/ 0 w 21600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20" fill="none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</a:path>
                      <a:path w="21600" h="21720" stroke="0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  <a:lnTo>
                          <a:pt x="21600" y="120"/>
                        </a:lnTo>
                        <a:lnTo>
                          <a:pt x="21600" y="2172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13" name="Arc 88"/>
                  <p:cNvSpPr>
                    <a:spLocks/>
                  </p:cNvSpPr>
                  <p:nvPr/>
                </p:nvSpPr>
                <p:spPr bwMode="auto">
                  <a:xfrm>
                    <a:off x="3195" y="1464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600" y="0"/>
                        </a:moveTo>
                        <a:cubicBezTo>
                          <a:pt x="21600" y="11929"/>
                          <a:pt x="11929" y="21599"/>
                          <a:pt x="0" y="21600"/>
                        </a:cubicBezTo>
                      </a:path>
                      <a:path w="21600" h="21600" stroke="0" extrusionOk="0">
                        <a:moveTo>
                          <a:pt x="21600" y="0"/>
                        </a:moveTo>
                        <a:cubicBezTo>
                          <a:pt x="21600" y="11929"/>
                          <a:pt x="11929" y="21599"/>
                          <a:pt x="0" y="21600"/>
                        </a:cubicBezTo>
                        <a:lnTo>
                          <a:pt x="0" y="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09" name="Group 89"/>
                <p:cNvGrpSpPr>
                  <a:grpSpLocks/>
                </p:cNvGrpSpPr>
                <p:nvPr/>
              </p:nvGrpSpPr>
              <p:grpSpPr bwMode="auto">
                <a:xfrm>
                  <a:off x="3112" y="1441"/>
                  <a:ext cx="165" cy="77"/>
                  <a:chOff x="3112" y="1441"/>
                  <a:chExt cx="165" cy="77"/>
                </a:xfrm>
              </p:grpSpPr>
              <p:sp>
                <p:nvSpPr>
                  <p:cNvPr id="210" name="Arc 90"/>
                  <p:cNvSpPr>
                    <a:spLocks/>
                  </p:cNvSpPr>
                  <p:nvPr/>
                </p:nvSpPr>
                <p:spPr bwMode="auto">
                  <a:xfrm>
                    <a:off x="3112" y="144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6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11" name="Arc 91"/>
                  <p:cNvSpPr>
                    <a:spLocks/>
                  </p:cNvSpPr>
                  <p:nvPr/>
                </p:nvSpPr>
                <p:spPr bwMode="auto">
                  <a:xfrm>
                    <a:off x="3195" y="1441"/>
                    <a:ext cx="82" cy="29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-1" y="0"/>
                        </a:moveTo>
                        <a:cubicBezTo>
                          <a:pt x="11806" y="0"/>
                          <a:pt x="21424" y="9479"/>
                          <a:pt x="21597" y="21284"/>
                        </a:cubicBezTo>
                      </a:path>
                      <a:path w="21598" h="21600" stroke="0" extrusionOk="0">
                        <a:moveTo>
                          <a:pt x="-1" y="0"/>
                        </a:moveTo>
                        <a:cubicBezTo>
                          <a:pt x="11806" y="0"/>
                          <a:pt x="21424" y="9479"/>
                          <a:pt x="21597" y="21284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7" name="Group 92"/>
              <p:cNvGrpSpPr>
                <a:grpSpLocks/>
              </p:cNvGrpSpPr>
              <p:nvPr/>
            </p:nvGrpSpPr>
            <p:grpSpPr bwMode="auto">
              <a:xfrm>
                <a:off x="3112" y="1341"/>
                <a:ext cx="166" cy="94"/>
                <a:chOff x="3112" y="1341"/>
                <a:chExt cx="166" cy="94"/>
              </a:xfrm>
            </p:grpSpPr>
            <p:grpSp>
              <p:nvGrpSpPr>
                <p:cNvPr id="202" name="Group 93"/>
                <p:cNvGrpSpPr>
                  <a:grpSpLocks/>
                </p:cNvGrpSpPr>
                <p:nvPr/>
              </p:nvGrpSpPr>
              <p:grpSpPr bwMode="auto">
                <a:xfrm>
                  <a:off x="3112" y="1341"/>
                  <a:ext cx="166" cy="77"/>
                  <a:chOff x="3112" y="1341"/>
                  <a:chExt cx="166" cy="77"/>
                </a:xfrm>
              </p:grpSpPr>
              <p:sp>
                <p:nvSpPr>
                  <p:cNvPr id="206" name="Arc 94"/>
                  <p:cNvSpPr>
                    <a:spLocks/>
                  </p:cNvSpPr>
                  <p:nvPr/>
                </p:nvSpPr>
                <p:spPr bwMode="auto">
                  <a:xfrm>
                    <a:off x="3112" y="134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39"/>
                      <a:gd name="T2" fmla="*/ 0 w 21600"/>
                      <a:gd name="T3" fmla="*/ 0 h 21739"/>
                      <a:gd name="T4" fmla="*/ 0 w 21600"/>
                      <a:gd name="T5" fmla="*/ 0 h 2173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39" fill="none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</a:path>
                      <a:path w="21600" h="21739" stroke="0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  <a:lnTo>
                          <a:pt x="21600" y="139"/>
                        </a:lnTo>
                        <a:lnTo>
                          <a:pt x="21600" y="217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07" name="Arc 95"/>
                  <p:cNvSpPr>
                    <a:spLocks/>
                  </p:cNvSpPr>
                  <p:nvPr/>
                </p:nvSpPr>
                <p:spPr bwMode="auto">
                  <a:xfrm>
                    <a:off x="3195" y="1382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43"/>
                      <a:gd name="T2" fmla="*/ 0 w 21600"/>
                      <a:gd name="T3" fmla="*/ 0 h 21643"/>
                      <a:gd name="T4" fmla="*/ 0 w 21600"/>
                      <a:gd name="T5" fmla="*/ 0 h 2164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3" fill="none" extrusionOk="0">
                        <a:moveTo>
                          <a:pt x="21599" y="0"/>
                        </a:moveTo>
                        <a:cubicBezTo>
                          <a:pt x="21599" y="14"/>
                          <a:pt x="21600" y="28"/>
                          <a:pt x="21600" y="43"/>
                        </a:cubicBezTo>
                        <a:cubicBezTo>
                          <a:pt x="21600" y="11972"/>
                          <a:pt x="11929" y="21642"/>
                          <a:pt x="0" y="21643"/>
                        </a:cubicBezTo>
                      </a:path>
                      <a:path w="21600" h="21643" stroke="0" extrusionOk="0">
                        <a:moveTo>
                          <a:pt x="21599" y="0"/>
                        </a:moveTo>
                        <a:cubicBezTo>
                          <a:pt x="21599" y="14"/>
                          <a:pt x="21600" y="28"/>
                          <a:pt x="21600" y="43"/>
                        </a:cubicBezTo>
                        <a:cubicBezTo>
                          <a:pt x="21600" y="11972"/>
                          <a:pt x="11929" y="21642"/>
                          <a:pt x="0" y="21643"/>
                        </a:cubicBezTo>
                        <a:lnTo>
                          <a:pt x="0" y="43"/>
                        </a:lnTo>
                        <a:lnTo>
                          <a:pt x="2159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03" name="Group 96"/>
                <p:cNvGrpSpPr>
                  <a:grpSpLocks/>
                </p:cNvGrpSpPr>
                <p:nvPr/>
              </p:nvGrpSpPr>
              <p:grpSpPr bwMode="auto">
                <a:xfrm>
                  <a:off x="3112" y="1358"/>
                  <a:ext cx="165" cy="77"/>
                  <a:chOff x="3112" y="1358"/>
                  <a:chExt cx="165" cy="77"/>
                </a:xfrm>
              </p:grpSpPr>
              <p:sp>
                <p:nvSpPr>
                  <p:cNvPr id="204" name="Arc 97"/>
                  <p:cNvSpPr>
                    <a:spLocks/>
                  </p:cNvSpPr>
                  <p:nvPr/>
                </p:nvSpPr>
                <p:spPr bwMode="auto">
                  <a:xfrm>
                    <a:off x="3112" y="1358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8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05" name="Arc 98"/>
                  <p:cNvSpPr>
                    <a:spLocks/>
                  </p:cNvSpPr>
                  <p:nvPr/>
                </p:nvSpPr>
                <p:spPr bwMode="auto">
                  <a:xfrm>
                    <a:off x="3195" y="1358"/>
                    <a:ext cx="82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0"/>
                        </a:moveTo>
                        <a:cubicBezTo>
                          <a:pt x="11788" y="0"/>
                          <a:pt x="21399" y="9451"/>
                          <a:pt x="21596" y="21238"/>
                        </a:cubicBezTo>
                      </a:path>
                      <a:path w="21597" h="21600" stroke="0" extrusionOk="0">
                        <a:moveTo>
                          <a:pt x="-1" y="0"/>
                        </a:moveTo>
                        <a:cubicBezTo>
                          <a:pt x="11788" y="0"/>
                          <a:pt x="21399" y="9451"/>
                          <a:pt x="21596" y="21238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98" name="Arc 99"/>
              <p:cNvSpPr>
                <a:spLocks/>
              </p:cNvSpPr>
              <p:nvPr/>
            </p:nvSpPr>
            <p:spPr bwMode="auto">
              <a:xfrm>
                <a:off x="3112" y="1275"/>
                <a:ext cx="83" cy="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480"/>
                    </a:moveTo>
                    <a:cubicBezTo>
                      <a:pt x="66" y="9597"/>
                      <a:pt x="9717" y="0"/>
                      <a:pt x="21599" y="0"/>
                    </a:cubicBezTo>
                  </a:path>
                  <a:path w="21600" h="21600" stroke="0" extrusionOk="0">
                    <a:moveTo>
                      <a:pt x="0" y="21480"/>
                    </a:moveTo>
                    <a:cubicBezTo>
                      <a:pt x="66" y="9597"/>
                      <a:pt x="9717" y="0"/>
                      <a:pt x="21599" y="0"/>
                    </a:cubicBezTo>
                    <a:lnTo>
                      <a:pt x="21600" y="21600"/>
                    </a:lnTo>
                    <a:lnTo>
                      <a:pt x="0" y="2148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9" name="Arc 100"/>
              <p:cNvSpPr>
                <a:spLocks/>
              </p:cNvSpPr>
              <p:nvPr/>
            </p:nvSpPr>
            <p:spPr bwMode="auto">
              <a:xfrm>
                <a:off x="3112" y="1848"/>
                <a:ext cx="83" cy="77"/>
              </a:xfrm>
              <a:custGeom>
                <a:avLst/>
                <a:gdLst>
                  <a:gd name="T0" fmla="*/ 0 w 21600"/>
                  <a:gd name="T1" fmla="*/ 0 h 21739"/>
                  <a:gd name="T2" fmla="*/ 0 w 21600"/>
                  <a:gd name="T3" fmla="*/ 0 h 21739"/>
                  <a:gd name="T4" fmla="*/ 0 w 21600"/>
                  <a:gd name="T5" fmla="*/ 0 h 217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739" fill="none" extrusionOk="0">
                    <a:moveTo>
                      <a:pt x="21600" y="21739"/>
                    </a:moveTo>
                    <a:cubicBezTo>
                      <a:pt x="9670" y="21739"/>
                      <a:pt x="0" y="12068"/>
                      <a:pt x="0" y="139"/>
                    </a:cubicBezTo>
                    <a:cubicBezTo>
                      <a:pt x="-1" y="92"/>
                      <a:pt x="0" y="46"/>
                      <a:pt x="0" y="0"/>
                    </a:cubicBezTo>
                  </a:path>
                  <a:path w="21600" h="21739" stroke="0" extrusionOk="0">
                    <a:moveTo>
                      <a:pt x="21600" y="21739"/>
                    </a:moveTo>
                    <a:cubicBezTo>
                      <a:pt x="9670" y="21739"/>
                      <a:pt x="0" y="12068"/>
                      <a:pt x="0" y="139"/>
                    </a:cubicBezTo>
                    <a:cubicBezTo>
                      <a:pt x="-1" y="92"/>
                      <a:pt x="0" y="46"/>
                      <a:pt x="0" y="0"/>
                    </a:cubicBezTo>
                    <a:lnTo>
                      <a:pt x="21600" y="139"/>
                    </a:lnTo>
                    <a:lnTo>
                      <a:pt x="21600" y="21739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0" name="Line 101"/>
              <p:cNvSpPr>
                <a:spLocks noChangeShapeType="1"/>
              </p:cNvSpPr>
              <p:nvPr/>
            </p:nvSpPr>
            <p:spPr bwMode="auto">
              <a:xfrm flipV="1">
                <a:off x="3195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1" name="Line 102"/>
              <p:cNvSpPr>
                <a:spLocks noChangeShapeType="1"/>
              </p:cNvSpPr>
              <p:nvPr/>
            </p:nvSpPr>
            <p:spPr bwMode="auto">
              <a:xfrm flipV="1">
                <a:off x="3195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7" name="Line 103"/>
            <p:cNvSpPr>
              <a:spLocks noChangeShapeType="1"/>
            </p:cNvSpPr>
            <p:nvPr/>
          </p:nvSpPr>
          <p:spPr bwMode="auto">
            <a:xfrm>
              <a:off x="2317" y="2068"/>
              <a:ext cx="1" cy="6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Line 104"/>
            <p:cNvSpPr>
              <a:spLocks noChangeShapeType="1"/>
            </p:cNvSpPr>
            <p:nvPr/>
          </p:nvSpPr>
          <p:spPr bwMode="auto">
            <a:xfrm flipV="1">
              <a:off x="1573" y="1950"/>
              <a:ext cx="1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Line 105"/>
            <p:cNvSpPr>
              <a:spLocks noChangeShapeType="1"/>
            </p:cNvSpPr>
            <p:nvPr/>
          </p:nvSpPr>
          <p:spPr bwMode="auto">
            <a:xfrm flipV="1">
              <a:off x="2506" y="2764"/>
              <a:ext cx="1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Line 106"/>
            <p:cNvSpPr>
              <a:spLocks noChangeShapeType="1"/>
            </p:cNvSpPr>
            <p:nvPr/>
          </p:nvSpPr>
          <p:spPr bwMode="auto">
            <a:xfrm flipV="1">
              <a:off x="1573" y="2957"/>
              <a:ext cx="1" cy="1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Oval 107"/>
            <p:cNvSpPr>
              <a:spLocks noChangeArrowheads="1"/>
            </p:cNvSpPr>
            <p:nvPr/>
          </p:nvSpPr>
          <p:spPr bwMode="auto">
            <a:xfrm>
              <a:off x="511" y="2741"/>
              <a:ext cx="259" cy="25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22" name="Group 108"/>
            <p:cNvGrpSpPr>
              <a:grpSpLocks/>
            </p:cNvGrpSpPr>
            <p:nvPr/>
          </p:nvGrpSpPr>
          <p:grpSpPr bwMode="auto">
            <a:xfrm>
              <a:off x="849" y="2711"/>
              <a:ext cx="83" cy="259"/>
              <a:chOff x="1022" y="1936"/>
              <a:chExt cx="83" cy="259"/>
            </a:xfrm>
          </p:grpSpPr>
          <p:sp>
            <p:nvSpPr>
              <p:cNvPr id="190" name="Freeform 109"/>
              <p:cNvSpPr>
                <a:spLocks/>
              </p:cNvSpPr>
              <p:nvPr/>
            </p:nvSpPr>
            <p:spPr bwMode="auto">
              <a:xfrm>
                <a:off x="1022" y="1936"/>
                <a:ext cx="83" cy="165"/>
              </a:xfrm>
              <a:custGeom>
                <a:avLst/>
                <a:gdLst>
                  <a:gd name="T0" fmla="*/ 36 w 83"/>
                  <a:gd name="T1" fmla="*/ 0 h 165"/>
                  <a:gd name="T2" fmla="*/ 83 w 83"/>
                  <a:gd name="T3" fmla="*/ 165 h 165"/>
                  <a:gd name="T4" fmla="*/ 36 w 83"/>
                  <a:gd name="T5" fmla="*/ 165 h 165"/>
                  <a:gd name="T6" fmla="*/ 0 w 83"/>
                  <a:gd name="T7" fmla="*/ 165 h 165"/>
                  <a:gd name="T8" fmla="*/ 36 w 83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3" h="165">
                    <a:moveTo>
                      <a:pt x="36" y="0"/>
                    </a:moveTo>
                    <a:lnTo>
                      <a:pt x="83" y="165"/>
                    </a:lnTo>
                    <a:lnTo>
                      <a:pt x="36" y="165"/>
                    </a:lnTo>
                    <a:lnTo>
                      <a:pt x="0" y="16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1" name="Line 110"/>
              <p:cNvSpPr>
                <a:spLocks noChangeShapeType="1"/>
              </p:cNvSpPr>
              <p:nvPr/>
            </p:nvSpPr>
            <p:spPr bwMode="auto">
              <a:xfrm>
                <a:off x="1058" y="2101"/>
                <a:ext cx="1" cy="9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3" name="Rectangle 111"/>
            <p:cNvSpPr>
              <a:spLocks noChangeArrowheads="1"/>
            </p:cNvSpPr>
            <p:nvPr/>
          </p:nvSpPr>
          <p:spPr bwMode="auto">
            <a:xfrm>
              <a:off x="953" y="2867"/>
              <a:ext cx="1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latin typeface="Times" panose="02020603050405020304" pitchFamily="18" charset="0"/>
                </a:rPr>
                <a:t>E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4" name="Line 112"/>
            <p:cNvSpPr>
              <a:spLocks noChangeShapeType="1"/>
            </p:cNvSpPr>
            <p:nvPr/>
          </p:nvSpPr>
          <p:spPr bwMode="auto">
            <a:xfrm flipH="1">
              <a:off x="1413" y="3069"/>
              <a:ext cx="166" cy="16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5" name="Group 113"/>
            <p:cNvGrpSpPr>
              <a:grpSpLocks/>
            </p:cNvGrpSpPr>
            <p:nvPr/>
          </p:nvGrpSpPr>
          <p:grpSpPr bwMode="auto">
            <a:xfrm>
              <a:off x="1437" y="3434"/>
              <a:ext cx="212" cy="177"/>
              <a:chOff x="2144" y="2419"/>
              <a:chExt cx="212" cy="177"/>
            </a:xfrm>
          </p:grpSpPr>
          <p:sp>
            <p:nvSpPr>
              <p:cNvPr id="188" name="Freeform 114"/>
              <p:cNvSpPr>
                <a:spLocks/>
              </p:cNvSpPr>
              <p:nvPr/>
            </p:nvSpPr>
            <p:spPr bwMode="auto">
              <a:xfrm>
                <a:off x="2167" y="2431"/>
                <a:ext cx="189" cy="165"/>
              </a:xfrm>
              <a:custGeom>
                <a:avLst/>
                <a:gdLst>
                  <a:gd name="T0" fmla="*/ 189 w 189"/>
                  <a:gd name="T1" fmla="*/ 165 h 165"/>
                  <a:gd name="T2" fmla="*/ 0 w 189"/>
                  <a:gd name="T3" fmla="*/ 71 h 165"/>
                  <a:gd name="T4" fmla="*/ 36 w 189"/>
                  <a:gd name="T5" fmla="*/ 36 h 165"/>
                  <a:gd name="T6" fmla="*/ 71 w 189"/>
                  <a:gd name="T7" fmla="*/ 0 h 165"/>
                  <a:gd name="T8" fmla="*/ 189 w 189"/>
                  <a:gd name="T9" fmla="*/ 165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9" h="165">
                    <a:moveTo>
                      <a:pt x="189" y="165"/>
                    </a:moveTo>
                    <a:lnTo>
                      <a:pt x="0" y="71"/>
                    </a:lnTo>
                    <a:lnTo>
                      <a:pt x="36" y="36"/>
                    </a:lnTo>
                    <a:lnTo>
                      <a:pt x="71" y="0"/>
                    </a:lnTo>
                    <a:lnTo>
                      <a:pt x="189" y="16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9" name="Line 115"/>
              <p:cNvSpPr>
                <a:spLocks noChangeShapeType="1"/>
              </p:cNvSpPr>
              <p:nvPr/>
            </p:nvSpPr>
            <p:spPr bwMode="auto">
              <a:xfrm flipH="1" flipV="1">
                <a:off x="2144" y="2419"/>
                <a:ext cx="59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6" name="Line 116"/>
            <p:cNvSpPr>
              <a:spLocks noChangeShapeType="1"/>
            </p:cNvSpPr>
            <p:nvPr/>
          </p:nvSpPr>
          <p:spPr bwMode="auto">
            <a:xfrm>
              <a:off x="1425" y="3081"/>
              <a:ext cx="1" cy="542"/>
            </a:xfrm>
            <a:prstGeom prst="line">
              <a:avLst/>
            </a:prstGeom>
            <a:noFill/>
            <a:ln w="746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Line 117"/>
            <p:cNvSpPr>
              <a:spLocks noChangeShapeType="1"/>
            </p:cNvSpPr>
            <p:nvPr/>
          </p:nvSpPr>
          <p:spPr bwMode="auto">
            <a:xfrm>
              <a:off x="2517" y="2871"/>
              <a:ext cx="2113" cy="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118"/>
            <p:cNvSpPr>
              <a:spLocks noChangeShapeType="1"/>
            </p:cNvSpPr>
            <p:nvPr/>
          </p:nvSpPr>
          <p:spPr bwMode="auto">
            <a:xfrm>
              <a:off x="640" y="1939"/>
              <a:ext cx="1" cy="8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Line 119"/>
            <p:cNvSpPr>
              <a:spLocks noChangeShapeType="1"/>
            </p:cNvSpPr>
            <p:nvPr/>
          </p:nvSpPr>
          <p:spPr bwMode="auto">
            <a:xfrm>
              <a:off x="1645" y="3581"/>
              <a:ext cx="0" cy="1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120"/>
            <p:cNvSpPr>
              <a:spLocks noChangeShapeType="1"/>
            </p:cNvSpPr>
            <p:nvPr/>
          </p:nvSpPr>
          <p:spPr bwMode="auto">
            <a:xfrm>
              <a:off x="1077" y="3352"/>
              <a:ext cx="33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31" name="Group 121"/>
            <p:cNvGrpSpPr>
              <a:grpSpLocks/>
            </p:cNvGrpSpPr>
            <p:nvPr/>
          </p:nvGrpSpPr>
          <p:grpSpPr bwMode="auto">
            <a:xfrm>
              <a:off x="1124" y="3127"/>
              <a:ext cx="284" cy="245"/>
              <a:chOff x="1813" y="2112"/>
              <a:chExt cx="284" cy="245"/>
            </a:xfrm>
          </p:grpSpPr>
          <p:sp>
            <p:nvSpPr>
              <p:cNvPr id="186" name="Rectangle 122"/>
              <p:cNvSpPr>
                <a:spLocks noChangeArrowheads="1"/>
              </p:cNvSpPr>
              <p:nvPr/>
            </p:nvSpPr>
            <p:spPr bwMode="auto">
              <a:xfrm>
                <a:off x="1813" y="2112"/>
                <a:ext cx="122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Symbol" panose="05050102010706020507" pitchFamily="18" charset="2"/>
                  </a:rPr>
                  <a:t>a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7" name="Rectangle 123"/>
              <p:cNvSpPr>
                <a:spLocks noChangeArrowheads="1"/>
              </p:cNvSpPr>
              <p:nvPr/>
            </p:nvSpPr>
            <p:spPr bwMode="auto">
              <a:xfrm>
                <a:off x="1931" y="2125"/>
                <a:ext cx="166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Times" panose="02020603050405020304" pitchFamily="18" charset="0"/>
                  </a:rPr>
                  <a:t>,T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2" name="Oval 124"/>
            <p:cNvSpPr>
              <a:spLocks noChangeArrowheads="1"/>
            </p:cNvSpPr>
            <p:nvPr/>
          </p:nvSpPr>
          <p:spPr bwMode="auto">
            <a:xfrm>
              <a:off x="1414" y="2225"/>
              <a:ext cx="70" cy="71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3" name="Oval 125"/>
            <p:cNvSpPr>
              <a:spLocks noChangeArrowheads="1"/>
            </p:cNvSpPr>
            <p:nvPr/>
          </p:nvSpPr>
          <p:spPr bwMode="auto">
            <a:xfrm>
              <a:off x="2559" y="2039"/>
              <a:ext cx="70" cy="71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34" name="Group 126"/>
            <p:cNvGrpSpPr>
              <a:grpSpLocks/>
            </p:cNvGrpSpPr>
            <p:nvPr/>
          </p:nvGrpSpPr>
          <p:grpSpPr bwMode="auto">
            <a:xfrm>
              <a:off x="3011" y="1726"/>
              <a:ext cx="272" cy="413"/>
              <a:chOff x="3478" y="921"/>
              <a:chExt cx="272" cy="413"/>
            </a:xfrm>
          </p:grpSpPr>
          <p:sp>
            <p:nvSpPr>
              <p:cNvPr id="182" name="Line 127"/>
              <p:cNvSpPr>
                <a:spLocks noChangeShapeType="1"/>
              </p:cNvSpPr>
              <p:nvPr/>
            </p:nvSpPr>
            <p:spPr bwMode="auto">
              <a:xfrm flipV="1">
                <a:off x="3749" y="921"/>
                <a:ext cx="1" cy="413"/>
              </a:xfrm>
              <a:prstGeom prst="line">
                <a:avLst/>
              </a:prstGeom>
              <a:noFill/>
              <a:ln w="746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3" name="Line 128"/>
              <p:cNvSpPr>
                <a:spLocks noChangeShapeType="1"/>
              </p:cNvSpPr>
              <p:nvPr/>
            </p:nvSpPr>
            <p:spPr bwMode="auto">
              <a:xfrm flipH="1">
                <a:off x="3478" y="1134"/>
                <a:ext cx="271" cy="2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" name="Line 129"/>
              <p:cNvSpPr>
                <a:spLocks noChangeShapeType="1"/>
              </p:cNvSpPr>
              <p:nvPr/>
            </p:nvSpPr>
            <p:spPr bwMode="auto">
              <a:xfrm flipV="1">
                <a:off x="3478" y="921"/>
                <a:ext cx="1" cy="4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5" name="Line 130"/>
              <p:cNvSpPr>
                <a:spLocks noChangeShapeType="1"/>
              </p:cNvSpPr>
              <p:nvPr/>
            </p:nvSpPr>
            <p:spPr bwMode="auto">
              <a:xfrm>
                <a:off x="3478" y="921"/>
                <a:ext cx="271" cy="2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35" name="Line 131"/>
            <p:cNvSpPr>
              <a:spLocks noChangeShapeType="1"/>
            </p:cNvSpPr>
            <p:nvPr/>
          </p:nvSpPr>
          <p:spPr bwMode="auto">
            <a:xfrm>
              <a:off x="2499" y="1933"/>
              <a:ext cx="512" cy="1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132"/>
            <p:cNvSpPr>
              <a:spLocks noChangeShapeType="1"/>
            </p:cNvSpPr>
            <p:nvPr/>
          </p:nvSpPr>
          <p:spPr bwMode="auto">
            <a:xfrm>
              <a:off x="3294" y="1939"/>
              <a:ext cx="412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37" name="Group 133"/>
            <p:cNvGrpSpPr>
              <a:grpSpLocks/>
            </p:cNvGrpSpPr>
            <p:nvPr/>
          </p:nvGrpSpPr>
          <p:grpSpPr bwMode="auto">
            <a:xfrm>
              <a:off x="4517" y="2022"/>
              <a:ext cx="82" cy="802"/>
              <a:chOff x="4576" y="1193"/>
              <a:chExt cx="82" cy="802"/>
            </a:xfrm>
          </p:grpSpPr>
          <p:sp>
            <p:nvSpPr>
              <p:cNvPr id="180" name="Freeform 134"/>
              <p:cNvSpPr>
                <a:spLocks/>
              </p:cNvSpPr>
              <p:nvPr/>
            </p:nvSpPr>
            <p:spPr bwMode="auto">
              <a:xfrm>
                <a:off x="4576" y="1193"/>
                <a:ext cx="82" cy="165"/>
              </a:xfrm>
              <a:custGeom>
                <a:avLst/>
                <a:gdLst>
                  <a:gd name="T0" fmla="*/ 47 w 82"/>
                  <a:gd name="T1" fmla="*/ 0 h 165"/>
                  <a:gd name="T2" fmla="*/ 82 w 82"/>
                  <a:gd name="T3" fmla="*/ 165 h 165"/>
                  <a:gd name="T4" fmla="*/ 47 w 82"/>
                  <a:gd name="T5" fmla="*/ 165 h 165"/>
                  <a:gd name="T6" fmla="*/ 0 w 82"/>
                  <a:gd name="T7" fmla="*/ 165 h 165"/>
                  <a:gd name="T8" fmla="*/ 47 w 82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165">
                    <a:moveTo>
                      <a:pt x="47" y="0"/>
                    </a:moveTo>
                    <a:lnTo>
                      <a:pt x="82" y="165"/>
                    </a:lnTo>
                    <a:lnTo>
                      <a:pt x="47" y="165"/>
                    </a:lnTo>
                    <a:lnTo>
                      <a:pt x="0" y="165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1" name="Line 135"/>
              <p:cNvSpPr>
                <a:spLocks noChangeShapeType="1"/>
              </p:cNvSpPr>
              <p:nvPr/>
            </p:nvSpPr>
            <p:spPr bwMode="auto">
              <a:xfrm>
                <a:off x="4623" y="1358"/>
                <a:ext cx="1" cy="63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38" name="Group 136"/>
            <p:cNvGrpSpPr>
              <a:grpSpLocks/>
            </p:cNvGrpSpPr>
            <p:nvPr/>
          </p:nvGrpSpPr>
          <p:grpSpPr bwMode="auto">
            <a:xfrm>
              <a:off x="4635" y="2310"/>
              <a:ext cx="193" cy="286"/>
              <a:chOff x="4682" y="1523"/>
              <a:chExt cx="193" cy="286"/>
            </a:xfrm>
          </p:grpSpPr>
          <p:sp>
            <p:nvSpPr>
              <p:cNvPr id="178" name="Rectangle 137"/>
              <p:cNvSpPr>
                <a:spLocks noChangeArrowheads="1"/>
              </p:cNvSpPr>
              <p:nvPr/>
            </p:nvSpPr>
            <p:spPr bwMode="auto">
              <a:xfrm>
                <a:off x="4682" y="1523"/>
                <a:ext cx="162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100" b="1">
                    <a:latin typeface="Times" panose="02020603050405020304" pitchFamily="18" charset="0"/>
                  </a:rPr>
                  <a:t>V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9" name="Rectangle 138"/>
              <p:cNvSpPr>
                <a:spLocks noChangeArrowheads="1"/>
              </p:cNvSpPr>
              <p:nvPr/>
            </p:nvSpPr>
            <p:spPr bwMode="auto">
              <a:xfrm>
                <a:off x="4812" y="1616"/>
                <a:ext cx="63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500" b="1">
                    <a:latin typeface="Times" panose="02020603050405020304" pitchFamily="18" charset="0"/>
                  </a:rPr>
                  <a:t>s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9" name="Rectangle 139"/>
            <p:cNvSpPr>
              <a:spLocks noChangeArrowheads="1"/>
            </p:cNvSpPr>
            <p:nvPr/>
          </p:nvSpPr>
          <p:spPr bwMode="auto">
            <a:xfrm>
              <a:off x="1350" y="2396"/>
              <a:ext cx="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" panose="02020603050405020304" pitchFamily="18" charset="0"/>
                </a:rPr>
                <a:t>n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0" name="Rectangle 140"/>
            <p:cNvSpPr>
              <a:spLocks noChangeArrowheads="1"/>
            </p:cNvSpPr>
            <p:nvPr/>
          </p:nvSpPr>
          <p:spPr bwMode="auto">
            <a:xfrm>
              <a:off x="1419" y="2479"/>
              <a:ext cx="70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1" name="Rectangle 141"/>
            <p:cNvSpPr>
              <a:spLocks noChangeArrowheads="1"/>
            </p:cNvSpPr>
            <p:nvPr/>
          </p:nvSpPr>
          <p:spPr bwMode="auto">
            <a:xfrm>
              <a:off x="2636" y="2127"/>
              <a:ext cx="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" panose="02020603050405020304" pitchFamily="18" charset="0"/>
                </a:rPr>
                <a:t>n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2" name="Rectangle 142"/>
            <p:cNvSpPr>
              <a:spLocks noChangeArrowheads="1"/>
            </p:cNvSpPr>
            <p:nvPr/>
          </p:nvSpPr>
          <p:spPr bwMode="auto">
            <a:xfrm>
              <a:off x="2707" y="2210"/>
              <a:ext cx="69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latin typeface="Times" panose="02020603050405020304" pitchFamily="18" charset="0"/>
                </a:rPr>
                <a:t>2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43" name="Group 143"/>
            <p:cNvGrpSpPr>
              <a:grpSpLocks/>
            </p:cNvGrpSpPr>
            <p:nvPr/>
          </p:nvGrpSpPr>
          <p:grpSpPr bwMode="auto">
            <a:xfrm>
              <a:off x="1963" y="2009"/>
              <a:ext cx="166" cy="779"/>
              <a:chOff x="2652" y="1204"/>
              <a:chExt cx="166" cy="779"/>
            </a:xfrm>
          </p:grpSpPr>
          <p:grpSp>
            <p:nvGrpSpPr>
              <p:cNvPr id="132" name="Group 144"/>
              <p:cNvGrpSpPr>
                <a:grpSpLocks/>
              </p:cNvGrpSpPr>
              <p:nvPr/>
            </p:nvGrpSpPr>
            <p:grpSpPr bwMode="auto">
              <a:xfrm>
                <a:off x="2652" y="1753"/>
                <a:ext cx="166" cy="95"/>
                <a:chOff x="2652" y="1753"/>
                <a:chExt cx="166" cy="95"/>
              </a:xfrm>
            </p:grpSpPr>
            <p:grpSp>
              <p:nvGrpSpPr>
                <p:cNvPr id="172" name="Group 145"/>
                <p:cNvGrpSpPr>
                  <a:grpSpLocks/>
                </p:cNvGrpSpPr>
                <p:nvPr/>
              </p:nvGrpSpPr>
              <p:grpSpPr bwMode="auto">
                <a:xfrm>
                  <a:off x="2652" y="1753"/>
                  <a:ext cx="166" cy="77"/>
                  <a:chOff x="2652" y="1753"/>
                  <a:chExt cx="166" cy="77"/>
                </a:xfrm>
              </p:grpSpPr>
              <p:sp>
                <p:nvSpPr>
                  <p:cNvPr id="176" name="Arc 146"/>
                  <p:cNvSpPr>
                    <a:spLocks/>
                  </p:cNvSpPr>
                  <p:nvPr/>
                </p:nvSpPr>
                <p:spPr bwMode="auto">
                  <a:xfrm>
                    <a:off x="2735" y="1753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20"/>
                      <a:gd name="T2" fmla="*/ 0 w 21619"/>
                      <a:gd name="T3" fmla="*/ 0 h 21720"/>
                      <a:gd name="T4" fmla="*/ 0 w 21619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20" fill="none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</a:path>
                      <a:path w="21619" h="21720" stroke="0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  <a:lnTo>
                          <a:pt x="19" y="12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7" name="Arc 147"/>
                  <p:cNvSpPr>
                    <a:spLocks/>
                  </p:cNvSpPr>
                  <p:nvPr/>
                </p:nvSpPr>
                <p:spPr bwMode="auto">
                  <a:xfrm>
                    <a:off x="2652" y="1800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5"/>
                      <a:gd name="T2" fmla="*/ 0 w 21600"/>
                      <a:gd name="T3" fmla="*/ 0 h 21915"/>
                      <a:gd name="T4" fmla="*/ 0 w 21600"/>
                      <a:gd name="T5" fmla="*/ 0 h 219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5" fill="none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</a:path>
                      <a:path w="21600" h="21915" stroke="0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  <a:lnTo>
                          <a:pt x="21600" y="315"/>
                        </a:lnTo>
                        <a:lnTo>
                          <a:pt x="21585" y="219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73" name="Group 148"/>
                <p:cNvGrpSpPr>
                  <a:grpSpLocks/>
                </p:cNvGrpSpPr>
                <p:nvPr/>
              </p:nvGrpSpPr>
              <p:grpSpPr bwMode="auto">
                <a:xfrm>
                  <a:off x="2652" y="1771"/>
                  <a:ext cx="166" cy="77"/>
                  <a:chOff x="2652" y="1771"/>
                  <a:chExt cx="166" cy="77"/>
                </a:xfrm>
              </p:grpSpPr>
              <p:sp>
                <p:nvSpPr>
                  <p:cNvPr id="174" name="Arc 149"/>
                  <p:cNvSpPr>
                    <a:spLocks/>
                  </p:cNvSpPr>
                  <p:nvPr/>
                </p:nvSpPr>
                <p:spPr bwMode="auto">
                  <a:xfrm>
                    <a:off x="2735" y="1771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5" name="Arc 150"/>
                  <p:cNvSpPr>
                    <a:spLocks/>
                  </p:cNvSpPr>
                  <p:nvPr/>
                </p:nvSpPr>
                <p:spPr bwMode="auto">
                  <a:xfrm>
                    <a:off x="2652" y="1771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3" name="Group 151"/>
              <p:cNvGrpSpPr>
                <a:grpSpLocks/>
              </p:cNvGrpSpPr>
              <p:nvPr/>
            </p:nvGrpSpPr>
            <p:grpSpPr bwMode="auto">
              <a:xfrm>
                <a:off x="2652" y="1671"/>
                <a:ext cx="166" cy="94"/>
                <a:chOff x="2652" y="1671"/>
                <a:chExt cx="166" cy="94"/>
              </a:xfrm>
            </p:grpSpPr>
            <p:grpSp>
              <p:nvGrpSpPr>
                <p:cNvPr id="166" name="Group 152"/>
                <p:cNvGrpSpPr>
                  <a:grpSpLocks/>
                </p:cNvGrpSpPr>
                <p:nvPr/>
              </p:nvGrpSpPr>
              <p:grpSpPr bwMode="auto">
                <a:xfrm>
                  <a:off x="2652" y="1671"/>
                  <a:ext cx="166" cy="77"/>
                  <a:chOff x="2652" y="1671"/>
                  <a:chExt cx="166" cy="77"/>
                </a:xfrm>
              </p:grpSpPr>
              <p:sp>
                <p:nvSpPr>
                  <p:cNvPr id="170" name="Arc 153"/>
                  <p:cNvSpPr>
                    <a:spLocks/>
                  </p:cNvSpPr>
                  <p:nvPr/>
                </p:nvSpPr>
                <p:spPr bwMode="auto">
                  <a:xfrm>
                    <a:off x="2735" y="1671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40"/>
                      <a:gd name="T2" fmla="*/ 0 w 21619"/>
                      <a:gd name="T3" fmla="*/ 0 h 21740"/>
                      <a:gd name="T4" fmla="*/ 0 w 21619"/>
                      <a:gd name="T5" fmla="*/ 0 h 21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40" fill="none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</a:path>
                      <a:path w="21619" h="21740" stroke="0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  <a:lnTo>
                          <a:pt x="19" y="14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1" name="Arc 154"/>
                  <p:cNvSpPr>
                    <a:spLocks/>
                  </p:cNvSpPr>
                  <p:nvPr/>
                </p:nvSpPr>
                <p:spPr bwMode="auto">
                  <a:xfrm>
                    <a:off x="2652" y="1718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</a:path>
                      <a:path w="21600" h="21910" stroke="0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  <a:lnTo>
                          <a:pt x="21600" y="310"/>
                        </a:lnTo>
                        <a:lnTo>
                          <a:pt x="21585" y="2190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67" name="Group 155"/>
                <p:cNvGrpSpPr>
                  <a:grpSpLocks/>
                </p:cNvGrpSpPr>
                <p:nvPr/>
              </p:nvGrpSpPr>
              <p:grpSpPr bwMode="auto">
                <a:xfrm>
                  <a:off x="2652" y="1688"/>
                  <a:ext cx="166" cy="77"/>
                  <a:chOff x="2652" y="1688"/>
                  <a:chExt cx="166" cy="77"/>
                </a:xfrm>
              </p:grpSpPr>
              <p:sp>
                <p:nvSpPr>
                  <p:cNvPr id="168" name="Arc 156"/>
                  <p:cNvSpPr>
                    <a:spLocks/>
                  </p:cNvSpPr>
                  <p:nvPr/>
                </p:nvSpPr>
                <p:spPr bwMode="auto">
                  <a:xfrm>
                    <a:off x="2735" y="1688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9" name="Arc 157"/>
                  <p:cNvSpPr>
                    <a:spLocks/>
                  </p:cNvSpPr>
                  <p:nvPr/>
                </p:nvSpPr>
                <p:spPr bwMode="auto">
                  <a:xfrm>
                    <a:off x="2652" y="1688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557"/>
                        </a:moveTo>
                        <a:cubicBezTo>
                          <a:pt x="23" y="9650"/>
                          <a:pt x="9677" y="8"/>
                          <a:pt x="21584" y="0"/>
                        </a:cubicBezTo>
                      </a:path>
                      <a:path w="21600" h="21600" stroke="0" extrusionOk="0">
                        <a:moveTo>
                          <a:pt x="0" y="21557"/>
                        </a:moveTo>
                        <a:cubicBezTo>
                          <a:pt x="23" y="9650"/>
                          <a:pt x="9677" y="8"/>
                          <a:pt x="21584" y="0"/>
                        </a:cubicBezTo>
                        <a:lnTo>
                          <a:pt x="21600" y="21600"/>
                        </a:lnTo>
                        <a:lnTo>
                          <a:pt x="0" y="21557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4" name="Group 158"/>
              <p:cNvGrpSpPr>
                <a:grpSpLocks/>
              </p:cNvGrpSpPr>
              <p:nvPr/>
            </p:nvGrpSpPr>
            <p:grpSpPr bwMode="auto">
              <a:xfrm>
                <a:off x="2652" y="1588"/>
                <a:ext cx="166" cy="95"/>
                <a:chOff x="2652" y="1588"/>
                <a:chExt cx="166" cy="95"/>
              </a:xfrm>
            </p:grpSpPr>
            <p:grpSp>
              <p:nvGrpSpPr>
                <p:cNvPr id="160" name="Group 159"/>
                <p:cNvGrpSpPr>
                  <a:grpSpLocks/>
                </p:cNvGrpSpPr>
                <p:nvPr/>
              </p:nvGrpSpPr>
              <p:grpSpPr bwMode="auto">
                <a:xfrm>
                  <a:off x="2652" y="1588"/>
                  <a:ext cx="166" cy="77"/>
                  <a:chOff x="2652" y="1588"/>
                  <a:chExt cx="166" cy="77"/>
                </a:xfrm>
              </p:grpSpPr>
              <p:sp>
                <p:nvSpPr>
                  <p:cNvPr id="164" name="Arc 160"/>
                  <p:cNvSpPr>
                    <a:spLocks/>
                  </p:cNvSpPr>
                  <p:nvPr/>
                </p:nvSpPr>
                <p:spPr bwMode="auto">
                  <a:xfrm>
                    <a:off x="2735" y="1588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20"/>
                      <a:gd name="T2" fmla="*/ 0 w 21619"/>
                      <a:gd name="T3" fmla="*/ 0 h 21720"/>
                      <a:gd name="T4" fmla="*/ 0 w 21619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20" fill="none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</a:path>
                      <a:path w="21619" h="21720" stroke="0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  <a:lnTo>
                          <a:pt x="19" y="12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5" name="Arc 161"/>
                  <p:cNvSpPr>
                    <a:spLocks/>
                  </p:cNvSpPr>
                  <p:nvPr/>
                </p:nvSpPr>
                <p:spPr bwMode="auto">
                  <a:xfrm>
                    <a:off x="2652" y="1635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5"/>
                      <a:gd name="T2" fmla="*/ 0 w 21600"/>
                      <a:gd name="T3" fmla="*/ 0 h 21915"/>
                      <a:gd name="T4" fmla="*/ 0 w 21600"/>
                      <a:gd name="T5" fmla="*/ 0 h 219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5" fill="none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</a:path>
                      <a:path w="21600" h="21915" stroke="0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  <a:lnTo>
                          <a:pt x="21600" y="315"/>
                        </a:lnTo>
                        <a:lnTo>
                          <a:pt x="21585" y="219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61" name="Group 162"/>
                <p:cNvGrpSpPr>
                  <a:grpSpLocks/>
                </p:cNvGrpSpPr>
                <p:nvPr/>
              </p:nvGrpSpPr>
              <p:grpSpPr bwMode="auto">
                <a:xfrm>
                  <a:off x="2652" y="1606"/>
                  <a:ext cx="166" cy="77"/>
                  <a:chOff x="2652" y="1606"/>
                  <a:chExt cx="166" cy="77"/>
                </a:xfrm>
              </p:grpSpPr>
              <p:sp>
                <p:nvSpPr>
                  <p:cNvPr id="162" name="Arc 163"/>
                  <p:cNvSpPr>
                    <a:spLocks/>
                  </p:cNvSpPr>
                  <p:nvPr/>
                </p:nvSpPr>
                <p:spPr bwMode="auto">
                  <a:xfrm>
                    <a:off x="2735" y="1606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3" name="Arc 164"/>
                  <p:cNvSpPr>
                    <a:spLocks/>
                  </p:cNvSpPr>
                  <p:nvPr/>
                </p:nvSpPr>
                <p:spPr bwMode="auto">
                  <a:xfrm>
                    <a:off x="2652" y="1606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5" name="Group 165"/>
              <p:cNvGrpSpPr>
                <a:grpSpLocks/>
              </p:cNvGrpSpPr>
              <p:nvPr/>
            </p:nvGrpSpPr>
            <p:grpSpPr bwMode="auto">
              <a:xfrm>
                <a:off x="2652" y="1506"/>
                <a:ext cx="166" cy="94"/>
                <a:chOff x="2652" y="1506"/>
                <a:chExt cx="166" cy="94"/>
              </a:xfrm>
            </p:grpSpPr>
            <p:grpSp>
              <p:nvGrpSpPr>
                <p:cNvPr id="154" name="Group 166"/>
                <p:cNvGrpSpPr>
                  <a:grpSpLocks/>
                </p:cNvGrpSpPr>
                <p:nvPr/>
              </p:nvGrpSpPr>
              <p:grpSpPr bwMode="auto">
                <a:xfrm>
                  <a:off x="2652" y="1506"/>
                  <a:ext cx="166" cy="77"/>
                  <a:chOff x="2652" y="1506"/>
                  <a:chExt cx="166" cy="77"/>
                </a:xfrm>
              </p:grpSpPr>
              <p:sp>
                <p:nvSpPr>
                  <p:cNvPr id="158" name="Arc 167"/>
                  <p:cNvSpPr>
                    <a:spLocks/>
                  </p:cNvSpPr>
                  <p:nvPr/>
                </p:nvSpPr>
                <p:spPr bwMode="auto">
                  <a:xfrm>
                    <a:off x="2735" y="1506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40"/>
                      <a:gd name="T2" fmla="*/ 0 w 21619"/>
                      <a:gd name="T3" fmla="*/ 0 h 21740"/>
                      <a:gd name="T4" fmla="*/ 0 w 21619"/>
                      <a:gd name="T5" fmla="*/ 0 h 21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40" fill="none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</a:path>
                      <a:path w="21619" h="21740" stroke="0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  <a:lnTo>
                          <a:pt x="19" y="14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9" name="Arc 168"/>
                  <p:cNvSpPr>
                    <a:spLocks/>
                  </p:cNvSpPr>
                  <p:nvPr/>
                </p:nvSpPr>
                <p:spPr bwMode="auto">
                  <a:xfrm>
                    <a:off x="2652" y="1553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</a:path>
                      <a:path w="21600" h="21910" stroke="0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  <a:lnTo>
                          <a:pt x="21600" y="310"/>
                        </a:lnTo>
                        <a:lnTo>
                          <a:pt x="21585" y="2190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55" name="Group 169"/>
                <p:cNvGrpSpPr>
                  <a:grpSpLocks/>
                </p:cNvGrpSpPr>
                <p:nvPr/>
              </p:nvGrpSpPr>
              <p:grpSpPr bwMode="auto">
                <a:xfrm>
                  <a:off x="2653" y="1523"/>
                  <a:ext cx="165" cy="77"/>
                  <a:chOff x="2653" y="1523"/>
                  <a:chExt cx="165" cy="77"/>
                </a:xfrm>
              </p:grpSpPr>
              <p:sp>
                <p:nvSpPr>
                  <p:cNvPr id="156" name="Arc 170"/>
                  <p:cNvSpPr>
                    <a:spLocks/>
                  </p:cNvSpPr>
                  <p:nvPr/>
                </p:nvSpPr>
                <p:spPr bwMode="auto">
                  <a:xfrm>
                    <a:off x="2735" y="1523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" name="Arc 171"/>
                  <p:cNvSpPr>
                    <a:spLocks/>
                  </p:cNvSpPr>
                  <p:nvPr/>
                </p:nvSpPr>
                <p:spPr bwMode="auto">
                  <a:xfrm>
                    <a:off x="2653" y="1523"/>
                    <a:ext cx="82" cy="30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0" y="21290"/>
                        </a:moveTo>
                        <a:cubicBezTo>
                          <a:pt x="169" y="9488"/>
                          <a:pt x="9780" y="8"/>
                          <a:pt x="21583" y="0"/>
                        </a:cubicBezTo>
                      </a:path>
                      <a:path w="21598" h="21600" stroke="0" extrusionOk="0">
                        <a:moveTo>
                          <a:pt x="0" y="21290"/>
                        </a:moveTo>
                        <a:cubicBezTo>
                          <a:pt x="169" y="9488"/>
                          <a:pt x="9780" y="8"/>
                          <a:pt x="21583" y="0"/>
                        </a:cubicBezTo>
                        <a:lnTo>
                          <a:pt x="21598" y="21600"/>
                        </a:lnTo>
                        <a:lnTo>
                          <a:pt x="0" y="2129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6" name="Group 172"/>
              <p:cNvGrpSpPr>
                <a:grpSpLocks/>
              </p:cNvGrpSpPr>
              <p:nvPr/>
            </p:nvGrpSpPr>
            <p:grpSpPr bwMode="auto">
              <a:xfrm>
                <a:off x="2652" y="1423"/>
                <a:ext cx="166" cy="95"/>
                <a:chOff x="2652" y="1423"/>
                <a:chExt cx="166" cy="95"/>
              </a:xfrm>
            </p:grpSpPr>
            <p:grpSp>
              <p:nvGrpSpPr>
                <p:cNvPr id="148" name="Group 173"/>
                <p:cNvGrpSpPr>
                  <a:grpSpLocks/>
                </p:cNvGrpSpPr>
                <p:nvPr/>
              </p:nvGrpSpPr>
              <p:grpSpPr bwMode="auto">
                <a:xfrm>
                  <a:off x="2652" y="1423"/>
                  <a:ext cx="166" cy="77"/>
                  <a:chOff x="2652" y="1423"/>
                  <a:chExt cx="166" cy="77"/>
                </a:xfrm>
              </p:grpSpPr>
              <p:sp>
                <p:nvSpPr>
                  <p:cNvPr id="152" name="Arc 174"/>
                  <p:cNvSpPr>
                    <a:spLocks/>
                  </p:cNvSpPr>
                  <p:nvPr/>
                </p:nvSpPr>
                <p:spPr bwMode="auto">
                  <a:xfrm>
                    <a:off x="2735" y="1423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20"/>
                      <a:gd name="T2" fmla="*/ 0 w 21619"/>
                      <a:gd name="T3" fmla="*/ 0 h 21720"/>
                      <a:gd name="T4" fmla="*/ 0 w 21619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20" fill="none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</a:path>
                      <a:path w="21619" h="21720" stroke="0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  <a:lnTo>
                          <a:pt x="19" y="12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3" name="Arc 175"/>
                  <p:cNvSpPr>
                    <a:spLocks/>
                  </p:cNvSpPr>
                  <p:nvPr/>
                </p:nvSpPr>
                <p:spPr bwMode="auto">
                  <a:xfrm>
                    <a:off x="2652" y="1464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584" y="21599"/>
                        </a:moveTo>
                        <a:cubicBezTo>
                          <a:pt x="9660" y="21591"/>
                          <a:pt x="0" y="11923"/>
                          <a:pt x="0" y="0"/>
                        </a:cubicBezTo>
                      </a:path>
                      <a:path w="21600" h="21600" stroke="0" extrusionOk="0">
                        <a:moveTo>
                          <a:pt x="21584" y="21599"/>
                        </a:moveTo>
                        <a:cubicBezTo>
                          <a:pt x="9660" y="21591"/>
                          <a:pt x="0" y="11923"/>
                          <a:pt x="0" y="0"/>
                        </a:cubicBezTo>
                        <a:lnTo>
                          <a:pt x="21600" y="0"/>
                        </a:lnTo>
                        <a:lnTo>
                          <a:pt x="21584" y="2159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49" name="Group 176"/>
                <p:cNvGrpSpPr>
                  <a:grpSpLocks/>
                </p:cNvGrpSpPr>
                <p:nvPr/>
              </p:nvGrpSpPr>
              <p:grpSpPr bwMode="auto">
                <a:xfrm>
                  <a:off x="2653" y="1441"/>
                  <a:ext cx="165" cy="77"/>
                  <a:chOff x="2653" y="1441"/>
                  <a:chExt cx="165" cy="77"/>
                </a:xfrm>
              </p:grpSpPr>
              <p:sp>
                <p:nvSpPr>
                  <p:cNvPr id="150" name="Arc 177"/>
                  <p:cNvSpPr>
                    <a:spLocks/>
                  </p:cNvSpPr>
                  <p:nvPr/>
                </p:nvSpPr>
                <p:spPr bwMode="auto">
                  <a:xfrm>
                    <a:off x="2735" y="1441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1" name="Arc 178"/>
                  <p:cNvSpPr>
                    <a:spLocks/>
                  </p:cNvSpPr>
                  <p:nvPr/>
                </p:nvSpPr>
                <p:spPr bwMode="auto">
                  <a:xfrm>
                    <a:off x="2653" y="1441"/>
                    <a:ext cx="82" cy="29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0" y="21285"/>
                        </a:moveTo>
                        <a:cubicBezTo>
                          <a:pt x="172" y="9485"/>
                          <a:pt x="9782" y="8"/>
                          <a:pt x="21583" y="0"/>
                        </a:cubicBezTo>
                      </a:path>
                      <a:path w="21598" h="21600" stroke="0" extrusionOk="0">
                        <a:moveTo>
                          <a:pt x="0" y="21285"/>
                        </a:moveTo>
                        <a:cubicBezTo>
                          <a:pt x="172" y="9485"/>
                          <a:pt x="9782" y="8"/>
                          <a:pt x="21583" y="0"/>
                        </a:cubicBezTo>
                        <a:lnTo>
                          <a:pt x="21598" y="21600"/>
                        </a:lnTo>
                        <a:lnTo>
                          <a:pt x="0" y="21285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7" name="Group 179"/>
              <p:cNvGrpSpPr>
                <a:grpSpLocks/>
              </p:cNvGrpSpPr>
              <p:nvPr/>
            </p:nvGrpSpPr>
            <p:grpSpPr bwMode="auto">
              <a:xfrm>
                <a:off x="2652" y="1341"/>
                <a:ext cx="166" cy="94"/>
                <a:chOff x="2652" y="1341"/>
                <a:chExt cx="166" cy="94"/>
              </a:xfrm>
            </p:grpSpPr>
            <p:grpSp>
              <p:nvGrpSpPr>
                <p:cNvPr id="142" name="Group 180"/>
                <p:cNvGrpSpPr>
                  <a:grpSpLocks/>
                </p:cNvGrpSpPr>
                <p:nvPr/>
              </p:nvGrpSpPr>
              <p:grpSpPr bwMode="auto">
                <a:xfrm>
                  <a:off x="2652" y="1341"/>
                  <a:ext cx="166" cy="77"/>
                  <a:chOff x="2652" y="1341"/>
                  <a:chExt cx="166" cy="77"/>
                </a:xfrm>
              </p:grpSpPr>
              <p:sp>
                <p:nvSpPr>
                  <p:cNvPr id="146" name="Arc 181"/>
                  <p:cNvSpPr>
                    <a:spLocks/>
                  </p:cNvSpPr>
                  <p:nvPr/>
                </p:nvSpPr>
                <p:spPr bwMode="auto">
                  <a:xfrm>
                    <a:off x="2735" y="1341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40"/>
                      <a:gd name="T2" fmla="*/ 0 w 21619"/>
                      <a:gd name="T3" fmla="*/ 0 h 21740"/>
                      <a:gd name="T4" fmla="*/ 0 w 21619"/>
                      <a:gd name="T5" fmla="*/ 0 h 21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40" fill="none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</a:path>
                      <a:path w="21619" h="21740" stroke="0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  <a:lnTo>
                          <a:pt x="19" y="14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47" name="Arc 182"/>
                  <p:cNvSpPr>
                    <a:spLocks/>
                  </p:cNvSpPr>
                  <p:nvPr/>
                </p:nvSpPr>
                <p:spPr bwMode="auto">
                  <a:xfrm>
                    <a:off x="2652" y="1382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43"/>
                      <a:gd name="T2" fmla="*/ 0 w 21600"/>
                      <a:gd name="T3" fmla="*/ 0 h 21643"/>
                      <a:gd name="T4" fmla="*/ 0 w 21600"/>
                      <a:gd name="T5" fmla="*/ 0 h 2164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3" fill="none" extrusionOk="0">
                        <a:moveTo>
                          <a:pt x="21584" y="21642"/>
                        </a:moveTo>
                        <a:cubicBezTo>
                          <a:pt x="9660" y="21634"/>
                          <a:pt x="0" y="11966"/>
                          <a:pt x="0" y="43"/>
                        </a:cubicBezTo>
                        <a:cubicBezTo>
                          <a:pt x="-1" y="28"/>
                          <a:pt x="0" y="14"/>
                          <a:pt x="0" y="0"/>
                        </a:cubicBezTo>
                      </a:path>
                      <a:path w="21600" h="21643" stroke="0" extrusionOk="0">
                        <a:moveTo>
                          <a:pt x="21584" y="21642"/>
                        </a:moveTo>
                        <a:cubicBezTo>
                          <a:pt x="9660" y="21634"/>
                          <a:pt x="0" y="11966"/>
                          <a:pt x="0" y="43"/>
                        </a:cubicBezTo>
                        <a:cubicBezTo>
                          <a:pt x="-1" y="28"/>
                          <a:pt x="0" y="14"/>
                          <a:pt x="0" y="0"/>
                        </a:cubicBezTo>
                        <a:lnTo>
                          <a:pt x="21600" y="43"/>
                        </a:lnTo>
                        <a:lnTo>
                          <a:pt x="21584" y="21642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43" name="Group 183"/>
                <p:cNvGrpSpPr>
                  <a:grpSpLocks/>
                </p:cNvGrpSpPr>
                <p:nvPr/>
              </p:nvGrpSpPr>
              <p:grpSpPr bwMode="auto">
                <a:xfrm>
                  <a:off x="2653" y="1358"/>
                  <a:ext cx="165" cy="77"/>
                  <a:chOff x="2653" y="1358"/>
                  <a:chExt cx="165" cy="77"/>
                </a:xfrm>
              </p:grpSpPr>
              <p:sp>
                <p:nvSpPr>
                  <p:cNvPr id="144" name="Arc 184"/>
                  <p:cNvSpPr>
                    <a:spLocks/>
                  </p:cNvSpPr>
                  <p:nvPr/>
                </p:nvSpPr>
                <p:spPr bwMode="auto">
                  <a:xfrm>
                    <a:off x="2735" y="1358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45" name="Arc 185"/>
                  <p:cNvSpPr>
                    <a:spLocks/>
                  </p:cNvSpPr>
                  <p:nvPr/>
                </p:nvSpPr>
                <p:spPr bwMode="auto">
                  <a:xfrm>
                    <a:off x="2653" y="1358"/>
                    <a:ext cx="82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0" y="21239"/>
                        </a:moveTo>
                        <a:cubicBezTo>
                          <a:pt x="196" y="9457"/>
                          <a:pt x="9799" y="8"/>
                          <a:pt x="21582" y="0"/>
                        </a:cubicBezTo>
                      </a:path>
                      <a:path w="21597" h="21600" stroke="0" extrusionOk="0">
                        <a:moveTo>
                          <a:pt x="0" y="21239"/>
                        </a:moveTo>
                        <a:cubicBezTo>
                          <a:pt x="196" y="9457"/>
                          <a:pt x="9799" y="8"/>
                          <a:pt x="21582" y="0"/>
                        </a:cubicBezTo>
                        <a:lnTo>
                          <a:pt x="21597" y="21600"/>
                        </a:lnTo>
                        <a:lnTo>
                          <a:pt x="0" y="212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38" name="Arc 186"/>
              <p:cNvSpPr>
                <a:spLocks/>
              </p:cNvSpPr>
              <p:nvPr/>
            </p:nvSpPr>
            <p:spPr bwMode="auto">
              <a:xfrm>
                <a:off x="2735" y="1275"/>
                <a:ext cx="83" cy="77"/>
              </a:xfrm>
              <a:custGeom>
                <a:avLst/>
                <a:gdLst>
                  <a:gd name="T0" fmla="*/ 0 w 21618"/>
                  <a:gd name="T1" fmla="*/ 0 h 21600"/>
                  <a:gd name="T2" fmla="*/ 0 w 21618"/>
                  <a:gd name="T3" fmla="*/ 0 h 21600"/>
                  <a:gd name="T4" fmla="*/ 0 w 21618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18" h="21600" fill="none" extrusionOk="0">
                    <a:moveTo>
                      <a:pt x="0" y="0"/>
                    </a:moveTo>
                    <a:cubicBezTo>
                      <a:pt x="6" y="0"/>
                      <a:pt x="12" y="-1"/>
                      <a:pt x="18" y="0"/>
                    </a:cubicBezTo>
                    <a:cubicBezTo>
                      <a:pt x="11900" y="0"/>
                      <a:pt x="21551" y="9597"/>
                      <a:pt x="21617" y="21480"/>
                    </a:cubicBezTo>
                  </a:path>
                  <a:path w="21618" h="21600" stroke="0" extrusionOk="0">
                    <a:moveTo>
                      <a:pt x="0" y="0"/>
                    </a:moveTo>
                    <a:cubicBezTo>
                      <a:pt x="6" y="0"/>
                      <a:pt x="12" y="-1"/>
                      <a:pt x="18" y="0"/>
                    </a:cubicBezTo>
                    <a:cubicBezTo>
                      <a:pt x="11900" y="0"/>
                      <a:pt x="21551" y="9597"/>
                      <a:pt x="21617" y="21480"/>
                    </a:cubicBezTo>
                    <a:lnTo>
                      <a:pt x="18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9" name="Arc 187"/>
              <p:cNvSpPr>
                <a:spLocks/>
              </p:cNvSpPr>
              <p:nvPr/>
            </p:nvSpPr>
            <p:spPr bwMode="auto">
              <a:xfrm>
                <a:off x="2735" y="1848"/>
                <a:ext cx="83" cy="77"/>
              </a:xfrm>
              <a:custGeom>
                <a:avLst/>
                <a:gdLst>
                  <a:gd name="T0" fmla="*/ 0 w 21619"/>
                  <a:gd name="T1" fmla="*/ 0 h 21740"/>
                  <a:gd name="T2" fmla="*/ 0 w 21619"/>
                  <a:gd name="T3" fmla="*/ 0 h 21740"/>
                  <a:gd name="T4" fmla="*/ 0 w 21619"/>
                  <a:gd name="T5" fmla="*/ 0 h 217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19" h="21740" fill="none" extrusionOk="0">
                    <a:moveTo>
                      <a:pt x="21618" y="0"/>
                    </a:moveTo>
                    <a:cubicBezTo>
                      <a:pt x="21618" y="46"/>
                      <a:pt x="21619" y="93"/>
                      <a:pt x="21619" y="140"/>
                    </a:cubicBezTo>
                    <a:cubicBezTo>
                      <a:pt x="21619" y="12069"/>
                      <a:pt x="11948" y="21740"/>
                      <a:pt x="19" y="21740"/>
                    </a:cubicBezTo>
                    <a:cubicBezTo>
                      <a:pt x="12" y="21740"/>
                      <a:pt x="6" y="21739"/>
                      <a:pt x="0" y="21739"/>
                    </a:cubicBezTo>
                  </a:path>
                  <a:path w="21619" h="21740" stroke="0" extrusionOk="0">
                    <a:moveTo>
                      <a:pt x="21618" y="0"/>
                    </a:moveTo>
                    <a:cubicBezTo>
                      <a:pt x="21618" y="46"/>
                      <a:pt x="21619" y="93"/>
                      <a:pt x="21619" y="140"/>
                    </a:cubicBezTo>
                    <a:cubicBezTo>
                      <a:pt x="21619" y="12069"/>
                      <a:pt x="11948" y="21740"/>
                      <a:pt x="19" y="21740"/>
                    </a:cubicBezTo>
                    <a:cubicBezTo>
                      <a:pt x="12" y="21740"/>
                      <a:pt x="6" y="21739"/>
                      <a:pt x="0" y="21739"/>
                    </a:cubicBezTo>
                    <a:lnTo>
                      <a:pt x="19" y="140"/>
                    </a:lnTo>
                    <a:lnTo>
                      <a:pt x="21618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0" name="Line 188"/>
              <p:cNvSpPr>
                <a:spLocks noChangeShapeType="1"/>
              </p:cNvSpPr>
              <p:nvPr/>
            </p:nvSpPr>
            <p:spPr bwMode="auto">
              <a:xfrm flipV="1">
                <a:off x="2734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1" name="Line 189"/>
              <p:cNvSpPr>
                <a:spLocks noChangeShapeType="1"/>
              </p:cNvSpPr>
              <p:nvPr/>
            </p:nvSpPr>
            <p:spPr bwMode="auto">
              <a:xfrm flipV="1">
                <a:off x="2734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4" name="Line 190"/>
            <p:cNvSpPr>
              <a:spLocks noChangeShapeType="1"/>
            </p:cNvSpPr>
            <p:nvPr/>
          </p:nvSpPr>
          <p:spPr bwMode="auto">
            <a:xfrm flipV="1">
              <a:off x="2045" y="1950"/>
              <a:ext cx="1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191"/>
            <p:cNvSpPr>
              <a:spLocks noChangeShapeType="1"/>
            </p:cNvSpPr>
            <p:nvPr/>
          </p:nvSpPr>
          <p:spPr bwMode="auto">
            <a:xfrm flipV="1">
              <a:off x="2045" y="2753"/>
              <a:ext cx="1" cy="36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Oval 192"/>
            <p:cNvSpPr>
              <a:spLocks noChangeArrowheads="1"/>
            </p:cNvSpPr>
            <p:nvPr/>
          </p:nvSpPr>
          <p:spPr bwMode="auto">
            <a:xfrm>
              <a:off x="1886" y="2711"/>
              <a:ext cx="70" cy="59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193"/>
            <p:cNvSpPr>
              <a:spLocks noChangeArrowheads="1"/>
            </p:cNvSpPr>
            <p:nvPr/>
          </p:nvSpPr>
          <p:spPr bwMode="auto">
            <a:xfrm>
              <a:off x="1821" y="2162"/>
              <a:ext cx="9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" panose="02020603050405020304" pitchFamily="18" charset="0"/>
                </a:rPr>
                <a:t>n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194"/>
            <p:cNvSpPr>
              <a:spLocks noChangeArrowheads="1"/>
            </p:cNvSpPr>
            <p:nvPr/>
          </p:nvSpPr>
          <p:spPr bwMode="auto">
            <a:xfrm>
              <a:off x="1892" y="2245"/>
              <a:ext cx="70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latin typeface="Times" panose="02020603050405020304" pitchFamily="18" charset="0"/>
                </a:rPr>
                <a:t>3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49" name="Group 195"/>
            <p:cNvGrpSpPr>
              <a:grpSpLocks/>
            </p:cNvGrpSpPr>
            <p:nvPr/>
          </p:nvGrpSpPr>
          <p:grpSpPr bwMode="auto">
            <a:xfrm>
              <a:off x="1844" y="3142"/>
              <a:ext cx="402" cy="260"/>
              <a:chOff x="2533" y="2337"/>
              <a:chExt cx="402" cy="260"/>
            </a:xfrm>
          </p:grpSpPr>
          <p:sp>
            <p:nvSpPr>
              <p:cNvPr id="128" name="Line 196"/>
              <p:cNvSpPr>
                <a:spLocks noChangeShapeType="1"/>
              </p:cNvSpPr>
              <p:nvPr/>
            </p:nvSpPr>
            <p:spPr bwMode="auto">
              <a:xfrm flipH="1">
                <a:off x="2533" y="2337"/>
                <a:ext cx="402" cy="1"/>
              </a:xfrm>
              <a:prstGeom prst="line">
                <a:avLst/>
              </a:prstGeom>
              <a:noFill/>
              <a:ln w="746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9" name="Line 197"/>
              <p:cNvSpPr>
                <a:spLocks noChangeShapeType="1"/>
              </p:cNvSpPr>
              <p:nvPr/>
            </p:nvSpPr>
            <p:spPr bwMode="auto">
              <a:xfrm>
                <a:off x="2734" y="2337"/>
                <a:ext cx="201" cy="2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0" name="Line 198"/>
              <p:cNvSpPr>
                <a:spLocks noChangeShapeType="1"/>
              </p:cNvSpPr>
              <p:nvPr/>
            </p:nvSpPr>
            <p:spPr bwMode="auto">
              <a:xfrm flipH="1">
                <a:off x="2533" y="2596"/>
                <a:ext cx="402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1" name="Line 199"/>
              <p:cNvSpPr>
                <a:spLocks noChangeShapeType="1"/>
              </p:cNvSpPr>
              <p:nvPr/>
            </p:nvSpPr>
            <p:spPr bwMode="auto">
              <a:xfrm flipV="1">
                <a:off x="2533" y="2337"/>
                <a:ext cx="201" cy="2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50" name="Line 200"/>
            <p:cNvSpPr>
              <a:spLocks noChangeShapeType="1"/>
            </p:cNvSpPr>
            <p:nvPr/>
          </p:nvSpPr>
          <p:spPr bwMode="auto">
            <a:xfrm>
              <a:off x="640" y="3000"/>
              <a:ext cx="1" cy="74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201"/>
            <p:cNvSpPr>
              <a:spLocks noChangeShapeType="1"/>
            </p:cNvSpPr>
            <p:nvPr/>
          </p:nvSpPr>
          <p:spPr bwMode="auto">
            <a:xfrm>
              <a:off x="652" y="3743"/>
              <a:ext cx="140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202"/>
            <p:cNvSpPr>
              <a:spLocks noChangeShapeType="1"/>
            </p:cNvSpPr>
            <p:nvPr/>
          </p:nvSpPr>
          <p:spPr bwMode="auto">
            <a:xfrm>
              <a:off x="2045" y="3401"/>
              <a:ext cx="1" cy="34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203"/>
            <p:cNvSpPr>
              <a:spLocks noChangeShapeType="1"/>
            </p:cNvSpPr>
            <p:nvPr/>
          </p:nvSpPr>
          <p:spPr bwMode="auto">
            <a:xfrm>
              <a:off x="628" y="1939"/>
              <a:ext cx="1429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204"/>
            <p:cNvSpPr>
              <a:spLocks noChangeShapeType="1"/>
            </p:cNvSpPr>
            <p:nvPr/>
          </p:nvSpPr>
          <p:spPr bwMode="auto">
            <a:xfrm>
              <a:off x="2246" y="2068"/>
              <a:ext cx="1" cy="6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55" name="Group 205"/>
            <p:cNvGrpSpPr>
              <a:grpSpLocks/>
            </p:cNvGrpSpPr>
            <p:nvPr/>
          </p:nvGrpSpPr>
          <p:grpSpPr bwMode="auto">
            <a:xfrm>
              <a:off x="3249" y="2269"/>
              <a:ext cx="402" cy="272"/>
              <a:chOff x="3938" y="1464"/>
              <a:chExt cx="402" cy="272"/>
            </a:xfrm>
          </p:grpSpPr>
          <p:sp>
            <p:nvSpPr>
              <p:cNvPr id="124" name="Line 206"/>
              <p:cNvSpPr>
                <a:spLocks noChangeShapeType="1"/>
              </p:cNvSpPr>
              <p:nvPr/>
            </p:nvSpPr>
            <p:spPr bwMode="auto">
              <a:xfrm flipH="1">
                <a:off x="3938" y="1464"/>
                <a:ext cx="402" cy="1"/>
              </a:xfrm>
              <a:prstGeom prst="line">
                <a:avLst/>
              </a:prstGeom>
              <a:noFill/>
              <a:ln w="746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5" name="Line 207"/>
              <p:cNvSpPr>
                <a:spLocks noChangeShapeType="1"/>
              </p:cNvSpPr>
              <p:nvPr/>
            </p:nvSpPr>
            <p:spPr bwMode="auto">
              <a:xfrm>
                <a:off x="4139" y="1464"/>
                <a:ext cx="201" cy="2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6" name="Line 208"/>
              <p:cNvSpPr>
                <a:spLocks noChangeShapeType="1"/>
              </p:cNvSpPr>
              <p:nvPr/>
            </p:nvSpPr>
            <p:spPr bwMode="auto">
              <a:xfrm flipH="1">
                <a:off x="3938" y="1735"/>
                <a:ext cx="402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7" name="Line 209"/>
              <p:cNvSpPr>
                <a:spLocks noChangeShapeType="1"/>
              </p:cNvSpPr>
              <p:nvPr/>
            </p:nvSpPr>
            <p:spPr bwMode="auto">
              <a:xfrm flipV="1">
                <a:off x="3938" y="1464"/>
                <a:ext cx="201" cy="2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56" name="Line 210"/>
            <p:cNvSpPr>
              <a:spLocks noChangeShapeType="1"/>
            </p:cNvSpPr>
            <p:nvPr/>
          </p:nvSpPr>
          <p:spPr bwMode="auto">
            <a:xfrm>
              <a:off x="3450" y="2540"/>
              <a:ext cx="1" cy="33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Line 211"/>
            <p:cNvSpPr>
              <a:spLocks noChangeShapeType="1"/>
            </p:cNvSpPr>
            <p:nvPr/>
          </p:nvSpPr>
          <p:spPr bwMode="auto">
            <a:xfrm>
              <a:off x="3450" y="1939"/>
              <a:ext cx="1" cy="33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Rectangle 212"/>
            <p:cNvSpPr>
              <a:spLocks noChangeArrowheads="1"/>
            </p:cNvSpPr>
            <p:nvPr/>
          </p:nvSpPr>
          <p:spPr bwMode="auto">
            <a:xfrm>
              <a:off x="2518" y="1619"/>
              <a:ext cx="16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100" b="1"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213"/>
            <p:cNvSpPr>
              <a:spLocks noChangeArrowheads="1"/>
            </p:cNvSpPr>
            <p:nvPr/>
          </p:nvSpPr>
          <p:spPr bwMode="auto">
            <a:xfrm>
              <a:off x="2658" y="1715"/>
              <a:ext cx="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500" b="1"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214"/>
            <p:cNvSpPr>
              <a:spLocks noChangeArrowheads="1"/>
            </p:cNvSpPr>
            <p:nvPr/>
          </p:nvSpPr>
          <p:spPr bwMode="auto">
            <a:xfrm>
              <a:off x="3072" y="2517"/>
              <a:ext cx="16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100" b="1"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215"/>
            <p:cNvSpPr>
              <a:spLocks noChangeArrowheads="1"/>
            </p:cNvSpPr>
            <p:nvPr/>
          </p:nvSpPr>
          <p:spPr bwMode="auto">
            <a:xfrm>
              <a:off x="3226" y="2611"/>
              <a:ext cx="81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500" b="1">
                  <a:latin typeface="Times" panose="02020603050405020304" pitchFamily="18" charset="0"/>
                </a:rPr>
                <a:t>2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216"/>
            <p:cNvSpPr>
              <a:spLocks noChangeArrowheads="1"/>
            </p:cNvSpPr>
            <p:nvPr/>
          </p:nvSpPr>
          <p:spPr bwMode="auto">
            <a:xfrm>
              <a:off x="2116" y="3425"/>
              <a:ext cx="16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100" b="1"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217"/>
            <p:cNvSpPr>
              <a:spLocks noChangeArrowheads="1"/>
            </p:cNvSpPr>
            <p:nvPr/>
          </p:nvSpPr>
          <p:spPr bwMode="auto">
            <a:xfrm>
              <a:off x="2293" y="3519"/>
              <a:ext cx="8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500" b="1">
                  <a:latin typeface="Times" panose="02020603050405020304" pitchFamily="18" charset="0"/>
                </a:rPr>
                <a:t>3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4" name="Line 218"/>
            <p:cNvSpPr>
              <a:spLocks noChangeShapeType="1"/>
            </p:cNvSpPr>
            <p:nvPr/>
          </p:nvSpPr>
          <p:spPr bwMode="auto">
            <a:xfrm>
              <a:off x="1574" y="1998"/>
              <a:ext cx="0" cy="1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Line 219"/>
            <p:cNvSpPr>
              <a:spLocks noChangeShapeType="1"/>
            </p:cNvSpPr>
            <p:nvPr/>
          </p:nvSpPr>
          <p:spPr bwMode="auto">
            <a:xfrm flipV="1">
              <a:off x="2043" y="2869"/>
              <a:ext cx="0" cy="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66" name="Group 220"/>
            <p:cNvGrpSpPr>
              <a:grpSpLocks/>
            </p:cNvGrpSpPr>
            <p:nvPr/>
          </p:nvGrpSpPr>
          <p:grpSpPr bwMode="auto">
            <a:xfrm rot="-5400000">
              <a:off x="3975" y="1542"/>
              <a:ext cx="178" cy="779"/>
              <a:chOff x="2179" y="1204"/>
              <a:chExt cx="178" cy="779"/>
            </a:xfrm>
          </p:grpSpPr>
          <p:grpSp>
            <p:nvGrpSpPr>
              <p:cNvPr id="78" name="Group 221"/>
              <p:cNvGrpSpPr>
                <a:grpSpLocks/>
              </p:cNvGrpSpPr>
              <p:nvPr/>
            </p:nvGrpSpPr>
            <p:grpSpPr bwMode="auto">
              <a:xfrm>
                <a:off x="2179" y="1753"/>
                <a:ext cx="178" cy="95"/>
                <a:chOff x="2179" y="1753"/>
                <a:chExt cx="178" cy="95"/>
              </a:xfrm>
            </p:grpSpPr>
            <p:grpSp>
              <p:nvGrpSpPr>
                <p:cNvPr id="118" name="Group 222"/>
                <p:cNvGrpSpPr>
                  <a:grpSpLocks/>
                </p:cNvGrpSpPr>
                <p:nvPr/>
              </p:nvGrpSpPr>
              <p:grpSpPr bwMode="auto">
                <a:xfrm>
                  <a:off x="2179" y="1753"/>
                  <a:ext cx="178" cy="77"/>
                  <a:chOff x="2179" y="1753"/>
                  <a:chExt cx="178" cy="77"/>
                </a:xfrm>
              </p:grpSpPr>
              <p:sp>
                <p:nvSpPr>
                  <p:cNvPr id="122" name="Arc 223"/>
                  <p:cNvSpPr>
                    <a:spLocks/>
                  </p:cNvSpPr>
                  <p:nvPr/>
                </p:nvSpPr>
                <p:spPr bwMode="auto">
                  <a:xfrm>
                    <a:off x="2268" y="175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23" name="Arc 224"/>
                  <p:cNvSpPr>
                    <a:spLocks/>
                  </p:cNvSpPr>
                  <p:nvPr/>
                </p:nvSpPr>
                <p:spPr bwMode="auto">
                  <a:xfrm>
                    <a:off x="2179" y="1800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19" name="Group 225"/>
                <p:cNvGrpSpPr>
                  <a:grpSpLocks/>
                </p:cNvGrpSpPr>
                <p:nvPr/>
              </p:nvGrpSpPr>
              <p:grpSpPr bwMode="auto">
                <a:xfrm>
                  <a:off x="2179" y="1771"/>
                  <a:ext cx="178" cy="77"/>
                  <a:chOff x="2179" y="1771"/>
                  <a:chExt cx="178" cy="77"/>
                </a:xfrm>
              </p:grpSpPr>
              <p:sp>
                <p:nvSpPr>
                  <p:cNvPr id="120" name="Arc 226"/>
                  <p:cNvSpPr>
                    <a:spLocks/>
                  </p:cNvSpPr>
                  <p:nvPr/>
                </p:nvSpPr>
                <p:spPr bwMode="auto">
                  <a:xfrm>
                    <a:off x="2268" y="177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21" name="Arc 227"/>
                  <p:cNvSpPr>
                    <a:spLocks/>
                  </p:cNvSpPr>
                  <p:nvPr/>
                </p:nvSpPr>
                <p:spPr bwMode="auto">
                  <a:xfrm>
                    <a:off x="2179" y="1771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79" name="Group 228"/>
              <p:cNvGrpSpPr>
                <a:grpSpLocks/>
              </p:cNvGrpSpPr>
              <p:nvPr/>
            </p:nvGrpSpPr>
            <p:grpSpPr bwMode="auto">
              <a:xfrm>
                <a:off x="2179" y="1670"/>
                <a:ext cx="178" cy="95"/>
                <a:chOff x="2179" y="1670"/>
                <a:chExt cx="178" cy="95"/>
              </a:xfrm>
            </p:grpSpPr>
            <p:grpSp>
              <p:nvGrpSpPr>
                <p:cNvPr id="112" name="Group 229"/>
                <p:cNvGrpSpPr>
                  <a:grpSpLocks/>
                </p:cNvGrpSpPr>
                <p:nvPr/>
              </p:nvGrpSpPr>
              <p:grpSpPr bwMode="auto">
                <a:xfrm>
                  <a:off x="2179" y="1670"/>
                  <a:ext cx="178" cy="78"/>
                  <a:chOff x="2179" y="1670"/>
                  <a:chExt cx="178" cy="78"/>
                </a:xfrm>
              </p:grpSpPr>
              <p:sp>
                <p:nvSpPr>
                  <p:cNvPr id="116" name="Arc 230"/>
                  <p:cNvSpPr>
                    <a:spLocks/>
                  </p:cNvSpPr>
                  <p:nvPr/>
                </p:nvSpPr>
                <p:spPr bwMode="auto">
                  <a:xfrm>
                    <a:off x="2268" y="167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17" name="Arc 231"/>
                  <p:cNvSpPr>
                    <a:spLocks/>
                  </p:cNvSpPr>
                  <p:nvPr/>
                </p:nvSpPr>
                <p:spPr bwMode="auto">
                  <a:xfrm>
                    <a:off x="2179" y="1718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13" name="Group 232"/>
                <p:cNvGrpSpPr>
                  <a:grpSpLocks/>
                </p:cNvGrpSpPr>
                <p:nvPr/>
              </p:nvGrpSpPr>
              <p:grpSpPr bwMode="auto">
                <a:xfrm>
                  <a:off x="2179" y="1688"/>
                  <a:ext cx="178" cy="77"/>
                  <a:chOff x="2179" y="1688"/>
                  <a:chExt cx="178" cy="77"/>
                </a:xfrm>
              </p:grpSpPr>
              <p:sp>
                <p:nvSpPr>
                  <p:cNvPr id="114" name="Arc 233"/>
                  <p:cNvSpPr>
                    <a:spLocks/>
                  </p:cNvSpPr>
                  <p:nvPr/>
                </p:nvSpPr>
                <p:spPr bwMode="auto">
                  <a:xfrm>
                    <a:off x="2268" y="168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15" name="Arc 234"/>
                  <p:cNvSpPr>
                    <a:spLocks/>
                  </p:cNvSpPr>
                  <p:nvPr/>
                </p:nvSpPr>
                <p:spPr bwMode="auto">
                  <a:xfrm>
                    <a:off x="2179" y="1688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</a:path>
                      <a:path w="21600" h="21600" stroke="0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  <a:lnTo>
                          <a:pt x="21600" y="21600"/>
                        </a:lnTo>
                        <a:lnTo>
                          <a:pt x="0" y="2155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80" name="Group 235"/>
              <p:cNvGrpSpPr>
                <a:grpSpLocks/>
              </p:cNvGrpSpPr>
              <p:nvPr/>
            </p:nvGrpSpPr>
            <p:grpSpPr bwMode="auto">
              <a:xfrm>
                <a:off x="2179" y="1588"/>
                <a:ext cx="178" cy="95"/>
                <a:chOff x="2179" y="1588"/>
                <a:chExt cx="178" cy="95"/>
              </a:xfrm>
            </p:grpSpPr>
            <p:grpSp>
              <p:nvGrpSpPr>
                <p:cNvPr id="106" name="Group 236"/>
                <p:cNvGrpSpPr>
                  <a:grpSpLocks/>
                </p:cNvGrpSpPr>
                <p:nvPr/>
              </p:nvGrpSpPr>
              <p:grpSpPr bwMode="auto">
                <a:xfrm>
                  <a:off x="2179" y="1588"/>
                  <a:ext cx="178" cy="77"/>
                  <a:chOff x="2179" y="1588"/>
                  <a:chExt cx="178" cy="77"/>
                </a:xfrm>
              </p:grpSpPr>
              <p:sp>
                <p:nvSpPr>
                  <p:cNvPr id="110" name="Arc 237"/>
                  <p:cNvSpPr>
                    <a:spLocks/>
                  </p:cNvSpPr>
                  <p:nvPr/>
                </p:nvSpPr>
                <p:spPr bwMode="auto">
                  <a:xfrm>
                    <a:off x="2268" y="1588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11" name="Arc 238"/>
                  <p:cNvSpPr>
                    <a:spLocks/>
                  </p:cNvSpPr>
                  <p:nvPr/>
                </p:nvSpPr>
                <p:spPr bwMode="auto">
                  <a:xfrm>
                    <a:off x="2179" y="1635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07" name="Group 239"/>
                <p:cNvGrpSpPr>
                  <a:grpSpLocks/>
                </p:cNvGrpSpPr>
                <p:nvPr/>
              </p:nvGrpSpPr>
              <p:grpSpPr bwMode="auto">
                <a:xfrm>
                  <a:off x="2179" y="1606"/>
                  <a:ext cx="178" cy="77"/>
                  <a:chOff x="2179" y="1606"/>
                  <a:chExt cx="178" cy="77"/>
                </a:xfrm>
              </p:grpSpPr>
              <p:sp>
                <p:nvSpPr>
                  <p:cNvPr id="108" name="Arc 240"/>
                  <p:cNvSpPr>
                    <a:spLocks/>
                  </p:cNvSpPr>
                  <p:nvPr/>
                </p:nvSpPr>
                <p:spPr bwMode="auto">
                  <a:xfrm>
                    <a:off x="2268" y="1606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9" name="Arc 241"/>
                  <p:cNvSpPr>
                    <a:spLocks/>
                  </p:cNvSpPr>
                  <p:nvPr/>
                </p:nvSpPr>
                <p:spPr bwMode="auto">
                  <a:xfrm>
                    <a:off x="2179" y="1606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81" name="Group 242"/>
              <p:cNvGrpSpPr>
                <a:grpSpLocks/>
              </p:cNvGrpSpPr>
              <p:nvPr/>
            </p:nvGrpSpPr>
            <p:grpSpPr bwMode="auto">
              <a:xfrm>
                <a:off x="2179" y="1505"/>
                <a:ext cx="178" cy="95"/>
                <a:chOff x="2179" y="1505"/>
                <a:chExt cx="178" cy="95"/>
              </a:xfrm>
            </p:grpSpPr>
            <p:grpSp>
              <p:nvGrpSpPr>
                <p:cNvPr id="100" name="Group 243"/>
                <p:cNvGrpSpPr>
                  <a:grpSpLocks/>
                </p:cNvGrpSpPr>
                <p:nvPr/>
              </p:nvGrpSpPr>
              <p:grpSpPr bwMode="auto">
                <a:xfrm>
                  <a:off x="2179" y="1505"/>
                  <a:ext cx="178" cy="78"/>
                  <a:chOff x="2179" y="1505"/>
                  <a:chExt cx="178" cy="78"/>
                </a:xfrm>
              </p:grpSpPr>
              <p:sp>
                <p:nvSpPr>
                  <p:cNvPr id="104" name="Arc 244"/>
                  <p:cNvSpPr>
                    <a:spLocks/>
                  </p:cNvSpPr>
                  <p:nvPr/>
                </p:nvSpPr>
                <p:spPr bwMode="auto">
                  <a:xfrm>
                    <a:off x="2268" y="1505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" name="Arc 245"/>
                  <p:cNvSpPr>
                    <a:spLocks/>
                  </p:cNvSpPr>
                  <p:nvPr/>
                </p:nvSpPr>
                <p:spPr bwMode="auto">
                  <a:xfrm>
                    <a:off x="2179" y="1553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01" name="Group 246"/>
                <p:cNvGrpSpPr>
                  <a:grpSpLocks/>
                </p:cNvGrpSpPr>
                <p:nvPr/>
              </p:nvGrpSpPr>
              <p:grpSpPr bwMode="auto">
                <a:xfrm>
                  <a:off x="2180" y="1523"/>
                  <a:ext cx="177" cy="77"/>
                  <a:chOff x="2180" y="1523"/>
                  <a:chExt cx="177" cy="77"/>
                </a:xfrm>
              </p:grpSpPr>
              <p:sp>
                <p:nvSpPr>
                  <p:cNvPr id="102" name="Arc 247"/>
                  <p:cNvSpPr>
                    <a:spLocks/>
                  </p:cNvSpPr>
                  <p:nvPr/>
                </p:nvSpPr>
                <p:spPr bwMode="auto">
                  <a:xfrm>
                    <a:off x="2268" y="1523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3" name="Arc 248"/>
                  <p:cNvSpPr>
                    <a:spLocks/>
                  </p:cNvSpPr>
                  <p:nvPr/>
                </p:nvSpPr>
                <p:spPr bwMode="auto">
                  <a:xfrm>
                    <a:off x="2180" y="1523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-1" y="21268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82" name="Group 249"/>
              <p:cNvGrpSpPr>
                <a:grpSpLocks/>
              </p:cNvGrpSpPr>
              <p:nvPr/>
            </p:nvGrpSpPr>
            <p:grpSpPr bwMode="auto">
              <a:xfrm>
                <a:off x="2179" y="1423"/>
                <a:ext cx="178" cy="95"/>
                <a:chOff x="2179" y="1423"/>
                <a:chExt cx="178" cy="95"/>
              </a:xfrm>
            </p:grpSpPr>
            <p:grpSp>
              <p:nvGrpSpPr>
                <p:cNvPr id="94" name="Group 250"/>
                <p:cNvGrpSpPr>
                  <a:grpSpLocks/>
                </p:cNvGrpSpPr>
                <p:nvPr/>
              </p:nvGrpSpPr>
              <p:grpSpPr bwMode="auto">
                <a:xfrm>
                  <a:off x="2179" y="1423"/>
                  <a:ext cx="178" cy="77"/>
                  <a:chOff x="2179" y="1423"/>
                  <a:chExt cx="178" cy="77"/>
                </a:xfrm>
              </p:grpSpPr>
              <p:sp>
                <p:nvSpPr>
                  <p:cNvPr id="98" name="Arc 251"/>
                  <p:cNvSpPr>
                    <a:spLocks/>
                  </p:cNvSpPr>
                  <p:nvPr/>
                </p:nvSpPr>
                <p:spPr bwMode="auto">
                  <a:xfrm>
                    <a:off x="2268" y="142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9" name="Arc 252"/>
                  <p:cNvSpPr>
                    <a:spLocks/>
                  </p:cNvSpPr>
                  <p:nvPr/>
                </p:nvSpPr>
                <p:spPr bwMode="auto">
                  <a:xfrm>
                    <a:off x="2179" y="1464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</a:path>
                      <a:path w="21600" h="21600" stroke="0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  <a:lnTo>
                          <a:pt x="21600" y="0"/>
                        </a:lnTo>
                        <a:lnTo>
                          <a:pt x="21506" y="2159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95" name="Group 253"/>
                <p:cNvGrpSpPr>
                  <a:grpSpLocks/>
                </p:cNvGrpSpPr>
                <p:nvPr/>
              </p:nvGrpSpPr>
              <p:grpSpPr bwMode="auto">
                <a:xfrm>
                  <a:off x="2180" y="1441"/>
                  <a:ext cx="177" cy="77"/>
                  <a:chOff x="2180" y="1441"/>
                  <a:chExt cx="177" cy="77"/>
                </a:xfrm>
              </p:grpSpPr>
              <p:sp>
                <p:nvSpPr>
                  <p:cNvPr id="96" name="Arc 254"/>
                  <p:cNvSpPr>
                    <a:spLocks/>
                  </p:cNvSpPr>
                  <p:nvPr/>
                </p:nvSpPr>
                <p:spPr bwMode="auto">
                  <a:xfrm>
                    <a:off x="2268" y="144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7" name="Arc 255"/>
                  <p:cNvSpPr>
                    <a:spLocks/>
                  </p:cNvSpPr>
                  <p:nvPr/>
                </p:nvSpPr>
                <p:spPr bwMode="auto">
                  <a:xfrm>
                    <a:off x="2180" y="1441"/>
                    <a:ext cx="88" cy="29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</a:path>
                      <a:path w="21597" h="21600" stroke="0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  <a:lnTo>
                          <a:pt x="21597" y="21600"/>
                        </a:lnTo>
                        <a:lnTo>
                          <a:pt x="-1" y="21262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83" name="Group 256"/>
              <p:cNvGrpSpPr>
                <a:grpSpLocks/>
              </p:cNvGrpSpPr>
              <p:nvPr/>
            </p:nvGrpSpPr>
            <p:grpSpPr bwMode="auto">
              <a:xfrm>
                <a:off x="2179" y="1340"/>
                <a:ext cx="178" cy="95"/>
                <a:chOff x="2179" y="1340"/>
                <a:chExt cx="178" cy="95"/>
              </a:xfrm>
            </p:grpSpPr>
            <p:grpSp>
              <p:nvGrpSpPr>
                <p:cNvPr id="88" name="Group 257"/>
                <p:cNvGrpSpPr>
                  <a:grpSpLocks/>
                </p:cNvGrpSpPr>
                <p:nvPr/>
              </p:nvGrpSpPr>
              <p:grpSpPr bwMode="auto">
                <a:xfrm>
                  <a:off x="2179" y="1340"/>
                  <a:ext cx="178" cy="78"/>
                  <a:chOff x="2179" y="1340"/>
                  <a:chExt cx="178" cy="78"/>
                </a:xfrm>
              </p:grpSpPr>
              <p:sp>
                <p:nvSpPr>
                  <p:cNvPr id="92" name="Arc 258"/>
                  <p:cNvSpPr>
                    <a:spLocks/>
                  </p:cNvSpPr>
                  <p:nvPr/>
                </p:nvSpPr>
                <p:spPr bwMode="auto">
                  <a:xfrm>
                    <a:off x="2268" y="134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3" name="Arc 259"/>
                  <p:cNvSpPr>
                    <a:spLocks/>
                  </p:cNvSpPr>
                  <p:nvPr/>
                </p:nvSpPr>
                <p:spPr bwMode="auto">
                  <a:xfrm>
                    <a:off x="2179" y="1382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46"/>
                      <a:gd name="T2" fmla="*/ 0 w 21600"/>
                      <a:gd name="T3" fmla="*/ 0 h 21646"/>
                      <a:gd name="T4" fmla="*/ 0 w 21600"/>
                      <a:gd name="T5" fmla="*/ 0 h 2164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6" fill="none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</a:path>
                      <a:path w="21600" h="21646" stroke="0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  <a:lnTo>
                          <a:pt x="21600" y="46"/>
                        </a:lnTo>
                        <a:lnTo>
                          <a:pt x="21504" y="21645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89" name="Group 260"/>
                <p:cNvGrpSpPr>
                  <a:grpSpLocks/>
                </p:cNvGrpSpPr>
                <p:nvPr/>
              </p:nvGrpSpPr>
              <p:grpSpPr bwMode="auto">
                <a:xfrm>
                  <a:off x="2180" y="1358"/>
                  <a:ext cx="177" cy="77"/>
                  <a:chOff x="2180" y="1358"/>
                  <a:chExt cx="177" cy="77"/>
                </a:xfrm>
              </p:grpSpPr>
              <p:sp>
                <p:nvSpPr>
                  <p:cNvPr id="90" name="Arc 261"/>
                  <p:cNvSpPr>
                    <a:spLocks/>
                  </p:cNvSpPr>
                  <p:nvPr/>
                </p:nvSpPr>
                <p:spPr bwMode="auto">
                  <a:xfrm>
                    <a:off x="2268" y="135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1" name="Arc 262"/>
                  <p:cNvSpPr>
                    <a:spLocks/>
                  </p:cNvSpPr>
                  <p:nvPr/>
                </p:nvSpPr>
                <p:spPr bwMode="auto">
                  <a:xfrm>
                    <a:off x="2180" y="1358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0" y="212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84" name="Arc 263"/>
              <p:cNvSpPr>
                <a:spLocks/>
              </p:cNvSpPr>
              <p:nvPr/>
            </p:nvSpPr>
            <p:spPr bwMode="auto">
              <a:xfrm>
                <a:off x="2268" y="1275"/>
                <a:ext cx="89" cy="77"/>
              </a:xfrm>
              <a:custGeom>
                <a:avLst/>
                <a:gdLst>
                  <a:gd name="T0" fmla="*/ 0 w 21707"/>
                  <a:gd name="T1" fmla="*/ 0 h 21600"/>
                  <a:gd name="T2" fmla="*/ 0 w 21707"/>
                  <a:gd name="T3" fmla="*/ 0 h 21600"/>
                  <a:gd name="T4" fmla="*/ 0 w 2170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07" h="21600" fill="none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</a:path>
                  <a:path w="21707" h="21600" stroke="0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  <a:lnTo>
                      <a:pt x="107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5" name="Arc 264"/>
              <p:cNvSpPr>
                <a:spLocks/>
              </p:cNvSpPr>
              <p:nvPr/>
            </p:nvSpPr>
            <p:spPr bwMode="auto">
              <a:xfrm>
                <a:off x="2268" y="1847"/>
                <a:ext cx="89" cy="77"/>
              </a:xfrm>
              <a:custGeom>
                <a:avLst/>
                <a:gdLst>
                  <a:gd name="T0" fmla="*/ 0 w 21710"/>
                  <a:gd name="T1" fmla="*/ 0 h 21750"/>
                  <a:gd name="T2" fmla="*/ 0 w 21710"/>
                  <a:gd name="T3" fmla="*/ 0 h 21750"/>
                  <a:gd name="T4" fmla="*/ 0 w 21710"/>
                  <a:gd name="T5" fmla="*/ 0 h 217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10" h="21750" fill="none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</a:path>
                  <a:path w="21710" h="21750" stroke="0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  <a:lnTo>
                      <a:pt x="110" y="150"/>
                    </a:lnTo>
                    <a:lnTo>
                      <a:pt x="21709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6" name="Line 265"/>
              <p:cNvSpPr>
                <a:spLocks noChangeShapeType="1"/>
              </p:cNvSpPr>
              <p:nvPr/>
            </p:nvSpPr>
            <p:spPr bwMode="auto">
              <a:xfrm flipV="1">
                <a:off x="2262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7" name="Line 266"/>
              <p:cNvSpPr>
                <a:spLocks noChangeShapeType="1"/>
              </p:cNvSpPr>
              <p:nvPr/>
            </p:nvSpPr>
            <p:spPr bwMode="auto">
              <a:xfrm flipV="1">
                <a:off x="2262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67" name="Line 267"/>
            <p:cNvSpPr>
              <a:spLocks noChangeShapeType="1"/>
            </p:cNvSpPr>
            <p:nvPr/>
          </p:nvSpPr>
          <p:spPr bwMode="auto">
            <a:xfrm>
              <a:off x="4399" y="1934"/>
              <a:ext cx="232" cy="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8" name="Line 268"/>
            <p:cNvSpPr>
              <a:spLocks noChangeShapeType="1"/>
            </p:cNvSpPr>
            <p:nvPr/>
          </p:nvSpPr>
          <p:spPr bwMode="auto">
            <a:xfrm flipV="1">
              <a:off x="2644" y="1940"/>
              <a:ext cx="23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Line 269"/>
            <p:cNvSpPr>
              <a:spLocks noChangeShapeType="1"/>
            </p:cNvSpPr>
            <p:nvPr/>
          </p:nvSpPr>
          <p:spPr bwMode="auto">
            <a:xfrm flipV="1">
              <a:off x="3413" y="1941"/>
              <a:ext cx="23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Text Box 270"/>
            <p:cNvSpPr txBox="1">
              <a:spLocks noChangeArrowheads="1"/>
            </p:cNvSpPr>
            <p:nvPr/>
          </p:nvSpPr>
          <p:spPr bwMode="auto">
            <a:xfrm>
              <a:off x="1335" y="1960"/>
              <a:ext cx="284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1" name="Text Box 271"/>
            <p:cNvSpPr txBox="1">
              <a:spLocks noChangeArrowheads="1"/>
            </p:cNvSpPr>
            <p:nvPr/>
          </p:nvSpPr>
          <p:spPr bwMode="auto">
            <a:xfrm>
              <a:off x="2110" y="2801"/>
              <a:ext cx="284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2" name="Text Box 272"/>
            <p:cNvSpPr txBox="1">
              <a:spLocks noChangeArrowheads="1"/>
            </p:cNvSpPr>
            <p:nvPr/>
          </p:nvSpPr>
          <p:spPr bwMode="auto">
            <a:xfrm>
              <a:off x="2759" y="1590"/>
              <a:ext cx="284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3" name="Text Box 273"/>
            <p:cNvSpPr txBox="1">
              <a:spLocks noChangeArrowheads="1"/>
            </p:cNvSpPr>
            <p:nvPr/>
          </p:nvSpPr>
          <p:spPr bwMode="auto">
            <a:xfrm>
              <a:off x="3522" y="1597"/>
              <a:ext cx="307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74" name="Group 274"/>
            <p:cNvGrpSpPr>
              <a:grpSpLocks/>
            </p:cNvGrpSpPr>
            <p:nvPr/>
          </p:nvGrpSpPr>
          <p:grpSpPr bwMode="auto">
            <a:xfrm>
              <a:off x="2736" y="2023"/>
              <a:ext cx="82" cy="802"/>
              <a:chOff x="4576" y="1193"/>
              <a:chExt cx="82" cy="802"/>
            </a:xfrm>
          </p:grpSpPr>
          <p:sp>
            <p:nvSpPr>
              <p:cNvPr id="76" name="Freeform 275"/>
              <p:cNvSpPr>
                <a:spLocks/>
              </p:cNvSpPr>
              <p:nvPr/>
            </p:nvSpPr>
            <p:spPr bwMode="auto">
              <a:xfrm>
                <a:off x="4576" y="1193"/>
                <a:ext cx="82" cy="165"/>
              </a:xfrm>
              <a:custGeom>
                <a:avLst/>
                <a:gdLst>
                  <a:gd name="T0" fmla="*/ 47 w 82"/>
                  <a:gd name="T1" fmla="*/ 0 h 165"/>
                  <a:gd name="T2" fmla="*/ 82 w 82"/>
                  <a:gd name="T3" fmla="*/ 165 h 165"/>
                  <a:gd name="T4" fmla="*/ 47 w 82"/>
                  <a:gd name="T5" fmla="*/ 165 h 165"/>
                  <a:gd name="T6" fmla="*/ 0 w 82"/>
                  <a:gd name="T7" fmla="*/ 165 h 165"/>
                  <a:gd name="T8" fmla="*/ 47 w 82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165">
                    <a:moveTo>
                      <a:pt x="47" y="0"/>
                    </a:moveTo>
                    <a:lnTo>
                      <a:pt x="82" y="165"/>
                    </a:lnTo>
                    <a:lnTo>
                      <a:pt x="47" y="165"/>
                    </a:lnTo>
                    <a:lnTo>
                      <a:pt x="0" y="165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7" name="Line 276"/>
              <p:cNvSpPr>
                <a:spLocks noChangeShapeType="1"/>
              </p:cNvSpPr>
              <p:nvPr/>
            </p:nvSpPr>
            <p:spPr bwMode="auto">
              <a:xfrm>
                <a:off x="4623" y="1358"/>
                <a:ext cx="1" cy="637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75" name="Text Box 277"/>
            <p:cNvSpPr txBox="1">
              <a:spLocks noChangeArrowheads="1"/>
            </p:cNvSpPr>
            <p:nvPr/>
          </p:nvSpPr>
          <p:spPr bwMode="auto">
            <a:xfrm>
              <a:off x="2803" y="2289"/>
              <a:ext cx="332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solidFill>
                    <a:srgbClr val="008000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2000" b="1" baseline="-25000">
                  <a:solidFill>
                    <a:srgbClr val="008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84" name="Group 278"/>
          <p:cNvGrpSpPr>
            <a:grpSpLocks/>
          </p:cNvGrpSpPr>
          <p:nvPr/>
        </p:nvGrpSpPr>
        <p:grpSpPr bwMode="auto">
          <a:xfrm>
            <a:off x="8480782" y="1970939"/>
            <a:ext cx="1506538" cy="925513"/>
            <a:chOff x="3998" y="1348"/>
            <a:chExt cx="949" cy="583"/>
          </a:xfrm>
        </p:grpSpPr>
        <p:sp>
          <p:nvSpPr>
            <p:cNvPr id="285" name="Text Box 279"/>
            <p:cNvSpPr txBox="1">
              <a:spLocks noChangeArrowheads="1"/>
            </p:cNvSpPr>
            <p:nvPr/>
          </p:nvSpPr>
          <p:spPr bwMode="auto">
            <a:xfrm>
              <a:off x="4034" y="1348"/>
              <a:ext cx="9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2400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0 &lt; t &lt; </a:t>
              </a:r>
              <a:r>
                <a:rPr lang="en-CA" altLang="fr-FR" sz="2400" b="1" i="1">
                  <a:solidFill>
                    <a:srgbClr val="FF3300"/>
                  </a:solidFill>
                  <a:latin typeface="Symbol" panose="05050102010706020507" pitchFamily="18" charset="2"/>
                </a:rPr>
                <a:t>a</a:t>
              </a:r>
              <a:r>
                <a:rPr lang="en-CA" altLang="fr-FR" sz="2400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86" name="Text Box 280"/>
            <p:cNvSpPr txBox="1">
              <a:spLocks noChangeArrowheads="1"/>
            </p:cNvSpPr>
            <p:nvPr/>
          </p:nvSpPr>
          <p:spPr bwMode="auto">
            <a:xfrm>
              <a:off x="3998" y="1698"/>
              <a:ext cx="84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>
                  <a:latin typeface="Times New Roman" panose="02020603050405020304" pitchFamily="18" charset="0"/>
                </a:rPr>
                <a:t>T</a:t>
              </a:r>
              <a:r>
                <a:rPr lang="en-CA" altLang="fr-FR" sz="1800" b="1" baseline="-25000">
                  <a:latin typeface="Times New Roman" panose="02020603050405020304" pitchFamily="18" charset="0"/>
                </a:rPr>
                <a:t>p</a:t>
              </a:r>
              <a:r>
                <a:rPr lang="en-CA" altLang="fr-FR" sz="1800" b="1">
                  <a:latin typeface="Times New Roman" panose="02020603050405020304" pitchFamily="18" charset="0"/>
                </a:rPr>
                <a:t> forward.</a:t>
              </a:r>
            </a:p>
          </p:txBody>
        </p:sp>
      </p:grpSp>
      <p:sp>
        <p:nvSpPr>
          <p:cNvPr id="287" name="Line 281"/>
          <p:cNvSpPr>
            <a:spLocks noChangeShapeType="1"/>
          </p:cNvSpPr>
          <p:nvPr/>
        </p:nvSpPr>
        <p:spPr bwMode="auto">
          <a:xfrm>
            <a:off x="4096107" y="3088539"/>
            <a:ext cx="0" cy="85725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88" name="Group 282"/>
          <p:cNvGrpSpPr>
            <a:grpSpLocks/>
          </p:cNvGrpSpPr>
          <p:nvPr/>
        </p:nvGrpSpPr>
        <p:grpSpPr bwMode="auto">
          <a:xfrm>
            <a:off x="8183920" y="3009164"/>
            <a:ext cx="2713037" cy="1279525"/>
            <a:chOff x="3595" y="1804"/>
            <a:chExt cx="1709" cy="806"/>
          </a:xfrm>
        </p:grpSpPr>
        <p:grpSp>
          <p:nvGrpSpPr>
            <p:cNvPr id="289" name="Group 283"/>
            <p:cNvGrpSpPr>
              <a:grpSpLocks/>
            </p:cNvGrpSpPr>
            <p:nvPr/>
          </p:nvGrpSpPr>
          <p:grpSpPr bwMode="auto">
            <a:xfrm>
              <a:off x="3756" y="1804"/>
              <a:ext cx="1548" cy="806"/>
              <a:chOff x="3840" y="1960"/>
              <a:chExt cx="1548" cy="806"/>
            </a:xfrm>
          </p:grpSpPr>
          <p:graphicFrame>
            <p:nvGraphicFramePr>
              <p:cNvPr id="291" name="Object 284"/>
              <p:cNvGraphicFramePr>
                <a:graphicFrameLocks noChangeAspect="1"/>
              </p:cNvGraphicFramePr>
              <p:nvPr/>
            </p:nvGraphicFramePr>
            <p:xfrm>
              <a:off x="3840" y="1960"/>
              <a:ext cx="1409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244600" imgH="381000" progId="Equation.3">
                      <p:embed/>
                    </p:oleObj>
                  </mc:Choice>
                  <mc:Fallback>
                    <p:oleObj name="Equation" r:id="rId2" imgW="1244600" imgH="381000" progId="Equation.3">
                      <p:embed/>
                      <p:pic>
                        <p:nvPicPr>
                          <p:cNvPr id="291" name="Object 28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1960"/>
                            <a:ext cx="1409" cy="4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2" name="Text Box 285"/>
              <p:cNvSpPr txBox="1">
                <a:spLocks noChangeArrowheads="1"/>
              </p:cNvSpPr>
              <p:nvPr/>
            </p:nvSpPr>
            <p:spPr bwMode="auto">
              <a:xfrm>
                <a:off x="3861" y="2359"/>
                <a:ext cx="1527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CA" altLang="fr-FR" sz="1800" b="1">
                    <a:latin typeface="Times New Roman" panose="02020603050405020304" pitchFamily="18" charset="0"/>
                  </a:rPr>
                  <a:t>D</a:t>
                </a:r>
                <a:r>
                  <a:rPr lang="en-CA" altLang="fr-FR" sz="1800" b="1" baseline="-25000">
                    <a:latin typeface="Times New Roman" panose="02020603050405020304" pitchFamily="18" charset="0"/>
                  </a:rPr>
                  <a:t>1</a:t>
                </a:r>
                <a:r>
                  <a:rPr lang="en-CA" altLang="fr-FR" sz="1800" b="1">
                    <a:latin typeface="Times New Roman" panose="02020603050405020304" pitchFamily="18" charset="0"/>
                  </a:rPr>
                  <a:t> forward, D</a:t>
                </a:r>
                <a:r>
                  <a:rPr lang="en-CA" altLang="fr-FR" sz="1800" b="1" baseline="-25000">
                    <a:latin typeface="Times New Roman" panose="02020603050405020304" pitchFamily="18" charset="0"/>
                  </a:rPr>
                  <a:t>2</a:t>
                </a:r>
                <a:r>
                  <a:rPr lang="en-CA" altLang="fr-FR" sz="1800" b="1">
                    <a:latin typeface="Times New Roman" panose="02020603050405020304" pitchFamily="18" charset="0"/>
                  </a:rPr>
                  <a:t> reverse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CA" altLang="fr-FR" sz="1800" b="1">
                    <a:latin typeface="Times New Roman" panose="02020603050405020304" pitchFamily="18" charset="0"/>
                  </a:rPr>
                  <a:t>i</a:t>
                </a:r>
                <a:r>
                  <a:rPr lang="en-CA" altLang="fr-FR" sz="1800" b="1" baseline="-25000">
                    <a:latin typeface="Times New Roman" panose="02020603050405020304" pitchFamily="18" charset="0"/>
                  </a:rPr>
                  <a:t>2</a:t>
                </a:r>
                <a:r>
                  <a:rPr lang="en-CA" altLang="fr-FR" sz="1800" b="1">
                    <a:latin typeface="Times New Roman" panose="02020603050405020304" pitchFamily="18" charset="0"/>
                  </a:rPr>
                  <a:t> = i</a:t>
                </a:r>
                <a:r>
                  <a:rPr lang="en-CA" altLang="fr-FR" sz="1800" b="1" baseline="-25000">
                    <a:latin typeface="Times New Roman" panose="02020603050405020304" pitchFamily="18" charset="0"/>
                  </a:rPr>
                  <a:t>L</a:t>
                </a:r>
                <a:r>
                  <a:rPr lang="en-CA" altLang="fr-FR" sz="1800" b="1">
                    <a:latin typeface="Times New Roman" panose="02020603050405020304" pitchFamily="18" charset="0"/>
                  </a:rPr>
                  <a:t> &gt; 0</a:t>
                </a:r>
              </a:p>
            </p:txBody>
          </p:sp>
        </p:grpSp>
        <p:sp>
          <p:nvSpPr>
            <p:cNvPr id="290" name="AutoShape 286"/>
            <p:cNvSpPr>
              <a:spLocks noChangeArrowheads="1"/>
            </p:cNvSpPr>
            <p:nvPr/>
          </p:nvSpPr>
          <p:spPr bwMode="auto">
            <a:xfrm>
              <a:off x="3595" y="2371"/>
              <a:ext cx="132" cy="17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CA" altLang="fr-FR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3" name="Group 287"/>
          <p:cNvGrpSpPr>
            <a:grpSpLocks/>
          </p:cNvGrpSpPr>
          <p:nvPr/>
        </p:nvGrpSpPr>
        <p:grpSpPr bwMode="auto">
          <a:xfrm>
            <a:off x="8223607" y="4468077"/>
            <a:ext cx="2454275" cy="974725"/>
            <a:chOff x="3650" y="2723"/>
            <a:chExt cx="1546" cy="614"/>
          </a:xfrm>
        </p:grpSpPr>
        <p:sp>
          <p:nvSpPr>
            <p:cNvPr id="294" name="AutoShape 288"/>
            <p:cNvSpPr>
              <a:spLocks noChangeArrowheads="1"/>
            </p:cNvSpPr>
            <p:nvPr/>
          </p:nvSpPr>
          <p:spPr bwMode="auto">
            <a:xfrm>
              <a:off x="3650" y="3122"/>
              <a:ext cx="132" cy="17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CA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295" name="Group 289"/>
            <p:cNvGrpSpPr>
              <a:grpSpLocks/>
            </p:cNvGrpSpPr>
            <p:nvPr/>
          </p:nvGrpSpPr>
          <p:grpSpPr bwMode="auto">
            <a:xfrm>
              <a:off x="3787" y="2723"/>
              <a:ext cx="1409" cy="614"/>
              <a:chOff x="3805" y="3041"/>
              <a:chExt cx="1409" cy="614"/>
            </a:xfrm>
          </p:grpSpPr>
          <p:graphicFrame>
            <p:nvGraphicFramePr>
              <p:cNvPr id="296" name="Object 290"/>
              <p:cNvGraphicFramePr>
                <a:graphicFrameLocks noChangeAspect="1"/>
              </p:cNvGraphicFramePr>
              <p:nvPr/>
            </p:nvGraphicFramePr>
            <p:xfrm>
              <a:off x="3805" y="3041"/>
              <a:ext cx="1409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244600" imgH="381000" progId="Equation.3">
                      <p:embed/>
                    </p:oleObj>
                  </mc:Choice>
                  <mc:Fallback>
                    <p:oleObj name="Equation" r:id="rId4" imgW="1244600" imgH="381000" progId="Equation.3">
                      <p:embed/>
                      <p:pic>
                        <p:nvPicPr>
                          <p:cNvPr id="296" name="Object 29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5" y="3041"/>
                            <a:ext cx="1409" cy="4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" name="Text Box 291"/>
              <p:cNvSpPr txBox="1">
                <a:spLocks noChangeArrowheads="1"/>
              </p:cNvSpPr>
              <p:nvPr/>
            </p:nvSpPr>
            <p:spPr bwMode="auto">
              <a:xfrm>
                <a:off x="3886" y="3422"/>
                <a:ext cx="75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CA" altLang="fr-FR" sz="1800" b="1">
                    <a:latin typeface="Times New Roman" panose="02020603050405020304" pitchFamily="18" charset="0"/>
                  </a:rPr>
                  <a:t>D</a:t>
                </a:r>
                <a:r>
                  <a:rPr lang="en-CA" altLang="fr-FR" sz="1800" b="1" baseline="-25000">
                    <a:latin typeface="Times New Roman" panose="02020603050405020304" pitchFamily="18" charset="0"/>
                  </a:rPr>
                  <a:t>3</a:t>
                </a:r>
                <a:r>
                  <a:rPr lang="en-CA" altLang="fr-FR" sz="1800" b="1">
                    <a:latin typeface="Times New Roman" panose="02020603050405020304" pitchFamily="18" charset="0"/>
                  </a:rPr>
                  <a:t> reverse</a:t>
                </a:r>
              </a:p>
            </p:txBody>
          </p:sp>
        </p:grpSp>
      </p:grpSp>
      <p:grpSp>
        <p:nvGrpSpPr>
          <p:cNvPr id="298" name="Group 292"/>
          <p:cNvGrpSpPr>
            <a:grpSpLocks/>
          </p:cNvGrpSpPr>
          <p:nvPr/>
        </p:nvGrpSpPr>
        <p:grpSpPr bwMode="auto">
          <a:xfrm>
            <a:off x="2826107" y="2972652"/>
            <a:ext cx="3844925" cy="1906587"/>
            <a:chOff x="220" y="1781"/>
            <a:chExt cx="2422" cy="1201"/>
          </a:xfrm>
        </p:grpSpPr>
        <p:sp>
          <p:nvSpPr>
            <p:cNvPr id="299" name="Arc 293"/>
            <p:cNvSpPr>
              <a:spLocks/>
            </p:cNvSpPr>
            <p:nvPr/>
          </p:nvSpPr>
          <p:spPr bwMode="auto">
            <a:xfrm>
              <a:off x="220" y="1914"/>
              <a:ext cx="609" cy="1068"/>
            </a:xfrm>
            <a:custGeom>
              <a:avLst/>
              <a:gdLst>
                <a:gd name="T0" fmla="*/ 0 w 43001"/>
                <a:gd name="T1" fmla="*/ 0 h 43200"/>
                <a:gd name="T2" fmla="*/ 0 w 43001"/>
                <a:gd name="T3" fmla="*/ 0 h 43200"/>
                <a:gd name="T4" fmla="*/ 0 w 43001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001" h="43200" fill="none" extrusionOk="0">
                  <a:moveTo>
                    <a:pt x="-1" y="18677"/>
                  </a:moveTo>
                  <a:cubicBezTo>
                    <a:pt x="1460" y="7977"/>
                    <a:pt x="10600" y="-1"/>
                    <a:pt x="21401" y="0"/>
                  </a:cubicBezTo>
                  <a:cubicBezTo>
                    <a:pt x="33330" y="0"/>
                    <a:pt x="43001" y="9670"/>
                    <a:pt x="43001" y="21600"/>
                  </a:cubicBezTo>
                  <a:cubicBezTo>
                    <a:pt x="43001" y="33529"/>
                    <a:pt x="33330" y="43200"/>
                    <a:pt x="21401" y="43200"/>
                  </a:cubicBezTo>
                  <a:cubicBezTo>
                    <a:pt x="19937" y="43200"/>
                    <a:pt x="18476" y="43051"/>
                    <a:pt x="17043" y="42755"/>
                  </a:cubicBezTo>
                </a:path>
                <a:path w="43001" h="43200" stroke="0" extrusionOk="0">
                  <a:moveTo>
                    <a:pt x="-1" y="18677"/>
                  </a:moveTo>
                  <a:cubicBezTo>
                    <a:pt x="1460" y="7977"/>
                    <a:pt x="10600" y="-1"/>
                    <a:pt x="21401" y="0"/>
                  </a:cubicBezTo>
                  <a:cubicBezTo>
                    <a:pt x="33330" y="0"/>
                    <a:pt x="43001" y="9670"/>
                    <a:pt x="43001" y="21600"/>
                  </a:cubicBezTo>
                  <a:cubicBezTo>
                    <a:pt x="43001" y="33529"/>
                    <a:pt x="33330" y="43200"/>
                    <a:pt x="21401" y="43200"/>
                  </a:cubicBezTo>
                  <a:cubicBezTo>
                    <a:pt x="19937" y="43200"/>
                    <a:pt x="18476" y="43051"/>
                    <a:pt x="17043" y="42755"/>
                  </a:cubicBezTo>
                  <a:lnTo>
                    <a:pt x="21401" y="21600"/>
                  </a:lnTo>
                  <a:lnTo>
                    <a:pt x="-1" y="18677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0" name="Arc 294"/>
            <p:cNvSpPr>
              <a:spLocks/>
            </p:cNvSpPr>
            <p:nvPr/>
          </p:nvSpPr>
          <p:spPr bwMode="auto">
            <a:xfrm rot="-5522256">
              <a:off x="1952" y="1506"/>
              <a:ext cx="415" cy="965"/>
            </a:xfrm>
            <a:custGeom>
              <a:avLst/>
              <a:gdLst>
                <a:gd name="T0" fmla="*/ 0 w 22171"/>
                <a:gd name="T1" fmla="*/ 0 h 24056"/>
                <a:gd name="T2" fmla="*/ 0 w 22171"/>
                <a:gd name="T3" fmla="*/ 0 h 24056"/>
                <a:gd name="T4" fmla="*/ 0 w 22171"/>
                <a:gd name="T5" fmla="*/ 0 h 240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71" h="24056" fill="none" extrusionOk="0">
                  <a:moveTo>
                    <a:pt x="-1" y="7"/>
                  </a:moveTo>
                  <a:cubicBezTo>
                    <a:pt x="190" y="2"/>
                    <a:pt x="380" y="-1"/>
                    <a:pt x="571" y="0"/>
                  </a:cubicBezTo>
                  <a:cubicBezTo>
                    <a:pt x="12500" y="0"/>
                    <a:pt x="22171" y="9670"/>
                    <a:pt x="22171" y="21600"/>
                  </a:cubicBezTo>
                  <a:cubicBezTo>
                    <a:pt x="22171" y="22420"/>
                    <a:pt x="22124" y="23240"/>
                    <a:pt x="22030" y="24055"/>
                  </a:cubicBezTo>
                </a:path>
                <a:path w="22171" h="24056" stroke="0" extrusionOk="0">
                  <a:moveTo>
                    <a:pt x="-1" y="7"/>
                  </a:moveTo>
                  <a:cubicBezTo>
                    <a:pt x="190" y="2"/>
                    <a:pt x="380" y="-1"/>
                    <a:pt x="571" y="0"/>
                  </a:cubicBezTo>
                  <a:cubicBezTo>
                    <a:pt x="12500" y="0"/>
                    <a:pt x="22171" y="9670"/>
                    <a:pt x="22171" y="21600"/>
                  </a:cubicBezTo>
                  <a:cubicBezTo>
                    <a:pt x="22171" y="22420"/>
                    <a:pt x="22124" y="23240"/>
                    <a:pt x="22030" y="24055"/>
                  </a:cubicBezTo>
                  <a:lnTo>
                    <a:pt x="571" y="21600"/>
                  </a:lnTo>
                  <a:lnTo>
                    <a:pt x="-1" y="7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aphicFrame>
        <p:nvGraphicFramePr>
          <p:cNvPr id="301" name="Object 2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022402"/>
              </p:ext>
            </p:extLst>
          </p:nvPr>
        </p:nvGraphicFramePr>
        <p:xfrm>
          <a:off x="8190270" y="5603139"/>
          <a:ext cx="30575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900" imgH="190500" progId="Equation.3">
                  <p:embed/>
                </p:oleObj>
              </mc:Choice>
              <mc:Fallback>
                <p:oleObj name="Equation" r:id="rId6" imgW="977900" imgH="190500" progId="Equation.3">
                  <p:embed/>
                  <p:pic>
                    <p:nvPicPr>
                      <p:cNvPr id="301" name="Object 2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0270" y="5603139"/>
                        <a:ext cx="30575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" name="Group 296"/>
          <p:cNvGrpSpPr>
            <a:grpSpLocks/>
          </p:cNvGrpSpPr>
          <p:nvPr/>
        </p:nvGrpSpPr>
        <p:grpSpPr bwMode="auto">
          <a:xfrm>
            <a:off x="3300770" y="5228489"/>
            <a:ext cx="3152775" cy="590550"/>
            <a:chOff x="741" y="3382"/>
            <a:chExt cx="1986" cy="372"/>
          </a:xfrm>
        </p:grpSpPr>
        <p:graphicFrame>
          <p:nvGraphicFramePr>
            <p:cNvPr id="303" name="Object 297"/>
            <p:cNvGraphicFramePr>
              <a:graphicFrameLocks noChangeAspect="1"/>
            </p:cNvGraphicFramePr>
            <p:nvPr/>
          </p:nvGraphicFramePr>
          <p:xfrm>
            <a:off x="741" y="3382"/>
            <a:ext cx="854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87058" imgH="342751" progId="Equation.3">
                    <p:embed/>
                  </p:oleObj>
                </mc:Choice>
                <mc:Fallback>
                  <p:oleObj name="Equation" r:id="rId8" imgW="787058" imgH="342751" progId="Equation.3">
                    <p:embed/>
                    <p:pic>
                      <p:nvPicPr>
                        <p:cNvPr id="303" name="Object 2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1" y="3382"/>
                          <a:ext cx="854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4" name="Text Box 298"/>
            <p:cNvSpPr txBox="1">
              <a:spLocks noChangeArrowheads="1"/>
            </p:cNvSpPr>
            <p:nvPr/>
          </p:nvSpPr>
          <p:spPr bwMode="auto">
            <a:xfrm>
              <a:off x="1762" y="3440"/>
              <a:ext cx="9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magnetization</a:t>
              </a:r>
            </a:p>
          </p:txBody>
        </p:sp>
      </p:grpSp>
      <p:sp>
        <p:nvSpPr>
          <p:cNvPr id="305" name="Line 299"/>
          <p:cNvSpPr>
            <a:spLocks noChangeShapeType="1"/>
          </p:cNvSpPr>
          <p:nvPr/>
        </p:nvSpPr>
        <p:spPr bwMode="auto">
          <a:xfrm flipV="1">
            <a:off x="3535720" y="2966302"/>
            <a:ext cx="0" cy="102870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6" name="Text Box 300"/>
          <p:cNvSpPr txBox="1">
            <a:spLocks noChangeArrowheads="1"/>
          </p:cNvSpPr>
          <p:nvPr/>
        </p:nvSpPr>
        <p:spPr bwMode="auto">
          <a:xfrm>
            <a:off x="3172182" y="3374289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" name="Text Box 301"/>
          <p:cNvSpPr txBox="1">
            <a:spLocks noChangeArrowheads="1"/>
          </p:cNvSpPr>
          <p:nvPr/>
        </p:nvSpPr>
        <p:spPr bwMode="auto">
          <a:xfrm>
            <a:off x="3916720" y="3871177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grpSp>
        <p:nvGrpSpPr>
          <p:cNvPr id="308" name="Group 306"/>
          <p:cNvGrpSpPr>
            <a:grpSpLocks/>
          </p:cNvGrpSpPr>
          <p:nvPr/>
        </p:nvGrpSpPr>
        <p:grpSpPr bwMode="auto">
          <a:xfrm>
            <a:off x="3361095" y="5841264"/>
            <a:ext cx="2312987" cy="628650"/>
            <a:chOff x="557" y="3588"/>
            <a:chExt cx="1457" cy="396"/>
          </a:xfrm>
        </p:grpSpPr>
        <p:graphicFrame>
          <p:nvGraphicFramePr>
            <p:cNvPr id="309" name="Object 303"/>
            <p:cNvGraphicFramePr>
              <a:graphicFrameLocks noChangeAspect="1"/>
            </p:cNvGraphicFramePr>
            <p:nvPr/>
          </p:nvGraphicFramePr>
          <p:xfrm>
            <a:off x="557" y="3599"/>
            <a:ext cx="647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96641" imgH="355446" progId="Equation.3">
                    <p:embed/>
                  </p:oleObj>
                </mc:Choice>
                <mc:Fallback>
                  <p:oleObj name="Equation" r:id="rId10" imgW="596641" imgH="355446" progId="Equation.3">
                    <p:embed/>
                    <p:pic>
                      <p:nvPicPr>
                        <p:cNvPr id="309" name="Object 3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" y="3599"/>
                          <a:ext cx="647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0" name="Object 305"/>
            <p:cNvGraphicFramePr>
              <a:graphicFrameLocks noChangeAspect="1"/>
            </p:cNvGraphicFramePr>
            <p:nvPr/>
          </p:nvGraphicFramePr>
          <p:xfrm>
            <a:off x="1381" y="3588"/>
            <a:ext cx="633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83947" imgH="355446" progId="Equation.3">
                    <p:embed/>
                  </p:oleObj>
                </mc:Choice>
                <mc:Fallback>
                  <p:oleObj name="Equation" r:id="rId12" imgW="583947" imgH="355446" progId="Equation.3">
                    <p:embed/>
                    <p:pic>
                      <p:nvPicPr>
                        <p:cNvPr id="310" name="Object 3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1" y="3588"/>
                          <a:ext cx="633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1" name="ZoneTexte 310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Principle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61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study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743200" y="369119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1" name="Group 6"/>
          <p:cNvGrpSpPr>
            <a:grpSpLocks/>
          </p:cNvGrpSpPr>
          <p:nvPr/>
        </p:nvGrpSpPr>
        <p:grpSpPr bwMode="auto">
          <a:xfrm>
            <a:off x="2479964" y="1714761"/>
            <a:ext cx="5552786" cy="2870200"/>
            <a:chOff x="511" y="1590"/>
            <a:chExt cx="4317" cy="2154"/>
          </a:xfrm>
        </p:grpSpPr>
        <p:grpSp>
          <p:nvGrpSpPr>
            <p:cNvPr id="12" name="Group 7"/>
            <p:cNvGrpSpPr>
              <a:grpSpLocks/>
            </p:cNvGrpSpPr>
            <p:nvPr/>
          </p:nvGrpSpPr>
          <p:grpSpPr bwMode="auto">
            <a:xfrm>
              <a:off x="1490" y="2177"/>
              <a:ext cx="178" cy="779"/>
              <a:chOff x="2179" y="1204"/>
              <a:chExt cx="178" cy="779"/>
            </a:xfrm>
          </p:grpSpPr>
          <p:grpSp>
            <p:nvGrpSpPr>
              <p:cNvPr id="236" name="Group 8"/>
              <p:cNvGrpSpPr>
                <a:grpSpLocks/>
              </p:cNvGrpSpPr>
              <p:nvPr/>
            </p:nvGrpSpPr>
            <p:grpSpPr bwMode="auto">
              <a:xfrm>
                <a:off x="2179" y="1753"/>
                <a:ext cx="178" cy="95"/>
                <a:chOff x="2179" y="1753"/>
                <a:chExt cx="178" cy="95"/>
              </a:xfrm>
            </p:grpSpPr>
            <p:grpSp>
              <p:nvGrpSpPr>
                <p:cNvPr id="276" name="Group 9"/>
                <p:cNvGrpSpPr>
                  <a:grpSpLocks/>
                </p:cNvGrpSpPr>
                <p:nvPr/>
              </p:nvGrpSpPr>
              <p:grpSpPr bwMode="auto">
                <a:xfrm>
                  <a:off x="2179" y="1753"/>
                  <a:ext cx="178" cy="77"/>
                  <a:chOff x="2179" y="1753"/>
                  <a:chExt cx="178" cy="77"/>
                </a:xfrm>
              </p:grpSpPr>
              <p:sp>
                <p:nvSpPr>
                  <p:cNvPr id="280" name="Arc 10"/>
                  <p:cNvSpPr>
                    <a:spLocks/>
                  </p:cNvSpPr>
                  <p:nvPr/>
                </p:nvSpPr>
                <p:spPr bwMode="auto">
                  <a:xfrm>
                    <a:off x="2268" y="175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81" name="Arc 11"/>
                  <p:cNvSpPr>
                    <a:spLocks/>
                  </p:cNvSpPr>
                  <p:nvPr/>
                </p:nvSpPr>
                <p:spPr bwMode="auto">
                  <a:xfrm>
                    <a:off x="2179" y="1800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77" name="Group 12"/>
                <p:cNvGrpSpPr>
                  <a:grpSpLocks/>
                </p:cNvGrpSpPr>
                <p:nvPr/>
              </p:nvGrpSpPr>
              <p:grpSpPr bwMode="auto">
                <a:xfrm>
                  <a:off x="2179" y="1771"/>
                  <a:ext cx="178" cy="77"/>
                  <a:chOff x="2179" y="1771"/>
                  <a:chExt cx="178" cy="77"/>
                </a:xfrm>
              </p:grpSpPr>
              <p:sp>
                <p:nvSpPr>
                  <p:cNvPr id="278" name="Arc 13"/>
                  <p:cNvSpPr>
                    <a:spLocks/>
                  </p:cNvSpPr>
                  <p:nvPr/>
                </p:nvSpPr>
                <p:spPr bwMode="auto">
                  <a:xfrm>
                    <a:off x="2268" y="177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79" name="Arc 14"/>
                  <p:cNvSpPr>
                    <a:spLocks/>
                  </p:cNvSpPr>
                  <p:nvPr/>
                </p:nvSpPr>
                <p:spPr bwMode="auto">
                  <a:xfrm>
                    <a:off x="2179" y="1771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37" name="Group 15"/>
              <p:cNvGrpSpPr>
                <a:grpSpLocks/>
              </p:cNvGrpSpPr>
              <p:nvPr/>
            </p:nvGrpSpPr>
            <p:grpSpPr bwMode="auto">
              <a:xfrm>
                <a:off x="2179" y="1670"/>
                <a:ext cx="178" cy="95"/>
                <a:chOff x="2179" y="1670"/>
                <a:chExt cx="178" cy="95"/>
              </a:xfrm>
            </p:grpSpPr>
            <p:grpSp>
              <p:nvGrpSpPr>
                <p:cNvPr id="270" name="Group 16"/>
                <p:cNvGrpSpPr>
                  <a:grpSpLocks/>
                </p:cNvGrpSpPr>
                <p:nvPr/>
              </p:nvGrpSpPr>
              <p:grpSpPr bwMode="auto">
                <a:xfrm>
                  <a:off x="2179" y="1670"/>
                  <a:ext cx="178" cy="78"/>
                  <a:chOff x="2179" y="1670"/>
                  <a:chExt cx="178" cy="78"/>
                </a:xfrm>
              </p:grpSpPr>
              <p:sp>
                <p:nvSpPr>
                  <p:cNvPr id="274" name="Arc 17"/>
                  <p:cNvSpPr>
                    <a:spLocks/>
                  </p:cNvSpPr>
                  <p:nvPr/>
                </p:nvSpPr>
                <p:spPr bwMode="auto">
                  <a:xfrm>
                    <a:off x="2268" y="167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75" name="Arc 18"/>
                  <p:cNvSpPr>
                    <a:spLocks/>
                  </p:cNvSpPr>
                  <p:nvPr/>
                </p:nvSpPr>
                <p:spPr bwMode="auto">
                  <a:xfrm>
                    <a:off x="2179" y="1718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71" name="Group 19"/>
                <p:cNvGrpSpPr>
                  <a:grpSpLocks/>
                </p:cNvGrpSpPr>
                <p:nvPr/>
              </p:nvGrpSpPr>
              <p:grpSpPr bwMode="auto">
                <a:xfrm>
                  <a:off x="2179" y="1688"/>
                  <a:ext cx="178" cy="77"/>
                  <a:chOff x="2179" y="1688"/>
                  <a:chExt cx="178" cy="77"/>
                </a:xfrm>
              </p:grpSpPr>
              <p:sp>
                <p:nvSpPr>
                  <p:cNvPr id="272" name="Arc 20"/>
                  <p:cNvSpPr>
                    <a:spLocks/>
                  </p:cNvSpPr>
                  <p:nvPr/>
                </p:nvSpPr>
                <p:spPr bwMode="auto">
                  <a:xfrm>
                    <a:off x="2268" y="168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73" name="Arc 21"/>
                  <p:cNvSpPr>
                    <a:spLocks/>
                  </p:cNvSpPr>
                  <p:nvPr/>
                </p:nvSpPr>
                <p:spPr bwMode="auto">
                  <a:xfrm>
                    <a:off x="2179" y="1688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</a:path>
                      <a:path w="21600" h="21600" stroke="0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  <a:lnTo>
                          <a:pt x="21600" y="21600"/>
                        </a:lnTo>
                        <a:lnTo>
                          <a:pt x="0" y="2155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38" name="Group 22"/>
              <p:cNvGrpSpPr>
                <a:grpSpLocks/>
              </p:cNvGrpSpPr>
              <p:nvPr/>
            </p:nvGrpSpPr>
            <p:grpSpPr bwMode="auto">
              <a:xfrm>
                <a:off x="2179" y="1588"/>
                <a:ext cx="178" cy="95"/>
                <a:chOff x="2179" y="1588"/>
                <a:chExt cx="178" cy="95"/>
              </a:xfrm>
            </p:grpSpPr>
            <p:grpSp>
              <p:nvGrpSpPr>
                <p:cNvPr id="264" name="Group 23"/>
                <p:cNvGrpSpPr>
                  <a:grpSpLocks/>
                </p:cNvGrpSpPr>
                <p:nvPr/>
              </p:nvGrpSpPr>
              <p:grpSpPr bwMode="auto">
                <a:xfrm>
                  <a:off x="2179" y="1588"/>
                  <a:ext cx="178" cy="77"/>
                  <a:chOff x="2179" y="1588"/>
                  <a:chExt cx="178" cy="77"/>
                </a:xfrm>
              </p:grpSpPr>
              <p:sp>
                <p:nvSpPr>
                  <p:cNvPr id="268" name="Arc 24"/>
                  <p:cNvSpPr>
                    <a:spLocks/>
                  </p:cNvSpPr>
                  <p:nvPr/>
                </p:nvSpPr>
                <p:spPr bwMode="auto">
                  <a:xfrm>
                    <a:off x="2268" y="1588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9" name="Arc 25"/>
                  <p:cNvSpPr>
                    <a:spLocks/>
                  </p:cNvSpPr>
                  <p:nvPr/>
                </p:nvSpPr>
                <p:spPr bwMode="auto">
                  <a:xfrm>
                    <a:off x="2179" y="1635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65" name="Group 26"/>
                <p:cNvGrpSpPr>
                  <a:grpSpLocks/>
                </p:cNvGrpSpPr>
                <p:nvPr/>
              </p:nvGrpSpPr>
              <p:grpSpPr bwMode="auto">
                <a:xfrm>
                  <a:off x="2179" y="1606"/>
                  <a:ext cx="178" cy="77"/>
                  <a:chOff x="2179" y="1606"/>
                  <a:chExt cx="178" cy="77"/>
                </a:xfrm>
              </p:grpSpPr>
              <p:sp>
                <p:nvSpPr>
                  <p:cNvPr id="266" name="Arc 27"/>
                  <p:cNvSpPr>
                    <a:spLocks/>
                  </p:cNvSpPr>
                  <p:nvPr/>
                </p:nvSpPr>
                <p:spPr bwMode="auto">
                  <a:xfrm>
                    <a:off x="2268" y="1606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7" name="Arc 28"/>
                  <p:cNvSpPr>
                    <a:spLocks/>
                  </p:cNvSpPr>
                  <p:nvPr/>
                </p:nvSpPr>
                <p:spPr bwMode="auto">
                  <a:xfrm>
                    <a:off x="2179" y="1606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39" name="Group 29"/>
              <p:cNvGrpSpPr>
                <a:grpSpLocks/>
              </p:cNvGrpSpPr>
              <p:nvPr/>
            </p:nvGrpSpPr>
            <p:grpSpPr bwMode="auto">
              <a:xfrm>
                <a:off x="2179" y="1505"/>
                <a:ext cx="178" cy="95"/>
                <a:chOff x="2179" y="1505"/>
                <a:chExt cx="178" cy="95"/>
              </a:xfrm>
            </p:grpSpPr>
            <p:grpSp>
              <p:nvGrpSpPr>
                <p:cNvPr id="258" name="Group 30"/>
                <p:cNvGrpSpPr>
                  <a:grpSpLocks/>
                </p:cNvGrpSpPr>
                <p:nvPr/>
              </p:nvGrpSpPr>
              <p:grpSpPr bwMode="auto">
                <a:xfrm>
                  <a:off x="2179" y="1505"/>
                  <a:ext cx="178" cy="78"/>
                  <a:chOff x="2179" y="1505"/>
                  <a:chExt cx="178" cy="78"/>
                </a:xfrm>
              </p:grpSpPr>
              <p:sp>
                <p:nvSpPr>
                  <p:cNvPr id="262" name="Arc 31"/>
                  <p:cNvSpPr>
                    <a:spLocks/>
                  </p:cNvSpPr>
                  <p:nvPr/>
                </p:nvSpPr>
                <p:spPr bwMode="auto">
                  <a:xfrm>
                    <a:off x="2268" y="1505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3" name="Arc 32"/>
                  <p:cNvSpPr>
                    <a:spLocks/>
                  </p:cNvSpPr>
                  <p:nvPr/>
                </p:nvSpPr>
                <p:spPr bwMode="auto">
                  <a:xfrm>
                    <a:off x="2179" y="1553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59" name="Group 33"/>
                <p:cNvGrpSpPr>
                  <a:grpSpLocks/>
                </p:cNvGrpSpPr>
                <p:nvPr/>
              </p:nvGrpSpPr>
              <p:grpSpPr bwMode="auto">
                <a:xfrm>
                  <a:off x="2180" y="1523"/>
                  <a:ext cx="177" cy="77"/>
                  <a:chOff x="2180" y="1523"/>
                  <a:chExt cx="177" cy="77"/>
                </a:xfrm>
              </p:grpSpPr>
              <p:sp>
                <p:nvSpPr>
                  <p:cNvPr id="260" name="Arc 34"/>
                  <p:cNvSpPr>
                    <a:spLocks/>
                  </p:cNvSpPr>
                  <p:nvPr/>
                </p:nvSpPr>
                <p:spPr bwMode="auto">
                  <a:xfrm>
                    <a:off x="2268" y="1523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1" name="Arc 35"/>
                  <p:cNvSpPr>
                    <a:spLocks/>
                  </p:cNvSpPr>
                  <p:nvPr/>
                </p:nvSpPr>
                <p:spPr bwMode="auto">
                  <a:xfrm>
                    <a:off x="2180" y="1523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-1" y="21268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40" name="Group 36"/>
              <p:cNvGrpSpPr>
                <a:grpSpLocks/>
              </p:cNvGrpSpPr>
              <p:nvPr/>
            </p:nvGrpSpPr>
            <p:grpSpPr bwMode="auto">
              <a:xfrm>
                <a:off x="2179" y="1423"/>
                <a:ext cx="178" cy="95"/>
                <a:chOff x="2179" y="1423"/>
                <a:chExt cx="178" cy="95"/>
              </a:xfrm>
            </p:grpSpPr>
            <p:grpSp>
              <p:nvGrpSpPr>
                <p:cNvPr id="252" name="Group 37"/>
                <p:cNvGrpSpPr>
                  <a:grpSpLocks/>
                </p:cNvGrpSpPr>
                <p:nvPr/>
              </p:nvGrpSpPr>
              <p:grpSpPr bwMode="auto">
                <a:xfrm>
                  <a:off x="2179" y="1423"/>
                  <a:ext cx="178" cy="77"/>
                  <a:chOff x="2179" y="1423"/>
                  <a:chExt cx="178" cy="77"/>
                </a:xfrm>
              </p:grpSpPr>
              <p:sp>
                <p:nvSpPr>
                  <p:cNvPr id="256" name="Arc 38"/>
                  <p:cNvSpPr>
                    <a:spLocks/>
                  </p:cNvSpPr>
                  <p:nvPr/>
                </p:nvSpPr>
                <p:spPr bwMode="auto">
                  <a:xfrm>
                    <a:off x="2268" y="142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7" name="Arc 39"/>
                  <p:cNvSpPr>
                    <a:spLocks/>
                  </p:cNvSpPr>
                  <p:nvPr/>
                </p:nvSpPr>
                <p:spPr bwMode="auto">
                  <a:xfrm>
                    <a:off x="2179" y="1464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</a:path>
                      <a:path w="21600" h="21600" stroke="0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  <a:lnTo>
                          <a:pt x="21600" y="0"/>
                        </a:lnTo>
                        <a:lnTo>
                          <a:pt x="21506" y="2159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53" name="Group 40"/>
                <p:cNvGrpSpPr>
                  <a:grpSpLocks/>
                </p:cNvGrpSpPr>
                <p:nvPr/>
              </p:nvGrpSpPr>
              <p:grpSpPr bwMode="auto">
                <a:xfrm>
                  <a:off x="2180" y="1441"/>
                  <a:ext cx="177" cy="77"/>
                  <a:chOff x="2180" y="1441"/>
                  <a:chExt cx="177" cy="77"/>
                </a:xfrm>
              </p:grpSpPr>
              <p:sp>
                <p:nvSpPr>
                  <p:cNvPr id="254" name="Arc 41"/>
                  <p:cNvSpPr>
                    <a:spLocks/>
                  </p:cNvSpPr>
                  <p:nvPr/>
                </p:nvSpPr>
                <p:spPr bwMode="auto">
                  <a:xfrm>
                    <a:off x="2268" y="144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5" name="Arc 42"/>
                  <p:cNvSpPr>
                    <a:spLocks/>
                  </p:cNvSpPr>
                  <p:nvPr/>
                </p:nvSpPr>
                <p:spPr bwMode="auto">
                  <a:xfrm>
                    <a:off x="2180" y="1441"/>
                    <a:ext cx="88" cy="29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</a:path>
                      <a:path w="21597" h="21600" stroke="0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  <a:lnTo>
                          <a:pt x="21597" y="21600"/>
                        </a:lnTo>
                        <a:lnTo>
                          <a:pt x="-1" y="21262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41" name="Group 43"/>
              <p:cNvGrpSpPr>
                <a:grpSpLocks/>
              </p:cNvGrpSpPr>
              <p:nvPr/>
            </p:nvGrpSpPr>
            <p:grpSpPr bwMode="auto">
              <a:xfrm>
                <a:off x="2179" y="1340"/>
                <a:ext cx="178" cy="95"/>
                <a:chOff x="2179" y="1340"/>
                <a:chExt cx="178" cy="95"/>
              </a:xfrm>
            </p:grpSpPr>
            <p:grpSp>
              <p:nvGrpSpPr>
                <p:cNvPr id="246" name="Group 44"/>
                <p:cNvGrpSpPr>
                  <a:grpSpLocks/>
                </p:cNvGrpSpPr>
                <p:nvPr/>
              </p:nvGrpSpPr>
              <p:grpSpPr bwMode="auto">
                <a:xfrm>
                  <a:off x="2179" y="1340"/>
                  <a:ext cx="178" cy="78"/>
                  <a:chOff x="2179" y="1340"/>
                  <a:chExt cx="178" cy="78"/>
                </a:xfrm>
              </p:grpSpPr>
              <p:sp>
                <p:nvSpPr>
                  <p:cNvPr id="250" name="Arc 45"/>
                  <p:cNvSpPr>
                    <a:spLocks/>
                  </p:cNvSpPr>
                  <p:nvPr/>
                </p:nvSpPr>
                <p:spPr bwMode="auto">
                  <a:xfrm>
                    <a:off x="2268" y="134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1" name="Arc 46"/>
                  <p:cNvSpPr>
                    <a:spLocks/>
                  </p:cNvSpPr>
                  <p:nvPr/>
                </p:nvSpPr>
                <p:spPr bwMode="auto">
                  <a:xfrm>
                    <a:off x="2179" y="1382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46"/>
                      <a:gd name="T2" fmla="*/ 0 w 21600"/>
                      <a:gd name="T3" fmla="*/ 0 h 21646"/>
                      <a:gd name="T4" fmla="*/ 0 w 21600"/>
                      <a:gd name="T5" fmla="*/ 0 h 2164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6" fill="none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</a:path>
                      <a:path w="21600" h="21646" stroke="0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  <a:lnTo>
                          <a:pt x="21600" y="46"/>
                        </a:lnTo>
                        <a:lnTo>
                          <a:pt x="21504" y="21645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47" name="Group 47"/>
                <p:cNvGrpSpPr>
                  <a:grpSpLocks/>
                </p:cNvGrpSpPr>
                <p:nvPr/>
              </p:nvGrpSpPr>
              <p:grpSpPr bwMode="auto">
                <a:xfrm>
                  <a:off x="2180" y="1358"/>
                  <a:ext cx="177" cy="77"/>
                  <a:chOff x="2180" y="1358"/>
                  <a:chExt cx="177" cy="77"/>
                </a:xfrm>
              </p:grpSpPr>
              <p:sp>
                <p:nvSpPr>
                  <p:cNvPr id="248" name="Arc 48"/>
                  <p:cNvSpPr>
                    <a:spLocks/>
                  </p:cNvSpPr>
                  <p:nvPr/>
                </p:nvSpPr>
                <p:spPr bwMode="auto">
                  <a:xfrm>
                    <a:off x="2268" y="135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49" name="Arc 49"/>
                  <p:cNvSpPr>
                    <a:spLocks/>
                  </p:cNvSpPr>
                  <p:nvPr/>
                </p:nvSpPr>
                <p:spPr bwMode="auto">
                  <a:xfrm>
                    <a:off x="2180" y="1358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0" y="212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242" name="Arc 50"/>
              <p:cNvSpPr>
                <a:spLocks/>
              </p:cNvSpPr>
              <p:nvPr/>
            </p:nvSpPr>
            <p:spPr bwMode="auto">
              <a:xfrm>
                <a:off x="2268" y="1275"/>
                <a:ext cx="89" cy="77"/>
              </a:xfrm>
              <a:custGeom>
                <a:avLst/>
                <a:gdLst>
                  <a:gd name="T0" fmla="*/ 0 w 21707"/>
                  <a:gd name="T1" fmla="*/ 0 h 21600"/>
                  <a:gd name="T2" fmla="*/ 0 w 21707"/>
                  <a:gd name="T3" fmla="*/ 0 h 21600"/>
                  <a:gd name="T4" fmla="*/ 0 w 2170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07" h="21600" fill="none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</a:path>
                  <a:path w="21707" h="21600" stroke="0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  <a:lnTo>
                      <a:pt x="107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3" name="Arc 51"/>
              <p:cNvSpPr>
                <a:spLocks/>
              </p:cNvSpPr>
              <p:nvPr/>
            </p:nvSpPr>
            <p:spPr bwMode="auto">
              <a:xfrm>
                <a:off x="2268" y="1847"/>
                <a:ext cx="89" cy="77"/>
              </a:xfrm>
              <a:custGeom>
                <a:avLst/>
                <a:gdLst>
                  <a:gd name="T0" fmla="*/ 0 w 21710"/>
                  <a:gd name="T1" fmla="*/ 0 h 21750"/>
                  <a:gd name="T2" fmla="*/ 0 w 21710"/>
                  <a:gd name="T3" fmla="*/ 0 h 21750"/>
                  <a:gd name="T4" fmla="*/ 0 w 21710"/>
                  <a:gd name="T5" fmla="*/ 0 h 217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10" h="21750" fill="none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</a:path>
                  <a:path w="21710" h="21750" stroke="0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  <a:lnTo>
                      <a:pt x="110" y="150"/>
                    </a:lnTo>
                    <a:lnTo>
                      <a:pt x="21709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4" name="Line 52"/>
              <p:cNvSpPr>
                <a:spLocks noChangeShapeType="1"/>
              </p:cNvSpPr>
              <p:nvPr/>
            </p:nvSpPr>
            <p:spPr bwMode="auto">
              <a:xfrm flipV="1">
                <a:off x="2262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5" name="Line 53"/>
              <p:cNvSpPr>
                <a:spLocks noChangeShapeType="1"/>
              </p:cNvSpPr>
              <p:nvPr/>
            </p:nvSpPr>
            <p:spPr bwMode="auto">
              <a:xfrm flipV="1">
                <a:off x="2262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3" name="Line 54"/>
            <p:cNvSpPr>
              <a:spLocks noChangeShapeType="1"/>
            </p:cNvSpPr>
            <p:nvPr/>
          </p:nvSpPr>
          <p:spPr bwMode="auto">
            <a:xfrm flipV="1">
              <a:off x="2506" y="1939"/>
              <a:ext cx="1" cy="9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4" name="Group 55"/>
            <p:cNvGrpSpPr>
              <a:grpSpLocks/>
            </p:cNvGrpSpPr>
            <p:nvPr/>
          </p:nvGrpSpPr>
          <p:grpSpPr bwMode="auto">
            <a:xfrm>
              <a:off x="2423" y="2009"/>
              <a:ext cx="166" cy="779"/>
              <a:chOff x="3112" y="1204"/>
              <a:chExt cx="166" cy="779"/>
            </a:xfrm>
          </p:grpSpPr>
          <p:grpSp>
            <p:nvGrpSpPr>
              <p:cNvPr id="190" name="Group 56"/>
              <p:cNvGrpSpPr>
                <a:grpSpLocks/>
              </p:cNvGrpSpPr>
              <p:nvPr/>
            </p:nvGrpSpPr>
            <p:grpSpPr bwMode="auto">
              <a:xfrm>
                <a:off x="3112" y="1753"/>
                <a:ext cx="166" cy="95"/>
                <a:chOff x="3112" y="1753"/>
                <a:chExt cx="166" cy="95"/>
              </a:xfrm>
            </p:grpSpPr>
            <p:grpSp>
              <p:nvGrpSpPr>
                <p:cNvPr id="230" name="Group 57"/>
                <p:cNvGrpSpPr>
                  <a:grpSpLocks/>
                </p:cNvGrpSpPr>
                <p:nvPr/>
              </p:nvGrpSpPr>
              <p:grpSpPr bwMode="auto">
                <a:xfrm>
                  <a:off x="3112" y="1753"/>
                  <a:ext cx="166" cy="77"/>
                  <a:chOff x="3112" y="1753"/>
                  <a:chExt cx="166" cy="77"/>
                </a:xfrm>
              </p:grpSpPr>
              <p:sp>
                <p:nvSpPr>
                  <p:cNvPr id="234" name="Arc 58"/>
                  <p:cNvSpPr>
                    <a:spLocks/>
                  </p:cNvSpPr>
                  <p:nvPr/>
                </p:nvSpPr>
                <p:spPr bwMode="auto">
                  <a:xfrm>
                    <a:off x="3112" y="1753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20"/>
                      <a:gd name="T2" fmla="*/ 0 w 21600"/>
                      <a:gd name="T3" fmla="*/ 0 h 21720"/>
                      <a:gd name="T4" fmla="*/ 0 w 21600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20" fill="none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</a:path>
                      <a:path w="21600" h="21720" stroke="0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  <a:lnTo>
                          <a:pt x="21600" y="120"/>
                        </a:lnTo>
                        <a:lnTo>
                          <a:pt x="21600" y="2172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35" name="Arc 59"/>
                  <p:cNvSpPr>
                    <a:spLocks/>
                  </p:cNvSpPr>
                  <p:nvPr/>
                </p:nvSpPr>
                <p:spPr bwMode="auto">
                  <a:xfrm>
                    <a:off x="3195" y="1800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6"/>
                      <a:gd name="T2" fmla="*/ 0 w 21600"/>
                      <a:gd name="T3" fmla="*/ 0 h 21916"/>
                      <a:gd name="T4" fmla="*/ 0 w 21600"/>
                      <a:gd name="T5" fmla="*/ 0 h 219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6" fill="none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</a:path>
                      <a:path w="21600" h="21916" stroke="0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  <a:lnTo>
                          <a:pt x="0" y="316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31" name="Group 60"/>
                <p:cNvGrpSpPr>
                  <a:grpSpLocks/>
                </p:cNvGrpSpPr>
                <p:nvPr/>
              </p:nvGrpSpPr>
              <p:grpSpPr bwMode="auto">
                <a:xfrm>
                  <a:off x="3112" y="1771"/>
                  <a:ext cx="166" cy="77"/>
                  <a:chOff x="3112" y="1771"/>
                  <a:chExt cx="166" cy="77"/>
                </a:xfrm>
              </p:grpSpPr>
              <p:sp>
                <p:nvSpPr>
                  <p:cNvPr id="232" name="Arc 61"/>
                  <p:cNvSpPr>
                    <a:spLocks/>
                  </p:cNvSpPr>
                  <p:nvPr/>
                </p:nvSpPr>
                <p:spPr bwMode="auto">
                  <a:xfrm>
                    <a:off x="3112" y="177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6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33" name="Arc 62"/>
                  <p:cNvSpPr>
                    <a:spLocks/>
                  </p:cNvSpPr>
                  <p:nvPr/>
                </p:nvSpPr>
                <p:spPr bwMode="auto">
                  <a:xfrm>
                    <a:off x="3195" y="1771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1" name="Group 63"/>
              <p:cNvGrpSpPr>
                <a:grpSpLocks/>
              </p:cNvGrpSpPr>
              <p:nvPr/>
            </p:nvGrpSpPr>
            <p:grpSpPr bwMode="auto">
              <a:xfrm>
                <a:off x="3112" y="1671"/>
                <a:ext cx="166" cy="94"/>
                <a:chOff x="3112" y="1671"/>
                <a:chExt cx="166" cy="94"/>
              </a:xfrm>
            </p:grpSpPr>
            <p:grpSp>
              <p:nvGrpSpPr>
                <p:cNvPr id="224" name="Group 64"/>
                <p:cNvGrpSpPr>
                  <a:grpSpLocks/>
                </p:cNvGrpSpPr>
                <p:nvPr/>
              </p:nvGrpSpPr>
              <p:grpSpPr bwMode="auto">
                <a:xfrm>
                  <a:off x="3112" y="1671"/>
                  <a:ext cx="166" cy="77"/>
                  <a:chOff x="3112" y="1671"/>
                  <a:chExt cx="166" cy="77"/>
                </a:xfrm>
              </p:grpSpPr>
              <p:sp>
                <p:nvSpPr>
                  <p:cNvPr id="228" name="Arc 65"/>
                  <p:cNvSpPr>
                    <a:spLocks/>
                  </p:cNvSpPr>
                  <p:nvPr/>
                </p:nvSpPr>
                <p:spPr bwMode="auto">
                  <a:xfrm>
                    <a:off x="3112" y="167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39"/>
                      <a:gd name="T2" fmla="*/ 0 w 21600"/>
                      <a:gd name="T3" fmla="*/ 0 h 21739"/>
                      <a:gd name="T4" fmla="*/ 0 w 21600"/>
                      <a:gd name="T5" fmla="*/ 0 h 2173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39" fill="none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</a:path>
                      <a:path w="21600" h="21739" stroke="0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  <a:lnTo>
                          <a:pt x="21600" y="139"/>
                        </a:lnTo>
                        <a:lnTo>
                          <a:pt x="21600" y="217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9" name="Arc 66"/>
                  <p:cNvSpPr>
                    <a:spLocks/>
                  </p:cNvSpPr>
                  <p:nvPr/>
                </p:nvSpPr>
                <p:spPr bwMode="auto">
                  <a:xfrm>
                    <a:off x="3195" y="1718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</a:path>
                      <a:path w="21600" h="21910" stroke="0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  <a:lnTo>
                          <a:pt x="0" y="310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25" name="Group 67"/>
                <p:cNvGrpSpPr>
                  <a:grpSpLocks/>
                </p:cNvGrpSpPr>
                <p:nvPr/>
              </p:nvGrpSpPr>
              <p:grpSpPr bwMode="auto">
                <a:xfrm>
                  <a:off x="3112" y="1688"/>
                  <a:ext cx="166" cy="77"/>
                  <a:chOff x="3112" y="1688"/>
                  <a:chExt cx="166" cy="77"/>
                </a:xfrm>
              </p:grpSpPr>
              <p:sp>
                <p:nvSpPr>
                  <p:cNvPr id="226" name="Arc 68"/>
                  <p:cNvSpPr>
                    <a:spLocks/>
                  </p:cNvSpPr>
                  <p:nvPr/>
                </p:nvSpPr>
                <p:spPr bwMode="auto">
                  <a:xfrm>
                    <a:off x="3112" y="1688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8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7" name="Arc 69"/>
                  <p:cNvSpPr>
                    <a:spLocks/>
                  </p:cNvSpPr>
                  <p:nvPr/>
                </p:nvSpPr>
                <p:spPr bwMode="auto">
                  <a:xfrm>
                    <a:off x="3195" y="1688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12" y="0"/>
                          <a:pt x="21576" y="9644"/>
                          <a:pt x="21599" y="21557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12" y="0"/>
                          <a:pt x="21576" y="9644"/>
                          <a:pt x="21599" y="21557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2" name="Group 70"/>
              <p:cNvGrpSpPr>
                <a:grpSpLocks/>
              </p:cNvGrpSpPr>
              <p:nvPr/>
            </p:nvGrpSpPr>
            <p:grpSpPr bwMode="auto">
              <a:xfrm>
                <a:off x="3112" y="1588"/>
                <a:ext cx="166" cy="95"/>
                <a:chOff x="3112" y="1588"/>
                <a:chExt cx="166" cy="95"/>
              </a:xfrm>
            </p:grpSpPr>
            <p:grpSp>
              <p:nvGrpSpPr>
                <p:cNvPr id="218" name="Group 71"/>
                <p:cNvGrpSpPr>
                  <a:grpSpLocks/>
                </p:cNvGrpSpPr>
                <p:nvPr/>
              </p:nvGrpSpPr>
              <p:grpSpPr bwMode="auto">
                <a:xfrm>
                  <a:off x="3112" y="1588"/>
                  <a:ext cx="166" cy="77"/>
                  <a:chOff x="3112" y="1588"/>
                  <a:chExt cx="166" cy="77"/>
                </a:xfrm>
              </p:grpSpPr>
              <p:sp>
                <p:nvSpPr>
                  <p:cNvPr id="222" name="Arc 72"/>
                  <p:cNvSpPr>
                    <a:spLocks/>
                  </p:cNvSpPr>
                  <p:nvPr/>
                </p:nvSpPr>
                <p:spPr bwMode="auto">
                  <a:xfrm>
                    <a:off x="3112" y="1588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20"/>
                      <a:gd name="T2" fmla="*/ 0 w 21600"/>
                      <a:gd name="T3" fmla="*/ 0 h 21720"/>
                      <a:gd name="T4" fmla="*/ 0 w 21600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20" fill="none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</a:path>
                      <a:path w="21600" h="21720" stroke="0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  <a:lnTo>
                          <a:pt x="21600" y="120"/>
                        </a:lnTo>
                        <a:lnTo>
                          <a:pt x="21600" y="2172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3" name="Arc 73"/>
                  <p:cNvSpPr>
                    <a:spLocks/>
                  </p:cNvSpPr>
                  <p:nvPr/>
                </p:nvSpPr>
                <p:spPr bwMode="auto">
                  <a:xfrm>
                    <a:off x="3195" y="1635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6"/>
                      <a:gd name="T2" fmla="*/ 0 w 21600"/>
                      <a:gd name="T3" fmla="*/ 0 h 21916"/>
                      <a:gd name="T4" fmla="*/ 0 w 21600"/>
                      <a:gd name="T5" fmla="*/ 0 h 219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6" fill="none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</a:path>
                      <a:path w="21600" h="21916" stroke="0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  <a:lnTo>
                          <a:pt x="0" y="316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19" name="Group 74"/>
                <p:cNvGrpSpPr>
                  <a:grpSpLocks/>
                </p:cNvGrpSpPr>
                <p:nvPr/>
              </p:nvGrpSpPr>
              <p:grpSpPr bwMode="auto">
                <a:xfrm>
                  <a:off x="3112" y="1606"/>
                  <a:ext cx="166" cy="77"/>
                  <a:chOff x="3112" y="1606"/>
                  <a:chExt cx="166" cy="77"/>
                </a:xfrm>
              </p:grpSpPr>
              <p:sp>
                <p:nvSpPr>
                  <p:cNvPr id="220" name="Arc 75"/>
                  <p:cNvSpPr>
                    <a:spLocks/>
                  </p:cNvSpPr>
                  <p:nvPr/>
                </p:nvSpPr>
                <p:spPr bwMode="auto">
                  <a:xfrm>
                    <a:off x="3112" y="1606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6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1" name="Arc 76"/>
                  <p:cNvSpPr>
                    <a:spLocks/>
                  </p:cNvSpPr>
                  <p:nvPr/>
                </p:nvSpPr>
                <p:spPr bwMode="auto">
                  <a:xfrm>
                    <a:off x="3195" y="1606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3" name="Group 77"/>
              <p:cNvGrpSpPr>
                <a:grpSpLocks/>
              </p:cNvGrpSpPr>
              <p:nvPr/>
            </p:nvGrpSpPr>
            <p:grpSpPr bwMode="auto">
              <a:xfrm>
                <a:off x="3112" y="1506"/>
                <a:ext cx="166" cy="94"/>
                <a:chOff x="3112" y="1506"/>
                <a:chExt cx="166" cy="94"/>
              </a:xfrm>
            </p:grpSpPr>
            <p:grpSp>
              <p:nvGrpSpPr>
                <p:cNvPr id="212" name="Group 78"/>
                <p:cNvGrpSpPr>
                  <a:grpSpLocks/>
                </p:cNvGrpSpPr>
                <p:nvPr/>
              </p:nvGrpSpPr>
              <p:grpSpPr bwMode="auto">
                <a:xfrm>
                  <a:off x="3112" y="1506"/>
                  <a:ext cx="166" cy="77"/>
                  <a:chOff x="3112" y="1506"/>
                  <a:chExt cx="166" cy="77"/>
                </a:xfrm>
              </p:grpSpPr>
              <p:sp>
                <p:nvSpPr>
                  <p:cNvPr id="216" name="Arc 79"/>
                  <p:cNvSpPr>
                    <a:spLocks/>
                  </p:cNvSpPr>
                  <p:nvPr/>
                </p:nvSpPr>
                <p:spPr bwMode="auto">
                  <a:xfrm>
                    <a:off x="3112" y="1506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39"/>
                      <a:gd name="T2" fmla="*/ 0 w 21600"/>
                      <a:gd name="T3" fmla="*/ 0 h 21739"/>
                      <a:gd name="T4" fmla="*/ 0 w 21600"/>
                      <a:gd name="T5" fmla="*/ 0 h 2173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39" fill="none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</a:path>
                      <a:path w="21600" h="21739" stroke="0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  <a:lnTo>
                          <a:pt x="21600" y="139"/>
                        </a:lnTo>
                        <a:lnTo>
                          <a:pt x="21600" y="217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17" name="Arc 80"/>
                  <p:cNvSpPr>
                    <a:spLocks/>
                  </p:cNvSpPr>
                  <p:nvPr/>
                </p:nvSpPr>
                <p:spPr bwMode="auto">
                  <a:xfrm>
                    <a:off x="3195" y="1553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</a:path>
                      <a:path w="21600" h="21910" stroke="0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  <a:lnTo>
                          <a:pt x="0" y="310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13" name="Group 81"/>
                <p:cNvGrpSpPr>
                  <a:grpSpLocks/>
                </p:cNvGrpSpPr>
                <p:nvPr/>
              </p:nvGrpSpPr>
              <p:grpSpPr bwMode="auto">
                <a:xfrm>
                  <a:off x="3112" y="1523"/>
                  <a:ext cx="165" cy="77"/>
                  <a:chOff x="3112" y="1523"/>
                  <a:chExt cx="165" cy="77"/>
                </a:xfrm>
              </p:grpSpPr>
              <p:sp>
                <p:nvSpPr>
                  <p:cNvPr id="214" name="Arc 82"/>
                  <p:cNvSpPr>
                    <a:spLocks/>
                  </p:cNvSpPr>
                  <p:nvPr/>
                </p:nvSpPr>
                <p:spPr bwMode="auto">
                  <a:xfrm>
                    <a:off x="3112" y="1523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8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15" name="Arc 83"/>
                  <p:cNvSpPr>
                    <a:spLocks/>
                  </p:cNvSpPr>
                  <p:nvPr/>
                </p:nvSpPr>
                <p:spPr bwMode="auto">
                  <a:xfrm>
                    <a:off x="3195" y="1523"/>
                    <a:ext cx="82" cy="30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-1" y="0"/>
                        </a:moveTo>
                        <a:cubicBezTo>
                          <a:pt x="11808" y="0"/>
                          <a:pt x="21428" y="9482"/>
                          <a:pt x="21597" y="21290"/>
                        </a:cubicBezTo>
                      </a:path>
                      <a:path w="21598" h="21600" stroke="0" extrusionOk="0">
                        <a:moveTo>
                          <a:pt x="-1" y="0"/>
                        </a:moveTo>
                        <a:cubicBezTo>
                          <a:pt x="11808" y="0"/>
                          <a:pt x="21428" y="9482"/>
                          <a:pt x="21597" y="2129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4" name="Group 84"/>
              <p:cNvGrpSpPr>
                <a:grpSpLocks/>
              </p:cNvGrpSpPr>
              <p:nvPr/>
            </p:nvGrpSpPr>
            <p:grpSpPr bwMode="auto">
              <a:xfrm>
                <a:off x="3112" y="1423"/>
                <a:ext cx="166" cy="95"/>
                <a:chOff x="3112" y="1423"/>
                <a:chExt cx="166" cy="95"/>
              </a:xfrm>
            </p:grpSpPr>
            <p:grpSp>
              <p:nvGrpSpPr>
                <p:cNvPr id="206" name="Group 85"/>
                <p:cNvGrpSpPr>
                  <a:grpSpLocks/>
                </p:cNvGrpSpPr>
                <p:nvPr/>
              </p:nvGrpSpPr>
              <p:grpSpPr bwMode="auto">
                <a:xfrm>
                  <a:off x="3112" y="1423"/>
                  <a:ext cx="166" cy="77"/>
                  <a:chOff x="3112" y="1423"/>
                  <a:chExt cx="166" cy="77"/>
                </a:xfrm>
              </p:grpSpPr>
              <p:sp>
                <p:nvSpPr>
                  <p:cNvPr id="210" name="Arc 86"/>
                  <p:cNvSpPr>
                    <a:spLocks/>
                  </p:cNvSpPr>
                  <p:nvPr/>
                </p:nvSpPr>
                <p:spPr bwMode="auto">
                  <a:xfrm>
                    <a:off x="3112" y="1423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20"/>
                      <a:gd name="T2" fmla="*/ 0 w 21600"/>
                      <a:gd name="T3" fmla="*/ 0 h 21720"/>
                      <a:gd name="T4" fmla="*/ 0 w 21600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20" fill="none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</a:path>
                      <a:path w="21600" h="21720" stroke="0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  <a:lnTo>
                          <a:pt x="21600" y="120"/>
                        </a:lnTo>
                        <a:lnTo>
                          <a:pt x="21600" y="2172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11" name="Arc 87"/>
                  <p:cNvSpPr>
                    <a:spLocks/>
                  </p:cNvSpPr>
                  <p:nvPr/>
                </p:nvSpPr>
                <p:spPr bwMode="auto">
                  <a:xfrm>
                    <a:off x="3195" y="1464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600" y="0"/>
                        </a:moveTo>
                        <a:cubicBezTo>
                          <a:pt x="21600" y="11929"/>
                          <a:pt x="11929" y="21599"/>
                          <a:pt x="0" y="21600"/>
                        </a:cubicBezTo>
                      </a:path>
                      <a:path w="21600" h="21600" stroke="0" extrusionOk="0">
                        <a:moveTo>
                          <a:pt x="21600" y="0"/>
                        </a:moveTo>
                        <a:cubicBezTo>
                          <a:pt x="21600" y="11929"/>
                          <a:pt x="11929" y="21599"/>
                          <a:pt x="0" y="21600"/>
                        </a:cubicBezTo>
                        <a:lnTo>
                          <a:pt x="0" y="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07" name="Group 88"/>
                <p:cNvGrpSpPr>
                  <a:grpSpLocks/>
                </p:cNvGrpSpPr>
                <p:nvPr/>
              </p:nvGrpSpPr>
              <p:grpSpPr bwMode="auto">
                <a:xfrm>
                  <a:off x="3112" y="1441"/>
                  <a:ext cx="165" cy="77"/>
                  <a:chOff x="3112" y="1441"/>
                  <a:chExt cx="165" cy="77"/>
                </a:xfrm>
              </p:grpSpPr>
              <p:sp>
                <p:nvSpPr>
                  <p:cNvPr id="208" name="Arc 89"/>
                  <p:cNvSpPr>
                    <a:spLocks/>
                  </p:cNvSpPr>
                  <p:nvPr/>
                </p:nvSpPr>
                <p:spPr bwMode="auto">
                  <a:xfrm>
                    <a:off x="3112" y="144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6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09" name="Arc 90"/>
                  <p:cNvSpPr>
                    <a:spLocks/>
                  </p:cNvSpPr>
                  <p:nvPr/>
                </p:nvSpPr>
                <p:spPr bwMode="auto">
                  <a:xfrm>
                    <a:off x="3195" y="1441"/>
                    <a:ext cx="82" cy="29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-1" y="0"/>
                        </a:moveTo>
                        <a:cubicBezTo>
                          <a:pt x="11806" y="0"/>
                          <a:pt x="21424" y="9479"/>
                          <a:pt x="21597" y="21284"/>
                        </a:cubicBezTo>
                      </a:path>
                      <a:path w="21598" h="21600" stroke="0" extrusionOk="0">
                        <a:moveTo>
                          <a:pt x="-1" y="0"/>
                        </a:moveTo>
                        <a:cubicBezTo>
                          <a:pt x="11806" y="0"/>
                          <a:pt x="21424" y="9479"/>
                          <a:pt x="21597" y="21284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5" name="Group 91"/>
              <p:cNvGrpSpPr>
                <a:grpSpLocks/>
              </p:cNvGrpSpPr>
              <p:nvPr/>
            </p:nvGrpSpPr>
            <p:grpSpPr bwMode="auto">
              <a:xfrm>
                <a:off x="3112" y="1341"/>
                <a:ext cx="166" cy="94"/>
                <a:chOff x="3112" y="1341"/>
                <a:chExt cx="166" cy="94"/>
              </a:xfrm>
            </p:grpSpPr>
            <p:grpSp>
              <p:nvGrpSpPr>
                <p:cNvPr id="200" name="Group 92"/>
                <p:cNvGrpSpPr>
                  <a:grpSpLocks/>
                </p:cNvGrpSpPr>
                <p:nvPr/>
              </p:nvGrpSpPr>
              <p:grpSpPr bwMode="auto">
                <a:xfrm>
                  <a:off x="3112" y="1341"/>
                  <a:ext cx="166" cy="77"/>
                  <a:chOff x="3112" y="1341"/>
                  <a:chExt cx="166" cy="77"/>
                </a:xfrm>
              </p:grpSpPr>
              <p:sp>
                <p:nvSpPr>
                  <p:cNvPr id="204" name="Arc 93"/>
                  <p:cNvSpPr>
                    <a:spLocks/>
                  </p:cNvSpPr>
                  <p:nvPr/>
                </p:nvSpPr>
                <p:spPr bwMode="auto">
                  <a:xfrm>
                    <a:off x="3112" y="134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39"/>
                      <a:gd name="T2" fmla="*/ 0 w 21600"/>
                      <a:gd name="T3" fmla="*/ 0 h 21739"/>
                      <a:gd name="T4" fmla="*/ 0 w 21600"/>
                      <a:gd name="T5" fmla="*/ 0 h 2173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39" fill="none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</a:path>
                      <a:path w="21600" h="21739" stroke="0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  <a:lnTo>
                          <a:pt x="21600" y="139"/>
                        </a:lnTo>
                        <a:lnTo>
                          <a:pt x="21600" y="217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05" name="Arc 94"/>
                  <p:cNvSpPr>
                    <a:spLocks/>
                  </p:cNvSpPr>
                  <p:nvPr/>
                </p:nvSpPr>
                <p:spPr bwMode="auto">
                  <a:xfrm>
                    <a:off x="3195" y="1382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43"/>
                      <a:gd name="T2" fmla="*/ 0 w 21600"/>
                      <a:gd name="T3" fmla="*/ 0 h 21643"/>
                      <a:gd name="T4" fmla="*/ 0 w 21600"/>
                      <a:gd name="T5" fmla="*/ 0 h 2164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3" fill="none" extrusionOk="0">
                        <a:moveTo>
                          <a:pt x="21599" y="0"/>
                        </a:moveTo>
                        <a:cubicBezTo>
                          <a:pt x="21599" y="14"/>
                          <a:pt x="21600" y="28"/>
                          <a:pt x="21600" y="43"/>
                        </a:cubicBezTo>
                        <a:cubicBezTo>
                          <a:pt x="21600" y="11972"/>
                          <a:pt x="11929" y="21642"/>
                          <a:pt x="0" y="21643"/>
                        </a:cubicBezTo>
                      </a:path>
                      <a:path w="21600" h="21643" stroke="0" extrusionOk="0">
                        <a:moveTo>
                          <a:pt x="21599" y="0"/>
                        </a:moveTo>
                        <a:cubicBezTo>
                          <a:pt x="21599" y="14"/>
                          <a:pt x="21600" y="28"/>
                          <a:pt x="21600" y="43"/>
                        </a:cubicBezTo>
                        <a:cubicBezTo>
                          <a:pt x="21600" y="11972"/>
                          <a:pt x="11929" y="21642"/>
                          <a:pt x="0" y="21643"/>
                        </a:cubicBezTo>
                        <a:lnTo>
                          <a:pt x="0" y="43"/>
                        </a:lnTo>
                        <a:lnTo>
                          <a:pt x="2159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01" name="Group 95"/>
                <p:cNvGrpSpPr>
                  <a:grpSpLocks/>
                </p:cNvGrpSpPr>
                <p:nvPr/>
              </p:nvGrpSpPr>
              <p:grpSpPr bwMode="auto">
                <a:xfrm>
                  <a:off x="3112" y="1358"/>
                  <a:ext cx="165" cy="77"/>
                  <a:chOff x="3112" y="1358"/>
                  <a:chExt cx="165" cy="77"/>
                </a:xfrm>
              </p:grpSpPr>
              <p:sp>
                <p:nvSpPr>
                  <p:cNvPr id="202" name="Arc 96"/>
                  <p:cNvSpPr>
                    <a:spLocks/>
                  </p:cNvSpPr>
                  <p:nvPr/>
                </p:nvSpPr>
                <p:spPr bwMode="auto">
                  <a:xfrm>
                    <a:off x="3112" y="1358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8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03" name="Arc 97"/>
                  <p:cNvSpPr>
                    <a:spLocks/>
                  </p:cNvSpPr>
                  <p:nvPr/>
                </p:nvSpPr>
                <p:spPr bwMode="auto">
                  <a:xfrm>
                    <a:off x="3195" y="1358"/>
                    <a:ext cx="82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0"/>
                        </a:moveTo>
                        <a:cubicBezTo>
                          <a:pt x="11788" y="0"/>
                          <a:pt x="21399" y="9451"/>
                          <a:pt x="21596" y="21238"/>
                        </a:cubicBezTo>
                      </a:path>
                      <a:path w="21597" h="21600" stroke="0" extrusionOk="0">
                        <a:moveTo>
                          <a:pt x="-1" y="0"/>
                        </a:moveTo>
                        <a:cubicBezTo>
                          <a:pt x="11788" y="0"/>
                          <a:pt x="21399" y="9451"/>
                          <a:pt x="21596" y="21238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96" name="Arc 98"/>
              <p:cNvSpPr>
                <a:spLocks/>
              </p:cNvSpPr>
              <p:nvPr/>
            </p:nvSpPr>
            <p:spPr bwMode="auto">
              <a:xfrm>
                <a:off x="3112" y="1275"/>
                <a:ext cx="83" cy="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480"/>
                    </a:moveTo>
                    <a:cubicBezTo>
                      <a:pt x="66" y="9597"/>
                      <a:pt x="9717" y="0"/>
                      <a:pt x="21599" y="0"/>
                    </a:cubicBezTo>
                  </a:path>
                  <a:path w="21600" h="21600" stroke="0" extrusionOk="0">
                    <a:moveTo>
                      <a:pt x="0" y="21480"/>
                    </a:moveTo>
                    <a:cubicBezTo>
                      <a:pt x="66" y="9597"/>
                      <a:pt x="9717" y="0"/>
                      <a:pt x="21599" y="0"/>
                    </a:cubicBezTo>
                    <a:lnTo>
                      <a:pt x="21600" y="21600"/>
                    </a:lnTo>
                    <a:lnTo>
                      <a:pt x="0" y="2148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7" name="Arc 99"/>
              <p:cNvSpPr>
                <a:spLocks/>
              </p:cNvSpPr>
              <p:nvPr/>
            </p:nvSpPr>
            <p:spPr bwMode="auto">
              <a:xfrm>
                <a:off x="3112" y="1848"/>
                <a:ext cx="83" cy="77"/>
              </a:xfrm>
              <a:custGeom>
                <a:avLst/>
                <a:gdLst>
                  <a:gd name="T0" fmla="*/ 0 w 21600"/>
                  <a:gd name="T1" fmla="*/ 0 h 21739"/>
                  <a:gd name="T2" fmla="*/ 0 w 21600"/>
                  <a:gd name="T3" fmla="*/ 0 h 21739"/>
                  <a:gd name="T4" fmla="*/ 0 w 21600"/>
                  <a:gd name="T5" fmla="*/ 0 h 217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739" fill="none" extrusionOk="0">
                    <a:moveTo>
                      <a:pt x="21600" y="21739"/>
                    </a:moveTo>
                    <a:cubicBezTo>
                      <a:pt x="9670" y="21739"/>
                      <a:pt x="0" y="12068"/>
                      <a:pt x="0" y="139"/>
                    </a:cubicBezTo>
                    <a:cubicBezTo>
                      <a:pt x="-1" y="92"/>
                      <a:pt x="0" y="46"/>
                      <a:pt x="0" y="0"/>
                    </a:cubicBezTo>
                  </a:path>
                  <a:path w="21600" h="21739" stroke="0" extrusionOk="0">
                    <a:moveTo>
                      <a:pt x="21600" y="21739"/>
                    </a:moveTo>
                    <a:cubicBezTo>
                      <a:pt x="9670" y="21739"/>
                      <a:pt x="0" y="12068"/>
                      <a:pt x="0" y="139"/>
                    </a:cubicBezTo>
                    <a:cubicBezTo>
                      <a:pt x="-1" y="92"/>
                      <a:pt x="0" y="46"/>
                      <a:pt x="0" y="0"/>
                    </a:cubicBezTo>
                    <a:lnTo>
                      <a:pt x="21600" y="139"/>
                    </a:lnTo>
                    <a:lnTo>
                      <a:pt x="21600" y="21739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8" name="Line 100"/>
              <p:cNvSpPr>
                <a:spLocks noChangeShapeType="1"/>
              </p:cNvSpPr>
              <p:nvPr/>
            </p:nvSpPr>
            <p:spPr bwMode="auto">
              <a:xfrm flipV="1">
                <a:off x="3195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9" name="Line 101"/>
              <p:cNvSpPr>
                <a:spLocks noChangeShapeType="1"/>
              </p:cNvSpPr>
              <p:nvPr/>
            </p:nvSpPr>
            <p:spPr bwMode="auto">
              <a:xfrm flipV="1">
                <a:off x="3195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" name="Line 102"/>
            <p:cNvSpPr>
              <a:spLocks noChangeShapeType="1"/>
            </p:cNvSpPr>
            <p:nvPr/>
          </p:nvSpPr>
          <p:spPr bwMode="auto">
            <a:xfrm>
              <a:off x="2317" y="2068"/>
              <a:ext cx="1" cy="6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103"/>
            <p:cNvSpPr>
              <a:spLocks noChangeShapeType="1"/>
            </p:cNvSpPr>
            <p:nvPr/>
          </p:nvSpPr>
          <p:spPr bwMode="auto">
            <a:xfrm flipV="1">
              <a:off x="1573" y="1950"/>
              <a:ext cx="1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Line 104"/>
            <p:cNvSpPr>
              <a:spLocks noChangeShapeType="1"/>
            </p:cNvSpPr>
            <p:nvPr/>
          </p:nvSpPr>
          <p:spPr bwMode="auto">
            <a:xfrm flipV="1">
              <a:off x="2506" y="2764"/>
              <a:ext cx="1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Line 105"/>
            <p:cNvSpPr>
              <a:spLocks noChangeShapeType="1"/>
            </p:cNvSpPr>
            <p:nvPr/>
          </p:nvSpPr>
          <p:spPr bwMode="auto">
            <a:xfrm flipV="1">
              <a:off x="1573" y="2957"/>
              <a:ext cx="1" cy="1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Oval 106"/>
            <p:cNvSpPr>
              <a:spLocks noChangeArrowheads="1"/>
            </p:cNvSpPr>
            <p:nvPr/>
          </p:nvSpPr>
          <p:spPr bwMode="auto">
            <a:xfrm>
              <a:off x="511" y="2741"/>
              <a:ext cx="259" cy="25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20" name="Group 107"/>
            <p:cNvGrpSpPr>
              <a:grpSpLocks/>
            </p:cNvGrpSpPr>
            <p:nvPr/>
          </p:nvGrpSpPr>
          <p:grpSpPr bwMode="auto">
            <a:xfrm>
              <a:off x="849" y="2711"/>
              <a:ext cx="83" cy="259"/>
              <a:chOff x="1022" y="1936"/>
              <a:chExt cx="83" cy="259"/>
            </a:xfrm>
          </p:grpSpPr>
          <p:sp>
            <p:nvSpPr>
              <p:cNvPr id="188" name="Freeform 108"/>
              <p:cNvSpPr>
                <a:spLocks/>
              </p:cNvSpPr>
              <p:nvPr/>
            </p:nvSpPr>
            <p:spPr bwMode="auto">
              <a:xfrm>
                <a:off x="1022" y="1936"/>
                <a:ext cx="83" cy="165"/>
              </a:xfrm>
              <a:custGeom>
                <a:avLst/>
                <a:gdLst>
                  <a:gd name="T0" fmla="*/ 36 w 83"/>
                  <a:gd name="T1" fmla="*/ 0 h 165"/>
                  <a:gd name="T2" fmla="*/ 83 w 83"/>
                  <a:gd name="T3" fmla="*/ 165 h 165"/>
                  <a:gd name="T4" fmla="*/ 36 w 83"/>
                  <a:gd name="T5" fmla="*/ 165 h 165"/>
                  <a:gd name="T6" fmla="*/ 0 w 83"/>
                  <a:gd name="T7" fmla="*/ 165 h 165"/>
                  <a:gd name="T8" fmla="*/ 36 w 83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3" h="165">
                    <a:moveTo>
                      <a:pt x="36" y="0"/>
                    </a:moveTo>
                    <a:lnTo>
                      <a:pt x="83" y="165"/>
                    </a:lnTo>
                    <a:lnTo>
                      <a:pt x="36" y="165"/>
                    </a:lnTo>
                    <a:lnTo>
                      <a:pt x="0" y="16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9" name="Line 109"/>
              <p:cNvSpPr>
                <a:spLocks noChangeShapeType="1"/>
              </p:cNvSpPr>
              <p:nvPr/>
            </p:nvSpPr>
            <p:spPr bwMode="auto">
              <a:xfrm>
                <a:off x="1058" y="2101"/>
                <a:ext cx="1" cy="9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1" name="Rectangle 110"/>
            <p:cNvSpPr>
              <a:spLocks noChangeArrowheads="1"/>
            </p:cNvSpPr>
            <p:nvPr/>
          </p:nvSpPr>
          <p:spPr bwMode="auto">
            <a:xfrm>
              <a:off x="953" y="2867"/>
              <a:ext cx="1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latin typeface="Times" panose="02020603050405020304" pitchFamily="18" charset="0"/>
                </a:rPr>
                <a:t>E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2" name="Line 111"/>
            <p:cNvSpPr>
              <a:spLocks noChangeShapeType="1"/>
            </p:cNvSpPr>
            <p:nvPr/>
          </p:nvSpPr>
          <p:spPr bwMode="auto">
            <a:xfrm flipH="1">
              <a:off x="1413" y="3069"/>
              <a:ext cx="166" cy="16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3" name="Group 112"/>
            <p:cNvGrpSpPr>
              <a:grpSpLocks/>
            </p:cNvGrpSpPr>
            <p:nvPr/>
          </p:nvGrpSpPr>
          <p:grpSpPr bwMode="auto">
            <a:xfrm>
              <a:off x="1437" y="3434"/>
              <a:ext cx="212" cy="177"/>
              <a:chOff x="2144" y="2419"/>
              <a:chExt cx="212" cy="177"/>
            </a:xfrm>
          </p:grpSpPr>
          <p:sp>
            <p:nvSpPr>
              <p:cNvPr id="186" name="Freeform 113"/>
              <p:cNvSpPr>
                <a:spLocks/>
              </p:cNvSpPr>
              <p:nvPr/>
            </p:nvSpPr>
            <p:spPr bwMode="auto">
              <a:xfrm>
                <a:off x="2167" y="2431"/>
                <a:ext cx="189" cy="165"/>
              </a:xfrm>
              <a:custGeom>
                <a:avLst/>
                <a:gdLst>
                  <a:gd name="T0" fmla="*/ 189 w 189"/>
                  <a:gd name="T1" fmla="*/ 165 h 165"/>
                  <a:gd name="T2" fmla="*/ 0 w 189"/>
                  <a:gd name="T3" fmla="*/ 71 h 165"/>
                  <a:gd name="T4" fmla="*/ 36 w 189"/>
                  <a:gd name="T5" fmla="*/ 36 h 165"/>
                  <a:gd name="T6" fmla="*/ 71 w 189"/>
                  <a:gd name="T7" fmla="*/ 0 h 165"/>
                  <a:gd name="T8" fmla="*/ 189 w 189"/>
                  <a:gd name="T9" fmla="*/ 165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9" h="165">
                    <a:moveTo>
                      <a:pt x="189" y="165"/>
                    </a:moveTo>
                    <a:lnTo>
                      <a:pt x="0" y="71"/>
                    </a:lnTo>
                    <a:lnTo>
                      <a:pt x="36" y="36"/>
                    </a:lnTo>
                    <a:lnTo>
                      <a:pt x="71" y="0"/>
                    </a:lnTo>
                    <a:lnTo>
                      <a:pt x="189" y="16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7" name="Line 114"/>
              <p:cNvSpPr>
                <a:spLocks noChangeShapeType="1"/>
              </p:cNvSpPr>
              <p:nvPr/>
            </p:nvSpPr>
            <p:spPr bwMode="auto">
              <a:xfrm flipH="1" flipV="1">
                <a:off x="2144" y="2419"/>
                <a:ext cx="59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4" name="Line 115"/>
            <p:cNvSpPr>
              <a:spLocks noChangeShapeType="1"/>
            </p:cNvSpPr>
            <p:nvPr/>
          </p:nvSpPr>
          <p:spPr bwMode="auto">
            <a:xfrm>
              <a:off x="1425" y="3081"/>
              <a:ext cx="1" cy="542"/>
            </a:xfrm>
            <a:prstGeom prst="line">
              <a:avLst/>
            </a:prstGeom>
            <a:noFill/>
            <a:ln w="746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Line 116"/>
            <p:cNvSpPr>
              <a:spLocks noChangeShapeType="1"/>
            </p:cNvSpPr>
            <p:nvPr/>
          </p:nvSpPr>
          <p:spPr bwMode="auto">
            <a:xfrm>
              <a:off x="2517" y="2871"/>
              <a:ext cx="2113" cy="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Line 117"/>
            <p:cNvSpPr>
              <a:spLocks noChangeShapeType="1"/>
            </p:cNvSpPr>
            <p:nvPr/>
          </p:nvSpPr>
          <p:spPr bwMode="auto">
            <a:xfrm>
              <a:off x="640" y="1939"/>
              <a:ext cx="1" cy="8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Line 118"/>
            <p:cNvSpPr>
              <a:spLocks noChangeShapeType="1"/>
            </p:cNvSpPr>
            <p:nvPr/>
          </p:nvSpPr>
          <p:spPr bwMode="auto">
            <a:xfrm>
              <a:off x="1645" y="3581"/>
              <a:ext cx="0" cy="1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119"/>
            <p:cNvSpPr>
              <a:spLocks noChangeShapeType="1"/>
            </p:cNvSpPr>
            <p:nvPr/>
          </p:nvSpPr>
          <p:spPr bwMode="auto">
            <a:xfrm>
              <a:off x="1077" y="3352"/>
              <a:ext cx="33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9" name="Group 120"/>
            <p:cNvGrpSpPr>
              <a:grpSpLocks/>
            </p:cNvGrpSpPr>
            <p:nvPr/>
          </p:nvGrpSpPr>
          <p:grpSpPr bwMode="auto">
            <a:xfrm>
              <a:off x="1124" y="3127"/>
              <a:ext cx="284" cy="245"/>
              <a:chOff x="1813" y="2112"/>
              <a:chExt cx="284" cy="245"/>
            </a:xfrm>
          </p:grpSpPr>
          <p:sp>
            <p:nvSpPr>
              <p:cNvPr id="184" name="Rectangle 121"/>
              <p:cNvSpPr>
                <a:spLocks noChangeArrowheads="1"/>
              </p:cNvSpPr>
              <p:nvPr/>
            </p:nvSpPr>
            <p:spPr bwMode="auto">
              <a:xfrm>
                <a:off x="1813" y="2112"/>
                <a:ext cx="122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Symbol" panose="05050102010706020507" pitchFamily="18" charset="2"/>
                  </a:rPr>
                  <a:t>a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Rectangle 122"/>
              <p:cNvSpPr>
                <a:spLocks noChangeArrowheads="1"/>
              </p:cNvSpPr>
              <p:nvPr/>
            </p:nvSpPr>
            <p:spPr bwMode="auto">
              <a:xfrm>
                <a:off x="1931" y="2125"/>
                <a:ext cx="166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Times" panose="02020603050405020304" pitchFamily="18" charset="0"/>
                  </a:rPr>
                  <a:t>,T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" name="Oval 123"/>
            <p:cNvSpPr>
              <a:spLocks noChangeArrowheads="1"/>
            </p:cNvSpPr>
            <p:nvPr/>
          </p:nvSpPr>
          <p:spPr bwMode="auto">
            <a:xfrm>
              <a:off x="1414" y="2225"/>
              <a:ext cx="70" cy="71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1" name="Oval 124"/>
            <p:cNvSpPr>
              <a:spLocks noChangeArrowheads="1"/>
            </p:cNvSpPr>
            <p:nvPr/>
          </p:nvSpPr>
          <p:spPr bwMode="auto">
            <a:xfrm>
              <a:off x="2559" y="2039"/>
              <a:ext cx="70" cy="71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32" name="Group 125"/>
            <p:cNvGrpSpPr>
              <a:grpSpLocks/>
            </p:cNvGrpSpPr>
            <p:nvPr/>
          </p:nvGrpSpPr>
          <p:grpSpPr bwMode="auto">
            <a:xfrm>
              <a:off x="3011" y="1726"/>
              <a:ext cx="272" cy="413"/>
              <a:chOff x="3478" y="921"/>
              <a:chExt cx="272" cy="413"/>
            </a:xfrm>
          </p:grpSpPr>
          <p:sp>
            <p:nvSpPr>
              <p:cNvPr id="180" name="Line 126"/>
              <p:cNvSpPr>
                <a:spLocks noChangeShapeType="1"/>
              </p:cNvSpPr>
              <p:nvPr/>
            </p:nvSpPr>
            <p:spPr bwMode="auto">
              <a:xfrm flipV="1">
                <a:off x="3749" y="921"/>
                <a:ext cx="1" cy="413"/>
              </a:xfrm>
              <a:prstGeom prst="line">
                <a:avLst/>
              </a:prstGeom>
              <a:noFill/>
              <a:ln w="746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1" name="Line 127"/>
              <p:cNvSpPr>
                <a:spLocks noChangeShapeType="1"/>
              </p:cNvSpPr>
              <p:nvPr/>
            </p:nvSpPr>
            <p:spPr bwMode="auto">
              <a:xfrm flipH="1">
                <a:off x="3478" y="1134"/>
                <a:ext cx="271" cy="2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" name="Line 128"/>
              <p:cNvSpPr>
                <a:spLocks noChangeShapeType="1"/>
              </p:cNvSpPr>
              <p:nvPr/>
            </p:nvSpPr>
            <p:spPr bwMode="auto">
              <a:xfrm flipV="1">
                <a:off x="3478" y="921"/>
                <a:ext cx="1" cy="4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3" name="Line 129"/>
              <p:cNvSpPr>
                <a:spLocks noChangeShapeType="1"/>
              </p:cNvSpPr>
              <p:nvPr/>
            </p:nvSpPr>
            <p:spPr bwMode="auto">
              <a:xfrm>
                <a:off x="3478" y="921"/>
                <a:ext cx="271" cy="2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33" name="Line 130"/>
            <p:cNvSpPr>
              <a:spLocks noChangeShapeType="1"/>
            </p:cNvSpPr>
            <p:nvPr/>
          </p:nvSpPr>
          <p:spPr bwMode="auto">
            <a:xfrm>
              <a:off x="2499" y="1933"/>
              <a:ext cx="512" cy="1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131"/>
            <p:cNvSpPr>
              <a:spLocks noChangeShapeType="1"/>
            </p:cNvSpPr>
            <p:nvPr/>
          </p:nvSpPr>
          <p:spPr bwMode="auto">
            <a:xfrm>
              <a:off x="3294" y="1939"/>
              <a:ext cx="412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35" name="Group 132"/>
            <p:cNvGrpSpPr>
              <a:grpSpLocks/>
            </p:cNvGrpSpPr>
            <p:nvPr/>
          </p:nvGrpSpPr>
          <p:grpSpPr bwMode="auto">
            <a:xfrm>
              <a:off x="4517" y="2022"/>
              <a:ext cx="82" cy="802"/>
              <a:chOff x="4576" y="1193"/>
              <a:chExt cx="82" cy="802"/>
            </a:xfrm>
          </p:grpSpPr>
          <p:sp>
            <p:nvSpPr>
              <p:cNvPr id="178" name="Freeform 133"/>
              <p:cNvSpPr>
                <a:spLocks/>
              </p:cNvSpPr>
              <p:nvPr/>
            </p:nvSpPr>
            <p:spPr bwMode="auto">
              <a:xfrm>
                <a:off x="4576" y="1193"/>
                <a:ext cx="82" cy="165"/>
              </a:xfrm>
              <a:custGeom>
                <a:avLst/>
                <a:gdLst>
                  <a:gd name="T0" fmla="*/ 47 w 82"/>
                  <a:gd name="T1" fmla="*/ 0 h 165"/>
                  <a:gd name="T2" fmla="*/ 82 w 82"/>
                  <a:gd name="T3" fmla="*/ 165 h 165"/>
                  <a:gd name="T4" fmla="*/ 47 w 82"/>
                  <a:gd name="T5" fmla="*/ 165 h 165"/>
                  <a:gd name="T6" fmla="*/ 0 w 82"/>
                  <a:gd name="T7" fmla="*/ 165 h 165"/>
                  <a:gd name="T8" fmla="*/ 47 w 82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165">
                    <a:moveTo>
                      <a:pt x="47" y="0"/>
                    </a:moveTo>
                    <a:lnTo>
                      <a:pt x="82" y="165"/>
                    </a:lnTo>
                    <a:lnTo>
                      <a:pt x="47" y="165"/>
                    </a:lnTo>
                    <a:lnTo>
                      <a:pt x="0" y="165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9" name="Line 134"/>
              <p:cNvSpPr>
                <a:spLocks noChangeShapeType="1"/>
              </p:cNvSpPr>
              <p:nvPr/>
            </p:nvSpPr>
            <p:spPr bwMode="auto">
              <a:xfrm>
                <a:off x="4623" y="1358"/>
                <a:ext cx="1" cy="63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36" name="Group 135"/>
            <p:cNvGrpSpPr>
              <a:grpSpLocks/>
            </p:cNvGrpSpPr>
            <p:nvPr/>
          </p:nvGrpSpPr>
          <p:grpSpPr bwMode="auto">
            <a:xfrm>
              <a:off x="4635" y="2310"/>
              <a:ext cx="193" cy="286"/>
              <a:chOff x="4682" y="1523"/>
              <a:chExt cx="193" cy="286"/>
            </a:xfrm>
          </p:grpSpPr>
          <p:sp>
            <p:nvSpPr>
              <p:cNvPr id="176" name="Rectangle 136"/>
              <p:cNvSpPr>
                <a:spLocks noChangeArrowheads="1"/>
              </p:cNvSpPr>
              <p:nvPr/>
            </p:nvSpPr>
            <p:spPr bwMode="auto">
              <a:xfrm>
                <a:off x="4682" y="1523"/>
                <a:ext cx="162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100" b="1">
                    <a:latin typeface="Times" panose="02020603050405020304" pitchFamily="18" charset="0"/>
                  </a:rPr>
                  <a:t>V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7" name="Rectangle 137"/>
              <p:cNvSpPr>
                <a:spLocks noChangeArrowheads="1"/>
              </p:cNvSpPr>
              <p:nvPr/>
            </p:nvSpPr>
            <p:spPr bwMode="auto">
              <a:xfrm>
                <a:off x="4812" y="1616"/>
                <a:ext cx="63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500" b="1">
                    <a:latin typeface="Times" panose="02020603050405020304" pitchFamily="18" charset="0"/>
                  </a:rPr>
                  <a:t>s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" name="Rectangle 138"/>
            <p:cNvSpPr>
              <a:spLocks noChangeArrowheads="1"/>
            </p:cNvSpPr>
            <p:nvPr/>
          </p:nvSpPr>
          <p:spPr bwMode="auto">
            <a:xfrm>
              <a:off x="1350" y="2396"/>
              <a:ext cx="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" panose="02020603050405020304" pitchFamily="18" charset="0"/>
                </a:rPr>
                <a:t>n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8" name="Rectangle 139"/>
            <p:cNvSpPr>
              <a:spLocks noChangeArrowheads="1"/>
            </p:cNvSpPr>
            <p:nvPr/>
          </p:nvSpPr>
          <p:spPr bwMode="auto">
            <a:xfrm>
              <a:off x="1419" y="2479"/>
              <a:ext cx="70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9" name="Rectangle 140"/>
            <p:cNvSpPr>
              <a:spLocks noChangeArrowheads="1"/>
            </p:cNvSpPr>
            <p:nvPr/>
          </p:nvSpPr>
          <p:spPr bwMode="auto">
            <a:xfrm>
              <a:off x="2636" y="2127"/>
              <a:ext cx="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" panose="02020603050405020304" pitchFamily="18" charset="0"/>
                </a:rPr>
                <a:t>n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0" name="Rectangle 141"/>
            <p:cNvSpPr>
              <a:spLocks noChangeArrowheads="1"/>
            </p:cNvSpPr>
            <p:nvPr/>
          </p:nvSpPr>
          <p:spPr bwMode="auto">
            <a:xfrm>
              <a:off x="2707" y="2210"/>
              <a:ext cx="69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latin typeface="Times" panose="02020603050405020304" pitchFamily="18" charset="0"/>
                </a:rPr>
                <a:t>2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41" name="Group 142"/>
            <p:cNvGrpSpPr>
              <a:grpSpLocks/>
            </p:cNvGrpSpPr>
            <p:nvPr/>
          </p:nvGrpSpPr>
          <p:grpSpPr bwMode="auto">
            <a:xfrm>
              <a:off x="1963" y="2009"/>
              <a:ext cx="166" cy="779"/>
              <a:chOff x="2652" y="1204"/>
              <a:chExt cx="166" cy="779"/>
            </a:xfrm>
          </p:grpSpPr>
          <p:grpSp>
            <p:nvGrpSpPr>
              <p:cNvPr id="130" name="Group 143"/>
              <p:cNvGrpSpPr>
                <a:grpSpLocks/>
              </p:cNvGrpSpPr>
              <p:nvPr/>
            </p:nvGrpSpPr>
            <p:grpSpPr bwMode="auto">
              <a:xfrm>
                <a:off x="2652" y="1753"/>
                <a:ext cx="166" cy="95"/>
                <a:chOff x="2652" y="1753"/>
                <a:chExt cx="166" cy="95"/>
              </a:xfrm>
            </p:grpSpPr>
            <p:grpSp>
              <p:nvGrpSpPr>
                <p:cNvPr id="170" name="Group 144"/>
                <p:cNvGrpSpPr>
                  <a:grpSpLocks/>
                </p:cNvGrpSpPr>
                <p:nvPr/>
              </p:nvGrpSpPr>
              <p:grpSpPr bwMode="auto">
                <a:xfrm>
                  <a:off x="2652" y="1753"/>
                  <a:ext cx="166" cy="77"/>
                  <a:chOff x="2652" y="1753"/>
                  <a:chExt cx="166" cy="77"/>
                </a:xfrm>
              </p:grpSpPr>
              <p:sp>
                <p:nvSpPr>
                  <p:cNvPr id="174" name="Arc 145"/>
                  <p:cNvSpPr>
                    <a:spLocks/>
                  </p:cNvSpPr>
                  <p:nvPr/>
                </p:nvSpPr>
                <p:spPr bwMode="auto">
                  <a:xfrm>
                    <a:off x="2735" y="1753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20"/>
                      <a:gd name="T2" fmla="*/ 0 w 21619"/>
                      <a:gd name="T3" fmla="*/ 0 h 21720"/>
                      <a:gd name="T4" fmla="*/ 0 w 21619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20" fill="none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</a:path>
                      <a:path w="21619" h="21720" stroke="0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  <a:lnTo>
                          <a:pt x="19" y="12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5" name="Arc 146"/>
                  <p:cNvSpPr>
                    <a:spLocks/>
                  </p:cNvSpPr>
                  <p:nvPr/>
                </p:nvSpPr>
                <p:spPr bwMode="auto">
                  <a:xfrm>
                    <a:off x="2652" y="1800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5"/>
                      <a:gd name="T2" fmla="*/ 0 w 21600"/>
                      <a:gd name="T3" fmla="*/ 0 h 21915"/>
                      <a:gd name="T4" fmla="*/ 0 w 21600"/>
                      <a:gd name="T5" fmla="*/ 0 h 219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5" fill="none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</a:path>
                      <a:path w="21600" h="21915" stroke="0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  <a:lnTo>
                          <a:pt x="21600" y="315"/>
                        </a:lnTo>
                        <a:lnTo>
                          <a:pt x="21585" y="219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71" name="Group 147"/>
                <p:cNvGrpSpPr>
                  <a:grpSpLocks/>
                </p:cNvGrpSpPr>
                <p:nvPr/>
              </p:nvGrpSpPr>
              <p:grpSpPr bwMode="auto">
                <a:xfrm>
                  <a:off x="2652" y="1771"/>
                  <a:ext cx="166" cy="77"/>
                  <a:chOff x="2652" y="1771"/>
                  <a:chExt cx="166" cy="77"/>
                </a:xfrm>
              </p:grpSpPr>
              <p:sp>
                <p:nvSpPr>
                  <p:cNvPr id="172" name="Arc 148"/>
                  <p:cNvSpPr>
                    <a:spLocks/>
                  </p:cNvSpPr>
                  <p:nvPr/>
                </p:nvSpPr>
                <p:spPr bwMode="auto">
                  <a:xfrm>
                    <a:off x="2735" y="1771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3" name="Arc 149"/>
                  <p:cNvSpPr>
                    <a:spLocks/>
                  </p:cNvSpPr>
                  <p:nvPr/>
                </p:nvSpPr>
                <p:spPr bwMode="auto">
                  <a:xfrm>
                    <a:off x="2652" y="1771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1" name="Group 150"/>
              <p:cNvGrpSpPr>
                <a:grpSpLocks/>
              </p:cNvGrpSpPr>
              <p:nvPr/>
            </p:nvGrpSpPr>
            <p:grpSpPr bwMode="auto">
              <a:xfrm>
                <a:off x="2652" y="1671"/>
                <a:ext cx="166" cy="94"/>
                <a:chOff x="2652" y="1671"/>
                <a:chExt cx="166" cy="94"/>
              </a:xfrm>
            </p:grpSpPr>
            <p:grpSp>
              <p:nvGrpSpPr>
                <p:cNvPr id="164" name="Group 151"/>
                <p:cNvGrpSpPr>
                  <a:grpSpLocks/>
                </p:cNvGrpSpPr>
                <p:nvPr/>
              </p:nvGrpSpPr>
              <p:grpSpPr bwMode="auto">
                <a:xfrm>
                  <a:off x="2652" y="1671"/>
                  <a:ext cx="166" cy="77"/>
                  <a:chOff x="2652" y="1671"/>
                  <a:chExt cx="166" cy="77"/>
                </a:xfrm>
              </p:grpSpPr>
              <p:sp>
                <p:nvSpPr>
                  <p:cNvPr id="168" name="Arc 152"/>
                  <p:cNvSpPr>
                    <a:spLocks/>
                  </p:cNvSpPr>
                  <p:nvPr/>
                </p:nvSpPr>
                <p:spPr bwMode="auto">
                  <a:xfrm>
                    <a:off x="2735" y="1671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40"/>
                      <a:gd name="T2" fmla="*/ 0 w 21619"/>
                      <a:gd name="T3" fmla="*/ 0 h 21740"/>
                      <a:gd name="T4" fmla="*/ 0 w 21619"/>
                      <a:gd name="T5" fmla="*/ 0 h 21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40" fill="none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</a:path>
                      <a:path w="21619" h="21740" stroke="0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  <a:lnTo>
                          <a:pt x="19" y="14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9" name="Arc 153"/>
                  <p:cNvSpPr>
                    <a:spLocks/>
                  </p:cNvSpPr>
                  <p:nvPr/>
                </p:nvSpPr>
                <p:spPr bwMode="auto">
                  <a:xfrm>
                    <a:off x="2652" y="1718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</a:path>
                      <a:path w="21600" h="21910" stroke="0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  <a:lnTo>
                          <a:pt x="21600" y="310"/>
                        </a:lnTo>
                        <a:lnTo>
                          <a:pt x="21585" y="2190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65" name="Group 154"/>
                <p:cNvGrpSpPr>
                  <a:grpSpLocks/>
                </p:cNvGrpSpPr>
                <p:nvPr/>
              </p:nvGrpSpPr>
              <p:grpSpPr bwMode="auto">
                <a:xfrm>
                  <a:off x="2652" y="1688"/>
                  <a:ext cx="166" cy="77"/>
                  <a:chOff x="2652" y="1688"/>
                  <a:chExt cx="166" cy="77"/>
                </a:xfrm>
              </p:grpSpPr>
              <p:sp>
                <p:nvSpPr>
                  <p:cNvPr id="166" name="Arc 155"/>
                  <p:cNvSpPr>
                    <a:spLocks/>
                  </p:cNvSpPr>
                  <p:nvPr/>
                </p:nvSpPr>
                <p:spPr bwMode="auto">
                  <a:xfrm>
                    <a:off x="2735" y="1688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7" name="Arc 156"/>
                  <p:cNvSpPr>
                    <a:spLocks/>
                  </p:cNvSpPr>
                  <p:nvPr/>
                </p:nvSpPr>
                <p:spPr bwMode="auto">
                  <a:xfrm>
                    <a:off x="2652" y="1688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557"/>
                        </a:moveTo>
                        <a:cubicBezTo>
                          <a:pt x="23" y="9650"/>
                          <a:pt x="9677" y="8"/>
                          <a:pt x="21584" y="0"/>
                        </a:cubicBezTo>
                      </a:path>
                      <a:path w="21600" h="21600" stroke="0" extrusionOk="0">
                        <a:moveTo>
                          <a:pt x="0" y="21557"/>
                        </a:moveTo>
                        <a:cubicBezTo>
                          <a:pt x="23" y="9650"/>
                          <a:pt x="9677" y="8"/>
                          <a:pt x="21584" y="0"/>
                        </a:cubicBezTo>
                        <a:lnTo>
                          <a:pt x="21600" y="21600"/>
                        </a:lnTo>
                        <a:lnTo>
                          <a:pt x="0" y="21557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2" name="Group 157"/>
              <p:cNvGrpSpPr>
                <a:grpSpLocks/>
              </p:cNvGrpSpPr>
              <p:nvPr/>
            </p:nvGrpSpPr>
            <p:grpSpPr bwMode="auto">
              <a:xfrm>
                <a:off x="2652" y="1588"/>
                <a:ext cx="166" cy="95"/>
                <a:chOff x="2652" y="1588"/>
                <a:chExt cx="166" cy="95"/>
              </a:xfrm>
            </p:grpSpPr>
            <p:grpSp>
              <p:nvGrpSpPr>
                <p:cNvPr id="158" name="Group 158"/>
                <p:cNvGrpSpPr>
                  <a:grpSpLocks/>
                </p:cNvGrpSpPr>
                <p:nvPr/>
              </p:nvGrpSpPr>
              <p:grpSpPr bwMode="auto">
                <a:xfrm>
                  <a:off x="2652" y="1588"/>
                  <a:ext cx="166" cy="77"/>
                  <a:chOff x="2652" y="1588"/>
                  <a:chExt cx="166" cy="77"/>
                </a:xfrm>
              </p:grpSpPr>
              <p:sp>
                <p:nvSpPr>
                  <p:cNvPr id="162" name="Arc 159"/>
                  <p:cNvSpPr>
                    <a:spLocks/>
                  </p:cNvSpPr>
                  <p:nvPr/>
                </p:nvSpPr>
                <p:spPr bwMode="auto">
                  <a:xfrm>
                    <a:off x="2735" y="1588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20"/>
                      <a:gd name="T2" fmla="*/ 0 w 21619"/>
                      <a:gd name="T3" fmla="*/ 0 h 21720"/>
                      <a:gd name="T4" fmla="*/ 0 w 21619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20" fill="none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</a:path>
                      <a:path w="21619" h="21720" stroke="0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  <a:lnTo>
                          <a:pt x="19" y="12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3" name="Arc 160"/>
                  <p:cNvSpPr>
                    <a:spLocks/>
                  </p:cNvSpPr>
                  <p:nvPr/>
                </p:nvSpPr>
                <p:spPr bwMode="auto">
                  <a:xfrm>
                    <a:off x="2652" y="1635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5"/>
                      <a:gd name="T2" fmla="*/ 0 w 21600"/>
                      <a:gd name="T3" fmla="*/ 0 h 21915"/>
                      <a:gd name="T4" fmla="*/ 0 w 21600"/>
                      <a:gd name="T5" fmla="*/ 0 h 219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5" fill="none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</a:path>
                      <a:path w="21600" h="21915" stroke="0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  <a:lnTo>
                          <a:pt x="21600" y="315"/>
                        </a:lnTo>
                        <a:lnTo>
                          <a:pt x="21585" y="219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59" name="Group 161"/>
                <p:cNvGrpSpPr>
                  <a:grpSpLocks/>
                </p:cNvGrpSpPr>
                <p:nvPr/>
              </p:nvGrpSpPr>
              <p:grpSpPr bwMode="auto">
                <a:xfrm>
                  <a:off x="2652" y="1606"/>
                  <a:ext cx="166" cy="77"/>
                  <a:chOff x="2652" y="1606"/>
                  <a:chExt cx="166" cy="77"/>
                </a:xfrm>
              </p:grpSpPr>
              <p:sp>
                <p:nvSpPr>
                  <p:cNvPr id="160" name="Arc 162"/>
                  <p:cNvSpPr>
                    <a:spLocks/>
                  </p:cNvSpPr>
                  <p:nvPr/>
                </p:nvSpPr>
                <p:spPr bwMode="auto">
                  <a:xfrm>
                    <a:off x="2735" y="1606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1" name="Arc 163"/>
                  <p:cNvSpPr>
                    <a:spLocks/>
                  </p:cNvSpPr>
                  <p:nvPr/>
                </p:nvSpPr>
                <p:spPr bwMode="auto">
                  <a:xfrm>
                    <a:off x="2652" y="1606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3" name="Group 164"/>
              <p:cNvGrpSpPr>
                <a:grpSpLocks/>
              </p:cNvGrpSpPr>
              <p:nvPr/>
            </p:nvGrpSpPr>
            <p:grpSpPr bwMode="auto">
              <a:xfrm>
                <a:off x="2652" y="1506"/>
                <a:ext cx="166" cy="94"/>
                <a:chOff x="2652" y="1506"/>
                <a:chExt cx="166" cy="94"/>
              </a:xfrm>
            </p:grpSpPr>
            <p:grpSp>
              <p:nvGrpSpPr>
                <p:cNvPr id="152" name="Group 165"/>
                <p:cNvGrpSpPr>
                  <a:grpSpLocks/>
                </p:cNvGrpSpPr>
                <p:nvPr/>
              </p:nvGrpSpPr>
              <p:grpSpPr bwMode="auto">
                <a:xfrm>
                  <a:off x="2652" y="1506"/>
                  <a:ext cx="166" cy="77"/>
                  <a:chOff x="2652" y="1506"/>
                  <a:chExt cx="166" cy="77"/>
                </a:xfrm>
              </p:grpSpPr>
              <p:sp>
                <p:nvSpPr>
                  <p:cNvPr id="156" name="Arc 166"/>
                  <p:cNvSpPr>
                    <a:spLocks/>
                  </p:cNvSpPr>
                  <p:nvPr/>
                </p:nvSpPr>
                <p:spPr bwMode="auto">
                  <a:xfrm>
                    <a:off x="2735" y="1506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40"/>
                      <a:gd name="T2" fmla="*/ 0 w 21619"/>
                      <a:gd name="T3" fmla="*/ 0 h 21740"/>
                      <a:gd name="T4" fmla="*/ 0 w 21619"/>
                      <a:gd name="T5" fmla="*/ 0 h 21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40" fill="none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</a:path>
                      <a:path w="21619" h="21740" stroke="0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  <a:lnTo>
                          <a:pt x="19" y="14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" name="Arc 167"/>
                  <p:cNvSpPr>
                    <a:spLocks/>
                  </p:cNvSpPr>
                  <p:nvPr/>
                </p:nvSpPr>
                <p:spPr bwMode="auto">
                  <a:xfrm>
                    <a:off x="2652" y="1553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</a:path>
                      <a:path w="21600" h="21910" stroke="0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  <a:lnTo>
                          <a:pt x="21600" y="310"/>
                        </a:lnTo>
                        <a:lnTo>
                          <a:pt x="21585" y="2190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53" name="Group 168"/>
                <p:cNvGrpSpPr>
                  <a:grpSpLocks/>
                </p:cNvGrpSpPr>
                <p:nvPr/>
              </p:nvGrpSpPr>
              <p:grpSpPr bwMode="auto">
                <a:xfrm>
                  <a:off x="2653" y="1523"/>
                  <a:ext cx="165" cy="77"/>
                  <a:chOff x="2653" y="1523"/>
                  <a:chExt cx="165" cy="77"/>
                </a:xfrm>
              </p:grpSpPr>
              <p:sp>
                <p:nvSpPr>
                  <p:cNvPr id="154" name="Arc 169"/>
                  <p:cNvSpPr>
                    <a:spLocks/>
                  </p:cNvSpPr>
                  <p:nvPr/>
                </p:nvSpPr>
                <p:spPr bwMode="auto">
                  <a:xfrm>
                    <a:off x="2735" y="1523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5" name="Arc 170"/>
                  <p:cNvSpPr>
                    <a:spLocks/>
                  </p:cNvSpPr>
                  <p:nvPr/>
                </p:nvSpPr>
                <p:spPr bwMode="auto">
                  <a:xfrm>
                    <a:off x="2653" y="1523"/>
                    <a:ext cx="82" cy="30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0" y="21290"/>
                        </a:moveTo>
                        <a:cubicBezTo>
                          <a:pt x="169" y="9488"/>
                          <a:pt x="9780" y="8"/>
                          <a:pt x="21583" y="0"/>
                        </a:cubicBezTo>
                      </a:path>
                      <a:path w="21598" h="21600" stroke="0" extrusionOk="0">
                        <a:moveTo>
                          <a:pt x="0" y="21290"/>
                        </a:moveTo>
                        <a:cubicBezTo>
                          <a:pt x="169" y="9488"/>
                          <a:pt x="9780" y="8"/>
                          <a:pt x="21583" y="0"/>
                        </a:cubicBezTo>
                        <a:lnTo>
                          <a:pt x="21598" y="21600"/>
                        </a:lnTo>
                        <a:lnTo>
                          <a:pt x="0" y="2129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4" name="Group 171"/>
              <p:cNvGrpSpPr>
                <a:grpSpLocks/>
              </p:cNvGrpSpPr>
              <p:nvPr/>
            </p:nvGrpSpPr>
            <p:grpSpPr bwMode="auto">
              <a:xfrm>
                <a:off x="2652" y="1423"/>
                <a:ext cx="166" cy="95"/>
                <a:chOff x="2652" y="1423"/>
                <a:chExt cx="166" cy="95"/>
              </a:xfrm>
            </p:grpSpPr>
            <p:grpSp>
              <p:nvGrpSpPr>
                <p:cNvPr id="146" name="Group 172"/>
                <p:cNvGrpSpPr>
                  <a:grpSpLocks/>
                </p:cNvGrpSpPr>
                <p:nvPr/>
              </p:nvGrpSpPr>
              <p:grpSpPr bwMode="auto">
                <a:xfrm>
                  <a:off x="2652" y="1423"/>
                  <a:ext cx="166" cy="77"/>
                  <a:chOff x="2652" y="1423"/>
                  <a:chExt cx="166" cy="77"/>
                </a:xfrm>
              </p:grpSpPr>
              <p:sp>
                <p:nvSpPr>
                  <p:cNvPr id="150" name="Arc 173"/>
                  <p:cNvSpPr>
                    <a:spLocks/>
                  </p:cNvSpPr>
                  <p:nvPr/>
                </p:nvSpPr>
                <p:spPr bwMode="auto">
                  <a:xfrm>
                    <a:off x="2735" y="1423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20"/>
                      <a:gd name="T2" fmla="*/ 0 w 21619"/>
                      <a:gd name="T3" fmla="*/ 0 h 21720"/>
                      <a:gd name="T4" fmla="*/ 0 w 21619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20" fill="none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</a:path>
                      <a:path w="21619" h="21720" stroke="0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  <a:lnTo>
                          <a:pt x="19" y="12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1" name="Arc 174"/>
                  <p:cNvSpPr>
                    <a:spLocks/>
                  </p:cNvSpPr>
                  <p:nvPr/>
                </p:nvSpPr>
                <p:spPr bwMode="auto">
                  <a:xfrm>
                    <a:off x="2652" y="1464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584" y="21599"/>
                        </a:moveTo>
                        <a:cubicBezTo>
                          <a:pt x="9660" y="21591"/>
                          <a:pt x="0" y="11923"/>
                          <a:pt x="0" y="0"/>
                        </a:cubicBezTo>
                      </a:path>
                      <a:path w="21600" h="21600" stroke="0" extrusionOk="0">
                        <a:moveTo>
                          <a:pt x="21584" y="21599"/>
                        </a:moveTo>
                        <a:cubicBezTo>
                          <a:pt x="9660" y="21591"/>
                          <a:pt x="0" y="11923"/>
                          <a:pt x="0" y="0"/>
                        </a:cubicBezTo>
                        <a:lnTo>
                          <a:pt x="21600" y="0"/>
                        </a:lnTo>
                        <a:lnTo>
                          <a:pt x="21584" y="2159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47" name="Group 175"/>
                <p:cNvGrpSpPr>
                  <a:grpSpLocks/>
                </p:cNvGrpSpPr>
                <p:nvPr/>
              </p:nvGrpSpPr>
              <p:grpSpPr bwMode="auto">
                <a:xfrm>
                  <a:off x="2653" y="1441"/>
                  <a:ext cx="165" cy="77"/>
                  <a:chOff x="2653" y="1441"/>
                  <a:chExt cx="165" cy="77"/>
                </a:xfrm>
              </p:grpSpPr>
              <p:sp>
                <p:nvSpPr>
                  <p:cNvPr id="148" name="Arc 176"/>
                  <p:cNvSpPr>
                    <a:spLocks/>
                  </p:cNvSpPr>
                  <p:nvPr/>
                </p:nvSpPr>
                <p:spPr bwMode="auto">
                  <a:xfrm>
                    <a:off x="2735" y="1441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49" name="Arc 177"/>
                  <p:cNvSpPr>
                    <a:spLocks/>
                  </p:cNvSpPr>
                  <p:nvPr/>
                </p:nvSpPr>
                <p:spPr bwMode="auto">
                  <a:xfrm>
                    <a:off x="2653" y="1441"/>
                    <a:ext cx="82" cy="29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0" y="21285"/>
                        </a:moveTo>
                        <a:cubicBezTo>
                          <a:pt x="172" y="9485"/>
                          <a:pt x="9782" y="8"/>
                          <a:pt x="21583" y="0"/>
                        </a:cubicBezTo>
                      </a:path>
                      <a:path w="21598" h="21600" stroke="0" extrusionOk="0">
                        <a:moveTo>
                          <a:pt x="0" y="21285"/>
                        </a:moveTo>
                        <a:cubicBezTo>
                          <a:pt x="172" y="9485"/>
                          <a:pt x="9782" y="8"/>
                          <a:pt x="21583" y="0"/>
                        </a:cubicBezTo>
                        <a:lnTo>
                          <a:pt x="21598" y="21600"/>
                        </a:lnTo>
                        <a:lnTo>
                          <a:pt x="0" y="21285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5" name="Group 178"/>
              <p:cNvGrpSpPr>
                <a:grpSpLocks/>
              </p:cNvGrpSpPr>
              <p:nvPr/>
            </p:nvGrpSpPr>
            <p:grpSpPr bwMode="auto">
              <a:xfrm>
                <a:off x="2652" y="1341"/>
                <a:ext cx="166" cy="94"/>
                <a:chOff x="2652" y="1341"/>
                <a:chExt cx="166" cy="94"/>
              </a:xfrm>
            </p:grpSpPr>
            <p:grpSp>
              <p:nvGrpSpPr>
                <p:cNvPr id="140" name="Group 179"/>
                <p:cNvGrpSpPr>
                  <a:grpSpLocks/>
                </p:cNvGrpSpPr>
                <p:nvPr/>
              </p:nvGrpSpPr>
              <p:grpSpPr bwMode="auto">
                <a:xfrm>
                  <a:off x="2652" y="1341"/>
                  <a:ext cx="166" cy="77"/>
                  <a:chOff x="2652" y="1341"/>
                  <a:chExt cx="166" cy="77"/>
                </a:xfrm>
              </p:grpSpPr>
              <p:sp>
                <p:nvSpPr>
                  <p:cNvPr id="144" name="Arc 180"/>
                  <p:cNvSpPr>
                    <a:spLocks/>
                  </p:cNvSpPr>
                  <p:nvPr/>
                </p:nvSpPr>
                <p:spPr bwMode="auto">
                  <a:xfrm>
                    <a:off x="2735" y="1341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40"/>
                      <a:gd name="T2" fmla="*/ 0 w 21619"/>
                      <a:gd name="T3" fmla="*/ 0 h 21740"/>
                      <a:gd name="T4" fmla="*/ 0 w 21619"/>
                      <a:gd name="T5" fmla="*/ 0 h 21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40" fill="none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</a:path>
                      <a:path w="21619" h="21740" stroke="0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  <a:lnTo>
                          <a:pt x="19" y="14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45" name="Arc 181"/>
                  <p:cNvSpPr>
                    <a:spLocks/>
                  </p:cNvSpPr>
                  <p:nvPr/>
                </p:nvSpPr>
                <p:spPr bwMode="auto">
                  <a:xfrm>
                    <a:off x="2652" y="1382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43"/>
                      <a:gd name="T2" fmla="*/ 0 w 21600"/>
                      <a:gd name="T3" fmla="*/ 0 h 21643"/>
                      <a:gd name="T4" fmla="*/ 0 w 21600"/>
                      <a:gd name="T5" fmla="*/ 0 h 2164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3" fill="none" extrusionOk="0">
                        <a:moveTo>
                          <a:pt x="21584" y="21642"/>
                        </a:moveTo>
                        <a:cubicBezTo>
                          <a:pt x="9660" y="21634"/>
                          <a:pt x="0" y="11966"/>
                          <a:pt x="0" y="43"/>
                        </a:cubicBezTo>
                        <a:cubicBezTo>
                          <a:pt x="-1" y="28"/>
                          <a:pt x="0" y="14"/>
                          <a:pt x="0" y="0"/>
                        </a:cubicBezTo>
                      </a:path>
                      <a:path w="21600" h="21643" stroke="0" extrusionOk="0">
                        <a:moveTo>
                          <a:pt x="21584" y="21642"/>
                        </a:moveTo>
                        <a:cubicBezTo>
                          <a:pt x="9660" y="21634"/>
                          <a:pt x="0" y="11966"/>
                          <a:pt x="0" y="43"/>
                        </a:cubicBezTo>
                        <a:cubicBezTo>
                          <a:pt x="-1" y="28"/>
                          <a:pt x="0" y="14"/>
                          <a:pt x="0" y="0"/>
                        </a:cubicBezTo>
                        <a:lnTo>
                          <a:pt x="21600" y="43"/>
                        </a:lnTo>
                        <a:lnTo>
                          <a:pt x="21584" y="21642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41" name="Group 182"/>
                <p:cNvGrpSpPr>
                  <a:grpSpLocks/>
                </p:cNvGrpSpPr>
                <p:nvPr/>
              </p:nvGrpSpPr>
              <p:grpSpPr bwMode="auto">
                <a:xfrm>
                  <a:off x="2653" y="1358"/>
                  <a:ext cx="165" cy="77"/>
                  <a:chOff x="2653" y="1358"/>
                  <a:chExt cx="165" cy="77"/>
                </a:xfrm>
              </p:grpSpPr>
              <p:sp>
                <p:nvSpPr>
                  <p:cNvPr id="142" name="Arc 183"/>
                  <p:cNvSpPr>
                    <a:spLocks/>
                  </p:cNvSpPr>
                  <p:nvPr/>
                </p:nvSpPr>
                <p:spPr bwMode="auto">
                  <a:xfrm>
                    <a:off x="2735" y="1358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43" name="Arc 184"/>
                  <p:cNvSpPr>
                    <a:spLocks/>
                  </p:cNvSpPr>
                  <p:nvPr/>
                </p:nvSpPr>
                <p:spPr bwMode="auto">
                  <a:xfrm>
                    <a:off x="2653" y="1358"/>
                    <a:ext cx="82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0" y="21239"/>
                        </a:moveTo>
                        <a:cubicBezTo>
                          <a:pt x="196" y="9457"/>
                          <a:pt x="9799" y="8"/>
                          <a:pt x="21582" y="0"/>
                        </a:cubicBezTo>
                      </a:path>
                      <a:path w="21597" h="21600" stroke="0" extrusionOk="0">
                        <a:moveTo>
                          <a:pt x="0" y="21239"/>
                        </a:moveTo>
                        <a:cubicBezTo>
                          <a:pt x="196" y="9457"/>
                          <a:pt x="9799" y="8"/>
                          <a:pt x="21582" y="0"/>
                        </a:cubicBezTo>
                        <a:lnTo>
                          <a:pt x="21597" y="21600"/>
                        </a:lnTo>
                        <a:lnTo>
                          <a:pt x="0" y="212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36" name="Arc 185"/>
              <p:cNvSpPr>
                <a:spLocks/>
              </p:cNvSpPr>
              <p:nvPr/>
            </p:nvSpPr>
            <p:spPr bwMode="auto">
              <a:xfrm>
                <a:off x="2735" y="1275"/>
                <a:ext cx="83" cy="77"/>
              </a:xfrm>
              <a:custGeom>
                <a:avLst/>
                <a:gdLst>
                  <a:gd name="T0" fmla="*/ 0 w 21618"/>
                  <a:gd name="T1" fmla="*/ 0 h 21600"/>
                  <a:gd name="T2" fmla="*/ 0 w 21618"/>
                  <a:gd name="T3" fmla="*/ 0 h 21600"/>
                  <a:gd name="T4" fmla="*/ 0 w 21618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18" h="21600" fill="none" extrusionOk="0">
                    <a:moveTo>
                      <a:pt x="0" y="0"/>
                    </a:moveTo>
                    <a:cubicBezTo>
                      <a:pt x="6" y="0"/>
                      <a:pt x="12" y="-1"/>
                      <a:pt x="18" y="0"/>
                    </a:cubicBezTo>
                    <a:cubicBezTo>
                      <a:pt x="11900" y="0"/>
                      <a:pt x="21551" y="9597"/>
                      <a:pt x="21617" y="21480"/>
                    </a:cubicBezTo>
                  </a:path>
                  <a:path w="21618" h="21600" stroke="0" extrusionOk="0">
                    <a:moveTo>
                      <a:pt x="0" y="0"/>
                    </a:moveTo>
                    <a:cubicBezTo>
                      <a:pt x="6" y="0"/>
                      <a:pt x="12" y="-1"/>
                      <a:pt x="18" y="0"/>
                    </a:cubicBezTo>
                    <a:cubicBezTo>
                      <a:pt x="11900" y="0"/>
                      <a:pt x="21551" y="9597"/>
                      <a:pt x="21617" y="21480"/>
                    </a:cubicBezTo>
                    <a:lnTo>
                      <a:pt x="18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7" name="Arc 186"/>
              <p:cNvSpPr>
                <a:spLocks/>
              </p:cNvSpPr>
              <p:nvPr/>
            </p:nvSpPr>
            <p:spPr bwMode="auto">
              <a:xfrm>
                <a:off x="2735" y="1848"/>
                <a:ext cx="83" cy="77"/>
              </a:xfrm>
              <a:custGeom>
                <a:avLst/>
                <a:gdLst>
                  <a:gd name="T0" fmla="*/ 0 w 21619"/>
                  <a:gd name="T1" fmla="*/ 0 h 21740"/>
                  <a:gd name="T2" fmla="*/ 0 w 21619"/>
                  <a:gd name="T3" fmla="*/ 0 h 21740"/>
                  <a:gd name="T4" fmla="*/ 0 w 21619"/>
                  <a:gd name="T5" fmla="*/ 0 h 217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19" h="21740" fill="none" extrusionOk="0">
                    <a:moveTo>
                      <a:pt x="21618" y="0"/>
                    </a:moveTo>
                    <a:cubicBezTo>
                      <a:pt x="21618" y="46"/>
                      <a:pt x="21619" y="93"/>
                      <a:pt x="21619" y="140"/>
                    </a:cubicBezTo>
                    <a:cubicBezTo>
                      <a:pt x="21619" y="12069"/>
                      <a:pt x="11948" y="21740"/>
                      <a:pt x="19" y="21740"/>
                    </a:cubicBezTo>
                    <a:cubicBezTo>
                      <a:pt x="12" y="21740"/>
                      <a:pt x="6" y="21739"/>
                      <a:pt x="0" y="21739"/>
                    </a:cubicBezTo>
                  </a:path>
                  <a:path w="21619" h="21740" stroke="0" extrusionOk="0">
                    <a:moveTo>
                      <a:pt x="21618" y="0"/>
                    </a:moveTo>
                    <a:cubicBezTo>
                      <a:pt x="21618" y="46"/>
                      <a:pt x="21619" y="93"/>
                      <a:pt x="21619" y="140"/>
                    </a:cubicBezTo>
                    <a:cubicBezTo>
                      <a:pt x="21619" y="12069"/>
                      <a:pt x="11948" y="21740"/>
                      <a:pt x="19" y="21740"/>
                    </a:cubicBezTo>
                    <a:cubicBezTo>
                      <a:pt x="12" y="21740"/>
                      <a:pt x="6" y="21739"/>
                      <a:pt x="0" y="21739"/>
                    </a:cubicBezTo>
                    <a:lnTo>
                      <a:pt x="19" y="140"/>
                    </a:lnTo>
                    <a:lnTo>
                      <a:pt x="21618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8" name="Line 187"/>
              <p:cNvSpPr>
                <a:spLocks noChangeShapeType="1"/>
              </p:cNvSpPr>
              <p:nvPr/>
            </p:nvSpPr>
            <p:spPr bwMode="auto">
              <a:xfrm flipV="1">
                <a:off x="2734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9" name="Line 188"/>
              <p:cNvSpPr>
                <a:spLocks noChangeShapeType="1"/>
              </p:cNvSpPr>
              <p:nvPr/>
            </p:nvSpPr>
            <p:spPr bwMode="auto">
              <a:xfrm flipV="1">
                <a:off x="2734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2" name="Line 189"/>
            <p:cNvSpPr>
              <a:spLocks noChangeShapeType="1"/>
            </p:cNvSpPr>
            <p:nvPr/>
          </p:nvSpPr>
          <p:spPr bwMode="auto">
            <a:xfrm flipV="1">
              <a:off x="2045" y="1950"/>
              <a:ext cx="1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Line 190"/>
            <p:cNvSpPr>
              <a:spLocks noChangeShapeType="1"/>
            </p:cNvSpPr>
            <p:nvPr/>
          </p:nvSpPr>
          <p:spPr bwMode="auto">
            <a:xfrm flipV="1">
              <a:off x="2045" y="2753"/>
              <a:ext cx="1" cy="36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Oval 191"/>
            <p:cNvSpPr>
              <a:spLocks noChangeArrowheads="1"/>
            </p:cNvSpPr>
            <p:nvPr/>
          </p:nvSpPr>
          <p:spPr bwMode="auto">
            <a:xfrm>
              <a:off x="1886" y="2711"/>
              <a:ext cx="70" cy="59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192"/>
            <p:cNvSpPr>
              <a:spLocks noChangeArrowheads="1"/>
            </p:cNvSpPr>
            <p:nvPr/>
          </p:nvSpPr>
          <p:spPr bwMode="auto">
            <a:xfrm>
              <a:off x="1821" y="2162"/>
              <a:ext cx="9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" panose="02020603050405020304" pitchFamily="18" charset="0"/>
                </a:rPr>
                <a:t>n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193"/>
            <p:cNvSpPr>
              <a:spLocks noChangeArrowheads="1"/>
            </p:cNvSpPr>
            <p:nvPr/>
          </p:nvSpPr>
          <p:spPr bwMode="auto">
            <a:xfrm>
              <a:off x="1892" y="2245"/>
              <a:ext cx="70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latin typeface="Times" panose="02020603050405020304" pitchFamily="18" charset="0"/>
                </a:rPr>
                <a:t>3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47" name="Group 194"/>
            <p:cNvGrpSpPr>
              <a:grpSpLocks/>
            </p:cNvGrpSpPr>
            <p:nvPr/>
          </p:nvGrpSpPr>
          <p:grpSpPr bwMode="auto">
            <a:xfrm>
              <a:off x="1844" y="3142"/>
              <a:ext cx="402" cy="260"/>
              <a:chOff x="2533" y="2337"/>
              <a:chExt cx="402" cy="260"/>
            </a:xfrm>
          </p:grpSpPr>
          <p:sp>
            <p:nvSpPr>
              <p:cNvPr id="126" name="Line 195"/>
              <p:cNvSpPr>
                <a:spLocks noChangeShapeType="1"/>
              </p:cNvSpPr>
              <p:nvPr/>
            </p:nvSpPr>
            <p:spPr bwMode="auto">
              <a:xfrm flipH="1">
                <a:off x="2533" y="2337"/>
                <a:ext cx="402" cy="1"/>
              </a:xfrm>
              <a:prstGeom prst="line">
                <a:avLst/>
              </a:prstGeom>
              <a:noFill/>
              <a:ln w="746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7" name="Line 196"/>
              <p:cNvSpPr>
                <a:spLocks noChangeShapeType="1"/>
              </p:cNvSpPr>
              <p:nvPr/>
            </p:nvSpPr>
            <p:spPr bwMode="auto">
              <a:xfrm>
                <a:off x="2734" y="2337"/>
                <a:ext cx="201" cy="2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8" name="Line 197"/>
              <p:cNvSpPr>
                <a:spLocks noChangeShapeType="1"/>
              </p:cNvSpPr>
              <p:nvPr/>
            </p:nvSpPr>
            <p:spPr bwMode="auto">
              <a:xfrm flipH="1">
                <a:off x="2533" y="2596"/>
                <a:ext cx="402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9" name="Line 198"/>
              <p:cNvSpPr>
                <a:spLocks noChangeShapeType="1"/>
              </p:cNvSpPr>
              <p:nvPr/>
            </p:nvSpPr>
            <p:spPr bwMode="auto">
              <a:xfrm flipV="1">
                <a:off x="2533" y="2337"/>
                <a:ext cx="201" cy="2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8" name="Line 199"/>
            <p:cNvSpPr>
              <a:spLocks noChangeShapeType="1"/>
            </p:cNvSpPr>
            <p:nvPr/>
          </p:nvSpPr>
          <p:spPr bwMode="auto">
            <a:xfrm>
              <a:off x="640" y="3000"/>
              <a:ext cx="1" cy="74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Line 200"/>
            <p:cNvSpPr>
              <a:spLocks noChangeShapeType="1"/>
            </p:cNvSpPr>
            <p:nvPr/>
          </p:nvSpPr>
          <p:spPr bwMode="auto">
            <a:xfrm>
              <a:off x="652" y="3743"/>
              <a:ext cx="140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Line 201"/>
            <p:cNvSpPr>
              <a:spLocks noChangeShapeType="1"/>
            </p:cNvSpPr>
            <p:nvPr/>
          </p:nvSpPr>
          <p:spPr bwMode="auto">
            <a:xfrm>
              <a:off x="2045" y="3401"/>
              <a:ext cx="1" cy="34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202"/>
            <p:cNvSpPr>
              <a:spLocks noChangeShapeType="1"/>
            </p:cNvSpPr>
            <p:nvPr/>
          </p:nvSpPr>
          <p:spPr bwMode="auto">
            <a:xfrm>
              <a:off x="628" y="1939"/>
              <a:ext cx="1429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203"/>
            <p:cNvSpPr>
              <a:spLocks noChangeShapeType="1"/>
            </p:cNvSpPr>
            <p:nvPr/>
          </p:nvSpPr>
          <p:spPr bwMode="auto">
            <a:xfrm>
              <a:off x="2246" y="2068"/>
              <a:ext cx="1" cy="6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53" name="Group 204"/>
            <p:cNvGrpSpPr>
              <a:grpSpLocks/>
            </p:cNvGrpSpPr>
            <p:nvPr/>
          </p:nvGrpSpPr>
          <p:grpSpPr bwMode="auto">
            <a:xfrm>
              <a:off x="3249" y="2269"/>
              <a:ext cx="402" cy="272"/>
              <a:chOff x="3938" y="1464"/>
              <a:chExt cx="402" cy="272"/>
            </a:xfrm>
          </p:grpSpPr>
          <p:sp>
            <p:nvSpPr>
              <p:cNvPr id="122" name="Line 205"/>
              <p:cNvSpPr>
                <a:spLocks noChangeShapeType="1"/>
              </p:cNvSpPr>
              <p:nvPr/>
            </p:nvSpPr>
            <p:spPr bwMode="auto">
              <a:xfrm flipH="1">
                <a:off x="3938" y="1464"/>
                <a:ext cx="402" cy="1"/>
              </a:xfrm>
              <a:prstGeom prst="line">
                <a:avLst/>
              </a:prstGeom>
              <a:noFill/>
              <a:ln w="746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3" name="Line 206"/>
              <p:cNvSpPr>
                <a:spLocks noChangeShapeType="1"/>
              </p:cNvSpPr>
              <p:nvPr/>
            </p:nvSpPr>
            <p:spPr bwMode="auto">
              <a:xfrm>
                <a:off x="4139" y="1464"/>
                <a:ext cx="201" cy="2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4" name="Line 207"/>
              <p:cNvSpPr>
                <a:spLocks noChangeShapeType="1"/>
              </p:cNvSpPr>
              <p:nvPr/>
            </p:nvSpPr>
            <p:spPr bwMode="auto">
              <a:xfrm flipH="1">
                <a:off x="3938" y="1735"/>
                <a:ext cx="402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5" name="Line 208"/>
              <p:cNvSpPr>
                <a:spLocks noChangeShapeType="1"/>
              </p:cNvSpPr>
              <p:nvPr/>
            </p:nvSpPr>
            <p:spPr bwMode="auto">
              <a:xfrm flipV="1">
                <a:off x="3938" y="1464"/>
                <a:ext cx="201" cy="2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54" name="Line 209"/>
            <p:cNvSpPr>
              <a:spLocks noChangeShapeType="1"/>
            </p:cNvSpPr>
            <p:nvPr/>
          </p:nvSpPr>
          <p:spPr bwMode="auto">
            <a:xfrm>
              <a:off x="3450" y="2540"/>
              <a:ext cx="1" cy="33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210"/>
            <p:cNvSpPr>
              <a:spLocks noChangeShapeType="1"/>
            </p:cNvSpPr>
            <p:nvPr/>
          </p:nvSpPr>
          <p:spPr bwMode="auto">
            <a:xfrm>
              <a:off x="3450" y="1939"/>
              <a:ext cx="1" cy="33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Rectangle 211"/>
            <p:cNvSpPr>
              <a:spLocks noChangeArrowheads="1"/>
            </p:cNvSpPr>
            <p:nvPr/>
          </p:nvSpPr>
          <p:spPr bwMode="auto">
            <a:xfrm>
              <a:off x="2518" y="1619"/>
              <a:ext cx="16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100" b="1"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212"/>
            <p:cNvSpPr>
              <a:spLocks noChangeArrowheads="1"/>
            </p:cNvSpPr>
            <p:nvPr/>
          </p:nvSpPr>
          <p:spPr bwMode="auto">
            <a:xfrm>
              <a:off x="2658" y="1715"/>
              <a:ext cx="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500" b="1"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213"/>
            <p:cNvSpPr>
              <a:spLocks noChangeArrowheads="1"/>
            </p:cNvSpPr>
            <p:nvPr/>
          </p:nvSpPr>
          <p:spPr bwMode="auto">
            <a:xfrm>
              <a:off x="3072" y="2517"/>
              <a:ext cx="16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100" b="1"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214"/>
            <p:cNvSpPr>
              <a:spLocks noChangeArrowheads="1"/>
            </p:cNvSpPr>
            <p:nvPr/>
          </p:nvSpPr>
          <p:spPr bwMode="auto">
            <a:xfrm>
              <a:off x="3226" y="2611"/>
              <a:ext cx="81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500" b="1">
                  <a:latin typeface="Times" panose="02020603050405020304" pitchFamily="18" charset="0"/>
                </a:rPr>
                <a:t>2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215"/>
            <p:cNvSpPr>
              <a:spLocks noChangeArrowheads="1"/>
            </p:cNvSpPr>
            <p:nvPr/>
          </p:nvSpPr>
          <p:spPr bwMode="auto">
            <a:xfrm>
              <a:off x="2116" y="3425"/>
              <a:ext cx="16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100" b="1"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216"/>
            <p:cNvSpPr>
              <a:spLocks noChangeArrowheads="1"/>
            </p:cNvSpPr>
            <p:nvPr/>
          </p:nvSpPr>
          <p:spPr bwMode="auto">
            <a:xfrm>
              <a:off x="2293" y="3519"/>
              <a:ext cx="8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500" b="1">
                  <a:latin typeface="Times" panose="02020603050405020304" pitchFamily="18" charset="0"/>
                </a:rPr>
                <a:t>3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2" name="Line 217"/>
            <p:cNvSpPr>
              <a:spLocks noChangeShapeType="1"/>
            </p:cNvSpPr>
            <p:nvPr/>
          </p:nvSpPr>
          <p:spPr bwMode="auto">
            <a:xfrm>
              <a:off x="1574" y="1998"/>
              <a:ext cx="0" cy="1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Line 218"/>
            <p:cNvSpPr>
              <a:spLocks noChangeShapeType="1"/>
            </p:cNvSpPr>
            <p:nvPr/>
          </p:nvSpPr>
          <p:spPr bwMode="auto">
            <a:xfrm flipV="1">
              <a:off x="2043" y="2869"/>
              <a:ext cx="0" cy="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64" name="Group 219"/>
            <p:cNvGrpSpPr>
              <a:grpSpLocks/>
            </p:cNvGrpSpPr>
            <p:nvPr/>
          </p:nvGrpSpPr>
          <p:grpSpPr bwMode="auto">
            <a:xfrm rot="-5400000">
              <a:off x="3975" y="1542"/>
              <a:ext cx="178" cy="779"/>
              <a:chOff x="2179" y="1204"/>
              <a:chExt cx="178" cy="779"/>
            </a:xfrm>
          </p:grpSpPr>
          <p:grpSp>
            <p:nvGrpSpPr>
              <p:cNvPr id="76" name="Group 220"/>
              <p:cNvGrpSpPr>
                <a:grpSpLocks/>
              </p:cNvGrpSpPr>
              <p:nvPr/>
            </p:nvGrpSpPr>
            <p:grpSpPr bwMode="auto">
              <a:xfrm>
                <a:off x="2179" y="1753"/>
                <a:ext cx="178" cy="95"/>
                <a:chOff x="2179" y="1753"/>
                <a:chExt cx="178" cy="95"/>
              </a:xfrm>
            </p:grpSpPr>
            <p:grpSp>
              <p:nvGrpSpPr>
                <p:cNvPr id="116" name="Group 221"/>
                <p:cNvGrpSpPr>
                  <a:grpSpLocks/>
                </p:cNvGrpSpPr>
                <p:nvPr/>
              </p:nvGrpSpPr>
              <p:grpSpPr bwMode="auto">
                <a:xfrm>
                  <a:off x="2179" y="1753"/>
                  <a:ext cx="178" cy="77"/>
                  <a:chOff x="2179" y="1753"/>
                  <a:chExt cx="178" cy="77"/>
                </a:xfrm>
              </p:grpSpPr>
              <p:sp>
                <p:nvSpPr>
                  <p:cNvPr id="120" name="Arc 222"/>
                  <p:cNvSpPr>
                    <a:spLocks/>
                  </p:cNvSpPr>
                  <p:nvPr/>
                </p:nvSpPr>
                <p:spPr bwMode="auto">
                  <a:xfrm>
                    <a:off x="2268" y="175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21" name="Arc 223"/>
                  <p:cNvSpPr>
                    <a:spLocks/>
                  </p:cNvSpPr>
                  <p:nvPr/>
                </p:nvSpPr>
                <p:spPr bwMode="auto">
                  <a:xfrm>
                    <a:off x="2179" y="1800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17" name="Group 224"/>
                <p:cNvGrpSpPr>
                  <a:grpSpLocks/>
                </p:cNvGrpSpPr>
                <p:nvPr/>
              </p:nvGrpSpPr>
              <p:grpSpPr bwMode="auto">
                <a:xfrm>
                  <a:off x="2179" y="1771"/>
                  <a:ext cx="178" cy="77"/>
                  <a:chOff x="2179" y="1771"/>
                  <a:chExt cx="178" cy="77"/>
                </a:xfrm>
              </p:grpSpPr>
              <p:sp>
                <p:nvSpPr>
                  <p:cNvPr id="118" name="Arc 225"/>
                  <p:cNvSpPr>
                    <a:spLocks/>
                  </p:cNvSpPr>
                  <p:nvPr/>
                </p:nvSpPr>
                <p:spPr bwMode="auto">
                  <a:xfrm>
                    <a:off x="2268" y="177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19" name="Arc 226"/>
                  <p:cNvSpPr>
                    <a:spLocks/>
                  </p:cNvSpPr>
                  <p:nvPr/>
                </p:nvSpPr>
                <p:spPr bwMode="auto">
                  <a:xfrm>
                    <a:off x="2179" y="1771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77" name="Group 227"/>
              <p:cNvGrpSpPr>
                <a:grpSpLocks/>
              </p:cNvGrpSpPr>
              <p:nvPr/>
            </p:nvGrpSpPr>
            <p:grpSpPr bwMode="auto">
              <a:xfrm>
                <a:off x="2179" y="1670"/>
                <a:ext cx="178" cy="95"/>
                <a:chOff x="2179" y="1670"/>
                <a:chExt cx="178" cy="95"/>
              </a:xfrm>
            </p:grpSpPr>
            <p:grpSp>
              <p:nvGrpSpPr>
                <p:cNvPr id="110" name="Group 228"/>
                <p:cNvGrpSpPr>
                  <a:grpSpLocks/>
                </p:cNvGrpSpPr>
                <p:nvPr/>
              </p:nvGrpSpPr>
              <p:grpSpPr bwMode="auto">
                <a:xfrm>
                  <a:off x="2179" y="1670"/>
                  <a:ext cx="178" cy="78"/>
                  <a:chOff x="2179" y="1670"/>
                  <a:chExt cx="178" cy="78"/>
                </a:xfrm>
              </p:grpSpPr>
              <p:sp>
                <p:nvSpPr>
                  <p:cNvPr id="114" name="Arc 229"/>
                  <p:cNvSpPr>
                    <a:spLocks/>
                  </p:cNvSpPr>
                  <p:nvPr/>
                </p:nvSpPr>
                <p:spPr bwMode="auto">
                  <a:xfrm>
                    <a:off x="2268" y="167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15" name="Arc 230"/>
                  <p:cNvSpPr>
                    <a:spLocks/>
                  </p:cNvSpPr>
                  <p:nvPr/>
                </p:nvSpPr>
                <p:spPr bwMode="auto">
                  <a:xfrm>
                    <a:off x="2179" y="1718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11" name="Group 231"/>
                <p:cNvGrpSpPr>
                  <a:grpSpLocks/>
                </p:cNvGrpSpPr>
                <p:nvPr/>
              </p:nvGrpSpPr>
              <p:grpSpPr bwMode="auto">
                <a:xfrm>
                  <a:off x="2179" y="1688"/>
                  <a:ext cx="178" cy="77"/>
                  <a:chOff x="2179" y="1688"/>
                  <a:chExt cx="178" cy="77"/>
                </a:xfrm>
              </p:grpSpPr>
              <p:sp>
                <p:nvSpPr>
                  <p:cNvPr id="112" name="Arc 232"/>
                  <p:cNvSpPr>
                    <a:spLocks/>
                  </p:cNvSpPr>
                  <p:nvPr/>
                </p:nvSpPr>
                <p:spPr bwMode="auto">
                  <a:xfrm>
                    <a:off x="2268" y="168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13" name="Arc 233"/>
                  <p:cNvSpPr>
                    <a:spLocks/>
                  </p:cNvSpPr>
                  <p:nvPr/>
                </p:nvSpPr>
                <p:spPr bwMode="auto">
                  <a:xfrm>
                    <a:off x="2179" y="1688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</a:path>
                      <a:path w="21600" h="21600" stroke="0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  <a:lnTo>
                          <a:pt x="21600" y="21600"/>
                        </a:lnTo>
                        <a:lnTo>
                          <a:pt x="0" y="2155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78" name="Group 234"/>
              <p:cNvGrpSpPr>
                <a:grpSpLocks/>
              </p:cNvGrpSpPr>
              <p:nvPr/>
            </p:nvGrpSpPr>
            <p:grpSpPr bwMode="auto">
              <a:xfrm>
                <a:off x="2179" y="1588"/>
                <a:ext cx="178" cy="95"/>
                <a:chOff x="2179" y="1588"/>
                <a:chExt cx="178" cy="95"/>
              </a:xfrm>
            </p:grpSpPr>
            <p:grpSp>
              <p:nvGrpSpPr>
                <p:cNvPr id="104" name="Group 235"/>
                <p:cNvGrpSpPr>
                  <a:grpSpLocks/>
                </p:cNvGrpSpPr>
                <p:nvPr/>
              </p:nvGrpSpPr>
              <p:grpSpPr bwMode="auto">
                <a:xfrm>
                  <a:off x="2179" y="1588"/>
                  <a:ext cx="178" cy="77"/>
                  <a:chOff x="2179" y="1588"/>
                  <a:chExt cx="178" cy="77"/>
                </a:xfrm>
              </p:grpSpPr>
              <p:sp>
                <p:nvSpPr>
                  <p:cNvPr id="108" name="Arc 236"/>
                  <p:cNvSpPr>
                    <a:spLocks/>
                  </p:cNvSpPr>
                  <p:nvPr/>
                </p:nvSpPr>
                <p:spPr bwMode="auto">
                  <a:xfrm>
                    <a:off x="2268" y="1588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9" name="Arc 237"/>
                  <p:cNvSpPr>
                    <a:spLocks/>
                  </p:cNvSpPr>
                  <p:nvPr/>
                </p:nvSpPr>
                <p:spPr bwMode="auto">
                  <a:xfrm>
                    <a:off x="2179" y="1635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05" name="Group 238"/>
                <p:cNvGrpSpPr>
                  <a:grpSpLocks/>
                </p:cNvGrpSpPr>
                <p:nvPr/>
              </p:nvGrpSpPr>
              <p:grpSpPr bwMode="auto">
                <a:xfrm>
                  <a:off x="2179" y="1606"/>
                  <a:ext cx="178" cy="77"/>
                  <a:chOff x="2179" y="1606"/>
                  <a:chExt cx="178" cy="77"/>
                </a:xfrm>
              </p:grpSpPr>
              <p:sp>
                <p:nvSpPr>
                  <p:cNvPr id="106" name="Arc 239"/>
                  <p:cNvSpPr>
                    <a:spLocks/>
                  </p:cNvSpPr>
                  <p:nvPr/>
                </p:nvSpPr>
                <p:spPr bwMode="auto">
                  <a:xfrm>
                    <a:off x="2268" y="1606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7" name="Arc 240"/>
                  <p:cNvSpPr>
                    <a:spLocks/>
                  </p:cNvSpPr>
                  <p:nvPr/>
                </p:nvSpPr>
                <p:spPr bwMode="auto">
                  <a:xfrm>
                    <a:off x="2179" y="1606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79" name="Group 241"/>
              <p:cNvGrpSpPr>
                <a:grpSpLocks/>
              </p:cNvGrpSpPr>
              <p:nvPr/>
            </p:nvGrpSpPr>
            <p:grpSpPr bwMode="auto">
              <a:xfrm>
                <a:off x="2179" y="1505"/>
                <a:ext cx="178" cy="95"/>
                <a:chOff x="2179" y="1505"/>
                <a:chExt cx="178" cy="95"/>
              </a:xfrm>
            </p:grpSpPr>
            <p:grpSp>
              <p:nvGrpSpPr>
                <p:cNvPr id="98" name="Group 242"/>
                <p:cNvGrpSpPr>
                  <a:grpSpLocks/>
                </p:cNvGrpSpPr>
                <p:nvPr/>
              </p:nvGrpSpPr>
              <p:grpSpPr bwMode="auto">
                <a:xfrm>
                  <a:off x="2179" y="1505"/>
                  <a:ext cx="178" cy="78"/>
                  <a:chOff x="2179" y="1505"/>
                  <a:chExt cx="178" cy="78"/>
                </a:xfrm>
              </p:grpSpPr>
              <p:sp>
                <p:nvSpPr>
                  <p:cNvPr id="102" name="Arc 243"/>
                  <p:cNvSpPr>
                    <a:spLocks/>
                  </p:cNvSpPr>
                  <p:nvPr/>
                </p:nvSpPr>
                <p:spPr bwMode="auto">
                  <a:xfrm>
                    <a:off x="2268" y="1505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3" name="Arc 244"/>
                  <p:cNvSpPr>
                    <a:spLocks/>
                  </p:cNvSpPr>
                  <p:nvPr/>
                </p:nvSpPr>
                <p:spPr bwMode="auto">
                  <a:xfrm>
                    <a:off x="2179" y="1553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99" name="Group 245"/>
                <p:cNvGrpSpPr>
                  <a:grpSpLocks/>
                </p:cNvGrpSpPr>
                <p:nvPr/>
              </p:nvGrpSpPr>
              <p:grpSpPr bwMode="auto">
                <a:xfrm>
                  <a:off x="2180" y="1523"/>
                  <a:ext cx="177" cy="77"/>
                  <a:chOff x="2180" y="1523"/>
                  <a:chExt cx="177" cy="77"/>
                </a:xfrm>
              </p:grpSpPr>
              <p:sp>
                <p:nvSpPr>
                  <p:cNvPr id="100" name="Arc 246"/>
                  <p:cNvSpPr>
                    <a:spLocks/>
                  </p:cNvSpPr>
                  <p:nvPr/>
                </p:nvSpPr>
                <p:spPr bwMode="auto">
                  <a:xfrm>
                    <a:off x="2268" y="1523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1" name="Arc 247"/>
                  <p:cNvSpPr>
                    <a:spLocks/>
                  </p:cNvSpPr>
                  <p:nvPr/>
                </p:nvSpPr>
                <p:spPr bwMode="auto">
                  <a:xfrm>
                    <a:off x="2180" y="1523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-1" y="21268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80" name="Group 248"/>
              <p:cNvGrpSpPr>
                <a:grpSpLocks/>
              </p:cNvGrpSpPr>
              <p:nvPr/>
            </p:nvGrpSpPr>
            <p:grpSpPr bwMode="auto">
              <a:xfrm>
                <a:off x="2179" y="1423"/>
                <a:ext cx="178" cy="95"/>
                <a:chOff x="2179" y="1423"/>
                <a:chExt cx="178" cy="95"/>
              </a:xfrm>
            </p:grpSpPr>
            <p:grpSp>
              <p:nvGrpSpPr>
                <p:cNvPr id="92" name="Group 249"/>
                <p:cNvGrpSpPr>
                  <a:grpSpLocks/>
                </p:cNvGrpSpPr>
                <p:nvPr/>
              </p:nvGrpSpPr>
              <p:grpSpPr bwMode="auto">
                <a:xfrm>
                  <a:off x="2179" y="1423"/>
                  <a:ext cx="178" cy="77"/>
                  <a:chOff x="2179" y="1423"/>
                  <a:chExt cx="178" cy="77"/>
                </a:xfrm>
              </p:grpSpPr>
              <p:sp>
                <p:nvSpPr>
                  <p:cNvPr id="96" name="Arc 250"/>
                  <p:cNvSpPr>
                    <a:spLocks/>
                  </p:cNvSpPr>
                  <p:nvPr/>
                </p:nvSpPr>
                <p:spPr bwMode="auto">
                  <a:xfrm>
                    <a:off x="2268" y="142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7" name="Arc 251"/>
                  <p:cNvSpPr>
                    <a:spLocks/>
                  </p:cNvSpPr>
                  <p:nvPr/>
                </p:nvSpPr>
                <p:spPr bwMode="auto">
                  <a:xfrm>
                    <a:off x="2179" y="1464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</a:path>
                      <a:path w="21600" h="21600" stroke="0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  <a:lnTo>
                          <a:pt x="21600" y="0"/>
                        </a:lnTo>
                        <a:lnTo>
                          <a:pt x="21506" y="2159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93" name="Group 252"/>
                <p:cNvGrpSpPr>
                  <a:grpSpLocks/>
                </p:cNvGrpSpPr>
                <p:nvPr/>
              </p:nvGrpSpPr>
              <p:grpSpPr bwMode="auto">
                <a:xfrm>
                  <a:off x="2180" y="1441"/>
                  <a:ext cx="177" cy="77"/>
                  <a:chOff x="2180" y="1441"/>
                  <a:chExt cx="177" cy="77"/>
                </a:xfrm>
              </p:grpSpPr>
              <p:sp>
                <p:nvSpPr>
                  <p:cNvPr id="94" name="Arc 253"/>
                  <p:cNvSpPr>
                    <a:spLocks/>
                  </p:cNvSpPr>
                  <p:nvPr/>
                </p:nvSpPr>
                <p:spPr bwMode="auto">
                  <a:xfrm>
                    <a:off x="2268" y="144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5" name="Arc 254"/>
                  <p:cNvSpPr>
                    <a:spLocks/>
                  </p:cNvSpPr>
                  <p:nvPr/>
                </p:nvSpPr>
                <p:spPr bwMode="auto">
                  <a:xfrm>
                    <a:off x="2180" y="1441"/>
                    <a:ext cx="88" cy="29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</a:path>
                      <a:path w="21597" h="21600" stroke="0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  <a:lnTo>
                          <a:pt x="21597" y="21600"/>
                        </a:lnTo>
                        <a:lnTo>
                          <a:pt x="-1" y="21262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81" name="Group 255"/>
              <p:cNvGrpSpPr>
                <a:grpSpLocks/>
              </p:cNvGrpSpPr>
              <p:nvPr/>
            </p:nvGrpSpPr>
            <p:grpSpPr bwMode="auto">
              <a:xfrm>
                <a:off x="2179" y="1340"/>
                <a:ext cx="178" cy="95"/>
                <a:chOff x="2179" y="1340"/>
                <a:chExt cx="178" cy="95"/>
              </a:xfrm>
            </p:grpSpPr>
            <p:grpSp>
              <p:nvGrpSpPr>
                <p:cNvPr id="86" name="Group 256"/>
                <p:cNvGrpSpPr>
                  <a:grpSpLocks/>
                </p:cNvGrpSpPr>
                <p:nvPr/>
              </p:nvGrpSpPr>
              <p:grpSpPr bwMode="auto">
                <a:xfrm>
                  <a:off x="2179" y="1340"/>
                  <a:ext cx="178" cy="78"/>
                  <a:chOff x="2179" y="1340"/>
                  <a:chExt cx="178" cy="78"/>
                </a:xfrm>
              </p:grpSpPr>
              <p:sp>
                <p:nvSpPr>
                  <p:cNvPr id="90" name="Arc 257"/>
                  <p:cNvSpPr>
                    <a:spLocks/>
                  </p:cNvSpPr>
                  <p:nvPr/>
                </p:nvSpPr>
                <p:spPr bwMode="auto">
                  <a:xfrm>
                    <a:off x="2268" y="134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1" name="Arc 258"/>
                  <p:cNvSpPr>
                    <a:spLocks/>
                  </p:cNvSpPr>
                  <p:nvPr/>
                </p:nvSpPr>
                <p:spPr bwMode="auto">
                  <a:xfrm>
                    <a:off x="2179" y="1382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46"/>
                      <a:gd name="T2" fmla="*/ 0 w 21600"/>
                      <a:gd name="T3" fmla="*/ 0 h 21646"/>
                      <a:gd name="T4" fmla="*/ 0 w 21600"/>
                      <a:gd name="T5" fmla="*/ 0 h 2164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6" fill="none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</a:path>
                      <a:path w="21600" h="21646" stroke="0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  <a:lnTo>
                          <a:pt x="21600" y="46"/>
                        </a:lnTo>
                        <a:lnTo>
                          <a:pt x="21504" y="21645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87" name="Group 259"/>
                <p:cNvGrpSpPr>
                  <a:grpSpLocks/>
                </p:cNvGrpSpPr>
                <p:nvPr/>
              </p:nvGrpSpPr>
              <p:grpSpPr bwMode="auto">
                <a:xfrm>
                  <a:off x="2180" y="1358"/>
                  <a:ext cx="177" cy="77"/>
                  <a:chOff x="2180" y="1358"/>
                  <a:chExt cx="177" cy="77"/>
                </a:xfrm>
              </p:grpSpPr>
              <p:sp>
                <p:nvSpPr>
                  <p:cNvPr id="88" name="Arc 260"/>
                  <p:cNvSpPr>
                    <a:spLocks/>
                  </p:cNvSpPr>
                  <p:nvPr/>
                </p:nvSpPr>
                <p:spPr bwMode="auto">
                  <a:xfrm>
                    <a:off x="2268" y="135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89" name="Arc 261"/>
                  <p:cNvSpPr>
                    <a:spLocks/>
                  </p:cNvSpPr>
                  <p:nvPr/>
                </p:nvSpPr>
                <p:spPr bwMode="auto">
                  <a:xfrm>
                    <a:off x="2180" y="1358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0" y="212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82" name="Arc 262"/>
              <p:cNvSpPr>
                <a:spLocks/>
              </p:cNvSpPr>
              <p:nvPr/>
            </p:nvSpPr>
            <p:spPr bwMode="auto">
              <a:xfrm>
                <a:off x="2268" y="1275"/>
                <a:ext cx="89" cy="77"/>
              </a:xfrm>
              <a:custGeom>
                <a:avLst/>
                <a:gdLst>
                  <a:gd name="T0" fmla="*/ 0 w 21707"/>
                  <a:gd name="T1" fmla="*/ 0 h 21600"/>
                  <a:gd name="T2" fmla="*/ 0 w 21707"/>
                  <a:gd name="T3" fmla="*/ 0 h 21600"/>
                  <a:gd name="T4" fmla="*/ 0 w 2170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07" h="21600" fill="none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</a:path>
                  <a:path w="21707" h="21600" stroke="0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  <a:lnTo>
                      <a:pt x="107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3" name="Arc 263"/>
              <p:cNvSpPr>
                <a:spLocks/>
              </p:cNvSpPr>
              <p:nvPr/>
            </p:nvSpPr>
            <p:spPr bwMode="auto">
              <a:xfrm>
                <a:off x="2268" y="1847"/>
                <a:ext cx="89" cy="77"/>
              </a:xfrm>
              <a:custGeom>
                <a:avLst/>
                <a:gdLst>
                  <a:gd name="T0" fmla="*/ 0 w 21710"/>
                  <a:gd name="T1" fmla="*/ 0 h 21750"/>
                  <a:gd name="T2" fmla="*/ 0 w 21710"/>
                  <a:gd name="T3" fmla="*/ 0 h 21750"/>
                  <a:gd name="T4" fmla="*/ 0 w 21710"/>
                  <a:gd name="T5" fmla="*/ 0 h 217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10" h="21750" fill="none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</a:path>
                  <a:path w="21710" h="21750" stroke="0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  <a:lnTo>
                      <a:pt x="110" y="150"/>
                    </a:lnTo>
                    <a:lnTo>
                      <a:pt x="21709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4" name="Line 264"/>
              <p:cNvSpPr>
                <a:spLocks noChangeShapeType="1"/>
              </p:cNvSpPr>
              <p:nvPr/>
            </p:nvSpPr>
            <p:spPr bwMode="auto">
              <a:xfrm flipV="1">
                <a:off x="2262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5" name="Line 265"/>
              <p:cNvSpPr>
                <a:spLocks noChangeShapeType="1"/>
              </p:cNvSpPr>
              <p:nvPr/>
            </p:nvSpPr>
            <p:spPr bwMode="auto">
              <a:xfrm flipV="1">
                <a:off x="2262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65" name="Line 266"/>
            <p:cNvSpPr>
              <a:spLocks noChangeShapeType="1"/>
            </p:cNvSpPr>
            <p:nvPr/>
          </p:nvSpPr>
          <p:spPr bwMode="auto">
            <a:xfrm>
              <a:off x="4399" y="1934"/>
              <a:ext cx="232" cy="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Line 267"/>
            <p:cNvSpPr>
              <a:spLocks noChangeShapeType="1"/>
            </p:cNvSpPr>
            <p:nvPr/>
          </p:nvSpPr>
          <p:spPr bwMode="auto">
            <a:xfrm flipV="1">
              <a:off x="2644" y="1940"/>
              <a:ext cx="23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Line 268"/>
            <p:cNvSpPr>
              <a:spLocks noChangeShapeType="1"/>
            </p:cNvSpPr>
            <p:nvPr/>
          </p:nvSpPr>
          <p:spPr bwMode="auto">
            <a:xfrm flipV="1">
              <a:off x="3413" y="1941"/>
              <a:ext cx="23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8" name="Text Box 269"/>
            <p:cNvSpPr txBox="1">
              <a:spLocks noChangeArrowheads="1"/>
            </p:cNvSpPr>
            <p:nvPr/>
          </p:nvSpPr>
          <p:spPr bwMode="auto">
            <a:xfrm>
              <a:off x="1335" y="1960"/>
              <a:ext cx="284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9" name="Text Box 270"/>
            <p:cNvSpPr txBox="1">
              <a:spLocks noChangeArrowheads="1"/>
            </p:cNvSpPr>
            <p:nvPr/>
          </p:nvSpPr>
          <p:spPr bwMode="auto">
            <a:xfrm>
              <a:off x="2110" y="2801"/>
              <a:ext cx="284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 dirty="0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0" name="Text Box 271"/>
            <p:cNvSpPr txBox="1">
              <a:spLocks noChangeArrowheads="1"/>
            </p:cNvSpPr>
            <p:nvPr/>
          </p:nvSpPr>
          <p:spPr bwMode="auto">
            <a:xfrm>
              <a:off x="2759" y="1590"/>
              <a:ext cx="284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1" name="Text Box 272"/>
            <p:cNvSpPr txBox="1">
              <a:spLocks noChangeArrowheads="1"/>
            </p:cNvSpPr>
            <p:nvPr/>
          </p:nvSpPr>
          <p:spPr bwMode="auto">
            <a:xfrm>
              <a:off x="3522" y="1597"/>
              <a:ext cx="307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72" name="Group 273"/>
            <p:cNvGrpSpPr>
              <a:grpSpLocks/>
            </p:cNvGrpSpPr>
            <p:nvPr/>
          </p:nvGrpSpPr>
          <p:grpSpPr bwMode="auto">
            <a:xfrm>
              <a:off x="2736" y="2023"/>
              <a:ext cx="82" cy="802"/>
              <a:chOff x="4576" y="1193"/>
              <a:chExt cx="82" cy="802"/>
            </a:xfrm>
          </p:grpSpPr>
          <p:sp>
            <p:nvSpPr>
              <p:cNvPr id="74" name="Freeform 274"/>
              <p:cNvSpPr>
                <a:spLocks/>
              </p:cNvSpPr>
              <p:nvPr/>
            </p:nvSpPr>
            <p:spPr bwMode="auto">
              <a:xfrm>
                <a:off x="4576" y="1193"/>
                <a:ext cx="82" cy="165"/>
              </a:xfrm>
              <a:custGeom>
                <a:avLst/>
                <a:gdLst>
                  <a:gd name="T0" fmla="*/ 47 w 82"/>
                  <a:gd name="T1" fmla="*/ 0 h 165"/>
                  <a:gd name="T2" fmla="*/ 82 w 82"/>
                  <a:gd name="T3" fmla="*/ 165 h 165"/>
                  <a:gd name="T4" fmla="*/ 47 w 82"/>
                  <a:gd name="T5" fmla="*/ 165 h 165"/>
                  <a:gd name="T6" fmla="*/ 0 w 82"/>
                  <a:gd name="T7" fmla="*/ 165 h 165"/>
                  <a:gd name="T8" fmla="*/ 47 w 82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165">
                    <a:moveTo>
                      <a:pt x="47" y="0"/>
                    </a:moveTo>
                    <a:lnTo>
                      <a:pt x="82" y="165"/>
                    </a:lnTo>
                    <a:lnTo>
                      <a:pt x="47" y="165"/>
                    </a:lnTo>
                    <a:lnTo>
                      <a:pt x="0" y="165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5" name="Line 275"/>
              <p:cNvSpPr>
                <a:spLocks noChangeShapeType="1"/>
              </p:cNvSpPr>
              <p:nvPr/>
            </p:nvSpPr>
            <p:spPr bwMode="auto">
              <a:xfrm>
                <a:off x="4623" y="1358"/>
                <a:ext cx="1" cy="63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73" name="Text Box 276"/>
            <p:cNvSpPr txBox="1">
              <a:spLocks noChangeArrowheads="1"/>
            </p:cNvSpPr>
            <p:nvPr/>
          </p:nvSpPr>
          <p:spPr bwMode="auto">
            <a:xfrm>
              <a:off x="2803" y="2289"/>
              <a:ext cx="332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v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282" name="Text Box 277"/>
          <p:cNvSpPr txBox="1">
            <a:spLocks noChangeArrowheads="1"/>
          </p:cNvSpPr>
          <p:nvPr/>
        </p:nvSpPr>
        <p:spPr bwMode="auto">
          <a:xfrm>
            <a:off x="8842375" y="2029086"/>
            <a:ext cx="20796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>
                <a:latin typeface="Times New Roman" panose="02020603050405020304" pitchFamily="18" charset="0"/>
              </a:rPr>
              <a:t>T</a:t>
            </a:r>
            <a:r>
              <a:rPr lang="en-CA" altLang="fr-FR" sz="1800" b="1" i="1" baseline="-25000">
                <a:latin typeface="Times New Roman" panose="02020603050405020304" pitchFamily="18" charset="0"/>
              </a:rPr>
              <a:t>p</a:t>
            </a:r>
            <a:r>
              <a:rPr lang="en-CA" altLang="fr-FR" sz="1800" b="1" i="1">
                <a:latin typeface="Times New Roman" panose="02020603050405020304" pitchFamily="18" charset="0"/>
              </a:rPr>
              <a:t> opened =&gt;  i</a:t>
            </a:r>
            <a:r>
              <a:rPr lang="en-CA" altLang="fr-FR" sz="1800" b="1" i="1" baseline="-25000">
                <a:latin typeface="Times New Roman" panose="02020603050405020304" pitchFamily="18" charset="0"/>
              </a:rPr>
              <a:t>1</a:t>
            </a:r>
            <a:r>
              <a:rPr lang="en-CA" altLang="fr-FR" sz="1800" b="1" i="1">
                <a:latin typeface="Times New Roman" panose="02020603050405020304" pitchFamily="18" charset="0"/>
              </a:rPr>
              <a:t> = 0</a:t>
            </a:r>
          </a:p>
        </p:txBody>
      </p:sp>
      <p:grpSp>
        <p:nvGrpSpPr>
          <p:cNvPr id="283" name="Group 278"/>
          <p:cNvGrpSpPr>
            <a:grpSpLocks/>
          </p:cNvGrpSpPr>
          <p:nvPr/>
        </p:nvGrpSpPr>
        <p:grpSpPr bwMode="auto">
          <a:xfrm>
            <a:off x="8382000" y="3326074"/>
            <a:ext cx="2897188" cy="369887"/>
            <a:chOff x="3552" y="1819"/>
            <a:chExt cx="1825" cy="233"/>
          </a:xfrm>
        </p:grpSpPr>
        <p:sp>
          <p:nvSpPr>
            <p:cNvPr id="284" name="Text Box 279"/>
            <p:cNvSpPr txBox="1">
              <a:spLocks noChangeArrowheads="1"/>
            </p:cNvSpPr>
            <p:nvPr/>
          </p:nvSpPr>
          <p:spPr bwMode="auto">
            <a:xfrm>
              <a:off x="3837" y="1819"/>
              <a:ext cx="15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i="1">
                  <a:latin typeface="Times New Roman" panose="02020603050405020304" pitchFamily="18" charset="0"/>
                </a:rPr>
                <a:t>i</a:t>
              </a:r>
              <a:r>
                <a:rPr lang="en-CA" altLang="fr-FR" sz="1800" b="1" i="1" baseline="-25000">
                  <a:latin typeface="Times New Roman" panose="02020603050405020304" pitchFamily="18" charset="0"/>
                </a:rPr>
                <a:t>3</a:t>
              </a:r>
              <a:r>
                <a:rPr lang="en-CA" altLang="fr-FR" sz="1800" b="1" i="1">
                  <a:latin typeface="Times New Roman" panose="02020603050405020304" pitchFamily="18" charset="0"/>
                </a:rPr>
                <a:t> &gt; 0    =&gt;  D</a:t>
              </a:r>
              <a:r>
                <a:rPr lang="en-CA" altLang="fr-FR" sz="1800" b="1" i="1" baseline="-25000">
                  <a:latin typeface="Times New Roman" panose="02020603050405020304" pitchFamily="18" charset="0"/>
                </a:rPr>
                <a:t>3</a:t>
              </a:r>
              <a:r>
                <a:rPr lang="en-CA" altLang="fr-FR" sz="1800" b="1" i="1">
                  <a:latin typeface="Times New Roman" panose="02020603050405020304" pitchFamily="18" charset="0"/>
                </a:rPr>
                <a:t> forward</a:t>
              </a:r>
            </a:p>
          </p:txBody>
        </p:sp>
        <p:sp>
          <p:nvSpPr>
            <p:cNvPr id="285" name="AutoShape 280"/>
            <p:cNvSpPr>
              <a:spLocks noChangeArrowheads="1"/>
            </p:cNvSpPr>
            <p:nvPr/>
          </p:nvSpPr>
          <p:spPr bwMode="auto">
            <a:xfrm>
              <a:off x="3552" y="1842"/>
              <a:ext cx="162" cy="19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CA" altLang="fr-FR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6" name="Group 282"/>
          <p:cNvGrpSpPr>
            <a:grpSpLocks/>
          </p:cNvGrpSpPr>
          <p:nvPr/>
        </p:nvGrpSpPr>
        <p:grpSpPr bwMode="auto">
          <a:xfrm>
            <a:off x="8137525" y="3921386"/>
            <a:ext cx="3457575" cy="590550"/>
            <a:chOff x="3398" y="2194"/>
            <a:chExt cx="2178" cy="372"/>
          </a:xfrm>
        </p:grpSpPr>
        <p:graphicFrame>
          <p:nvGraphicFramePr>
            <p:cNvPr id="287" name="Object 283"/>
            <p:cNvGraphicFramePr>
              <a:graphicFrameLocks noChangeAspect="1"/>
            </p:cNvGraphicFramePr>
            <p:nvPr/>
          </p:nvGraphicFramePr>
          <p:xfrm>
            <a:off x="3398" y="2194"/>
            <a:ext cx="964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88614" imgH="342751" progId="Equation.3">
                    <p:embed/>
                  </p:oleObj>
                </mc:Choice>
                <mc:Fallback>
                  <p:oleObj name="Equation" r:id="rId2" imgW="888614" imgH="342751" progId="Equation.3">
                    <p:embed/>
                    <p:pic>
                      <p:nvPicPr>
                        <p:cNvPr id="287" name="Object 2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8" y="2194"/>
                          <a:ext cx="964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8" name="Text Box 284"/>
            <p:cNvSpPr txBox="1">
              <a:spLocks noChangeArrowheads="1"/>
            </p:cNvSpPr>
            <p:nvPr/>
          </p:nvSpPr>
          <p:spPr bwMode="auto">
            <a:xfrm>
              <a:off x="4474" y="2252"/>
              <a:ext cx="11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demagnetization</a:t>
              </a:r>
            </a:p>
          </p:txBody>
        </p:sp>
      </p:grpSp>
      <p:graphicFrame>
        <p:nvGraphicFramePr>
          <p:cNvPr id="289" name="Object 2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419870"/>
              </p:ext>
            </p:extLst>
          </p:nvPr>
        </p:nvGraphicFramePr>
        <p:xfrm>
          <a:off x="6629400" y="5388236"/>
          <a:ext cx="11588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197" imgH="342751" progId="Equation.3">
                  <p:embed/>
                </p:oleObj>
              </mc:Choice>
              <mc:Fallback>
                <p:oleObj name="Equation" r:id="rId4" imgW="698197" imgH="342751" progId="Equation.3">
                  <p:embed/>
                  <p:pic>
                    <p:nvPicPr>
                      <p:cNvPr id="289" name="Object 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388236"/>
                        <a:ext cx="11588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0" name="Group 286"/>
          <p:cNvGrpSpPr>
            <a:grpSpLocks/>
          </p:cNvGrpSpPr>
          <p:nvPr/>
        </p:nvGrpSpPr>
        <p:grpSpPr bwMode="auto">
          <a:xfrm>
            <a:off x="6594475" y="4670686"/>
            <a:ext cx="4816475" cy="631825"/>
            <a:chOff x="2426" y="2666"/>
            <a:chExt cx="3034" cy="398"/>
          </a:xfrm>
        </p:grpSpPr>
        <p:graphicFrame>
          <p:nvGraphicFramePr>
            <p:cNvPr id="291" name="Object 287"/>
            <p:cNvGraphicFramePr>
              <a:graphicFrameLocks noChangeAspect="1"/>
            </p:cNvGraphicFramePr>
            <p:nvPr/>
          </p:nvGraphicFramePr>
          <p:xfrm>
            <a:off x="2426" y="2666"/>
            <a:ext cx="664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34725" imgH="380835" progId="Equation.3">
                    <p:embed/>
                  </p:oleObj>
                </mc:Choice>
                <mc:Fallback>
                  <p:oleObj name="Equation" r:id="rId6" imgW="634725" imgH="380835" progId="Equation.3">
                    <p:embed/>
                    <p:pic>
                      <p:nvPicPr>
                        <p:cNvPr id="291" name="Object 2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2666"/>
                          <a:ext cx="664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2" name="Text Box 288"/>
            <p:cNvSpPr txBox="1">
              <a:spLocks noChangeArrowheads="1"/>
            </p:cNvSpPr>
            <p:nvPr/>
          </p:nvSpPr>
          <p:spPr bwMode="auto">
            <a:xfrm>
              <a:off x="3250" y="2750"/>
              <a:ext cx="147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i="1">
                  <a:latin typeface="Times New Roman" panose="02020603050405020304" pitchFamily="18" charset="0"/>
                </a:rPr>
                <a:t>D</a:t>
              </a:r>
              <a:r>
                <a:rPr lang="en-CA" altLang="fr-FR" sz="1800" b="1" i="1" baseline="-25000">
                  <a:latin typeface="Times New Roman" panose="02020603050405020304" pitchFamily="18" charset="0"/>
                </a:rPr>
                <a:t>1</a:t>
              </a:r>
              <a:r>
                <a:rPr lang="en-CA" altLang="fr-FR" sz="1800" b="1" i="1">
                  <a:latin typeface="Times New Roman" panose="02020603050405020304" pitchFamily="18" charset="0"/>
                </a:rPr>
                <a:t> reverse, D</a:t>
              </a:r>
              <a:r>
                <a:rPr lang="en-CA" altLang="fr-FR" sz="1800" b="1" i="1" baseline="-25000">
                  <a:latin typeface="Times New Roman" panose="02020603050405020304" pitchFamily="18" charset="0"/>
                </a:rPr>
                <a:t>2</a:t>
              </a:r>
              <a:r>
                <a:rPr lang="en-CA" altLang="fr-FR" sz="1800" b="1" i="1">
                  <a:latin typeface="Times New Roman" panose="02020603050405020304" pitchFamily="18" charset="0"/>
                </a:rPr>
                <a:t> forward</a:t>
              </a:r>
            </a:p>
          </p:txBody>
        </p:sp>
        <p:sp>
          <p:nvSpPr>
            <p:cNvPr id="293" name="Text Box 289"/>
            <p:cNvSpPr txBox="1">
              <a:spLocks noChangeArrowheads="1"/>
            </p:cNvSpPr>
            <p:nvPr/>
          </p:nvSpPr>
          <p:spPr bwMode="auto">
            <a:xfrm>
              <a:off x="4794" y="2768"/>
              <a:ext cx="66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i="1">
                  <a:latin typeface="Times New Roman" panose="02020603050405020304" pitchFamily="18" charset="0"/>
                </a:rPr>
                <a:t>=&gt;   i</a:t>
              </a:r>
              <a:r>
                <a:rPr lang="en-CA" altLang="fr-FR" sz="1800" b="1" i="1" baseline="-25000">
                  <a:latin typeface="Times New Roman" panose="02020603050405020304" pitchFamily="18" charset="0"/>
                </a:rPr>
                <a:t>2</a:t>
              </a:r>
              <a:r>
                <a:rPr lang="en-CA" altLang="fr-FR" sz="1800" b="1" i="1">
                  <a:latin typeface="Times New Roman" panose="02020603050405020304" pitchFamily="18" charset="0"/>
                </a:rPr>
                <a:t> =0</a:t>
              </a:r>
            </a:p>
          </p:txBody>
        </p:sp>
      </p:grpSp>
      <p:graphicFrame>
        <p:nvGraphicFramePr>
          <p:cNvPr id="294" name="Object 2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751715"/>
              </p:ext>
            </p:extLst>
          </p:nvPr>
        </p:nvGraphicFramePr>
        <p:xfrm>
          <a:off x="8550275" y="2625986"/>
          <a:ext cx="268763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190500" progId="Equation.3">
                  <p:embed/>
                </p:oleObj>
              </mc:Choice>
              <mc:Fallback>
                <p:oleObj name="Equation" r:id="rId8" imgW="1143000" imgH="190500" progId="Equation.3">
                  <p:embed/>
                  <p:pic>
                    <p:nvPicPr>
                      <p:cNvPr id="294" name="Object 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0275" y="2625986"/>
                        <a:ext cx="268763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5" name="Group 291"/>
          <p:cNvGrpSpPr>
            <a:grpSpLocks/>
          </p:cNvGrpSpPr>
          <p:nvPr/>
        </p:nvGrpSpPr>
        <p:grpSpPr bwMode="auto">
          <a:xfrm>
            <a:off x="2873372" y="2314841"/>
            <a:ext cx="4740290" cy="2000250"/>
            <a:chOff x="82" y="1182"/>
            <a:chExt cx="2986" cy="1260"/>
          </a:xfrm>
        </p:grpSpPr>
        <p:sp>
          <p:nvSpPr>
            <p:cNvPr id="296" name="Arc 292"/>
            <p:cNvSpPr>
              <a:spLocks/>
            </p:cNvSpPr>
            <p:nvPr/>
          </p:nvSpPr>
          <p:spPr bwMode="auto">
            <a:xfrm flipV="1">
              <a:off x="82" y="1182"/>
              <a:ext cx="945" cy="1260"/>
            </a:xfrm>
            <a:custGeom>
              <a:avLst/>
              <a:gdLst>
                <a:gd name="T0" fmla="*/ 0 w 43001"/>
                <a:gd name="T1" fmla="*/ 0 h 43200"/>
                <a:gd name="T2" fmla="*/ 0 w 43001"/>
                <a:gd name="T3" fmla="*/ 0 h 43200"/>
                <a:gd name="T4" fmla="*/ 0 w 43001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001" h="43200" fill="none" extrusionOk="0">
                  <a:moveTo>
                    <a:pt x="-1" y="18677"/>
                  </a:moveTo>
                  <a:cubicBezTo>
                    <a:pt x="1460" y="7977"/>
                    <a:pt x="10600" y="-1"/>
                    <a:pt x="21401" y="0"/>
                  </a:cubicBezTo>
                  <a:cubicBezTo>
                    <a:pt x="33330" y="0"/>
                    <a:pt x="43001" y="9670"/>
                    <a:pt x="43001" y="21600"/>
                  </a:cubicBezTo>
                  <a:cubicBezTo>
                    <a:pt x="43001" y="33529"/>
                    <a:pt x="33330" y="43200"/>
                    <a:pt x="21401" y="43200"/>
                  </a:cubicBezTo>
                  <a:cubicBezTo>
                    <a:pt x="19937" y="43200"/>
                    <a:pt x="18476" y="43051"/>
                    <a:pt x="17043" y="42755"/>
                  </a:cubicBezTo>
                </a:path>
                <a:path w="43001" h="43200" stroke="0" extrusionOk="0">
                  <a:moveTo>
                    <a:pt x="-1" y="18677"/>
                  </a:moveTo>
                  <a:cubicBezTo>
                    <a:pt x="1460" y="7977"/>
                    <a:pt x="10600" y="-1"/>
                    <a:pt x="21401" y="0"/>
                  </a:cubicBezTo>
                  <a:cubicBezTo>
                    <a:pt x="33330" y="0"/>
                    <a:pt x="43001" y="9670"/>
                    <a:pt x="43001" y="21600"/>
                  </a:cubicBezTo>
                  <a:cubicBezTo>
                    <a:pt x="43001" y="33529"/>
                    <a:pt x="33330" y="43200"/>
                    <a:pt x="21401" y="43200"/>
                  </a:cubicBezTo>
                  <a:cubicBezTo>
                    <a:pt x="19937" y="43200"/>
                    <a:pt x="18476" y="43051"/>
                    <a:pt x="17043" y="42755"/>
                  </a:cubicBezTo>
                  <a:lnTo>
                    <a:pt x="21401" y="21600"/>
                  </a:lnTo>
                  <a:lnTo>
                    <a:pt x="-1" y="18677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" name="Arc 293"/>
            <p:cNvSpPr>
              <a:spLocks/>
            </p:cNvSpPr>
            <p:nvPr/>
          </p:nvSpPr>
          <p:spPr bwMode="auto">
            <a:xfrm rot="16077744">
              <a:off x="2437" y="1200"/>
              <a:ext cx="603" cy="658"/>
            </a:xfrm>
            <a:custGeom>
              <a:avLst/>
              <a:gdLst>
                <a:gd name="T0" fmla="*/ 0 w 43115"/>
                <a:gd name="T1" fmla="*/ 0 h 24056"/>
                <a:gd name="T2" fmla="*/ 0 w 43115"/>
                <a:gd name="T3" fmla="*/ 0 h 24056"/>
                <a:gd name="T4" fmla="*/ 0 w 43115"/>
                <a:gd name="T5" fmla="*/ 0 h 240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15" h="24056" fill="none" extrusionOk="0">
                  <a:moveTo>
                    <a:pt x="-1" y="19687"/>
                  </a:moveTo>
                  <a:cubicBezTo>
                    <a:pt x="990" y="8543"/>
                    <a:pt x="10326" y="-1"/>
                    <a:pt x="21515" y="0"/>
                  </a:cubicBezTo>
                  <a:cubicBezTo>
                    <a:pt x="33444" y="0"/>
                    <a:pt x="43115" y="9670"/>
                    <a:pt x="43115" y="21600"/>
                  </a:cubicBezTo>
                  <a:cubicBezTo>
                    <a:pt x="43115" y="22420"/>
                    <a:pt x="43068" y="23240"/>
                    <a:pt x="42974" y="24055"/>
                  </a:cubicBezTo>
                </a:path>
                <a:path w="43115" h="24056" stroke="0" extrusionOk="0">
                  <a:moveTo>
                    <a:pt x="-1" y="19687"/>
                  </a:moveTo>
                  <a:cubicBezTo>
                    <a:pt x="990" y="8543"/>
                    <a:pt x="10326" y="-1"/>
                    <a:pt x="21515" y="0"/>
                  </a:cubicBezTo>
                  <a:cubicBezTo>
                    <a:pt x="33444" y="0"/>
                    <a:pt x="43115" y="9670"/>
                    <a:pt x="43115" y="21600"/>
                  </a:cubicBezTo>
                  <a:cubicBezTo>
                    <a:pt x="43115" y="22420"/>
                    <a:pt x="43068" y="23240"/>
                    <a:pt x="42974" y="24055"/>
                  </a:cubicBezTo>
                  <a:lnTo>
                    <a:pt x="21515" y="21600"/>
                  </a:lnTo>
                  <a:lnTo>
                    <a:pt x="-1" y="19687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8" name="Line 295"/>
          <p:cNvSpPr>
            <a:spLocks noChangeShapeType="1"/>
          </p:cNvSpPr>
          <p:nvPr/>
        </p:nvSpPr>
        <p:spPr bwMode="auto">
          <a:xfrm>
            <a:off x="4164965" y="2371318"/>
            <a:ext cx="0" cy="85725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9" name="Text Box 296"/>
          <p:cNvSpPr txBox="1">
            <a:spLocks noChangeArrowheads="1"/>
          </p:cNvSpPr>
          <p:nvPr/>
        </p:nvSpPr>
        <p:spPr bwMode="auto">
          <a:xfrm>
            <a:off x="4015130" y="3154624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00" name="ZoneTexte 299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Principle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59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3434411" y="1966912"/>
            <a:ext cx="733425" cy="666750"/>
            <a:chOff x="246" y="1164"/>
            <a:chExt cx="462" cy="420"/>
          </a:xfrm>
        </p:grpSpPr>
        <p:sp>
          <p:nvSpPr>
            <p:cNvPr id="11" name="Freeform 3" descr="blanc)"/>
            <p:cNvSpPr>
              <a:spLocks/>
            </p:cNvSpPr>
            <p:nvPr/>
          </p:nvSpPr>
          <p:spPr bwMode="auto">
            <a:xfrm flipH="1">
              <a:off x="246" y="1164"/>
              <a:ext cx="462" cy="420"/>
            </a:xfrm>
            <a:custGeom>
              <a:avLst/>
              <a:gdLst>
                <a:gd name="T0" fmla="*/ 0 w 906"/>
                <a:gd name="T1" fmla="*/ 390 h 426"/>
                <a:gd name="T2" fmla="*/ 0 w 906"/>
                <a:gd name="T3" fmla="*/ 0 h 426"/>
                <a:gd name="T4" fmla="*/ 16 w 906"/>
                <a:gd name="T5" fmla="*/ 150 h 426"/>
                <a:gd name="T6" fmla="*/ 16 w 906"/>
                <a:gd name="T7" fmla="*/ 390 h 4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6" h="426">
                  <a:moveTo>
                    <a:pt x="0" y="426"/>
                  </a:moveTo>
                  <a:lnTo>
                    <a:pt x="0" y="0"/>
                  </a:lnTo>
                  <a:lnTo>
                    <a:pt x="906" y="162"/>
                  </a:lnTo>
                  <a:lnTo>
                    <a:pt x="906" y="426"/>
                  </a:lnTo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 Box 4"/>
            <p:cNvSpPr txBox="1">
              <a:spLocks noChangeArrowheads="1"/>
            </p:cNvSpPr>
            <p:nvPr/>
          </p:nvSpPr>
          <p:spPr bwMode="auto">
            <a:xfrm>
              <a:off x="405" y="1282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solidFill>
                    <a:srgbClr val="0033CC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13" name="Freeform 5" descr="noir)"/>
          <p:cNvSpPr>
            <a:spLocks/>
          </p:cNvSpPr>
          <p:nvPr/>
        </p:nvSpPr>
        <p:spPr bwMode="auto">
          <a:xfrm>
            <a:off x="3443936" y="3548062"/>
            <a:ext cx="714375" cy="485775"/>
          </a:xfrm>
          <a:custGeom>
            <a:avLst/>
            <a:gdLst>
              <a:gd name="T0" fmla="*/ 0 w 450"/>
              <a:gd name="T1" fmla="*/ 2147483646 h 306"/>
              <a:gd name="T2" fmla="*/ 2147483646 w 450"/>
              <a:gd name="T3" fmla="*/ 0 h 306"/>
              <a:gd name="T4" fmla="*/ 2147483646 w 450"/>
              <a:gd name="T5" fmla="*/ 2147483646 h 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50" h="306">
                <a:moveTo>
                  <a:pt x="0" y="306"/>
                </a:moveTo>
                <a:lnTo>
                  <a:pt x="450" y="0"/>
                </a:lnTo>
                <a:lnTo>
                  <a:pt x="450" y="150"/>
                </a:lnTo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Freeform 6" descr="noir)"/>
          <p:cNvSpPr>
            <a:spLocks/>
          </p:cNvSpPr>
          <p:nvPr/>
        </p:nvSpPr>
        <p:spPr bwMode="auto">
          <a:xfrm>
            <a:off x="4148786" y="3976687"/>
            <a:ext cx="790575" cy="238125"/>
          </a:xfrm>
          <a:custGeom>
            <a:avLst/>
            <a:gdLst>
              <a:gd name="T0" fmla="*/ 0 w 498"/>
              <a:gd name="T1" fmla="*/ 2147483646 h 150"/>
              <a:gd name="T2" fmla="*/ 2147483646 w 498"/>
              <a:gd name="T3" fmla="*/ 0 h 150"/>
              <a:gd name="T4" fmla="*/ 2147483646 w 498"/>
              <a:gd name="T5" fmla="*/ 2147483646 h 1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98" h="150">
                <a:moveTo>
                  <a:pt x="0" y="150"/>
                </a:moveTo>
                <a:lnTo>
                  <a:pt x="6" y="0"/>
                </a:lnTo>
                <a:lnTo>
                  <a:pt x="498" y="126"/>
                </a:lnTo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19" name="Group 11"/>
          <p:cNvGrpSpPr>
            <a:grpSpLocks/>
          </p:cNvGrpSpPr>
          <p:nvPr/>
        </p:nvGrpSpPr>
        <p:grpSpPr bwMode="auto">
          <a:xfrm>
            <a:off x="3402661" y="334962"/>
            <a:ext cx="76200" cy="1219200"/>
            <a:chOff x="226" y="136"/>
            <a:chExt cx="48" cy="768"/>
          </a:xfrm>
        </p:grpSpPr>
        <p:sp>
          <p:nvSpPr>
            <p:cNvPr id="20" name="Freeform 12"/>
            <p:cNvSpPr>
              <a:spLocks/>
            </p:cNvSpPr>
            <p:nvPr/>
          </p:nvSpPr>
          <p:spPr bwMode="auto">
            <a:xfrm>
              <a:off x="226" y="136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Line 13"/>
            <p:cNvSpPr>
              <a:spLocks noChangeShapeType="1"/>
            </p:cNvSpPr>
            <p:nvPr/>
          </p:nvSpPr>
          <p:spPr bwMode="auto">
            <a:xfrm>
              <a:off x="250" y="224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2" name="Group 14"/>
          <p:cNvGrpSpPr>
            <a:grpSpLocks/>
          </p:cNvGrpSpPr>
          <p:nvPr/>
        </p:nvGrpSpPr>
        <p:grpSpPr bwMode="auto">
          <a:xfrm>
            <a:off x="3377261" y="1439862"/>
            <a:ext cx="3883025" cy="76200"/>
            <a:chOff x="210" y="832"/>
            <a:chExt cx="2446" cy="48"/>
          </a:xfrm>
        </p:grpSpPr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2568" y="832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>
              <a:off x="210" y="856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5" name="Line 17"/>
          <p:cNvSpPr>
            <a:spLocks noChangeShapeType="1"/>
          </p:cNvSpPr>
          <p:nvPr/>
        </p:nvSpPr>
        <p:spPr bwMode="auto">
          <a:xfrm flipV="1">
            <a:off x="3440761" y="976312"/>
            <a:ext cx="722313" cy="4953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Line 18"/>
          <p:cNvSpPr>
            <a:spLocks noChangeShapeType="1"/>
          </p:cNvSpPr>
          <p:nvPr/>
        </p:nvSpPr>
        <p:spPr bwMode="auto">
          <a:xfrm>
            <a:off x="4163074" y="976312"/>
            <a:ext cx="977900" cy="4953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7" name="Line 19"/>
          <p:cNvSpPr>
            <a:spLocks noChangeShapeType="1"/>
          </p:cNvSpPr>
          <p:nvPr/>
        </p:nvSpPr>
        <p:spPr bwMode="auto">
          <a:xfrm flipV="1">
            <a:off x="5607699" y="966787"/>
            <a:ext cx="722312" cy="4953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8" name="Rectangle 20"/>
          <p:cNvSpPr>
            <a:spLocks noChangeArrowheads="1"/>
          </p:cNvSpPr>
          <p:nvPr/>
        </p:nvSpPr>
        <p:spPr bwMode="auto">
          <a:xfrm>
            <a:off x="3212161" y="246062"/>
            <a:ext cx="428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9" name="Rectangle 21"/>
          <p:cNvSpPr>
            <a:spLocks noChangeArrowheads="1"/>
          </p:cNvSpPr>
          <p:nvPr/>
        </p:nvSpPr>
        <p:spPr bwMode="auto">
          <a:xfrm>
            <a:off x="3250261" y="334962"/>
            <a:ext cx="1143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10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4050361" y="1541462"/>
            <a:ext cx="936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1" name="Rectangle 23"/>
          <p:cNvSpPr>
            <a:spLocks noChangeArrowheads="1"/>
          </p:cNvSpPr>
          <p:nvPr/>
        </p:nvSpPr>
        <p:spPr bwMode="auto">
          <a:xfrm>
            <a:off x="5496574" y="1477962"/>
            <a:ext cx="936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2" name="Rectangle 24"/>
          <p:cNvSpPr>
            <a:spLocks noChangeArrowheads="1"/>
          </p:cNvSpPr>
          <p:nvPr/>
        </p:nvSpPr>
        <p:spPr bwMode="auto">
          <a:xfrm>
            <a:off x="3910661" y="1528762"/>
            <a:ext cx="968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33" name="Group 25"/>
          <p:cNvGrpSpPr>
            <a:grpSpLocks/>
          </p:cNvGrpSpPr>
          <p:nvPr/>
        </p:nvGrpSpPr>
        <p:grpSpPr bwMode="auto">
          <a:xfrm>
            <a:off x="4163074" y="614362"/>
            <a:ext cx="1587" cy="5756275"/>
            <a:chOff x="705" y="312"/>
            <a:chExt cx="1" cy="3626"/>
          </a:xfrm>
        </p:grpSpPr>
        <p:sp>
          <p:nvSpPr>
            <p:cNvPr id="34" name="Line 26"/>
            <p:cNvSpPr>
              <a:spLocks noChangeShapeType="1"/>
            </p:cNvSpPr>
            <p:nvPr/>
          </p:nvSpPr>
          <p:spPr bwMode="auto">
            <a:xfrm>
              <a:off x="705" y="31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>
              <a:off x="705" y="38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705" y="45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Line 29"/>
            <p:cNvSpPr>
              <a:spLocks noChangeShapeType="1"/>
            </p:cNvSpPr>
            <p:nvPr/>
          </p:nvSpPr>
          <p:spPr bwMode="auto">
            <a:xfrm>
              <a:off x="705" y="52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Line 30"/>
            <p:cNvSpPr>
              <a:spLocks noChangeShapeType="1"/>
            </p:cNvSpPr>
            <p:nvPr/>
          </p:nvSpPr>
          <p:spPr bwMode="auto">
            <a:xfrm>
              <a:off x="705" y="60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Line 31"/>
            <p:cNvSpPr>
              <a:spLocks noChangeShapeType="1"/>
            </p:cNvSpPr>
            <p:nvPr/>
          </p:nvSpPr>
          <p:spPr bwMode="auto">
            <a:xfrm>
              <a:off x="705" y="67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Line 32"/>
            <p:cNvSpPr>
              <a:spLocks noChangeShapeType="1"/>
            </p:cNvSpPr>
            <p:nvPr/>
          </p:nvSpPr>
          <p:spPr bwMode="auto">
            <a:xfrm>
              <a:off x="705" y="74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33"/>
            <p:cNvSpPr>
              <a:spLocks noChangeShapeType="1"/>
            </p:cNvSpPr>
            <p:nvPr/>
          </p:nvSpPr>
          <p:spPr bwMode="auto">
            <a:xfrm>
              <a:off x="705" y="81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34"/>
            <p:cNvSpPr>
              <a:spLocks noChangeShapeType="1"/>
            </p:cNvSpPr>
            <p:nvPr/>
          </p:nvSpPr>
          <p:spPr bwMode="auto">
            <a:xfrm>
              <a:off x="705" y="88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Line 35"/>
            <p:cNvSpPr>
              <a:spLocks noChangeShapeType="1"/>
            </p:cNvSpPr>
            <p:nvPr/>
          </p:nvSpPr>
          <p:spPr bwMode="auto">
            <a:xfrm>
              <a:off x="705" y="96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Line 36"/>
            <p:cNvSpPr>
              <a:spLocks noChangeShapeType="1"/>
            </p:cNvSpPr>
            <p:nvPr/>
          </p:nvSpPr>
          <p:spPr bwMode="auto">
            <a:xfrm>
              <a:off x="705" y="103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37"/>
            <p:cNvSpPr>
              <a:spLocks noChangeShapeType="1"/>
            </p:cNvSpPr>
            <p:nvPr/>
          </p:nvSpPr>
          <p:spPr bwMode="auto">
            <a:xfrm>
              <a:off x="705" y="110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Line 38"/>
            <p:cNvSpPr>
              <a:spLocks noChangeShapeType="1"/>
            </p:cNvSpPr>
            <p:nvPr/>
          </p:nvSpPr>
          <p:spPr bwMode="auto">
            <a:xfrm>
              <a:off x="705" y="117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Line 39"/>
            <p:cNvSpPr>
              <a:spLocks noChangeShapeType="1"/>
            </p:cNvSpPr>
            <p:nvPr/>
          </p:nvSpPr>
          <p:spPr bwMode="auto">
            <a:xfrm>
              <a:off x="705" y="124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Line 40"/>
            <p:cNvSpPr>
              <a:spLocks noChangeShapeType="1"/>
            </p:cNvSpPr>
            <p:nvPr/>
          </p:nvSpPr>
          <p:spPr bwMode="auto">
            <a:xfrm>
              <a:off x="705" y="132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Line 41"/>
            <p:cNvSpPr>
              <a:spLocks noChangeShapeType="1"/>
            </p:cNvSpPr>
            <p:nvPr/>
          </p:nvSpPr>
          <p:spPr bwMode="auto">
            <a:xfrm>
              <a:off x="705" y="139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Line 42"/>
            <p:cNvSpPr>
              <a:spLocks noChangeShapeType="1"/>
            </p:cNvSpPr>
            <p:nvPr/>
          </p:nvSpPr>
          <p:spPr bwMode="auto">
            <a:xfrm>
              <a:off x="705" y="146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43"/>
            <p:cNvSpPr>
              <a:spLocks noChangeShapeType="1"/>
            </p:cNvSpPr>
            <p:nvPr/>
          </p:nvSpPr>
          <p:spPr bwMode="auto">
            <a:xfrm>
              <a:off x="705" y="153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44"/>
            <p:cNvSpPr>
              <a:spLocks noChangeShapeType="1"/>
            </p:cNvSpPr>
            <p:nvPr/>
          </p:nvSpPr>
          <p:spPr bwMode="auto">
            <a:xfrm>
              <a:off x="705" y="160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45"/>
            <p:cNvSpPr>
              <a:spLocks noChangeShapeType="1"/>
            </p:cNvSpPr>
            <p:nvPr/>
          </p:nvSpPr>
          <p:spPr bwMode="auto">
            <a:xfrm>
              <a:off x="705" y="168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46"/>
            <p:cNvSpPr>
              <a:spLocks noChangeShapeType="1"/>
            </p:cNvSpPr>
            <p:nvPr/>
          </p:nvSpPr>
          <p:spPr bwMode="auto">
            <a:xfrm>
              <a:off x="705" y="175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47"/>
            <p:cNvSpPr>
              <a:spLocks noChangeShapeType="1"/>
            </p:cNvSpPr>
            <p:nvPr/>
          </p:nvSpPr>
          <p:spPr bwMode="auto">
            <a:xfrm>
              <a:off x="705" y="18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Line 48"/>
            <p:cNvSpPr>
              <a:spLocks noChangeShapeType="1"/>
            </p:cNvSpPr>
            <p:nvPr/>
          </p:nvSpPr>
          <p:spPr bwMode="auto">
            <a:xfrm>
              <a:off x="705" y="18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Line 49"/>
            <p:cNvSpPr>
              <a:spLocks noChangeShapeType="1"/>
            </p:cNvSpPr>
            <p:nvPr/>
          </p:nvSpPr>
          <p:spPr bwMode="auto">
            <a:xfrm>
              <a:off x="705" y="19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Line 50"/>
            <p:cNvSpPr>
              <a:spLocks noChangeShapeType="1"/>
            </p:cNvSpPr>
            <p:nvPr/>
          </p:nvSpPr>
          <p:spPr bwMode="auto">
            <a:xfrm>
              <a:off x="705" y="20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Line 51"/>
            <p:cNvSpPr>
              <a:spLocks noChangeShapeType="1"/>
            </p:cNvSpPr>
            <p:nvPr/>
          </p:nvSpPr>
          <p:spPr bwMode="auto">
            <a:xfrm>
              <a:off x="705" y="21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Line 52"/>
            <p:cNvSpPr>
              <a:spLocks noChangeShapeType="1"/>
            </p:cNvSpPr>
            <p:nvPr/>
          </p:nvSpPr>
          <p:spPr bwMode="auto">
            <a:xfrm>
              <a:off x="705" y="218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Line 53"/>
            <p:cNvSpPr>
              <a:spLocks noChangeShapeType="1"/>
            </p:cNvSpPr>
            <p:nvPr/>
          </p:nvSpPr>
          <p:spPr bwMode="auto">
            <a:xfrm>
              <a:off x="705" y="225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Line 54"/>
            <p:cNvSpPr>
              <a:spLocks noChangeShapeType="1"/>
            </p:cNvSpPr>
            <p:nvPr/>
          </p:nvSpPr>
          <p:spPr bwMode="auto">
            <a:xfrm>
              <a:off x="705" y="232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Line 55"/>
            <p:cNvSpPr>
              <a:spLocks noChangeShapeType="1"/>
            </p:cNvSpPr>
            <p:nvPr/>
          </p:nvSpPr>
          <p:spPr bwMode="auto">
            <a:xfrm>
              <a:off x="705" y="240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Line 56"/>
            <p:cNvSpPr>
              <a:spLocks noChangeShapeType="1"/>
            </p:cNvSpPr>
            <p:nvPr/>
          </p:nvSpPr>
          <p:spPr bwMode="auto">
            <a:xfrm>
              <a:off x="705" y="247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Line 57"/>
            <p:cNvSpPr>
              <a:spLocks noChangeShapeType="1"/>
            </p:cNvSpPr>
            <p:nvPr/>
          </p:nvSpPr>
          <p:spPr bwMode="auto">
            <a:xfrm>
              <a:off x="705" y="254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Line 58"/>
            <p:cNvSpPr>
              <a:spLocks noChangeShapeType="1"/>
            </p:cNvSpPr>
            <p:nvPr/>
          </p:nvSpPr>
          <p:spPr bwMode="auto">
            <a:xfrm>
              <a:off x="705" y="261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Line 59"/>
            <p:cNvSpPr>
              <a:spLocks noChangeShapeType="1"/>
            </p:cNvSpPr>
            <p:nvPr/>
          </p:nvSpPr>
          <p:spPr bwMode="auto">
            <a:xfrm>
              <a:off x="705" y="268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8" name="Line 60"/>
            <p:cNvSpPr>
              <a:spLocks noChangeShapeType="1"/>
            </p:cNvSpPr>
            <p:nvPr/>
          </p:nvSpPr>
          <p:spPr bwMode="auto">
            <a:xfrm>
              <a:off x="705" y="276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Line 61"/>
            <p:cNvSpPr>
              <a:spLocks noChangeShapeType="1"/>
            </p:cNvSpPr>
            <p:nvPr/>
          </p:nvSpPr>
          <p:spPr bwMode="auto">
            <a:xfrm>
              <a:off x="705" y="283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Line 62"/>
            <p:cNvSpPr>
              <a:spLocks noChangeShapeType="1"/>
            </p:cNvSpPr>
            <p:nvPr/>
          </p:nvSpPr>
          <p:spPr bwMode="auto">
            <a:xfrm>
              <a:off x="705" y="290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1" name="Line 63"/>
            <p:cNvSpPr>
              <a:spLocks noChangeShapeType="1"/>
            </p:cNvSpPr>
            <p:nvPr/>
          </p:nvSpPr>
          <p:spPr bwMode="auto">
            <a:xfrm>
              <a:off x="705" y="2977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Line 64"/>
            <p:cNvSpPr>
              <a:spLocks noChangeShapeType="1"/>
            </p:cNvSpPr>
            <p:nvPr/>
          </p:nvSpPr>
          <p:spPr bwMode="auto">
            <a:xfrm>
              <a:off x="705" y="30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Line 65"/>
            <p:cNvSpPr>
              <a:spLocks noChangeShapeType="1"/>
            </p:cNvSpPr>
            <p:nvPr/>
          </p:nvSpPr>
          <p:spPr bwMode="auto">
            <a:xfrm>
              <a:off x="705" y="31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Line 66"/>
            <p:cNvSpPr>
              <a:spLocks noChangeShapeType="1"/>
            </p:cNvSpPr>
            <p:nvPr/>
          </p:nvSpPr>
          <p:spPr bwMode="auto">
            <a:xfrm>
              <a:off x="705" y="31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Line 67"/>
            <p:cNvSpPr>
              <a:spLocks noChangeShapeType="1"/>
            </p:cNvSpPr>
            <p:nvPr/>
          </p:nvSpPr>
          <p:spPr bwMode="auto">
            <a:xfrm>
              <a:off x="705" y="32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Line 68"/>
            <p:cNvSpPr>
              <a:spLocks noChangeShapeType="1"/>
            </p:cNvSpPr>
            <p:nvPr/>
          </p:nvSpPr>
          <p:spPr bwMode="auto">
            <a:xfrm>
              <a:off x="705" y="33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Line 69"/>
            <p:cNvSpPr>
              <a:spLocks noChangeShapeType="1"/>
            </p:cNvSpPr>
            <p:nvPr/>
          </p:nvSpPr>
          <p:spPr bwMode="auto">
            <a:xfrm>
              <a:off x="705" y="34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Line 70"/>
            <p:cNvSpPr>
              <a:spLocks noChangeShapeType="1"/>
            </p:cNvSpPr>
            <p:nvPr/>
          </p:nvSpPr>
          <p:spPr bwMode="auto">
            <a:xfrm>
              <a:off x="705" y="34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Line 71"/>
            <p:cNvSpPr>
              <a:spLocks noChangeShapeType="1"/>
            </p:cNvSpPr>
            <p:nvPr/>
          </p:nvSpPr>
          <p:spPr bwMode="auto">
            <a:xfrm>
              <a:off x="705" y="355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0" name="Line 72"/>
            <p:cNvSpPr>
              <a:spLocks noChangeShapeType="1"/>
            </p:cNvSpPr>
            <p:nvPr/>
          </p:nvSpPr>
          <p:spPr bwMode="auto">
            <a:xfrm>
              <a:off x="705" y="362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Line 73"/>
            <p:cNvSpPr>
              <a:spLocks noChangeShapeType="1"/>
            </p:cNvSpPr>
            <p:nvPr/>
          </p:nvSpPr>
          <p:spPr bwMode="auto">
            <a:xfrm>
              <a:off x="705" y="369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Line 74"/>
            <p:cNvSpPr>
              <a:spLocks noChangeShapeType="1"/>
            </p:cNvSpPr>
            <p:nvPr/>
          </p:nvSpPr>
          <p:spPr bwMode="auto">
            <a:xfrm>
              <a:off x="705" y="377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Line 75"/>
            <p:cNvSpPr>
              <a:spLocks noChangeShapeType="1"/>
            </p:cNvSpPr>
            <p:nvPr/>
          </p:nvSpPr>
          <p:spPr bwMode="auto">
            <a:xfrm>
              <a:off x="705" y="384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Line 76"/>
            <p:cNvSpPr>
              <a:spLocks noChangeShapeType="1"/>
            </p:cNvSpPr>
            <p:nvPr/>
          </p:nvSpPr>
          <p:spPr bwMode="auto">
            <a:xfrm>
              <a:off x="705" y="3914"/>
              <a:ext cx="1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5" name="Group 77"/>
          <p:cNvGrpSpPr>
            <a:grpSpLocks/>
          </p:cNvGrpSpPr>
          <p:nvPr/>
        </p:nvGrpSpPr>
        <p:grpSpPr bwMode="auto">
          <a:xfrm>
            <a:off x="5598174" y="614362"/>
            <a:ext cx="1587" cy="5756275"/>
            <a:chOff x="1609" y="312"/>
            <a:chExt cx="1" cy="3626"/>
          </a:xfrm>
        </p:grpSpPr>
        <p:sp>
          <p:nvSpPr>
            <p:cNvPr id="86" name="Line 78"/>
            <p:cNvSpPr>
              <a:spLocks noChangeShapeType="1"/>
            </p:cNvSpPr>
            <p:nvPr/>
          </p:nvSpPr>
          <p:spPr bwMode="auto">
            <a:xfrm>
              <a:off x="1609" y="31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7" name="Line 79"/>
            <p:cNvSpPr>
              <a:spLocks noChangeShapeType="1"/>
            </p:cNvSpPr>
            <p:nvPr/>
          </p:nvSpPr>
          <p:spPr bwMode="auto">
            <a:xfrm>
              <a:off x="1609" y="38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Line 80"/>
            <p:cNvSpPr>
              <a:spLocks noChangeShapeType="1"/>
            </p:cNvSpPr>
            <p:nvPr/>
          </p:nvSpPr>
          <p:spPr bwMode="auto">
            <a:xfrm>
              <a:off x="1609" y="45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Line 81"/>
            <p:cNvSpPr>
              <a:spLocks noChangeShapeType="1"/>
            </p:cNvSpPr>
            <p:nvPr/>
          </p:nvSpPr>
          <p:spPr bwMode="auto">
            <a:xfrm>
              <a:off x="1609" y="52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0" name="Line 82"/>
            <p:cNvSpPr>
              <a:spLocks noChangeShapeType="1"/>
            </p:cNvSpPr>
            <p:nvPr/>
          </p:nvSpPr>
          <p:spPr bwMode="auto">
            <a:xfrm>
              <a:off x="1609" y="60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Line 83"/>
            <p:cNvSpPr>
              <a:spLocks noChangeShapeType="1"/>
            </p:cNvSpPr>
            <p:nvPr/>
          </p:nvSpPr>
          <p:spPr bwMode="auto">
            <a:xfrm>
              <a:off x="1609" y="67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Line 84"/>
            <p:cNvSpPr>
              <a:spLocks noChangeShapeType="1"/>
            </p:cNvSpPr>
            <p:nvPr/>
          </p:nvSpPr>
          <p:spPr bwMode="auto">
            <a:xfrm>
              <a:off x="1609" y="74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3" name="Line 85"/>
            <p:cNvSpPr>
              <a:spLocks noChangeShapeType="1"/>
            </p:cNvSpPr>
            <p:nvPr/>
          </p:nvSpPr>
          <p:spPr bwMode="auto">
            <a:xfrm>
              <a:off x="1609" y="81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Line 86"/>
            <p:cNvSpPr>
              <a:spLocks noChangeShapeType="1"/>
            </p:cNvSpPr>
            <p:nvPr/>
          </p:nvSpPr>
          <p:spPr bwMode="auto">
            <a:xfrm>
              <a:off x="1609" y="88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Line 87"/>
            <p:cNvSpPr>
              <a:spLocks noChangeShapeType="1"/>
            </p:cNvSpPr>
            <p:nvPr/>
          </p:nvSpPr>
          <p:spPr bwMode="auto">
            <a:xfrm>
              <a:off x="1609" y="96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Line 88"/>
            <p:cNvSpPr>
              <a:spLocks noChangeShapeType="1"/>
            </p:cNvSpPr>
            <p:nvPr/>
          </p:nvSpPr>
          <p:spPr bwMode="auto">
            <a:xfrm>
              <a:off x="1609" y="103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Line 89"/>
            <p:cNvSpPr>
              <a:spLocks noChangeShapeType="1"/>
            </p:cNvSpPr>
            <p:nvPr/>
          </p:nvSpPr>
          <p:spPr bwMode="auto">
            <a:xfrm>
              <a:off x="1609" y="110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Line 90"/>
            <p:cNvSpPr>
              <a:spLocks noChangeShapeType="1"/>
            </p:cNvSpPr>
            <p:nvPr/>
          </p:nvSpPr>
          <p:spPr bwMode="auto">
            <a:xfrm>
              <a:off x="1609" y="117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Line 91"/>
            <p:cNvSpPr>
              <a:spLocks noChangeShapeType="1"/>
            </p:cNvSpPr>
            <p:nvPr/>
          </p:nvSpPr>
          <p:spPr bwMode="auto">
            <a:xfrm>
              <a:off x="1609" y="124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Line 92"/>
            <p:cNvSpPr>
              <a:spLocks noChangeShapeType="1"/>
            </p:cNvSpPr>
            <p:nvPr/>
          </p:nvSpPr>
          <p:spPr bwMode="auto">
            <a:xfrm>
              <a:off x="1609" y="132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Line 93"/>
            <p:cNvSpPr>
              <a:spLocks noChangeShapeType="1"/>
            </p:cNvSpPr>
            <p:nvPr/>
          </p:nvSpPr>
          <p:spPr bwMode="auto">
            <a:xfrm>
              <a:off x="1609" y="139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Line 94"/>
            <p:cNvSpPr>
              <a:spLocks noChangeShapeType="1"/>
            </p:cNvSpPr>
            <p:nvPr/>
          </p:nvSpPr>
          <p:spPr bwMode="auto">
            <a:xfrm>
              <a:off x="1609" y="146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Line 95"/>
            <p:cNvSpPr>
              <a:spLocks noChangeShapeType="1"/>
            </p:cNvSpPr>
            <p:nvPr/>
          </p:nvSpPr>
          <p:spPr bwMode="auto">
            <a:xfrm>
              <a:off x="1609" y="153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4" name="Line 96"/>
            <p:cNvSpPr>
              <a:spLocks noChangeShapeType="1"/>
            </p:cNvSpPr>
            <p:nvPr/>
          </p:nvSpPr>
          <p:spPr bwMode="auto">
            <a:xfrm>
              <a:off x="1609" y="160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Line 97"/>
            <p:cNvSpPr>
              <a:spLocks noChangeShapeType="1"/>
            </p:cNvSpPr>
            <p:nvPr/>
          </p:nvSpPr>
          <p:spPr bwMode="auto">
            <a:xfrm>
              <a:off x="1609" y="168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Line 98"/>
            <p:cNvSpPr>
              <a:spLocks noChangeShapeType="1"/>
            </p:cNvSpPr>
            <p:nvPr/>
          </p:nvSpPr>
          <p:spPr bwMode="auto">
            <a:xfrm>
              <a:off x="1609" y="175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Line 99"/>
            <p:cNvSpPr>
              <a:spLocks noChangeShapeType="1"/>
            </p:cNvSpPr>
            <p:nvPr/>
          </p:nvSpPr>
          <p:spPr bwMode="auto">
            <a:xfrm>
              <a:off x="1609" y="18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Line 100"/>
            <p:cNvSpPr>
              <a:spLocks noChangeShapeType="1"/>
            </p:cNvSpPr>
            <p:nvPr/>
          </p:nvSpPr>
          <p:spPr bwMode="auto">
            <a:xfrm>
              <a:off x="1609" y="18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Line 101"/>
            <p:cNvSpPr>
              <a:spLocks noChangeShapeType="1"/>
            </p:cNvSpPr>
            <p:nvPr/>
          </p:nvSpPr>
          <p:spPr bwMode="auto">
            <a:xfrm>
              <a:off x="1609" y="19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" name="Line 102"/>
            <p:cNvSpPr>
              <a:spLocks noChangeShapeType="1"/>
            </p:cNvSpPr>
            <p:nvPr/>
          </p:nvSpPr>
          <p:spPr bwMode="auto">
            <a:xfrm>
              <a:off x="1609" y="20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Line 103"/>
            <p:cNvSpPr>
              <a:spLocks noChangeShapeType="1"/>
            </p:cNvSpPr>
            <p:nvPr/>
          </p:nvSpPr>
          <p:spPr bwMode="auto">
            <a:xfrm>
              <a:off x="1609" y="21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2" name="Line 104"/>
            <p:cNvSpPr>
              <a:spLocks noChangeShapeType="1"/>
            </p:cNvSpPr>
            <p:nvPr/>
          </p:nvSpPr>
          <p:spPr bwMode="auto">
            <a:xfrm>
              <a:off x="1609" y="218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3" name="Line 105"/>
            <p:cNvSpPr>
              <a:spLocks noChangeShapeType="1"/>
            </p:cNvSpPr>
            <p:nvPr/>
          </p:nvSpPr>
          <p:spPr bwMode="auto">
            <a:xfrm>
              <a:off x="1609" y="225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4" name="Line 106"/>
            <p:cNvSpPr>
              <a:spLocks noChangeShapeType="1"/>
            </p:cNvSpPr>
            <p:nvPr/>
          </p:nvSpPr>
          <p:spPr bwMode="auto">
            <a:xfrm>
              <a:off x="1609" y="232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5" name="Line 107"/>
            <p:cNvSpPr>
              <a:spLocks noChangeShapeType="1"/>
            </p:cNvSpPr>
            <p:nvPr/>
          </p:nvSpPr>
          <p:spPr bwMode="auto">
            <a:xfrm>
              <a:off x="1609" y="240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6" name="Line 108"/>
            <p:cNvSpPr>
              <a:spLocks noChangeShapeType="1"/>
            </p:cNvSpPr>
            <p:nvPr/>
          </p:nvSpPr>
          <p:spPr bwMode="auto">
            <a:xfrm>
              <a:off x="1609" y="247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7" name="Line 109"/>
            <p:cNvSpPr>
              <a:spLocks noChangeShapeType="1"/>
            </p:cNvSpPr>
            <p:nvPr/>
          </p:nvSpPr>
          <p:spPr bwMode="auto">
            <a:xfrm>
              <a:off x="1609" y="254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8" name="Line 110"/>
            <p:cNvSpPr>
              <a:spLocks noChangeShapeType="1"/>
            </p:cNvSpPr>
            <p:nvPr/>
          </p:nvSpPr>
          <p:spPr bwMode="auto">
            <a:xfrm>
              <a:off x="1609" y="261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9" name="Line 111"/>
            <p:cNvSpPr>
              <a:spLocks noChangeShapeType="1"/>
            </p:cNvSpPr>
            <p:nvPr/>
          </p:nvSpPr>
          <p:spPr bwMode="auto">
            <a:xfrm>
              <a:off x="1609" y="268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0" name="Line 112"/>
            <p:cNvSpPr>
              <a:spLocks noChangeShapeType="1"/>
            </p:cNvSpPr>
            <p:nvPr/>
          </p:nvSpPr>
          <p:spPr bwMode="auto">
            <a:xfrm>
              <a:off x="1609" y="276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1" name="Line 113"/>
            <p:cNvSpPr>
              <a:spLocks noChangeShapeType="1"/>
            </p:cNvSpPr>
            <p:nvPr/>
          </p:nvSpPr>
          <p:spPr bwMode="auto">
            <a:xfrm>
              <a:off x="1609" y="283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2" name="Line 114"/>
            <p:cNvSpPr>
              <a:spLocks noChangeShapeType="1"/>
            </p:cNvSpPr>
            <p:nvPr/>
          </p:nvSpPr>
          <p:spPr bwMode="auto">
            <a:xfrm>
              <a:off x="1609" y="290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3" name="Line 115"/>
            <p:cNvSpPr>
              <a:spLocks noChangeShapeType="1"/>
            </p:cNvSpPr>
            <p:nvPr/>
          </p:nvSpPr>
          <p:spPr bwMode="auto">
            <a:xfrm>
              <a:off x="1609" y="2977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4" name="Line 116"/>
            <p:cNvSpPr>
              <a:spLocks noChangeShapeType="1"/>
            </p:cNvSpPr>
            <p:nvPr/>
          </p:nvSpPr>
          <p:spPr bwMode="auto">
            <a:xfrm>
              <a:off x="1609" y="30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5" name="Line 117"/>
            <p:cNvSpPr>
              <a:spLocks noChangeShapeType="1"/>
            </p:cNvSpPr>
            <p:nvPr/>
          </p:nvSpPr>
          <p:spPr bwMode="auto">
            <a:xfrm>
              <a:off x="1609" y="31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6" name="Line 118"/>
            <p:cNvSpPr>
              <a:spLocks noChangeShapeType="1"/>
            </p:cNvSpPr>
            <p:nvPr/>
          </p:nvSpPr>
          <p:spPr bwMode="auto">
            <a:xfrm>
              <a:off x="1609" y="31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7" name="Line 119"/>
            <p:cNvSpPr>
              <a:spLocks noChangeShapeType="1"/>
            </p:cNvSpPr>
            <p:nvPr/>
          </p:nvSpPr>
          <p:spPr bwMode="auto">
            <a:xfrm>
              <a:off x="1609" y="32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8" name="Line 120"/>
            <p:cNvSpPr>
              <a:spLocks noChangeShapeType="1"/>
            </p:cNvSpPr>
            <p:nvPr/>
          </p:nvSpPr>
          <p:spPr bwMode="auto">
            <a:xfrm>
              <a:off x="1609" y="33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9" name="Line 121"/>
            <p:cNvSpPr>
              <a:spLocks noChangeShapeType="1"/>
            </p:cNvSpPr>
            <p:nvPr/>
          </p:nvSpPr>
          <p:spPr bwMode="auto">
            <a:xfrm>
              <a:off x="1609" y="34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0" name="Line 122"/>
            <p:cNvSpPr>
              <a:spLocks noChangeShapeType="1"/>
            </p:cNvSpPr>
            <p:nvPr/>
          </p:nvSpPr>
          <p:spPr bwMode="auto">
            <a:xfrm>
              <a:off x="1609" y="34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1" name="Line 123"/>
            <p:cNvSpPr>
              <a:spLocks noChangeShapeType="1"/>
            </p:cNvSpPr>
            <p:nvPr/>
          </p:nvSpPr>
          <p:spPr bwMode="auto">
            <a:xfrm>
              <a:off x="1609" y="355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2" name="Line 124"/>
            <p:cNvSpPr>
              <a:spLocks noChangeShapeType="1"/>
            </p:cNvSpPr>
            <p:nvPr/>
          </p:nvSpPr>
          <p:spPr bwMode="auto">
            <a:xfrm>
              <a:off x="1609" y="362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3" name="Line 125"/>
            <p:cNvSpPr>
              <a:spLocks noChangeShapeType="1"/>
            </p:cNvSpPr>
            <p:nvPr/>
          </p:nvSpPr>
          <p:spPr bwMode="auto">
            <a:xfrm>
              <a:off x="1609" y="369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4" name="Line 126"/>
            <p:cNvSpPr>
              <a:spLocks noChangeShapeType="1"/>
            </p:cNvSpPr>
            <p:nvPr/>
          </p:nvSpPr>
          <p:spPr bwMode="auto">
            <a:xfrm>
              <a:off x="1609" y="377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5" name="Line 127"/>
            <p:cNvSpPr>
              <a:spLocks noChangeShapeType="1"/>
            </p:cNvSpPr>
            <p:nvPr/>
          </p:nvSpPr>
          <p:spPr bwMode="auto">
            <a:xfrm>
              <a:off x="1609" y="384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6" name="Line 128"/>
            <p:cNvSpPr>
              <a:spLocks noChangeShapeType="1"/>
            </p:cNvSpPr>
            <p:nvPr/>
          </p:nvSpPr>
          <p:spPr bwMode="auto">
            <a:xfrm>
              <a:off x="1609" y="3914"/>
              <a:ext cx="1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7" name="Rectangle 129"/>
          <p:cNvSpPr>
            <a:spLocks noChangeArrowheads="1"/>
          </p:cNvSpPr>
          <p:nvPr/>
        </p:nvSpPr>
        <p:spPr bwMode="auto">
          <a:xfrm>
            <a:off x="7095186" y="1147762"/>
            <a:ext cx="428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38" name="Rectangle 130"/>
          <p:cNvSpPr>
            <a:spLocks noChangeArrowheads="1"/>
          </p:cNvSpPr>
          <p:nvPr/>
        </p:nvSpPr>
        <p:spPr bwMode="auto">
          <a:xfrm>
            <a:off x="3339161" y="1516062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39" name="Group 131"/>
          <p:cNvGrpSpPr>
            <a:grpSpLocks/>
          </p:cNvGrpSpPr>
          <p:nvPr/>
        </p:nvGrpSpPr>
        <p:grpSpPr bwMode="auto">
          <a:xfrm>
            <a:off x="3402661" y="1847850"/>
            <a:ext cx="76200" cy="1219200"/>
            <a:chOff x="226" y="1089"/>
            <a:chExt cx="48" cy="768"/>
          </a:xfrm>
        </p:grpSpPr>
        <p:sp>
          <p:nvSpPr>
            <p:cNvPr id="140" name="Freeform 132"/>
            <p:cNvSpPr>
              <a:spLocks/>
            </p:cNvSpPr>
            <p:nvPr/>
          </p:nvSpPr>
          <p:spPr bwMode="auto">
            <a:xfrm>
              <a:off x="226" y="1089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1" name="Line 133"/>
            <p:cNvSpPr>
              <a:spLocks noChangeShapeType="1"/>
            </p:cNvSpPr>
            <p:nvPr/>
          </p:nvSpPr>
          <p:spPr bwMode="auto">
            <a:xfrm>
              <a:off x="250" y="1177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2" name="Group 134"/>
          <p:cNvGrpSpPr>
            <a:grpSpLocks/>
          </p:cNvGrpSpPr>
          <p:nvPr/>
        </p:nvGrpSpPr>
        <p:grpSpPr bwMode="auto">
          <a:xfrm>
            <a:off x="3377261" y="2603500"/>
            <a:ext cx="3883025" cy="63500"/>
            <a:chOff x="210" y="1793"/>
            <a:chExt cx="2446" cy="40"/>
          </a:xfrm>
        </p:grpSpPr>
        <p:sp>
          <p:nvSpPr>
            <p:cNvPr id="143" name="Freeform 135"/>
            <p:cNvSpPr>
              <a:spLocks/>
            </p:cNvSpPr>
            <p:nvPr/>
          </p:nvSpPr>
          <p:spPr bwMode="auto">
            <a:xfrm>
              <a:off x="2568" y="1793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4" name="Line 136"/>
            <p:cNvSpPr>
              <a:spLocks noChangeShapeType="1"/>
            </p:cNvSpPr>
            <p:nvPr/>
          </p:nvSpPr>
          <p:spPr bwMode="auto">
            <a:xfrm>
              <a:off x="210" y="1809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45" name="Line 137"/>
          <p:cNvSpPr>
            <a:spLocks noChangeShapeType="1"/>
          </p:cNvSpPr>
          <p:nvPr/>
        </p:nvSpPr>
        <p:spPr bwMode="auto">
          <a:xfrm flipV="1">
            <a:off x="3450286" y="1936750"/>
            <a:ext cx="712788" cy="2667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6" name="Rectangle 138"/>
          <p:cNvSpPr>
            <a:spLocks noChangeArrowheads="1"/>
          </p:cNvSpPr>
          <p:nvPr/>
        </p:nvSpPr>
        <p:spPr bwMode="auto">
          <a:xfrm>
            <a:off x="3212161" y="1758950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7" name="Rectangle 139"/>
          <p:cNvSpPr>
            <a:spLocks noChangeArrowheads="1"/>
          </p:cNvSpPr>
          <p:nvPr/>
        </p:nvSpPr>
        <p:spPr bwMode="auto">
          <a:xfrm>
            <a:off x="3275661" y="1847850"/>
            <a:ext cx="698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L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8" name="Rectangle 140"/>
          <p:cNvSpPr>
            <a:spLocks noChangeArrowheads="1"/>
          </p:cNvSpPr>
          <p:nvPr/>
        </p:nvSpPr>
        <p:spPr bwMode="auto">
          <a:xfrm>
            <a:off x="4050361" y="2740025"/>
            <a:ext cx="936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9" name="Rectangle 141"/>
          <p:cNvSpPr>
            <a:spLocks noChangeArrowheads="1"/>
          </p:cNvSpPr>
          <p:nvPr/>
        </p:nvSpPr>
        <p:spPr bwMode="auto">
          <a:xfrm>
            <a:off x="5496574" y="2676525"/>
            <a:ext cx="936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0" name="Rectangle 142"/>
          <p:cNvSpPr>
            <a:spLocks noChangeArrowheads="1"/>
          </p:cNvSpPr>
          <p:nvPr/>
        </p:nvSpPr>
        <p:spPr bwMode="auto">
          <a:xfrm>
            <a:off x="3910661" y="2727325"/>
            <a:ext cx="968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1" name="Rectangle 143"/>
          <p:cNvSpPr>
            <a:spLocks noChangeArrowheads="1"/>
          </p:cNvSpPr>
          <p:nvPr/>
        </p:nvSpPr>
        <p:spPr bwMode="auto">
          <a:xfrm>
            <a:off x="7095186" y="2298700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2" name="Rectangle 144"/>
          <p:cNvSpPr>
            <a:spLocks noChangeArrowheads="1"/>
          </p:cNvSpPr>
          <p:nvPr/>
        </p:nvSpPr>
        <p:spPr bwMode="auto">
          <a:xfrm>
            <a:off x="3339161" y="2714625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3" name="Line 145"/>
          <p:cNvSpPr>
            <a:spLocks noChangeShapeType="1"/>
          </p:cNvSpPr>
          <p:nvPr/>
        </p:nvSpPr>
        <p:spPr bwMode="auto">
          <a:xfrm>
            <a:off x="4163074" y="1946275"/>
            <a:ext cx="1430337" cy="2635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154" name="Group 146"/>
          <p:cNvGrpSpPr>
            <a:grpSpLocks/>
          </p:cNvGrpSpPr>
          <p:nvPr/>
        </p:nvGrpSpPr>
        <p:grpSpPr bwMode="auto">
          <a:xfrm>
            <a:off x="3402661" y="3159125"/>
            <a:ext cx="76200" cy="1219200"/>
            <a:chOff x="226" y="2041"/>
            <a:chExt cx="48" cy="768"/>
          </a:xfrm>
        </p:grpSpPr>
        <p:sp>
          <p:nvSpPr>
            <p:cNvPr id="155" name="Freeform 147"/>
            <p:cNvSpPr>
              <a:spLocks/>
            </p:cNvSpPr>
            <p:nvPr/>
          </p:nvSpPr>
          <p:spPr bwMode="auto">
            <a:xfrm>
              <a:off x="226" y="2041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6" name="Line 148"/>
            <p:cNvSpPr>
              <a:spLocks noChangeShapeType="1"/>
            </p:cNvSpPr>
            <p:nvPr/>
          </p:nvSpPr>
          <p:spPr bwMode="auto">
            <a:xfrm>
              <a:off x="250" y="2129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7" name="Group 149"/>
          <p:cNvGrpSpPr>
            <a:grpSpLocks/>
          </p:cNvGrpSpPr>
          <p:nvPr/>
        </p:nvGrpSpPr>
        <p:grpSpPr bwMode="auto">
          <a:xfrm>
            <a:off x="3377261" y="4184650"/>
            <a:ext cx="3883025" cy="63500"/>
            <a:chOff x="210" y="2201"/>
            <a:chExt cx="2446" cy="40"/>
          </a:xfrm>
        </p:grpSpPr>
        <p:sp>
          <p:nvSpPr>
            <p:cNvPr id="158" name="Freeform 150"/>
            <p:cNvSpPr>
              <a:spLocks/>
            </p:cNvSpPr>
            <p:nvPr/>
          </p:nvSpPr>
          <p:spPr bwMode="auto">
            <a:xfrm>
              <a:off x="2568" y="2201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" name="Line 151"/>
            <p:cNvSpPr>
              <a:spLocks noChangeShapeType="1"/>
            </p:cNvSpPr>
            <p:nvPr/>
          </p:nvSpPr>
          <p:spPr bwMode="auto">
            <a:xfrm>
              <a:off x="210" y="2217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60" name="Rectangle 152"/>
          <p:cNvSpPr>
            <a:spLocks noChangeArrowheads="1"/>
          </p:cNvSpPr>
          <p:nvPr/>
        </p:nvSpPr>
        <p:spPr bwMode="auto">
          <a:xfrm>
            <a:off x="4050361" y="4273550"/>
            <a:ext cx="936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1" name="Rectangle 153"/>
          <p:cNvSpPr>
            <a:spLocks noChangeArrowheads="1"/>
          </p:cNvSpPr>
          <p:nvPr/>
        </p:nvSpPr>
        <p:spPr bwMode="auto">
          <a:xfrm>
            <a:off x="5496574" y="4210050"/>
            <a:ext cx="936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2" name="Rectangle 154"/>
          <p:cNvSpPr>
            <a:spLocks noChangeArrowheads="1"/>
          </p:cNvSpPr>
          <p:nvPr/>
        </p:nvSpPr>
        <p:spPr bwMode="auto">
          <a:xfrm>
            <a:off x="3910661" y="4260850"/>
            <a:ext cx="968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3" name="Rectangle 155"/>
          <p:cNvSpPr>
            <a:spLocks noChangeArrowheads="1"/>
          </p:cNvSpPr>
          <p:nvPr/>
        </p:nvSpPr>
        <p:spPr bwMode="auto">
          <a:xfrm>
            <a:off x="7095186" y="3879850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4" name="Rectangle 156"/>
          <p:cNvSpPr>
            <a:spLocks noChangeArrowheads="1"/>
          </p:cNvSpPr>
          <p:nvPr/>
        </p:nvSpPr>
        <p:spPr bwMode="auto">
          <a:xfrm>
            <a:off x="3339161" y="4248150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65" name="Group 157"/>
          <p:cNvGrpSpPr>
            <a:grpSpLocks/>
          </p:cNvGrpSpPr>
          <p:nvPr/>
        </p:nvGrpSpPr>
        <p:grpSpPr bwMode="auto">
          <a:xfrm>
            <a:off x="3374086" y="4764087"/>
            <a:ext cx="125413" cy="2022475"/>
            <a:chOff x="226" y="3082"/>
            <a:chExt cx="48" cy="776"/>
          </a:xfrm>
        </p:grpSpPr>
        <p:sp>
          <p:nvSpPr>
            <p:cNvPr id="166" name="Freeform 158"/>
            <p:cNvSpPr>
              <a:spLocks/>
            </p:cNvSpPr>
            <p:nvPr/>
          </p:nvSpPr>
          <p:spPr bwMode="auto">
            <a:xfrm>
              <a:off x="226" y="3082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7" name="Line 159"/>
            <p:cNvSpPr>
              <a:spLocks noChangeShapeType="1"/>
            </p:cNvSpPr>
            <p:nvPr/>
          </p:nvSpPr>
          <p:spPr bwMode="auto">
            <a:xfrm>
              <a:off x="250" y="3170"/>
              <a:ext cx="1" cy="6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8" name="Group 160"/>
          <p:cNvGrpSpPr>
            <a:grpSpLocks/>
          </p:cNvGrpSpPr>
          <p:nvPr/>
        </p:nvGrpSpPr>
        <p:grpSpPr bwMode="auto">
          <a:xfrm>
            <a:off x="3367736" y="5919787"/>
            <a:ext cx="3883025" cy="76200"/>
            <a:chOff x="210" y="3786"/>
            <a:chExt cx="2446" cy="48"/>
          </a:xfrm>
        </p:grpSpPr>
        <p:sp>
          <p:nvSpPr>
            <p:cNvPr id="169" name="Freeform 161"/>
            <p:cNvSpPr>
              <a:spLocks/>
            </p:cNvSpPr>
            <p:nvPr/>
          </p:nvSpPr>
          <p:spPr bwMode="auto">
            <a:xfrm>
              <a:off x="2568" y="3786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0" name="Line 162"/>
            <p:cNvSpPr>
              <a:spLocks noChangeShapeType="1"/>
            </p:cNvSpPr>
            <p:nvPr/>
          </p:nvSpPr>
          <p:spPr bwMode="auto">
            <a:xfrm>
              <a:off x="210" y="3810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71" name="Rectangle 163"/>
          <p:cNvSpPr>
            <a:spLocks noChangeArrowheads="1"/>
          </p:cNvSpPr>
          <p:nvPr/>
        </p:nvSpPr>
        <p:spPr bwMode="auto">
          <a:xfrm>
            <a:off x="4040836" y="6021387"/>
            <a:ext cx="936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2" name="Rectangle 164"/>
          <p:cNvSpPr>
            <a:spLocks noChangeArrowheads="1"/>
          </p:cNvSpPr>
          <p:nvPr/>
        </p:nvSpPr>
        <p:spPr bwMode="auto">
          <a:xfrm>
            <a:off x="5487049" y="5945187"/>
            <a:ext cx="936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3" name="Rectangle 165"/>
          <p:cNvSpPr>
            <a:spLocks noChangeArrowheads="1"/>
          </p:cNvSpPr>
          <p:nvPr/>
        </p:nvSpPr>
        <p:spPr bwMode="auto">
          <a:xfrm>
            <a:off x="3901136" y="6008687"/>
            <a:ext cx="968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4" name="Rectangle 166"/>
          <p:cNvSpPr>
            <a:spLocks noChangeArrowheads="1"/>
          </p:cNvSpPr>
          <p:nvPr/>
        </p:nvSpPr>
        <p:spPr bwMode="auto">
          <a:xfrm>
            <a:off x="7085661" y="5627687"/>
            <a:ext cx="428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5" name="Rectangle 167"/>
          <p:cNvSpPr>
            <a:spLocks noChangeArrowheads="1"/>
          </p:cNvSpPr>
          <p:nvPr/>
        </p:nvSpPr>
        <p:spPr bwMode="auto">
          <a:xfrm>
            <a:off x="3329636" y="5983287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6" name="Text Box 168"/>
          <p:cNvSpPr txBox="1">
            <a:spLocks noChangeArrowheads="1"/>
          </p:cNvSpPr>
          <p:nvPr/>
        </p:nvSpPr>
        <p:spPr bwMode="auto">
          <a:xfrm>
            <a:off x="3456636" y="220662"/>
            <a:ext cx="36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009900"/>
                </a:solidFill>
                <a:latin typeface="Symbol" panose="05050102010706020507" pitchFamily="18" charset="2"/>
              </a:rPr>
              <a:t>j</a:t>
            </a:r>
          </a:p>
        </p:txBody>
      </p:sp>
      <p:sp>
        <p:nvSpPr>
          <p:cNvPr id="179" name="Line 171"/>
          <p:cNvSpPr>
            <a:spLocks noChangeShapeType="1"/>
          </p:cNvSpPr>
          <p:nvPr/>
        </p:nvSpPr>
        <p:spPr bwMode="auto">
          <a:xfrm flipH="1" flipV="1">
            <a:off x="4948886" y="4833937"/>
            <a:ext cx="2162175" cy="19050"/>
          </a:xfrm>
          <a:prstGeom prst="line">
            <a:avLst/>
          </a:prstGeom>
          <a:noFill/>
          <a:ln w="12700">
            <a:solidFill>
              <a:srgbClr val="FF99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" name="Line 172"/>
          <p:cNvSpPr>
            <a:spLocks noChangeShapeType="1"/>
          </p:cNvSpPr>
          <p:nvPr/>
        </p:nvSpPr>
        <p:spPr bwMode="auto">
          <a:xfrm>
            <a:off x="3434411" y="5329237"/>
            <a:ext cx="70485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1" name="Line 173"/>
          <p:cNvSpPr>
            <a:spLocks noChangeShapeType="1"/>
          </p:cNvSpPr>
          <p:nvPr/>
        </p:nvSpPr>
        <p:spPr bwMode="auto">
          <a:xfrm>
            <a:off x="4148786" y="5329237"/>
            <a:ext cx="0" cy="1285875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2" name="Line 174"/>
          <p:cNvSpPr>
            <a:spLocks noChangeShapeType="1"/>
          </p:cNvSpPr>
          <p:nvPr/>
        </p:nvSpPr>
        <p:spPr bwMode="auto">
          <a:xfrm>
            <a:off x="4129736" y="6624637"/>
            <a:ext cx="80010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3" name="Line 175"/>
          <p:cNvSpPr>
            <a:spLocks noChangeShapeType="1"/>
          </p:cNvSpPr>
          <p:nvPr/>
        </p:nvSpPr>
        <p:spPr bwMode="auto">
          <a:xfrm flipV="1">
            <a:off x="5596586" y="5319712"/>
            <a:ext cx="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" name="Line 176"/>
          <p:cNvSpPr>
            <a:spLocks noChangeShapeType="1"/>
          </p:cNvSpPr>
          <p:nvPr/>
        </p:nvSpPr>
        <p:spPr bwMode="auto">
          <a:xfrm>
            <a:off x="5596586" y="5329237"/>
            <a:ext cx="78105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5" name="Text Box 177"/>
          <p:cNvSpPr txBox="1">
            <a:spLocks noChangeArrowheads="1"/>
          </p:cNvSpPr>
          <p:nvPr/>
        </p:nvSpPr>
        <p:spPr bwMode="auto">
          <a:xfrm>
            <a:off x="3409011" y="4957762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aseline="-25000">
                <a:solidFill>
                  <a:srgbClr val="0099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6" name="Text Box 178"/>
          <p:cNvSpPr txBox="1">
            <a:spLocks noChangeArrowheads="1"/>
          </p:cNvSpPr>
          <p:nvPr/>
        </p:nvSpPr>
        <p:spPr bwMode="auto">
          <a:xfrm>
            <a:off x="3162949" y="5149850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Times New Roman" panose="02020603050405020304" pitchFamily="18" charset="0"/>
              </a:rPr>
              <a:t>E</a:t>
            </a:r>
            <a:endParaRPr lang="fr-FR" altLang="fr-FR" sz="1800" baseline="-2500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8" name="Line 180"/>
          <p:cNvSpPr>
            <a:spLocks noChangeShapeType="1"/>
          </p:cNvSpPr>
          <p:nvPr/>
        </p:nvSpPr>
        <p:spPr bwMode="auto">
          <a:xfrm flipH="1">
            <a:off x="3443936" y="6624637"/>
            <a:ext cx="170497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9" name="Line 181"/>
          <p:cNvSpPr>
            <a:spLocks noChangeShapeType="1"/>
          </p:cNvSpPr>
          <p:nvPr/>
        </p:nvSpPr>
        <p:spPr bwMode="auto">
          <a:xfrm>
            <a:off x="5133036" y="1463675"/>
            <a:ext cx="455613" cy="9525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0" name="Line 182"/>
          <p:cNvSpPr>
            <a:spLocks noChangeShapeType="1"/>
          </p:cNvSpPr>
          <p:nvPr/>
        </p:nvSpPr>
        <p:spPr bwMode="auto">
          <a:xfrm flipV="1">
            <a:off x="5604524" y="1938337"/>
            <a:ext cx="712787" cy="2667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1" name="Line 183"/>
          <p:cNvSpPr>
            <a:spLocks noChangeShapeType="1"/>
          </p:cNvSpPr>
          <p:nvPr/>
        </p:nvSpPr>
        <p:spPr bwMode="auto">
          <a:xfrm flipV="1">
            <a:off x="3442349" y="3786187"/>
            <a:ext cx="712787" cy="266700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2" name="Line 184"/>
          <p:cNvSpPr>
            <a:spLocks noChangeShapeType="1"/>
          </p:cNvSpPr>
          <p:nvPr/>
        </p:nvSpPr>
        <p:spPr bwMode="auto">
          <a:xfrm flipV="1">
            <a:off x="3442349" y="3540125"/>
            <a:ext cx="722312" cy="4953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3" name="Line 185"/>
          <p:cNvSpPr>
            <a:spLocks noChangeShapeType="1"/>
          </p:cNvSpPr>
          <p:nvPr/>
        </p:nvSpPr>
        <p:spPr bwMode="auto">
          <a:xfrm flipV="1">
            <a:off x="4158311" y="3532187"/>
            <a:ext cx="7938" cy="6953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4" name="Line 186"/>
          <p:cNvSpPr>
            <a:spLocks noChangeShapeType="1"/>
          </p:cNvSpPr>
          <p:nvPr/>
        </p:nvSpPr>
        <p:spPr bwMode="auto">
          <a:xfrm flipV="1">
            <a:off x="4159899" y="4200525"/>
            <a:ext cx="1446212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5" name="Line 187"/>
          <p:cNvSpPr>
            <a:spLocks noChangeShapeType="1"/>
          </p:cNvSpPr>
          <p:nvPr/>
        </p:nvSpPr>
        <p:spPr bwMode="auto">
          <a:xfrm flipV="1">
            <a:off x="5596586" y="4027487"/>
            <a:ext cx="7938" cy="1619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6" name="Line 188"/>
          <p:cNvSpPr>
            <a:spLocks noChangeShapeType="1"/>
          </p:cNvSpPr>
          <p:nvPr/>
        </p:nvSpPr>
        <p:spPr bwMode="auto">
          <a:xfrm flipV="1">
            <a:off x="5596586" y="3532187"/>
            <a:ext cx="722313" cy="4953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7" name="Text Box 189"/>
          <p:cNvSpPr txBox="1">
            <a:spLocks noChangeArrowheads="1"/>
          </p:cNvSpPr>
          <p:nvPr/>
        </p:nvSpPr>
        <p:spPr bwMode="auto">
          <a:xfrm>
            <a:off x="3532836" y="3233737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98" name="Text Box 190"/>
          <p:cNvSpPr txBox="1">
            <a:spLocks noChangeArrowheads="1"/>
          </p:cNvSpPr>
          <p:nvPr/>
        </p:nvSpPr>
        <p:spPr bwMode="auto">
          <a:xfrm>
            <a:off x="4534549" y="3635375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F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solidFill>
                  <a:srgbClr val="FF99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99" name="Line 191"/>
          <p:cNvSpPr>
            <a:spLocks noChangeShapeType="1"/>
          </p:cNvSpPr>
          <p:nvPr/>
        </p:nvSpPr>
        <p:spPr bwMode="auto">
          <a:xfrm>
            <a:off x="4164661" y="3986212"/>
            <a:ext cx="754063" cy="19685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0" name="Line 192"/>
          <p:cNvSpPr>
            <a:spLocks noChangeShapeType="1"/>
          </p:cNvSpPr>
          <p:nvPr/>
        </p:nvSpPr>
        <p:spPr bwMode="auto">
          <a:xfrm>
            <a:off x="4939361" y="3986212"/>
            <a:ext cx="0" cy="24765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1" name="Line 193"/>
          <p:cNvSpPr>
            <a:spLocks noChangeShapeType="1"/>
          </p:cNvSpPr>
          <p:nvPr/>
        </p:nvSpPr>
        <p:spPr bwMode="auto">
          <a:xfrm>
            <a:off x="4931424" y="5949950"/>
            <a:ext cx="0" cy="66675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2" name="Line 194"/>
          <p:cNvSpPr>
            <a:spLocks noChangeShapeType="1"/>
          </p:cNvSpPr>
          <p:nvPr/>
        </p:nvSpPr>
        <p:spPr bwMode="auto">
          <a:xfrm>
            <a:off x="5599761" y="5332412"/>
            <a:ext cx="0" cy="638175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3" name="Line 195"/>
          <p:cNvSpPr>
            <a:spLocks noChangeShapeType="1"/>
          </p:cNvSpPr>
          <p:nvPr/>
        </p:nvSpPr>
        <p:spPr bwMode="auto">
          <a:xfrm>
            <a:off x="4940949" y="5969000"/>
            <a:ext cx="64770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204" name="Object 1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600700"/>
              </p:ext>
            </p:extLst>
          </p:nvPr>
        </p:nvGraphicFramePr>
        <p:xfrm>
          <a:off x="5202886" y="6356350"/>
          <a:ext cx="5556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3359" imgH="355292" progId="Equation.3">
                  <p:embed/>
                </p:oleObj>
              </mc:Choice>
              <mc:Fallback>
                <p:oleObj name="Equation" r:id="rId5" imgW="393359" imgH="355292" progId="Equation.3">
                  <p:embed/>
                  <p:pic>
                    <p:nvPicPr>
                      <p:cNvPr id="204" name="Object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886" y="6356350"/>
                        <a:ext cx="55562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" name="Line 197"/>
          <p:cNvSpPr>
            <a:spLocks noChangeShapeType="1"/>
          </p:cNvSpPr>
          <p:nvPr/>
        </p:nvSpPr>
        <p:spPr bwMode="auto">
          <a:xfrm>
            <a:off x="3435999" y="5959475"/>
            <a:ext cx="704850" cy="0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6" name="Line 198"/>
          <p:cNvSpPr>
            <a:spLocks noChangeShapeType="1"/>
          </p:cNvSpPr>
          <p:nvPr/>
        </p:nvSpPr>
        <p:spPr bwMode="auto">
          <a:xfrm>
            <a:off x="4142436" y="4846637"/>
            <a:ext cx="809625" cy="0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7" name="Line 199"/>
          <p:cNvSpPr>
            <a:spLocks noChangeShapeType="1"/>
          </p:cNvSpPr>
          <p:nvPr/>
        </p:nvSpPr>
        <p:spPr bwMode="auto">
          <a:xfrm>
            <a:off x="4944124" y="5324475"/>
            <a:ext cx="647700" cy="0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8" name="Line 200"/>
          <p:cNvSpPr>
            <a:spLocks noChangeShapeType="1"/>
          </p:cNvSpPr>
          <p:nvPr/>
        </p:nvSpPr>
        <p:spPr bwMode="auto">
          <a:xfrm flipV="1">
            <a:off x="4945711" y="4821237"/>
            <a:ext cx="0" cy="485775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9" name="Line 201"/>
          <p:cNvSpPr>
            <a:spLocks noChangeShapeType="1"/>
          </p:cNvSpPr>
          <p:nvPr/>
        </p:nvSpPr>
        <p:spPr bwMode="auto">
          <a:xfrm flipV="1">
            <a:off x="4166249" y="4860925"/>
            <a:ext cx="0" cy="1095375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0" name="Text Box 202"/>
          <p:cNvSpPr txBox="1">
            <a:spLocks noChangeArrowheads="1"/>
          </p:cNvSpPr>
          <p:nvPr/>
        </p:nvSpPr>
        <p:spPr bwMode="auto">
          <a:xfrm>
            <a:off x="4315474" y="4806950"/>
            <a:ext cx="434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F66FF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>
                <a:solidFill>
                  <a:srgbClr val="FF66FF"/>
                </a:solidFill>
                <a:latin typeface="Times New Roman" panose="02020603050405020304" pitchFamily="18" charset="0"/>
              </a:rPr>
              <a:t>ce</a:t>
            </a:r>
          </a:p>
        </p:txBody>
      </p:sp>
      <p:sp>
        <p:nvSpPr>
          <p:cNvPr id="211" name="Arc 203"/>
          <p:cNvSpPr>
            <a:spLocks/>
          </p:cNvSpPr>
          <p:nvPr/>
        </p:nvSpPr>
        <p:spPr bwMode="auto">
          <a:xfrm>
            <a:off x="4053536" y="3427412"/>
            <a:ext cx="706438" cy="390525"/>
          </a:xfrm>
          <a:custGeom>
            <a:avLst/>
            <a:gdLst>
              <a:gd name="T0" fmla="*/ 0 w 24280"/>
              <a:gd name="T1" fmla="*/ 2147483646 h 21600"/>
              <a:gd name="T2" fmla="*/ 2147483646 w 24280"/>
              <a:gd name="T3" fmla="*/ 2147483646 h 21600"/>
              <a:gd name="T4" fmla="*/ 2147483646 w 2428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280" h="21600" fill="none" extrusionOk="0">
                <a:moveTo>
                  <a:pt x="0" y="16759"/>
                </a:moveTo>
                <a:cubicBezTo>
                  <a:pt x="2256" y="6950"/>
                  <a:pt x="10986" y="-1"/>
                  <a:pt x="21051" y="0"/>
                </a:cubicBezTo>
                <a:cubicBezTo>
                  <a:pt x="22131" y="0"/>
                  <a:pt x="23211" y="81"/>
                  <a:pt x="24280" y="242"/>
                </a:cubicBezTo>
              </a:path>
              <a:path w="24280" h="21600" stroke="0" extrusionOk="0">
                <a:moveTo>
                  <a:pt x="0" y="16759"/>
                </a:moveTo>
                <a:cubicBezTo>
                  <a:pt x="2256" y="6950"/>
                  <a:pt x="10986" y="-1"/>
                  <a:pt x="21051" y="0"/>
                </a:cubicBezTo>
                <a:cubicBezTo>
                  <a:pt x="22131" y="0"/>
                  <a:pt x="23211" y="81"/>
                  <a:pt x="24280" y="242"/>
                </a:cubicBezTo>
                <a:lnTo>
                  <a:pt x="21051" y="21600"/>
                </a:lnTo>
                <a:lnTo>
                  <a:pt x="0" y="16759"/>
                </a:lnTo>
                <a:close/>
              </a:path>
            </a:pathLst>
          </a:custGeom>
          <a:noFill/>
          <a:ln w="19050">
            <a:solidFill>
              <a:schemeClr val="bg2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2" name="Text Box 204"/>
          <p:cNvSpPr txBox="1">
            <a:spLocks noChangeArrowheads="1"/>
          </p:cNvSpPr>
          <p:nvPr/>
        </p:nvSpPr>
        <p:spPr bwMode="auto">
          <a:xfrm>
            <a:off x="4782199" y="3130550"/>
            <a:ext cx="40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13" name="Arc 205"/>
          <p:cNvSpPr>
            <a:spLocks/>
          </p:cNvSpPr>
          <p:nvPr/>
        </p:nvSpPr>
        <p:spPr bwMode="auto">
          <a:xfrm flipV="1">
            <a:off x="3740799" y="3849687"/>
            <a:ext cx="822325" cy="504825"/>
          </a:xfrm>
          <a:custGeom>
            <a:avLst/>
            <a:gdLst>
              <a:gd name="T0" fmla="*/ 0 w 21051"/>
              <a:gd name="T1" fmla="*/ 2147483646 h 21027"/>
              <a:gd name="T2" fmla="*/ 2147483646 w 21051"/>
              <a:gd name="T3" fmla="*/ 0 h 21027"/>
              <a:gd name="T4" fmla="*/ 2147483646 w 21051"/>
              <a:gd name="T5" fmla="*/ 2147483646 h 210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051" h="21027" fill="none" extrusionOk="0">
                <a:moveTo>
                  <a:pt x="0" y="16186"/>
                </a:moveTo>
                <a:cubicBezTo>
                  <a:pt x="1845" y="8161"/>
                  <a:pt x="8093" y="1883"/>
                  <a:pt x="16108" y="-1"/>
                </a:cubicBezTo>
              </a:path>
              <a:path w="21051" h="21027" stroke="0" extrusionOk="0">
                <a:moveTo>
                  <a:pt x="0" y="16186"/>
                </a:moveTo>
                <a:cubicBezTo>
                  <a:pt x="1845" y="8161"/>
                  <a:pt x="8093" y="1883"/>
                  <a:pt x="16108" y="-1"/>
                </a:cubicBezTo>
                <a:lnTo>
                  <a:pt x="21051" y="21027"/>
                </a:lnTo>
                <a:lnTo>
                  <a:pt x="0" y="16186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4" name="Text Box 206"/>
          <p:cNvSpPr txBox="1">
            <a:spLocks noChangeArrowheads="1"/>
          </p:cNvSpPr>
          <p:nvPr/>
        </p:nvSpPr>
        <p:spPr bwMode="auto">
          <a:xfrm>
            <a:off x="4315474" y="4149725"/>
            <a:ext cx="514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mi</a:t>
            </a:r>
            <a:r>
              <a:rPr lang="fr-FR" altLang="fr-FR" sz="1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15" name="Rectangle 207"/>
          <p:cNvSpPr>
            <a:spLocks noChangeArrowheads="1"/>
          </p:cNvSpPr>
          <p:nvPr/>
        </p:nvSpPr>
        <p:spPr bwMode="auto">
          <a:xfrm>
            <a:off x="4983811" y="4230687"/>
            <a:ext cx="936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r>
              <a:rPr lang="fr-FR" altLang="fr-FR" sz="1200" baseline="-250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 baseline="-25000">
              <a:latin typeface="Times New Roman" panose="02020603050405020304" pitchFamily="18" charset="0"/>
            </a:endParaRPr>
          </a:p>
        </p:txBody>
      </p:sp>
      <p:sp>
        <p:nvSpPr>
          <p:cNvPr id="216" name="Rectangle 208"/>
          <p:cNvSpPr>
            <a:spLocks noChangeArrowheads="1"/>
          </p:cNvSpPr>
          <p:nvPr/>
        </p:nvSpPr>
        <p:spPr bwMode="auto">
          <a:xfrm>
            <a:off x="5061599" y="1546225"/>
            <a:ext cx="936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r>
              <a:rPr lang="fr-FR" altLang="fr-FR" sz="1200" baseline="-250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 baseline="-25000">
              <a:latin typeface="Times New Roman" panose="02020603050405020304" pitchFamily="18" charset="0"/>
            </a:endParaRPr>
          </a:p>
        </p:txBody>
      </p:sp>
      <p:grpSp>
        <p:nvGrpSpPr>
          <p:cNvPr id="217" name="Group 209"/>
          <p:cNvGrpSpPr>
            <a:grpSpLocks/>
          </p:cNvGrpSpPr>
          <p:nvPr/>
        </p:nvGrpSpPr>
        <p:grpSpPr bwMode="auto">
          <a:xfrm>
            <a:off x="7580961" y="3957637"/>
            <a:ext cx="3082925" cy="1428750"/>
            <a:chOff x="2996" y="1914"/>
            <a:chExt cx="1942" cy="900"/>
          </a:xfrm>
        </p:grpSpPr>
        <p:sp>
          <p:nvSpPr>
            <p:cNvPr id="218" name="Rectangle 210"/>
            <p:cNvSpPr>
              <a:spLocks noChangeArrowheads="1"/>
            </p:cNvSpPr>
            <p:nvPr/>
          </p:nvSpPr>
          <p:spPr bwMode="auto">
            <a:xfrm>
              <a:off x="4038" y="2292"/>
              <a:ext cx="900" cy="522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19" name="Text Box 211"/>
            <p:cNvSpPr txBox="1">
              <a:spLocks noChangeArrowheads="1"/>
            </p:cNvSpPr>
            <p:nvPr/>
          </p:nvSpPr>
          <p:spPr bwMode="auto">
            <a:xfrm>
              <a:off x="2996" y="1914"/>
              <a:ext cx="19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i="1">
                  <a:latin typeface="Times New Roman" panose="02020603050405020304" pitchFamily="18" charset="0"/>
                </a:rPr>
                <a:t>Full demagnetization if: t</a:t>
              </a:r>
              <a:r>
                <a:rPr lang="en-CA" altLang="fr-FR" sz="1800" b="1" i="1" baseline="-25000">
                  <a:latin typeface="Times New Roman" panose="02020603050405020304" pitchFamily="18" charset="0"/>
                </a:rPr>
                <a:t>0</a:t>
              </a:r>
              <a:r>
                <a:rPr lang="en-CA" altLang="fr-FR" sz="1800" b="1" i="1">
                  <a:latin typeface="Times New Roman" panose="02020603050405020304" pitchFamily="18" charset="0"/>
                </a:rPr>
                <a:t> &lt; T</a:t>
              </a:r>
            </a:p>
          </p:txBody>
        </p:sp>
        <p:graphicFrame>
          <p:nvGraphicFramePr>
            <p:cNvPr id="220" name="Object 212"/>
            <p:cNvGraphicFramePr>
              <a:graphicFrameLocks noChangeAspect="1"/>
            </p:cNvGraphicFramePr>
            <p:nvPr/>
          </p:nvGraphicFramePr>
          <p:xfrm>
            <a:off x="4071" y="2313"/>
            <a:ext cx="836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749300" imgH="419100" progId="Equation.3">
                    <p:embed/>
                  </p:oleObj>
                </mc:Choice>
                <mc:Fallback>
                  <p:oleObj name="Equation" r:id="rId7" imgW="749300" imgH="419100" progId="Equation.3">
                    <p:embed/>
                    <p:pic>
                      <p:nvPicPr>
                        <p:cNvPr id="220" name="Object 2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1" y="2313"/>
                          <a:ext cx="836" cy="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1" name="Group 213"/>
          <p:cNvGrpSpPr>
            <a:grpSpLocks/>
          </p:cNvGrpSpPr>
          <p:nvPr/>
        </p:nvGrpSpPr>
        <p:grpSpPr bwMode="auto">
          <a:xfrm>
            <a:off x="6863411" y="4710112"/>
            <a:ext cx="4743450" cy="1704975"/>
            <a:chOff x="2574" y="2778"/>
            <a:chExt cx="2988" cy="1074"/>
          </a:xfrm>
        </p:grpSpPr>
        <p:sp>
          <p:nvSpPr>
            <p:cNvPr id="222" name="Oval 214"/>
            <p:cNvSpPr>
              <a:spLocks noChangeArrowheads="1"/>
            </p:cNvSpPr>
            <p:nvPr/>
          </p:nvSpPr>
          <p:spPr bwMode="auto">
            <a:xfrm>
              <a:off x="5040" y="3216"/>
              <a:ext cx="522" cy="636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223" name="Group 215"/>
            <p:cNvGrpSpPr>
              <a:grpSpLocks/>
            </p:cNvGrpSpPr>
            <p:nvPr/>
          </p:nvGrpSpPr>
          <p:grpSpPr bwMode="auto">
            <a:xfrm>
              <a:off x="2574" y="2778"/>
              <a:ext cx="2892" cy="964"/>
              <a:chOff x="2574" y="2778"/>
              <a:chExt cx="2892" cy="964"/>
            </a:xfrm>
          </p:grpSpPr>
          <p:sp>
            <p:nvSpPr>
              <p:cNvPr id="224" name="Oval 216"/>
              <p:cNvSpPr>
                <a:spLocks noChangeArrowheads="1"/>
              </p:cNvSpPr>
              <p:nvPr/>
            </p:nvSpPr>
            <p:spPr bwMode="auto">
              <a:xfrm>
                <a:off x="2574" y="2778"/>
                <a:ext cx="1278" cy="4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25" name="Object 217"/>
              <p:cNvGraphicFramePr>
                <a:graphicFrameLocks noChangeAspect="1"/>
              </p:cNvGraphicFramePr>
              <p:nvPr/>
            </p:nvGraphicFramePr>
            <p:xfrm>
              <a:off x="2643" y="2800"/>
              <a:ext cx="1007" cy="4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990600" imgH="419100" progId="Equation.3">
                      <p:embed/>
                    </p:oleObj>
                  </mc:Choice>
                  <mc:Fallback>
                    <p:oleObj name="Equation" r:id="rId9" imgW="990600" imgH="419100" progId="Equation.3">
                      <p:embed/>
                      <p:pic>
                        <p:nvPicPr>
                          <p:cNvPr id="225" name="Object 2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3" y="2800"/>
                            <a:ext cx="1007" cy="4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6" name="Object 218"/>
              <p:cNvGraphicFramePr>
                <a:graphicFrameLocks noChangeAspect="1"/>
              </p:cNvGraphicFramePr>
              <p:nvPr/>
            </p:nvGraphicFramePr>
            <p:xfrm>
              <a:off x="2922" y="3307"/>
              <a:ext cx="2544" cy="4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006600" imgH="342900" progId="Equation.3">
                      <p:embed/>
                    </p:oleObj>
                  </mc:Choice>
                  <mc:Fallback>
                    <p:oleObj name="Equation" r:id="rId11" imgW="2006600" imgH="342900" progId="Equation.3">
                      <p:embed/>
                      <p:pic>
                        <p:nvPicPr>
                          <p:cNvPr id="226" name="Object 2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2" y="3307"/>
                            <a:ext cx="2544" cy="4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27" name="Object 2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447050"/>
              </p:ext>
            </p:extLst>
          </p:nvPr>
        </p:nvGraphicFramePr>
        <p:xfrm>
          <a:off x="4520261" y="779462"/>
          <a:ext cx="6794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09336" imgH="380835" progId="Equation.3">
                  <p:embed/>
                </p:oleObj>
              </mc:Choice>
              <mc:Fallback>
                <p:oleObj name="Equation" r:id="rId13" imgW="609336" imgH="380835" progId="Equation.3">
                  <p:embed/>
                  <p:pic>
                    <p:nvPicPr>
                      <p:cNvPr id="227" name="Object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0261" y="779462"/>
                        <a:ext cx="6794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" name="Object 2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741014"/>
              </p:ext>
            </p:extLst>
          </p:nvPr>
        </p:nvGraphicFramePr>
        <p:xfrm>
          <a:off x="3448699" y="663575"/>
          <a:ext cx="6048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08000" imgH="381000" progId="Equation.3">
                  <p:embed/>
                </p:oleObj>
              </mc:Choice>
              <mc:Fallback>
                <p:oleObj name="Equation" r:id="rId15" imgW="508000" imgH="381000" progId="Equation.3">
                  <p:embed/>
                  <p:pic>
                    <p:nvPicPr>
                      <p:cNvPr id="228" name="Object 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699" y="663575"/>
                        <a:ext cx="60483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9" name="Picture 227"/>
          <p:cNvPicPr>
            <a:picLocks noChangeAspect="1" noChangeArrowheads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249" y="119062"/>
            <a:ext cx="3462337" cy="17383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30" name="Group 219"/>
          <p:cNvGrpSpPr>
            <a:grpSpLocks/>
          </p:cNvGrpSpPr>
          <p:nvPr/>
        </p:nvGrpSpPr>
        <p:grpSpPr bwMode="auto">
          <a:xfrm>
            <a:off x="9431986" y="1554162"/>
            <a:ext cx="2176463" cy="2182813"/>
            <a:chOff x="3040" y="328"/>
            <a:chExt cx="1491" cy="1495"/>
          </a:xfrm>
        </p:grpSpPr>
        <p:grpSp>
          <p:nvGrpSpPr>
            <p:cNvPr id="231" name="Group 220"/>
            <p:cNvGrpSpPr>
              <a:grpSpLocks/>
            </p:cNvGrpSpPr>
            <p:nvPr/>
          </p:nvGrpSpPr>
          <p:grpSpPr bwMode="auto">
            <a:xfrm>
              <a:off x="3040" y="328"/>
              <a:ext cx="1491" cy="968"/>
              <a:chOff x="3040" y="328"/>
              <a:chExt cx="1491" cy="968"/>
            </a:xfrm>
          </p:grpSpPr>
          <p:graphicFrame>
            <p:nvGraphicFramePr>
              <p:cNvPr id="233" name="Object 221"/>
              <p:cNvGraphicFramePr>
                <a:graphicFrameLocks noChangeAspect="1"/>
              </p:cNvGraphicFramePr>
              <p:nvPr/>
            </p:nvGraphicFramePr>
            <p:xfrm>
              <a:off x="3112" y="380"/>
              <a:ext cx="494" cy="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482391" imgH="380835" progId="Equation.3">
                      <p:embed/>
                    </p:oleObj>
                  </mc:Choice>
                  <mc:Fallback>
                    <p:oleObj name="Equation" r:id="rId18" imgW="482391" imgH="380835" progId="Equation.3">
                      <p:embed/>
                      <p:pic>
                        <p:nvPicPr>
                          <p:cNvPr id="233" name="Object 2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12" y="380"/>
                            <a:ext cx="494" cy="39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4" name="Object 222"/>
              <p:cNvGraphicFramePr>
                <a:graphicFrameLocks noChangeAspect="1"/>
              </p:cNvGraphicFramePr>
              <p:nvPr/>
            </p:nvGraphicFramePr>
            <p:xfrm>
              <a:off x="3881" y="328"/>
              <a:ext cx="585" cy="5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444307" imgH="380835" progId="Equation.3">
                      <p:embed/>
                    </p:oleObj>
                  </mc:Choice>
                  <mc:Fallback>
                    <p:oleObj name="Equation" r:id="rId20" imgW="444307" imgH="380835" progId="Equation.3">
                      <p:embed/>
                      <p:pic>
                        <p:nvPicPr>
                          <p:cNvPr id="234" name="Object 2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1" y="328"/>
                            <a:ext cx="585" cy="501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" name="Object 223"/>
              <p:cNvGraphicFramePr>
                <a:graphicFrameLocks noChangeAspect="1"/>
              </p:cNvGraphicFramePr>
              <p:nvPr/>
            </p:nvGraphicFramePr>
            <p:xfrm>
              <a:off x="3040" y="793"/>
              <a:ext cx="1491" cy="5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129810" imgH="380835" progId="Equation.3">
                      <p:embed/>
                    </p:oleObj>
                  </mc:Choice>
                  <mc:Fallback>
                    <p:oleObj name="Equation" r:id="rId22" imgW="1129810" imgH="380835" progId="Equation.3">
                      <p:embed/>
                      <p:pic>
                        <p:nvPicPr>
                          <p:cNvPr id="235" name="Object 2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40" y="793"/>
                            <a:ext cx="1491" cy="503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32" name="Object 224"/>
            <p:cNvGraphicFramePr>
              <a:graphicFrameLocks noChangeAspect="1"/>
            </p:cNvGraphicFramePr>
            <p:nvPr/>
          </p:nvGraphicFramePr>
          <p:xfrm>
            <a:off x="3072" y="1366"/>
            <a:ext cx="1389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117600" imgH="368300" progId="Equation.3">
                    <p:embed/>
                  </p:oleObj>
                </mc:Choice>
                <mc:Fallback>
                  <p:oleObj name="Equation" r:id="rId24" imgW="1117600" imgH="368300" progId="Equation.3">
                    <p:embed/>
                    <p:pic>
                      <p:nvPicPr>
                        <p:cNvPr id="232" name="Object 2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1366"/>
                          <a:ext cx="1389" cy="457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6" name="Object 2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289745"/>
              </p:ext>
            </p:extLst>
          </p:nvPr>
        </p:nvGraphicFramePr>
        <p:xfrm>
          <a:off x="2710511" y="1706562"/>
          <a:ext cx="7826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14400" imgH="533400" progId="Equation.3">
                  <p:embed/>
                </p:oleObj>
              </mc:Choice>
              <mc:Fallback>
                <p:oleObj name="Equation" r:id="rId26" imgW="914400" imgH="533400" progId="Equation.3">
                  <p:embed/>
                  <p:pic>
                    <p:nvPicPr>
                      <p:cNvPr id="236" name="Object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0511" y="1706562"/>
                        <a:ext cx="782638" cy="4572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" name="Object 2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245522"/>
              </p:ext>
            </p:extLst>
          </p:nvPr>
        </p:nvGraphicFramePr>
        <p:xfrm>
          <a:off x="4877449" y="1714500"/>
          <a:ext cx="6000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22030" imgH="355446" progId="Equation.3">
                  <p:embed/>
                </p:oleObj>
              </mc:Choice>
              <mc:Fallback>
                <p:oleObj name="Equation" r:id="rId28" imgW="622030" imgH="355446" progId="Equation.3">
                  <p:embed/>
                  <p:pic>
                    <p:nvPicPr>
                      <p:cNvPr id="237" name="Object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7449" y="1714500"/>
                        <a:ext cx="600075" cy="3429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" name="Object 2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984329"/>
              </p:ext>
            </p:extLst>
          </p:nvPr>
        </p:nvGraphicFramePr>
        <p:xfrm>
          <a:off x="6418911" y="2308225"/>
          <a:ext cx="260826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257300" imgH="190500" progId="Equation.3">
                  <p:embed/>
                </p:oleObj>
              </mc:Choice>
              <mc:Fallback>
                <p:oleObj name="Equation" r:id="rId30" imgW="1257300" imgH="190500" progId="Equation.3">
                  <p:embed/>
                  <p:pic>
                    <p:nvPicPr>
                      <p:cNvPr id="238" name="Object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911" y="2308225"/>
                        <a:ext cx="2608263" cy="39528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" name="ZoneTexte 238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Principle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54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study: voltage transfer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Rectangle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846898"/>
              </p:ext>
            </p:extLst>
          </p:nvPr>
        </p:nvGraphicFramePr>
        <p:xfrm>
          <a:off x="4440776" y="4015049"/>
          <a:ext cx="15176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2" imgW="571252" imgH="203112" progId="Equation.3">
                  <p:embed/>
                </p:oleObj>
              </mc:Choice>
              <mc:Fallback>
                <p:oleObj name="Équation" r:id="rId2" imgW="571252" imgH="203112" progId="Equation.3">
                  <p:embed/>
                  <p:pic>
                    <p:nvPicPr>
                      <p:cNvPr id="7" name="Rectangle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776" y="4015049"/>
                        <a:ext cx="15176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7"/>
          <p:cNvGrpSpPr>
            <a:grpSpLocks/>
          </p:cNvGrpSpPr>
          <p:nvPr/>
        </p:nvGrpSpPr>
        <p:grpSpPr bwMode="auto">
          <a:xfrm>
            <a:off x="4329651" y="2502161"/>
            <a:ext cx="76200" cy="1219200"/>
            <a:chOff x="226" y="1089"/>
            <a:chExt cx="48" cy="768"/>
          </a:xfrm>
        </p:grpSpPr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226" y="1089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250" y="1177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0"/>
          <p:cNvGrpSpPr>
            <a:grpSpLocks/>
          </p:cNvGrpSpPr>
          <p:nvPr/>
        </p:nvGrpSpPr>
        <p:grpSpPr bwMode="auto">
          <a:xfrm>
            <a:off x="4304251" y="3257811"/>
            <a:ext cx="3883025" cy="63500"/>
            <a:chOff x="210" y="1793"/>
            <a:chExt cx="2446" cy="40"/>
          </a:xfrm>
        </p:grpSpPr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2568" y="1793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210" y="1809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7" name="Line 13"/>
          <p:cNvSpPr>
            <a:spLocks noChangeShapeType="1"/>
          </p:cNvSpPr>
          <p:nvPr/>
        </p:nvSpPr>
        <p:spPr bwMode="auto">
          <a:xfrm flipV="1">
            <a:off x="4377276" y="2591061"/>
            <a:ext cx="712787" cy="2667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4139151" y="2413261"/>
            <a:ext cx="428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4202651" y="2502161"/>
            <a:ext cx="698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>
                <a:solidFill>
                  <a:srgbClr val="000000"/>
                </a:solidFill>
                <a:latin typeface="Times" panose="02020603050405020304" pitchFamily="18" charset="0"/>
              </a:rPr>
              <a:t>L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4977351" y="3394336"/>
            <a:ext cx="936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6423563" y="3330836"/>
            <a:ext cx="936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4837651" y="3381636"/>
            <a:ext cx="9683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8022176" y="2953011"/>
            <a:ext cx="428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4266151" y="3368936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5090063" y="2600586"/>
            <a:ext cx="1430338" cy="2635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 flipV="1">
            <a:off x="6521988" y="2592649"/>
            <a:ext cx="712788" cy="2667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7" name="Group 23"/>
          <p:cNvGrpSpPr>
            <a:grpSpLocks/>
          </p:cNvGrpSpPr>
          <p:nvPr/>
        </p:nvGrpSpPr>
        <p:grpSpPr bwMode="auto">
          <a:xfrm>
            <a:off x="6352126" y="3602299"/>
            <a:ext cx="1304925" cy="714375"/>
            <a:chOff x="1591" y="1873"/>
            <a:chExt cx="822" cy="450"/>
          </a:xfrm>
        </p:grpSpPr>
        <p:sp>
          <p:nvSpPr>
            <p:cNvPr id="28" name="AutoShape 24"/>
            <p:cNvSpPr>
              <a:spLocks/>
            </p:cNvSpPr>
            <p:nvPr/>
          </p:nvSpPr>
          <p:spPr bwMode="auto">
            <a:xfrm>
              <a:off x="1591" y="1873"/>
              <a:ext cx="822" cy="450"/>
            </a:xfrm>
            <a:prstGeom prst="borderCallout1">
              <a:avLst>
                <a:gd name="adj1" fmla="val 16000"/>
                <a:gd name="adj2" fmla="val -5838"/>
                <a:gd name="adj3" fmla="val -121333"/>
                <a:gd name="adj4" fmla="val -5620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9" name="Object 25"/>
            <p:cNvGraphicFramePr>
              <a:graphicFrameLocks noChangeAspect="1"/>
            </p:cNvGraphicFramePr>
            <p:nvPr/>
          </p:nvGraphicFramePr>
          <p:xfrm>
            <a:off x="1633" y="1895"/>
            <a:ext cx="777" cy="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7419" imgH="342751" progId="Equation.3">
                    <p:embed/>
                  </p:oleObj>
                </mc:Choice>
                <mc:Fallback>
                  <p:oleObj name="Equation" r:id="rId4" imgW="647419" imgH="342751" progId="Equation.3">
                    <p:embed/>
                    <p:pic>
                      <p:nvPicPr>
                        <p:cNvPr id="29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1895"/>
                          <a:ext cx="777" cy="4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006878"/>
              </p:ext>
            </p:extLst>
          </p:nvPr>
        </p:nvGraphicFramePr>
        <p:xfrm>
          <a:off x="4775738" y="4818324"/>
          <a:ext cx="328136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700" imgH="342900" progId="Equation.3">
                  <p:embed/>
                </p:oleObj>
              </mc:Choice>
              <mc:Fallback>
                <p:oleObj name="Equation" r:id="rId6" imgW="1663700" imgH="342900" progId="Equation.3">
                  <p:embed/>
                  <p:pic>
                    <p:nvPicPr>
                      <p:cNvPr id="3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738" y="4818324"/>
                        <a:ext cx="328136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27"/>
          <p:cNvGrpSpPr>
            <a:grpSpLocks/>
          </p:cNvGrpSpPr>
          <p:nvPr/>
        </p:nvGrpSpPr>
        <p:grpSpPr bwMode="auto">
          <a:xfrm>
            <a:off x="9027063" y="4705611"/>
            <a:ext cx="1733550" cy="828675"/>
            <a:chOff x="3276" y="2568"/>
            <a:chExt cx="1092" cy="522"/>
          </a:xfrm>
        </p:grpSpPr>
        <p:sp>
          <p:nvSpPr>
            <p:cNvPr id="32" name="Rectangle 28"/>
            <p:cNvSpPr>
              <a:spLocks noChangeArrowheads="1"/>
            </p:cNvSpPr>
            <p:nvPr/>
          </p:nvSpPr>
          <p:spPr bwMode="auto">
            <a:xfrm>
              <a:off x="3276" y="2568"/>
              <a:ext cx="1092" cy="522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3284" y="2674"/>
              <a:ext cx="10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400" b="1" i="1">
                  <a:latin typeface="Times New Roman" panose="02020603050405020304" pitchFamily="18" charset="0"/>
                </a:rPr>
                <a:t>V</a:t>
              </a:r>
              <a:r>
                <a:rPr lang="fr-FR" altLang="fr-FR" sz="2400" b="1" i="1" baseline="-25000">
                  <a:latin typeface="Times New Roman" panose="02020603050405020304" pitchFamily="18" charset="0"/>
                </a:rPr>
                <a:t>S</a:t>
              </a:r>
              <a:r>
                <a:rPr lang="fr-FR" altLang="fr-FR" sz="2400" b="1" i="1">
                  <a:latin typeface="Times New Roman" panose="02020603050405020304" pitchFamily="18" charset="0"/>
                </a:rPr>
                <a:t> = </a:t>
              </a:r>
              <a:r>
                <a:rPr lang="fr-FR" altLang="fr-FR" sz="2400" b="1" i="1">
                  <a:latin typeface="Symbol" panose="05050102010706020507" pitchFamily="18" charset="2"/>
                </a:rPr>
                <a:t>a</a:t>
              </a:r>
              <a:r>
                <a:rPr lang="fr-FR" altLang="fr-FR" sz="2400" b="1" i="1">
                  <a:latin typeface="Times New Roman" panose="02020603050405020304" pitchFamily="18" charset="0"/>
                </a:rPr>
                <a:t>.m.E</a:t>
              </a:r>
            </a:p>
          </p:txBody>
        </p:sp>
      </p:grpSp>
      <p:grpSp>
        <p:nvGrpSpPr>
          <p:cNvPr id="34" name="Group 30"/>
          <p:cNvGrpSpPr>
            <a:grpSpLocks/>
          </p:cNvGrpSpPr>
          <p:nvPr/>
        </p:nvGrpSpPr>
        <p:grpSpPr bwMode="auto">
          <a:xfrm>
            <a:off x="5559963" y="1714761"/>
            <a:ext cx="1762125" cy="714375"/>
            <a:chOff x="1020" y="714"/>
            <a:chExt cx="1110" cy="450"/>
          </a:xfrm>
        </p:grpSpPr>
        <p:sp>
          <p:nvSpPr>
            <p:cNvPr id="35" name="AutoShape 31"/>
            <p:cNvSpPr>
              <a:spLocks/>
            </p:cNvSpPr>
            <p:nvPr/>
          </p:nvSpPr>
          <p:spPr bwMode="auto">
            <a:xfrm>
              <a:off x="1020" y="714"/>
              <a:ext cx="1110" cy="450"/>
            </a:xfrm>
            <a:prstGeom prst="borderCallout1">
              <a:avLst>
                <a:gd name="adj1" fmla="val 16000"/>
                <a:gd name="adj2" fmla="val -4324"/>
                <a:gd name="adj3" fmla="val 128000"/>
                <a:gd name="adj4" fmla="val -4270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6" name="Object 32"/>
            <p:cNvGraphicFramePr>
              <a:graphicFrameLocks noChangeAspect="1"/>
            </p:cNvGraphicFramePr>
            <p:nvPr/>
          </p:nvGraphicFramePr>
          <p:xfrm>
            <a:off x="1093" y="732"/>
            <a:ext cx="994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99753" imgH="342751" progId="Equation.3">
                    <p:embed/>
                  </p:oleObj>
                </mc:Choice>
                <mc:Fallback>
                  <p:oleObj name="Equation" r:id="rId8" imgW="799753" imgH="342751" progId="Equation.3">
                    <p:embed/>
                    <p:pic>
                      <p:nvPicPr>
                        <p:cNvPr id="36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3" y="732"/>
                          <a:ext cx="994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ZoneTexte 36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Principle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34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study: Components sizing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193882" y="2151856"/>
            <a:ext cx="552183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CA" altLang="fr-FR" b="1" i="1" dirty="0">
                <a:latin typeface="Times New Roman" panose="02020603050405020304" pitchFamily="18" charset="0"/>
              </a:rPr>
              <a:t>Filtering capacitor: C</a:t>
            </a:r>
            <a:r>
              <a:rPr lang="en-CA" altLang="fr-FR" b="1" i="1" baseline="-25000" dirty="0">
                <a:latin typeface="Times New Roman" panose="02020603050405020304" pitchFamily="18" charset="0"/>
              </a:rPr>
              <a:t>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CA" altLang="fr-FR" b="1" i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CA" altLang="fr-FR" b="1" i="1" dirty="0">
                <a:latin typeface="Times New Roman" panose="02020603050405020304" pitchFamily="18" charset="0"/>
              </a:rPr>
              <a:t>Transformer =&gt; Ae.SB</a:t>
            </a:r>
            <a:br>
              <a:rPr lang="en-CA" altLang="fr-FR" b="1" i="1" dirty="0">
                <a:latin typeface="Times New Roman" panose="02020603050405020304" pitchFamily="18" charset="0"/>
              </a:rPr>
            </a:br>
            <a:endParaRPr lang="en-CA" altLang="fr-FR" b="1" i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CA" altLang="fr-FR" b="1" i="1" dirty="0">
                <a:latin typeface="Times New Roman" panose="02020603050405020304" pitchFamily="18" charset="0"/>
              </a:rPr>
              <a:t>Output inductance =&gt; Ae.SB</a:t>
            </a:r>
            <a:endParaRPr lang="en-CA" altLang="fr-FR" b="1" i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Principle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8155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study: Filtering capacitor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061" y="1024083"/>
            <a:ext cx="1628775" cy="180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4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386" y="2908445"/>
            <a:ext cx="3789363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3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0012" y="4736189"/>
            <a:ext cx="1789112" cy="939800"/>
          </a:xfrm>
          <a:prstGeom prst="rect">
            <a:avLst/>
          </a:prstGeom>
          <a:solidFill>
            <a:srgbClr val="FFCC00"/>
          </a:solidFill>
          <a:ln w="15875">
            <a:solidFill>
              <a:srgbClr val="FF6600"/>
            </a:solidFill>
            <a:miter lim="800000"/>
            <a:headEnd/>
            <a:tailEnd/>
          </a:ln>
        </p:spPr>
      </p:pic>
      <p:sp>
        <p:nvSpPr>
          <p:cNvPr id="21" name="AutoShape 34"/>
          <p:cNvSpPr>
            <a:spLocks noChangeArrowheads="1"/>
          </p:cNvSpPr>
          <p:nvPr/>
        </p:nvSpPr>
        <p:spPr bwMode="auto">
          <a:xfrm>
            <a:off x="7036224" y="4906052"/>
            <a:ext cx="1944688" cy="792162"/>
          </a:xfrm>
          <a:prstGeom prst="rightArrow">
            <a:avLst>
              <a:gd name="adj1" fmla="val 50000"/>
              <a:gd name="adj2" fmla="val 61373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2" name="Text Box 36"/>
          <p:cNvSpPr txBox="1">
            <a:spLocks noChangeArrowheads="1"/>
          </p:cNvSpPr>
          <p:nvPr/>
        </p:nvSpPr>
        <p:spPr bwMode="auto">
          <a:xfrm>
            <a:off x="3144495" y="5077323"/>
            <a:ext cx="36195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CA" altLang="fr-FR" sz="2400" i="1" dirty="0">
                <a:latin typeface="Calibri (Corps)"/>
              </a:rPr>
              <a:t>Max ripple for a = 0.5</a:t>
            </a:r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9C63C778-CE44-8779-7018-56603F888361}"/>
              </a:ext>
            </a:extLst>
          </p:cNvPr>
          <p:cNvGrpSpPr/>
          <p:nvPr/>
        </p:nvGrpSpPr>
        <p:grpSpPr>
          <a:xfrm>
            <a:off x="7029873" y="1195446"/>
            <a:ext cx="4745038" cy="3346450"/>
            <a:chOff x="7070354" y="1341487"/>
            <a:chExt cx="4745038" cy="3346450"/>
          </a:xfrm>
        </p:grpSpPr>
        <p:pic>
          <p:nvPicPr>
            <p:cNvPr id="11" name="Picture 8"/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2779" y="1341487"/>
              <a:ext cx="4392613" cy="228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Freeform 26"/>
            <p:cNvSpPr>
              <a:spLocks/>
            </p:cNvSpPr>
            <p:nvPr/>
          </p:nvSpPr>
          <p:spPr bwMode="auto">
            <a:xfrm>
              <a:off x="8114929" y="3136949"/>
              <a:ext cx="1000125" cy="142875"/>
            </a:xfrm>
            <a:custGeom>
              <a:avLst/>
              <a:gdLst>
                <a:gd name="T0" fmla="*/ 0 w 630"/>
                <a:gd name="T1" fmla="*/ 2147483646 h 72"/>
                <a:gd name="T2" fmla="*/ 2147483646 w 630"/>
                <a:gd name="T3" fmla="*/ 0 h 72"/>
                <a:gd name="T4" fmla="*/ 2147483646 w 630"/>
                <a:gd name="T5" fmla="*/ 2147483646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0" h="72">
                  <a:moveTo>
                    <a:pt x="0" y="72"/>
                  </a:moveTo>
                  <a:lnTo>
                    <a:pt x="198" y="0"/>
                  </a:lnTo>
                  <a:lnTo>
                    <a:pt x="630" y="72"/>
                  </a:lnTo>
                </a:path>
              </a:pathLst>
            </a:cu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4" name="Group 39"/>
            <p:cNvGrpSpPr>
              <a:grpSpLocks/>
            </p:cNvGrpSpPr>
            <p:nvPr/>
          </p:nvGrpSpPr>
          <p:grpSpPr bwMode="auto">
            <a:xfrm>
              <a:off x="8314955" y="1470076"/>
              <a:ext cx="3486150" cy="366713"/>
              <a:chOff x="3492" y="864"/>
              <a:chExt cx="2196" cy="231"/>
            </a:xfrm>
          </p:grpSpPr>
          <p:sp>
            <p:nvSpPr>
              <p:cNvPr id="16" name="Line 29"/>
              <p:cNvSpPr>
                <a:spLocks noChangeShapeType="1"/>
              </p:cNvSpPr>
              <p:nvPr/>
            </p:nvSpPr>
            <p:spPr bwMode="auto">
              <a:xfrm>
                <a:off x="3492" y="900"/>
                <a:ext cx="18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" name="Line 30"/>
              <p:cNvSpPr>
                <a:spLocks noChangeShapeType="1"/>
              </p:cNvSpPr>
              <p:nvPr/>
            </p:nvSpPr>
            <p:spPr bwMode="auto">
              <a:xfrm>
                <a:off x="3499" y="1081"/>
                <a:ext cx="18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" name="Line 31"/>
              <p:cNvSpPr>
                <a:spLocks noChangeShapeType="1"/>
              </p:cNvSpPr>
              <p:nvPr/>
            </p:nvSpPr>
            <p:spPr bwMode="auto">
              <a:xfrm>
                <a:off x="5304" y="906"/>
                <a:ext cx="0" cy="16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" name="Text Box 32"/>
              <p:cNvSpPr txBox="1">
                <a:spLocks noChangeArrowheads="1"/>
              </p:cNvSpPr>
              <p:nvPr/>
            </p:nvSpPr>
            <p:spPr bwMode="auto">
              <a:xfrm>
                <a:off x="5328" y="864"/>
                <a:ext cx="3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>
                    <a:latin typeface="Symbol" panose="05050102010706020507" pitchFamily="18" charset="2"/>
                  </a:rPr>
                  <a:t>D</a:t>
                </a:r>
                <a:r>
                  <a:rPr lang="fr-FR" altLang="fr-FR" sz="1800">
                    <a:latin typeface="Times New Roman" panose="02020603050405020304" pitchFamily="18" charset="0"/>
                  </a:rPr>
                  <a:t>I</a:t>
                </a:r>
                <a:r>
                  <a:rPr lang="fr-FR" altLang="fr-FR" sz="1800" baseline="-25000"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grpSp>
          <p:nvGrpSpPr>
            <p:cNvPr id="23" name="Group 38"/>
            <p:cNvGrpSpPr>
              <a:grpSpLocks/>
            </p:cNvGrpSpPr>
            <p:nvPr/>
          </p:nvGrpSpPr>
          <p:grpSpPr bwMode="auto">
            <a:xfrm>
              <a:off x="7070354" y="3570337"/>
              <a:ext cx="4460875" cy="1117600"/>
              <a:chOff x="2708" y="2187"/>
              <a:chExt cx="2810" cy="704"/>
            </a:xfrm>
          </p:grpSpPr>
          <p:sp>
            <p:nvSpPr>
              <p:cNvPr id="24" name="Arc 9"/>
              <p:cNvSpPr>
                <a:spLocks/>
              </p:cNvSpPr>
              <p:nvPr/>
            </p:nvSpPr>
            <p:spPr bwMode="auto">
              <a:xfrm flipV="1">
                <a:off x="3091" y="2322"/>
                <a:ext cx="486" cy="118"/>
              </a:xfrm>
              <a:custGeom>
                <a:avLst/>
                <a:gdLst>
                  <a:gd name="T0" fmla="*/ 0 w 35189"/>
                  <a:gd name="T1" fmla="*/ 0 h 21600"/>
                  <a:gd name="T2" fmla="*/ 0 w 35189"/>
                  <a:gd name="T3" fmla="*/ 0 h 21600"/>
                  <a:gd name="T4" fmla="*/ 0 w 3518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189" h="21600" fill="none" extrusionOk="0">
                    <a:moveTo>
                      <a:pt x="0" y="9838"/>
                    </a:moveTo>
                    <a:cubicBezTo>
                      <a:pt x="3983" y="3702"/>
                      <a:pt x="10801" y="-1"/>
                      <a:pt x="18117" y="0"/>
                    </a:cubicBezTo>
                    <a:cubicBezTo>
                      <a:pt x="24795" y="0"/>
                      <a:pt x="31097" y="3088"/>
                      <a:pt x="35188" y="8367"/>
                    </a:cubicBezTo>
                  </a:path>
                  <a:path w="35189" h="21600" stroke="0" extrusionOk="0">
                    <a:moveTo>
                      <a:pt x="0" y="9838"/>
                    </a:moveTo>
                    <a:cubicBezTo>
                      <a:pt x="3983" y="3702"/>
                      <a:pt x="10801" y="-1"/>
                      <a:pt x="18117" y="0"/>
                    </a:cubicBezTo>
                    <a:cubicBezTo>
                      <a:pt x="24795" y="0"/>
                      <a:pt x="31097" y="3088"/>
                      <a:pt x="35188" y="8367"/>
                    </a:cubicBezTo>
                    <a:lnTo>
                      <a:pt x="18117" y="21600"/>
                    </a:lnTo>
                    <a:lnTo>
                      <a:pt x="0" y="9838"/>
                    </a:lnTo>
                    <a:close/>
                  </a:path>
                </a:pathLst>
              </a:cu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5" name="Line 10"/>
              <p:cNvSpPr>
                <a:spLocks noChangeShapeType="1"/>
              </p:cNvSpPr>
              <p:nvPr/>
            </p:nvSpPr>
            <p:spPr bwMode="auto">
              <a:xfrm>
                <a:off x="3095" y="2187"/>
                <a:ext cx="0" cy="6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" name="Line 11"/>
              <p:cNvSpPr>
                <a:spLocks noChangeShapeType="1"/>
              </p:cNvSpPr>
              <p:nvPr/>
            </p:nvSpPr>
            <p:spPr bwMode="auto">
              <a:xfrm>
                <a:off x="3026" y="2784"/>
                <a:ext cx="2492" cy="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" name="Line 12"/>
              <p:cNvSpPr>
                <a:spLocks noChangeShapeType="1"/>
              </p:cNvSpPr>
              <p:nvPr/>
            </p:nvSpPr>
            <p:spPr bwMode="auto">
              <a:xfrm>
                <a:off x="3574" y="2216"/>
                <a:ext cx="12" cy="6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Line 13"/>
              <p:cNvSpPr>
                <a:spLocks noChangeShapeType="1"/>
              </p:cNvSpPr>
              <p:nvPr/>
            </p:nvSpPr>
            <p:spPr bwMode="auto">
              <a:xfrm>
                <a:off x="4541" y="2251"/>
                <a:ext cx="12" cy="6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9" name="Arc 14"/>
              <p:cNvSpPr>
                <a:spLocks/>
              </p:cNvSpPr>
              <p:nvPr/>
            </p:nvSpPr>
            <p:spPr bwMode="auto">
              <a:xfrm rot="10800000" flipV="1">
                <a:off x="3577" y="2300"/>
                <a:ext cx="965" cy="240"/>
              </a:xfrm>
              <a:custGeom>
                <a:avLst/>
                <a:gdLst>
                  <a:gd name="T0" fmla="*/ 0 w 34685"/>
                  <a:gd name="T1" fmla="*/ 0 h 21600"/>
                  <a:gd name="T2" fmla="*/ 0 w 34685"/>
                  <a:gd name="T3" fmla="*/ 0 h 21600"/>
                  <a:gd name="T4" fmla="*/ 0 w 34685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685" h="21600" fill="none" extrusionOk="0">
                    <a:moveTo>
                      <a:pt x="0" y="9096"/>
                    </a:moveTo>
                    <a:cubicBezTo>
                      <a:pt x="4051" y="3390"/>
                      <a:pt x="10615" y="-1"/>
                      <a:pt x="17613" y="0"/>
                    </a:cubicBezTo>
                    <a:cubicBezTo>
                      <a:pt x="24291" y="0"/>
                      <a:pt x="30593" y="3088"/>
                      <a:pt x="34684" y="8367"/>
                    </a:cubicBezTo>
                  </a:path>
                  <a:path w="34685" h="21600" stroke="0" extrusionOk="0">
                    <a:moveTo>
                      <a:pt x="0" y="9096"/>
                    </a:moveTo>
                    <a:cubicBezTo>
                      <a:pt x="4051" y="3390"/>
                      <a:pt x="10615" y="-1"/>
                      <a:pt x="17613" y="0"/>
                    </a:cubicBezTo>
                    <a:cubicBezTo>
                      <a:pt x="24291" y="0"/>
                      <a:pt x="30593" y="3088"/>
                      <a:pt x="34684" y="8367"/>
                    </a:cubicBezTo>
                    <a:lnTo>
                      <a:pt x="17613" y="21600"/>
                    </a:lnTo>
                    <a:lnTo>
                      <a:pt x="0" y="9096"/>
                    </a:lnTo>
                    <a:close/>
                  </a:path>
                </a:pathLst>
              </a:cu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0" name="Line 17"/>
              <p:cNvSpPr>
                <a:spLocks noChangeShapeType="1"/>
              </p:cNvSpPr>
              <p:nvPr/>
            </p:nvSpPr>
            <p:spPr bwMode="auto">
              <a:xfrm>
                <a:off x="2998" y="2292"/>
                <a:ext cx="21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" name="Line 18"/>
              <p:cNvSpPr>
                <a:spLocks noChangeShapeType="1"/>
              </p:cNvSpPr>
              <p:nvPr/>
            </p:nvSpPr>
            <p:spPr bwMode="auto">
              <a:xfrm>
                <a:off x="3005" y="2451"/>
                <a:ext cx="21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2" name="Line 21"/>
              <p:cNvSpPr>
                <a:spLocks noChangeShapeType="1"/>
              </p:cNvSpPr>
              <p:nvPr/>
            </p:nvSpPr>
            <p:spPr bwMode="auto">
              <a:xfrm>
                <a:off x="3030" y="2296"/>
                <a:ext cx="0" cy="1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3" name="Text Box 22"/>
              <p:cNvSpPr txBox="1">
                <a:spLocks noChangeArrowheads="1"/>
              </p:cNvSpPr>
              <p:nvPr/>
            </p:nvSpPr>
            <p:spPr bwMode="auto">
              <a:xfrm>
                <a:off x="2708" y="2245"/>
                <a:ext cx="35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Symbol" panose="05050102010706020507" pitchFamily="18" charset="2"/>
                  </a:rPr>
                  <a:t>D</a:t>
                </a:r>
                <a:r>
                  <a:rPr lang="fr-FR" altLang="fr-FR" sz="1800">
                    <a:latin typeface="Times New Roman" panose="02020603050405020304" pitchFamily="18" charset="0"/>
                  </a:rPr>
                  <a:t>V</a:t>
                </a:r>
                <a:endParaRPr lang="fr-FR" altLang="fr-FR" sz="18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" name="Arc 37"/>
              <p:cNvSpPr>
                <a:spLocks/>
              </p:cNvSpPr>
              <p:nvPr/>
            </p:nvSpPr>
            <p:spPr bwMode="auto">
              <a:xfrm flipV="1">
                <a:off x="4514" y="2323"/>
                <a:ext cx="486" cy="118"/>
              </a:xfrm>
              <a:custGeom>
                <a:avLst/>
                <a:gdLst>
                  <a:gd name="T0" fmla="*/ 0 w 35189"/>
                  <a:gd name="T1" fmla="*/ 0 h 21600"/>
                  <a:gd name="T2" fmla="*/ 0 w 35189"/>
                  <a:gd name="T3" fmla="*/ 0 h 21600"/>
                  <a:gd name="T4" fmla="*/ 0 w 3518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189" h="21600" fill="none" extrusionOk="0">
                    <a:moveTo>
                      <a:pt x="0" y="9838"/>
                    </a:moveTo>
                    <a:cubicBezTo>
                      <a:pt x="3983" y="3702"/>
                      <a:pt x="10801" y="-1"/>
                      <a:pt x="18117" y="0"/>
                    </a:cubicBezTo>
                    <a:cubicBezTo>
                      <a:pt x="24795" y="0"/>
                      <a:pt x="31097" y="3088"/>
                      <a:pt x="35188" y="8367"/>
                    </a:cubicBezTo>
                  </a:path>
                  <a:path w="35189" h="21600" stroke="0" extrusionOk="0">
                    <a:moveTo>
                      <a:pt x="0" y="9838"/>
                    </a:moveTo>
                    <a:cubicBezTo>
                      <a:pt x="3983" y="3702"/>
                      <a:pt x="10801" y="-1"/>
                      <a:pt x="18117" y="0"/>
                    </a:cubicBezTo>
                    <a:cubicBezTo>
                      <a:pt x="24795" y="0"/>
                      <a:pt x="31097" y="3088"/>
                      <a:pt x="35188" y="8367"/>
                    </a:cubicBezTo>
                    <a:lnTo>
                      <a:pt x="18117" y="21600"/>
                    </a:lnTo>
                    <a:lnTo>
                      <a:pt x="0" y="9838"/>
                    </a:lnTo>
                    <a:close/>
                  </a:path>
                </a:pathLst>
              </a:cu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35" name="ZoneTexte 34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Principle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9C20F9C-CCBA-FD61-F82A-137547964732}"/>
                  </a:ext>
                </a:extLst>
              </p:cNvPr>
              <p:cNvSpPr txBox="1"/>
              <p:nvPr/>
            </p:nvSpPr>
            <p:spPr>
              <a:xfrm>
                <a:off x="8161598" y="5833917"/>
                <a:ext cx="1825949" cy="87870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𝑬𝑺𝑹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sub>
                          </m:sSub>
                        </m:num>
                        <m:den>
                          <m:r>
                            <a:rPr lang="fr-FR" sz="28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e>
                            <m:sub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9C20F9C-CCBA-FD61-F82A-137547964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598" y="5833917"/>
                <a:ext cx="1825949" cy="8787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47CF2B9A-008D-3C9A-D132-C1B6170B8BE9}"/>
                  </a:ext>
                </a:extLst>
              </p:cNvPr>
              <p:cNvSpPr txBox="1"/>
              <p:nvPr/>
            </p:nvSpPr>
            <p:spPr>
              <a:xfrm>
                <a:off x="3086722" y="5805650"/>
                <a:ext cx="501642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fr-FR" sz="2400" dirty="0"/>
                  <a:t>For high value of C</a:t>
                </a:r>
                <a:r>
                  <a:rPr lang="fr-FR" sz="2400" baseline="-25000" dirty="0"/>
                  <a:t>S</a:t>
                </a:r>
                <a:r>
                  <a:rPr lang="fr-FR" sz="2400" dirty="0"/>
                  <a:t>, </a:t>
                </a:r>
                <a:br>
                  <a:rPr lang="fr-FR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𝐸𝑆𝑅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𝐸𝑆𝑅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𝐸𝑆𝑅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47CF2B9A-008D-3C9A-D132-C1B6170B8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722" y="5805650"/>
                <a:ext cx="5016423" cy="830997"/>
              </a:xfrm>
              <a:prstGeom prst="rect">
                <a:avLst/>
              </a:prstGeom>
              <a:blipFill>
                <a:blip r:embed="rId7"/>
                <a:stretch>
                  <a:fillRect l="-1823" t="-58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694155"/>
              </p:ext>
            </p:extLst>
          </p:nvPr>
        </p:nvGraphicFramePr>
        <p:xfrm>
          <a:off x="3357220" y="4399481"/>
          <a:ext cx="25749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97950" imgH="342751" progId="Equation.3">
                  <p:embed/>
                </p:oleObj>
              </mc:Choice>
              <mc:Fallback>
                <p:oleObj name="Equation" r:id="rId8" imgW="1497950" imgH="342751" progId="Equation.3">
                  <p:embed/>
                  <p:pic>
                    <p:nvPicPr>
                      <p:cNvPr id="4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220" y="4399481"/>
                        <a:ext cx="257492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856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study: transformer sizing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877653" y="5661582"/>
            <a:ext cx="4067175" cy="89535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aphicFrame>
        <p:nvGraphicFramePr>
          <p:cNvPr id="1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013162"/>
              </p:ext>
            </p:extLst>
          </p:nvPr>
        </p:nvGraphicFramePr>
        <p:xfrm>
          <a:off x="4784116" y="5729845"/>
          <a:ext cx="22479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671" imgH="406224" progId="Equation.3">
                  <p:embed/>
                </p:oleObj>
              </mc:Choice>
              <mc:Fallback>
                <p:oleObj name="Equation" r:id="rId2" imgW="1218671" imgH="406224" progId="Equation.3">
                  <p:embed/>
                  <p:pic>
                    <p:nvPicPr>
                      <p:cNvPr id="1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116" y="5729845"/>
                        <a:ext cx="2247900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7"/>
          <p:cNvGrpSpPr>
            <a:grpSpLocks/>
          </p:cNvGrpSpPr>
          <p:nvPr/>
        </p:nvGrpSpPr>
        <p:grpSpPr bwMode="auto">
          <a:xfrm>
            <a:off x="8260959" y="5629662"/>
            <a:ext cx="1543050" cy="369888"/>
            <a:chOff x="4014" y="2742"/>
            <a:chExt cx="972" cy="233"/>
          </a:xfrm>
        </p:grpSpPr>
        <p:sp>
          <p:nvSpPr>
            <p:cNvPr id="15" name="AutoShape 18"/>
            <p:cNvSpPr>
              <a:spLocks noChangeArrowheads="1"/>
            </p:cNvSpPr>
            <p:nvPr/>
          </p:nvSpPr>
          <p:spPr bwMode="auto">
            <a:xfrm rot="-2474486">
              <a:off x="4014" y="2778"/>
              <a:ext cx="366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64 w 21600"/>
                <a:gd name="T13" fmla="*/ 5400 h 21600"/>
                <a:gd name="T14" fmla="*/ 18885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99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" name="Text Box 19"/>
            <p:cNvSpPr txBox="1">
              <a:spLocks noChangeArrowheads="1"/>
            </p:cNvSpPr>
            <p:nvPr/>
          </p:nvSpPr>
          <p:spPr bwMode="auto">
            <a:xfrm>
              <a:off x="4406" y="2742"/>
              <a:ext cx="5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With P</a:t>
              </a:r>
              <a:r>
                <a:rPr lang="en-CA" altLang="fr-FR" sz="1800" b="1" i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17" name="Group 20"/>
          <p:cNvGrpSpPr>
            <a:grpSpLocks/>
          </p:cNvGrpSpPr>
          <p:nvPr/>
        </p:nvGrpSpPr>
        <p:grpSpPr bwMode="auto">
          <a:xfrm>
            <a:off x="8224447" y="6240850"/>
            <a:ext cx="1423987" cy="417512"/>
            <a:chOff x="3991" y="3127"/>
            <a:chExt cx="897" cy="263"/>
          </a:xfrm>
        </p:grpSpPr>
        <p:sp>
          <p:nvSpPr>
            <p:cNvPr id="18" name="AutoShape 21"/>
            <p:cNvSpPr>
              <a:spLocks noChangeArrowheads="1"/>
            </p:cNvSpPr>
            <p:nvPr/>
          </p:nvSpPr>
          <p:spPr bwMode="auto">
            <a:xfrm rot="2600802">
              <a:off x="3991" y="3127"/>
              <a:ext cx="366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64 w 21600"/>
                <a:gd name="T13" fmla="*/ 5400 h 21600"/>
                <a:gd name="T14" fmla="*/ 18885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" name="Text Box 22"/>
            <p:cNvSpPr txBox="1">
              <a:spLocks noChangeArrowheads="1"/>
            </p:cNvSpPr>
            <p:nvPr/>
          </p:nvSpPr>
          <p:spPr bwMode="auto">
            <a:xfrm>
              <a:off x="4401" y="3157"/>
              <a:ext cx="48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i="1">
                  <a:solidFill>
                    <a:srgbClr val="FF9900"/>
                  </a:solidFill>
                  <a:latin typeface="Times New Roman" panose="02020603050405020304" pitchFamily="18" charset="0"/>
                </a:rPr>
                <a:t>With f</a:t>
              </a:r>
              <a:endParaRPr lang="en-CA" altLang="fr-FR" sz="1800" b="1" i="1" baseline="-25000">
                <a:solidFill>
                  <a:srgbClr val="FF99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Line 24"/>
          <p:cNvSpPr>
            <a:spLocks noChangeShapeType="1"/>
          </p:cNvSpPr>
          <p:nvPr/>
        </p:nvSpPr>
        <p:spPr bwMode="auto">
          <a:xfrm>
            <a:off x="3366697" y="1204913"/>
            <a:ext cx="0" cy="1084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Line 25"/>
          <p:cNvSpPr>
            <a:spLocks noChangeShapeType="1"/>
          </p:cNvSpPr>
          <p:nvPr/>
        </p:nvSpPr>
        <p:spPr bwMode="auto">
          <a:xfrm>
            <a:off x="3257159" y="2152650"/>
            <a:ext cx="3956050" cy="19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Line 26"/>
          <p:cNvSpPr>
            <a:spLocks noChangeShapeType="1"/>
          </p:cNvSpPr>
          <p:nvPr/>
        </p:nvSpPr>
        <p:spPr bwMode="auto">
          <a:xfrm>
            <a:off x="4127109" y="1250950"/>
            <a:ext cx="19050" cy="1016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Line 27"/>
          <p:cNvSpPr>
            <a:spLocks noChangeShapeType="1"/>
          </p:cNvSpPr>
          <p:nvPr/>
        </p:nvSpPr>
        <p:spPr bwMode="auto">
          <a:xfrm>
            <a:off x="5662222" y="1306513"/>
            <a:ext cx="19050" cy="1016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Line 28"/>
          <p:cNvSpPr>
            <a:spLocks noChangeShapeType="1"/>
          </p:cNvSpPr>
          <p:nvPr/>
        </p:nvSpPr>
        <p:spPr bwMode="auto">
          <a:xfrm>
            <a:off x="3368284" y="1533525"/>
            <a:ext cx="771525" cy="0"/>
          </a:xfrm>
          <a:prstGeom prst="line">
            <a:avLst/>
          </a:prstGeom>
          <a:noFill/>
          <a:ln w="1905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" name="Line 29"/>
          <p:cNvSpPr>
            <a:spLocks noChangeShapeType="1"/>
          </p:cNvSpPr>
          <p:nvPr/>
        </p:nvSpPr>
        <p:spPr bwMode="auto">
          <a:xfrm>
            <a:off x="4139809" y="1533525"/>
            <a:ext cx="0" cy="609600"/>
          </a:xfrm>
          <a:prstGeom prst="line">
            <a:avLst/>
          </a:prstGeom>
          <a:noFill/>
          <a:ln w="1905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Line 30"/>
          <p:cNvSpPr>
            <a:spLocks noChangeShapeType="1"/>
          </p:cNvSpPr>
          <p:nvPr/>
        </p:nvSpPr>
        <p:spPr bwMode="auto">
          <a:xfrm>
            <a:off x="4139809" y="2143125"/>
            <a:ext cx="1533525" cy="9525"/>
          </a:xfrm>
          <a:prstGeom prst="line">
            <a:avLst/>
          </a:prstGeom>
          <a:noFill/>
          <a:ln w="1905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7" name="Line 32"/>
          <p:cNvSpPr>
            <a:spLocks noChangeShapeType="1"/>
          </p:cNvSpPr>
          <p:nvPr/>
        </p:nvSpPr>
        <p:spPr bwMode="auto">
          <a:xfrm>
            <a:off x="5674922" y="1563688"/>
            <a:ext cx="0" cy="609600"/>
          </a:xfrm>
          <a:prstGeom prst="line">
            <a:avLst/>
          </a:prstGeom>
          <a:noFill/>
          <a:ln w="1905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8" name="Line 33"/>
          <p:cNvSpPr>
            <a:spLocks noChangeShapeType="1"/>
          </p:cNvSpPr>
          <p:nvPr/>
        </p:nvSpPr>
        <p:spPr bwMode="auto">
          <a:xfrm flipV="1">
            <a:off x="5674922" y="1554163"/>
            <a:ext cx="400050" cy="9525"/>
          </a:xfrm>
          <a:prstGeom prst="line">
            <a:avLst/>
          </a:prstGeom>
          <a:noFill/>
          <a:ln w="1905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5762234" y="22098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0" name="Text Box 35"/>
          <p:cNvSpPr txBox="1">
            <a:spLocks noChangeArrowheads="1"/>
          </p:cNvSpPr>
          <p:nvPr/>
        </p:nvSpPr>
        <p:spPr bwMode="auto">
          <a:xfrm>
            <a:off x="4144572" y="2216150"/>
            <a:ext cx="4683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Symbol" panose="05050102010706020507" pitchFamily="18" charset="2"/>
              </a:rPr>
              <a:t>a</a:t>
            </a:r>
            <a:r>
              <a:rPr lang="fr-FR" altLang="fr-FR" sz="1800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2944422" y="1335088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I</a:t>
            </a:r>
            <a:r>
              <a:rPr lang="fr-FR" altLang="fr-FR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7073509" y="1790700"/>
            <a:ext cx="30956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>
                <a:latin typeface="Times New Roman" panose="02020603050405020304" pitchFamily="18" charset="0"/>
              </a:rPr>
              <a:t>Magnetising current neglected</a:t>
            </a:r>
          </a:p>
        </p:txBody>
      </p:sp>
      <p:sp>
        <p:nvSpPr>
          <p:cNvPr id="33" name="Text Box 38"/>
          <p:cNvSpPr txBox="1">
            <a:spLocks noChangeArrowheads="1"/>
          </p:cNvSpPr>
          <p:nvPr/>
        </p:nvSpPr>
        <p:spPr bwMode="auto">
          <a:xfrm>
            <a:off x="3422259" y="984250"/>
            <a:ext cx="3444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F66FF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solidFill>
                  <a:srgbClr val="FF66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" name="Line 41"/>
          <p:cNvSpPr>
            <a:spLocks noChangeShapeType="1"/>
          </p:cNvSpPr>
          <p:nvPr/>
        </p:nvSpPr>
        <p:spPr bwMode="auto">
          <a:xfrm>
            <a:off x="3368284" y="2520950"/>
            <a:ext cx="0" cy="10842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" name="Line 42"/>
          <p:cNvSpPr>
            <a:spLocks noChangeShapeType="1"/>
          </p:cNvSpPr>
          <p:nvPr/>
        </p:nvSpPr>
        <p:spPr bwMode="auto">
          <a:xfrm>
            <a:off x="3258747" y="3468688"/>
            <a:ext cx="3956050" cy="19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4138222" y="2214563"/>
            <a:ext cx="9525" cy="13684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7" name="Line 44"/>
          <p:cNvSpPr>
            <a:spLocks noChangeShapeType="1"/>
          </p:cNvSpPr>
          <p:nvPr/>
        </p:nvSpPr>
        <p:spPr bwMode="auto">
          <a:xfrm>
            <a:off x="5673334" y="2241550"/>
            <a:ext cx="19050" cy="13303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" name="Line 45"/>
          <p:cNvSpPr>
            <a:spLocks noChangeShapeType="1"/>
          </p:cNvSpPr>
          <p:nvPr/>
        </p:nvSpPr>
        <p:spPr bwMode="auto">
          <a:xfrm>
            <a:off x="3369872" y="2849563"/>
            <a:ext cx="771525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Line 46"/>
          <p:cNvSpPr>
            <a:spLocks noChangeShapeType="1"/>
          </p:cNvSpPr>
          <p:nvPr/>
        </p:nvSpPr>
        <p:spPr bwMode="auto">
          <a:xfrm>
            <a:off x="4141397" y="2849563"/>
            <a:ext cx="0" cy="6096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" name="Line 47"/>
          <p:cNvSpPr>
            <a:spLocks noChangeShapeType="1"/>
          </p:cNvSpPr>
          <p:nvPr/>
        </p:nvSpPr>
        <p:spPr bwMode="auto">
          <a:xfrm>
            <a:off x="4141397" y="3459163"/>
            <a:ext cx="1533525" cy="952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" name="Line 48"/>
          <p:cNvSpPr>
            <a:spLocks noChangeShapeType="1"/>
          </p:cNvSpPr>
          <p:nvPr/>
        </p:nvSpPr>
        <p:spPr bwMode="auto">
          <a:xfrm>
            <a:off x="5676509" y="2879725"/>
            <a:ext cx="0" cy="6096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Line 49"/>
          <p:cNvSpPr>
            <a:spLocks noChangeShapeType="1"/>
          </p:cNvSpPr>
          <p:nvPr/>
        </p:nvSpPr>
        <p:spPr bwMode="auto">
          <a:xfrm flipV="1">
            <a:off x="5676509" y="2870200"/>
            <a:ext cx="400050" cy="952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3" name="Text Box 52"/>
          <p:cNvSpPr txBox="1">
            <a:spLocks noChangeArrowheads="1"/>
          </p:cNvSpPr>
          <p:nvPr/>
        </p:nvSpPr>
        <p:spPr bwMode="auto">
          <a:xfrm>
            <a:off x="2869809" y="2622550"/>
            <a:ext cx="639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mI</a:t>
            </a:r>
            <a:r>
              <a:rPr lang="fr-FR" altLang="fr-FR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" name="Text Box 53"/>
          <p:cNvSpPr txBox="1">
            <a:spLocks noChangeArrowheads="1"/>
          </p:cNvSpPr>
          <p:nvPr/>
        </p:nvSpPr>
        <p:spPr bwMode="auto">
          <a:xfrm>
            <a:off x="3442897" y="2300288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45" name="Group 81"/>
          <p:cNvGrpSpPr>
            <a:grpSpLocks/>
          </p:cNvGrpSpPr>
          <p:nvPr/>
        </p:nvGrpSpPr>
        <p:grpSpPr bwMode="auto">
          <a:xfrm>
            <a:off x="10267559" y="1471613"/>
            <a:ext cx="1406525" cy="993775"/>
            <a:chOff x="4660" y="819"/>
            <a:chExt cx="886" cy="626"/>
          </a:xfrm>
        </p:grpSpPr>
        <p:graphicFrame>
          <p:nvGraphicFramePr>
            <p:cNvPr id="46" name="Object 54"/>
            <p:cNvGraphicFramePr>
              <a:graphicFrameLocks noChangeAspect="1"/>
            </p:cNvGraphicFramePr>
            <p:nvPr/>
          </p:nvGraphicFramePr>
          <p:xfrm>
            <a:off x="4713" y="819"/>
            <a:ext cx="753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7700" imgH="228600" progId="Equation.3">
                    <p:embed/>
                  </p:oleObj>
                </mc:Choice>
                <mc:Fallback>
                  <p:oleObj name="Equation" r:id="rId4" imgW="647700" imgH="228600" progId="Equation.3">
                    <p:embed/>
                    <p:pic>
                      <p:nvPicPr>
                        <p:cNvPr id="46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3" y="819"/>
                          <a:ext cx="753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55"/>
            <p:cNvGraphicFramePr>
              <a:graphicFrameLocks noChangeAspect="1"/>
            </p:cNvGraphicFramePr>
            <p:nvPr/>
          </p:nvGraphicFramePr>
          <p:xfrm>
            <a:off x="4660" y="1180"/>
            <a:ext cx="886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61669" imgH="228501" progId="Equation.3">
                    <p:embed/>
                  </p:oleObj>
                </mc:Choice>
                <mc:Fallback>
                  <p:oleObj name="Equation" r:id="rId6" imgW="761669" imgH="228501" progId="Equation.3">
                    <p:embed/>
                    <p:pic>
                      <p:nvPicPr>
                        <p:cNvPr id="47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0" y="1180"/>
                          <a:ext cx="886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401283"/>
              </p:ext>
            </p:extLst>
          </p:nvPr>
        </p:nvGraphicFramePr>
        <p:xfrm>
          <a:off x="6875072" y="2554288"/>
          <a:ext cx="46894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40000" imgH="381000" progId="Equation.3">
                  <p:embed/>
                </p:oleObj>
              </mc:Choice>
              <mc:Fallback>
                <p:oleObj name="Equation" r:id="rId8" imgW="2540000" imgH="381000" progId="Equation.3">
                  <p:embed/>
                  <p:pic>
                    <p:nvPicPr>
                      <p:cNvPr id="48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072" y="2554288"/>
                        <a:ext cx="4689475" cy="701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406982"/>
              </p:ext>
            </p:extLst>
          </p:nvPr>
        </p:nvGraphicFramePr>
        <p:xfrm>
          <a:off x="8224447" y="3963988"/>
          <a:ext cx="22971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44600" imgH="381000" progId="Equation.3">
                  <p:embed/>
                </p:oleObj>
              </mc:Choice>
              <mc:Fallback>
                <p:oleObj name="Equation" r:id="rId10" imgW="1244600" imgH="381000" progId="Equation.3">
                  <p:embed/>
                  <p:pic>
                    <p:nvPicPr>
                      <p:cNvPr id="49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4447" y="3963988"/>
                        <a:ext cx="2297112" cy="701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786398"/>
              </p:ext>
            </p:extLst>
          </p:nvPr>
        </p:nvGraphicFramePr>
        <p:xfrm>
          <a:off x="8254609" y="4870450"/>
          <a:ext cx="3278188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7229" imgH="406224" progId="Equation.3">
                  <p:embed/>
                </p:oleObj>
              </mc:Choice>
              <mc:Fallback>
                <p:oleObj name="Equation" r:id="rId12" imgW="1777229" imgH="406224" progId="Equation.3">
                  <p:embed/>
                  <p:pic>
                    <p:nvPicPr>
                      <p:cNvPr id="5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4609" y="4870450"/>
                        <a:ext cx="3278188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Group 61"/>
          <p:cNvGrpSpPr>
            <a:grpSpLocks/>
          </p:cNvGrpSpPr>
          <p:nvPr/>
        </p:nvGrpSpPr>
        <p:grpSpPr bwMode="auto">
          <a:xfrm>
            <a:off x="3271447" y="3675063"/>
            <a:ext cx="4159250" cy="1552575"/>
            <a:chOff x="433" y="1283"/>
            <a:chExt cx="2470" cy="946"/>
          </a:xfrm>
        </p:grpSpPr>
        <p:grpSp>
          <p:nvGrpSpPr>
            <p:cNvPr id="52" name="Group 62"/>
            <p:cNvGrpSpPr>
              <a:grpSpLocks/>
            </p:cNvGrpSpPr>
            <p:nvPr/>
          </p:nvGrpSpPr>
          <p:grpSpPr bwMode="auto">
            <a:xfrm>
              <a:off x="473" y="1355"/>
              <a:ext cx="48" cy="768"/>
              <a:chOff x="226" y="136"/>
              <a:chExt cx="48" cy="768"/>
            </a:xfrm>
          </p:grpSpPr>
          <p:sp>
            <p:nvSpPr>
              <p:cNvPr id="69" name="Freeform 63"/>
              <p:cNvSpPr>
                <a:spLocks/>
              </p:cNvSpPr>
              <p:nvPr/>
            </p:nvSpPr>
            <p:spPr bwMode="auto">
              <a:xfrm>
                <a:off x="226" y="136"/>
                <a:ext cx="48" cy="88"/>
              </a:xfrm>
              <a:custGeom>
                <a:avLst/>
                <a:gdLst>
                  <a:gd name="T0" fmla="*/ 24 w 48"/>
                  <a:gd name="T1" fmla="*/ 0 h 88"/>
                  <a:gd name="T2" fmla="*/ 48 w 48"/>
                  <a:gd name="T3" fmla="*/ 88 h 88"/>
                  <a:gd name="T4" fmla="*/ 24 w 48"/>
                  <a:gd name="T5" fmla="*/ 88 h 88"/>
                  <a:gd name="T6" fmla="*/ 0 w 48"/>
                  <a:gd name="T7" fmla="*/ 88 h 88"/>
                  <a:gd name="T8" fmla="*/ 24 w 48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88">
                    <a:moveTo>
                      <a:pt x="24" y="0"/>
                    </a:moveTo>
                    <a:lnTo>
                      <a:pt x="48" y="88"/>
                    </a:lnTo>
                    <a:lnTo>
                      <a:pt x="24" y="88"/>
                    </a:lnTo>
                    <a:lnTo>
                      <a:pt x="0" y="88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0" name="Line 64"/>
              <p:cNvSpPr>
                <a:spLocks noChangeShapeType="1"/>
              </p:cNvSpPr>
              <p:nvPr/>
            </p:nvSpPr>
            <p:spPr bwMode="auto">
              <a:xfrm>
                <a:off x="250" y="224"/>
                <a:ext cx="1" cy="6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53" name="Group 65"/>
            <p:cNvGrpSpPr>
              <a:grpSpLocks/>
            </p:cNvGrpSpPr>
            <p:nvPr/>
          </p:nvGrpSpPr>
          <p:grpSpPr bwMode="auto">
            <a:xfrm>
              <a:off x="457" y="2051"/>
              <a:ext cx="2446" cy="48"/>
              <a:chOff x="210" y="832"/>
              <a:chExt cx="2446" cy="48"/>
            </a:xfrm>
          </p:grpSpPr>
          <p:sp>
            <p:nvSpPr>
              <p:cNvPr id="67" name="Freeform 66"/>
              <p:cNvSpPr>
                <a:spLocks/>
              </p:cNvSpPr>
              <p:nvPr/>
            </p:nvSpPr>
            <p:spPr bwMode="auto">
              <a:xfrm>
                <a:off x="2568" y="832"/>
                <a:ext cx="88" cy="48"/>
              </a:xfrm>
              <a:custGeom>
                <a:avLst/>
                <a:gdLst>
                  <a:gd name="T0" fmla="*/ 88 w 88"/>
                  <a:gd name="T1" fmla="*/ 24 h 48"/>
                  <a:gd name="T2" fmla="*/ 0 w 88"/>
                  <a:gd name="T3" fmla="*/ 48 h 48"/>
                  <a:gd name="T4" fmla="*/ 0 w 88"/>
                  <a:gd name="T5" fmla="*/ 24 h 48"/>
                  <a:gd name="T6" fmla="*/ 0 w 88"/>
                  <a:gd name="T7" fmla="*/ 0 h 48"/>
                  <a:gd name="T8" fmla="*/ 88 w 88"/>
                  <a:gd name="T9" fmla="*/ 2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" h="48">
                    <a:moveTo>
                      <a:pt x="88" y="24"/>
                    </a:moveTo>
                    <a:lnTo>
                      <a:pt x="0" y="48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88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" name="Line 67"/>
              <p:cNvSpPr>
                <a:spLocks noChangeShapeType="1"/>
              </p:cNvSpPr>
              <p:nvPr/>
            </p:nvSpPr>
            <p:spPr bwMode="auto">
              <a:xfrm>
                <a:off x="210" y="856"/>
                <a:ext cx="235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54" name="Line 68"/>
            <p:cNvSpPr>
              <a:spLocks noChangeShapeType="1"/>
            </p:cNvSpPr>
            <p:nvPr/>
          </p:nvSpPr>
          <p:spPr bwMode="auto">
            <a:xfrm flipV="1">
              <a:off x="497" y="1759"/>
              <a:ext cx="455" cy="312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69"/>
            <p:cNvSpPr>
              <a:spLocks noChangeShapeType="1"/>
            </p:cNvSpPr>
            <p:nvPr/>
          </p:nvSpPr>
          <p:spPr bwMode="auto">
            <a:xfrm>
              <a:off x="952" y="1759"/>
              <a:ext cx="616" cy="312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Line 70"/>
            <p:cNvSpPr>
              <a:spLocks noChangeShapeType="1"/>
            </p:cNvSpPr>
            <p:nvPr/>
          </p:nvSpPr>
          <p:spPr bwMode="auto">
            <a:xfrm flipV="1">
              <a:off x="1862" y="1753"/>
              <a:ext cx="455" cy="312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Rectangle 71"/>
            <p:cNvSpPr>
              <a:spLocks noChangeArrowheads="1"/>
            </p:cNvSpPr>
            <p:nvPr/>
          </p:nvSpPr>
          <p:spPr bwMode="auto">
            <a:xfrm>
              <a:off x="881" y="2115"/>
              <a:ext cx="55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72"/>
            <p:cNvSpPr>
              <a:spLocks noChangeArrowheads="1"/>
            </p:cNvSpPr>
            <p:nvPr/>
          </p:nvSpPr>
          <p:spPr bwMode="auto">
            <a:xfrm>
              <a:off x="1792" y="2075"/>
              <a:ext cx="56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73"/>
            <p:cNvSpPr>
              <a:spLocks noChangeArrowheads="1"/>
            </p:cNvSpPr>
            <p:nvPr/>
          </p:nvSpPr>
          <p:spPr bwMode="auto">
            <a:xfrm>
              <a:off x="793" y="2107"/>
              <a:ext cx="59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200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74"/>
            <p:cNvSpPr>
              <a:spLocks noChangeArrowheads="1"/>
            </p:cNvSpPr>
            <p:nvPr/>
          </p:nvSpPr>
          <p:spPr bwMode="auto">
            <a:xfrm>
              <a:off x="2799" y="1867"/>
              <a:ext cx="26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75"/>
            <p:cNvSpPr>
              <a:spLocks noChangeArrowheads="1"/>
            </p:cNvSpPr>
            <p:nvPr/>
          </p:nvSpPr>
          <p:spPr bwMode="auto">
            <a:xfrm>
              <a:off x="433" y="2099"/>
              <a:ext cx="45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2" name="Text Box 76"/>
            <p:cNvSpPr txBox="1">
              <a:spLocks noChangeArrowheads="1"/>
            </p:cNvSpPr>
            <p:nvPr/>
          </p:nvSpPr>
          <p:spPr bwMode="auto">
            <a:xfrm>
              <a:off x="507" y="1283"/>
              <a:ext cx="218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400" b="1">
                  <a:solidFill>
                    <a:srgbClr val="009900"/>
                  </a:solidFill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63" name="Line 77"/>
            <p:cNvSpPr>
              <a:spLocks noChangeShapeType="1"/>
            </p:cNvSpPr>
            <p:nvPr/>
          </p:nvSpPr>
          <p:spPr bwMode="auto">
            <a:xfrm>
              <a:off x="1563" y="2066"/>
              <a:ext cx="287" cy="6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Rectangle 78"/>
            <p:cNvSpPr>
              <a:spLocks noChangeArrowheads="1"/>
            </p:cNvSpPr>
            <p:nvPr/>
          </p:nvSpPr>
          <p:spPr bwMode="auto">
            <a:xfrm>
              <a:off x="1518" y="2118"/>
              <a:ext cx="56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r>
                <a:rPr lang="fr-FR" altLang="fr-FR" sz="1200" baseline="-2500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fr-FR" altLang="fr-FR" sz="1800" baseline="-250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5" name="Object 79"/>
            <p:cNvGraphicFramePr>
              <a:graphicFrameLocks noChangeAspect="1"/>
            </p:cNvGraphicFramePr>
            <p:nvPr/>
          </p:nvGraphicFramePr>
          <p:xfrm>
            <a:off x="1177" y="1635"/>
            <a:ext cx="428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09336" imgH="380835" progId="Equation.3">
                    <p:embed/>
                  </p:oleObj>
                </mc:Choice>
                <mc:Fallback>
                  <p:oleObj name="Equation" r:id="rId14" imgW="609336" imgH="380835" progId="Equation.3">
                    <p:embed/>
                    <p:pic>
                      <p:nvPicPr>
                        <p:cNvPr id="65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7" y="1635"/>
                          <a:ext cx="428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80"/>
            <p:cNvGraphicFramePr>
              <a:graphicFrameLocks noChangeAspect="1"/>
            </p:cNvGraphicFramePr>
            <p:nvPr/>
          </p:nvGraphicFramePr>
          <p:xfrm>
            <a:off x="502" y="1562"/>
            <a:ext cx="381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08000" imgH="381000" progId="Equation.3">
                    <p:embed/>
                  </p:oleObj>
                </mc:Choice>
                <mc:Fallback>
                  <p:oleObj name="Equation" r:id="rId16" imgW="508000" imgH="381000" progId="Equation.3">
                    <p:embed/>
                    <p:pic>
                      <p:nvPicPr>
                        <p:cNvPr id="66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" y="1562"/>
                          <a:ext cx="381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" name="ZoneTexte 70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Principle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17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study: inductor sizing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3400930" y="1264831"/>
            <a:ext cx="5116512" cy="2552700"/>
            <a:chOff x="511" y="1590"/>
            <a:chExt cx="4317" cy="2154"/>
          </a:xfrm>
        </p:grpSpPr>
        <p:grpSp>
          <p:nvGrpSpPr>
            <p:cNvPr id="11" name="Group 5"/>
            <p:cNvGrpSpPr>
              <a:grpSpLocks/>
            </p:cNvGrpSpPr>
            <p:nvPr/>
          </p:nvGrpSpPr>
          <p:grpSpPr bwMode="auto">
            <a:xfrm>
              <a:off x="1490" y="2177"/>
              <a:ext cx="178" cy="779"/>
              <a:chOff x="2179" y="1204"/>
              <a:chExt cx="178" cy="779"/>
            </a:xfrm>
          </p:grpSpPr>
          <p:grpSp>
            <p:nvGrpSpPr>
              <p:cNvPr id="235" name="Group 6"/>
              <p:cNvGrpSpPr>
                <a:grpSpLocks/>
              </p:cNvGrpSpPr>
              <p:nvPr/>
            </p:nvGrpSpPr>
            <p:grpSpPr bwMode="auto">
              <a:xfrm>
                <a:off x="2179" y="1753"/>
                <a:ext cx="178" cy="95"/>
                <a:chOff x="2179" y="1753"/>
                <a:chExt cx="178" cy="95"/>
              </a:xfrm>
            </p:grpSpPr>
            <p:grpSp>
              <p:nvGrpSpPr>
                <p:cNvPr id="275" name="Group 7"/>
                <p:cNvGrpSpPr>
                  <a:grpSpLocks/>
                </p:cNvGrpSpPr>
                <p:nvPr/>
              </p:nvGrpSpPr>
              <p:grpSpPr bwMode="auto">
                <a:xfrm>
                  <a:off x="2179" y="1753"/>
                  <a:ext cx="178" cy="77"/>
                  <a:chOff x="2179" y="1753"/>
                  <a:chExt cx="178" cy="77"/>
                </a:xfrm>
              </p:grpSpPr>
              <p:sp>
                <p:nvSpPr>
                  <p:cNvPr id="279" name="Arc 8"/>
                  <p:cNvSpPr>
                    <a:spLocks/>
                  </p:cNvSpPr>
                  <p:nvPr/>
                </p:nvSpPr>
                <p:spPr bwMode="auto">
                  <a:xfrm>
                    <a:off x="2268" y="175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80" name="Arc 9"/>
                  <p:cNvSpPr>
                    <a:spLocks/>
                  </p:cNvSpPr>
                  <p:nvPr/>
                </p:nvSpPr>
                <p:spPr bwMode="auto">
                  <a:xfrm>
                    <a:off x="2179" y="1800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76" name="Group 10"/>
                <p:cNvGrpSpPr>
                  <a:grpSpLocks/>
                </p:cNvGrpSpPr>
                <p:nvPr/>
              </p:nvGrpSpPr>
              <p:grpSpPr bwMode="auto">
                <a:xfrm>
                  <a:off x="2179" y="1771"/>
                  <a:ext cx="178" cy="77"/>
                  <a:chOff x="2179" y="1771"/>
                  <a:chExt cx="178" cy="77"/>
                </a:xfrm>
              </p:grpSpPr>
              <p:sp>
                <p:nvSpPr>
                  <p:cNvPr id="277" name="Arc 11"/>
                  <p:cNvSpPr>
                    <a:spLocks/>
                  </p:cNvSpPr>
                  <p:nvPr/>
                </p:nvSpPr>
                <p:spPr bwMode="auto">
                  <a:xfrm>
                    <a:off x="2268" y="177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78" name="Arc 12"/>
                  <p:cNvSpPr>
                    <a:spLocks/>
                  </p:cNvSpPr>
                  <p:nvPr/>
                </p:nvSpPr>
                <p:spPr bwMode="auto">
                  <a:xfrm>
                    <a:off x="2179" y="1771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36" name="Group 13"/>
              <p:cNvGrpSpPr>
                <a:grpSpLocks/>
              </p:cNvGrpSpPr>
              <p:nvPr/>
            </p:nvGrpSpPr>
            <p:grpSpPr bwMode="auto">
              <a:xfrm>
                <a:off x="2179" y="1670"/>
                <a:ext cx="178" cy="95"/>
                <a:chOff x="2179" y="1670"/>
                <a:chExt cx="178" cy="95"/>
              </a:xfrm>
            </p:grpSpPr>
            <p:grpSp>
              <p:nvGrpSpPr>
                <p:cNvPr id="269" name="Group 14"/>
                <p:cNvGrpSpPr>
                  <a:grpSpLocks/>
                </p:cNvGrpSpPr>
                <p:nvPr/>
              </p:nvGrpSpPr>
              <p:grpSpPr bwMode="auto">
                <a:xfrm>
                  <a:off x="2179" y="1670"/>
                  <a:ext cx="178" cy="78"/>
                  <a:chOff x="2179" y="1670"/>
                  <a:chExt cx="178" cy="78"/>
                </a:xfrm>
              </p:grpSpPr>
              <p:sp>
                <p:nvSpPr>
                  <p:cNvPr id="273" name="Arc 15"/>
                  <p:cNvSpPr>
                    <a:spLocks/>
                  </p:cNvSpPr>
                  <p:nvPr/>
                </p:nvSpPr>
                <p:spPr bwMode="auto">
                  <a:xfrm>
                    <a:off x="2268" y="167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74" name="Arc 16"/>
                  <p:cNvSpPr>
                    <a:spLocks/>
                  </p:cNvSpPr>
                  <p:nvPr/>
                </p:nvSpPr>
                <p:spPr bwMode="auto">
                  <a:xfrm>
                    <a:off x="2179" y="1718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70" name="Group 17"/>
                <p:cNvGrpSpPr>
                  <a:grpSpLocks/>
                </p:cNvGrpSpPr>
                <p:nvPr/>
              </p:nvGrpSpPr>
              <p:grpSpPr bwMode="auto">
                <a:xfrm>
                  <a:off x="2179" y="1688"/>
                  <a:ext cx="178" cy="77"/>
                  <a:chOff x="2179" y="1688"/>
                  <a:chExt cx="178" cy="77"/>
                </a:xfrm>
              </p:grpSpPr>
              <p:sp>
                <p:nvSpPr>
                  <p:cNvPr id="271" name="Arc 18"/>
                  <p:cNvSpPr>
                    <a:spLocks/>
                  </p:cNvSpPr>
                  <p:nvPr/>
                </p:nvSpPr>
                <p:spPr bwMode="auto">
                  <a:xfrm>
                    <a:off x="2268" y="168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72" name="Arc 19"/>
                  <p:cNvSpPr>
                    <a:spLocks/>
                  </p:cNvSpPr>
                  <p:nvPr/>
                </p:nvSpPr>
                <p:spPr bwMode="auto">
                  <a:xfrm>
                    <a:off x="2179" y="1688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</a:path>
                      <a:path w="21600" h="21600" stroke="0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  <a:lnTo>
                          <a:pt x="21600" y="21600"/>
                        </a:lnTo>
                        <a:lnTo>
                          <a:pt x="0" y="2155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37" name="Group 20"/>
              <p:cNvGrpSpPr>
                <a:grpSpLocks/>
              </p:cNvGrpSpPr>
              <p:nvPr/>
            </p:nvGrpSpPr>
            <p:grpSpPr bwMode="auto">
              <a:xfrm>
                <a:off x="2179" y="1588"/>
                <a:ext cx="178" cy="95"/>
                <a:chOff x="2179" y="1588"/>
                <a:chExt cx="178" cy="95"/>
              </a:xfrm>
            </p:grpSpPr>
            <p:grpSp>
              <p:nvGrpSpPr>
                <p:cNvPr id="263" name="Group 21"/>
                <p:cNvGrpSpPr>
                  <a:grpSpLocks/>
                </p:cNvGrpSpPr>
                <p:nvPr/>
              </p:nvGrpSpPr>
              <p:grpSpPr bwMode="auto">
                <a:xfrm>
                  <a:off x="2179" y="1588"/>
                  <a:ext cx="178" cy="77"/>
                  <a:chOff x="2179" y="1588"/>
                  <a:chExt cx="178" cy="77"/>
                </a:xfrm>
              </p:grpSpPr>
              <p:sp>
                <p:nvSpPr>
                  <p:cNvPr id="267" name="Arc 22"/>
                  <p:cNvSpPr>
                    <a:spLocks/>
                  </p:cNvSpPr>
                  <p:nvPr/>
                </p:nvSpPr>
                <p:spPr bwMode="auto">
                  <a:xfrm>
                    <a:off x="2268" y="1588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8" name="Arc 23"/>
                  <p:cNvSpPr>
                    <a:spLocks/>
                  </p:cNvSpPr>
                  <p:nvPr/>
                </p:nvSpPr>
                <p:spPr bwMode="auto">
                  <a:xfrm>
                    <a:off x="2179" y="1635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64" name="Group 24"/>
                <p:cNvGrpSpPr>
                  <a:grpSpLocks/>
                </p:cNvGrpSpPr>
                <p:nvPr/>
              </p:nvGrpSpPr>
              <p:grpSpPr bwMode="auto">
                <a:xfrm>
                  <a:off x="2179" y="1606"/>
                  <a:ext cx="178" cy="77"/>
                  <a:chOff x="2179" y="1606"/>
                  <a:chExt cx="178" cy="77"/>
                </a:xfrm>
              </p:grpSpPr>
              <p:sp>
                <p:nvSpPr>
                  <p:cNvPr id="265" name="Arc 25"/>
                  <p:cNvSpPr>
                    <a:spLocks/>
                  </p:cNvSpPr>
                  <p:nvPr/>
                </p:nvSpPr>
                <p:spPr bwMode="auto">
                  <a:xfrm>
                    <a:off x="2268" y="1606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6" name="Arc 26"/>
                  <p:cNvSpPr>
                    <a:spLocks/>
                  </p:cNvSpPr>
                  <p:nvPr/>
                </p:nvSpPr>
                <p:spPr bwMode="auto">
                  <a:xfrm>
                    <a:off x="2179" y="1606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38" name="Group 27"/>
              <p:cNvGrpSpPr>
                <a:grpSpLocks/>
              </p:cNvGrpSpPr>
              <p:nvPr/>
            </p:nvGrpSpPr>
            <p:grpSpPr bwMode="auto">
              <a:xfrm>
                <a:off x="2179" y="1505"/>
                <a:ext cx="178" cy="95"/>
                <a:chOff x="2179" y="1505"/>
                <a:chExt cx="178" cy="95"/>
              </a:xfrm>
            </p:grpSpPr>
            <p:grpSp>
              <p:nvGrpSpPr>
                <p:cNvPr id="257" name="Group 28"/>
                <p:cNvGrpSpPr>
                  <a:grpSpLocks/>
                </p:cNvGrpSpPr>
                <p:nvPr/>
              </p:nvGrpSpPr>
              <p:grpSpPr bwMode="auto">
                <a:xfrm>
                  <a:off x="2179" y="1505"/>
                  <a:ext cx="178" cy="78"/>
                  <a:chOff x="2179" y="1505"/>
                  <a:chExt cx="178" cy="78"/>
                </a:xfrm>
              </p:grpSpPr>
              <p:sp>
                <p:nvSpPr>
                  <p:cNvPr id="261" name="Arc 29"/>
                  <p:cNvSpPr>
                    <a:spLocks/>
                  </p:cNvSpPr>
                  <p:nvPr/>
                </p:nvSpPr>
                <p:spPr bwMode="auto">
                  <a:xfrm>
                    <a:off x="2268" y="1505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2" name="Arc 30"/>
                  <p:cNvSpPr>
                    <a:spLocks/>
                  </p:cNvSpPr>
                  <p:nvPr/>
                </p:nvSpPr>
                <p:spPr bwMode="auto">
                  <a:xfrm>
                    <a:off x="2179" y="1553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58" name="Group 31"/>
                <p:cNvGrpSpPr>
                  <a:grpSpLocks/>
                </p:cNvGrpSpPr>
                <p:nvPr/>
              </p:nvGrpSpPr>
              <p:grpSpPr bwMode="auto">
                <a:xfrm>
                  <a:off x="2180" y="1523"/>
                  <a:ext cx="177" cy="77"/>
                  <a:chOff x="2180" y="1523"/>
                  <a:chExt cx="177" cy="77"/>
                </a:xfrm>
              </p:grpSpPr>
              <p:sp>
                <p:nvSpPr>
                  <p:cNvPr id="259" name="Arc 32"/>
                  <p:cNvSpPr>
                    <a:spLocks/>
                  </p:cNvSpPr>
                  <p:nvPr/>
                </p:nvSpPr>
                <p:spPr bwMode="auto">
                  <a:xfrm>
                    <a:off x="2268" y="1523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60" name="Arc 33"/>
                  <p:cNvSpPr>
                    <a:spLocks/>
                  </p:cNvSpPr>
                  <p:nvPr/>
                </p:nvSpPr>
                <p:spPr bwMode="auto">
                  <a:xfrm>
                    <a:off x="2180" y="1523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-1" y="21268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39" name="Group 34"/>
              <p:cNvGrpSpPr>
                <a:grpSpLocks/>
              </p:cNvGrpSpPr>
              <p:nvPr/>
            </p:nvGrpSpPr>
            <p:grpSpPr bwMode="auto">
              <a:xfrm>
                <a:off x="2179" y="1423"/>
                <a:ext cx="178" cy="95"/>
                <a:chOff x="2179" y="1423"/>
                <a:chExt cx="178" cy="95"/>
              </a:xfrm>
            </p:grpSpPr>
            <p:grpSp>
              <p:nvGrpSpPr>
                <p:cNvPr id="251" name="Group 35"/>
                <p:cNvGrpSpPr>
                  <a:grpSpLocks/>
                </p:cNvGrpSpPr>
                <p:nvPr/>
              </p:nvGrpSpPr>
              <p:grpSpPr bwMode="auto">
                <a:xfrm>
                  <a:off x="2179" y="1423"/>
                  <a:ext cx="178" cy="77"/>
                  <a:chOff x="2179" y="1423"/>
                  <a:chExt cx="178" cy="77"/>
                </a:xfrm>
              </p:grpSpPr>
              <p:sp>
                <p:nvSpPr>
                  <p:cNvPr id="255" name="Arc 36"/>
                  <p:cNvSpPr>
                    <a:spLocks/>
                  </p:cNvSpPr>
                  <p:nvPr/>
                </p:nvSpPr>
                <p:spPr bwMode="auto">
                  <a:xfrm>
                    <a:off x="2268" y="142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6" name="Arc 37"/>
                  <p:cNvSpPr>
                    <a:spLocks/>
                  </p:cNvSpPr>
                  <p:nvPr/>
                </p:nvSpPr>
                <p:spPr bwMode="auto">
                  <a:xfrm>
                    <a:off x="2179" y="1464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</a:path>
                      <a:path w="21600" h="21600" stroke="0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  <a:lnTo>
                          <a:pt x="21600" y="0"/>
                        </a:lnTo>
                        <a:lnTo>
                          <a:pt x="21506" y="2159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52" name="Group 38"/>
                <p:cNvGrpSpPr>
                  <a:grpSpLocks/>
                </p:cNvGrpSpPr>
                <p:nvPr/>
              </p:nvGrpSpPr>
              <p:grpSpPr bwMode="auto">
                <a:xfrm>
                  <a:off x="2180" y="1441"/>
                  <a:ext cx="177" cy="77"/>
                  <a:chOff x="2180" y="1441"/>
                  <a:chExt cx="177" cy="77"/>
                </a:xfrm>
              </p:grpSpPr>
              <p:sp>
                <p:nvSpPr>
                  <p:cNvPr id="253" name="Arc 39"/>
                  <p:cNvSpPr>
                    <a:spLocks/>
                  </p:cNvSpPr>
                  <p:nvPr/>
                </p:nvSpPr>
                <p:spPr bwMode="auto">
                  <a:xfrm>
                    <a:off x="2268" y="144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4" name="Arc 40"/>
                  <p:cNvSpPr>
                    <a:spLocks/>
                  </p:cNvSpPr>
                  <p:nvPr/>
                </p:nvSpPr>
                <p:spPr bwMode="auto">
                  <a:xfrm>
                    <a:off x="2180" y="1441"/>
                    <a:ext cx="88" cy="29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</a:path>
                      <a:path w="21597" h="21600" stroke="0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  <a:lnTo>
                          <a:pt x="21597" y="21600"/>
                        </a:lnTo>
                        <a:lnTo>
                          <a:pt x="-1" y="21262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40" name="Group 41"/>
              <p:cNvGrpSpPr>
                <a:grpSpLocks/>
              </p:cNvGrpSpPr>
              <p:nvPr/>
            </p:nvGrpSpPr>
            <p:grpSpPr bwMode="auto">
              <a:xfrm>
                <a:off x="2179" y="1340"/>
                <a:ext cx="178" cy="95"/>
                <a:chOff x="2179" y="1340"/>
                <a:chExt cx="178" cy="95"/>
              </a:xfrm>
            </p:grpSpPr>
            <p:grpSp>
              <p:nvGrpSpPr>
                <p:cNvPr id="245" name="Group 42"/>
                <p:cNvGrpSpPr>
                  <a:grpSpLocks/>
                </p:cNvGrpSpPr>
                <p:nvPr/>
              </p:nvGrpSpPr>
              <p:grpSpPr bwMode="auto">
                <a:xfrm>
                  <a:off x="2179" y="1340"/>
                  <a:ext cx="178" cy="78"/>
                  <a:chOff x="2179" y="1340"/>
                  <a:chExt cx="178" cy="78"/>
                </a:xfrm>
              </p:grpSpPr>
              <p:sp>
                <p:nvSpPr>
                  <p:cNvPr id="249" name="Arc 43"/>
                  <p:cNvSpPr>
                    <a:spLocks/>
                  </p:cNvSpPr>
                  <p:nvPr/>
                </p:nvSpPr>
                <p:spPr bwMode="auto">
                  <a:xfrm>
                    <a:off x="2268" y="134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50" name="Arc 44"/>
                  <p:cNvSpPr>
                    <a:spLocks/>
                  </p:cNvSpPr>
                  <p:nvPr/>
                </p:nvSpPr>
                <p:spPr bwMode="auto">
                  <a:xfrm>
                    <a:off x="2179" y="1382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46"/>
                      <a:gd name="T2" fmla="*/ 0 w 21600"/>
                      <a:gd name="T3" fmla="*/ 0 h 21646"/>
                      <a:gd name="T4" fmla="*/ 0 w 21600"/>
                      <a:gd name="T5" fmla="*/ 0 h 2164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6" fill="none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</a:path>
                      <a:path w="21600" h="21646" stroke="0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  <a:lnTo>
                          <a:pt x="21600" y="46"/>
                        </a:lnTo>
                        <a:lnTo>
                          <a:pt x="21504" y="21645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46" name="Group 45"/>
                <p:cNvGrpSpPr>
                  <a:grpSpLocks/>
                </p:cNvGrpSpPr>
                <p:nvPr/>
              </p:nvGrpSpPr>
              <p:grpSpPr bwMode="auto">
                <a:xfrm>
                  <a:off x="2180" y="1358"/>
                  <a:ext cx="177" cy="77"/>
                  <a:chOff x="2180" y="1358"/>
                  <a:chExt cx="177" cy="77"/>
                </a:xfrm>
              </p:grpSpPr>
              <p:sp>
                <p:nvSpPr>
                  <p:cNvPr id="247" name="Arc 46"/>
                  <p:cNvSpPr>
                    <a:spLocks/>
                  </p:cNvSpPr>
                  <p:nvPr/>
                </p:nvSpPr>
                <p:spPr bwMode="auto">
                  <a:xfrm>
                    <a:off x="2268" y="135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48" name="Arc 47"/>
                  <p:cNvSpPr>
                    <a:spLocks/>
                  </p:cNvSpPr>
                  <p:nvPr/>
                </p:nvSpPr>
                <p:spPr bwMode="auto">
                  <a:xfrm>
                    <a:off x="2180" y="1358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0" y="212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241" name="Arc 48"/>
              <p:cNvSpPr>
                <a:spLocks/>
              </p:cNvSpPr>
              <p:nvPr/>
            </p:nvSpPr>
            <p:spPr bwMode="auto">
              <a:xfrm>
                <a:off x="2268" y="1275"/>
                <a:ext cx="89" cy="77"/>
              </a:xfrm>
              <a:custGeom>
                <a:avLst/>
                <a:gdLst>
                  <a:gd name="T0" fmla="*/ 0 w 21707"/>
                  <a:gd name="T1" fmla="*/ 0 h 21600"/>
                  <a:gd name="T2" fmla="*/ 0 w 21707"/>
                  <a:gd name="T3" fmla="*/ 0 h 21600"/>
                  <a:gd name="T4" fmla="*/ 0 w 2170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07" h="21600" fill="none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</a:path>
                  <a:path w="21707" h="21600" stroke="0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  <a:lnTo>
                      <a:pt x="107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2" name="Arc 49"/>
              <p:cNvSpPr>
                <a:spLocks/>
              </p:cNvSpPr>
              <p:nvPr/>
            </p:nvSpPr>
            <p:spPr bwMode="auto">
              <a:xfrm>
                <a:off x="2268" y="1847"/>
                <a:ext cx="89" cy="77"/>
              </a:xfrm>
              <a:custGeom>
                <a:avLst/>
                <a:gdLst>
                  <a:gd name="T0" fmla="*/ 0 w 21710"/>
                  <a:gd name="T1" fmla="*/ 0 h 21750"/>
                  <a:gd name="T2" fmla="*/ 0 w 21710"/>
                  <a:gd name="T3" fmla="*/ 0 h 21750"/>
                  <a:gd name="T4" fmla="*/ 0 w 21710"/>
                  <a:gd name="T5" fmla="*/ 0 h 217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10" h="21750" fill="none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</a:path>
                  <a:path w="21710" h="21750" stroke="0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  <a:lnTo>
                      <a:pt x="110" y="150"/>
                    </a:lnTo>
                    <a:lnTo>
                      <a:pt x="21709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3" name="Line 50"/>
              <p:cNvSpPr>
                <a:spLocks noChangeShapeType="1"/>
              </p:cNvSpPr>
              <p:nvPr/>
            </p:nvSpPr>
            <p:spPr bwMode="auto">
              <a:xfrm flipV="1">
                <a:off x="2262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4" name="Line 51"/>
              <p:cNvSpPr>
                <a:spLocks noChangeShapeType="1"/>
              </p:cNvSpPr>
              <p:nvPr/>
            </p:nvSpPr>
            <p:spPr bwMode="auto">
              <a:xfrm flipV="1">
                <a:off x="2262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2" name="Line 52"/>
            <p:cNvSpPr>
              <a:spLocks noChangeShapeType="1"/>
            </p:cNvSpPr>
            <p:nvPr/>
          </p:nvSpPr>
          <p:spPr bwMode="auto">
            <a:xfrm flipV="1">
              <a:off x="2506" y="1939"/>
              <a:ext cx="1" cy="9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3" name="Group 53"/>
            <p:cNvGrpSpPr>
              <a:grpSpLocks/>
            </p:cNvGrpSpPr>
            <p:nvPr/>
          </p:nvGrpSpPr>
          <p:grpSpPr bwMode="auto">
            <a:xfrm>
              <a:off x="2423" y="2009"/>
              <a:ext cx="166" cy="779"/>
              <a:chOff x="3112" y="1204"/>
              <a:chExt cx="166" cy="779"/>
            </a:xfrm>
          </p:grpSpPr>
          <p:grpSp>
            <p:nvGrpSpPr>
              <p:cNvPr id="189" name="Group 54"/>
              <p:cNvGrpSpPr>
                <a:grpSpLocks/>
              </p:cNvGrpSpPr>
              <p:nvPr/>
            </p:nvGrpSpPr>
            <p:grpSpPr bwMode="auto">
              <a:xfrm>
                <a:off x="3112" y="1753"/>
                <a:ext cx="166" cy="95"/>
                <a:chOff x="3112" y="1753"/>
                <a:chExt cx="166" cy="95"/>
              </a:xfrm>
            </p:grpSpPr>
            <p:grpSp>
              <p:nvGrpSpPr>
                <p:cNvPr id="229" name="Group 55"/>
                <p:cNvGrpSpPr>
                  <a:grpSpLocks/>
                </p:cNvGrpSpPr>
                <p:nvPr/>
              </p:nvGrpSpPr>
              <p:grpSpPr bwMode="auto">
                <a:xfrm>
                  <a:off x="3112" y="1753"/>
                  <a:ext cx="166" cy="77"/>
                  <a:chOff x="3112" y="1753"/>
                  <a:chExt cx="166" cy="77"/>
                </a:xfrm>
              </p:grpSpPr>
              <p:sp>
                <p:nvSpPr>
                  <p:cNvPr id="233" name="Arc 56"/>
                  <p:cNvSpPr>
                    <a:spLocks/>
                  </p:cNvSpPr>
                  <p:nvPr/>
                </p:nvSpPr>
                <p:spPr bwMode="auto">
                  <a:xfrm>
                    <a:off x="3112" y="1753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20"/>
                      <a:gd name="T2" fmla="*/ 0 w 21600"/>
                      <a:gd name="T3" fmla="*/ 0 h 21720"/>
                      <a:gd name="T4" fmla="*/ 0 w 21600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20" fill="none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</a:path>
                      <a:path w="21600" h="21720" stroke="0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  <a:lnTo>
                          <a:pt x="21600" y="120"/>
                        </a:lnTo>
                        <a:lnTo>
                          <a:pt x="21600" y="2172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34" name="Arc 57"/>
                  <p:cNvSpPr>
                    <a:spLocks/>
                  </p:cNvSpPr>
                  <p:nvPr/>
                </p:nvSpPr>
                <p:spPr bwMode="auto">
                  <a:xfrm>
                    <a:off x="3195" y="1800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6"/>
                      <a:gd name="T2" fmla="*/ 0 w 21600"/>
                      <a:gd name="T3" fmla="*/ 0 h 21916"/>
                      <a:gd name="T4" fmla="*/ 0 w 21600"/>
                      <a:gd name="T5" fmla="*/ 0 h 219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6" fill="none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</a:path>
                      <a:path w="21600" h="21916" stroke="0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  <a:lnTo>
                          <a:pt x="0" y="316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30" name="Group 58"/>
                <p:cNvGrpSpPr>
                  <a:grpSpLocks/>
                </p:cNvGrpSpPr>
                <p:nvPr/>
              </p:nvGrpSpPr>
              <p:grpSpPr bwMode="auto">
                <a:xfrm>
                  <a:off x="3112" y="1771"/>
                  <a:ext cx="166" cy="77"/>
                  <a:chOff x="3112" y="1771"/>
                  <a:chExt cx="166" cy="77"/>
                </a:xfrm>
              </p:grpSpPr>
              <p:sp>
                <p:nvSpPr>
                  <p:cNvPr id="231" name="Arc 59"/>
                  <p:cNvSpPr>
                    <a:spLocks/>
                  </p:cNvSpPr>
                  <p:nvPr/>
                </p:nvSpPr>
                <p:spPr bwMode="auto">
                  <a:xfrm>
                    <a:off x="3112" y="177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6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32" name="Arc 60"/>
                  <p:cNvSpPr>
                    <a:spLocks/>
                  </p:cNvSpPr>
                  <p:nvPr/>
                </p:nvSpPr>
                <p:spPr bwMode="auto">
                  <a:xfrm>
                    <a:off x="3195" y="1771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0" name="Group 61"/>
              <p:cNvGrpSpPr>
                <a:grpSpLocks/>
              </p:cNvGrpSpPr>
              <p:nvPr/>
            </p:nvGrpSpPr>
            <p:grpSpPr bwMode="auto">
              <a:xfrm>
                <a:off x="3112" y="1671"/>
                <a:ext cx="166" cy="94"/>
                <a:chOff x="3112" y="1671"/>
                <a:chExt cx="166" cy="94"/>
              </a:xfrm>
            </p:grpSpPr>
            <p:grpSp>
              <p:nvGrpSpPr>
                <p:cNvPr id="223" name="Group 62"/>
                <p:cNvGrpSpPr>
                  <a:grpSpLocks/>
                </p:cNvGrpSpPr>
                <p:nvPr/>
              </p:nvGrpSpPr>
              <p:grpSpPr bwMode="auto">
                <a:xfrm>
                  <a:off x="3112" y="1671"/>
                  <a:ext cx="166" cy="77"/>
                  <a:chOff x="3112" y="1671"/>
                  <a:chExt cx="166" cy="77"/>
                </a:xfrm>
              </p:grpSpPr>
              <p:sp>
                <p:nvSpPr>
                  <p:cNvPr id="227" name="Arc 63"/>
                  <p:cNvSpPr>
                    <a:spLocks/>
                  </p:cNvSpPr>
                  <p:nvPr/>
                </p:nvSpPr>
                <p:spPr bwMode="auto">
                  <a:xfrm>
                    <a:off x="3112" y="167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39"/>
                      <a:gd name="T2" fmla="*/ 0 w 21600"/>
                      <a:gd name="T3" fmla="*/ 0 h 21739"/>
                      <a:gd name="T4" fmla="*/ 0 w 21600"/>
                      <a:gd name="T5" fmla="*/ 0 h 2173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39" fill="none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</a:path>
                      <a:path w="21600" h="21739" stroke="0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  <a:lnTo>
                          <a:pt x="21600" y="139"/>
                        </a:lnTo>
                        <a:lnTo>
                          <a:pt x="21600" y="217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8" name="Arc 64"/>
                  <p:cNvSpPr>
                    <a:spLocks/>
                  </p:cNvSpPr>
                  <p:nvPr/>
                </p:nvSpPr>
                <p:spPr bwMode="auto">
                  <a:xfrm>
                    <a:off x="3195" y="1718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</a:path>
                      <a:path w="21600" h="21910" stroke="0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  <a:lnTo>
                          <a:pt x="0" y="310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24" name="Group 65"/>
                <p:cNvGrpSpPr>
                  <a:grpSpLocks/>
                </p:cNvGrpSpPr>
                <p:nvPr/>
              </p:nvGrpSpPr>
              <p:grpSpPr bwMode="auto">
                <a:xfrm>
                  <a:off x="3112" y="1688"/>
                  <a:ext cx="166" cy="77"/>
                  <a:chOff x="3112" y="1688"/>
                  <a:chExt cx="166" cy="77"/>
                </a:xfrm>
              </p:grpSpPr>
              <p:sp>
                <p:nvSpPr>
                  <p:cNvPr id="225" name="Arc 66"/>
                  <p:cNvSpPr>
                    <a:spLocks/>
                  </p:cNvSpPr>
                  <p:nvPr/>
                </p:nvSpPr>
                <p:spPr bwMode="auto">
                  <a:xfrm>
                    <a:off x="3112" y="1688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8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6" name="Arc 67"/>
                  <p:cNvSpPr>
                    <a:spLocks/>
                  </p:cNvSpPr>
                  <p:nvPr/>
                </p:nvSpPr>
                <p:spPr bwMode="auto">
                  <a:xfrm>
                    <a:off x="3195" y="1688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12" y="0"/>
                          <a:pt x="21576" y="9644"/>
                          <a:pt x="21599" y="21557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12" y="0"/>
                          <a:pt x="21576" y="9644"/>
                          <a:pt x="21599" y="21557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1" name="Group 68"/>
              <p:cNvGrpSpPr>
                <a:grpSpLocks/>
              </p:cNvGrpSpPr>
              <p:nvPr/>
            </p:nvGrpSpPr>
            <p:grpSpPr bwMode="auto">
              <a:xfrm>
                <a:off x="3112" y="1588"/>
                <a:ext cx="166" cy="95"/>
                <a:chOff x="3112" y="1588"/>
                <a:chExt cx="166" cy="95"/>
              </a:xfrm>
            </p:grpSpPr>
            <p:grpSp>
              <p:nvGrpSpPr>
                <p:cNvPr id="217" name="Group 69"/>
                <p:cNvGrpSpPr>
                  <a:grpSpLocks/>
                </p:cNvGrpSpPr>
                <p:nvPr/>
              </p:nvGrpSpPr>
              <p:grpSpPr bwMode="auto">
                <a:xfrm>
                  <a:off x="3112" y="1588"/>
                  <a:ext cx="166" cy="77"/>
                  <a:chOff x="3112" y="1588"/>
                  <a:chExt cx="166" cy="77"/>
                </a:xfrm>
              </p:grpSpPr>
              <p:sp>
                <p:nvSpPr>
                  <p:cNvPr id="221" name="Arc 70"/>
                  <p:cNvSpPr>
                    <a:spLocks/>
                  </p:cNvSpPr>
                  <p:nvPr/>
                </p:nvSpPr>
                <p:spPr bwMode="auto">
                  <a:xfrm>
                    <a:off x="3112" y="1588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20"/>
                      <a:gd name="T2" fmla="*/ 0 w 21600"/>
                      <a:gd name="T3" fmla="*/ 0 h 21720"/>
                      <a:gd name="T4" fmla="*/ 0 w 21600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20" fill="none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</a:path>
                      <a:path w="21600" h="21720" stroke="0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  <a:lnTo>
                          <a:pt x="21600" y="120"/>
                        </a:lnTo>
                        <a:lnTo>
                          <a:pt x="21600" y="2172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2" name="Arc 71"/>
                  <p:cNvSpPr>
                    <a:spLocks/>
                  </p:cNvSpPr>
                  <p:nvPr/>
                </p:nvSpPr>
                <p:spPr bwMode="auto">
                  <a:xfrm>
                    <a:off x="3195" y="1635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6"/>
                      <a:gd name="T2" fmla="*/ 0 w 21600"/>
                      <a:gd name="T3" fmla="*/ 0 h 21916"/>
                      <a:gd name="T4" fmla="*/ 0 w 21600"/>
                      <a:gd name="T5" fmla="*/ 0 h 219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6" fill="none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</a:path>
                      <a:path w="21600" h="21916" stroke="0" extrusionOk="0">
                        <a:moveTo>
                          <a:pt x="21597" y="0"/>
                        </a:moveTo>
                        <a:cubicBezTo>
                          <a:pt x="21599" y="105"/>
                          <a:pt x="21600" y="210"/>
                          <a:pt x="21600" y="316"/>
                        </a:cubicBezTo>
                        <a:cubicBezTo>
                          <a:pt x="21600" y="12245"/>
                          <a:pt x="11929" y="21915"/>
                          <a:pt x="0" y="21916"/>
                        </a:cubicBezTo>
                        <a:lnTo>
                          <a:pt x="0" y="316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18" name="Group 72"/>
                <p:cNvGrpSpPr>
                  <a:grpSpLocks/>
                </p:cNvGrpSpPr>
                <p:nvPr/>
              </p:nvGrpSpPr>
              <p:grpSpPr bwMode="auto">
                <a:xfrm>
                  <a:off x="3112" y="1606"/>
                  <a:ext cx="166" cy="77"/>
                  <a:chOff x="3112" y="1606"/>
                  <a:chExt cx="166" cy="77"/>
                </a:xfrm>
              </p:grpSpPr>
              <p:sp>
                <p:nvSpPr>
                  <p:cNvPr id="219" name="Arc 73"/>
                  <p:cNvSpPr>
                    <a:spLocks/>
                  </p:cNvSpPr>
                  <p:nvPr/>
                </p:nvSpPr>
                <p:spPr bwMode="auto">
                  <a:xfrm>
                    <a:off x="3112" y="1606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6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0" name="Arc 74"/>
                  <p:cNvSpPr>
                    <a:spLocks/>
                  </p:cNvSpPr>
                  <p:nvPr/>
                </p:nvSpPr>
                <p:spPr bwMode="auto">
                  <a:xfrm>
                    <a:off x="3195" y="1606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2" name="Group 75"/>
              <p:cNvGrpSpPr>
                <a:grpSpLocks/>
              </p:cNvGrpSpPr>
              <p:nvPr/>
            </p:nvGrpSpPr>
            <p:grpSpPr bwMode="auto">
              <a:xfrm>
                <a:off x="3112" y="1506"/>
                <a:ext cx="166" cy="94"/>
                <a:chOff x="3112" y="1506"/>
                <a:chExt cx="166" cy="94"/>
              </a:xfrm>
            </p:grpSpPr>
            <p:grpSp>
              <p:nvGrpSpPr>
                <p:cNvPr id="211" name="Group 76"/>
                <p:cNvGrpSpPr>
                  <a:grpSpLocks/>
                </p:cNvGrpSpPr>
                <p:nvPr/>
              </p:nvGrpSpPr>
              <p:grpSpPr bwMode="auto">
                <a:xfrm>
                  <a:off x="3112" y="1506"/>
                  <a:ext cx="166" cy="77"/>
                  <a:chOff x="3112" y="1506"/>
                  <a:chExt cx="166" cy="77"/>
                </a:xfrm>
              </p:grpSpPr>
              <p:sp>
                <p:nvSpPr>
                  <p:cNvPr id="215" name="Arc 77"/>
                  <p:cNvSpPr>
                    <a:spLocks/>
                  </p:cNvSpPr>
                  <p:nvPr/>
                </p:nvSpPr>
                <p:spPr bwMode="auto">
                  <a:xfrm>
                    <a:off x="3112" y="1506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39"/>
                      <a:gd name="T2" fmla="*/ 0 w 21600"/>
                      <a:gd name="T3" fmla="*/ 0 h 21739"/>
                      <a:gd name="T4" fmla="*/ 0 w 21600"/>
                      <a:gd name="T5" fmla="*/ 0 h 2173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39" fill="none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</a:path>
                      <a:path w="21600" h="21739" stroke="0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  <a:lnTo>
                          <a:pt x="21600" y="139"/>
                        </a:lnTo>
                        <a:lnTo>
                          <a:pt x="21600" y="217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16" name="Arc 78"/>
                  <p:cNvSpPr>
                    <a:spLocks/>
                  </p:cNvSpPr>
                  <p:nvPr/>
                </p:nvSpPr>
                <p:spPr bwMode="auto">
                  <a:xfrm>
                    <a:off x="3195" y="1553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</a:path>
                      <a:path w="21600" h="21910" stroke="0" extrusionOk="0">
                        <a:moveTo>
                          <a:pt x="21597" y="0"/>
                        </a:moveTo>
                        <a:cubicBezTo>
                          <a:pt x="21599" y="103"/>
                          <a:pt x="21600" y="206"/>
                          <a:pt x="21600" y="310"/>
                        </a:cubicBezTo>
                        <a:cubicBezTo>
                          <a:pt x="21600" y="12239"/>
                          <a:pt x="11929" y="21909"/>
                          <a:pt x="0" y="21910"/>
                        </a:cubicBezTo>
                        <a:lnTo>
                          <a:pt x="0" y="310"/>
                        </a:lnTo>
                        <a:lnTo>
                          <a:pt x="21597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12" name="Group 79"/>
                <p:cNvGrpSpPr>
                  <a:grpSpLocks/>
                </p:cNvGrpSpPr>
                <p:nvPr/>
              </p:nvGrpSpPr>
              <p:grpSpPr bwMode="auto">
                <a:xfrm>
                  <a:off x="3112" y="1523"/>
                  <a:ext cx="165" cy="77"/>
                  <a:chOff x="3112" y="1523"/>
                  <a:chExt cx="165" cy="77"/>
                </a:xfrm>
              </p:grpSpPr>
              <p:sp>
                <p:nvSpPr>
                  <p:cNvPr id="213" name="Arc 80"/>
                  <p:cNvSpPr>
                    <a:spLocks/>
                  </p:cNvSpPr>
                  <p:nvPr/>
                </p:nvSpPr>
                <p:spPr bwMode="auto">
                  <a:xfrm>
                    <a:off x="3112" y="1523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8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14" name="Arc 81"/>
                  <p:cNvSpPr>
                    <a:spLocks/>
                  </p:cNvSpPr>
                  <p:nvPr/>
                </p:nvSpPr>
                <p:spPr bwMode="auto">
                  <a:xfrm>
                    <a:off x="3195" y="1523"/>
                    <a:ext cx="82" cy="30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-1" y="0"/>
                        </a:moveTo>
                        <a:cubicBezTo>
                          <a:pt x="11808" y="0"/>
                          <a:pt x="21428" y="9482"/>
                          <a:pt x="21597" y="21290"/>
                        </a:cubicBezTo>
                      </a:path>
                      <a:path w="21598" h="21600" stroke="0" extrusionOk="0">
                        <a:moveTo>
                          <a:pt x="-1" y="0"/>
                        </a:moveTo>
                        <a:cubicBezTo>
                          <a:pt x="11808" y="0"/>
                          <a:pt x="21428" y="9482"/>
                          <a:pt x="21597" y="2129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3" name="Group 82"/>
              <p:cNvGrpSpPr>
                <a:grpSpLocks/>
              </p:cNvGrpSpPr>
              <p:nvPr/>
            </p:nvGrpSpPr>
            <p:grpSpPr bwMode="auto">
              <a:xfrm>
                <a:off x="3112" y="1423"/>
                <a:ext cx="166" cy="95"/>
                <a:chOff x="3112" y="1423"/>
                <a:chExt cx="166" cy="95"/>
              </a:xfrm>
            </p:grpSpPr>
            <p:grpSp>
              <p:nvGrpSpPr>
                <p:cNvPr id="205" name="Group 83"/>
                <p:cNvGrpSpPr>
                  <a:grpSpLocks/>
                </p:cNvGrpSpPr>
                <p:nvPr/>
              </p:nvGrpSpPr>
              <p:grpSpPr bwMode="auto">
                <a:xfrm>
                  <a:off x="3112" y="1423"/>
                  <a:ext cx="166" cy="77"/>
                  <a:chOff x="3112" y="1423"/>
                  <a:chExt cx="166" cy="77"/>
                </a:xfrm>
              </p:grpSpPr>
              <p:sp>
                <p:nvSpPr>
                  <p:cNvPr id="209" name="Arc 84"/>
                  <p:cNvSpPr>
                    <a:spLocks/>
                  </p:cNvSpPr>
                  <p:nvPr/>
                </p:nvSpPr>
                <p:spPr bwMode="auto">
                  <a:xfrm>
                    <a:off x="3112" y="1423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20"/>
                      <a:gd name="T2" fmla="*/ 0 w 21600"/>
                      <a:gd name="T3" fmla="*/ 0 h 21720"/>
                      <a:gd name="T4" fmla="*/ 0 w 21600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20" fill="none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</a:path>
                      <a:path w="21600" h="21720" stroke="0" extrusionOk="0">
                        <a:moveTo>
                          <a:pt x="21600" y="21720"/>
                        </a:moveTo>
                        <a:cubicBezTo>
                          <a:pt x="9670" y="21720"/>
                          <a:pt x="0" y="12049"/>
                          <a:pt x="0" y="120"/>
                        </a:cubicBezTo>
                        <a:cubicBezTo>
                          <a:pt x="-1" y="80"/>
                          <a:pt x="0" y="40"/>
                          <a:pt x="0" y="0"/>
                        </a:cubicBezTo>
                        <a:lnTo>
                          <a:pt x="21600" y="120"/>
                        </a:lnTo>
                        <a:lnTo>
                          <a:pt x="21600" y="2172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10" name="Arc 85"/>
                  <p:cNvSpPr>
                    <a:spLocks/>
                  </p:cNvSpPr>
                  <p:nvPr/>
                </p:nvSpPr>
                <p:spPr bwMode="auto">
                  <a:xfrm>
                    <a:off x="3195" y="1464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600" y="0"/>
                        </a:moveTo>
                        <a:cubicBezTo>
                          <a:pt x="21600" y="11929"/>
                          <a:pt x="11929" y="21599"/>
                          <a:pt x="0" y="21600"/>
                        </a:cubicBezTo>
                      </a:path>
                      <a:path w="21600" h="21600" stroke="0" extrusionOk="0">
                        <a:moveTo>
                          <a:pt x="21600" y="0"/>
                        </a:moveTo>
                        <a:cubicBezTo>
                          <a:pt x="21600" y="11929"/>
                          <a:pt x="11929" y="21599"/>
                          <a:pt x="0" y="21600"/>
                        </a:cubicBezTo>
                        <a:lnTo>
                          <a:pt x="0" y="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06" name="Group 86"/>
                <p:cNvGrpSpPr>
                  <a:grpSpLocks/>
                </p:cNvGrpSpPr>
                <p:nvPr/>
              </p:nvGrpSpPr>
              <p:grpSpPr bwMode="auto">
                <a:xfrm>
                  <a:off x="3112" y="1441"/>
                  <a:ext cx="165" cy="77"/>
                  <a:chOff x="3112" y="1441"/>
                  <a:chExt cx="165" cy="77"/>
                </a:xfrm>
              </p:grpSpPr>
              <p:sp>
                <p:nvSpPr>
                  <p:cNvPr id="207" name="Arc 87"/>
                  <p:cNvSpPr>
                    <a:spLocks/>
                  </p:cNvSpPr>
                  <p:nvPr/>
                </p:nvSpPr>
                <p:spPr bwMode="auto">
                  <a:xfrm>
                    <a:off x="3112" y="144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61"/>
                        </a:moveTo>
                        <a:cubicBezTo>
                          <a:pt x="76" y="9586"/>
                          <a:pt x="9724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6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08" name="Arc 88"/>
                  <p:cNvSpPr>
                    <a:spLocks/>
                  </p:cNvSpPr>
                  <p:nvPr/>
                </p:nvSpPr>
                <p:spPr bwMode="auto">
                  <a:xfrm>
                    <a:off x="3195" y="1441"/>
                    <a:ext cx="82" cy="29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-1" y="0"/>
                        </a:moveTo>
                        <a:cubicBezTo>
                          <a:pt x="11806" y="0"/>
                          <a:pt x="21424" y="9479"/>
                          <a:pt x="21597" y="21284"/>
                        </a:cubicBezTo>
                      </a:path>
                      <a:path w="21598" h="21600" stroke="0" extrusionOk="0">
                        <a:moveTo>
                          <a:pt x="-1" y="0"/>
                        </a:moveTo>
                        <a:cubicBezTo>
                          <a:pt x="11806" y="0"/>
                          <a:pt x="21424" y="9479"/>
                          <a:pt x="21597" y="21284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4" name="Group 89"/>
              <p:cNvGrpSpPr>
                <a:grpSpLocks/>
              </p:cNvGrpSpPr>
              <p:nvPr/>
            </p:nvGrpSpPr>
            <p:grpSpPr bwMode="auto">
              <a:xfrm>
                <a:off x="3112" y="1341"/>
                <a:ext cx="166" cy="94"/>
                <a:chOff x="3112" y="1341"/>
                <a:chExt cx="166" cy="94"/>
              </a:xfrm>
            </p:grpSpPr>
            <p:grpSp>
              <p:nvGrpSpPr>
                <p:cNvPr id="199" name="Group 90"/>
                <p:cNvGrpSpPr>
                  <a:grpSpLocks/>
                </p:cNvGrpSpPr>
                <p:nvPr/>
              </p:nvGrpSpPr>
              <p:grpSpPr bwMode="auto">
                <a:xfrm>
                  <a:off x="3112" y="1341"/>
                  <a:ext cx="166" cy="77"/>
                  <a:chOff x="3112" y="1341"/>
                  <a:chExt cx="166" cy="77"/>
                </a:xfrm>
              </p:grpSpPr>
              <p:sp>
                <p:nvSpPr>
                  <p:cNvPr id="203" name="Arc 91"/>
                  <p:cNvSpPr>
                    <a:spLocks/>
                  </p:cNvSpPr>
                  <p:nvPr/>
                </p:nvSpPr>
                <p:spPr bwMode="auto">
                  <a:xfrm>
                    <a:off x="3112" y="1341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739"/>
                      <a:gd name="T2" fmla="*/ 0 w 21600"/>
                      <a:gd name="T3" fmla="*/ 0 h 21739"/>
                      <a:gd name="T4" fmla="*/ 0 w 21600"/>
                      <a:gd name="T5" fmla="*/ 0 h 2173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739" fill="none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</a:path>
                      <a:path w="21600" h="21739" stroke="0" extrusionOk="0">
                        <a:moveTo>
                          <a:pt x="21600" y="21739"/>
                        </a:moveTo>
                        <a:cubicBezTo>
                          <a:pt x="9670" y="21739"/>
                          <a:pt x="0" y="12068"/>
                          <a:pt x="0" y="139"/>
                        </a:cubicBezTo>
                        <a:cubicBezTo>
                          <a:pt x="-1" y="92"/>
                          <a:pt x="0" y="46"/>
                          <a:pt x="0" y="0"/>
                        </a:cubicBezTo>
                        <a:lnTo>
                          <a:pt x="21600" y="139"/>
                        </a:lnTo>
                        <a:lnTo>
                          <a:pt x="21600" y="217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04" name="Arc 92"/>
                  <p:cNvSpPr>
                    <a:spLocks/>
                  </p:cNvSpPr>
                  <p:nvPr/>
                </p:nvSpPr>
                <p:spPr bwMode="auto">
                  <a:xfrm>
                    <a:off x="3195" y="1382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43"/>
                      <a:gd name="T2" fmla="*/ 0 w 21600"/>
                      <a:gd name="T3" fmla="*/ 0 h 21643"/>
                      <a:gd name="T4" fmla="*/ 0 w 21600"/>
                      <a:gd name="T5" fmla="*/ 0 h 2164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3" fill="none" extrusionOk="0">
                        <a:moveTo>
                          <a:pt x="21599" y="0"/>
                        </a:moveTo>
                        <a:cubicBezTo>
                          <a:pt x="21599" y="14"/>
                          <a:pt x="21600" y="28"/>
                          <a:pt x="21600" y="43"/>
                        </a:cubicBezTo>
                        <a:cubicBezTo>
                          <a:pt x="21600" y="11972"/>
                          <a:pt x="11929" y="21642"/>
                          <a:pt x="0" y="21643"/>
                        </a:cubicBezTo>
                      </a:path>
                      <a:path w="21600" h="21643" stroke="0" extrusionOk="0">
                        <a:moveTo>
                          <a:pt x="21599" y="0"/>
                        </a:moveTo>
                        <a:cubicBezTo>
                          <a:pt x="21599" y="14"/>
                          <a:pt x="21600" y="28"/>
                          <a:pt x="21600" y="43"/>
                        </a:cubicBezTo>
                        <a:cubicBezTo>
                          <a:pt x="21600" y="11972"/>
                          <a:pt x="11929" y="21642"/>
                          <a:pt x="0" y="21643"/>
                        </a:cubicBezTo>
                        <a:lnTo>
                          <a:pt x="0" y="43"/>
                        </a:lnTo>
                        <a:lnTo>
                          <a:pt x="2159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00" name="Group 93"/>
                <p:cNvGrpSpPr>
                  <a:grpSpLocks/>
                </p:cNvGrpSpPr>
                <p:nvPr/>
              </p:nvGrpSpPr>
              <p:grpSpPr bwMode="auto">
                <a:xfrm>
                  <a:off x="3112" y="1358"/>
                  <a:ext cx="165" cy="77"/>
                  <a:chOff x="3112" y="1358"/>
                  <a:chExt cx="165" cy="77"/>
                </a:xfrm>
              </p:grpSpPr>
              <p:sp>
                <p:nvSpPr>
                  <p:cNvPr id="201" name="Arc 94"/>
                  <p:cNvSpPr>
                    <a:spLocks/>
                  </p:cNvSpPr>
                  <p:nvPr/>
                </p:nvSpPr>
                <p:spPr bwMode="auto">
                  <a:xfrm>
                    <a:off x="3112" y="1358"/>
                    <a:ext cx="83" cy="7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</a:path>
                      <a:path w="21600" h="21600" stroke="0" extrusionOk="0">
                        <a:moveTo>
                          <a:pt x="0" y="21480"/>
                        </a:moveTo>
                        <a:cubicBezTo>
                          <a:pt x="66" y="9597"/>
                          <a:pt x="9717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0" y="2148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02" name="Arc 95"/>
                  <p:cNvSpPr>
                    <a:spLocks/>
                  </p:cNvSpPr>
                  <p:nvPr/>
                </p:nvSpPr>
                <p:spPr bwMode="auto">
                  <a:xfrm>
                    <a:off x="3195" y="1358"/>
                    <a:ext cx="82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0"/>
                        </a:moveTo>
                        <a:cubicBezTo>
                          <a:pt x="11788" y="0"/>
                          <a:pt x="21399" y="9451"/>
                          <a:pt x="21596" y="21238"/>
                        </a:cubicBezTo>
                      </a:path>
                      <a:path w="21597" h="21600" stroke="0" extrusionOk="0">
                        <a:moveTo>
                          <a:pt x="-1" y="0"/>
                        </a:moveTo>
                        <a:cubicBezTo>
                          <a:pt x="11788" y="0"/>
                          <a:pt x="21399" y="9451"/>
                          <a:pt x="21596" y="21238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95" name="Arc 96"/>
              <p:cNvSpPr>
                <a:spLocks/>
              </p:cNvSpPr>
              <p:nvPr/>
            </p:nvSpPr>
            <p:spPr bwMode="auto">
              <a:xfrm>
                <a:off x="3112" y="1275"/>
                <a:ext cx="83" cy="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480"/>
                    </a:moveTo>
                    <a:cubicBezTo>
                      <a:pt x="66" y="9597"/>
                      <a:pt x="9717" y="0"/>
                      <a:pt x="21599" y="0"/>
                    </a:cubicBezTo>
                  </a:path>
                  <a:path w="21600" h="21600" stroke="0" extrusionOk="0">
                    <a:moveTo>
                      <a:pt x="0" y="21480"/>
                    </a:moveTo>
                    <a:cubicBezTo>
                      <a:pt x="66" y="9597"/>
                      <a:pt x="9717" y="0"/>
                      <a:pt x="21599" y="0"/>
                    </a:cubicBezTo>
                    <a:lnTo>
                      <a:pt x="21600" y="21600"/>
                    </a:lnTo>
                    <a:lnTo>
                      <a:pt x="0" y="2148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6" name="Arc 97"/>
              <p:cNvSpPr>
                <a:spLocks/>
              </p:cNvSpPr>
              <p:nvPr/>
            </p:nvSpPr>
            <p:spPr bwMode="auto">
              <a:xfrm>
                <a:off x="3112" y="1848"/>
                <a:ext cx="83" cy="77"/>
              </a:xfrm>
              <a:custGeom>
                <a:avLst/>
                <a:gdLst>
                  <a:gd name="T0" fmla="*/ 0 w 21600"/>
                  <a:gd name="T1" fmla="*/ 0 h 21739"/>
                  <a:gd name="T2" fmla="*/ 0 w 21600"/>
                  <a:gd name="T3" fmla="*/ 0 h 21739"/>
                  <a:gd name="T4" fmla="*/ 0 w 21600"/>
                  <a:gd name="T5" fmla="*/ 0 h 217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739" fill="none" extrusionOk="0">
                    <a:moveTo>
                      <a:pt x="21600" y="21739"/>
                    </a:moveTo>
                    <a:cubicBezTo>
                      <a:pt x="9670" y="21739"/>
                      <a:pt x="0" y="12068"/>
                      <a:pt x="0" y="139"/>
                    </a:cubicBezTo>
                    <a:cubicBezTo>
                      <a:pt x="-1" y="92"/>
                      <a:pt x="0" y="46"/>
                      <a:pt x="0" y="0"/>
                    </a:cubicBezTo>
                  </a:path>
                  <a:path w="21600" h="21739" stroke="0" extrusionOk="0">
                    <a:moveTo>
                      <a:pt x="21600" y="21739"/>
                    </a:moveTo>
                    <a:cubicBezTo>
                      <a:pt x="9670" y="21739"/>
                      <a:pt x="0" y="12068"/>
                      <a:pt x="0" y="139"/>
                    </a:cubicBezTo>
                    <a:cubicBezTo>
                      <a:pt x="-1" y="92"/>
                      <a:pt x="0" y="46"/>
                      <a:pt x="0" y="0"/>
                    </a:cubicBezTo>
                    <a:lnTo>
                      <a:pt x="21600" y="139"/>
                    </a:lnTo>
                    <a:lnTo>
                      <a:pt x="21600" y="21739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7" name="Line 98"/>
              <p:cNvSpPr>
                <a:spLocks noChangeShapeType="1"/>
              </p:cNvSpPr>
              <p:nvPr/>
            </p:nvSpPr>
            <p:spPr bwMode="auto">
              <a:xfrm flipV="1">
                <a:off x="3195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8" name="Line 99"/>
              <p:cNvSpPr>
                <a:spLocks noChangeShapeType="1"/>
              </p:cNvSpPr>
              <p:nvPr/>
            </p:nvSpPr>
            <p:spPr bwMode="auto">
              <a:xfrm flipV="1">
                <a:off x="3195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4" name="Line 100"/>
            <p:cNvSpPr>
              <a:spLocks noChangeShapeType="1"/>
            </p:cNvSpPr>
            <p:nvPr/>
          </p:nvSpPr>
          <p:spPr bwMode="auto">
            <a:xfrm>
              <a:off x="2317" y="2068"/>
              <a:ext cx="1" cy="6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Line 101"/>
            <p:cNvSpPr>
              <a:spLocks noChangeShapeType="1"/>
            </p:cNvSpPr>
            <p:nvPr/>
          </p:nvSpPr>
          <p:spPr bwMode="auto">
            <a:xfrm flipV="1">
              <a:off x="1573" y="1950"/>
              <a:ext cx="1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102"/>
            <p:cNvSpPr>
              <a:spLocks noChangeShapeType="1"/>
            </p:cNvSpPr>
            <p:nvPr/>
          </p:nvSpPr>
          <p:spPr bwMode="auto">
            <a:xfrm flipV="1">
              <a:off x="2506" y="2764"/>
              <a:ext cx="1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Line 103"/>
            <p:cNvSpPr>
              <a:spLocks noChangeShapeType="1"/>
            </p:cNvSpPr>
            <p:nvPr/>
          </p:nvSpPr>
          <p:spPr bwMode="auto">
            <a:xfrm flipV="1">
              <a:off x="1573" y="2957"/>
              <a:ext cx="1" cy="1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Oval 104"/>
            <p:cNvSpPr>
              <a:spLocks noChangeArrowheads="1"/>
            </p:cNvSpPr>
            <p:nvPr/>
          </p:nvSpPr>
          <p:spPr bwMode="auto">
            <a:xfrm>
              <a:off x="511" y="2741"/>
              <a:ext cx="259" cy="25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9" name="Group 105"/>
            <p:cNvGrpSpPr>
              <a:grpSpLocks/>
            </p:cNvGrpSpPr>
            <p:nvPr/>
          </p:nvGrpSpPr>
          <p:grpSpPr bwMode="auto">
            <a:xfrm>
              <a:off x="849" y="2711"/>
              <a:ext cx="83" cy="259"/>
              <a:chOff x="1022" y="1936"/>
              <a:chExt cx="83" cy="259"/>
            </a:xfrm>
          </p:grpSpPr>
          <p:sp>
            <p:nvSpPr>
              <p:cNvPr id="187" name="Freeform 106"/>
              <p:cNvSpPr>
                <a:spLocks/>
              </p:cNvSpPr>
              <p:nvPr/>
            </p:nvSpPr>
            <p:spPr bwMode="auto">
              <a:xfrm>
                <a:off x="1022" y="1936"/>
                <a:ext cx="83" cy="165"/>
              </a:xfrm>
              <a:custGeom>
                <a:avLst/>
                <a:gdLst>
                  <a:gd name="T0" fmla="*/ 36 w 83"/>
                  <a:gd name="T1" fmla="*/ 0 h 165"/>
                  <a:gd name="T2" fmla="*/ 83 w 83"/>
                  <a:gd name="T3" fmla="*/ 165 h 165"/>
                  <a:gd name="T4" fmla="*/ 36 w 83"/>
                  <a:gd name="T5" fmla="*/ 165 h 165"/>
                  <a:gd name="T6" fmla="*/ 0 w 83"/>
                  <a:gd name="T7" fmla="*/ 165 h 165"/>
                  <a:gd name="T8" fmla="*/ 36 w 83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3" h="165">
                    <a:moveTo>
                      <a:pt x="36" y="0"/>
                    </a:moveTo>
                    <a:lnTo>
                      <a:pt x="83" y="165"/>
                    </a:lnTo>
                    <a:lnTo>
                      <a:pt x="36" y="165"/>
                    </a:lnTo>
                    <a:lnTo>
                      <a:pt x="0" y="16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8" name="Line 107"/>
              <p:cNvSpPr>
                <a:spLocks noChangeShapeType="1"/>
              </p:cNvSpPr>
              <p:nvPr/>
            </p:nvSpPr>
            <p:spPr bwMode="auto">
              <a:xfrm>
                <a:off x="1058" y="2101"/>
                <a:ext cx="1" cy="9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0" name="Rectangle 108"/>
            <p:cNvSpPr>
              <a:spLocks noChangeArrowheads="1"/>
            </p:cNvSpPr>
            <p:nvPr/>
          </p:nvSpPr>
          <p:spPr bwMode="auto">
            <a:xfrm>
              <a:off x="953" y="2867"/>
              <a:ext cx="1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latin typeface="Times" panose="02020603050405020304" pitchFamily="18" charset="0"/>
                </a:rPr>
                <a:t>E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1" name="Line 109"/>
            <p:cNvSpPr>
              <a:spLocks noChangeShapeType="1"/>
            </p:cNvSpPr>
            <p:nvPr/>
          </p:nvSpPr>
          <p:spPr bwMode="auto">
            <a:xfrm flipH="1">
              <a:off x="1413" y="3069"/>
              <a:ext cx="166" cy="16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2" name="Group 110"/>
            <p:cNvGrpSpPr>
              <a:grpSpLocks/>
            </p:cNvGrpSpPr>
            <p:nvPr/>
          </p:nvGrpSpPr>
          <p:grpSpPr bwMode="auto">
            <a:xfrm>
              <a:off x="1437" y="3434"/>
              <a:ext cx="212" cy="177"/>
              <a:chOff x="2144" y="2419"/>
              <a:chExt cx="212" cy="177"/>
            </a:xfrm>
          </p:grpSpPr>
          <p:sp>
            <p:nvSpPr>
              <p:cNvPr id="185" name="Freeform 111"/>
              <p:cNvSpPr>
                <a:spLocks/>
              </p:cNvSpPr>
              <p:nvPr/>
            </p:nvSpPr>
            <p:spPr bwMode="auto">
              <a:xfrm>
                <a:off x="2167" y="2431"/>
                <a:ext cx="189" cy="165"/>
              </a:xfrm>
              <a:custGeom>
                <a:avLst/>
                <a:gdLst>
                  <a:gd name="T0" fmla="*/ 189 w 189"/>
                  <a:gd name="T1" fmla="*/ 165 h 165"/>
                  <a:gd name="T2" fmla="*/ 0 w 189"/>
                  <a:gd name="T3" fmla="*/ 71 h 165"/>
                  <a:gd name="T4" fmla="*/ 36 w 189"/>
                  <a:gd name="T5" fmla="*/ 36 h 165"/>
                  <a:gd name="T6" fmla="*/ 71 w 189"/>
                  <a:gd name="T7" fmla="*/ 0 h 165"/>
                  <a:gd name="T8" fmla="*/ 189 w 189"/>
                  <a:gd name="T9" fmla="*/ 165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9" h="165">
                    <a:moveTo>
                      <a:pt x="189" y="165"/>
                    </a:moveTo>
                    <a:lnTo>
                      <a:pt x="0" y="71"/>
                    </a:lnTo>
                    <a:lnTo>
                      <a:pt x="36" y="36"/>
                    </a:lnTo>
                    <a:lnTo>
                      <a:pt x="71" y="0"/>
                    </a:lnTo>
                    <a:lnTo>
                      <a:pt x="189" y="16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" name="Line 112"/>
              <p:cNvSpPr>
                <a:spLocks noChangeShapeType="1"/>
              </p:cNvSpPr>
              <p:nvPr/>
            </p:nvSpPr>
            <p:spPr bwMode="auto">
              <a:xfrm flipH="1" flipV="1">
                <a:off x="2144" y="2419"/>
                <a:ext cx="59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3" name="Line 113"/>
            <p:cNvSpPr>
              <a:spLocks noChangeShapeType="1"/>
            </p:cNvSpPr>
            <p:nvPr/>
          </p:nvSpPr>
          <p:spPr bwMode="auto">
            <a:xfrm>
              <a:off x="1425" y="3081"/>
              <a:ext cx="1" cy="542"/>
            </a:xfrm>
            <a:prstGeom prst="line">
              <a:avLst/>
            </a:prstGeom>
            <a:noFill/>
            <a:ln w="746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Line 114"/>
            <p:cNvSpPr>
              <a:spLocks noChangeShapeType="1"/>
            </p:cNvSpPr>
            <p:nvPr/>
          </p:nvSpPr>
          <p:spPr bwMode="auto">
            <a:xfrm>
              <a:off x="2517" y="2871"/>
              <a:ext cx="2113" cy="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Line 115"/>
            <p:cNvSpPr>
              <a:spLocks noChangeShapeType="1"/>
            </p:cNvSpPr>
            <p:nvPr/>
          </p:nvSpPr>
          <p:spPr bwMode="auto">
            <a:xfrm>
              <a:off x="640" y="1939"/>
              <a:ext cx="1" cy="8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Line 116"/>
            <p:cNvSpPr>
              <a:spLocks noChangeShapeType="1"/>
            </p:cNvSpPr>
            <p:nvPr/>
          </p:nvSpPr>
          <p:spPr bwMode="auto">
            <a:xfrm>
              <a:off x="1645" y="3581"/>
              <a:ext cx="0" cy="1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Line 117"/>
            <p:cNvSpPr>
              <a:spLocks noChangeShapeType="1"/>
            </p:cNvSpPr>
            <p:nvPr/>
          </p:nvSpPr>
          <p:spPr bwMode="auto">
            <a:xfrm>
              <a:off x="1077" y="3352"/>
              <a:ext cx="33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8" name="Group 118"/>
            <p:cNvGrpSpPr>
              <a:grpSpLocks/>
            </p:cNvGrpSpPr>
            <p:nvPr/>
          </p:nvGrpSpPr>
          <p:grpSpPr bwMode="auto">
            <a:xfrm>
              <a:off x="1124" y="3127"/>
              <a:ext cx="284" cy="245"/>
              <a:chOff x="1813" y="2112"/>
              <a:chExt cx="284" cy="245"/>
            </a:xfrm>
          </p:grpSpPr>
          <p:sp>
            <p:nvSpPr>
              <p:cNvPr id="183" name="Rectangle 119"/>
              <p:cNvSpPr>
                <a:spLocks noChangeArrowheads="1"/>
              </p:cNvSpPr>
              <p:nvPr/>
            </p:nvSpPr>
            <p:spPr bwMode="auto">
              <a:xfrm>
                <a:off x="1813" y="2112"/>
                <a:ext cx="122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Symbol" panose="05050102010706020507" pitchFamily="18" charset="2"/>
                  </a:rPr>
                  <a:t>a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" name="Rectangle 120"/>
              <p:cNvSpPr>
                <a:spLocks noChangeArrowheads="1"/>
              </p:cNvSpPr>
              <p:nvPr/>
            </p:nvSpPr>
            <p:spPr bwMode="auto">
              <a:xfrm>
                <a:off x="1931" y="2125"/>
                <a:ext cx="166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Times" panose="02020603050405020304" pitchFamily="18" charset="0"/>
                  </a:rPr>
                  <a:t>,T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" name="Oval 121"/>
            <p:cNvSpPr>
              <a:spLocks noChangeArrowheads="1"/>
            </p:cNvSpPr>
            <p:nvPr/>
          </p:nvSpPr>
          <p:spPr bwMode="auto">
            <a:xfrm>
              <a:off x="1414" y="2225"/>
              <a:ext cx="70" cy="71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0" name="Oval 122"/>
            <p:cNvSpPr>
              <a:spLocks noChangeArrowheads="1"/>
            </p:cNvSpPr>
            <p:nvPr/>
          </p:nvSpPr>
          <p:spPr bwMode="auto">
            <a:xfrm>
              <a:off x="2559" y="2039"/>
              <a:ext cx="70" cy="71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31" name="Group 123"/>
            <p:cNvGrpSpPr>
              <a:grpSpLocks/>
            </p:cNvGrpSpPr>
            <p:nvPr/>
          </p:nvGrpSpPr>
          <p:grpSpPr bwMode="auto">
            <a:xfrm>
              <a:off x="3011" y="1726"/>
              <a:ext cx="272" cy="413"/>
              <a:chOff x="3478" y="921"/>
              <a:chExt cx="272" cy="413"/>
            </a:xfrm>
          </p:grpSpPr>
          <p:sp>
            <p:nvSpPr>
              <p:cNvPr id="179" name="Line 124"/>
              <p:cNvSpPr>
                <a:spLocks noChangeShapeType="1"/>
              </p:cNvSpPr>
              <p:nvPr/>
            </p:nvSpPr>
            <p:spPr bwMode="auto">
              <a:xfrm flipV="1">
                <a:off x="3749" y="921"/>
                <a:ext cx="1" cy="413"/>
              </a:xfrm>
              <a:prstGeom prst="line">
                <a:avLst/>
              </a:prstGeom>
              <a:noFill/>
              <a:ln w="746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0" name="Line 125"/>
              <p:cNvSpPr>
                <a:spLocks noChangeShapeType="1"/>
              </p:cNvSpPr>
              <p:nvPr/>
            </p:nvSpPr>
            <p:spPr bwMode="auto">
              <a:xfrm flipH="1">
                <a:off x="3478" y="1134"/>
                <a:ext cx="271" cy="2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1" name="Line 126"/>
              <p:cNvSpPr>
                <a:spLocks noChangeShapeType="1"/>
              </p:cNvSpPr>
              <p:nvPr/>
            </p:nvSpPr>
            <p:spPr bwMode="auto">
              <a:xfrm flipV="1">
                <a:off x="3478" y="921"/>
                <a:ext cx="1" cy="4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" name="Line 127"/>
              <p:cNvSpPr>
                <a:spLocks noChangeShapeType="1"/>
              </p:cNvSpPr>
              <p:nvPr/>
            </p:nvSpPr>
            <p:spPr bwMode="auto">
              <a:xfrm>
                <a:off x="3478" y="921"/>
                <a:ext cx="271" cy="2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32" name="Line 128"/>
            <p:cNvSpPr>
              <a:spLocks noChangeShapeType="1"/>
            </p:cNvSpPr>
            <p:nvPr/>
          </p:nvSpPr>
          <p:spPr bwMode="auto">
            <a:xfrm>
              <a:off x="2499" y="1933"/>
              <a:ext cx="512" cy="1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129"/>
            <p:cNvSpPr>
              <a:spLocks noChangeShapeType="1"/>
            </p:cNvSpPr>
            <p:nvPr/>
          </p:nvSpPr>
          <p:spPr bwMode="auto">
            <a:xfrm>
              <a:off x="3294" y="1939"/>
              <a:ext cx="412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34" name="Group 130"/>
            <p:cNvGrpSpPr>
              <a:grpSpLocks/>
            </p:cNvGrpSpPr>
            <p:nvPr/>
          </p:nvGrpSpPr>
          <p:grpSpPr bwMode="auto">
            <a:xfrm>
              <a:off x="4517" y="2022"/>
              <a:ext cx="82" cy="802"/>
              <a:chOff x="4576" y="1193"/>
              <a:chExt cx="82" cy="802"/>
            </a:xfrm>
          </p:grpSpPr>
          <p:sp>
            <p:nvSpPr>
              <p:cNvPr id="177" name="Freeform 131"/>
              <p:cNvSpPr>
                <a:spLocks/>
              </p:cNvSpPr>
              <p:nvPr/>
            </p:nvSpPr>
            <p:spPr bwMode="auto">
              <a:xfrm>
                <a:off x="4576" y="1193"/>
                <a:ext cx="82" cy="165"/>
              </a:xfrm>
              <a:custGeom>
                <a:avLst/>
                <a:gdLst>
                  <a:gd name="T0" fmla="*/ 47 w 82"/>
                  <a:gd name="T1" fmla="*/ 0 h 165"/>
                  <a:gd name="T2" fmla="*/ 82 w 82"/>
                  <a:gd name="T3" fmla="*/ 165 h 165"/>
                  <a:gd name="T4" fmla="*/ 47 w 82"/>
                  <a:gd name="T5" fmla="*/ 165 h 165"/>
                  <a:gd name="T6" fmla="*/ 0 w 82"/>
                  <a:gd name="T7" fmla="*/ 165 h 165"/>
                  <a:gd name="T8" fmla="*/ 47 w 82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165">
                    <a:moveTo>
                      <a:pt x="47" y="0"/>
                    </a:moveTo>
                    <a:lnTo>
                      <a:pt x="82" y="165"/>
                    </a:lnTo>
                    <a:lnTo>
                      <a:pt x="47" y="165"/>
                    </a:lnTo>
                    <a:lnTo>
                      <a:pt x="0" y="165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8" name="Line 132"/>
              <p:cNvSpPr>
                <a:spLocks noChangeShapeType="1"/>
              </p:cNvSpPr>
              <p:nvPr/>
            </p:nvSpPr>
            <p:spPr bwMode="auto">
              <a:xfrm>
                <a:off x="4623" y="1358"/>
                <a:ext cx="1" cy="63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35" name="Group 133"/>
            <p:cNvGrpSpPr>
              <a:grpSpLocks/>
            </p:cNvGrpSpPr>
            <p:nvPr/>
          </p:nvGrpSpPr>
          <p:grpSpPr bwMode="auto">
            <a:xfrm>
              <a:off x="4635" y="2310"/>
              <a:ext cx="193" cy="286"/>
              <a:chOff x="4682" y="1523"/>
              <a:chExt cx="193" cy="286"/>
            </a:xfrm>
          </p:grpSpPr>
          <p:sp>
            <p:nvSpPr>
              <p:cNvPr id="175" name="Rectangle 134"/>
              <p:cNvSpPr>
                <a:spLocks noChangeArrowheads="1"/>
              </p:cNvSpPr>
              <p:nvPr/>
            </p:nvSpPr>
            <p:spPr bwMode="auto">
              <a:xfrm>
                <a:off x="4682" y="1523"/>
                <a:ext cx="162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100" b="1">
                    <a:latin typeface="Times" panose="02020603050405020304" pitchFamily="18" charset="0"/>
                  </a:rPr>
                  <a:t>V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6" name="Rectangle 135"/>
              <p:cNvSpPr>
                <a:spLocks noChangeArrowheads="1"/>
              </p:cNvSpPr>
              <p:nvPr/>
            </p:nvSpPr>
            <p:spPr bwMode="auto">
              <a:xfrm>
                <a:off x="4812" y="1616"/>
                <a:ext cx="63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500" b="1">
                    <a:latin typeface="Times" panose="02020603050405020304" pitchFamily="18" charset="0"/>
                  </a:rPr>
                  <a:t>s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6" name="Rectangle 136"/>
            <p:cNvSpPr>
              <a:spLocks noChangeArrowheads="1"/>
            </p:cNvSpPr>
            <p:nvPr/>
          </p:nvSpPr>
          <p:spPr bwMode="auto">
            <a:xfrm>
              <a:off x="1350" y="2396"/>
              <a:ext cx="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" panose="02020603050405020304" pitchFamily="18" charset="0"/>
                </a:rPr>
                <a:t>n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137"/>
            <p:cNvSpPr>
              <a:spLocks noChangeArrowheads="1"/>
            </p:cNvSpPr>
            <p:nvPr/>
          </p:nvSpPr>
          <p:spPr bwMode="auto">
            <a:xfrm>
              <a:off x="1419" y="2479"/>
              <a:ext cx="70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8" name="Rectangle 138"/>
            <p:cNvSpPr>
              <a:spLocks noChangeArrowheads="1"/>
            </p:cNvSpPr>
            <p:nvPr/>
          </p:nvSpPr>
          <p:spPr bwMode="auto">
            <a:xfrm>
              <a:off x="2636" y="2127"/>
              <a:ext cx="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" panose="02020603050405020304" pitchFamily="18" charset="0"/>
                </a:rPr>
                <a:t>n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9" name="Rectangle 139"/>
            <p:cNvSpPr>
              <a:spLocks noChangeArrowheads="1"/>
            </p:cNvSpPr>
            <p:nvPr/>
          </p:nvSpPr>
          <p:spPr bwMode="auto">
            <a:xfrm>
              <a:off x="2707" y="2210"/>
              <a:ext cx="69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latin typeface="Times" panose="02020603050405020304" pitchFamily="18" charset="0"/>
                </a:rPr>
                <a:t>2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40" name="Group 140"/>
            <p:cNvGrpSpPr>
              <a:grpSpLocks/>
            </p:cNvGrpSpPr>
            <p:nvPr/>
          </p:nvGrpSpPr>
          <p:grpSpPr bwMode="auto">
            <a:xfrm>
              <a:off x="1963" y="2009"/>
              <a:ext cx="166" cy="779"/>
              <a:chOff x="2652" y="1204"/>
              <a:chExt cx="166" cy="779"/>
            </a:xfrm>
          </p:grpSpPr>
          <p:grpSp>
            <p:nvGrpSpPr>
              <p:cNvPr id="129" name="Group 141"/>
              <p:cNvGrpSpPr>
                <a:grpSpLocks/>
              </p:cNvGrpSpPr>
              <p:nvPr/>
            </p:nvGrpSpPr>
            <p:grpSpPr bwMode="auto">
              <a:xfrm>
                <a:off x="2652" y="1753"/>
                <a:ext cx="166" cy="95"/>
                <a:chOff x="2652" y="1753"/>
                <a:chExt cx="166" cy="95"/>
              </a:xfrm>
            </p:grpSpPr>
            <p:grpSp>
              <p:nvGrpSpPr>
                <p:cNvPr id="169" name="Group 142"/>
                <p:cNvGrpSpPr>
                  <a:grpSpLocks/>
                </p:cNvGrpSpPr>
                <p:nvPr/>
              </p:nvGrpSpPr>
              <p:grpSpPr bwMode="auto">
                <a:xfrm>
                  <a:off x="2652" y="1753"/>
                  <a:ext cx="166" cy="77"/>
                  <a:chOff x="2652" y="1753"/>
                  <a:chExt cx="166" cy="77"/>
                </a:xfrm>
              </p:grpSpPr>
              <p:sp>
                <p:nvSpPr>
                  <p:cNvPr id="173" name="Arc 143"/>
                  <p:cNvSpPr>
                    <a:spLocks/>
                  </p:cNvSpPr>
                  <p:nvPr/>
                </p:nvSpPr>
                <p:spPr bwMode="auto">
                  <a:xfrm>
                    <a:off x="2735" y="1753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20"/>
                      <a:gd name="T2" fmla="*/ 0 w 21619"/>
                      <a:gd name="T3" fmla="*/ 0 h 21720"/>
                      <a:gd name="T4" fmla="*/ 0 w 21619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20" fill="none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</a:path>
                      <a:path w="21619" h="21720" stroke="0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  <a:lnTo>
                          <a:pt x="19" y="12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4" name="Arc 144"/>
                  <p:cNvSpPr>
                    <a:spLocks/>
                  </p:cNvSpPr>
                  <p:nvPr/>
                </p:nvSpPr>
                <p:spPr bwMode="auto">
                  <a:xfrm>
                    <a:off x="2652" y="1800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5"/>
                      <a:gd name="T2" fmla="*/ 0 w 21600"/>
                      <a:gd name="T3" fmla="*/ 0 h 21915"/>
                      <a:gd name="T4" fmla="*/ 0 w 21600"/>
                      <a:gd name="T5" fmla="*/ 0 h 219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5" fill="none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</a:path>
                      <a:path w="21600" h="21915" stroke="0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  <a:lnTo>
                          <a:pt x="21600" y="315"/>
                        </a:lnTo>
                        <a:lnTo>
                          <a:pt x="21585" y="219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70" name="Group 145"/>
                <p:cNvGrpSpPr>
                  <a:grpSpLocks/>
                </p:cNvGrpSpPr>
                <p:nvPr/>
              </p:nvGrpSpPr>
              <p:grpSpPr bwMode="auto">
                <a:xfrm>
                  <a:off x="2652" y="1771"/>
                  <a:ext cx="166" cy="77"/>
                  <a:chOff x="2652" y="1771"/>
                  <a:chExt cx="166" cy="77"/>
                </a:xfrm>
              </p:grpSpPr>
              <p:sp>
                <p:nvSpPr>
                  <p:cNvPr id="171" name="Arc 146"/>
                  <p:cNvSpPr>
                    <a:spLocks/>
                  </p:cNvSpPr>
                  <p:nvPr/>
                </p:nvSpPr>
                <p:spPr bwMode="auto">
                  <a:xfrm>
                    <a:off x="2735" y="1771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2" name="Arc 147"/>
                  <p:cNvSpPr>
                    <a:spLocks/>
                  </p:cNvSpPr>
                  <p:nvPr/>
                </p:nvSpPr>
                <p:spPr bwMode="auto">
                  <a:xfrm>
                    <a:off x="2652" y="1771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0" name="Group 148"/>
              <p:cNvGrpSpPr>
                <a:grpSpLocks/>
              </p:cNvGrpSpPr>
              <p:nvPr/>
            </p:nvGrpSpPr>
            <p:grpSpPr bwMode="auto">
              <a:xfrm>
                <a:off x="2652" y="1671"/>
                <a:ext cx="166" cy="94"/>
                <a:chOff x="2652" y="1671"/>
                <a:chExt cx="166" cy="94"/>
              </a:xfrm>
            </p:grpSpPr>
            <p:grpSp>
              <p:nvGrpSpPr>
                <p:cNvPr id="163" name="Group 149"/>
                <p:cNvGrpSpPr>
                  <a:grpSpLocks/>
                </p:cNvGrpSpPr>
                <p:nvPr/>
              </p:nvGrpSpPr>
              <p:grpSpPr bwMode="auto">
                <a:xfrm>
                  <a:off x="2652" y="1671"/>
                  <a:ext cx="166" cy="77"/>
                  <a:chOff x="2652" y="1671"/>
                  <a:chExt cx="166" cy="77"/>
                </a:xfrm>
              </p:grpSpPr>
              <p:sp>
                <p:nvSpPr>
                  <p:cNvPr id="167" name="Arc 150"/>
                  <p:cNvSpPr>
                    <a:spLocks/>
                  </p:cNvSpPr>
                  <p:nvPr/>
                </p:nvSpPr>
                <p:spPr bwMode="auto">
                  <a:xfrm>
                    <a:off x="2735" y="1671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40"/>
                      <a:gd name="T2" fmla="*/ 0 w 21619"/>
                      <a:gd name="T3" fmla="*/ 0 h 21740"/>
                      <a:gd name="T4" fmla="*/ 0 w 21619"/>
                      <a:gd name="T5" fmla="*/ 0 h 21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40" fill="none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</a:path>
                      <a:path w="21619" h="21740" stroke="0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  <a:lnTo>
                          <a:pt x="19" y="14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8" name="Arc 151"/>
                  <p:cNvSpPr>
                    <a:spLocks/>
                  </p:cNvSpPr>
                  <p:nvPr/>
                </p:nvSpPr>
                <p:spPr bwMode="auto">
                  <a:xfrm>
                    <a:off x="2652" y="1718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</a:path>
                      <a:path w="21600" h="21910" stroke="0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  <a:lnTo>
                          <a:pt x="21600" y="310"/>
                        </a:lnTo>
                        <a:lnTo>
                          <a:pt x="21585" y="2190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64" name="Group 152"/>
                <p:cNvGrpSpPr>
                  <a:grpSpLocks/>
                </p:cNvGrpSpPr>
                <p:nvPr/>
              </p:nvGrpSpPr>
              <p:grpSpPr bwMode="auto">
                <a:xfrm>
                  <a:off x="2652" y="1688"/>
                  <a:ext cx="166" cy="77"/>
                  <a:chOff x="2652" y="1688"/>
                  <a:chExt cx="166" cy="77"/>
                </a:xfrm>
              </p:grpSpPr>
              <p:sp>
                <p:nvSpPr>
                  <p:cNvPr id="165" name="Arc 153"/>
                  <p:cNvSpPr>
                    <a:spLocks/>
                  </p:cNvSpPr>
                  <p:nvPr/>
                </p:nvSpPr>
                <p:spPr bwMode="auto">
                  <a:xfrm>
                    <a:off x="2735" y="1688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6" name="Arc 154"/>
                  <p:cNvSpPr>
                    <a:spLocks/>
                  </p:cNvSpPr>
                  <p:nvPr/>
                </p:nvSpPr>
                <p:spPr bwMode="auto">
                  <a:xfrm>
                    <a:off x="2652" y="1688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557"/>
                        </a:moveTo>
                        <a:cubicBezTo>
                          <a:pt x="23" y="9650"/>
                          <a:pt x="9677" y="8"/>
                          <a:pt x="21584" y="0"/>
                        </a:cubicBezTo>
                      </a:path>
                      <a:path w="21600" h="21600" stroke="0" extrusionOk="0">
                        <a:moveTo>
                          <a:pt x="0" y="21557"/>
                        </a:moveTo>
                        <a:cubicBezTo>
                          <a:pt x="23" y="9650"/>
                          <a:pt x="9677" y="8"/>
                          <a:pt x="21584" y="0"/>
                        </a:cubicBezTo>
                        <a:lnTo>
                          <a:pt x="21600" y="21600"/>
                        </a:lnTo>
                        <a:lnTo>
                          <a:pt x="0" y="21557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1" name="Group 155"/>
              <p:cNvGrpSpPr>
                <a:grpSpLocks/>
              </p:cNvGrpSpPr>
              <p:nvPr/>
            </p:nvGrpSpPr>
            <p:grpSpPr bwMode="auto">
              <a:xfrm>
                <a:off x="2652" y="1588"/>
                <a:ext cx="166" cy="95"/>
                <a:chOff x="2652" y="1588"/>
                <a:chExt cx="166" cy="95"/>
              </a:xfrm>
            </p:grpSpPr>
            <p:grpSp>
              <p:nvGrpSpPr>
                <p:cNvPr id="157" name="Group 156"/>
                <p:cNvGrpSpPr>
                  <a:grpSpLocks/>
                </p:cNvGrpSpPr>
                <p:nvPr/>
              </p:nvGrpSpPr>
              <p:grpSpPr bwMode="auto">
                <a:xfrm>
                  <a:off x="2652" y="1588"/>
                  <a:ext cx="166" cy="77"/>
                  <a:chOff x="2652" y="1588"/>
                  <a:chExt cx="166" cy="77"/>
                </a:xfrm>
              </p:grpSpPr>
              <p:sp>
                <p:nvSpPr>
                  <p:cNvPr id="161" name="Arc 157"/>
                  <p:cNvSpPr>
                    <a:spLocks/>
                  </p:cNvSpPr>
                  <p:nvPr/>
                </p:nvSpPr>
                <p:spPr bwMode="auto">
                  <a:xfrm>
                    <a:off x="2735" y="1588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20"/>
                      <a:gd name="T2" fmla="*/ 0 w 21619"/>
                      <a:gd name="T3" fmla="*/ 0 h 21720"/>
                      <a:gd name="T4" fmla="*/ 0 w 21619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20" fill="none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</a:path>
                      <a:path w="21619" h="21720" stroke="0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  <a:lnTo>
                          <a:pt x="19" y="12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2" name="Arc 158"/>
                  <p:cNvSpPr>
                    <a:spLocks/>
                  </p:cNvSpPr>
                  <p:nvPr/>
                </p:nvSpPr>
                <p:spPr bwMode="auto">
                  <a:xfrm>
                    <a:off x="2652" y="1635"/>
                    <a:ext cx="83" cy="29"/>
                  </a:xfrm>
                  <a:custGeom>
                    <a:avLst/>
                    <a:gdLst>
                      <a:gd name="T0" fmla="*/ 0 w 21600"/>
                      <a:gd name="T1" fmla="*/ 0 h 21915"/>
                      <a:gd name="T2" fmla="*/ 0 w 21600"/>
                      <a:gd name="T3" fmla="*/ 0 h 21915"/>
                      <a:gd name="T4" fmla="*/ 0 w 21600"/>
                      <a:gd name="T5" fmla="*/ 0 h 219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5" fill="none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</a:path>
                      <a:path w="21600" h="21915" stroke="0" extrusionOk="0">
                        <a:moveTo>
                          <a:pt x="21585" y="21914"/>
                        </a:moveTo>
                        <a:cubicBezTo>
                          <a:pt x="9661" y="21906"/>
                          <a:pt x="0" y="12238"/>
                          <a:pt x="0" y="315"/>
                        </a:cubicBezTo>
                        <a:cubicBezTo>
                          <a:pt x="-1" y="209"/>
                          <a:pt x="0" y="104"/>
                          <a:pt x="2" y="0"/>
                        </a:cubicBezTo>
                        <a:lnTo>
                          <a:pt x="21600" y="315"/>
                        </a:lnTo>
                        <a:lnTo>
                          <a:pt x="21585" y="219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58" name="Group 159"/>
                <p:cNvGrpSpPr>
                  <a:grpSpLocks/>
                </p:cNvGrpSpPr>
                <p:nvPr/>
              </p:nvGrpSpPr>
              <p:grpSpPr bwMode="auto">
                <a:xfrm>
                  <a:off x="2652" y="1606"/>
                  <a:ext cx="166" cy="77"/>
                  <a:chOff x="2652" y="1606"/>
                  <a:chExt cx="166" cy="77"/>
                </a:xfrm>
              </p:grpSpPr>
              <p:sp>
                <p:nvSpPr>
                  <p:cNvPr id="159" name="Arc 160"/>
                  <p:cNvSpPr>
                    <a:spLocks/>
                  </p:cNvSpPr>
                  <p:nvPr/>
                </p:nvSpPr>
                <p:spPr bwMode="auto">
                  <a:xfrm>
                    <a:off x="2735" y="1606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60" name="Arc 161"/>
                  <p:cNvSpPr>
                    <a:spLocks/>
                  </p:cNvSpPr>
                  <p:nvPr/>
                </p:nvSpPr>
                <p:spPr bwMode="auto">
                  <a:xfrm>
                    <a:off x="2652" y="1606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676"/>
                          <a:pt x="9660" y="8"/>
                          <a:pt x="21584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2" name="Group 162"/>
              <p:cNvGrpSpPr>
                <a:grpSpLocks/>
              </p:cNvGrpSpPr>
              <p:nvPr/>
            </p:nvGrpSpPr>
            <p:grpSpPr bwMode="auto">
              <a:xfrm>
                <a:off x="2652" y="1506"/>
                <a:ext cx="166" cy="94"/>
                <a:chOff x="2652" y="1506"/>
                <a:chExt cx="166" cy="94"/>
              </a:xfrm>
            </p:grpSpPr>
            <p:grpSp>
              <p:nvGrpSpPr>
                <p:cNvPr id="151" name="Group 163"/>
                <p:cNvGrpSpPr>
                  <a:grpSpLocks/>
                </p:cNvGrpSpPr>
                <p:nvPr/>
              </p:nvGrpSpPr>
              <p:grpSpPr bwMode="auto">
                <a:xfrm>
                  <a:off x="2652" y="1506"/>
                  <a:ext cx="166" cy="77"/>
                  <a:chOff x="2652" y="1506"/>
                  <a:chExt cx="166" cy="77"/>
                </a:xfrm>
              </p:grpSpPr>
              <p:sp>
                <p:nvSpPr>
                  <p:cNvPr id="155" name="Arc 164"/>
                  <p:cNvSpPr>
                    <a:spLocks/>
                  </p:cNvSpPr>
                  <p:nvPr/>
                </p:nvSpPr>
                <p:spPr bwMode="auto">
                  <a:xfrm>
                    <a:off x="2735" y="1506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40"/>
                      <a:gd name="T2" fmla="*/ 0 w 21619"/>
                      <a:gd name="T3" fmla="*/ 0 h 21740"/>
                      <a:gd name="T4" fmla="*/ 0 w 21619"/>
                      <a:gd name="T5" fmla="*/ 0 h 21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40" fill="none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</a:path>
                      <a:path w="21619" h="21740" stroke="0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  <a:lnTo>
                          <a:pt x="19" y="14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6" name="Arc 165"/>
                  <p:cNvSpPr>
                    <a:spLocks/>
                  </p:cNvSpPr>
                  <p:nvPr/>
                </p:nvSpPr>
                <p:spPr bwMode="auto">
                  <a:xfrm>
                    <a:off x="2652" y="1553"/>
                    <a:ext cx="83" cy="30"/>
                  </a:xfrm>
                  <a:custGeom>
                    <a:avLst/>
                    <a:gdLst>
                      <a:gd name="T0" fmla="*/ 0 w 21600"/>
                      <a:gd name="T1" fmla="*/ 0 h 21910"/>
                      <a:gd name="T2" fmla="*/ 0 w 21600"/>
                      <a:gd name="T3" fmla="*/ 0 h 21910"/>
                      <a:gd name="T4" fmla="*/ 0 w 21600"/>
                      <a:gd name="T5" fmla="*/ 0 h 219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10" fill="none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</a:path>
                      <a:path w="21600" h="21910" stroke="0" extrusionOk="0">
                        <a:moveTo>
                          <a:pt x="21585" y="21909"/>
                        </a:moveTo>
                        <a:cubicBezTo>
                          <a:pt x="9661" y="21901"/>
                          <a:pt x="0" y="12233"/>
                          <a:pt x="0" y="310"/>
                        </a:cubicBezTo>
                        <a:cubicBezTo>
                          <a:pt x="-1" y="206"/>
                          <a:pt x="0" y="103"/>
                          <a:pt x="2" y="0"/>
                        </a:cubicBezTo>
                        <a:lnTo>
                          <a:pt x="21600" y="310"/>
                        </a:lnTo>
                        <a:lnTo>
                          <a:pt x="21585" y="2190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52" name="Group 166"/>
                <p:cNvGrpSpPr>
                  <a:grpSpLocks/>
                </p:cNvGrpSpPr>
                <p:nvPr/>
              </p:nvGrpSpPr>
              <p:grpSpPr bwMode="auto">
                <a:xfrm>
                  <a:off x="2653" y="1523"/>
                  <a:ext cx="165" cy="77"/>
                  <a:chOff x="2653" y="1523"/>
                  <a:chExt cx="165" cy="77"/>
                </a:xfrm>
              </p:grpSpPr>
              <p:sp>
                <p:nvSpPr>
                  <p:cNvPr id="153" name="Arc 167"/>
                  <p:cNvSpPr>
                    <a:spLocks/>
                  </p:cNvSpPr>
                  <p:nvPr/>
                </p:nvSpPr>
                <p:spPr bwMode="auto">
                  <a:xfrm>
                    <a:off x="2735" y="1523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4" name="Arc 168"/>
                  <p:cNvSpPr>
                    <a:spLocks/>
                  </p:cNvSpPr>
                  <p:nvPr/>
                </p:nvSpPr>
                <p:spPr bwMode="auto">
                  <a:xfrm>
                    <a:off x="2653" y="1523"/>
                    <a:ext cx="82" cy="30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0" y="21290"/>
                        </a:moveTo>
                        <a:cubicBezTo>
                          <a:pt x="169" y="9488"/>
                          <a:pt x="9780" y="8"/>
                          <a:pt x="21583" y="0"/>
                        </a:cubicBezTo>
                      </a:path>
                      <a:path w="21598" h="21600" stroke="0" extrusionOk="0">
                        <a:moveTo>
                          <a:pt x="0" y="21290"/>
                        </a:moveTo>
                        <a:cubicBezTo>
                          <a:pt x="169" y="9488"/>
                          <a:pt x="9780" y="8"/>
                          <a:pt x="21583" y="0"/>
                        </a:cubicBezTo>
                        <a:lnTo>
                          <a:pt x="21598" y="21600"/>
                        </a:lnTo>
                        <a:lnTo>
                          <a:pt x="0" y="2129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3" name="Group 169"/>
              <p:cNvGrpSpPr>
                <a:grpSpLocks/>
              </p:cNvGrpSpPr>
              <p:nvPr/>
            </p:nvGrpSpPr>
            <p:grpSpPr bwMode="auto">
              <a:xfrm>
                <a:off x="2652" y="1423"/>
                <a:ext cx="166" cy="95"/>
                <a:chOff x="2652" y="1423"/>
                <a:chExt cx="166" cy="95"/>
              </a:xfrm>
            </p:grpSpPr>
            <p:grpSp>
              <p:nvGrpSpPr>
                <p:cNvPr id="145" name="Group 170"/>
                <p:cNvGrpSpPr>
                  <a:grpSpLocks/>
                </p:cNvGrpSpPr>
                <p:nvPr/>
              </p:nvGrpSpPr>
              <p:grpSpPr bwMode="auto">
                <a:xfrm>
                  <a:off x="2652" y="1423"/>
                  <a:ext cx="166" cy="77"/>
                  <a:chOff x="2652" y="1423"/>
                  <a:chExt cx="166" cy="77"/>
                </a:xfrm>
              </p:grpSpPr>
              <p:sp>
                <p:nvSpPr>
                  <p:cNvPr id="149" name="Arc 171"/>
                  <p:cNvSpPr>
                    <a:spLocks/>
                  </p:cNvSpPr>
                  <p:nvPr/>
                </p:nvSpPr>
                <p:spPr bwMode="auto">
                  <a:xfrm>
                    <a:off x="2735" y="1423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20"/>
                      <a:gd name="T2" fmla="*/ 0 w 21619"/>
                      <a:gd name="T3" fmla="*/ 0 h 21720"/>
                      <a:gd name="T4" fmla="*/ 0 w 21619"/>
                      <a:gd name="T5" fmla="*/ 0 h 217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20" fill="none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</a:path>
                      <a:path w="21619" h="21720" stroke="0" extrusionOk="0">
                        <a:moveTo>
                          <a:pt x="21618" y="0"/>
                        </a:moveTo>
                        <a:cubicBezTo>
                          <a:pt x="21618" y="40"/>
                          <a:pt x="21619" y="80"/>
                          <a:pt x="21619" y="120"/>
                        </a:cubicBezTo>
                        <a:cubicBezTo>
                          <a:pt x="21619" y="12049"/>
                          <a:pt x="11948" y="21720"/>
                          <a:pt x="19" y="21720"/>
                        </a:cubicBezTo>
                        <a:cubicBezTo>
                          <a:pt x="12" y="21720"/>
                          <a:pt x="6" y="21719"/>
                          <a:pt x="0" y="21719"/>
                        </a:cubicBezTo>
                        <a:lnTo>
                          <a:pt x="19" y="12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0" name="Arc 172"/>
                  <p:cNvSpPr>
                    <a:spLocks/>
                  </p:cNvSpPr>
                  <p:nvPr/>
                </p:nvSpPr>
                <p:spPr bwMode="auto">
                  <a:xfrm>
                    <a:off x="2652" y="1464"/>
                    <a:ext cx="83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584" y="21599"/>
                        </a:moveTo>
                        <a:cubicBezTo>
                          <a:pt x="9660" y="21591"/>
                          <a:pt x="0" y="11923"/>
                          <a:pt x="0" y="0"/>
                        </a:cubicBezTo>
                      </a:path>
                      <a:path w="21600" h="21600" stroke="0" extrusionOk="0">
                        <a:moveTo>
                          <a:pt x="21584" y="21599"/>
                        </a:moveTo>
                        <a:cubicBezTo>
                          <a:pt x="9660" y="21591"/>
                          <a:pt x="0" y="11923"/>
                          <a:pt x="0" y="0"/>
                        </a:cubicBezTo>
                        <a:lnTo>
                          <a:pt x="21600" y="0"/>
                        </a:lnTo>
                        <a:lnTo>
                          <a:pt x="21584" y="2159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46" name="Group 173"/>
                <p:cNvGrpSpPr>
                  <a:grpSpLocks/>
                </p:cNvGrpSpPr>
                <p:nvPr/>
              </p:nvGrpSpPr>
              <p:grpSpPr bwMode="auto">
                <a:xfrm>
                  <a:off x="2653" y="1441"/>
                  <a:ext cx="165" cy="77"/>
                  <a:chOff x="2653" y="1441"/>
                  <a:chExt cx="165" cy="77"/>
                </a:xfrm>
              </p:grpSpPr>
              <p:sp>
                <p:nvSpPr>
                  <p:cNvPr id="147" name="Arc 174"/>
                  <p:cNvSpPr>
                    <a:spLocks/>
                  </p:cNvSpPr>
                  <p:nvPr/>
                </p:nvSpPr>
                <p:spPr bwMode="auto">
                  <a:xfrm>
                    <a:off x="2735" y="1441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892" y="0"/>
                          <a:pt x="21540" y="9585"/>
                          <a:pt x="21617" y="2146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48" name="Arc 175"/>
                  <p:cNvSpPr>
                    <a:spLocks/>
                  </p:cNvSpPr>
                  <p:nvPr/>
                </p:nvSpPr>
                <p:spPr bwMode="auto">
                  <a:xfrm>
                    <a:off x="2653" y="1441"/>
                    <a:ext cx="82" cy="29"/>
                  </a:xfrm>
                  <a:custGeom>
                    <a:avLst/>
                    <a:gdLst>
                      <a:gd name="T0" fmla="*/ 0 w 21598"/>
                      <a:gd name="T1" fmla="*/ 0 h 21600"/>
                      <a:gd name="T2" fmla="*/ 0 w 21598"/>
                      <a:gd name="T3" fmla="*/ 0 h 21600"/>
                      <a:gd name="T4" fmla="*/ 0 w 2159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8" h="21600" fill="none" extrusionOk="0">
                        <a:moveTo>
                          <a:pt x="0" y="21285"/>
                        </a:moveTo>
                        <a:cubicBezTo>
                          <a:pt x="172" y="9485"/>
                          <a:pt x="9782" y="8"/>
                          <a:pt x="21583" y="0"/>
                        </a:cubicBezTo>
                      </a:path>
                      <a:path w="21598" h="21600" stroke="0" extrusionOk="0">
                        <a:moveTo>
                          <a:pt x="0" y="21285"/>
                        </a:moveTo>
                        <a:cubicBezTo>
                          <a:pt x="172" y="9485"/>
                          <a:pt x="9782" y="8"/>
                          <a:pt x="21583" y="0"/>
                        </a:cubicBezTo>
                        <a:lnTo>
                          <a:pt x="21598" y="21600"/>
                        </a:lnTo>
                        <a:lnTo>
                          <a:pt x="0" y="21285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34" name="Group 176"/>
              <p:cNvGrpSpPr>
                <a:grpSpLocks/>
              </p:cNvGrpSpPr>
              <p:nvPr/>
            </p:nvGrpSpPr>
            <p:grpSpPr bwMode="auto">
              <a:xfrm>
                <a:off x="2652" y="1341"/>
                <a:ext cx="166" cy="94"/>
                <a:chOff x="2652" y="1341"/>
                <a:chExt cx="166" cy="94"/>
              </a:xfrm>
            </p:grpSpPr>
            <p:grpSp>
              <p:nvGrpSpPr>
                <p:cNvPr id="139" name="Group 177"/>
                <p:cNvGrpSpPr>
                  <a:grpSpLocks/>
                </p:cNvGrpSpPr>
                <p:nvPr/>
              </p:nvGrpSpPr>
              <p:grpSpPr bwMode="auto">
                <a:xfrm>
                  <a:off x="2652" y="1341"/>
                  <a:ext cx="166" cy="77"/>
                  <a:chOff x="2652" y="1341"/>
                  <a:chExt cx="166" cy="77"/>
                </a:xfrm>
              </p:grpSpPr>
              <p:sp>
                <p:nvSpPr>
                  <p:cNvPr id="143" name="Arc 178"/>
                  <p:cNvSpPr>
                    <a:spLocks/>
                  </p:cNvSpPr>
                  <p:nvPr/>
                </p:nvSpPr>
                <p:spPr bwMode="auto">
                  <a:xfrm>
                    <a:off x="2735" y="1341"/>
                    <a:ext cx="83" cy="77"/>
                  </a:xfrm>
                  <a:custGeom>
                    <a:avLst/>
                    <a:gdLst>
                      <a:gd name="T0" fmla="*/ 0 w 21619"/>
                      <a:gd name="T1" fmla="*/ 0 h 21740"/>
                      <a:gd name="T2" fmla="*/ 0 w 21619"/>
                      <a:gd name="T3" fmla="*/ 0 h 21740"/>
                      <a:gd name="T4" fmla="*/ 0 w 21619"/>
                      <a:gd name="T5" fmla="*/ 0 h 21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9" h="21740" fill="none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</a:path>
                      <a:path w="21619" h="21740" stroke="0" extrusionOk="0">
                        <a:moveTo>
                          <a:pt x="21618" y="0"/>
                        </a:moveTo>
                        <a:cubicBezTo>
                          <a:pt x="21618" y="46"/>
                          <a:pt x="21619" y="93"/>
                          <a:pt x="21619" y="140"/>
                        </a:cubicBezTo>
                        <a:cubicBezTo>
                          <a:pt x="21619" y="12069"/>
                          <a:pt x="11948" y="21740"/>
                          <a:pt x="19" y="21740"/>
                        </a:cubicBezTo>
                        <a:cubicBezTo>
                          <a:pt x="12" y="21740"/>
                          <a:pt x="6" y="21739"/>
                          <a:pt x="0" y="21739"/>
                        </a:cubicBezTo>
                        <a:lnTo>
                          <a:pt x="19" y="140"/>
                        </a:lnTo>
                        <a:lnTo>
                          <a:pt x="21618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44" name="Arc 179"/>
                  <p:cNvSpPr>
                    <a:spLocks/>
                  </p:cNvSpPr>
                  <p:nvPr/>
                </p:nvSpPr>
                <p:spPr bwMode="auto">
                  <a:xfrm>
                    <a:off x="2652" y="1382"/>
                    <a:ext cx="83" cy="36"/>
                  </a:xfrm>
                  <a:custGeom>
                    <a:avLst/>
                    <a:gdLst>
                      <a:gd name="T0" fmla="*/ 0 w 21600"/>
                      <a:gd name="T1" fmla="*/ 0 h 21643"/>
                      <a:gd name="T2" fmla="*/ 0 w 21600"/>
                      <a:gd name="T3" fmla="*/ 0 h 21643"/>
                      <a:gd name="T4" fmla="*/ 0 w 21600"/>
                      <a:gd name="T5" fmla="*/ 0 h 2164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3" fill="none" extrusionOk="0">
                        <a:moveTo>
                          <a:pt x="21584" y="21642"/>
                        </a:moveTo>
                        <a:cubicBezTo>
                          <a:pt x="9660" y="21634"/>
                          <a:pt x="0" y="11966"/>
                          <a:pt x="0" y="43"/>
                        </a:cubicBezTo>
                        <a:cubicBezTo>
                          <a:pt x="-1" y="28"/>
                          <a:pt x="0" y="14"/>
                          <a:pt x="0" y="0"/>
                        </a:cubicBezTo>
                      </a:path>
                      <a:path w="21600" h="21643" stroke="0" extrusionOk="0">
                        <a:moveTo>
                          <a:pt x="21584" y="21642"/>
                        </a:moveTo>
                        <a:cubicBezTo>
                          <a:pt x="9660" y="21634"/>
                          <a:pt x="0" y="11966"/>
                          <a:pt x="0" y="43"/>
                        </a:cubicBezTo>
                        <a:cubicBezTo>
                          <a:pt x="-1" y="28"/>
                          <a:pt x="0" y="14"/>
                          <a:pt x="0" y="0"/>
                        </a:cubicBezTo>
                        <a:lnTo>
                          <a:pt x="21600" y="43"/>
                        </a:lnTo>
                        <a:lnTo>
                          <a:pt x="21584" y="21642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40" name="Group 180"/>
                <p:cNvGrpSpPr>
                  <a:grpSpLocks/>
                </p:cNvGrpSpPr>
                <p:nvPr/>
              </p:nvGrpSpPr>
              <p:grpSpPr bwMode="auto">
                <a:xfrm>
                  <a:off x="2653" y="1358"/>
                  <a:ext cx="165" cy="77"/>
                  <a:chOff x="2653" y="1358"/>
                  <a:chExt cx="165" cy="77"/>
                </a:xfrm>
              </p:grpSpPr>
              <p:sp>
                <p:nvSpPr>
                  <p:cNvPr id="141" name="Arc 181"/>
                  <p:cNvSpPr>
                    <a:spLocks/>
                  </p:cNvSpPr>
                  <p:nvPr/>
                </p:nvSpPr>
                <p:spPr bwMode="auto">
                  <a:xfrm>
                    <a:off x="2735" y="1358"/>
                    <a:ext cx="83" cy="77"/>
                  </a:xfrm>
                  <a:custGeom>
                    <a:avLst/>
                    <a:gdLst>
                      <a:gd name="T0" fmla="*/ 0 w 21618"/>
                      <a:gd name="T1" fmla="*/ 0 h 21600"/>
                      <a:gd name="T2" fmla="*/ 0 w 21618"/>
                      <a:gd name="T3" fmla="*/ 0 h 21600"/>
                      <a:gd name="T4" fmla="*/ 0 w 21618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18" h="21600" fill="none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</a:path>
                      <a:path w="21618" h="21600" stroke="0" extrusionOk="0">
                        <a:moveTo>
                          <a:pt x="0" y="0"/>
                        </a:moveTo>
                        <a:cubicBezTo>
                          <a:pt x="6" y="0"/>
                          <a:pt x="12" y="-1"/>
                          <a:pt x="18" y="0"/>
                        </a:cubicBezTo>
                        <a:cubicBezTo>
                          <a:pt x="11900" y="0"/>
                          <a:pt x="21551" y="9597"/>
                          <a:pt x="21617" y="21480"/>
                        </a:cubicBezTo>
                        <a:lnTo>
                          <a:pt x="18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42" name="Arc 182"/>
                  <p:cNvSpPr>
                    <a:spLocks/>
                  </p:cNvSpPr>
                  <p:nvPr/>
                </p:nvSpPr>
                <p:spPr bwMode="auto">
                  <a:xfrm>
                    <a:off x="2653" y="1358"/>
                    <a:ext cx="82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0" y="21239"/>
                        </a:moveTo>
                        <a:cubicBezTo>
                          <a:pt x="196" y="9457"/>
                          <a:pt x="9799" y="8"/>
                          <a:pt x="21582" y="0"/>
                        </a:cubicBezTo>
                      </a:path>
                      <a:path w="21597" h="21600" stroke="0" extrusionOk="0">
                        <a:moveTo>
                          <a:pt x="0" y="21239"/>
                        </a:moveTo>
                        <a:cubicBezTo>
                          <a:pt x="196" y="9457"/>
                          <a:pt x="9799" y="8"/>
                          <a:pt x="21582" y="0"/>
                        </a:cubicBezTo>
                        <a:lnTo>
                          <a:pt x="21597" y="21600"/>
                        </a:lnTo>
                        <a:lnTo>
                          <a:pt x="0" y="2123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35" name="Arc 183"/>
              <p:cNvSpPr>
                <a:spLocks/>
              </p:cNvSpPr>
              <p:nvPr/>
            </p:nvSpPr>
            <p:spPr bwMode="auto">
              <a:xfrm>
                <a:off x="2735" y="1275"/>
                <a:ext cx="83" cy="77"/>
              </a:xfrm>
              <a:custGeom>
                <a:avLst/>
                <a:gdLst>
                  <a:gd name="T0" fmla="*/ 0 w 21618"/>
                  <a:gd name="T1" fmla="*/ 0 h 21600"/>
                  <a:gd name="T2" fmla="*/ 0 w 21618"/>
                  <a:gd name="T3" fmla="*/ 0 h 21600"/>
                  <a:gd name="T4" fmla="*/ 0 w 21618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18" h="21600" fill="none" extrusionOk="0">
                    <a:moveTo>
                      <a:pt x="0" y="0"/>
                    </a:moveTo>
                    <a:cubicBezTo>
                      <a:pt x="6" y="0"/>
                      <a:pt x="12" y="-1"/>
                      <a:pt x="18" y="0"/>
                    </a:cubicBezTo>
                    <a:cubicBezTo>
                      <a:pt x="11900" y="0"/>
                      <a:pt x="21551" y="9597"/>
                      <a:pt x="21617" y="21480"/>
                    </a:cubicBezTo>
                  </a:path>
                  <a:path w="21618" h="21600" stroke="0" extrusionOk="0">
                    <a:moveTo>
                      <a:pt x="0" y="0"/>
                    </a:moveTo>
                    <a:cubicBezTo>
                      <a:pt x="6" y="0"/>
                      <a:pt x="12" y="-1"/>
                      <a:pt x="18" y="0"/>
                    </a:cubicBezTo>
                    <a:cubicBezTo>
                      <a:pt x="11900" y="0"/>
                      <a:pt x="21551" y="9597"/>
                      <a:pt x="21617" y="21480"/>
                    </a:cubicBezTo>
                    <a:lnTo>
                      <a:pt x="18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6" name="Arc 184"/>
              <p:cNvSpPr>
                <a:spLocks/>
              </p:cNvSpPr>
              <p:nvPr/>
            </p:nvSpPr>
            <p:spPr bwMode="auto">
              <a:xfrm>
                <a:off x="2735" y="1848"/>
                <a:ext cx="83" cy="77"/>
              </a:xfrm>
              <a:custGeom>
                <a:avLst/>
                <a:gdLst>
                  <a:gd name="T0" fmla="*/ 0 w 21619"/>
                  <a:gd name="T1" fmla="*/ 0 h 21740"/>
                  <a:gd name="T2" fmla="*/ 0 w 21619"/>
                  <a:gd name="T3" fmla="*/ 0 h 21740"/>
                  <a:gd name="T4" fmla="*/ 0 w 21619"/>
                  <a:gd name="T5" fmla="*/ 0 h 217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19" h="21740" fill="none" extrusionOk="0">
                    <a:moveTo>
                      <a:pt x="21618" y="0"/>
                    </a:moveTo>
                    <a:cubicBezTo>
                      <a:pt x="21618" y="46"/>
                      <a:pt x="21619" y="93"/>
                      <a:pt x="21619" y="140"/>
                    </a:cubicBezTo>
                    <a:cubicBezTo>
                      <a:pt x="21619" y="12069"/>
                      <a:pt x="11948" y="21740"/>
                      <a:pt x="19" y="21740"/>
                    </a:cubicBezTo>
                    <a:cubicBezTo>
                      <a:pt x="12" y="21740"/>
                      <a:pt x="6" y="21739"/>
                      <a:pt x="0" y="21739"/>
                    </a:cubicBezTo>
                  </a:path>
                  <a:path w="21619" h="21740" stroke="0" extrusionOk="0">
                    <a:moveTo>
                      <a:pt x="21618" y="0"/>
                    </a:moveTo>
                    <a:cubicBezTo>
                      <a:pt x="21618" y="46"/>
                      <a:pt x="21619" y="93"/>
                      <a:pt x="21619" y="140"/>
                    </a:cubicBezTo>
                    <a:cubicBezTo>
                      <a:pt x="21619" y="12069"/>
                      <a:pt x="11948" y="21740"/>
                      <a:pt x="19" y="21740"/>
                    </a:cubicBezTo>
                    <a:cubicBezTo>
                      <a:pt x="12" y="21740"/>
                      <a:pt x="6" y="21739"/>
                      <a:pt x="0" y="21739"/>
                    </a:cubicBezTo>
                    <a:lnTo>
                      <a:pt x="19" y="140"/>
                    </a:lnTo>
                    <a:lnTo>
                      <a:pt x="21618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7" name="Line 185"/>
              <p:cNvSpPr>
                <a:spLocks noChangeShapeType="1"/>
              </p:cNvSpPr>
              <p:nvPr/>
            </p:nvSpPr>
            <p:spPr bwMode="auto">
              <a:xfrm flipV="1">
                <a:off x="2734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8" name="Line 186"/>
              <p:cNvSpPr>
                <a:spLocks noChangeShapeType="1"/>
              </p:cNvSpPr>
              <p:nvPr/>
            </p:nvSpPr>
            <p:spPr bwMode="auto">
              <a:xfrm flipV="1">
                <a:off x="2734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1" name="Line 187"/>
            <p:cNvSpPr>
              <a:spLocks noChangeShapeType="1"/>
            </p:cNvSpPr>
            <p:nvPr/>
          </p:nvSpPr>
          <p:spPr bwMode="auto">
            <a:xfrm flipV="1">
              <a:off x="2045" y="1950"/>
              <a:ext cx="1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188"/>
            <p:cNvSpPr>
              <a:spLocks noChangeShapeType="1"/>
            </p:cNvSpPr>
            <p:nvPr/>
          </p:nvSpPr>
          <p:spPr bwMode="auto">
            <a:xfrm flipV="1">
              <a:off x="2045" y="2753"/>
              <a:ext cx="1" cy="36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Oval 189"/>
            <p:cNvSpPr>
              <a:spLocks noChangeArrowheads="1"/>
            </p:cNvSpPr>
            <p:nvPr/>
          </p:nvSpPr>
          <p:spPr bwMode="auto">
            <a:xfrm>
              <a:off x="1886" y="2711"/>
              <a:ext cx="70" cy="59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190"/>
            <p:cNvSpPr>
              <a:spLocks noChangeArrowheads="1"/>
            </p:cNvSpPr>
            <p:nvPr/>
          </p:nvSpPr>
          <p:spPr bwMode="auto">
            <a:xfrm>
              <a:off x="1821" y="2162"/>
              <a:ext cx="9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" panose="02020603050405020304" pitchFamily="18" charset="0"/>
                </a:rPr>
                <a:t>n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191"/>
            <p:cNvSpPr>
              <a:spLocks noChangeArrowheads="1"/>
            </p:cNvSpPr>
            <p:nvPr/>
          </p:nvSpPr>
          <p:spPr bwMode="auto">
            <a:xfrm>
              <a:off x="1892" y="2245"/>
              <a:ext cx="70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latin typeface="Times" panose="02020603050405020304" pitchFamily="18" charset="0"/>
                </a:rPr>
                <a:t>3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46" name="Group 192"/>
            <p:cNvGrpSpPr>
              <a:grpSpLocks/>
            </p:cNvGrpSpPr>
            <p:nvPr/>
          </p:nvGrpSpPr>
          <p:grpSpPr bwMode="auto">
            <a:xfrm>
              <a:off x="1844" y="3142"/>
              <a:ext cx="402" cy="260"/>
              <a:chOff x="2533" y="2337"/>
              <a:chExt cx="402" cy="260"/>
            </a:xfrm>
          </p:grpSpPr>
          <p:sp>
            <p:nvSpPr>
              <p:cNvPr id="125" name="Line 193"/>
              <p:cNvSpPr>
                <a:spLocks noChangeShapeType="1"/>
              </p:cNvSpPr>
              <p:nvPr/>
            </p:nvSpPr>
            <p:spPr bwMode="auto">
              <a:xfrm flipH="1">
                <a:off x="2533" y="2337"/>
                <a:ext cx="402" cy="1"/>
              </a:xfrm>
              <a:prstGeom prst="line">
                <a:avLst/>
              </a:prstGeom>
              <a:noFill/>
              <a:ln w="746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6" name="Line 194"/>
              <p:cNvSpPr>
                <a:spLocks noChangeShapeType="1"/>
              </p:cNvSpPr>
              <p:nvPr/>
            </p:nvSpPr>
            <p:spPr bwMode="auto">
              <a:xfrm>
                <a:off x="2734" y="2337"/>
                <a:ext cx="201" cy="2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7" name="Line 195"/>
              <p:cNvSpPr>
                <a:spLocks noChangeShapeType="1"/>
              </p:cNvSpPr>
              <p:nvPr/>
            </p:nvSpPr>
            <p:spPr bwMode="auto">
              <a:xfrm flipH="1">
                <a:off x="2533" y="2596"/>
                <a:ext cx="402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8" name="Line 196"/>
              <p:cNvSpPr>
                <a:spLocks noChangeShapeType="1"/>
              </p:cNvSpPr>
              <p:nvPr/>
            </p:nvSpPr>
            <p:spPr bwMode="auto">
              <a:xfrm flipV="1">
                <a:off x="2533" y="2337"/>
                <a:ext cx="201" cy="2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7" name="Line 197"/>
            <p:cNvSpPr>
              <a:spLocks noChangeShapeType="1"/>
            </p:cNvSpPr>
            <p:nvPr/>
          </p:nvSpPr>
          <p:spPr bwMode="auto">
            <a:xfrm>
              <a:off x="640" y="3000"/>
              <a:ext cx="1" cy="74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Line 198"/>
            <p:cNvSpPr>
              <a:spLocks noChangeShapeType="1"/>
            </p:cNvSpPr>
            <p:nvPr/>
          </p:nvSpPr>
          <p:spPr bwMode="auto">
            <a:xfrm>
              <a:off x="652" y="3743"/>
              <a:ext cx="140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Line 199"/>
            <p:cNvSpPr>
              <a:spLocks noChangeShapeType="1"/>
            </p:cNvSpPr>
            <p:nvPr/>
          </p:nvSpPr>
          <p:spPr bwMode="auto">
            <a:xfrm>
              <a:off x="2045" y="3401"/>
              <a:ext cx="1" cy="34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Line 200"/>
            <p:cNvSpPr>
              <a:spLocks noChangeShapeType="1"/>
            </p:cNvSpPr>
            <p:nvPr/>
          </p:nvSpPr>
          <p:spPr bwMode="auto">
            <a:xfrm>
              <a:off x="628" y="1939"/>
              <a:ext cx="1429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201"/>
            <p:cNvSpPr>
              <a:spLocks noChangeShapeType="1"/>
            </p:cNvSpPr>
            <p:nvPr/>
          </p:nvSpPr>
          <p:spPr bwMode="auto">
            <a:xfrm>
              <a:off x="2246" y="2068"/>
              <a:ext cx="1" cy="6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52" name="Group 202"/>
            <p:cNvGrpSpPr>
              <a:grpSpLocks/>
            </p:cNvGrpSpPr>
            <p:nvPr/>
          </p:nvGrpSpPr>
          <p:grpSpPr bwMode="auto">
            <a:xfrm>
              <a:off x="3249" y="2269"/>
              <a:ext cx="402" cy="272"/>
              <a:chOff x="3938" y="1464"/>
              <a:chExt cx="402" cy="272"/>
            </a:xfrm>
          </p:grpSpPr>
          <p:sp>
            <p:nvSpPr>
              <p:cNvPr id="121" name="Line 203"/>
              <p:cNvSpPr>
                <a:spLocks noChangeShapeType="1"/>
              </p:cNvSpPr>
              <p:nvPr/>
            </p:nvSpPr>
            <p:spPr bwMode="auto">
              <a:xfrm flipH="1">
                <a:off x="3938" y="1464"/>
                <a:ext cx="402" cy="1"/>
              </a:xfrm>
              <a:prstGeom prst="line">
                <a:avLst/>
              </a:prstGeom>
              <a:noFill/>
              <a:ln w="746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2" name="Line 204"/>
              <p:cNvSpPr>
                <a:spLocks noChangeShapeType="1"/>
              </p:cNvSpPr>
              <p:nvPr/>
            </p:nvSpPr>
            <p:spPr bwMode="auto">
              <a:xfrm>
                <a:off x="4139" y="1464"/>
                <a:ext cx="201" cy="2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3" name="Line 205"/>
              <p:cNvSpPr>
                <a:spLocks noChangeShapeType="1"/>
              </p:cNvSpPr>
              <p:nvPr/>
            </p:nvSpPr>
            <p:spPr bwMode="auto">
              <a:xfrm flipH="1">
                <a:off x="3938" y="1735"/>
                <a:ext cx="402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4" name="Line 206"/>
              <p:cNvSpPr>
                <a:spLocks noChangeShapeType="1"/>
              </p:cNvSpPr>
              <p:nvPr/>
            </p:nvSpPr>
            <p:spPr bwMode="auto">
              <a:xfrm flipV="1">
                <a:off x="3938" y="1464"/>
                <a:ext cx="201" cy="2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53" name="Line 207"/>
            <p:cNvSpPr>
              <a:spLocks noChangeShapeType="1"/>
            </p:cNvSpPr>
            <p:nvPr/>
          </p:nvSpPr>
          <p:spPr bwMode="auto">
            <a:xfrm>
              <a:off x="3450" y="2540"/>
              <a:ext cx="1" cy="33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208"/>
            <p:cNvSpPr>
              <a:spLocks noChangeShapeType="1"/>
            </p:cNvSpPr>
            <p:nvPr/>
          </p:nvSpPr>
          <p:spPr bwMode="auto">
            <a:xfrm>
              <a:off x="3450" y="1939"/>
              <a:ext cx="1" cy="33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Rectangle 209"/>
            <p:cNvSpPr>
              <a:spLocks noChangeArrowheads="1"/>
            </p:cNvSpPr>
            <p:nvPr/>
          </p:nvSpPr>
          <p:spPr bwMode="auto">
            <a:xfrm>
              <a:off x="2518" y="1619"/>
              <a:ext cx="16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100" b="1"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210"/>
            <p:cNvSpPr>
              <a:spLocks noChangeArrowheads="1"/>
            </p:cNvSpPr>
            <p:nvPr/>
          </p:nvSpPr>
          <p:spPr bwMode="auto">
            <a:xfrm>
              <a:off x="2658" y="1715"/>
              <a:ext cx="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500" b="1"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211"/>
            <p:cNvSpPr>
              <a:spLocks noChangeArrowheads="1"/>
            </p:cNvSpPr>
            <p:nvPr/>
          </p:nvSpPr>
          <p:spPr bwMode="auto">
            <a:xfrm>
              <a:off x="3072" y="2517"/>
              <a:ext cx="16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100" b="1"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212"/>
            <p:cNvSpPr>
              <a:spLocks noChangeArrowheads="1"/>
            </p:cNvSpPr>
            <p:nvPr/>
          </p:nvSpPr>
          <p:spPr bwMode="auto">
            <a:xfrm>
              <a:off x="3226" y="2611"/>
              <a:ext cx="81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500" b="1">
                  <a:latin typeface="Times" panose="02020603050405020304" pitchFamily="18" charset="0"/>
                </a:rPr>
                <a:t>2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213"/>
            <p:cNvSpPr>
              <a:spLocks noChangeArrowheads="1"/>
            </p:cNvSpPr>
            <p:nvPr/>
          </p:nvSpPr>
          <p:spPr bwMode="auto">
            <a:xfrm>
              <a:off x="2116" y="3425"/>
              <a:ext cx="16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100" b="1"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214"/>
            <p:cNvSpPr>
              <a:spLocks noChangeArrowheads="1"/>
            </p:cNvSpPr>
            <p:nvPr/>
          </p:nvSpPr>
          <p:spPr bwMode="auto">
            <a:xfrm>
              <a:off x="2293" y="3519"/>
              <a:ext cx="8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500" b="1">
                  <a:latin typeface="Times" panose="02020603050405020304" pitchFamily="18" charset="0"/>
                </a:rPr>
                <a:t>3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1" name="Line 215"/>
            <p:cNvSpPr>
              <a:spLocks noChangeShapeType="1"/>
            </p:cNvSpPr>
            <p:nvPr/>
          </p:nvSpPr>
          <p:spPr bwMode="auto">
            <a:xfrm>
              <a:off x="1574" y="1998"/>
              <a:ext cx="0" cy="1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Line 216"/>
            <p:cNvSpPr>
              <a:spLocks noChangeShapeType="1"/>
            </p:cNvSpPr>
            <p:nvPr/>
          </p:nvSpPr>
          <p:spPr bwMode="auto">
            <a:xfrm flipV="1">
              <a:off x="2043" y="2869"/>
              <a:ext cx="0" cy="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63" name="Group 217"/>
            <p:cNvGrpSpPr>
              <a:grpSpLocks/>
            </p:cNvGrpSpPr>
            <p:nvPr/>
          </p:nvGrpSpPr>
          <p:grpSpPr bwMode="auto">
            <a:xfrm rot="-5400000">
              <a:off x="3975" y="1542"/>
              <a:ext cx="178" cy="779"/>
              <a:chOff x="2179" y="1204"/>
              <a:chExt cx="178" cy="779"/>
            </a:xfrm>
          </p:grpSpPr>
          <p:grpSp>
            <p:nvGrpSpPr>
              <p:cNvPr id="75" name="Group 218"/>
              <p:cNvGrpSpPr>
                <a:grpSpLocks/>
              </p:cNvGrpSpPr>
              <p:nvPr/>
            </p:nvGrpSpPr>
            <p:grpSpPr bwMode="auto">
              <a:xfrm>
                <a:off x="2179" y="1753"/>
                <a:ext cx="178" cy="95"/>
                <a:chOff x="2179" y="1753"/>
                <a:chExt cx="178" cy="95"/>
              </a:xfrm>
            </p:grpSpPr>
            <p:grpSp>
              <p:nvGrpSpPr>
                <p:cNvPr id="115" name="Group 219"/>
                <p:cNvGrpSpPr>
                  <a:grpSpLocks/>
                </p:cNvGrpSpPr>
                <p:nvPr/>
              </p:nvGrpSpPr>
              <p:grpSpPr bwMode="auto">
                <a:xfrm>
                  <a:off x="2179" y="1753"/>
                  <a:ext cx="178" cy="77"/>
                  <a:chOff x="2179" y="1753"/>
                  <a:chExt cx="178" cy="77"/>
                </a:xfrm>
              </p:grpSpPr>
              <p:sp>
                <p:nvSpPr>
                  <p:cNvPr id="119" name="Arc 220"/>
                  <p:cNvSpPr>
                    <a:spLocks/>
                  </p:cNvSpPr>
                  <p:nvPr/>
                </p:nvSpPr>
                <p:spPr bwMode="auto">
                  <a:xfrm>
                    <a:off x="2268" y="175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20" name="Arc 221"/>
                  <p:cNvSpPr>
                    <a:spLocks/>
                  </p:cNvSpPr>
                  <p:nvPr/>
                </p:nvSpPr>
                <p:spPr bwMode="auto">
                  <a:xfrm>
                    <a:off x="2179" y="1800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16" name="Group 222"/>
                <p:cNvGrpSpPr>
                  <a:grpSpLocks/>
                </p:cNvGrpSpPr>
                <p:nvPr/>
              </p:nvGrpSpPr>
              <p:grpSpPr bwMode="auto">
                <a:xfrm>
                  <a:off x="2179" y="1771"/>
                  <a:ext cx="178" cy="77"/>
                  <a:chOff x="2179" y="1771"/>
                  <a:chExt cx="178" cy="77"/>
                </a:xfrm>
              </p:grpSpPr>
              <p:sp>
                <p:nvSpPr>
                  <p:cNvPr id="117" name="Arc 223"/>
                  <p:cNvSpPr>
                    <a:spLocks/>
                  </p:cNvSpPr>
                  <p:nvPr/>
                </p:nvSpPr>
                <p:spPr bwMode="auto">
                  <a:xfrm>
                    <a:off x="2268" y="177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18" name="Arc 224"/>
                  <p:cNvSpPr>
                    <a:spLocks/>
                  </p:cNvSpPr>
                  <p:nvPr/>
                </p:nvSpPr>
                <p:spPr bwMode="auto">
                  <a:xfrm>
                    <a:off x="2179" y="1771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76" name="Group 225"/>
              <p:cNvGrpSpPr>
                <a:grpSpLocks/>
              </p:cNvGrpSpPr>
              <p:nvPr/>
            </p:nvGrpSpPr>
            <p:grpSpPr bwMode="auto">
              <a:xfrm>
                <a:off x="2179" y="1670"/>
                <a:ext cx="178" cy="95"/>
                <a:chOff x="2179" y="1670"/>
                <a:chExt cx="178" cy="95"/>
              </a:xfrm>
            </p:grpSpPr>
            <p:grpSp>
              <p:nvGrpSpPr>
                <p:cNvPr id="109" name="Group 226"/>
                <p:cNvGrpSpPr>
                  <a:grpSpLocks/>
                </p:cNvGrpSpPr>
                <p:nvPr/>
              </p:nvGrpSpPr>
              <p:grpSpPr bwMode="auto">
                <a:xfrm>
                  <a:off x="2179" y="1670"/>
                  <a:ext cx="178" cy="78"/>
                  <a:chOff x="2179" y="1670"/>
                  <a:chExt cx="178" cy="78"/>
                </a:xfrm>
              </p:grpSpPr>
              <p:sp>
                <p:nvSpPr>
                  <p:cNvPr id="113" name="Arc 227"/>
                  <p:cNvSpPr>
                    <a:spLocks/>
                  </p:cNvSpPr>
                  <p:nvPr/>
                </p:nvSpPr>
                <p:spPr bwMode="auto">
                  <a:xfrm>
                    <a:off x="2268" y="167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14" name="Arc 228"/>
                  <p:cNvSpPr>
                    <a:spLocks/>
                  </p:cNvSpPr>
                  <p:nvPr/>
                </p:nvSpPr>
                <p:spPr bwMode="auto">
                  <a:xfrm>
                    <a:off x="2179" y="1718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10" name="Group 229"/>
                <p:cNvGrpSpPr>
                  <a:grpSpLocks/>
                </p:cNvGrpSpPr>
                <p:nvPr/>
              </p:nvGrpSpPr>
              <p:grpSpPr bwMode="auto">
                <a:xfrm>
                  <a:off x="2179" y="1688"/>
                  <a:ext cx="178" cy="77"/>
                  <a:chOff x="2179" y="1688"/>
                  <a:chExt cx="178" cy="77"/>
                </a:xfrm>
              </p:grpSpPr>
              <p:sp>
                <p:nvSpPr>
                  <p:cNvPr id="111" name="Arc 230"/>
                  <p:cNvSpPr>
                    <a:spLocks/>
                  </p:cNvSpPr>
                  <p:nvPr/>
                </p:nvSpPr>
                <p:spPr bwMode="auto">
                  <a:xfrm>
                    <a:off x="2268" y="168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12" name="Arc 231"/>
                  <p:cNvSpPr>
                    <a:spLocks/>
                  </p:cNvSpPr>
                  <p:nvPr/>
                </p:nvSpPr>
                <p:spPr bwMode="auto">
                  <a:xfrm>
                    <a:off x="2179" y="1688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</a:path>
                      <a:path w="21600" h="21600" stroke="0" extrusionOk="0">
                        <a:moveTo>
                          <a:pt x="0" y="21554"/>
                        </a:moveTo>
                        <a:cubicBezTo>
                          <a:pt x="25" y="9680"/>
                          <a:pt x="9630" y="52"/>
                          <a:pt x="21504" y="0"/>
                        </a:cubicBezTo>
                        <a:lnTo>
                          <a:pt x="21600" y="21600"/>
                        </a:lnTo>
                        <a:lnTo>
                          <a:pt x="0" y="2155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77" name="Group 232"/>
              <p:cNvGrpSpPr>
                <a:grpSpLocks/>
              </p:cNvGrpSpPr>
              <p:nvPr/>
            </p:nvGrpSpPr>
            <p:grpSpPr bwMode="auto">
              <a:xfrm>
                <a:off x="2179" y="1588"/>
                <a:ext cx="178" cy="95"/>
                <a:chOff x="2179" y="1588"/>
                <a:chExt cx="178" cy="95"/>
              </a:xfrm>
            </p:grpSpPr>
            <p:grpSp>
              <p:nvGrpSpPr>
                <p:cNvPr id="103" name="Group 233"/>
                <p:cNvGrpSpPr>
                  <a:grpSpLocks/>
                </p:cNvGrpSpPr>
                <p:nvPr/>
              </p:nvGrpSpPr>
              <p:grpSpPr bwMode="auto">
                <a:xfrm>
                  <a:off x="2179" y="1588"/>
                  <a:ext cx="178" cy="77"/>
                  <a:chOff x="2179" y="1588"/>
                  <a:chExt cx="178" cy="77"/>
                </a:xfrm>
              </p:grpSpPr>
              <p:sp>
                <p:nvSpPr>
                  <p:cNvPr id="107" name="Arc 234"/>
                  <p:cNvSpPr>
                    <a:spLocks/>
                  </p:cNvSpPr>
                  <p:nvPr/>
                </p:nvSpPr>
                <p:spPr bwMode="auto">
                  <a:xfrm>
                    <a:off x="2268" y="1588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8" name="Arc 235"/>
                  <p:cNvSpPr>
                    <a:spLocks/>
                  </p:cNvSpPr>
                  <p:nvPr/>
                </p:nvSpPr>
                <p:spPr bwMode="auto">
                  <a:xfrm>
                    <a:off x="2179" y="1635"/>
                    <a:ext cx="89" cy="29"/>
                  </a:xfrm>
                  <a:custGeom>
                    <a:avLst/>
                    <a:gdLst>
                      <a:gd name="T0" fmla="*/ 0 w 21600"/>
                      <a:gd name="T1" fmla="*/ 0 h 21937"/>
                      <a:gd name="T2" fmla="*/ 0 w 21600"/>
                      <a:gd name="T3" fmla="*/ 0 h 21937"/>
                      <a:gd name="T4" fmla="*/ 0 w 21600"/>
                      <a:gd name="T5" fmla="*/ 0 h 219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7" fill="none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</a:path>
                      <a:path w="21600" h="21937" stroke="0" extrusionOk="0">
                        <a:moveTo>
                          <a:pt x="21509" y="21936"/>
                        </a:moveTo>
                        <a:cubicBezTo>
                          <a:pt x="9615" y="21886"/>
                          <a:pt x="0" y="12230"/>
                          <a:pt x="0" y="337"/>
                        </a:cubicBezTo>
                        <a:cubicBezTo>
                          <a:pt x="-1" y="224"/>
                          <a:pt x="0" y="112"/>
                          <a:pt x="2" y="-1"/>
                        </a:cubicBezTo>
                        <a:lnTo>
                          <a:pt x="21600" y="337"/>
                        </a:lnTo>
                        <a:lnTo>
                          <a:pt x="21509" y="2193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04" name="Group 236"/>
                <p:cNvGrpSpPr>
                  <a:grpSpLocks/>
                </p:cNvGrpSpPr>
                <p:nvPr/>
              </p:nvGrpSpPr>
              <p:grpSpPr bwMode="auto">
                <a:xfrm>
                  <a:off x="2179" y="1606"/>
                  <a:ext cx="178" cy="77"/>
                  <a:chOff x="2179" y="1606"/>
                  <a:chExt cx="178" cy="77"/>
                </a:xfrm>
              </p:grpSpPr>
              <p:sp>
                <p:nvSpPr>
                  <p:cNvPr id="105" name="Arc 237"/>
                  <p:cNvSpPr>
                    <a:spLocks/>
                  </p:cNvSpPr>
                  <p:nvPr/>
                </p:nvSpPr>
                <p:spPr bwMode="auto">
                  <a:xfrm>
                    <a:off x="2268" y="1606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6" name="Arc 238"/>
                  <p:cNvSpPr>
                    <a:spLocks/>
                  </p:cNvSpPr>
                  <p:nvPr/>
                </p:nvSpPr>
                <p:spPr bwMode="auto">
                  <a:xfrm>
                    <a:off x="2179" y="1606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07"/>
                          <a:pt x="9613" y="51"/>
                          <a:pt x="21506" y="0"/>
                        </a:cubicBez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78" name="Group 239"/>
              <p:cNvGrpSpPr>
                <a:grpSpLocks/>
              </p:cNvGrpSpPr>
              <p:nvPr/>
            </p:nvGrpSpPr>
            <p:grpSpPr bwMode="auto">
              <a:xfrm>
                <a:off x="2179" y="1505"/>
                <a:ext cx="178" cy="95"/>
                <a:chOff x="2179" y="1505"/>
                <a:chExt cx="178" cy="95"/>
              </a:xfrm>
            </p:grpSpPr>
            <p:grpSp>
              <p:nvGrpSpPr>
                <p:cNvPr id="97" name="Group 240"/>
                <p:cNvGrpSpPr>
                  <a:grpSpLocks/>
                </p:cNvGrpSpPr>
                <p:nvPr/>
              </p:nvGrpSpPr>
              <p:grpSpPr bwMode="auto">
                <a:xfrm>
                  <a:off x="2179" y="1505"/>
                  <a:ext cx="178" cy="78"/>
                  <a:chOff x="2179" y="1505"/>
                  <a:chExt cx="178" cy="78"/>
                </a:xfrm>
              </p:grpSpPr>
              <p:sp>
                <p:nvSpPr>
                  <p:cNvPr id="101" name="Arc 241"/>
                  <p:cNvSpPr>
                    <a:spLocks/>
                  </p:cNvSpPr>
                  <p:nvPr/>
                </p:nvSpPr>
                <p:spPr bwMode="auto">
                  <a:xfrm>
                    <a:off x="2268" y="1505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" name="Arc 242"/>
                  <p:cNvSpPr>
                    <a:spLocks/>
                  </p:cNvSpPr>
                  <p:nvPr/>
                </p:nvSpPr>
                <p:spPr bwMode="auto">
                  <a:xfrm>
                    <a:off x="2179" y="1553"/>
                    <a:ext cx="89" cy="30"/>
                  </a:xfrm>
                  <a:custGeom>
                    <a:avLst/>
                    <a:gdLst>
                      <a:gd name="T0" fmla="*/ 0 w 21600"/>
                      <a:gd name="T1" fmla="*/ 0 h 21931"/>
                      <a:gd name="T2" fmla="*/ 0 w 21600"/>
                      <a:gd name="T3" fmla="*/ 0 h 21931"/>
                      <a:gd name="T4" fmla="*/ 0 w 21600"/>
                      <a:gd name="T5" fmla="*/ 0 h 2193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931" fill="none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</a:path>
                      <a:path w="21600" h="21931" stroke="0" extrusionOk="0">
                        <a:moveTo>
                          <a:pt x="21507" y="21930"/>
                        </a:moveTo>
                        <a:cubicBezTo>
                          <a:pt x="9614" y="21879"/>
                          <a:pt x="0" y="12224"/>
                          <a:pt x="0" y="331"/>
                        </a:cubicBezTo>
                        <a:cubicBezTo>
                          <a:pt x="-1" y="220"/>
                          <a:pt x="0" y="110"/>
                          <a:pt x="2" y="-1"/>
                        </a:cubicBezTo>
                        <a:lnTo>
                          <a:pt x="21600" y="331"/>
                        </a:lnTo>
                        <a:lnTo>
                          <a:pt x="21507" y="2193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98" name="Group 243"/>
                <p:cNvGrpSpPr>
                  <a:grpSpLocks/>
                </p:cNvGrpSpPr>
                <p:nvPr/>
              </p:nvGrpSpPr>
              <p:grpSpPr bwMode="auto">
                <a:xfrm>
                  <a:off x="2180" y="1523"/>
                  <a:ext cx="177" cy="77"/>
                  <a:chOff x="2180" y="1523"/>
                  <a:chExt cx="177" cy="77"/>
                </a:xfrm>
              </p:grpSpPr>
              <p:sp>
                <p:nvSpPr>
                  <p:cNvPr id="99" name="Arc 244"/>
                  <p:cNvSpPr>
                    <a:spLocks/>
                  </p:cNvSpPr>
                  <p:nvPr/>
                </p:nvSpPr>
                <p:spPr bwMode="auto">
                  <a:xfrm>
                    <a:off x="2268" y="1523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0" name="Arc 245"/>
                  <p:cNvSpPr>
                    <a:spLocks/>
                  </p:cNvSpPr>
                  <p:nvPr/>
                </p:nvSpPr>
                <p:spPr bwMode="auto">
                  <a:xfrm>
                    <a:off x="2180" y="1523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-1" y="21268"/>
                        </a:moveTo>
                        <a:cubicBezTo>
                          <a:pt x="179" y="9505"/>
                          <a:pt x="9741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-1" y="21268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79" name="Group 246"/>
              <p:cNvGrpSpPr>
                <a:grpSpLocks/>
              </p:cNvGrpSpPr>
              <p:nvPr/>
            </p:nvGrpSpPr>
            <p:grpSpPr bwMode="auto">
              <a:xfrm>
                <a:off x="2179" y="1423"/>
                <a:ext cx="178" cy="95"/>
                <a:chOff x="2179" y="1423"/>
                <a:chExt cx="178" cy="95"/>
              </a:xfrm>
            </p:grpSpPr>
            <p:grpSp>
              <p:nvGrpSpPr>
                <p:cNvPr id="91" name="Group 247"/>
                <p:cNvGrpSpPr>
                  <a:grpSpLocks/>
                </p:cNvGrpSpPr>
                <p:nvPr/>
              </p:nvGrpSpPr>
              <p:grpSpPr bwMode="auto">
                <a:xfrm>
                  <a:off x="2179" y="1423"/>
                  <a:ext cx="178" cy="77"/>
                  <a:chOff x="2179" y="1423"/>
                  <a:chExt cx="178" cy="77"/>
                </a:xfrm>
              </p:grpSpPr>
              <p:sp>
                <p:nvSpPr>
                  <p:cNvPr id="95" name="Arc 248"/>
                  <p:cNvSpPr>
                    <a:spLocks/>
                  </p:cNvSpPr>
                  <p:nvPr/>
                </p:nvSpPr>
                <p:spPr bwMode="auto">
                  <a:xfrm>
                    <a:off x="2268" y="1423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29"/>
                      <a:gd name="T2" fmla="*/ 0 w 21710"/>
                      <a:gd name="T3" fmla="*/ 0 h 21729"/>
                      <a:gd name="T4" fmla="*/ 0 w 21710"/>
                      <a:gd name="T5" fmla="*/ 0 h 217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29" fill="none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</a:path>
                      <a:path w="21710" h="21729" stroke="0" extrusionOk="0">
                        <a:moveTo>
                          <a:pt x="21709" y="0"/>
                        </a:moveTo>
                        <a:cubicBezTo>
                          <a:pt x="21709" y="43"/>
                          <a:pt x="21710" y="86"/>
                          <a:pt x="21710" y="129"/>
                        </a:cubicBezTo>
                        <a:cubicBezTo>
                          <a:pt x="21710" y="12058"/>
                          <a:pt x="12039" y="21729"/>
                          <a:pt x="110" y="21729"/>
                        </a:cubicBezTo>
                        <a:cubicBezTo>
                          <a:pt x="73" y="21729"/>
                          <a:pt x="36" y="21728"/>
                          <a:pt x="0" y="21728"/>
                        </a:cubicBezTo>
                        <a:lnTo>
                          <a:pt x="110" y="129"/>
                        </a:lnTo>
                        <a:lnTo>
                          <a:pt x="21709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6" name="Arc 249"/>
                  <p:cNvSpPr>
                    <a:spLocks/>
                  </p:cNvSpPr>
                  <p:nvPr/>
                </p:nvSpPr>
                <p:spPr bwMode="auto">
                  <a:xfrm>
                    <a:off x="2179" y="1464"/>
                    <a:ext cx="89" cy="3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</a:path>
                      <a:path w="21600" h="21600" stroke="0" extrusionOk="0">
                        <a:moveTo>
                          <a:pt x="21506" y="21599"/>
                        </a:moveTo>
                        <a:cubicBezTo>
                          <a:pt x="9613" y="21548"/>
                          <a:pt x="0" y="11892"/>
                          <a:pt x="0" y="0"/>
                        </a:cubicBezTo>
                        <a:lnTo>
                          <a:pt x="21600" y="0"/>
                        </a:lnTo>
                        <a:lnTo>
                          <a:pt x="21506" y="21599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92" name="Group 250"/>
                <p:cNvGrpSpPr>
                  <a:grpSpLocks/>
                </p:cNvGrpSpPr>
                <p:nvPr/>
              </p:nvGrpSpPr>
              <p:grpSpPr bwMode="auto">
                <a:xfrm>
                  <a:off x="2180" y="1441"/>
                  <a:ext cx="177" cy="77"/>
                  <a:chOff x="2180" y="1441"/>
                  <a:chExt cx="177" cy="77"/>
                </a:xfrm>
              </p:grpSpPr>
              <p:sp>
                <p:nvSpPr>
                  <p:cNvPr id="93" name="Arc 251"/>
                  <p:cNvSpPr>
                    <a:spLocks/>
                  </p:cNvSpPr>
                  <p:nvPr/>
                </p:nvSpPr>
                <p:spPr bwMode="auto">
                  <a:xfrm>
                    <a:off x="2268" y="1441"/>
                    <a:ext cx="89" cy="77"/>
                  </a:xfrm>
                  <a:custGeom>
                    <a:avLst/>
                    <a:gdLst>
                      <a:gd name="T0" fmla="*/ 0 w 21706"/>
                      <a:gd name="T1" fmla="*/ 0 h 21600"/>
                      <a:gd name="T2" fmla="*/ 0 w 21706"/>
                      <a:gd name="T3" fmla="*/ 0 h 21600"/>
                      <a:gd name="T4" fmla="*/ 0 w 21706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6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</a:path>
                      <a:path w="21706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77" y="0"/>
                          <a:pt x="21624" y="9579"/>
                          <a:pt x="21706" y="21449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4" name="Arc 252"/>
                  <p:cNvSpPr>
                    <a:spLocks/>
                  </p:cNvSpPr>
                  <p:nvPr/>
                </p:nvSpPr>
                <p:spPr bwMode="auto">
                  <a:xfrm>
                    <a:off x="2180" y="1441"/>
                    <a:ext cx="88" cy="29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</a:path>
                      <a:path w="21597" h="21600" stroke="0" extrusionOk="0">
                        <a:moveTo>
                          <a:pt x="-1" y="21262"/>
                        </a:moveTo>
                        <a:cubicBezTo>
                          <a:pt x="183" y="9501"/>
                          <a:pt x="9744" y="48"/>
                          <a:pt x="21508" y="0"/>
                        </a:cubicBezTo>
                        <a:lnTo>
                          <a:pt x="21597" y="21600"/>
                        </a:lnTo>
                        <a:lnTo>
                          <a:pt x="-1" y="21262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80" name="Group 253"/>
              <p:cNvGrpSpPr>
                <a:grpSpLocks/>
              </p:cNvGrpSpPr>
              <p:nvPr/>
            </p:nvGrpSpPr>
            <p:grpSpPr bwMode="auto">
              <a:xfrm>
                <a:off x="2179" y="1340"/>
                <a:ext cx="178" cy="95"/>
                <a:chOff x="2179" y="1340"/>
                <a:chExt cx="178" cy="95"/>
              </a:xfrm>
            </p:grpSpPr>
            <p:grpSp>
              <p:nvGrpSpPr>
                <p:cNvPr id="85" name="Group 254"/>
                <p:cNvGrpSpPr>
                  <a:grpSpLocks/>
                </p:cNvGrpSpPr>
                <p:nvPr/>
              </p:nvGrpSpPr>
              <p:grpSpPr bwMode="auto">
                <a:xfrm>
                  <a:off x="2179" y="1340"/>
                  <a:ext cx="178" cy="78"/>
                  <a:chOff x="2179" y="1340"/>
                  <a:chExt cx="178" cy="78"/>
                </a:xfrm>
              </p:grpSpPr>
              <p:sp>
                <p:nvSpPr>
                  <p:cNvPr id="89" name="Arc 255"/>
                  <p:cNvSpPr>
                    <a:spLocks/>
                  </p:cNvSpPr>
                  <p:nvPr/>
                </p:nvSpPr>
                <p:spPr bwMode="auto">
                  <a:xfrm>
                    <a:off x="2268" y="1340"/>
                    <a:ext cx="89" cy="77"/>
                  </a:xfrm>
                  <a:custGeom>
                    <a:avLst/>
                    <a:gdLst>
                      <a:gd name="T0" fmla="*/ 0 w 21710"/>
                      <a:gd name="T1" fmla="*/ 0 h 21750"/>
                      <a:gd name="T2" fmla="*/ 0 w 21710"/>
                      <a:gd name="T3" fmla="*/ 0 h 21750"/>
                      <a:gd name="T4" fmla="*/ 0 w 21710"/>
                      <a:gd name="T5" fmla="*/ 0 h 217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10" h="21750" fill="none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</a:path>
                      <a:path w="21710" h="21750" stroke="0" extrusionOk="0">
                        <a:moveTo>
                          <a:pt x="21709" y="-1"/>
                        </a:moveTo>
                        <a:cubicBezTo>
                          <a:pt x="21709" y="49"/>
                          <a:pt x="21710" y="99"/>
                          <a:pt x="21710" y="150"/>
                        </a:cubicBezTo>
                        <a:cubicBezTo>
                          <a:pt x="21710" y="12079"/>
                          <a:pt x="12039" y="21750"/>
                          <a:pt x="110" y="21750"/>
                        </a:cubicBezTo>
                        <a:cubicBezTo>
                          <a:pt x="73" y="21750"/>
                          <a:pt x="36" y="21749"/>
                          <a:pt x="0" y="21749"/>
                        </a:cubicBezTo>
                        <a:lnTo>
                          <a:pt x="110" y="150"/>
                        </a:lnTo>
                        <a:lnTo>
                          <a:pt x="21709" y="-1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0" name="Arc 256"/>
                  <p:cNvSpPr>
                    <a:spLocks/>
                  </p:cNvSpPr>
                  <p:nvPr/>
                </p:nvSpPr>
                <p:spPr bwMode="auto">
                  <a:xfrm>
                    <a:off x="2179" y="1382"/>
                    <a:ext cx="89" cy="36"/>
                  </a:xfrm>
                  <a:custGeom>
                    <a:avLst/>
                    <a:gdLst>
                      <a:gd name="T0" fmla="*/ 0 w 21600"/>
                      <a:gd name="T1" fmla="*/ 0 h 21646"/>
                      <a:gd name="T2" fmla="*/ 0 w 21600"/>
                      <a:gd name="T3" fmla="*/ 0 h 21646"/>
                      <a:gd name="T4" fmla="*/ 0 w 21600"/>
                      <a:gd name="T5" fmla="*/ 0 h 2164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46" fill="none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</a:path>
                      <a:path w="21600" h="21646" stroke="0" extrusionOk="0">
                        <a:moveTo>
                          <a:pt x="21504" y="21645"/>
                        </a:moveTo>
                        <a:cubicBezTo>
                          <a:pt x="9612" y="21592"/>
                          <a:pt x="0" y="11937"/>
                          <a:pt x="0" y="46"/>
                        </a:cubicBezTo>
                        <a:cubicBezTo>
                          <a:pt x="-1" y="30"/>
                          <a:pt x="0" y="15"/>
                          <a:pt x="0" y="0"/>
                        </a:cubicBezTo>
                        <a:lnTo>
                          <a:pt x="21600" y="46"/>
                        </a:lnTo>
                        <a:lnTo>
                          <a:pt x="21504" y="21645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86" name="Group 257"/>
                <p:cNvGrpSpPr>
                  <a:grpSpLocks/>
                </p:cNvGrpSpPr>
                <p:nvPr/>
              </p:nvGrpSpPr>
              <p:grpSpPr bwMode="auto">
                <a:xfrm>
                  <a:off x="2180" y="1358"/>
                  <a:ext cx="177" cy="77"/>
                  <a:chOff x="2180" y="1358"/>
                  <a:chExt cx="177" cy="77"/>
                </a:xfrm>
              </p:grpSpPr>
              <p:sp>
                <p:nvSpPr>
                  <p:cNvPr id="87" name="Arc 258"/>
                  <p:cNvSpPr>
                    <a:spLocks/>
                  </p:cNvSpPr>
                  <p:nvPr/>
                </p:nvSpPr>
                <p:spPr bwMode="auto">
                  <a:xfrm>
                    <a:off x="2268" y="1358"/>
                    <a:ext cx="89" cy="77"/>
                  </a:xfrm>
                  <a:custGeom>
                    <a:avLst/>
                    <a:gdLst>
                      <a:gd name="T0" fmla="*/ 0 w 21707"/>
                      <a:gd name="T1" fmla="*/ 0 h 21600"/>
                      <a:gd name="T2" fmla="*/ 0 w 21707"/>
                      <a:gd name="T3" fmla="*/ 0 h 21600"/>
                      <a:gd name="T4" fmla="*/ 0 w 217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707" h="21600" fill="none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</a:path>
                      <a:path w="21707" h="21600" stroke="0" extrusionOk="0">
                        <a:moveTo>
                          <a:pt x="0" y="0"/>
                        </a:moveTo>
                        <a:cubicBezTo>
                          <a:pt x="35" y="0"/>
                          <a:pt x="71" y="-1"/>
                          <a:pt x="107" y="0"/>
                        </a:cubicBezTo>
                        <a:cubicBezTo>
                          <a:pt x="11986" y="0"/>
                          <a:pt x="21635" y="9592"/>
                          <a:pt x="21706" y="21471"/>
                        </a:cubicBezTo>
                        <a:lnTo>
                          <a:pt x="107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88" name="Arc 259"/>
                  <p:cNvSpPr>
                    <a:spLocks/>
                  </p:cNvSpPr>
                  <p:nvPr/>
                </p:nvSpPr>
                <p:spPr bwMode="auto">
                  <a:xfrm>
                    <a:off x="2180" y="1358"/>
                    <a:ext cx="88" cy="30"/>
                  </a:xfrm>
                  <a:custGeom>
                    <a:avLst/>
                    <a:gdLst>
                      <a:gd name="T0" fmla="*/ 0 w 21597"/>
                      <a:gd name="T1" fmla="*/ 0 h 21600"/>
                      <a:gd name="T2" fmla="*/ 0 w 21597"/>
                      <a:gd name="T3" fmla="*/ 0 h 21600"/>
                      <a:gd name="T4" fmla="*/ 0 w 2159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597" h="21600" fill="none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</a:path>
                      <a:path w="21597" h="21600" stroke="0" extrusionOk="0">
                        <a:moveTo>
                          <a:pt x="0" y="21214"/>
                        </a:moveTo>
                        <a:cubicBezTo>
                          <a:pt x="210" y="9472"/>
                          <a:pt x="9763" y="49"/>
                          <a:pt x="21507" y="0"/>
                        </a:cubicBezTo>
                        <a:lnTo>
                          <a:pt x="21597" y="21600"/>
                        </a:lnTo>
                        <a:lnTo>
                          <a:pt x="0" y="21214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81" name="Arc 260"/>
              <p:cNvSpPr>
                <a:spLocks/>
              </p:cNvSpPr>
              <p:nvPr/>
            </p:nvSpPr>
            <p:spPr bwMode="auto">
              <a:xfrm>
                <a:off x="2268" y="1275"/>
                <a:ext cx="89" cy="77"/>
              </a:xfrm>
              <a:custGeom>
                <a:avLst/>
                <a:gdLst>
                  <a:gd name="T0" fmla="*/ 0 w 21707"/>
                  <a:gd name="T1" fmla="*/ 0 h 21600"/>
                  <a:gd name="T2" fmla="*/ 0 w 21707"/>
                  <a:gd name="T3" fmla="*/ 0 h 21600"/>
                  <a:gd name="T4" fmla="*/ 0 w 2170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07" h="21600" fill="none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</a:path>
                  <a:path w="21707" h="21600" stroke="0" extrusionOk="0">
                    <a:moveTo>
                      <a:pt x="0" y="0"/>
                    </a:moveTo>
                    <a:cubicBezTo>
                      <a:pt x="35" y="0"/>
                      <a:pt x="71" y="-1"/>
                      <a:pt x="107" y="0"/>
                    </a:cubicBezTo>
                    <a:cubicBezTo>
                      <a:pt x="11986" y="0"/>
                      <a:pt x="21635" y="9592"/>
                      <a:pt x="21706" y="21471"/>
                    </a:cubicBezTo>
                    <a:lnTo>
                      <a:pt x="107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2" name="Arc 261"/>
              <p:cNvSpPr>
                <a:spLocks/>
              </p:cNvSpPr>
              <p:nvPr/>
            </p:nvSpPr>
            <p:spPr bwMode="auto">
              <a:xfrm>
                <a:off x="2268" y="1847"/>
                <a:ext cx="89" cy="77"/>
              </a:xfrm>
              <a:custGeom>
                <a:avLst/>
                <a:gdLst>
                  <a:gd name="T0" fmla="*/ 0 w 21710"/>
                  <a:gd name="T1" fmla="*/ 0 h 21750"/>
                  <a:gd name="T2" fmla="*/ 0 w 21710"/>
                  <a:gd name="T3" fmla="*/ 0 h 21750"/>
                  <a:gd name="T4" fmla="*/ 0 w 21710"/>
                  <a:gd name="T5" fmla="*/ 0 h 217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10" h="21750" fill="none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</a:path>
                  <a:path w="21710" h="21750" stroke="0" extrusionOk="0">
                    <a:moveTo>
                      <a:pt x="21709" y="-1"/>
                    </a:moveTo>
                    <a:cubicBezTo>
                      <a:pt x="21709" y="49"/>
                      <a:pt x="21710" y="99"/>
                      <a:pt x="21710" y="150"/>
                    </a:cubicBezTo>
                    <a:cubicBezTo>
                      <a:pt x="21710" y="12079"/>
                      <a:pt x="12039" y="21750"/>
                      <a:pt x="110" y="21750"/>
                    </a:cubicBezTo>
                    <a:cubicBezTo>
                      <a:pt x="73" y="21750"/>
                      <a:pt x="36" y="21749"/>
                      <a:pt x="0" y="21749"/>
                    </a:cubicBezTo>
                    <a:lnTo>
                      <a:pt x="110" y="150"/>
                    </a:lnTo>
                    <a:lnTo>
                      <a:pt x="21709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3" name="Line 262"/>
              <p:cNvSpPr>
                <a:spLocks noChangeShapeType="1"/>
              </p:cNvSpPr>
              <p:nvPr/>
            </p:nvSpPr>
            <p:spPr bwMode="auto">
              <a:xfrm flipV="1">
                <a:off x="2262" y="1204"/>
                <a:ext cx="1" cy="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4" name="Line 263"/>
              <p:cNvSpPr>
                <a:spLocks noChangeShapeType="1"/>
              </p:cNvSpPr>
              <p:nvPr/>
            </p:nvSpPr>
            <p:spPr bwMode="auto">
              <a:xfrm flipV="1">
                <a:off x="2262" y="1924"/>
                <a:ext cx="1" cy="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64" name="Line 264"/>
            <p:cNvSpPr>
              <a:spLocks noChangeShapeType="1"/>
            </p:cNvSpPr>
            <p:nvPr/>
          </p:nvSpPr>
          <p:spPr bwMode="auto">
            <a:xfrm>
              <a:off x="4399" y="1934"/>
              <a:ext cx="232" cy="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Line 265"/>
            <p:cNvSpPr>
              <a:spLocks noChangeShapeType="1"/>
            </p:cNvSpPr>
            <p:nvPr/>
          </p:nvSpPr>
          <p:spPr bwMode="auto">
            <a:xfrm flipV="1">
              <a:off x="2644" y="1940"/>
              <a:ext cx="23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Line 266"/>
            <p:cNvSpPr>
              <a:spLocks noChangeShapeType="1"/>
            </p:cNvSpPr>
            <p:nvPr/>
          </p:nvSpPr>
          <p:spPr bwMode="auto">
            <a:xfrm flipV="1">
              <a:off x="3413" y="1941"/>
              <a:ext cx="23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Text Box 267"/>
            <p:cNvSpPr txBox="1">
              <a:spLocks noChangeArrowheads="1"/>
            </p:cNvSpPr>
            <p:nvPr/>
          </p:nvSpPr>
          <p:spPr bwMode="auto">
            <a:xfrm>
              <a:off x="1335" y="1960"/>
              <a:ext cx="284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8" name="Text Box 268"/>
            <p:cNvSpPr txBox="1">
              <a:spLocks noChangeArrowheads="1"/>
            </p:cNvSpPr>
            <p:nvPr/>
          </p:nvSpPr>
          <p:spPr bwMode="auto">
            <a:xfrm>
              <a:off x="2110" y="2801"/>
              <a:ext cx="284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9" name="Text Box 269"/>
            <p:cNvSpPr txBox="1">
              <a:spLocks noChangeArrowheads="1"/>
            </p:cNvSpPr>
            <p:nvPr/>
          </p:nvSpPr>
          <p:spPr bwMode="auto">
            <a:xfrm>
              <a:off x="2759" y="1590"/>
              <a:ext cx="284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0" name="Text Box 270"/>
            <p:cNvSpPr txBox="1">
              <a:spLocks noChangeArrowheads="1"/>
            </p:cNvSpPr>
            <p:nvPr/>
          </p:nvSpPr>
          <p:spPr bwMode="auto">
            <a:xfrm>
              <a:off x="3522" y="1597"/>
              <a:ext cx="307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i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71" name="Group 271"/>
            <p:cNvGrpSpPr>
              <a:grpSpLocks/>
            </p:cNvGrpSpPr>
            <p:nvPr/>
          </p:nvGrpSpPr>
          <p:grpSpPr bwMode="auto">
            <a:xfrm>
              <a:off x="2736" y="2023"/>
              <a:ext cx="82" cy="802"/>
              <a:chOff x="4576" y="1193"/>
              <a:chExt cx="82" cy="802"/>
            </a:xfrm>
          </p:grpSpPr>
          <p:sp>
            <p:nvSpPr>
              <p:cNvPr id="73" name="Freeform 272"/>
              <p:cNvSpPr>
                <a:spLocks/>
              </p:cNvSpPr>
              <p:nvPr/>
            </p:nvSpPr>
            <p:spPr bwMode="auto">
              <a:xfrm>
                <a:off x="4576" y="1193"/>
                <a:ext cx="82" cy="165"/>
              </a:xfrm>
              <a:custGeom>
                <a:avLst/>
                <a:gdLst>
                  <a:gd name="T0" fmla="*/ 47 w 82"/>
                  <a:gd name="T1" fmla="*/ 0 h 165"/>
                  <a:gd name="T2" fmla="*/ 82 w 82"/>
                  <a:gd name="T3" fmla="*/ 165 h 165"/>
                  <a:gd name="T4" fmla="*/ 47 w 82"/>
                  <a:gd name="T5" fmla="*/ 165 h 165"/>
                  <a:gd name="T6" fmla="*/ 0 w 82"/>
                  <a:gd name="T7" fmla="*/ 165 h 165"/>
                  <a:gd name="T8" fmla="*/ 47 w 82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165">
                    <a:moveTo>
                      <a:pt x="47" y="0"/>
                    </a:moveTo>
                    <a:lnTo>
                      <a:pt x="82" y="165"/>
                    </a:lnTo>
                    <a:lnTo>
                      <a:pt x="47" y="165"/>
                    </a:lnTo>
                    <a:lnTo>
                      <a:pt x="0" y="165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4" name="Line 273"/>
              <p:cNvSpPr>
                <a:spLocks noChangeShapeType="1"/>
              </p:cNvSpPr>
              <p:nvPr/>
            </p:nvSpPr>
            <p:spPr bwMode="auto">
              <a:xfrm>
                <a:off x="4623" y="1358"/>
                <a:ext cx="1" cy="63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72" name="Text Box 274"/>
            <p:cNvSpPr txBox="1">
              <a:spLocks noChangeArrowheads="1"/>
            </p:cNvSpPr>
            <p:nvPr/>
          </p:nvSpPr>
          <p:spPr bwMode="auto">
            <a:xfrm>
              <a:off x="2803" y="2289"/>
              <a:ext cx="332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>
                  <a:latin typeface="Times New Roman" panose="02020603050405020304" pitchFamily="18" charset="0"/>
                </a:rPr>
                <a:t>v</a:t>
              </a:r>
              <a:r>
                <a:rPr lang="fr-FR" altLang="fr-FR" sz="20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81" name="Group 339"/>
          <p:cNvGrpSpPr>
            <a:grpSpLocks/>
          </p:cNvGrpSpPr>
          <p:nvPr/>
        </p:nvGrpSpPr>
        <p:grpSpPr bwMode="auto">
          <a:xfrm>
            <a:off x="6866442" y="1255306"/>
            <a:ext cx="1381125" cy="854075"/>
            <a:chOff x="2400" y="858"/>
            <a:chExt cx="870" cy="538"/>
          </a:xfrm>
        </p:grpSpPr>
        <p:sp>
          <p:nvSpPr>
            <p:cNvPr id="282" name="Oval 275"/>
            <p:cNvSpPr>
              <a:spLocks noChangeArrowheads="1"/>
            </p:cNvSpPr>
            <p:nvPr/>
          </p:nvSpPr>
          <p:spPr bwMode="auto">
            <a:xfrm>
              <a:off x="2400" y="858"/>
              <a:ext cx="870" cy="52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83" name="Text Box 338"/>
            <p:cNvSpPr txBox="1">
              <a:spLocks noChangeArrowheads="1"/>
            </p:cNvSpPr>
            <p:nvPr/>
          </p:nvSpPr>
          <p:spPr bwMode="auto">
            <a:xfrm>
              <a:off x="2713" y="1165"/>
              <a:ext cx="36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L</a:t>
              </a:r>
              <a:endParaRPr lang="fr-FR" altLang="fr-FR" sz="1800" b="1" baseline="-250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4" name="Group 356"/>
          <p:cNvGrpSpPr>
            <a:grpSpLocks/>
          </p:cNvGrpSpPr>
          <p:nvPr/>
        </p:nvGrpSpPr>
        <p:grpSpPr bwMode="auto">
          <a:xfrm>
            <a:off x="3189792" y="4722406"/>
            <a:ext cx="4267200" cy="1727200"/>
            <a:chOff x="84" y="2838"/>
            <a:chExt cx="2688" cy="1088"/>
          </a:xfrm>
        </p:grpSpPr>
        <p:sp>
          <p:nvSpPr>
            <p:cNvPr id="285" name="Rectangle 279"/>
            <p:cNvSpPr>
              <a:spLocks noChangeArrowheads="1"/>
            </p:cNvSpPr>
            <p:nvPr/>
          </p:nvSpPr>
          <p:spPr bwMode="auto">
            <a:xfrm>
              <a:off x="326" y="2838"/>
              <a:ext cx="3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86" name="Freeform 280"/>
            <p:cNvSpPr>
              <a:spLocks/>
            </p:cNvSpPr>
            <p:nvPr/>
          </p:nvSpPr>
          <p:spPr bwMode="auto">
            <a:xfrm>
              <a:off x="454" y="2908"/>
              <a:ext cx="51" cy="117"/>
            </a:xfrm>
            <a:custGeom>
              <a:avLst/>
              <a:gdLst>
                <a:gd name="T0" fmla="*/ 26 w 52"/>
                <a:gd name="T1" fmla="*/ 0 h 95"/>
                <a:gd name="T2" fmla="*/ 46 w 52"/>
                <a:gd name="T3" fmla="*/ 330 h 95"/>
                <a:gd name="T4" fmla="*/ 26 w 52"/>
                <a:gd name="T5" fmla="*/ 330 h 95"/>
                <a:gd name="T6" fmla="*/ 0 w 52"/>
                <a:gd name="T7" fmla="*/ 330 h 95"/>
                <a:gd name="T8" fmla="*/ 26 w 52"/>
                <a:gd name="T9" fmla="*/ 0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95">
                  <a:moveTo>
                    <a:pt x="26" y="0"/>
                  </a:moveTo>
                  <a:lnTo>
                    <a:pt x="52" y="95"/>
                  </a:lnTo>
                  <a:lnTo>
                    <a:pt x="26" y="95"/>
                  </a:lnTo>
                  <a:lnTo>
                    <a:pt x="0" y="9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7" name="Line 281"/>
            <p:cNvSpPr>
              <a:spLocks noChangeShapeType="1"/>
            </p:cNvSpPr>
            <p:nvPr/>
          </p:nvSpPr>
          <p:spPr bwMode="auto">
            <a:xfrm>
              <a:off x="480" y="3025"/>
              <a:ext cx="1" cy="90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8" name="Line 284"/>
            <p:cNvSpPr>
              <a:spLocks noChangeShapeType="1"/>
            </p:cNvSpPr>
            <p:nvPr/>
          </p:nvSpPr>
          <p:spPr bwMode="auto">
            <a:xfrm flipV="1">
              <a:off x="486" y="2982"/>
              <a:ext cx="475" cy="223"/>
            </a:xfrm>
            <a:prstGeom prst="line">
              <a:avLst/>
            </a:prstGeom>
            <a:noFill/>
            <a:ln w="317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9" name="Rectangle 285"/>
            <p:cNvSpPr>
              <a:spLocks noChangeArrowheads="1"/>
            </p:cNvSpPr>
            <p:nvPr/>
          </p:nvSpPr>
          <p:spPr bwMode="auto">
            <a:xfrm>
              <a:off x="327" y="2842"/>
              <a:ext cx="2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90" name="Rectangle 286"/>
            <p:cNvSpPr>
              <a:spLocks noChangeArrowheads="1"/>
            </p:cNvSpPr>
            <p:nvPr/>
          </p:nvSpPr>
          <p:spPr bwMode="auto">
            <a:xfrm>
              <a:off x="370" y="2914"/>
              <a:ext cx="4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>
                  <a:solidFill>
                    <a:srgbClr val="000000"/>
                  </a:solidFill>
                  <a:latin typeface="Times" panose="02020603050405020304" pitchFamily="18" charset="0"/>
                </a:rPr>
                <a:t>L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91" name="Rectangle 287"/>
            <p:cNvSpPr>
              <a:spLocks noChangeArrowheads="1"/>
            </p:cNvSpPr>
            <p:nvPr/>
          </p:nvSpPr>
          <p:spPr bwMode="auto">
            <a:xfrm>
              <a:off x="830" y="3604"/>
              <a:ext cx="6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92" name="Rectangle 288"/>
            <p:cNvSpPr>
              <a:spLocks noChangeArrowheads="1"/>
            </p:cNvSpPr>
            <p:nvPr/>
          </p:nvSpPr>
          <p:spPr bwMode="auto">
            <a:xfrm>
              <a:off x="1799" y="3607"/>
              <a:ext cx="6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93" name="Rectangle 289"/>
            <p:cNvSpPr>
              <a:spLocks noChangeArrowheads="1"/>
            </p:cNvSpPr>
            <p:nvPr/>
          </p:nvSpPr>
          <p:spPr bwMode="auto">
            <a:xfrm>
              <a:off x="738" y="3583"/>
              <a:ext cx="6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94" name="Rectangle 291"/>
            <p:cNvSpPr>
              <a:spLocks noChangeArrowheads="1"/>
            </p:cNvSpPr>
            <p:nvPr/>
          </p:nvSpPr>
          <p:spPr bwMode="auto">
            <a:xfrm>
              <a:off x="412" y="3638"/>
              <a:ext cx="52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95" name="Line 292"/>
            <p:cNvSpPr>
              <a:spLocks noChangeShapeType="1"/>
            </p:cNvSpPr>
            <p:nvPr/>
          </p:nvSpPr>
          <p:spPr bwMode="auto">
            <a:xfrm>
              <a:off x="961" y="2991"/>
              <a:ext cx="953" cy="220"/>
            </a:xfrm>
            <a:prstGeom prst="line">
              <a:avLst/>
            </a:prstGeom>
            <a:noFill/>
            <a:ln w="317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6" name="Line 293"/>
            <p:cNvSpPr>
              <a:spLocks noChangeShapeType="1"/>
            </p:cNvSpPr>
            <p:nvPr/>
          </p:nvSpPr>
          <p:spPr bwMode="auto">
            <a:xfrm flipV="1">
              <a:off x="1915" y="2983"/>
              <a:ext cx="475" cy="223"/>
            </a:xfrm>
            <a:prstGeom prst="line">
              <a:avLst/>
            </a:prstGeom>
            <a:noFill/>
            <a:ln w="317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7" name="Freeform 307"/>
            <p:cNvSpPr>
              <a:spLocks/>
            </p:cNvSpPr>
            <p:nvPr/>
          </p:nvSpPr>
          <p:spPr bwMode="auto">
            <a:xfrm>
              <a:off x="454" y="2908"/>
              <a:ext cx="51" cy="117"/>
            </a:xfrm>
            <a:custGeom>
              <a:avLst/>
              <a:gdLst>
                <a:gd name="T0" fmla="*/ 26 w 52"/>
                <a:gd name="T1" fmla="*/ 0 h 95"/>
                <a:gd name="T2" fmla="*/ 46 w 52"/>
                <a:gd name="T3" fmla="*/ 330 h 95"/>
                <a:gd name="T4" fmla="*/ 26 w 52"/>
                <a:gd name="T5" fmla="*/ 330 h 95"/>
                <a:gd name="T6" fmla="*/ 0 w 52"/>
                <a:gd name="T7" fmla="*/ 330 h 95"/>
                <a:gd name="T8" fmla="*/ 26 w 52"/>
                <a:gd name="T9" fmla="*/ 0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95">
                  <a:moveTo>
                    <a:pt x="26" y="0"/>
                  </a:moveTo>
                  <a:lnTo>
                    <a:pt x="52" y="95"/>
                  </a:lnTo>
                  <a:lnTo>
                    <a:pt x="26" y="95"/>
                  </a:lnTo>
                  <a:lnTo>
                    <a:pt x="0" y="9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8" name="Line 308"/>
            <p:cNvSpPr>
              <a:spLocks noChangeShapeType="1"/>
            </p:cNvSpPr>
            <p:nvPr/>
          </p:nvSpPr>
          <p:spPr bwMode="auto">
            <a:xfrm>
              <a:off x="480" y="3025"/>
              <a:ext cx="1" cy="90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9" name="Freeform 309"/>
            <p:cNvSpPr>
              <a:spLocks/>
            </p:cNvSpPr>
            <p:nvPr/>
          </p:nvSpPr>
          <p:spPr bwMode="auto">
            <a:xfrm>
              <a:off x="2278" y="3540"/>
              <a:ext cx="93" cy="52"/>
            </a:xfrm>
            <a:custGeom>
              <a:avLst/>
              <a:gdLst>
                <a:gd name="T0" fmla="*/ 83 w 95"/>
                <a:gd name="T1" fmla="*/ 53 h 43"/>
                <a:gd name="T2" fmla="*/ 0 w 95"/>
                <a:gd name="T3" fmla="*/ 134 h 43"/>
                <a:gd name="T4" fmla="*/ 0 w 95"/>
                <a:gd name="T5" fmla="*/ 53 h 43"/>
                <a:gd name="T6" fmla="*/ 0 w 95"/>
                <a:gd name="T7" fmla="*/ 0 h 43"/>
                <a:gd name="T8" fmla="*/ 83 w 95"/>
                <a:gd name="T9" fmla="*/ 53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43">
                  <a:moveTo>
                    <a:pt x="95" y="17"/>
                  </a:moveTo>
                  <a:lnTo>
                    <a:pt x="0" y="43"/>
                  </a:lnTo>
                  <a:lnTo>
                    <a:pt x="0" y="17"/>
                  </a:lnTo>
                  <a:lnTo>
                    <a:pt x="0" y="0"/>
                  </a:lnTo>
                  <a:lnTo>
                    <a:pt x="95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0" name="Line 310"/>
            <p:cNvSpPr>
              <a:spLocks noChangeShapeType="1"/>
            </p:cNvSpPr>
            <p:nvPr/>
          </p:nvSpPr>
          <p:spPr bwMode="auto">
            <a:xfrm>
              <a:off x="437" y="3560"/>
              <a:ext cx="1901" cy="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1" name="Line 311"/>
            <p:cNvSpPr>
              <a:spLocks noChangeShapeType="1"/>
            </p:cNvSpPr>
            <p:nvPr/>
          </p:nvSpPr>
          <p:spPr bwMode="auto">
            <a:xfrm flipV="1">
              <a:off x="486" y="2982"/>
              <a:ext cx="475" cy="223"/>
            </a:xfrm>
            <a:prstGeom prst="line">
              <a:avLst/>
            </a:prstGeom>
            <a:noFill/>
            <a:ln w="317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2" name="Rectangle 312"/>
            <p:cNvSpPr>
              <a:spLocks noChangeArrowheads="1"/>
            </p:cNvSpPr>
            <p:nvPr/>
          </p:nvSpPr>
          <p:spPr bwMode="auto">
            <a:xfrm>
              <a:off x="327" y="2842"/>
              <a:ext cx="2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03" name="Rectangle 313"/>
            <p:cNvSpPr>
              <a:spLocks noChangeArrowheads="1"/>
            </p:cNvSpPr>
            <p:nvPr/>
          </p:nvSpPr>
          <p:spPr bwMode="auto">
            <a:xfrm>
              <a:off x="370" y="2914"/>
              <a:ext cx="4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>
                  <a:solidFill>
                    <a:srgbClr val="000000"/>
                  </a:solidFill>
                  <a:latin typeface="Times" panose="02020603050405020304" pitchFamily="18" charset="0"/>
                </a:rPr>
                <a:t>L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04" name="Rectangle 314"/>
            <p:cNvSpPr>
              <a:spLocks noChangeArrowheads="1"/>
            </p:cNvSpPr>
            <p:nvPr/>
          </p:nvSpPr>
          <p:spPr bwMode="auto">
            <a:xfrm>
              <a:off x="830" y="3604"/>
              <a:ext cx="6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05" name="Rectangle 315"/>
            <p:cNvSpPr>
              <a:spLocks noChangeArrowheads="1"/>
            </p:cNvSpPr>
            <p:nvPr/>
          </p:nvSpPr>
          <p:spPr bwMode="auto">
            <a:xfrm>
              <a:off x="1799" y="3607"/>
              <a:ext cx="6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06" name="Rectangle 316"/>
            <p:cNvSpPr>
              <a:spLocks noChangeArrowheads="1"/>
            </p:cNvSpPr>
            <p:nvPr/>
          </p:nvSpPr>
          <p:spPr bwMode="auto">
            <a:xfrm>
              <a:off x="738" y="3583"/>
              <a:ext cx="6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07" name="Rectangle 317"/>
            <p:cNvSpPr>
              <a:spLocks noChangeArrowheads="1"/>
            </p:cNvSpPr>
            <p:nvPr/>
          </p:nvSpPr>
          <p:spPr bwMode="auto">
            <a:xfrm>
              <a:off x="2327" y="3634"/>
              <a:ext cx="29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08" name="Rectangle 318"/>
            <p:cNvSpPr>
              <a:spLocks noChangeArrowheads="1"/>
            </p:cNvSpPr>
            <p:nvPr/>
          </p:nvSpPr>
          <p:spPr bwMode="auto">
            <a:xfrm>
              <a:off x="412" y="3638"/>
              <a:ext cx="52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30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09" name="Line 319"/>
            <p:cNvSpPr>
              <a:spLocks noChangeShapeType="1"/>
            </p:cNvSpPr>
            <p:nvPr/>
          </p:nvSpPr>
          <p:spPr bwMode="auto">
            <a:xfrm>
              <a:off x="961" y="2991"/>
              <a:ext cx="953" cy="220"/>
            </a:xfrm>
            <a:prstGeom prst="line">
              <a:avLst/>
            </a:prstGeom>
            <a:noFill/>
            <a:ln w="317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0" name="Line 320"/>
            <p:cNvSpPr>
              <a:spLocks noChangeShapeType="1"/>
            </p:cNvSpPr>
            <p:nvPr/>
          </p:nvSpPr>
          <p:spPr bwMode="auto">
            <a:xfrm flipV="1">
              <a:off x="1915" y="2983"/>
              <a:ext cx="475" cy="223"/>
            </a:xfrm>
            <a:prstGeom prst="line">
              <a:avLst/>
            </a:prstGeom>
            <a:noFill/>
            <a:ln w="317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311" name="Group 334"/>
            <p:cNvGrpSpPr>
              <a:grpSpLocks/>
            </p:cNvGrpSpPr>
            <p:nvPr/>
          </p:nvGrpSpPr>
          <p:grpSpPr bwMode="auto">
            <a:xfrm>
              <a:off x="944" y="2881"/>
              <a:ext cx="964" cy="915"/>
              <a:chOff x="2973" y="2171"/>
              <a:chExt cx="984" cy="1391"/>
            </a:xfrm>
          </p:grpSpPr>
          <p:sp>
            <p:nvSpPr>
              <p:cNvPr id="318" name="Freeform 332"/>
              <p:cNvSpPr>
                <a:spLocks noEditPoints="1"/>
              </p:cNvSpPr>
              <p:nvPr/>
            </p:nvSpPr>
            <p:spPr bwMode="auto">
              <a:xfrm>
                <a:off x="2973" y="2171"/>
                <a:ext cx="13" cy="1358"/>
              </a:xfrm>
              <a:custGeom>
                <a:avLst/>
                <a:gdLst>
                  <a:gd name="T0" fmla="*/ 9 w 13"/>
                  <a:gd name="T1" fmla="*/ 35 h 1358"/>
                  <a:gd name="T2" fmla="*/ 0 w 13"/>
                  <a:gd name="T3" fmla="*/ 0 h 1358"/>
                  <a:gd name="T4" fmla="*/ 9 w 13"/>
                  <a:gd name="T5" fmla="*/ 61 h 1358"/>
                  <a:gd name="T6" fmla="*/ 0 w 13"/>
                  <a:gd name="T7" fmla="*/ 95 h 1358"/>
                  <a:gd name="T8" fmla="*/ 9 w 13"/>
                  <a:gd name="T9" fmla="*/ 61 h 1358"/>
                  <a:gd name="T10" fmla="*/ 9 w 13"/>
                  <a:gd name="T11" fmla="*/ 156 h 1358"/>
                  <a:gd name="T12" fmla="*/ 0 w 13"/>
                  <a:gd name="T13" fmla="*/ 121 h 1358"/>
                  <a:gd name="T14" fmla="*/ 9 w 13"/>
                  <a:gd name="T15" fmla="*/ 181 h 1358"/>
                  <a:gd name="T16" fmla="*/ 1 w 13"/>
                  <a:gd name="T17" fmla="*/ 216 h 1358"/>
                  <a:gd name="T18" fmla="*/ 9 w 13"/>
                  <a:gd name="T19" fmla="*/ 181 h 1358"/>
                  <a:gd name="T20" fmla="*/ 9 w 13"/>
                  <a:gd name="T21" fmla="*/ 276 h 1358"/>
                  <a:gd name="T22" fmla="*/ 1 w 13"/>
                  <a:gd name="T23" fmla="*/ 242 h 1358"/>
                  <a:gd name="T24" fmla="*/ 10 w 13"/>
                  <a:gd name="T25" fmla="*/ 302 h 1358"/>
                  <a:gd name="T26" fmla="*/ 1 w 13"/>
                  <a:gd name="T27" fmla="*/ 337 h 1358"/>
                  <a:gd name="T28" fmla="*/ 10 w 13"/>
                  <a:gd name="T29" fmla="*/ 302 h 1358"/>
                  <a:gd name="T30" fmla="*/ 10 w 13"/>
                  <a:gd name="T31" fmla="*/ 397 h 1358"/>
                  <a:gd name="T32" fmla="*/ 1 w 13"/>
                  <a:gd name="T33" fmla="*/ 362 h 1358"/>
                  <a:gd name="T34" fmla="*/ 10 w 13"/>
                  <a:gd name="T35" fmla="*/ 423 h 1358"/>
                  <a:gd name="T36" fmla="*/ 1 w 13"/>
                  <a:gd name="T37" fmla="*/ 457 h 1358"/>
                  <a:gd name="T38" fmla="*/ 10 w 13"/>
                  <a:gd name="T39" fmla="*/ 423 h 1358"/>
                  <a:gd name="T40" fmla="*/ 10 w 13"/>
                  <a:gd name="T41" fmla="*/ 518 h 1358"/>
                  <a:gd name="T42" fmla="*/ 1 w 13"/>
                  <a:gd name="T43" fmla="*/ 483 h 1358"/>
                  <a:gd name="T44" fmla="*/ 10 w 13"/>
                  <a:gd name="T45" fmla="*/ 543 h 1358"/>
                  <a:gd name="T46" fmla="*/ 2 w 13"/>
                  <a:gd name="T47" fmla="*/ 578 h 1358"/>
                  <a:gd name="T48" fmla="*/ 10 w 13"/>
                  <a:gd name="T49" fmla="*/ 543 h 1358"/>
                  <a:gd name="T50" fmla="*/ 11 w 13"/>
                  <a:gd name="T51" fmla="*/ 638 h 1358"/>
                  <a:gd name="T52" fmla="*/ 2 w 13"/>
                  <a:gd name="T53" fmla="*/ 604 h 1358"/>
                  <a:gd name="T54" fmla="*/ 11 w 13"/>
                  <a:gd name="T55" fmla="*/ 664 h 1358"/>
                  <a:gd name="T56" fmla="*/ 2 w 13"/>
                  <a:gd name="T57" fmla="*/ 699 h 1358"/>
                  <a:gd name="T58" fmla="*/ 11 w 13"/>
                  <a:gd name="T59" fmla="*/ 664 h 1358"/>
                  <a:gd name="T60" fmla="*/ 11 w 13"/>
                  <a:gd name="T61" fmla="*/ 759 h 1358"/>
                  <a:gd name="T62" fmla="*/ 2 w 13"/>
                  <a:gd name="T63" fmla="*/ 724 h 1358"/>
                  <a:gd name="T64" fmla="*/ 11 w 13"/>
                  <a:gd name="T65" fmla="*/ 785 h 1358"/>
                  <a:gd name="T66" fmla="*/ 3 w 13"/>
                  <a:gd name="T67" fmla="*/ 819 h 1358"/>
                  <a:gd name="T68" fmla="*/ 11 w 13"/>
                  <a:gd name="T69" fmla="*/ 785 h 1358"/>
                  <a:gd name="T70" fmla="*/ 11 w 13"/>
                  <a:gd name="T71" fmla="*/ 880 h 1358"/>
                  <a:gd name="T72" fmla="*/ 3 w 13"/>
                  <a:gd name="T73" fmla="*/ 845 h 1358"/>
                  <a:gd name="T74" fmla="*/ 11 w 13"/>
                  <a:gd name="T75" fmla="*/ 905 h 1358"/>
                  <a:gd name="T76" fmla="*/ 3 w 13"/>
                  <a:gd name="T77" fmla="*/ 940 h 1358"/>
                  <a:gd name="T78" fmla="*/ 11 w 13"/>
                  <a:gd name="T79" fmla="*/ 905 h 1358"/>
                  <a:gd name="T80" fmla="*/ 12 w 13"/>
                  <a:gd name="T81" fmla="*/ 1000 h 1358"/>
                  <a:gd name="T82" fmla="*/ 3 w 13"/>
                  <a:gd name="T83" fmla="*/ 966 h 1358"/>
                  <a:gd name="T84" fmla="*/ 12 w 13"/>
                  <a:gd name="T85" fmla="*/ 1026 h 1358"/>
                  <a:gd name="T86" fmla="*/ 3 w 13"/>
                  <a:gd name="T87" fmla="*/ 1061 h 1358"/>
                  <a:gd name="T88" fmla="*/ 12 w 13"/>
                  <a:gd name="T89" fmla="*/ 1026 h 1358"/>
                  <a:gd name="T90" fmla="*/ 12 w 13"/>
                  <a:gd name="T91" fmla="*/ 1121 h 1358"/>
                  <a:gd name="T92" fmla="*/ 3 w 13"/>
                  <a:gd name="T93" fmla="*/ 1086 h 1358"/>
                  <a:gd name="T94" fmla="*/ 12 w 13"/>
                  <a:gd name="T95" fmla="*/ 1147 h 1358"/>
                  <a:gd name="T96" fmla="*/ 4 w 13"/>
                  <a:gd name="T97" fmla="*/ 1181 h 1358"/>
                  <a:gd name="T98" fmla="*/ 12 w 13"/>
                  <a:gd name="T99" fmla="*/ 1147 h 1358"/>
                  <a:gd name="T100" fmla="*/ 13 w 13"/>
                  <a:gd name="T101" fmla="*/ 1242 h 1358"/>
                  <a:gd name="T102" fmla="*/ 4 w 13"/>
                  <a:gd name="T103" fmla="*/ 1207 h 1358"/>
                  <a:gd name="T104" fmla="*/ 13 w 13"/>
                  <a:gd name="T105" fmla="*/ 1267 h 1358"/>
                  <a:gd name="T106" fmla="*/ 4 w 13"/>
                  <a:gd name="T107" fmla="*/ 1302 h 1358"/>
                  <a:gd name="T108" fmla="*/ 13 w 13"/>
                  <a:gd name="T109" fmla="*/ 1267 h 1358"/>
                  <a:gd name="T110" fmla="*/ 13 w 13"/>
                  <a:gd name="T111" fmla="*/ 1358 h 1358"/>
                  <a:gd name="T112" fmla="*/ 4 w 13"/>
                  <a:gd name="T113" fmla="*/ 1328 h 135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3" h="1358">
                    <a:moveTo>
                      <a:pt x="9" y="0"/>
                    </a:moveTo>
                    <a:lnTo>
                      <a:pt x="9" y="35"/>
                    </a:lnTo>
                    <a:lnTo>
                      <a:pt x="0" y="35"/>
                    </a:lnTo>
                    <a:lnTo>
                      <a:pt x="0" y="0"/>
                    </a:lnTo>
                    <a:lnTo>
                      <a:pt x="9" y="0"/>
                    </a:lnTo>
                    <a:close/>
                    <a:moveTo>
                      <a:pt x="9" y="61"/>
                    </a:moveTo>
                    <a:lnTo>
                      <a:pt x="9" y="95"/>
                    </a:lnTo>
                    <a:lnTo>
                      <a:pt x="0" y="95"/>
                    </a:lnTo>
                    <a:lnTo>
                      <a:pt x="0" y="61"/>
                    </a:lnTo>
                    <a:lnTo>
                      <a:pt x="9" y="61"/>
                    </a:lnTo>
                    <a:close/>
                    <a:moveTo>
                      <a:pt x="9" y="121"/>
                    </a:moveTo>
                    <a:lnTo>
                      <a:pt x="9" y="156"/>
                    </a:lnTo>
                    <a:lnTo>
                      <a:pt x="0" y="156"/>
                    </a:lnTo>
                    <a:lnTo>
                      <a:pt x="0" y="121"/>
                    </a:lnTo>
                    <a:lnTo>
                      <a:pt x="9" y="121"/>
                    </a:lnTo>
                    <a:close/>
                    <a:moveTo>
                      <a:pt x="9" y="181"/>
                    </a:moveTo>
                    <a:lnTo>
                      <a:pt x="9" y="216"/>
                    </a:lnTo>
                    <a:lnTo>
                      <a:pt x="1" y="216"/>
                    </a:lnTo>
                    <a:lnTo>
                      <a:pt x="0" y="181"/>
                    </a:lnTo>
                    <a:lnTo>
                      <a:pt x="9" y="181"/>
                    </a:lnTo>
                    <a:close/>
                    <a:moveTo>
                      <a:pt x="9" y="242"/>
                    </a:moveTo>
                    <a:lnTo>
                      <a:pt x="9" y="276"/>
                    </a:lnTo>
                    <a:lnTo>
                      <a:pt x="1" y="276"/>
                    </a:lnTo>
                    <a:lnTo>
                      <a:pt x="1" y="242"/>
                    </a:lnTo>
                    <a:lnTo>
                      <a:pt x="9" y="242"/>
                    </a:lnTo>
                    <a:close/>
                    <a:moveTo>
                      <a:pt x="10" y="302"/>
                    </a:moveTo>
                    <a:lnTo>
                      <a:pt x="10" y="337"/>
                    </a:lnTo>
                    <a:lnTo>
                      <a:pt x="1" y="337"/>
                    </a:lnTo>
                    <a:lnTo>
                      <a:pt x="1" y="302"/>
                    </a:lnTo>
                    <a:lnTo>
                      <a:pt x="10" y="302"/>
                    </a:lnTo>
                    <a:close/>
                    <a:moveTo>
                      <a:pt x="10" y="362"/>
                    </a:moveTo>
                    <a:lnTo>
                      <a:pt x="10" y="397"/>
                    </a:lnTo>
                    <a:lnTo>
                      <a:pt x="1" y="397"/>
                    </a:lnTo>
                    <a:lnTo>
                      <a:pt x="1" y="362"/>
                    </a:lnTo>
                    <a:lnTo>
                      <a:pt x="10" y="362"/>
                    </a:lnTo>
                    <a:close/>
                    <a:moveTo>
                      <a:pt x="10" y="423"/>
                    </a:moveTo>
                    <a:lnTo>
                      <a:pt x="10" y="457"/>
                    </a:lnTo>
                    <a:lnTo>
                      <a:pt x="1" y="457"/>
                    </a:lnTo>
                    <a:lnTo>
                      <a:pt x="1" y="423"/>
                    </a:lnTo>
                    <a:lnTo>
                      <a:pt x="10" y="423"/>
                    </a:lnTo>
                    <a:close/>
                    <a:moveTo>
                      <a:pt x="10" y="483"/>
                    </a:moveTo>
                    <a:lnTo>
                      <a:pt x="10" y="518"/>
                    </a:lnTo>
                    <a:lnTo>
                      <a:pt x="2" y="518"/>
                    </a:lnTo>
                    <a:lnTo>
                      <a:pt x="1" y="483"/>
                    </a:lnTo>
                    <a:lnTo>
                      <a:pt x="10" y="483"/>
                    </a:lnTo>
                    <a:close/>
                    <a:moveTo>
                      <a:pt x="10" y="543"/>
                    </a:moveTo>
                    <a:lnTo>
                      <a:pt x="10" y="578"/>
                    </a:lnTo>
                    <a:lnTo>
                      <a:pt x="2" y="578"/>
                    </a:lnTo>
                    <a:lnTo>
                      <a:pt x="2" y="543"/>
                    </a:lnTo>
                    <a:lnTo>
                      <a:pt x="10" y="543"/>
                    </a:lnTo>
                    <a:close/>
                    <a:moveTo>
                      <a:pt x="10" y="604"/>
                    </a:moveTo>
                    <a:lnTo>
                      <a:pt x="11" y="638"/>
                    </a:lnTo>
                    <a:lnTo>
                      <a:pt x="2" y="638"/>
                    </a:lnTo>
                    <a:lnTo>
                      <a:pt x="2" y="604"/>
                    </a:lnTo>
                    <a:lnTo>
                      <a:pt x="10" y="604"/>
                    </a:lnTo>
                    <a:close/>
                    <a:moveTo>
                      <a:pt x="11" y="664"/>
                    </a:moveTo>
                    <a:lnTo>
                      <a:pt x="11" y="699"/>
                    </a:lnTo>
                    <a:lnTo>
                      <a:pt x="2" y="699"/>
                    </a:lnTo>
                    <a:lnTo>
                      <a:pt x="2" y="664"/>
                    </a:lnTo>
                    <a:lnTo>
                      <a:pt x="11" y="664"/>
                    </a:lnTo>
                    <a:close/>
                    <a:moveTo>
                      <a:pt x="11" y="724"/>
                    </a:moveTo>
                    <a:lnTo>
                      <a:pt x="11" y="759"/>
                    </a:lnTo>
                    <a:lnTo>
                      <a:pt x="2" y="759"/>
                    </a:lnTo>
                    <a:lnTo>
                      <a:pt x="2" y="724"/>
                    </a:lnTo>
                    <a:lnTo>
                      <a:pt x="11" y="724"/>
                    </a:lnTo>
                    <a:close/>
                    <a:moveTo>
                      <a:pt x="11" y="785"/>
                    </a:moveTo>
                    <a:lnTo>
                      <a:pt x="11" y="819"/>
                    </a:lnTo>
                    <a:lnTo>
                      <a:pt x="3" y="819"/>
                    </a:lnTo>
                    <a:lnTo>
                      <a:pt x="2" y="785"/>
                    </a:lnTo>
                    <a:lnTo>
                      <a:pt x="11" y="785"/>
                    </a:lnTo>
                    <a:close/>
                    <a:moveTo>
                      <a:pt x="11" y="845"/>
                    </a:moveTo>
                    <a:lnTo>
                      <a:pt x="11" y="880"/>
                    </a:lnTo>
                    <a:lnTo>
                      <a:pt x="3" y="880"/>
                    </a:lnTo>
                    <a:lnTo>
                      <a:pt x="3" y="845"/>
                    </a:lnTo>
                    <a:lnTo>
                      <a:pt x="11" y="845"/>
                    </a:lnTo>
                    <a:close/>
                    <a:moveTo>
                      <a:pt x="11" y="905"/>
                    </a:moveTo>
                    <a:lnTo>
                      <a:pt x="12" y="940"/>
                    </a:lnTo>
                    <a:lnTo>
                      <a:pt x="3" y="940"/>
                    </a:lnTo>
                    <a:lnTo>
                      <a:pt x="3" y="905"/>
                    </a:lnTo>
                    <a:lnTo>
                      <a:pt x="11" y="905"/>
                    </a:lnTo>
                    <a:close/>
                    <a:moveTo>
                      <a:pt x="12" y="966"/>
                    </a:moveTo>
                    <a:lnTo>
                      <a:pt x="12" y="1000"/>
                    </a:lnTo>
                    <a:lnTo>
                      <a:pt x="3" y="1000"/>
                    </a:lnTo>
                    <a:lnTo>
                      <a:pt x="3" y="966"/>
                    </a:lnTo>
                    <a:lnTo>
                      <a:pt x="12" y="966"/>
                    </a:lnTo>
                    <a:close/>
                    <a:moveTo>
                      <a:pt x="12" y="1026"/>
                    </a:moveTo>
                    <a:lnTo>
                      <a:pt x="12" y="1061"/>
                    </a:lnTo>
                    <a:lnTo>
                      <a:pt x="3" y="1061"/>
                    </a:lnTo>
                    <a:lnTo>
                      <a:pt x="3" y="1026"/>
                    </a:lnTo>
                    <a:lnTo>
                      <a:pt x="12" y="1026"/>
                    </a:lnTo>
                    <a:close/>
                    <a:moveTo>
                      <a:pt x="12" y="1086"/>
                    </a:moveTo>
                    <a:lnTo>
                      <a:pt x="12" y="1121"/>
                    </a:lnTo>
                    <a:lnTo>
                      <a:pt x="3" y="1121"/>
                    </a:lnTo>
                    <a:lnTo>
                      <a:pt x="3" y="1086"/>
                    </a:lnTo>
                    <a:lnTo>
                      <a:pt x="12" y="1086"/>
                    </a:lnTo>
                    <a:close/>
                    <a:moveTo>
                      <a:pt x="12" y="1147"/>
                    </a:moveTo>
                    <a:lnTo>
                      <a:pt x="12" y="1181"/>
                    </a:lnTo>
                    <a:lnTo>
                      <a:pt x="4" y="1181"/>
                    </a:lnTo>
                    <a:lnTo>
                      <a:pt x="4" y="1147"/>
                    </a:lnTo>
                    <a:lnTo>
                      <a:pt x="12" y="1147"/>
                    </a:lnTo>
                    <a:close/>
                    <a:moveTo>
                      <a:pt x="12" y="1207"/>
                    </a:moveTo>
                    <a:lnTo>
                      <a:pt x="13" y="1242"/>
                    </a:lnTo>
                    <a:lnTo>
                      <a:pt x="4" y="1242"/>
                    </a:lnTo>
                    <a:lnTo>
                      <a:pt x="4" y="1207"/>
                    </a:lnTo>
                    <a:lnTo>
                      <a:pt x="12" y="1207"/>
                    </a:lnTo>
                    <a:close/>
                    <a:moveTo>
                      <a:pt x="13" y="1267"/>
                    </a:moveTo>
                    <a:lnTo>
                      <a:pt x="13" y="1302"/>
                    </a:lnTo>
                    <a:lnTo>
                      <a:pt x="4" y="1302"/>
                    </a:lnTo>
                    <a:lnTo>
                      <a:pt x="4" y="1267"/>
                    </a:lnTo>
                    <a:lnTo>
                      <a:pt x="13" y="1267"/>
                    </a:lnTo>
                    <a:close/>
                    <a:moveTo>
                      <a:pt x="13" y="1328"/>
                    </a:moveTo>
                    <a:lnTo>
                      <a:pt x="13" y="1358"/>
                    </a:lnTo>
                    <a:lnTo>
                      <a:pt x="4" y="1358"/>
                    </a:lnTo>
                    <a:lnTo>
                      <a:pt x="4" y="1328"/>
                    </a:lnTo>
                    <a:lnTo>
                      <a:pt x="13" y="1328"/>
                    </a:lnTo>
                    <a:close/>
                  </a:path>
                </a:pathLst>
              </a:custGeom>
              <a:solidFill>
                <a:srgbClr val="000000"/>
              </a:solidFill>
              <a:ln w="1588" cap="flat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9" name="Freeform 333"/>
              <p:cNvSpPr>
                <a:spLocks noEditPoints="1"/>
              </p:cNvSpPr>
              <p:nvPr/>
            </p:nvSpPr>
            <p:spPr bwMode="auto">
              <a:xfrm>
                <a:off x="3944" y="2205"/>
                <a:ext cx="13" cy="1357"/>
              </a:xfrm>
              <a:custGeom>
                <a:avLst/>
                <a:gdLst>
                  <a:gd name="T0" fmla="*/ 9 w 13"/>
                  <a:gd name="T1" fmla="*/ 34 h 1357"/>
                  <a:gd name="T2" fmla="*/ 0 w 13"/>
                  <a:gd name="T3" fmla="*/ 0 h 1357"/>
                  <a:gd name="T4" fmla="*/ 9 w 13"/>
                  <a:gd name="T5" fmla="*/ 60 h 1357"/>
                  <a:gd name="T6" fmla="*/ 0 w 13"/>
                  <a:gd name="T7" fmla="*/ 95 h 1357"/>
                  <a:gd name="T8" fmla="*/ 9 w 13"/>
                  <a:gd name="T9" fmla="*/ 60 h 1357"/>
                  <a:gd name="T10" fmla="*/ 9 w 13"/>
                  <a:gd name="T11" fmla="*/ 155 h 1357"/>
                  <a:gd name="T12" fmla="*/ 1 w 13"/>
                  <a:gd name="T13" fmla="*/ 121 h 1357"/>
                  <a:gd name="T14" fmla="*/ 9 w 13"/>
                  <a:gd name="T15" fmla="*/ 181 h 1357"/>
                  <a:gd name="T16" fmla="*/ 1 w 13"/>
                  <a:gd name="T17" fmla="*/ 215 h 1357"/>
                  <a:gd name="T18" fmla="*/ 9 w 13"/>
                  <a:gd name="T19" fmla="*/ 181 h 1357"/>
                  <a:gd name="T20" fmla="*/ 10 w 13"/>
                  <a:gd name="T21" fmla="*/ 276 h 1357"/>
                  <a:gd name="T22" fmla="*/ 1 w 13"/>
                  <a:gd name="T23" fmla="*/ 241 h 1357"/>
                  <a:gd name="T24" fmla="*/ 10 w 13"/>
                  <a:gd name="T25" fmla="*/ 302 h 1357"/>
                  <a:gd name="T26" fmla="*/ 1 w 13"/>
                  <a:gd name="T27" fmla="*/ 336 h 1357"/>
                  <a:gd name="T28" fmla="*/ 10 w 13"/>
                  <a:gd name="T29" fmla="*/ 302 h 1357"/>
                  <a:gd name="T30" fmla="*/ 10 w 13"/>
                  <a:gd name="T31" fmla="*/ 396 h 1357"/>
                  <a:gd name="T32" fmla="*/ 1 w 13"/>
                  <a:gd name="T33" fmla="*/ 362 h 1357"/>
                  <a:gd name="T34" fmla="*/ 10 w 13"/>
                  <a:gd name="T35" fmla="*/ 422 h 1357"/>
                  <a:gd name="T36" fmla="*/ 2 w 13"/>
                  <a:gd name="T37" fmla="*/ 457 h 1357"/>
                  <a:gd name="T38" fmla="*/ 10 w 13"/>
                  <a:gd name="T39" fmla="*/ 422 h 1357"/>
                  <a:gd name="T40" fmla="*/ 10 w 13"/>
                  <a:gd name="T41" fmla="*/ 517 h 1357"/>
                  <a:gd name="T42" fmla="*/ 2 w 13"/>
                  <a:gd name="T43" fmla="*/ 483 h 1357"/>
                  <a:gd name="T44" fmla="*/ 10 w 13"/>
                  <a:gd name="T45" fmla="*/ 543 h 1357"/>
                  <a:gd name="T46" fmla="*/ 2 w 13"/>
                  <a:gd name="T47" fmla="*/ 577 h 1357"/>
                  <a:gd name="T48" fmla="*/ 10 w 13"/>
                  <a:gd name="T49" fmla="*/ 543 h 1357"/>
                  <a:gd name="T50" fmla="*/ 11 w 13"/>
                  <a:gd name="T51" fmla="*/ 638 h 1357"/>
                  <a:gd name="T52" fmla="*/ 2 w 13"/>
                  <a:gd name="T53" fmla="*/ 603 h 1357"/>
                  <a:gd name="T54" fmla="*/ 11 w 13"/>
                  <a:gd name="T55" fmla="*/ 664 h 1357"/>
                  <a:gd name="T56" fmla="*/ 2 w 13"/>
                  <a:gd name="T57" fmla="*/ 698 h 1357"/>
                  <a:gd name="T58" fmla="*/ 11 w 13"/>
                  <a:gd name="T59" fmla="*/ 664 h 1357"/>
                  <a:gd name="T60" fmla="*/ 11 w 13"/>
                  <a:gd name="T61" fmla="*/ 758 h 1357"/>
                  <a:gd name="T62" fmla="*/ 2 w 13"/>
                  <a:gd name="T63" fmla="*/ 724 h 1357"/>
                  <a:gd name="T64" fmla="*/ 11 w 13"/>
                  <a:gd name="T65" fmla="*/ 784 h 1357"/>
                  <a:gd name="T66" fmla="*/ 3 w 13"/>
                  <a:gd name="T67" fmla="*/ 819 h 1357"/>
                  <a:gd name="T68" fmla="*/ 11 w 13"/>
                  <a:gd name="T69" fmla="*/ 784 h 1357"/>
                  <a:gd name="T70" fmla="*/ 12 w 13"/>
                  <a:gd name="T71" fmla="*/ 879 h 1357"/>
                  <a:gd name="T72" fmla="*/ 3 w 13"/>
                  <a:gd name="T73" fmla="*/ 845 h 1357"/>
                  <a:gd name="T74" fmla="*/ 12 w 13"/>
                  <a:gd name="T75" fmla="*/ 905 h 1357"/>
                  <a:gd name="T76" fmla="*/ 3 w 13"/>
                  <a:gd name="T77" fmla="*/ 939 h 1357"/>
                  <a:gd name="T78" fmla="*/ 12 w 13"/>
                  <a:gd name="T79" fmla="*/ 905 h 1357"/>
                  <a:gd name="T80" fmla="*/ 12 w 13"/>
                  <a:gd name="T81" fmla="*/ 1000 h 1357"/>
                  <a:gd name="T82" fmla="*/ 3 w 13"/>
                  <a:gd name="T83" fmla="*/ 965 h 1357"/>
                  <a:gd name="T84" fmla="*/ 12 w 13"/>
                  <a:gd name="T85" fmla="*/ 1026 h 1357"/>
                  <a:gd name="T86" fmla="*/ 3 w 13"/>
                  <a:gd name="T87" fmla="*/ 1060 h 1357"/>
                  <a:gd name="T88" fmla="*/ 12 w 13"/>
                  <a:gd name="T89" fmla="*/ 1026 h 1357"/>
                  <a:gd name="T90" fmla="*/ 12 w 13"/>
                  <a:gd name="T91" fmla="*/ 1120 h 1357"/>
                  <a:gd name="T92" fmla="*/ 4 w 13"/>
                  <a:gd name="T93" fmla="*/ 1086 h 1357"/>
                  <a:gd name="T94" fmla="*/ 12 w 13"/>
                  <a:gd name="T95" fmla="*/ 1146 h 1357"/>
                  <a:gd name="T96" fmla="*/ 4 w 13"/>
                  <a:gd name="T97" fmla="*/ 1181 h 1357"/>
                  <a:gd name="T98" fmla="*/ 12 w 13"/>
                  <a:gd name="T99" fmla="*/ 1146 h 1357"/>
                  <a:gd name="T100" fmla="*/ 13 w 13"/>
                  <a:gd name="T101" fmla="*/ 1241 h 1357"/>
                  <a:gd name="T102" fmla="*/ 4 w 13"/>
                  <a:gd name="T103" fmla="*/ 1207 h 1357"/>
                  <a:gd name="T104" fmla="*/ 13 w 13"/>
                  <a:gd name="T105" fmla="*/ 1267 h 1357"/>
                  <a:gd name="T106" fmla="*/ 4 w 13"/>
                  <a:gd name="T107" fmla="*/ 1301 h 1357"/>
                  <a:gd name="T108" fmla="*/ 13 w 13"/>
                  <a:gd name="T109" fmla="*/ 1267 h 1357"/>
                  <a:gd name="T110" fmla="*/ 13 w 13"/>
                  <a:gd name="T111" fmla="*/ 1357 h 1357"/>
                  <a:gd name="T112" fmla="*/ 4 w 13"/>
                  <a:gd name="T113" fmla="*/ 1327 h 135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3" h="1357">
                    <a:moveTo>
                      <a:pt x="9" y="0"/>
                    </a:moveTo>
                    <a:lnTo>
                      <a:pt x="9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9" y="0"/>
                    </a:lnTo>
                    <a:close/>
                    <a:moveTo>
                      <a:pt x="9" y="60"/>
                    </a:moveTo>
                    <a:lnTo>
                      <a:pt x="9" y="95"/>
                    </a:lnTo>
                    <a:lnTo>
                      <a:pt x="0" y="95"/>
                    </a:lnTo>
                    <a:lnTo>
                      <a:pt x="0" y="60"/>
                    </a:lnTo>
                    <a:lnTo>
                      <a:pt x="9" y="60"/>
                    </a:lnTo>
                    <a:close/>
                    <a:moveTo>
                      <a:pt x="9" y="121"/>
                    </a:moveTo>
                    <a:lnTo>
                      <a:pt x="9" y="155"/>
                    </a:lnTo>
                    <a:lnTo>
                      <a:pt x="1" y="155"/>
                    </a:lnTo>
                    <a:lnTo>
                      <a:pt x="1" y="121"/>
                    </a:lnTo>
                    <a:lnTo>
                      <a:pt x="9" y="121"/>
                    </a:lnTo>
                    <a:close/>
                    <a:moveTo>
                      <a:pt x="9" y="181"/>
                    </a:moveTo>
                    <a:lnTo>
                      <a:pt x="9" y="215"/>
                    </a:lnTo>
                    <a:lnTo>
                      <a:pt x="1" y="215"/>
                    </a:lnTo>
                    <a:lnTo>
                      <a:pt x="1" y="181"/>
                    </a:lnTo>
                    <a:lnTo>
                      <a:pt x="9" y="181"/>
                    </a:lnTo>
                    <a:close/>
                    <a:moveTo>
                      <a:pt x="10" y="241"/>
                    </a:moveTo>
                    <a:lnTo>
                      <a:pt x="10" y="276"/>
                    </a:lnTo>
                    <a:lnTo>
                      <a:pt x="1" y="276"/>
                    </a:lnTo>
                    <a:lnTo>
                      <a:pt x="1" y="241"/>
                    </a:lnTo>
                    <a:lnTo>
                      <a:pt x="10" y="241"/>
                    </a:lnTo>
                    <a:close/>
                    <a:moveTo>
                      <a:pt x="10" y="302"/>
                    </a:moveTo>
                    <a:lnTo>
                      <a:pt x="10" y="336"/>
                    </a:lnTo>
                    <a:lnTo>
                      <a:pt x="1" y="336"/>
                    </a:lnTo>
                    <a:lnTo>
                      <a:pt x="1" y="302"/>
                    </a:lnTo>
                    <a:lnTo>
                      <a:pt x="10" y="302"/>
                    </a:lnTo>
                    <a:close/>
                    <a:moveTo>
                      <a:pt x="10" y="362"/>
                    </a:moveTo>
                    <a:lnTo>
                      <a:pt x="10" y="396"/>
                    </a:lnTo>
                    <a:lnTo>
                      <a:pt x="1" y="396"/>
                    </a:lnTo>
                    <a:lnTo>
                      <a:pt x="1" y="362"/>
                    </a:lnTo>
                    <a:lnTo>
                      <a:pt x="10" y="362"/>
                    </a:lnTo>
                    <a:close/>
                    <a:moveTo>
                      <a:pt x="10" y="422"/>
                    </a:moveTo>
                    <a:lnTo>
                      <a:pt x="10" y="457"/>
                    </a:lnTo>
                    <a:lnTo>
                      <a:pt x="2" y="457"/>
                    </a:lnTo>
                    <a:lnTo>
                      <a:pt x="2" y="422"/>
                    </a:lnTo>
                    <a:lnTo>
                      <a:pt x="10" y="422"/>
                    </a:lnTo>
                    <a:close/>
                    <a:moveTo>
                      <a:pt x="10" y="483"/>
                    </a:moveTo>
                    <a:lnTo>
                      <a:pt x="10" y="517"/>
                    </a:lnTo>
                    <a:lnTo>
                      <a:pt x="2" y="517"/>
                    </a:lnTo>
                    <a:lnTo>
                      <a:pt x="2" y="483"/>
                    </a:lnTo>
                    <a:lnTo>
                      <a:pt x="10" y="483"/>
                    </a:lnTo>
                    <a:close/>
                    <a:moveTo>
                      <a:pt x="10" y="543"/>
                    </a:moveTo>
                    <a:lnTo>
                      <a:pt x="11" y="577"/>
                    </a:lnTo>
                    <a:lnTo>
                      <a:pt x="2" y="577"/>
                    </a:lnTo>
                    <a:lnTo>
                      <a:pt x="2" y="543"/>
                    </a:lnTo>
                    <a:lnTo>
                      <a:pt x="10" y="543"/>
                    </a:lnTo>
                    <a:close/>
                    <a:moveTo>
                      <a:pt x="11" y="603"/>
                    </a:moveTo>
                    <a:lnTo>
                      <a:pt x="11" y="638"/>
                    </a:lnTo>
                    <a:lnTo>
                      <a:pt x="2" y="638"/>
                    </a:lnTo>
                    <a:lnTo>
                      <a:pt x="2" y="603"/>
                    </a:lnTo>
                    <a:lnTo>
                      <a:pt x="11" y="603"/>
                    </a:lnTo>
                    <a:close/>
                    <a:moveTo>
                      <a:pt x="11" y="664"/>
                    </a:moveTo>
                    <a:lnTo>
                      <a:pt x="11" y="698"/>
                    </a:lnTo>
                    <a:lnTo>
                      <a:pt x="2" y="698"/>
                    </a:lnTo>
                    <a:lnTo>
                      <a:pt x="2" y="664"/>
                    </a:lnTo>
                    <a:lnTo>
                      <a:pt x="11" y="664"/>
                    </a:lnTo>
                    <a:close/>
                    <a:moveTo>
                      <a:pt x="11" y="724"/>
                    </a:moveTo>
                    <a:lnTo>
                      <a:pt x="11" y="758"/>
                    </a:lnTo>
                    <a:lnTo>
                      <a:pt x="3" y="758"/>
                    </a:lnTo>
                    <a:lnTo>
                      <a:pt x="2" y="724"/>
                    </a:lnTo>
                    <a:lnTo>
                      <a:pt x="11" y="724"/>
                    </a:lnTo>
                    <a:close/>
                    <a:moveTo>
                      <a:pt x="11" y="784"/>
                    </a:moveTo>
                    <a:lnTo>
                      <a:pt x="11" y="819"/>
                    </a:lnTo>
                    <a:lnTo>
                      <a:pt x="3" y="819"/>
                    </a:lnTo>
                    <a:lnTo>
                      <a:pt x="3" y="784"/>
                    </a:lnTo>
                    <a:lnTo>
                      <a:pt x="11" y="784"/>
                    </a:lnTo>
                    <a:close/>
                    <a:moveTo>
                      <a:pt x="12" y="845"/>
                    </a:moveTo>
                    <a:lnTo>
                      <a:pt x="12" y="879"/>
                    </a:lnTo>
                    <a:lnTo>
                      <a:pt x="3" y="879"/>
                    </a:lnTo>
                    <a:lnTo>
                      <a:pt x="3" y="845"/>
                    </a:lnTo>
                    <a:lnTo>
                      <a:pt x="12" y="845"/>
                    </a:lnTo>
                    <a:close/>
                    <a:moveTo>
                      <a:pt x="12" y="905"/>
                    </a:moveTo>
                    <a:lnTo>
                      <a:pt x="12" y="939"/>
                    </a:lnTo>
                    <a:lnTo>
                      <a:pt x="3" y="939"/>
                    </a:lnTo>
                    <a:lnTo>
                      <a:pt x="3" y="905"/>
                    </a:lnTo>
                    <a:lnTo>
                      <a:pt x="12" y="905"/>
                    </a:lnTo>
                    <a:close/>
                    <a:moveTo>
                      <a:pt x="12" y="965"/>
                    </a:moveTo>
                    <a:lnTo>
                      <a:pt x="12" y="1000"/>
                    </a:lnTo>
                    <a:lnTo>
                      <a:pt x="3" y="1000"/>
                    </a:lnTo>
                    <a:lnTo>
                      <a:pt x="3" y="965"/>
                    </a:lnTo>
                    <a:lnTo>
                      <a:pt x="12" y="965"/>
                    </a:lnTo>
                    <a:close/>
                    <a:moveTo>
                      <a:pt x="12" y="1026"/>
                    </a:moveTo>
                    <a:lnTo>
                      <a:pt x="12" y="1060"/>
                    </a:lnTo>
                    <a:lnTo>
                      <a:pt x="3" y="1060"/>
                    </a:lnTo>
                    <a:lnTo>
                      <a:pt x="3" y="1026"/>
                    </a:lnTo>
                    <a:lnTo>
                      <a:pt x="12" y="1026"/>
                    </a:lnTo>
                    <a:close/>
                    <a:moveTo>
                      <a:pt x="12" y="1086"/>
                    </a:moveTo>
                    <a:lnTo>
                      <a:pt x="12" y="1120"/>
                    </a:lnTo>
                    <a:lnTo>
                      <a:pt x="4" y="1120"/>
                    </a:lnTo>
                    <a:lnTo>
                      <a:pt x="4" y="1086"/>
                    </a:lnTo>
                    <a:lnTo>
                      <a:pt x="12" y="1086"/>
                    </a:lnTo>
                    <a:close/>
                    <a:moveTo>
                      <a:pt x="12" y="1146"/>
                    </a:moveTo>
                    <a:lnTo>
                      <a:pt x="13" y="1181"/>
                    </a:lnTo>
                    <a:lnTo>
                      <a:pt x="4" y="1181"/>
                    </a:lnTo>
                    <a:lnTo>
                      <a:pt x="4" y="1146"/>
                    </a:lnTo>
                    <a:lnTo>
                      <a:pt x="12" y="1146"/>
                    </a:lnTo>
                    <a:close/>
                    <a:moveTo>
                      <a:pt x="13" y="1207"/>
                    </a:moveTo>
                    <a:lnTo>
                      <a:pt x="13" y="1241"/>
                    </a:lnTo>
                    <a:lnTo>
                      <a:pt x="4" y="1241"/>
                    </a:lnTo>
                    <a:lnTo>
                      <a:pt x="4" y="1207"/>
                    </a:lnTo>
                    <a:lnTo>
                      <a:pt x="13" y="1207"/>
                    </a:lnTo>
                    <a:close/>
                    <a:moveTo>
                      <a:pt x="13" y="1267"/>
                    </a:moveTo>
                    <a:lnTo>
                      <a:pt x="13" y="1301"/>
                    </a:lnTo>
                    <a:lnTo>
                      <a:pt x="4" y="1301"/>
                    </a:lnTo>
                    <a:lnTo>
                      <a:pt x="4" y="1267"/>
                    </a:lnTo>
                    <a:lnTo>
                      <a:pt x="13" y="1267"/>
                    </a:lnTo>
                    <a:close/>
                    <a:moveTo>
                      <a:pt x="13" y="1327"/>
                    </a:moveTo>
                    <a:lnTo>
                      <a:pt x="13" y="1357"/>
                    </a:lnTo>
                    <a:lnTo>
                      <a:pt x="4" y="1357"/>
                    </a:lnTo>
                    <a:lnTo>
                      <a:pt x="4" y="1327"/>
                    </a:lnTo>
                    <a:lnTo>
                      <a:pt x="13" y="1327"/>
                    </a:lnTo>
                    <a:close/>
                  </a:path>
                </a:pathLst>
              </a:custGeom>
              <a:solidFill>
                <a:srgbClr val="000000"/>
              </a:solidFill>
              <a:ln w="1588" cap="flat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312" name="Line 336"/>
            <p:cNvSpPr>
              <a:spLocks noChangeShapeType="1"/>
            </p:cNvSpPr>
            <p:nvPr/>
          </p:nvSpPr>
          <p:spPr bwMode="auto">
            <a:xfrm>
              <a:off x="360" y="3090"/>
              <a:ext cx="1968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3" name="Text Box 337"/>
            <p:cNvSpPr txBox="1">
              <a:spLocks noChangeArrowheads="1"/>
            </p:cNvSpPr>
            <p:nvPr/>
          </p:nvSpPr>
          <p:spPr bwMode="auto">
            <a:xfrm>
              <a:off x="84" y="2994"/>
              <a:ext cx="36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>
                  <a:solidFill>
                    <a:srgbClr val="FF9933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>
                  <a:solidFill>
                    <a:srgbClr val="FF9933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314" name="Line 340"/>
            <p:cNvSpPr>
              <a:spLocks noChangeShapeType="1"/>
            </p:cNvSpPr>
            <p:nvPr/>
          </p:nvSpPr>
          <p:spPr bwMode="auto">
            <a:xfrm>
              <a:off x="516" y="2988"/>
              <a:ext cx="18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5" name="Line 341"/>
            <p:cNvSpPr>
              <a:spLocks noChangeShapeType="1"/>
            </p:cNvSpPr>
            <p:nvPr/>
          </p:nvSpPr>
          <p:spPr bwMode="auto">
            <a:xfrm>
              <a:off x="439" y="3217"/>
              <a:ext cx="19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6" name="Line 342"/>
            <p:cNvSpPr>
              <a:spLocks noChangeShapeType="1"/>
            </p:cNvSpPr>
            <p:nvPr/>
          </p:nvSpPr>
          <p:spPr bwMode="auto">
            <a:xfrm>
              <a:off x="2346" y="2988"/>
              <a:ext cx="0" cy="22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7" name="Text Box 343"/>
            <p:cNvSpPr txBox="1">
              <a:spLocks noChangeArrowheads="1"/>
            </p:cNvSpPr>
            <p:nvPr/>
          </p:nvSpPr>
          <p:spPr bwMode="auto">
            <a:xfrm>
              <a:off x="2412" y="3012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>
                  <a:latin typeface="Symbol" panose="05050102010706020507" pitchFamily="18" charset="2"/>
                </a:rPr>
                <a:t>D</a:t>
              </a:r>
              <a:r>
                <a:rPr lang="fr-FR" altLang="fr-FR" sz="1800">
                  <a:latin typeface="Times New Roman" panose="02020603050405020304" pitchFamily="18" charset="0"/>
                </a:rPr>
                <a:t>I</a:t>
              </a:r>
              <a:r>
                <a:rPr lang="fr-FR" altLang="fr-FR" sz="1800" baseline="-25000">
                  <a:latin typeface="Times New Roman" panose="02020603050405020304" pitchFamily="18" charset="0"/>
                </a:rPr>
                <a:t>L</a:t>
              </a:r>
            </a:p>
          </p:txBody>
        </p:sp>
      </p:grpSp>
      <p:sp>
        <p:nvSpPr>
          <p:cNvPr id="320" name="Text Box 348"/>
          <p:cNvSpPr txBox="1">
            <a:spLocks noChangeArrowheads="1"/>
          </p:cNvSpPr>
          <p:nvPr/>
        </p:nvSpPr>
        <p:spPr bwMode="auto">
          <a:xfrm>
            <a:off x="9187367" y="2274481"/>
            <a:ext cx="27051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fr-FR" sz="1800" b="1" i="1">
                <a:latin typeface="Times New Roman" panose="02020603050405020304" pitchFamily="18" charset="0"/>
              </a:rPr>
              <a:t>Hold the continuous mode</a:t>
            </a:r>
          </a:p>
        </p:txBody>
      </p:sp>
      <p:grpSp>
        <p:nvGrpSpPr>
          <p:cNvPr id="321" name="Group 358"/>
          <p:cNvGrpSpPr>
            <a:grpSpLocks/>
          </p:cNvGrpSpPr>
          <p:nvPr/>
        </p:nvGrpSpPr>
        <p:grpSpPr bwMode="auto">
          <a:xfrm>
            <a:off x="9801730" y="4849406"/>
            <a:ext cx="1522412" cy="868363"/>
            <a:chOff x="4249" y="3122"/>
            <a:chExt cx="959" cy="547"/>
          </a:xfrm>
        </p:grpSpPr>
        <p:sp>
          <p:nvSpPr>
            <p:cNvPr id="322" name="Rectangle 346"/>
            <p:cNvSpPr>
              <a:spLocks noChangeArrowheads="1"/>
            </p:cNvSpPr>
            <p:nvPr/>
          </p:nvSpPr>
          <p:spPr bwMode="auto">
            <a:xfrm>
              <a:off x="4249" y="3122"/>
              <a:ext cx="959" cy="5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23" name="Object 353"/>
            <p:cNvGraphicFramePr>
              <a:graphicFrameLocks noChangeAspect="1"/>
            </p:cNvGraphicFramePr>
            <p:nvPr/>
          </p:nvGraphicFramePr>
          <p:xfrm>
            <a:off x="4349" y="3135"/>
            <a:ext cx="746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33169" imgH="380835" progId="Equation.3">
                    <p:embed/>
                  </p:oleObj>
                </mc:Choice>
                <mc:Fallback>
                  <p:oleObj name="Equation" r:id="rId2" imgW="533169" imgH="380835" progId="Equation.3">
                    <p:embed/>
                    <p:pic>
                      <p:nvPicPr>
                        <p:cNvPr id="323" name="Object 3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9" y="3135"/>
                          <a:ext cx="746" cy="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4" name="Group 357"/>
          <p:cNvGrpSpPr>
            <a:grpSpLocks/>
          </p:cNvGrpSpPr>
          <p:nvPr/>
        </p:nvGrpSpPr>
        <p:grpSpPr bwMode="auto">
          <a:xfrm>
            <a:off x="9950955" y="2979331"/>
            <a:ext cx="1335087" cy="1254125"/>
            <a:chOff x="4343" y="1944"/>
            <a:chExt cx="841" cy="790"/>
          </a:xfrm>
        </p:grpSpPr>
        <p:graphicFrame>
          <p:nvGraphicFramePr>
            <p:cNvPr id="325" name="Object 352"/>
            <p:cNvGraphicFramePr>
              <a:graphicFrameLocks noChangeAspect="1"/>
            </p:cNvGraphicFramePr>
            <p:nvPr/>
          </p:nvGraphicFramePr>
          <p:xfrm>
            <a:off x="4343" y="2206"/>
            <a:ext cx="84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45863" imgH="342751" progId="Equation.3">
                    <p:embed/>
                  </p:oleObj>
                </mc:Choice>
                <mc:Fallback>
                  <p:oleObj name="Equation" r:id="rId4" imgW="545863" imgH="342751" progId="Equation.3">
                    <p:embed/>
                    <p:pic>
                      <p:nvPicPr>
                        <p:cNvPr id="325" name="Object 3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3" y="2206"/>
                          <a:ext cx="841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6" name="AutoShape 355"/>
            <p:cNvSpPr>
              <a:spLocks noChangeArrowheads="1"/>
            </p:cNvSpPr>
            <p:nvPr/>
          </p:nvSpPr>
          <p:spPr bwMode="auto">
            <a:xfrm>
              <a:off x="4536" y="1944"/>
              <a:ext cx="312" cy="318"/>
            </a:xfrm>
            <a:prstGeom prst="downArrow">
              <a:avLst>
                <a:gd name="adj1" fmla="val 50000"/>
                <a:gd name="adj2" fmla="val 25481"/>
              </a:avLst>
            </a:prstGeom>
            <a:solidFill>
              <a:srgbClr val="FF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27" name="Object 3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568029"/>
              </p:ext>
            </p:extLst>
          </p:nvPr>
        </p:nvGraphicFramePr>
        <p:xfrm>
          <a:off x="3656517" y="4357281"/>
          <a:ext cx="7826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533400" progId="Equation.3">
                  <p:embed/>
                </p:oleObj>
              </mc:Choice>
              <mc:Fallback>
                <p:oleObj name="Equation" r:id="rId6" imgW="914400" imgH="533400" progId="Equation.3">
                  <p:embed/>
                  <p:pic>
                    <p:nvPicPr>
                      <p:cNvPr id="327" name="Object 3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517" y="4357281"/>
                        <a:ext cx="782638" cy="4572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" name="Object 3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442595"/>
              </p:ext>
            </p:extLst>
          </p:nvPr>
        </p:nvGraphicFramePr>
        <p:xfrm>
          <a:off x="5242430" y="4498569"/>
          <a:ext cx="6000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30" imgH="355446" progId="Equation.3">
                  <p:embed/>
                </p:oleObj>
              </mc:Choice>
              <mc:Fallback>
                <p:oleObj name="Equation" r:id="rId8" imgW="622030" imgH="355446" progId="Equation.3">
                  <p:embed/>
                  <p:pic>
                    <p:nvPicPr>
                      <p:cNvPr id="328" name="Object 3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2430" y="4498569"/>
                        <a:ext cx="600075" cy="3429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9" name="Group 362"/>
          <p:cNvGrpSpPr>
            <a:grpSpLocks/>
          </p:cNvGrpSpPr>
          <p:nvPr/>
        </p:nvGrpSpPr>
        <p:grpSpPr bwMode="auto">
          <a:xfrm>
            <a:off x="5532942" y="3865156"/>
            <a:ext cx="2708275" cy="1163638"/>
            <a:chOff x="2016" y="2214"/>
            <a:chExt cx="1706" cy="733"/>
          </a:xfrm>
        </p:grpSpPr>
        <p:graphicFrame>
          <p:nvGraphicFramePr>
            <p:cNvPr id="330" name="Object 344"/>
            <p:cNvGraphicFramePr>
              <a:graphicFrameLocks noChangeAspect="1"/>
            </p:cNvGraphicFramePr>
            <p:nvPr/>
          </p:nvGraphicFramePr>
          <p:xfrm>
            <a:off x="2720" y="2576"/>
            <a:ext cx="1002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926698" imgH="342751" progId="Equation.3">
                    <p:embed/>
                  </p:oleObj>
                </mc:Choice>
                <mc:Fallback>
                  <p:oleObj name="Equation" r:id="rId10" imgW="926698" imgH="342751" progId="Equation.3">
                    <p:embed/>
                    <p:pic>
                      <p:nvPicPr>
                        <p:cNvPr id="330" name="Object 3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0" y="2576"/>
                          <a:ext cx="1002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1" name="AutoShape 361"/>
            <p:cNvSpPr>
              <a:spLocks noChangeArrowheads="1"/>
            </p:cNvSpPr>
            <p:nvPr/>
          </p:nvSpPr>
          <p:spPr bwMode="auto">
            <a:xfrm>
              <a:off x="2016" y="2214"/>
              <a:ext cx="996" cy="330"/>
            </a:xfrm>
            <a:prstGeom prst="curvedDownArrow">
              <a:avLst>
                <a:gd name="adj1" fmla="val 60364"/>
                <a:gd name="adj2" fmla="val 120727"/>
                <a:gd name="adj3" fmla="val 29699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332" name="ZoneTexte 331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Principle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7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5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210804" y="5001476"/>
            <a:ext cx="8229600" cy="14684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fr-FR" altLang="fr-FR" sz="2000" b="1">
                <a:solidFill>
                  <a:srgbClr val="FF3300"/>
                </a:solidFill>
              </a:rPr>
              <a:t>Manufacturer </a:t>
            </a:r>
            <a:r>
              <a:rPr lang="en-CA" altLang="fr-FR" sz="2000" b="1">
                <a:solidFill>
                  <a:srgbClr val="FF3300"/>
                </a:solidFill>
              </a:rPr>
              <a:t>reference</a:t>
            </a:r>
            <a:r>
              <a:rPr lang="fr-FR" altLang="fr-FR" sz="2000" b="1">
                <a:solidFill>
                  <a:srgbClr val="FF3300"/>
                </a:solidFill>
              </a:rPr>
              <a:t>: CI Design Y0-2040AA</a:t>
            </a:r>
            <a:br>
              <a:rPr lang="fr-FR" altLang="fr-FR" sz="2000" b="1">
                <a:solidFill>
                  <a:srgbClr val="FF3300"/>
                </a:solidFill>
              </a:rPr>
            </a:br>
            <a:r>
              <a:rPr lang="en-CA" altLang="fr-FR" sz="2000" b="1">
                <a:solidFill>
                  <a:srgbClr val="FF3300"/>
                </a:solidFill>
              </a:rPr>
              <a:t>Input</a:t>
            </a:r>
            <a:r>
              <a:rPr lang="fr-FR" altLang="fr-FR" sz="2000" b="1">
                <a:solidFill>
                  <a:srgbClr val="FF3300"/>
                </a:solidFill>
              </a:rPr>
              <a:t> : 100 à 240 Vac </a:t>
            </a:r>
            <a:br>
              <a:rPr lang="fr-FR" altLang="fr-FR" sz="2000" b="1">
                <a:solidFill>
                  <a:srgbClr val="FF3300"/>
                </a:solidFill>
              </a:rPr>
            </a:br>
            <a:r>
              <a:rPr lang="fr-FR" altLang="fr-FR" sz="2000" b="1">
                <a:solidFill>
                  <a:srgbClr val="FF3300"/>
                </a:solidFill>
              </a:rPr>
              <a:t>Output : 12 Vdc (2 A)   5 Vdc (3 A)</a:t>
            </a:r>
            <a:br>
              <a:rPr lang="fr-FR" altLang="fr-FR" sz="2000" b="1">
                <a:solidFill>
                  <a:srgbClr val="FF3300"/>
                </a:solidFill>
              </a:rPr>
            </a:br>
            <a:endParaRPr lang="fr-FR" altLang="fr-FR" sz="2000" b="1">
              <a:solidFill>
                <a:srgbClr val="FF3300"/>
              </a:solidFill>
            </a:endParaRPr>
          </a:p>
        </p:txBody>
      </p:sp>
      <p:pic>
        <p:nvPicPr>
          <p:cNvPr id="11" name="Picture 5" descr="Alimentation%20a%20decoupage%20-%20CI%20Design%20Y0-2040AA%20-%2012%20Vdc%20-%205%20Vd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279" y="1829651"/>
            <a:ext cx="7226300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Principle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6987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5" descr="&amp;nbsp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372" y="1312097"/>
            <a:ext cx="85725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589753" y="5958767"/>
            <a:ext cx="17048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fr-FR" sz="3200" b="1" dirty="0">
                <a:latin typeface="Times New Roman" panose="02020603050405020304" pitchFamily="18" charset="0"/>
              </a:rPr>
              <a:t>NuForce</a:t>
            </a:r>
            <a:endParaRPr lang="fr-FR" sz="3200" dirty="0"/>
          </a:p>
        </p:txBody>
      </p:sp>
      <p:sp>
        <p:nvSpPr>
          <p:cNvPr id="10" name="ZoneTexte 9"/>
          <p:cNvSpPr txBox="1"/>
          <p:nvPr/>
        </p:nvSpPr>
        <p:spPr>
          <a:xfrm>
            <a:off x="0" y="0"/>
            <a:ext cx="2479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Forward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Principle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Sizing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4536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Push-Pull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0" y="0"/>
            <a:ext cx="2479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Push-Pull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0109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Push-Pull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Line 3"/>
          <p:cNvSpPr>
            <a:spLocks noChangeShapeType="1"/>
          </p:cNvSpPr>
          <p:nvPr/>
        </p:nvSpPr>
        <p:spPr bwMode="auto">
          <a:xfrm>
            <a:off x="3986081" y="6093736"/>
            <a:ext cx="5113337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4"/>
          <p:cNvSpPr>
            <a:spLocks noChangeShapeType="1"/>
          </p:cNvSpPr>
          <p:nvPr/>
        </p:nvSpPr>
        <p:spPr bwMode="auto">
          <a:xfrm flipV="1">
            <a:off x="4201981" y="4436386"/>
            <a:ext cx="0" cy="187166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9008296" y="5757574"/>
            <a:ext cx="26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4" name="Rectangle 6" descr="noir)"/>
          <p:cNvSpPr>
            <a:spLocks noChangeArrowheads="1"/>
          </p:cNvSpPr>
          <p:nvPr/>
        </p:nvSpPr>
        <p:spPr bwMode="auto">
          <a:xfrm>
            <a:off x="4203568" y="5157111"/>
            <a:ext cx="1295400" cy="9350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1800" dirty="0">
                <a:latin typeface="Times New Roman" panose="02020603050405020304" pitchFamily="18" charset="0"/>
              </a:rPr>
              <a:t>T</a:t>
            </a:r>
            <a:r>
              <a:rPr lang="en-US" altLang="fr-FR" sz="1800" baseline="-25000" dirty="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1800" dirty="0">
                <a:latin typeface="Times New Roman" panose="02020603050405020304" pitchFamily="18" charset="0"/>
              </a:rPr>
              <a:t>“Closed”</a:t>
            </a:r>
          </a:p>
        </p:txBody>
      </p:sp>
      <p:sp>
        <p:nvSpPr>
          <p:cNvPr id="15" name="Rectangle 7" descr="noir)"/>
          <p:cNvSpPr>
            <a:spLocks noChangeArrowheads="1"/>
          </p:cNvSpPr>
          <p:nvPr/>
        </p:nvSpPr>
        <p:spPr bwMode="auto">
          <a:xfrm>
            <a:off x="5498968" y="5157111"/>
            <a:ext cx="1060025" cy="9350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1800" dirty="0">
              <a:latin typeface="Times New Roman" panose="02020603050405020304" pitchFamily="18" charset="0"/>
            </a:endParaRP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4057518" y="6158773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5210043" y="6124287"/>
            <a:ext cx="51809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 dirty="0">
                <a:latin typeface="Symbol" panose="05050102010706020507" pitchFamily="18" charset="2"/>
              </a:rPr>
              <a:t>a</a:t>
            </a:r>
            <a:r>
              <a:rPr lang="fr-FR" altLang="fr-FR" sz="2000" b="1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6332405" y="6124986"/>
            <a:ext cx="5549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 dirty="0">
                <a:latin typeface="Times New Roman" panose="02020603050405020304" pitchFamily="18" charset="0"/>
              </a:rPr>
              <a:t>T/2</a:t>
            </a:r>
          </a:p>
        </p:txBody>
      </p:sp>
      <p:sp>
        <p:nvSpPr>
          <p:cNvPr id="19" name="Rectangle 6" descr="noir)"/>
          <p:cNvSpPr>
            <a:spLocks noChangeArrowheads="1"/>
          </p:cNvSpPr>
          <p:nvPr/>
        </p:nvSpPr>
        <p:spPr bwMode="auto">
          <a:xfrm>
            <a:off x="6553332" y="5155524"/>
            <a:ext cx="1295400" cy="9350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1800" dirty="0">
                <a:latin typeface="Times New Roman" panose="02020603050405020304" pitchFamily="18" charset="0"/>
              </a:rPr>
              <a:t>T</a:t>
            </a:r>
            <a:r>
              <a:rPr lang="en-US" altLang="fr-FR" sz="1800" baseline="-25000" dirty="0">
                <a:latin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1800" dirty="0">
                <a:latin typeface="Times New Roman" panose="02020603050405020304" pitchFamily="18" charset="0"/>
              </a:rPr>
              <a:t>“Closed”</a:t>
            </a:r>
          </a:p>
        </p:txBody>
      </p:sp>
      <p:sp>
        <p:nvSpPr>
          <p:cNvPr id="20" name="Rectangle 7" descr="noir)"/>
          <p:cNvSpPr>
            <a:spLocks noChangeArrowheads="1"/>
          </p:cNvSpPr>
          <p:nvPr/>
        </p:nvSpPr>
        <p:spPr bwMode="auto">
          <a:xfrm>
            <a:off x="7848732" y="5155524"/>
            <a:ext cx="1060025" cy="9350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1800" dirty="0">
              <a:latin typeface="Times New Roman" panose="02020603050405020304" pitchFamily="18" charset="0"/>
            </a:endParaRP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7328845" y="6086005"/>
            <a:ext cx="10166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 dirty="0">
                <a:latin typeface="Symbol" panose="05050102010706020507" pitchFamily="18" charset="2"/>
              </a:rPr>
              <a:t>T/2+a</a:t>
            </a:r>
            <a:r>
              <a:rPr lang="fr-FR" altLang="fr-FR" sz="2000" b="1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8721570" y="6108572"/>
            <a:ext cx="3561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0" y="0"/>
            <a:ext cx="24799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Push-Pull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672" y="505179"/>
            <a:ext cx="7782346" cy="434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3945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 6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486"/>
          <a:stretch/>
        </p:blipFill>
        <p:spPr>
          <a:xfrm>
            <a:off x="7512554" y="-210727"/>
            <a:ext cx="4475952" cy="4344954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No load study : </a:t>
            </a:r>
            <a:r>
              <a:rPr lang="en-US" sz="2000" dirty="0" err="1">
                <a:solidFill>
                  <a:srgbClr val="9E003B"/>
                </a:solidFill>
                <a:latin typeface="Myriad Pro"/>
                <a:cs typeface="Myriad Pro"/>
              </a:rPr>
              <a:t>i</a:t>
            </a:r>
            <a:r>
              <a:rPr lang="en-US" sz="2000" baseline="-25000" dirty="0" err="1">
                <a:solidFill>
                  <a:srgbClr val="9E003B"/>
                </a:solidFill>
                <a:latin typeface="Myriad Pro"/>
                <a:cs typeface="Myriad Pro"/>
              </a:rPr>
              <a:t>L</a:t>
            </a: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 = 0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01897" y="1056144"/>
            <a:ext cx="4315412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b="1" u="sng" dirty="0"/>
              <a:t>0 &lt; t &lt; </a:t>
            </a:r>
            <a:r>
              <a:rPr lang="el-GR" sz="2400" b="1" u="sng" dirty="0"/>
              <a:t>α</a:t>
            </a:r>
            <a:r>
              <a:rPr lang="fr-FR" sz="2400" b="1" u="sng" dirty="0"/>
              <a:t>T:</a:t>
            </a:r>
            <a:r>
              <a:rPr lang="fr-FR" sz="2400" dirty="0"/>
              <a:t> </a:t>
            </a:r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 “closed”, T2 “open”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2445626" y="1465024"/>
                <a:ext cx="3350264" cy="993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Magnetization</a:t>
                </a:r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626" y="1465024"/>
                <a:ext cx="3350264" cy="993605"/>
              </a:xfrm>
              <a:prstGeom prst="rect">
                <a:avLst/>
              </a:prstGeom>
              <a:blipFill>
                <a:blip r:embed="rId3"/>
                <a:stretch>
                  <a:fillRect l="-2727" b="-1288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2532623" y="3450493"/>
                <a:ext cx="20190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𝓡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623" y="3450493"/>
                <a:ext cx="2019079" cy="369332"/>
              </a:xfrm>
              <a:prstGeom prst="rect">
                <a:avLst/>
              </a:prstGeom>
              <a:blipFill>
                <a:blip r:embed="rId4"/>
                <a:stretch>
                  <a:fillRect l="-301" r="-3313" b="-262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2445624" y="2357272"/>
                <a:ext cx="30419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624" y="2357272"/>
                <a:ext cx="3041985" cy="461665"/>
              </a:xfrm>
              <a:prstGeom prst="rect">
                <a:avLst/>
              </a:prstGeom>
              <a:blipFill>
                <a:blip r:embed="rId5"/>
                <a:stretch>
                  <a:fillRect l="-2605" t="-6667" b="-25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utoShape 355"/>
          <p:cNvSpPr>
            <a:spLocks noChangeArrowheads="1"/>
          </p:cNvSpPr>
          <p:nvPr/>
        </p:nvSpPr>
        <p:spPr bwMode="auto">
          <a:xfrm rot="16200000">
            <a:off x="2537386" y="2818566"/>
            <a:ext cx="495300" cy="504825"/>
          </a:xfrm>
          <a:prstGeom prst="downArrow">
            <a:avLst>
              <a:gd name="adj1" fmla="val 50000"/>
              <a:gd name="adj2" fmla="val 25481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3267239" y="2809338"/>
            <a:ext cx="2679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  <a:r>
              <a:rPr lang="en-US" sz="2400" b="1" dirty="0">
                <a:solidFill>
                  <a:srgbClr val="FF0000"/>
                </a:solidFill>
              </a:rPr>
              <a:t> « reverse 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2624" y="3923230"/>
            <a:ext cx="3666709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l-GR" sz="2400" b="1" u="sng" dirty="0"/>
              <a:t>α</a:t>
            </a:r>
            <a:r>
              <a:rPr lang="fr-FR" sz="2400" b="1" u="sng" dirty="0"/>
              <a:t>T &lt; t &lt; T/2:</a:t>
            </a:r>
            <a:r>
              <a:rPr lang="fr-FR" sz="2400" dirty="0"/>
              <a:t> </a:t>
            </a:r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 &amp; T</a:t>
            </a:r>
            <a:r>
              <a:rPr lang="en-US" sz="2400" baseline="-25000" dirty="0"/>
              <a:t>2</a:t>
            </a:r>
            <a:r>
              <a:rPr lang="en-US" sz="2400" dirty="0"/>
              <a:t> “open”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2532623" y="4360246"/>
                <a:ext cx="4502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𝓡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 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623" y="4360246"/>
                <a:ext cx="4502571" cy="461665"/>
              </a:xfrm>
              <a:prstGeom prst="rect">
                <a:avLst/>
              </a:prstGeom>
              <a:blipFill>
                <a:blip r:embed="rId6"/>
                <a:stretch>
                  <a:fillRect l="-1759" t="-6579" b="-236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2519923" y="5630758"/>
                <a:ext cx="4277025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i="1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923" y="5630758"/>
                <a:ext cx="4277025" cy="6242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10070602" y="2045384"/>
            <a:ext cx="969113" cy="10659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/>
          <p:cNvSpPr/>
          <p:nvPr/>
        </p:nvSpPr>
        <p:spPr>
          <a:xfrm>
            <a:off x="10707720" y="1939089"/>
            <a:ext cx="1128152" cy="1396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Connecteur droit 24"/>
          <p:cNvCxnSpPr/>
          <p:nvPr/>
        </p:nvCxnSpPr>
        <p:spPr>
          <a:xfrm>
            <a:off x="10678951" y="2004223"/>
            <a:ext cx="0" cy="12630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118577" y="2074928"/>
            <a:ext cx="1644722" cy="1036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/>
          <p:cNvSpPr/>
          <p:nvPr/>
        </p:nvSpPr>
        <p:spPr>
          <a:xfrm>
            <a:off x="8436991" y="2004223"/>
            <a:ext cx="645319" cy="1244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9" name="Connecteur droit 28"/>
          <p:cNvCxnSpPr/>
          <p:nvPr/>
        </p:nvCxnSpPr>
        <p:spPr>
          <a:xfrm flipH="1">
            <a:off x="8416354" y="1848326"/>
            <a:ext cx="2791" cy="14874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432924" y="6203017"/>
            <a:ext cx="2310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Demagnetization</a:t>
            </a:r>
          </a:p>
        </p:txBody>
      </p:sp>
      <p:sp>
        <p:nvSpPr>
          <p:cNvPr id="32" name="AutoShape 355"/>
          <p:cNvSpPr>
            <a:spLocks noChangeArrowheads="1"/>
          </p:cNvSpPr>
          <p:nvPr/>
        </p:nvSpPr>
        <p:spPr bwMode="auto">
          <a:xfrm rot="16200000">
            <a:off x="2530642" y="4815517"/>
            <a:ext cx="495300" cy="504825"/>
          </a:xfrm>
          <a:prstGeom prst="downArrow">
            <a:avLst>
              <a:gd name="adj1" fmla="val 50000"/>
              <a:gd name="adj2" fmla="val 25481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3260494" y="4806289"/>
            <a:ext cx="4130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  <a:r>
              <a:rPr lang="en-US" sz="2400" b="1" dirty="0">
                <a:solidFill>
                  <a:srgbClr val="FF0000"/>
                </a:solidFill>
              </a:rPr>
              <a:t> « forward », D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 « reverse 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10078" y="2182377"/>
            <a:ext cx="746394" cy="10659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6731030" y="2422175"/>
            <a:ext cx="1644722" cy="1036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8652521" y="2465014"/>
            <a:ext cx="645319" cy="582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/>
              <p:cNvSpPr txBox="1"/>
              <p:nvPr/>
            </p:nvSpPr>
            <p:spPr>
              <a:xfrm>
                <a:off x="2525879" y="5199709"/>
                <a:ext cx="4502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𝓡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ZoneTexte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879" y="5199709"/>
                <a:ext cx="4502571" cy="461665"/>
              </a:xfrm>
              <a:prstGeom prst="rect">
                <a:avLst/>
              </a:prstGeom>
              <a:blipFill>
                <a:blip r:embed="rId8"/>
                <a:stretch>
                  <a:fillRect l="-1759" t="-6579" b="-236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Line 49"/>
          <p:cNvSpPr>
            <a:spLocks noChangeShapeType="1"/>
          </p:cNvSpPr>
          <p:nvPr/>
        </p:nvSpPr>
        <p:spPr bwMode="auto">
          <a:xfrm flipV="1">
            <a:off x="8067933" y="4297175"/>
            <a:ext cx="468179" cy="287896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7" name="Line 49"/>
          <p:cNvSpPr>
            <a:spLocks noChangeShapeType="1"/>
          </p:cNvSpPr>
          <p:nvPr/>
        </p:nvSpPr>
        <p:spPr bwMode="auto">
          <a:xfrm flipH="1" flipV="1">
            <a:off x="8532411" y="4301140"/>
            <a:ext cx="468179" cy="287896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8" name="Line 49"/>
          <p:cNvSpPr>
            <a:spLocks noChangeShapeType="1"/>
          </p:cNvSpPr>
          <p:nvPr/>
        </p:nvSpPr>
        <p:spPr bwMode="auto">
          <a:xfrm flipH="1" flipV="1">
            <a:off x="8999446" y="4585056"/>
            <a:ext cx="270712" cy="0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60" name="Groupe 59"/>
          <p:cNvGrpSpPr/>
          <p:nvPr/>
        </p:nvGrpSpPr>
        <p:grpSpPr>
          <a:xfrm>
            <a:off x="7711105" y="3819825"/>
            <a:ext cx="3328611" cy="2844857"/>
            <a:chOff x="7711105" y="3819825"/>
            <a:chExt cx="3328611" cy="2844857"/>
          </a:xfrm>
        </p:grpSpPr>
        <p:grpSp>
          <p:nvGrpSpPr>
            <p:cNvPr id="56" name="Groupe 55"/>
            <p:cNvGrpSpPr/>
            <p:nvPr/>
          </p:nvGrpSpPr>
          <p:grpSpPr>
            <a:xfrm>
              <a:off x="7711105" y="3819825"/>
              <a:ext cx="3328611" cy="2844857"/>
              <a:chOff x="7711105" y="3819825"/>
              <a:chExt cx="3328611" cy="2844857"/>
            </a:xfrm>
          </p:grpSpPr>
          <p:sp>
            <p:nvSpPr>
              <p:cNvPr id="50" name="Text Box 44"/>
              <p:cNvSpPr txBox="1">
                <a:spLocks noChangeArrowheads="1"/>
              </p:cNvSpPr>
              <p:nvPr/>
            </p:nvSpPr>
            <p:spPr bwMode="auto">
              <a:xfrm>
                <a:off x="8897384" y="4575492"/>
                <a:ext cx="529197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 dirty="0">
                    <a:latin typeface="Times New Roman" panose="02020603050405020304" pitchFamily="18" charset="0"/>
                  </a:rPr>
                  <a:t>T/2</a:t>
                </a:r>
              </a:p>
            </p:txBody>
          </p:sp>
          <p:grpSp>
            <p:nvGrpSpPr>
              <p:cNvPr id="55" name="Groupe 54"/>
              <p:cNvGrpSpPr/>
              <p:nvPr/>
            </p:nvGrpSpPr>
            <p:grpSpPr>
              <a:xfrm>
                <a:off x="7711105" y="3819825"/>
                <a:ext cx="3328611" cy="2844857"/>
                <a:chOff x="7711105" y="3819825"/>
                <a:chExt cx="3328611" cy="2844857"/>
              </a:xfrm>
            </p:grpSpPr>
            <p:grpSp>
              <p:nvGrpSpPr>
                <p:cNvPr id="49" name="Groupe 48"/>
                <p:cNvGrpSpPr/>
                <p:nvPr/>
              </p:nvGrpSpPr>
              <p:grpSpPr>
                <a:xfrm>
                  <a:off x="7711105" y="3819825"/>
                  <a:ext cx="3328611" cy="2844857"/>
                  <a:chOff x="7711105" y="3819825"/>
                  <a:chExt cx="3328611" cy="2844857"/>
                </a:xfrm>
              </p:grpSpPr>
              <p:sp>
                <p:nvSpPr>
                  <p:cNvPr id="39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7900908" y="4585071"/>
                    <a:ext cx="3138808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0" name="Line 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8072995" y="3994420"/>
                    <a:ext cx="0" cy="8432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2" name="Text 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711105" y="3819825"/>
                    <a:ext cx="513731" cy="4290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CA" altLang="fr-FR" sz="1800" b="1" dirty="0">
                        <a:solidFill>
                          <a:srgbClr val="009900"/>
                        </a:solidFill>
                        <a:latin typeface="Symbol" panose="05050102010706020507" pitchFamily="18" charset="2"/>
                      </a:rPr>
                      <a:t>j</a:t>
                    </a:r>
                    <a:endParaRPr lang="en-CA" altLang="fr-FR" sz="1800" b="1" baseline="-25000" dirty="0">
                      <a:solidFill>
                        <a:srgbClr val="009900"/>
                      </a:solidFill>
                      <a:latin typeface="Symbol" panose="05050102010706020507" pitchFamily="18" charset="2"/>
                    </a:endParaRPr>
                  </a:p>
                </p:txBody>
              </p:sp>
              <p:sp>
                <p:nvSpPr>
                  <p:cNvPr id="43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8540031" y="4082951"/>
                    <a:ext cx="0" cy="258173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4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208408" y="4574639"/>
                    <a:ext cx="428874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fr-FR" altLang="fr-FR" sz="1400" b="1" dirty="0">
                        <a:latin typeface="Symbol" panose="05050102010706020507" pitchFamily="18" charset="2"/>
                      </a:rPr>
                      <a:t>a</a:t>
                    </a:r>
                    <a:r>
                      <a:rPr lang="fr-FR" altLang="fr-FR" sz="1400" b="1" dirty="0">
                        <a:latin typeface="Times New Roman" panose="02020603050405020304" pitchFamily="18" charset="0"/>
                      </a:rPr>
                      <a:t>T</a:t>
                    </a:r>
                  </a:p>
                </p:txBody>
              </p:sp>
              <p:sp>
                <p:nvSpPr>
                  <p:cNvPr id="45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9281700" y="4032954"/>
                    <a:ext cx="0" cy="258173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52" name="Line 53"/>
                <p:cNvSpPr>
                  <a:spLocks noChangeShapeType="1"/>
                </p:cNvSpPr>
                <p:nvPr/>
              </p:nvSpPr>
              <p:spPr bwMode="auto">
                <a:xfrm>
                  <a:off x="9767780" y="3982957"/>
                  <a:ext cx="0" cy="258173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4" name="Line 53"/>
                <p:cNvSpPr>
                  <a:spLocks noChangeShapeType="1"/>
                </p:cNvSpPr>
                <p:nvPr/>
              </p:nvSpPr>
              <p:spPr bwMode="auto">
                <a:xfrm>
                  <a:off x="10509449" y="3927091"/>
                  <a:ext cx="0" cy="258173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sp>
          <p:nvSpPr>
            <p:cNvPr id="57" name="Text Box 44"/>
            <p:cNvSpPr txBox="1">
              <a:spLocks noChangeArrowheads="1"/>
            </p:cNvSpPr>
            <p:nvPr/>
          </p:nvSpPr>
          <p:spPr bwMode="auto">
            <a:xfrm>
              <a:off x="9347034" y="4123285"/>
              <a:ext cx="52919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 b="1" dirty="0">
                  <a:latin typeface="Times New Roman" panose="02020603050405020304" pitchFamily="18" charset="0"/>
                </a:rPr>
                <a:t>T/2</a:t>
              </a:r>
            </a:p>
            <a:p>
              <a:pPr algn="ctr">
                <a:spcBef>
                  <a:spcPct val="0"/>
                </a:spcBef>
                <a:buNone/>
              </a:pPr>
              <a:r>
                <a:rPr lang="fr-FR" altLang="fr-FR" sz="1400" b="1" dirty="0">
                  <a:latin typeface="Times New Roman" panose="02020603050405020304" pitchFamily="18" charset="0"/>
                </a:rPr>
                <a:t>+</a:t>
              </a:r>
              <a:r>
                <a:rPr lang="fr-FR" altLang="fr-FR" sz="1400" b="1" dirty="0">
                  <a:latin typeface="Symbol" panose="05050102010706020507" pitchFamily="18" charset="2"/>
                </a:rPr>
                <a:t>a</a:t>
              </a:r>
              <a:r>
                <a:rPr lang="fr-FR" altLang="fr-FR" sz="1400" b="1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0284676" y="4530355"/>
              <a:ext cx="30489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altLang="fr-FR" sz="1400" b="1" dirty="0">
                  <a:latin typeface="Times New Roman" panose="02020603050405020304" pitchFamily="18" charset="0"/>
                </a:rPr>
                <a:t>T</a:t>
              </a:r>
              <a:endParaRPr lang="fr-FR" dirty="0"/>
            </a:p>
          </p:txBody>
        </p:sp>
      </p:grpSp>
      <p:sp>
        <p:nvSpPr>
          <p:cNvPr id="64" name="Line 18"/>
          <p:cNvSpPr>
            <a:spLocks noChangeShapeType="1"/>
          </p:cNvSpPr>
          <p:nvPr/>
        </p:nvSpPr>
        <p:spPr bwMode="auto">
          <a:xfrm flipV="1">
            <a:off x="7900047" y="5706628"/>
            <a:ext cx="313966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5" name="Line 27"/>
          <p:cNvSpPr>
            <a:spLocks noChangeShapeType="1"/>
          </p:cNvSpPr>
          <p:nvPr/>
        </p:nvSpPr>
        <p:spPr bwMode="auto">
          <a:xfrm flipV="1">
            <a:off x="8072136" y="5030536"/>
            <a:ext cx="0" cy="7596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" name="Line 19"/>
          <p:cNvSpPr>
            <a:spLocks noChangeShapeType="1"/>
          </p:cNvSpPr>
          <p:nvPr/>
        </p:nvSpPr>
        <p:spPr bwMode="auto">
          <a:xfrm>
            <a:off x="8086748" y="5254033"/>
            <a:ext cx="4456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7" name="Text Box 24"/>
          <p:cNvSpPr txBox="1">
            <a:spLocks noChangeArrowheads="1"/>
          </p:cNvSpPr>
          <p:nvPr/>
        </p:nvSpPr>
        <p:spPr bwMode="auto">
          <a:xfrm>
            <a:off x="7739895" y="4993998"/>
            <a:ext cx="3770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8" name="Line 19"/>
          <p:cNvSpPr>
            <a:spLocks noChangeShapeType="1"/>
          </p:cNvSpPr>
          <p:nvPr/>
        </p:nvSpPr>
        <p:spPr bwMode="auto">
          <a:xfrm>
            <a:off x="8532411" y="6255031"/>
            <a:ext cx="4456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9" name="Line 19"/>
          <p:cNvSpPr>
            <a:spLocks noChangeShapeType="1"/>
          </p:cNvSpPr>
          <p:nvPr/>
        </p:nvSpPr>
        <p:spPr bwMode="auto">
          <a:xfrm>
            <a:off x="8954534" y="5727327"/>
            <a:ext cx="32716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0" name="Line 19"/>
          <p:cNvSpPr>
            <a:spLocks noChangeShapeType="1"/>
          </p:cNvSpPr>
          <p:nvPr/>
        </p:nvSpPr>
        <p:spPr bwMode="auto">
          <a:xfrm>
            <a:off x="8543953" y="5254032"/>
            <a:ext cx="4738" cy="100099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1" name="Line 19"/>
          <p:cNvSpPr>
            <a:spLocks noChangeShapeType="1"/>
          </p:cNvSpPr>
          <p:nvPr/>
        </p:nvSpPr>
        <p:spPr bwMode="auto">
          <a:xfrm>
            <a:off x="8964059" y="5706627"/>
            <a:ext cx="0" cy="54840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" name="ZoneTexte 52"/>
          <p:cNvSpPr txBox="1"/>
          <p:nvPr/>
        </p:nvSpPr>
        <p:spPr>
          <a:xfrm>
            <a:off x="0" y="0"/>
            <a:ext cx="247996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Push-Pull</a:t>
            </a:r>
          </a:p>
          <a:p>
            <a:r>
              <a:rPr lang="en-US" b="1" dirty="0">
                <a:solidFill>
                  <a:srgbClr val="FF0000"/>
                </a:solidFill>
              </a:rPr>
              <a:t>No laod study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Other structures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10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 animBg="1"/>
      <p:bldP spid="16" grpId="0"/>
      <p:bldP spid="17" grpId="0" animBg="1"/>
      <p:bldP spid="24" grpId="0" animBg="1"/>
      <p:bldP spid="24" grpId="1" animBg="1"/>
      <p:bldP spid="24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31" grpId="0"/>
      <p:bldP spid="32" grpId="0" animBg="1"/>
      <p:bldP spid="33" grpId="0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41" grpId="0" animBg="1"/>
      <p:bldP spid="47" grpId="0" animBg="1"/>
      <p:bldP spid="48" grpId="0" animBg="1"/>
      <p:bldP spid="66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No load study : </a:t>
            </a:r>
            <a:r>
              <a:rPr lang="en-US" sz="2000" dirty="0" err="1">
                <a:solidFill>
                  <a:srgbClr val="9E003B"/>
                </a:solidFill>
                <a:latin typeface="Myriad Pro"/>
                <a:cs typeface="Myriad Pro"/>
              </a:rPr>
              <a:t>i</a:t>
            </a:r>
            <a:r>
              <a:rPr lang="en-US" sz="2000" baseline="-25000" dirty="0" err="1">
                <a:solidFill>
                  <a:srgbClr val="9E003B"/>
                </a:solidFill>
                <a:latin typeface="Myriad Pro"/>
                <a:cs typeface="Myriad Pro"/>
              </a:rPr>
              <a:t>L</a:t>
            </a: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 = 0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01897" y="1056144"/>
            <a:ext cx="524130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b="1" u="sng" dirty="0"/>
              <a:t>T/2 &lt; t &lt; T/2+</a:t>
            </a:r>
            <a:r>
              <a:rPr lang="el-GR" sz="2400" b="1" u="sng" dirty="0"/>
              <a:t>α</a:t>
            </a:r>
            <a:r>
              <a:rPr lang="fr-FR" sz="2400" b="1" u="sng" dirty="0"/>
              <a:t>T:</a:t>
            </a:r>
            <a:r>
              <a:rPr lang="fr-FR" sz="2400" dirty="0"/>
              <a:t> </a:t>
            </a:r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 “open”, T2 “closed”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2445626" y="1465024"/>
                <a:ext cx="3350264" cy="993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Magnetization</a:t>
                </a:r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626" y="1465024"/>
                <a:ext cx="3350264" cy="993605"/>
              </a:xfrm>
              <a:prstGeom prst="rect">
                <a:avLst/>
              </a:prstGeom>
              <a:blipFill>
                <a:blip r:embed="rId2"/>
                <a:stretch>
                  <a:fillRect l="-2727" b="-1288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2532623" y="3450493"/>
                <a:ext cx="17898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𝓡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623" y="3450493"/>
                <a:ext cx="1789849" cy="369332"/>
              </a:xfrm>
              <a:prstGeom prst="rect">
                <a:avLst/>
              </a:prstGeom>
              <a:blipFill>
                <a:blip r:embed="rId3"/>
                <a:stretch>
                  <a:fillRect l="-2041" r="-4082" b="-262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2445624" y="2357272"/>
                <a:ext cx="30419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624" y="2357272"/>
                <a:ext cx="3041985" cy="461665"/>
              </a:xfrm>
              <a:prstGeom prst="rect">
                <a:avLst/>
              </a:prstGeom>
              <a:blipFill>
                <a:blip r:embed="rId4"/>
                <a:stretch>
                  <a:fillRect l="-2605" t="-6667" b="-25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utoShape 355"/>
          <p:cNvSpPr>
            <a:spLocks noChangeArrowheads="1"/>
          </p:cNvSpPr>
          <p:nvPr/>
        </p:nvSpPr>
        <p:spPr bwMode="auto">
          <a:xfrm rot="16200000">
            <a:off x="2537386" y="2818566"/>
            <a:ext cx="495300" cy="504825"/>
          </a:xfrm>
          <a:prstGeom prst="downArrow">
            <a:avLst>
              <a:gd name="adj1" fmla="val 50000"/>
              <a:gd name="adj2" fmla="val 25481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3267239" y="2809338"/>
            <a:ext cx="2679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 « reverse 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2624" y="3923230"/>
            <a:ext cx="3959930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b="1" u="sng" dirty="0"/>
              <a:t>T/2+</a:t>
            </a:r>
            <a:r>
              <a:rPr lang="el-GR" sz="2400" b="1" u="sng" dirty="0"/>
              <a:t>α</a:t>
            </a:r>
            <a:r>
              <a:rPr lang="fr-FR" sz="2400" b="1" u="sng" dirty="0"/>
              <a:t>T &lt; t &lt; T:</a:t>
            </a:r>
            <a:r>
              <a:rPr lang="fr-FR" sz="2400" dirty="0"/>
              <a:t> </a:t>
            </a:r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 &amp; T</a:t>
            </a:r>
            <a:r>
              <a:rPr lang="en-US" sz="2400" baseline="-25000" dirty="0"/>
              <a:t>2</a:t>
            </a:r>
            <a:r>
              <a:rPr lang="en-US" sz="2400" dirty="0"/>
              <a:t> “open”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2532623" y="4360246"/>
                <a:ext cx="4502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𝓡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 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623" y="4360246"/>
                <a:ext cx="4502571" cy="461665"/>
              </a:xfrm>
              <a:prstGeom prst="rect">
                <a:avLst/>
              </a:prstGeom>
              <a:blipFill>
                <a:blip r:embed="rId5"/>
                <a:stretch>
                  <a:fillRect l="-1759" t="-6579" b="-236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2519923" y="5630758"/>
                <a:ext cx="4277025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i="1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923" y="5630758"/>
                <a:ext cx="4277025" cy="624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 22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86"/>
          <a:stretch/>
        </p:blipFill>
        <p:spPr>
          <a:xfrm>
            <a:off x="7514487" y="-203203"/>
            <a:ext cx="4452939" cy="434270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0070602" y="2045384"/>
            <a:ext cx="969113" cy="10659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/>
          <p:cNvSpPr/>
          <p:nvPr/>
        </p:nvSpPr>
        <p:spPr>
          <a:xfrm>
            <a:off x="10707720" y="1939089"/>
            <a:ext cx="1128152" cy="1396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Connecteur droit 24"/>
          <p:cNvCxnSpPr/>
          <p:nvPr/>
        </p:nvCxnSpPr>
        <p:spPr>
          <a:xfrm>
            <a:off x="10678951" y="2004223"/>
            <a:ext cx="0" cy="12630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118577" y="2074928"/>
            <a:ext cx="1644722" cy="1036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/>
          <p:cNvSpPr/>
          <p:nvPr/>
        </p:nvSpPr>
        <p:spPr>
          <a:xfrm>
            <a:off x="8436991" y="2004223"/>
            <a:ext cx="645319" cy="1244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9" name="Connecteur droit 28"/>
          <p:cNvCxnSpPr/>
          <p:nvPr/>
        </p:nvCxnSpPr>
        <p:spPr>
          <a:xfrm flipH="1">
            <a:off x="8416354" y="1848326"/>
            <a:ext cx="2791" cy="14874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432924" y="6203017"/>
            <a:ext cx="2310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Demagnetization</a:t>
            </a:r>
          </a:p>
        </p:txBody>
      </p:sp>
      <p:sp>
        <p:nvSpPr>
          <p:cNvPr id="32" name="AutoShape 355"/>
          <p:cNvSpPr>
            <a:spLocks noChangeArrowheads="1"/>
          </p:cNvSpPr>
          <p:nvPr/>
        </p:nvSpPr>
        <p:spPr bwMode="auto">
          <a:xfrm rot="16200000">
            <a:off x="2530642" y="4815517"/>
            <a:ext cx="495300" cy="504825"/>
          </a:xfrm>
          <a:prstGeom prst="downArrow">
            <a:avLst>
              <a:gd name="adj1" fmla="val 50000"/>
              <a:gd name="adj2" fmla="val 25481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3260494" y="4806289"/>
            <a:ext cx="4130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 « forward », D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  <a:r>
              <a:rPr lang="en-US" sz="2400" b="1" dirty="0">
                <a:solidFill>
                  <a:srgbClr val="FF0000"/>
                </a:solidFill>
              </a:rPr>
              <a:t> « reverse 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10078" y="2182377"/>
            <a:ext cx="746394" cy="10659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6731030" y="2422175"/>
            <a:ext cx="1644722" cy="1036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8652521" y="2465014"/>
            <a:ext cx="645319" cy="582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/>
              <p:cNvSpPr txBox="1"/>
              <p:nvPr/>
            </p:nvSpPr>
            <p:spPr>
              <a:xfrm>
                <a:off x="2525879" y="5199709"/>
                <a:ext cx="4502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𝓡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ZoneTexte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879" y="5199709"/>
                <a:ext cx="4502571" cy="461665"/>
              </a:xfrm>
              <a:prstGeom prst="rect">
                <a:avLst/>
              </a:prstGeom>
              <a:blipFill>
                <a:blip r:embed="rId8"/>
                <a:stretch>
                  <a:fillRect l="-1759" t="-6579" b="-236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Line 49"/>
          <p:cNvSpPr>
            <a:spLocks noChangeShapeType="1"/>
          </p:cNvSpPr>
          <p:nvPr/>
        </p:nvSpPr>
        <p:spPr bwMode="auto">
          <a:xfrm flipV="1">
            <a:off x="8067933" y="4297175"/>
            <a:ext cx="468179" cy="287896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7" name="Line 49"/>
          <p:cNvSpPr>
            <a:spLocks noChangeShapeType="1"/>
          </p:cNvSpPr>
          <p:nvPr/>
        </p:nvSpPr>
        <p:spPr bwMode="auto">
          <a:xfrm flipH="1" flipV="1">
            <a:off x="8532411" y="4301140"/>
            <a:ext cx="468179" cy="287896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8" name="Line 49"/>
          <p:cNvSpPr>
            <a:spLocks noChangeShapeType="1"/>
          </p:cNvSpPr>
          <p:nvPr/>
        </p:nvSpPr>
        <p:spPr bwMode="auto">
          <a:xfrm flipH="1" flipV="1">
            <a:off x="8999446" y="4585056"/>
            <a:ext cx="270712" cy="0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60" name="Groupe 59"/>
          <p:cNvGrpSpPr/>
          <p:nvPr/>
        </p:nvGrpSpPr>
        <p:grpSpPr>
          <a:xfrm>
            <a:off x="7711105" y="3819825"/>
            <a:ext cx="3328611" cy="2844857"/>
            <a:chOff x="7711105" y="3819825"/>
            <a:chExt cx="3328611" cy="2844857"/>
          </a:xfrm>
        </p:grpSpPr>
        <p:grpSp>
          <p:nvGrpSpPr>
            <p:cNvPr id="56" name="Groupe 55"/>
            <p:cNvGrpSpPr/>
            <p:nvPr/>
          </p:nvGrpSpPr>
          <p:grpSpPr>
            <a:xfrm>
              <a:off x="7711105" y="3819825"/>
              <a:ext cx="3328611" cy="2844857"/>
              <a:chOff x="7711105" y="3819825"/>
              <a:chExt cx="3328611" cy="2844857"/>
            </a:xfrm>
          </p:grpSpPr>
          <p:sp>
            <p:nvSpPr>
              <p:cNvPr id="50" name="Text Box 44"/>
              <p:cNvSpPr txBox="1">
                <a:spLocks noChangeArrowheads="1"/>
              </p:cNvSpPr>
              <p:nvPr/>
            </p:nvSpPr>
            <p:spPr bwMode="auto">
              <a:xfrm>
                <a:off x="8897384" y="4575492"/>
                <a:ext cx="529197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 dirty="0">
                    <a:latin typeface="Times New Roman" panose="02020603050405020304" pitchFamily="18" charset="0"/>
                  </a:rPr>
                  <a:t>T/2</a:t>
                </a:r>
              </a:p>
            </p:txBody>
          </p:sp>
          <p:grpSp>
            <p:nvGrpSpPr>
              <p:cNvPr id="55" name="Groupe 54"/>
              <p:cNvGrpSpPr/>
              <p:nvPr/>
            </p:nvGrpSpPr>
            <p:grpSpPr>
              <a:xfrm>
                <a:off x="7711105" y="3819825"/>
                <a:ext cx="3328611" cy="2844857"/>
                <a:chOff x="7711105" y="3819825"/>
                <a:chExt cx="3328611" cy="2844857"/>
              </a:xfrm>
            </p:grpSpPr>
            <p:grpSp>
              <p:nvGrpSpPr>
                <p:cNvPr id="49" name="Groupe 48"/>
                <p:cNvGrpSpPr/>
                <p:nvPr/>
              </p:nvGrpSpPr>
              <p:grpSpPr>
                <a:xfrm>
                  <a:off x="7711105" y="3819825"/>
                  <a:ext cx="3328611" cy="2844857"/>
                  <a:chOff x="7711105" y="3819825"/>
                  <a:chExt cx="3328611" cy="2844857"/>
                </a:xfrm>
              </p:grpSpPr>
              <p:sp>
                <p:nvSpPr>
                  <p:cNvPr id="39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7900908" y="4585071"/>
                    <a:ext cx="3138808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0" name="Line 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8072995" y="3994420"/>
                    <a:ext cx="0" cy="8432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2" name="Text 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711105" y="3819825"/>
                    <a:ext cx="513731" cy="4290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CA" altLang="fr-FR" sz="1800" b="1" dirty="0">
                        <a:solidFill>
                          <a:srgbClr val="009900"/>
                        </a:solidFill>
                        <a:latin typeface="Symbol" panose="05050102010706020507" pitchFamily="18" charset="2"/>
                      </a:rPr>
                      <a:t>j</a:t>
                    </a:r>
                    <a:endParaRPr lang="en-CA" altLang="fr-FR" sz="1800" b="1" baseline="-25000" dirty="0">
                      <a:solidFill>
                        <a:srgbClr val="009900"/>
                      </a:solidFill>
                      <a:latin typeface="Symbol" panose="05050102010706020507" pitchFamily="18" charset="2"/>
                    </a:endParaRPr>
                  </a:p>
                </p:txBody>
              </p:sp>
              <p:sp>
                <p:nvSpPr>
                  <p:cNvPr id="43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8540031" y="4082951"/>
                    <a:ext cx="0" cy="258173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4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208408" y="4574639"/>
                    <a:ext cx="428874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fr-FR" altLang="fr-FR" sz="1400" b="1" dirty="0">
                        <a:latin typeface="Symbol" panose="05050102010706020507" pitchFamily="18" charset="2"/>
                      </a:rPr>
                      <a:t>a</a:t>
                    </a:r>
                    <a:r>
                      <a:rPr lang="fr-FR" altLang="fr-FR" sz="1400" b="1" dirty="0">
                        <a:latin typeface="Times New Roman" panose="02020603050405020304" pitchFamily="18" charset="0"/>
                      </a:rPr>
                      <a:t>T</a:t>
                    </a:r>
                  </a:p>
                </p:txBody>
              </p:sp>
              <p:sp>
                <p:nvSpPr>
                  <p:cNvPr id="45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9281700" y="4032954"/>
                    <a:ext cx="0" cy="258173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52" name="Line 53"/>
                <p:cNvSpPr>
                  <a:spLocks noChangeShapeType="1"/>
                </p:cNvSpPr>
                <p:nvPr/>
              </p:nvSpPr>
              <p:spPr bwMode="auto">
                <a:xfrm>
                  <a:off x="9767780" y="3982957"/>
                  <a:ext cx="0" cy="258173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4" name="Line 53"/>
                <p:cNvSpPr>
                  <a:spLocks noChangeShapeType="1"/>
                </p:cNvSpPr>
                <p:nvPr/>
              </p:nvSpPr>
              <p:spPr bwMode="auto">
                <a:xfrm>
                  <a:off x="10509449" y="3927091"/>
                  <a:ext cx="0" cy="258173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sp>
          <p:nvSpPr>
            <p:cNvPr id="57" name="Text Box 44"/>
            <p:cNvSpPr txBox="1">
              <a:spLocks noChangeArrowheads="1"/>
            </p:cNvSpPr>
            <p:nvPr/>
          </p:nvSpPr>
          <p:spPr bwMode="auto">
            <a:xfrm>
              <a:off x="9347034" y="4123285"/>
              <a:ext cx="52919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 b="1" dirty="0">
                  <a:latin typeface="Times New Roman" panose="02020603050405020304" pitchFamily="18" charset="0"/>
                </a:rPr>
                <a:t>T/2</a:t>
              </a:r>
            </a:p>
            <a:p>
              <a:pPr algn="ctr">
                <a:spcBef>
                  <a:spcPct val="0"/>
                </a:spcBef>
                <a:buNone/>
              </a:pPr>
              <a:r>
                <a:rPr lang="fr-FR" altLang="fr-FR" sz="1400" b="1" dirty="0">
                  <a:latin typeface="Times New Roman" panose="02020603050405020304" pitchFamily="18" charset="0"/>
                </a:rPr>
                <a:t>+</a:t>
              </a:r>
              <a:r>
                <a:rPr lang="fr-FR" altLang="fr-FR" sz="1400" b="1" dirty="0">
                  <a:latin typeface="Symbol" panose="05050102010706020507" pitchFamily="18" charset="2"/>
                </a:rPr>
                <a:t>a</a:t>
              </a:r>
              <a:r>
                <a:rPr lang="fr-FR" altLang="fr-FR" sz="1400" b="1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0284676" y="4530355"/>
              <a:ext cx="30489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altLang="fr-FR" sz="1400" b="1" dirty="0">
                  <a:latin typeface="Times New Roman" panose="02020603050405020304" pitchFamily="18" charset="0"/>
                </a:rPr>
                <a:t>T</a:t>
              </a:r>
              <a:endParaRPr lang="fr-FR" dirty="0"/>
            </a:p>
          </p:txBody>
        </p:sp>
      </p:grpSp>
      <p:sp>
        <p:nvSpPr>
          <p:cNvPr id="59" name="Line 49"/>
          <p:cNvSpPr>
            <a:spLocks noChangeShapeType="1"/>
          </p:cNvSpPr>
          <p:nvPr/>
        </p:nvSpPr>
        <p:spPr bwMode="auto">
          <a:xfrm flipH="1" flipV="1">
            <a:off x="9286929" y="4598174"/>
            <a:ext cx="468179" cy="287896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" name="Line 49"/>
          <p:cNvSpPr>
            <a:spLocks noChangeShapeType="1"/>
          </p:cNvSpPr>
          <p:nvPr/>
        </p:nvSpPr>
        <p:spPr bwMode="auto">
          <a:xfrm flipV="1">
            <a:off x="9767853" y="4598174"/>
            <a:ext cx="468179" cy="287896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2" name="Line 49"/>
          <p:cNvSpPr>
            <a:spLocks noChangeShapeType="1"/>
          </p:cNvSpPr>
          <p:nvPr/>
        </p:nvSpPr>
        <p:spPr bwMode="auto">
          <a:xfrm flipH="1" flipV="1">
            <a:off x="10238737" y="4587695"/>
            <a:ext cx="270712" cy="0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3" name="Line 49"/>
          <p:cNvSpPr>
            <a:spLocks noChangeShapeType="1"/>
          </p:cNvSpPr>
          <p:nvPr/>
        </p:nvSpPr>
        <p:spPr bwMode="auto">
          <a:xfrm flipV="1">
            <a:off x="10501346" y="4289716"/>
            <a:ext cx="468179" cy="287896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4" name="Line 18"/>
          <p:cNvSpPr>
            <a:spLocks noChangeShapeType="1"/>
          </p:cNvSpPr>
          <p:nvPr/>
        </p:nvSpPr>
        <p:spPr bwMode="auto">
          <a:xfrm flipV="1">
            <a:off x="7900047" y="5706628"/>
            <a:ext cx="313966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5" name="Line 27"/>
          <p:cNvSpPr>
            <a:spLocks noChangeShapeType="1"/>
          </p:cNvSpPr>
          <p:nvPr/>
        </p:nvSpPr>
        <p:spPr bwMode="auto">
          <a:xfrm flipV="1">
            <a:off x="8072136" y="5030536"/>
            <a:ext cx="0" cy="7596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" name="Line 19"/>
          <p:cNvSpPr>
            <a:spLocks noChangeShapeType="1"/>
          </p:cNvSpPr>
          <p:nvPr/>
        </p:nvSpPr>
        <p:spPr bwMode="auto">
          <a:xfrm>
            <a:off x="8086748" y="5254033"/>
            <a:ext cx="4456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7" name="Text Box 24"/>
          <p:cNvSpPr txBox="1">
            <a:spLocks noChangeArrowheads="1"/>
          </p:cNvSpPr>
          <p:nvPr/>
        </p:nvSpPr>
        <p:spPr bwMode="auto">
          <a:xfrm>
            <a:off x="7739895" y="4993998"/>
            <a:ext cx="3770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8" name="Line 19"/>
          <p:cNvSpPr>
            <a:spLocks noChangeShapeType="1"/>
          </p:cNvSpPr>
          <p:nvPr/>
        </p:nvSpPr>
        <p:spPr bwMode="auto">
          <a:xfrm>
            <a:off x="8532411" y="6255031"/>
            <a:ext cx="4456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9" name="Line 19"/>
          <p:cNvSpPr>
            <a:spLocks noChangeShapeType="1"/>
          </p:cNvSpPr>
          <p:nvPr/>
        </p:nvSpPr>
        <p:spPr bwMode="auto">
          <a:xfrm>
            <a:off x="8954534" y="5727327"/>
            <a:ext cx="32716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0" name="Line 19"/>
          <p:cNvSpPr>
            <a:spLocks noChangeShapeType="1"/>
          </p:cNvSpPr>
          <p:nvPr/>
        </p:nvSpPr>
        <p:spPr bwMode="auto">
          <a:xfrm>
            <a:off x="8543953" y="5254032"/>
            <a:ext cx="4738" cy="100099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1" name="Line 19"/>
          <p:cNvSpPr>
            <a:spLocks noChangeShapeType="1"/>
          </p:cNvSpPr>
          <p:nvPr/>
        </p:nvSpPr>
        <p:spPr bwMode="auto">
          <a:xfrm>
            <a:off x="8964059" y="5706627"/>
            <a:ext cx="0" cy="54840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2" name="Line 19"/>
          <p:cNvSpPr>
            <a:spLocks noChangeShapeType="1"/>
          </p:cNvSpPr>
          <p:nvPr/>
        </p:nvSpPr>
        <p:spPr bwMode="auto">
          <a:xfrm>
            <a:off x="9297840" y="6255030"/>
            <a:ext cx="4456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3" name="Line 19"/>
          <p:cNvSpPr>
            <a:spLocks noChangeShapeType="1"/>
          </p:cNvSpPr>
          <p:nvPr/>
        </p:nvSpPr>
        <p:spPr bwMode="auto">
          <a:xfrm>
            <a:off x="9292259" y="5706627"/>
            <a:ext cx="0" cy="54840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4" name="Line 19"/>
          <p:cNvSpPr>
            <a:spLocks noChangeShapeType="1"/>
          </p:cNvSpPr>
          <p:nvPr/>
        </p:nvSpPr>
        <p:spPr bwMode="auto">
          <a:xfrm>
            <a:off x="9763079" y="5254032"/>
            <a:ext cx="4738" cy="100099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5" name="Line 19"/>
          <p:cNvSpPr>
            <a:spLocks noChangeShapeType="1"/>
          </p:cNvSpPr>
          <p:nvPr/>
        </p:nvSpPr>
        <p:spPr bwMode="auto">
          <a:xfrm>
            <a:off x="9753554" y="5254032"/>
            <a:ext cx="4456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6" name="Line 19"/>
          <p:cNvSpPr>
            <a:spLocks noChangeShapeType="1"/>
          </p:cNvSpPr>
          <p:nvPr/>
        </p:nvSpPr>
        <p:spPr bwMode="auto">
          <a:xfrm>
            <a:off x="10183275" y="5706627"/>
            <a:ext cx="32716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" name="Line 19"/>
          <p:cNvSpPr>
            <a:spLocks noChangeShapeType="1"/>
          </p:cNvSpPr>
          <p:nvPr/>
        </p:nvSpPr>
        <p:spPr bwMode="auto">
          <a:xfrm>
            <a:off x="10183275" y="5254032"/>
            <a:ext cx="0" cy="45259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" name="Line 19"/>
          <p:cNvSpPr>
            <a:spLocks noChangeShapeType="1"/>
          </p:cNvSpPr>
          <p:nvPr/>
        </p:nvSpPr>
        <p:spPr bwMode="auto">
          <a:xfrm>
            <a:off x="10517243" y="5240740"/>
            <a:ext cx="4456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9" name="Line 19"/>
          <p:cNvSpPr>
            <a:spLocks noChangeShapeType="1"/>
          </p:cNvSpPr>
          <p:nvPr/>
        </p:nvSpPr>
        <p:spPr bwMode="auto">
          <a:xfrm>
            <a:off x="10529549" y="5254032"/>
            <a:ext cx="0" cy="45259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0" name="ZoneTexte 79"/>
          <p:cNvSpPr txBox="1"/>
          <p:nvPr/>
        </p:nvSpPr>
        <p:spPr>
          <a:xfrm>
            <a:off x="0" y="0"/>
            <a:ext cx="247996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Push-Pull</a:t>
            </a:r>
          </a:p>
          <a:p>
            <a:r>
              <a:rPr lang="en-US" b="1" dirty="0">
                <a:solidFill>
                  <a:srgbClr val="FF0000"/>
                </a:solidFill>
              </a:rPr>
              <a:t>No laod study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Other structures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55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4" grpId="0"/>
      <p:bldP spid="15" grpId="0" animBg="1"/>
      <p:bldP spid="16" grpId="0"/>
      <p:bldP spid="17" grpId="0" animBg="1"/>
      <p:bldP spid="18" grpId="0"/>
      <p:bldP spid="20" grpId="0"/>
      <p:bldP spid="24" grpId="0" animBg="1"/>
      <p:bldP spid="24" grpId="1" animBg="1"/>
      <p:bldP spid="24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31" grpId="0"/>
      <p:bldP spid="32" grpId="0" animBg="1"/>
      <p:bldP spid="33" grpId="0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/>
      <p:bldP spid="59" grpId="0" animBg="1"/>
      <p:bldP spid="61" grpId="0" animBg="1"/>
      <p:bldP spid="62" grpId="0" animBg="1"/>
      <p:bldP spid="63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General properties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e 5"/>
          <p:cNvGrpSpPr/>
          <p:nvPr/>
        </p:nvGrpSpPr>
        <p:grpSpPr>
          <a:xfrm>
            <a:off x="3113006" y="5619462"/>
            <a:ext cx="6735214" cy="1038181"/>
            <a:chOff x="4193051" y="5388565"/>
            <a:chExt cx="6735214" cy="1038181"/>
          </a:xfrm>
        </p:grpSpPr>
        <p:sp>
          <p:nvSpPr>
            <p:cNvPr id="24" name="Rectangle 272"/>
            <p:cNvSpPr>
              <a:spLocks noChangeArrowheads="1"/>
            </p:cNvSpPr>
            <p:nvPr/>
          </p:nvSpPr>
          <p:spPr bwMode="auto">
            <a:xfrm>
              <a:off x="4193051" y="5388565"/>
              <a:ext cx="6735214" cy="101532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CA" altLang="fr-FR" sz="180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ZoneTexte 1"/>
                <p:cNvSpPr txBox="1"/>
                <p:nvPr/>
              </p:nvSpPr>
              <p:spPr>
                <a:xfrm>
                  <a:off x="4279137" y="5458019"/>
                  <a:ext cx="6649128" cy="9687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∮"/>
                            <m:limLoc m:val="undOvr"/>
                            <m:subHide m:val="on"/>
                            <m:supHide m:val="on"/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  <m:t>𝑯</m:t>
                            </m:r>
                            <m: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  <m:t>𝒅𝒍</m:t>
                            </m:r>
                          </m:e>
                        </m:nary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𝓡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 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 </m:t>
                        </m:r>
                        <m:sSub>
                          <m:sSubPr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 </m:t>
                        </m:r>
                        <m:sSub>
                          <m:sSubPr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 </m:t>
                        </m:r>
                        <m:sSub>
                          <m:sSubPr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fr-FR" sz="2400" b="1" dirty="0"/>
                </a:p>
              </p:txBody>
            </p:sp>
          </mc:Choice>
          <mc:Fallback xmlns="">
            <p:sp>
              <p:nvSpPr>
                <p:cNvPr id="2" name="ZoneTexte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9137" y="5458019"/>
                  <a:ext cx="6649128" cy="9687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ZoneTexte 6"/>
          <p:cNvSpPr txBox="1"/>
          <p:nvPr/>
        </p:nvSpPr>
        <p:spPr>
          <a:xfrm>
            <a:off x="5247193" y="5131768"/>
            <a:ext cx="2714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Hopkinson’s law</a:t>
            </a:r>
          </a:p>
        </p:txBody>
      </p:sp>
      <p:sp>
        <p:nvSpPr>
          <p:cNvPr id="27" name="Text Box 267"/>
          <p:cNvSpPr txBox="1">
            <a:spLocks noChangeArrowheads="1"/>
          </p:cNvSpPr>
          <p:nvPr/>
        </p:nvSpPr>
        <p:spPr bwMode="auto">
          <a:xfrm>
            <a:off x="6675658" y="4074589"/>
            <a:ext cx="535755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2800" b="1" dirty="0">
                <a:latin typeface="Times New Roman" panose="02020603050405020304" pitchFamily="18" charset="0"/>
              </a:rPr>
              <a:t>T</a:t>
            </a:r>
            <a:r>
              <a:rPr lang="en-CA" altLang="fr-FR" sz="2800" b="1" baseline="-25000" dirty="0">
                <a:latin typeface="Times New Roman" panose="02020603050405020304" pitchFamily="18" charset="0"/>
              </a:rPr>
              <a:t>1</a:t>
            </a:r>
            <a:r>
              <a:rPr lang="en-CA" altLang="fr-FR" sz="2800" b="1" dirty="0">
                <a:latin typeface="Times New Roman" panose="02020603050405020304" pitchFamily="18" charset="0"/>
              </a:rPr>
              <a:t> “closed” : D</a:t>
            </a:r>
            <a:r>
              <a:rPr lang="en-CA" altLang="fr-FR" sz="2800" b="1" baseline="-25000" dirty="0">
                <a:latin typeface="Times New Roman" panose="02020603050405020304" pitchFamily="18" charset="0"/>
              </a:rPr>
              <a:t>3</a:t>
            </a:r>
            <a:r>
              <a:rPr lang="en-CA" altLang="fr-FR" sz="2800" b="1" dirty="0">
                <a:latin typeface="Times New Roman" panose="02020603050405020304" pitchFamily="18" charset="0"/>
              </a:rPr>
              <a:t> “forward”, i</a:t>
            </a:r>
            <a:r>
              <a:rPr lang="en-CA" altLang="fr-FR" sz="2800" b="1" baseline="-25000" dirty="0">
                <a:latin typeface="Times New Roman" panose="02020603050405020304" pitchFamily="18" charset="0"/>
              </a:rPr>
              <a:t>3</a:t>
            </a:r>
            <a:r>
              <a:rPr lang="en-CA" altLang="fr-FR" sz="2800" b="1" dirty="0">
                <a:latin typeface="Times New Roman" panose="02020603050405020304" pitchFamily="18" charset="0"/>
              </a:rPr>
              <a:t> = </a:t>
            </a:r>
            <a:r>
              <a:rPr lang="en-CA" altLang="fr-FR" sz="2800" b="1" dirty="0" err="1">
                <a:latin typeface="Times New Roman" panose="02020603050405020304" pitchFamily="18" charset="0"/>
              </a:rPr>
              <a:t>i</a:t>
            </a:r>
            <a:r>
              <a:rPr lang="en-CA" altLang="fr-FR" sz="2800" b="1" baseline="-25000" dirty="0" err="1">
                <a:latin typeface="Times New Roman" panose="02020603050405020304" pitchFamily="18" charset="0"/>
              </a:rPr>
              <a:t>L</a:t>
            </a:r>
            <a:endParaRPr lang="en-CA" altLang="fr-FR" sz="2800" b="1" baseline="-250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None/>
            </a:pPr>
            <a:r>
              <a:rPr lang="en-CA" altLang="fr-FR" sz="2800" b="1" dirty="0">
                <a:latin typeface="Times New Roman" panose="02020603050405020304" pitchFamily="18" charset="0"/>
              </a:rPr>
              <a:t>T</a:t>
            </a:r>
            <a:r>
              <a:rPr lang="en-CA" altLang="fr-FR" sz="2800" b="1" baseline="-25000" dirty="0">
                <a:latin typeface="Times New Roman" panose="02020603050405020304" pitchFamily="18" charset="0"/>
              </a:rPr>
              <a:t>2</a:t>
            </a:r>
            <a:r>
              <a:rPr lang="en-CA" altLang="fr-FR" sz="2800" b="1" dirty="0">
                <a:latin typeface="Times New Roman" panose="02020603050405020304" pitchFamily="18" charset="0"/>
              </a:rPr>
              <a:t> “closed” : D</a:t>
            </a:r>
            <a:r>
              <a:rPr lang="en-CA" altLang="fr-FR" sz="2800" b="1" baseline="-25000" dirty="0">
                <a:latin typeface="Times New Roman" panose="02020603050405020304" pitchFamily="18" charset="0"/>
              </a:rPr>
              <a:t>4</a:t>
            </a:r>
            <a:r>
              <a:rPr lang="en-CA" altLang="fr-FR" sz="2800" b="1" dirty="0">
                <a:latin typeface="Times New Roman" panose="02020603050405020304" pitchFamily="18" charset="0"/>
              </a:rPr>
              <a:t> “forward”, i</a:t>
            </a:r>
            <a:r>
              <a:rPr lang="en-CA" altLang="fr-FR" sz="2800" b="1" baseline="-25000" dirty="0">
                <a:latin typeface="Times New Roman" panose="02020603050405020304" pitchFamily="18" charset="0"/>
              </a:rPr>
              <a:t>4</a:t>
            </a:r>
            <a:r>
              <a:rPr lang="en-CA" altLang="fr-FR" sz="2800" b="1" dirty="0">
                <a:latin typeface="Times New Roman" panose="02020603050405020304" pitchFamily="18" charset="0"/>
              </a:rPr>
              <a:t> = </a:t>
            </a:r>
            <a:r>
              <a:rPr lang="en-CA" altLang="fr-FR" sz="2800" b="1" dirty="0" err="1">
                <a:latin typeface="Times New Roman" panose="02020603050405020304" pitchFamily="18" charset="0"/>
              </a:rPr>
              <a:t>i</a:t>
            </a:r>
            <a:r>
              <a:rPr lang="en-CA" altLang="fr-FR" sz="2800" b="1" baseline="-25000" dirty="0" err="1">
                <a:latin typeface="Times New Roman" panose="02020603050405020304" pitchFamily="18" charset="0"/>
              </a:rPr>
              <a:t>L</a:t>
            </a:r>
            <a:endParaRPr lang="en-CA" altLang="fr-FR" sz="2800" b="1" baseline="-250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397146" y="3603799"/>
                <a:ext cx="1971437" cy="17686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8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fr-FR" sz="2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28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fr-FR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146" y="3603799"/>
                <a:ext cx="1971437" cy="17686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0" y="0"/>
            <a:ext cx="247996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Push-Pull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No laod study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Other structures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009" y="161764"/>
            <a:ext cx="7782346" cy="4344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267"/>
              <p:cNvSpPr txBox="1">
                <a:spLocks noChangeArrowheads="1"/>
              </p:cNvSpPr>
              <p:nvPr/>
            </p:nvSpPr>
            <p:spPr bwMode="auto">
              <a:xfrm>
                <a:off x="9149963" y="2825099"/>
                <a:ext cx="2090637" cy="95410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CA" altLang="fr-FR" sz="2800" b="1" u="sng" dirty="0">
                    <a:latin typeface="Times New Roman" panose="02020603050405020304" pitchFamily="18" charset="0"/>
                  </a:rPr>
                  <a:t>Hypothesis: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fr-FR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altLang="fr-FR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fr-FR" altLang="fr-FR" sz="2800" b="1" i="1" smtClean="0">
                          <a:latin typeface="Cambria Math" panose="02040503050406030204" pitchFamily="18" charset="0"/>
                        </a:rPr>
                        <m:t>≫</m:t>
                      </m:r>
                      <m:sSub>
                        <m:sSubPr>
                          <m:ctrlPr>
                            <a:rPr lang="fr-FR" alt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fr-FR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altLang="fr-FR" sz="28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</m:oMath>
                  </m:oMathPara>
                </a14:m>
                <a:endParaRPr lang="en-CA" altLang="fr-FR" sz="2800" b="1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 Box 2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9963" y="2825099"/>
                <a:ext cx="2090637" cy="954107"/>
              </a:xfrm>
              <a:prstGeom prst="rect">
                <a:avLst/>
              </a:prstGeom>
              <a:blipFill>
                <a:blip r:embed="rId5"/>
                <a:stretch>
                  <a:fillRect l="-4871" t="-4294" r="-4298"/>
                </a:stretch>
              </a:blipFill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30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 10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558" y="880925"/>
            <a:ext cx="6544424" cy="36780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study: magnetization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e 5"/>
          <p:cNvGrpSpPr/>
          <p:nvPr/>
        </p:nvGrpSpPr>
        <p:grpSpPr>
          <a:xfrm>
            <a:off x="2421908" y="2828856"/>
            <a:ext cx="1130269" cy="972949"/>
            <a:chOff x="2775411" y="1806716"/>
            <a:chExt cx="1130269" cy="3919295"/>
          </a:xfrm>
        </p:grpSpPr>
        <p:sp>
          <p:nvSpPr>
            <p:cNvPr id="3" name="Rectangle 2"/>
            <p:cNvSpPr/>
            <p:nvPr/>
          </p:nvSpPr>
          <p:spPr>
            <a:xfrm>
              <a:off x="2775411" y="1806716"/>
              <a:ext cx="1130269" cy="34151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41589" y="5035522"/>
              <a:ext cx="733866" cy="690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2555187" y="4669102"/>
                <a:ext cx="6976354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		</a:t>
                </a:r>
                <a:r>
                  <a:rPr lang="en-US" sz="2400" dirty="0">
                    <a:solidFill>
                      <a:srgbClr val="FF0000"/>
                    </a:solidFill>
                  </a:rPr>
                  <a:t>Magnetization</a:t>
                </a:r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187" y="4669102"/>
                <a:ext cx="6976354" cy="624273"/>
              </a:xfrm>
              <a:prstGeom prst="rect">
                <a:avLst/>
              </a:prstGeom>
              <a:blipFill>
                <a:blip r:embed="rId3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4660621" y="2670628"/>
            <a:ext cx="1397572" cy="1263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Connecteur droit 24"/>
          <p:cNvCxnSpPr/>
          <p:nvPr/>
        </p:nvCxnSpPr>
        <p:spPr>
          <a:xfrm>
            <a:off x="5181375" y="2670628"/>
            <a:ext cx="0" cy="12630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399606" y="2475914"/>
            <a:ext cx="886265" cy="738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/>
          <p:cNvSpPr/>
          <p:nvPr/>
        </p:nvSpPr>
        <p:spPr>
          <a:xfrm>
            <a:off x="7428182" y="897093"/>
            <a:ext cx="409080" cy="612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9" name="Connecteur droit 28"/>
          <p:cNvCxnSpPr/>
          <p:nvPr/>
        </p:nvCxnSpPr>
        <p:spPr>
          <a:xfrm flipV="1">
            <a:off x="7426594" y="1382713"/>
            <a:ext cx="409080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778924" y="1406920"/>
            <a:ext cx="346339" cy="1199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2" name="Connecteur droit 31"/>
          <p:cNvCxnSpPr/>
          <p:nvPr/>
        </p:nvCxnSpPr>
        <p:spPr>
          <a:xfrm flipV="1">
            <a:off x="7752316" y="1986312"/>
            <a:ext cx="409080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/>
              <p:cNvSpPr txBox="1"/>
              <p:nvPr/>
            </p:nvSpPr>
            <p:spPr>
              <a:xfrm>
                <a:off x="4610069" y="5472601"/>
                <a:ext cx="31063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𝓡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069" y="5472601"/>
                <a:ext cx="3106363" cy="369332"/>
              </a:xfrm>
              <a:prstGeom prst="rect">
                <a:avLst/>
              </a:prstGeom>
              <a:blipFill>
                <a:blip r:embed="rId4"/>
                <a:stretch>
                  <a:fillRect r="-2157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/>
              <p:cNvSpPr txBox="1"/>
              <p:nvPr/>
            </p:nvSpPr>
            <p:spPr>
              <a:xfrm>
                <a:off x="4422563" y="5961791"/>
                <a:ext cx="5049011" cy="7523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𝓡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5" name="ZoneText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563" y="5961791"/>
                <a:ext cx="5049011" cy="7523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utoShape 355"/>
          <p:cNvSpPr>
            <a:spLocks noChangeArrowheads="1"/>
          </p:cNvSpPr>
          <p:nvPr/>
        </p:nvSpPr>
        <p:spPr bwMode="auto">
          <a:xfrm rot="16200000">
            <a:off x="3216935" y="5944870"/>
            <a:ext cx="495300" cy="724242"/>
          </a:xfrm>
          <a:prstGeom prst="downArrow">
            <a:avLst>
              <a:gd name="adj1" fmla="val 50000"/>
              <a:gd name="adj2" fmla="val 25481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4" name="Line 12"/>
          <p:cNvSpPr>
            <a:spLocks noChangeShapeType="1"/>
          </p:cNvSpPr>
          <p:nvPr/>
        </p:nvSpPr>
        <p:spPr bwMode="auto">
          <a:xfrm>
            <a:off x="10095887" y="1082575"/>
            <a:ext cx="189296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5" name="Rectangle 13"/>
          <p:cNvSpPr>
            <a:spLocks noChangeArrowheads="1"/>
          </p:cNvSpPr>
          <p:nvPr/>
        </p:nvSpPr>
        <p:spPr bwMode="auto">
          <a:xfrm>
            <a:off x="10267975" y="660946"/>
            <a:ext cx="1260286" cy="42162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6" name="Line 14"/>
          <p:cNvSpPr>
            <a:spLocks noChangeShapeType="1"/>
          </p:cNvSpPr>
          <p:nvPr/>
        </p:nvSpPr>
        <p:spPr bwMode="auto">
          <a:xfrm flipV="1">
            <a:off x="10267975" y="408341"/>
            <a:ext cx="0" cy="75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7" name="Text Box 16"/>
          <p:cNvSpPr txBox="1">
            <a:spLocks noChangeArrowheads="1"/>
          </p:cNvSpPr>
          <p:nvPr/>
        </p:nvSpPr>
        <p:spPr bwMode="auto">
          <a:xfrm>
            <a:off x="9946577" y="744530"/>
            <a:ext cx="435280" cy="356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68" name="Line 18"/>
          <p:cNvSpPr>
            <a:spLocks noChangeShapeType="1"/>
          </p:cNvSpPr>
          <p:nvPr/>
        </p:nvSpPr>
        <p:spPr bwMode="auto">
          <a:xfrm flipV="1">
            <a:off x="10095887" y="2009415"/>
            <a:ext cx="1892960" cy="9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9" name="Line 19"/>
          <p:cNvSpPr>
            <a:spLocks noChangeShapeType="1"/>
          </p:cNvSpPr>
          <p:nvPr/>
        </p:nvSpPr>
        <p:spPr bwMode="auto">
          <a:xfrm>
            <a:off x="10267975" y="1511633"/>
            <a:ext cx="126028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0" name="Text Box 24"/>
          <p:cNvSpPr txBox="1">
            <a:spLocks noChangeArrowheads="1"/>
          </p:cNvSpPr>
          <p:nvPr/>
        </p:nvSpPr>
        <p:spPr bwMode="auto">
          <a:xfrm>
            <a:off x="9921122" y="1251598"/>
            <a:ext cx="3770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1" name="Line 27"/>
          <p:cNvSpPr>
            <a:spLocks noChangeShapeType="1"/>
          </p:cNvSpPr>
          <p:nvPr/>
        </p:nvSpPr>
        <p:spPr bwMode="auto">
          <a:xfrm flipV="1">
            <a:off x="10267975" y="1342611"/>
            <a:ext cx="0" cy="7596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2" name="Text Box 30"/>
          <p:cNvSpPr txBox="1">
            <a:spLocks noChangeArrowheads="1"/>
          </p:cNvSpPr>
          <p:nvPr/>
        </p:nvSpPr>
        <p:spPr bwMode="auto">
          <a:xfrm>
            <a:off x="11644673" y="660946"/>
            <a:ext cx="372013" cy="356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73" name="Text Box 44"/>
          <p:cNvSpPr txBox="1">
            <a:spLocks noChangeArrowheads="1"/>
          </p:cNvSpPr>
          <p:nvPr/>
        </p:nvSpPr>
        <p:spPr bwMode="auto">
          <a:xfrm>
            <a:off x="11184086" y="155735"/>
            <a:ext cx="804761" cy="356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 dirty="0">
                <a:latin typeface="Symbol" panose="05050102010706020507" pitchFamily="18" charset="2"/>
              </a:rPr>
              <a:t>a</a:t>
            </a:r>
            <a:r>
              <a:rPr lang="fr-FR" altLang="fr-FR" sz="1400" b="1" dirty="0">
                <a:latin typeface="Times New Roman" panose="02020603050405020304" pitchFamily="18" charset="0"/>
              </a:rPr>
              <a:t>T</a:t>
            </a:r>
          </a:p>
        </p:txBody>
      </p:sp>
      <p:grpSp>
        <p:nvGrpSpPr>
          <p:cNvPr id="74" name="Group 89"/>
          <p:cNvGrpSpPr>
            <a:grpSpLocks/>
          </p:cNvGrpSpPr>
          <p:nvPr/>
        </p:nvGrpSpPr>
        <p:grpSpPr bwMode="auto">
          <a:xfrm>
            <a:off x="9906086" y="2087425"/>
            <a:ext cx="2082763" cy="1017852"/>
            <a:chOff x="787" y="1344"/>
            <a:chExt cx="823" cy="548"/>
          </a:xfrm>
        </p:grpSpPr>
        <p:sp>
          <p:nvSpPr>
            <p:cNvPr id="75" name="Line 25"/>
            <p:cNvSpPr>
              <a:spLocks noChangeShapeType="1"/>
            </p:cNvSpPr>
            <p:nvPr/>
          </p:nvSpPr>
          <p:spPr bwMode="auto">
            <a:xfrm>
              <a:off x="862" y="1756"/>
              <a:ext cx="7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Line 28"/>
            <p:cNvSpPr>
              <a:spLocks noChangeShapeType="1"/>
            </p:cNvSpPr>
            <p:nvPr/>
          </p:nvSpPr>
          <p:spPr bwMode="auto">
            <a:xfrm flipV="1">
              <a:off x="930" y="1438"/>
              <a:ext cx="0" cy="4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Line 49"/>
            <p:cNvSpPr>
              <a:spLocks noChangeShapeType="1"/>
            </p:cNvSpPr>
            <p:nvPr/>
          </p:nvSpPr>
          <p:spPr bwMode="auto">
            <a:xfrm flipV="1">
              <a:off x="930" y="1615"/>
              <a:ext cx="499" cy="227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Text Box 51"/>
            <p:cNvSpPr txBox="1">
              <a:spLocks noChangeArrowheads="1"/>
            </p:cNvSpPr>
            <p:nvPr/>
          </p:nvSpPr>
          <p:spPr bwMode="auto">
            <a:xfrm>
              <a:off x="787" y="1344"/>
              <a:ext cx="20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dirty="0">
                  <a:solidFill>
                    <a:srgbClr val="009900"/>
                  </a:solidFill>
                  <a:latin typeface="Symbol" panose="05050102010706020507" pitchFamily="18" charset="2"/>
                </a:rPr>
                <a:t>j</a:t>
              </a:r>
              <a:endParaRPr lang="en-CA" altLang="fr-FR" sz="1800" b="1" baseline="-25000" dirty="0">
                <a:solidFill>
                  <a:srgbClr val="009900"/>
                </a:solidFill>
                <a:latin typeface="Symbol" panose="05050102010706020507" pitchFamily="18" charset="2"/>
              </a:endParaRPr>
            </a:p>
          </p:txBody>
        </p:sp>
      </p:grpSp>
      <p:sp>
        <p:nvSpPr>
          <p:cNvPr id="79" name="Line 53"/>
          <p:cNvSpPr>
            <a:spLocks noChangeShapeType="1"/>
          </p:cNvSpPr>
          <p:nvPr/>
        </p:nvSpPr>
        <p:spPr bwMode="auto">
          <a:xfrm>
            <a:off x="11528261" y="324758"/>
            <a:ext cx="0" cy="6058821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80" name="Group 90"/>
          <p:cNvGrpSpPr>
            <a:grpSpLocks/>
          </p:cNvGrpSpPr>
          <p:nvPr/>
        </p:nvGrpSpPr>
        <p:grpSpPr bwMode="auto">
          <a:xfrm>
            <a:off x="9931393" y="3105277"/>
            <a:ext cx="2057456" cy="926840"/>
            <a:chOff x="797" y="1892"/>
            <a:chExt cx="813" cy="499"/>
          </a:xfrm>
        </p:grpSpPr>
        <p:sp>
          <p:nvSpPr>
            <p:cNvPr id="81" name="Text Box 40"/>
            <p:cNvSpPr txBox="1">
              <a:spLocks noChangeArrowheads="1"/>
            </p:cNvSpPr>
            <p:nvPr/>
          </p:nvSpPr>
          <p:spPr bwMode="auto">
            <a:xfrm>
              <a:off x="797" y="1892"/>
              <a:ext cx="139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i</a:t>
              </a:r>
              <a:r>
                <a:rPr lang="en-CA" altLang="fr-FR" sz="1800" b="1" baseline="-25000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L</a:t>
              </a:r>
              <a:endParaRPr lang="en-CA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" name="Line 60"/>
            <p:cNvSpPr>
              <a:spLocks noChangeShapeType="1"/>
            </p:cNvSpPr>
            <p:nvPr/>
          </p:nvSpPr>
          <p:spPr bwMode="auto">
            <a:xfrm flipV="1">
              <a:off x="930" y="1937"/>
              <a:ext cx="0" cy="4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Line 61"/>
            <p:cNvSpPr>
              <a:spLocks noChangeShapeType="1"/>
            </p:cNvSpPr>
            <p:nvPr/>
          </p:nvSpPr>
          <p:spPr bwMode="auto">
            <a:xfrm>
              <a:off x="862" y="2345"/>
              <a:ext cx="7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Line 62"/>
            <p:cNvSpPr>
              <a:spLocks noChangeShapeType="1"/>
            </p:cNvSpPr>
            <p:nvPr/>
          </p:nvSpPr>
          <p:spPr bwMode="auto">
            <a:xfrm flipV="1">
              <a:off x="930" y="2028"/>
              <a:ext cx="498" cy="13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5" name="Group 92"/>
          <p:cNvGrpSpPr>
            <a:grpSpLocks/>
          </p:cNvGrpSpPr>
          <p:nvPr/>
        </p:nvGrpSpPr>
        <p:grpSpPr bwMode="auto">
          <a:xfrm>
            <a:off x="10267973" y="4529899"/>
            <a:ext cx="1260286" cy="1515634"/>
            <a:chOff x="930" y="2659"/>
            <a:chExt cx="498" cy="816"/>
          </a:xfrm>
        </p:grpSpPr>
        <p:sp>
          <p:nvSpPr>
            <p:cNvPr id="86" name="Freeform 69" descr="noir)"/>
            <p:cNvSpPr>
              <a:spLocks/>
            </p:cNvSpPr>
            <p:nvPr/>
          </p:nvSpPr>
          <p:spPr bwMode="auto">
            <a:xfrm>
              <a:off x="930" y="2659"/>
              <a:ext cx="498" cy="227"/>
            </a:xfrm>
            <a:custGeom>
              <a:avLst/>
              <a:gdLst>
                <a:gd name="T0" fmla="*/ 0 w 498"/>
                <a:gd name="T1" fmla="*/ 136 h 227"/>
                <a:gd name="T2" fmla="*/ 498 w 498"/>
                <a:gd name="T3" fmla="*/ 136 h 227"/>
                <a:gd name="T4" fmla="*/ 498 w 498"/>
                <a:gd name="T5" fmla="*/ 0 h 227"/>
                <a:gd name="T6" fmla="*/ 0 w 498"/>
                <a:gd name="T7" fmla="*/ 227 h 227"/>
                <a:gd name="T8" fmla="*/ 0 w 498"/>
                <a:gd name="T9" fmla="*/ 136 h 2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8" h="227">
                  <a:moveTo>
                    <a:pt x="0" y="136"/>
                  </a:moveTo>
                  <a:lnTo>
                    <a:pt x="498" y="136"/>
                  </a:lnTo>
                  <a:lnTo>
                    <a:pt x="498" y="0"/>
                  </a:lnTo>
                  <a:lnTo>
                    <a:pt x="0" y="227"/>
                  </a:lnTo>
                  <a:lnTo>
                    <a:pt x="0" y="136"/>
                  </a:lnTo>
                  <a:close/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7" name="Freeform 73" descr="noir)"/>
            <p:cNvSpPr>
              <a:spLocks/>
            </p:cNvSpPr>
            <p:nvPr/>
          </p:nvSpPr>
          <p:spPr bwMode="auto">
            <a:xfrm>
              <a:off x="930" y="3113"/>
              <a:ext cx="498" cy="362"/>
            </a:xfrm>
            <a:custGeom>
              <a:avLst/>
              <a:gdLst>
                <a:gd name="T0" fmla="*/ 0 w 498"/>
                <a:gd name="T1" fmla="*/ 362 h 362"/>
                <a:gd name="T2" fmla="*/ 498 w 498"/>
                <a:gd name="T3" fmla="*/ 0 h 362"/>
                <a:gd name="T4" fmla="*/ 498 w 498"/>
                <a:gd name="T5" fmla="*/ 136 h 362"/>
                <a:gd name="T6" fmla="*/ 0 w 498"/>
                <a:gd name="T7" fmla="*/ 272 h 362"/>
                <a:gd name="T8" fmla="*/ 0 w 498"/>
                <a:gd name="T9" fmla="*/ 362 h 3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8" h="362">
                  <a:moveTo>
                    <a:pt x="0" y="362"/>
                  </a:moveTo>
                  <a:lnTo>
                    <a:pt x="498" y="0"/>
                  </a:lnTo>
                  <a:lnTo>
                    <a:pt x="498" y="136"/>
                  </a:lnTo>
                  <a:lnTo>
                    <a:pt x="0" y="272"/>
                  </a:lnTo>
                  <a:lnTo>
                    <a:pt x="0" y="362"/>
                  </a:lnTo>
                  <a:close/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8" name="Group 93"/>
          <p:cNvGrpSpPr>
            <a:grpSpLocks/>
          </p:cNvGrpSpPr>
          <p:nvPr/>
        </p:nvGrpSpPr>
        <p:grpSpPr bwMode="auto">
          <a:xfrm>
            <a:off x="9916208" y="5118693"/>
            <a:ext cx="1614583" cy="1090291"/>
            <a:chOff x="791" y="2976"/>
            <a:chExt cx="638" cy="587"/>
          </a:xfrm>
        </p:grpSpPr>
        <p:sp>
          <p:nvSpPr>
            <p:cNvPr id="89" name="Text Box 76"/>
            <p:cNvSpPr txBox="1">
              <a:spLocks noChangeArrowheads="1"/>
            </p:cNvSpPr>
            <p:nvPr/>
          </p:nvSpPr>
          <p:spPr bwMode="auto">
            <a:xfrm>
              <a:off x="791" y="2976"/>
              <a:ext cx="159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-i</a:t>
              </a:r>
              <a:r>
                <a:rPr lang="fr-FR" altLang="fr-FR" sz="1800" b="1" baseline="-250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90" name="Group 77"/>
            <p:cNvGrpSpPr>
              <a:grpSpLocks/>
            </p:cNvGrpSpPr>
            <p:nvPr/>
          </p:nvGrpSpPr>
          <p:grpSpPr bwMode="auto">
            <a:xfrm>
              <a:off x="930" y="3113"/>
              <a:ext cx="499" cy="450"/>
              <a:chOff x="930" y="3113"/>
              <a:chExt cx="499" cy="450"/>
            </a:xfrm>
          </p:grpSpPr>
          <p:sp>
            <p:nvSpPr>
              <p:cNvPr id="91" name="Line 66"/>
              <p:cNvSpPr>
                <a:spLocks noChangeShapeType="1"/>
              </p:cNvSpPr>
              <p:nvPr/>
            </p:nvSpPr>
            <p:spPr bwMode="auto">
              <a:xfrm flipV="1">
                <a:off x="930" y="3113"/>
                <a:ext cx="498" cy="359"/>
              </a:xfrm>
              <a:prstGeom prst="line">
                <a:avLst/>
              </a:prstGeom>
              <a:noFill/>
              <a:ln w="25400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" name="Line 74"/>
              <p:cNvSpPr>
                <a:spLocks noChangeShapeType="1"/>
              </p:cNvSpPr>
              <p:nvPr/>
            </p:nvSpPr>
            <p:spPr bwMode="auto">
              <a:xfrm flipH="1" flipV="1">
                <a:off x="930" y="3475"/>
                <a:ext cx="1" cy="88"/>
              </a:xfrm>
              <a:prstGeom prst="line">
                <a:avLst/>
              </a:prstGeom>
              <a:noFill/>
              <a:ln w="25400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3" name="Line 75"/>
              <p:cNvSpPr>
                <a:spLocks noChangeShapeType="1"/>
              </p:cNvSpPr>
              <p:nvPr/>
            </p:nvSpPr>
            <p:spPr bwMode="auto">
              <a:xfrm flipH="1" flipV="1">
                <a:off x="1428" y="3113"/>
                <a:ext cx="1" cy="450"/>
              </a:xfrm>
              <a:prstGeom prst="line">
                <a:avLst/>
              </a:prstGeom>
              <a:noFill/>
              <a:ln w="25400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94" name="Group 68"/>
          <p:cNvGrpSpPr>
            <a:grpSpLocks/>
          </p:cNvGrpSpPr>
          <p:nvPr/>
        </p:nvGrpSpPr>
        <p:grpSpPr bwMode="auto">
          <a:xfrm>
            <a:off x="10095887" y="5202274"/>
            <a:ext cx="1892960" cy="1097720"/>
            <a:chOff x="862" y="3021"/>
            <a:chExt cx="748" cy="591"/>
          </a:xfrm>
        </p:grpSpPr>
        <p:sp>
          <p:nvSpPr>
            <p:cNvPr id="95" name="Line 63"/>
            <p:cNvSpPr>
              <a:spLocks noChangeShapeType="1"/>
            </p:cNvSpPr>
            <p:nvPr/>
          </p:nvSpPr>
          <p:spPr bwMode="auto">
            <a:xfrm flipV="1">
              <a:off x="930" y="3021"/>
              <a:ext cx="0" cy="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Line 64"/>
            <p:cNvSpPr>
              <a:spLocks noChangeShapeType="1"/>
            </p:cNvSpPr>
            <p:nvPr/>
          </p:nvSpPr>
          <p:spPr bwMode="auto">
            <a:xfrm>
              <a:off x="862" y="3566"/>
              <a:ext cx="7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Line 65"/>
            <p:cNvSpPr>
              <a:spLocks noChangeShapeType="1"/>
            </p:cNvSpPr>
            <p:nvPr/>
          </p:nvSpPr>
          <p:spPr bwMode="auto">
            <a:xfrm flipV="1">
              <a:off x="930" y="3249"/>
              <a:ext cx="498" cy="1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98" name="Group 91"/>
          <p:cNvGrpSpPr>
            <a:grpSpLocks/>
          </p:cNvGrpSpPr>
          <p:nvPr/>
        </p:nvGrpSpPr>
        <p:grpSpPr bwMode="auto">
          <a:xfrm>
            <a:off x="9916209" y="4134277"/>
            <a:ext cx="2072640" cy="908266"/>
            <a:chOff x="791" y="2446"/>
            <a:chExt cx="819" cy="489"/>
          </a:xfrm>
        </p:grpSpPr>
        <p:sp>
          <p:nvSpPr>
            <p:cNvPr id="99" name="Line 32"/>
            <p:cNvSpPr>
              <a:spLocks noChangeShapeType="1"/>
            </p:cNvSpPr>
            <p:nvPr/>
          </p:nvSpPr>
          <p:spPr bwMode="auto">
            <a:xfrm flipV="1">
              <a:off x="930" y="2481"/>
              <a:ext cx="0" cy="4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Line 41"/>
            <p:cNvSpPr>
              <a:spLocks noChangeShapeType="1"/>
            </p:cNvSpPr>
            <p:nvPr/>
          </p:nvSpPr>
          <p:spPr bwMode="auto">
            <a:xfrm flipV="1">
              <a:off x="930" y="2663"/>
              <a:ext cx="498" cy="223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Text Box 42"/>
            <p:cNvSpPr txBox="1">
              <a:spLocks noChangeArrowheads="1"/>
            </p:cNvSpPr>
            <p:nvPr/>
          </p:nvSpPr>
          <p:spPr bwMode="auto">
            <a:xfrm>
              <a:off x="791" y="2446"/>
              <a:ext cx="159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fr-FR" sz="1800" b="1" dirty="0">
                  <a:solidFill>
                    <a:srgbClr val="FF99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CA" altLang="fr-FR" sz="1800" b="1" baseline="-25000" dirty="0">
                  <a:solidFill>
                    <a:srgbClr val="FF9900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02" name="Line 59"/>
            <p:cNvSpPr>
              <a:spLocks noChangeShapeType="1"/>
            </p:cNvSpPr>
            <p:nvPr/>
          </p:nvSpPr>
          <p:spPr bwMode="auto">
            <a:xfrm>
              <a:off x="862" y="2795"/>
              <a:ext cx="7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3" name="Rectangle 62"/>
          <p:cNvSpPr/>
          <p:nvPr/>
        </p:nvSpPr>
        <p:spPr>
          <a:xfrm>
            <a:off x="4441760" y="3002834"/>
            <a:ext cx="445927" cy="743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e 6"/>
          <p:cNvGrpSpPr/>
          <p:nvPr/>
        </p:nvGrpSpPr>
        <p:grpSpPr>
          <a:xfrm>
            <a:off x="2930196" y="2764486"/>
            <a:ext cx="1072627" cy="1039112"/>
            <a:chOff x="2930196" y="2764486"/>
            <a:chExt cx="1072627" cy="1039112"/>
          </a:xfrm>
        </p:grpSpPr>
        <p:sp>
          <p:nvSpPr>
            <p:cNvPr id="103" name="Rectangle 102"/>
            <p:cNvSpPr/>
            <p:nvPr/>
          </p:nvSpPr>
          <p:spPr>
            <a:xfrm>
              <a:off x="2930196" y="2764486"/>
              <a:ext cx="896508" cy="9765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3505466" y="3212178"/>
              <a:ext cx="497357" cy="5914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5471391" y="3305457"/>
            <a:ext cx="415376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b="1" u="sng" dirty="0"/>
              <a:t>0 &lt; t &lt; </a:t>
            </a:r>
            <a:r>
              <a:rPr lang="el-GR" sz="2400" b="1" u="sng" dirty="0"/>
              <a:t>α</a:t>
            </a:r>
            <a:r>
              <a:rPr lang="fr-FR" sz="2400" b="1" u="sng" dirty="0"/>
              <a:t>T:</a:t>
            </a:r>
            <a:r>
              <a:rPr lang="fr-FR" sz="2400" dirty="0"/>
              <a:t> </a:t>
            </a:r>
          </a:p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 “closed”, T</a:t>
            </a:r>
            <a:r>
              <a:rPr lang="en-US" sz="2400" baseline="-25000" dirty="0"/>
              <a:t>2</a:t>
            </a:r>
            <a:r>
              <a:rPr lang="en-US" sz="2400" dirty="0"/>
              <a:t> “open”</a:t>
            </a:r>
          </a:p>
          <a:p>
            <a:pPr algn="ctr"/>
            <a:r>
              <a:rPr lang="en-US" sz="2400" dirty="0"/>
              <a:t>D</a:t>
            </a:r>
            <a:r>
              <a:rPr lang="en-US" sz="2400" baseline="-25000" dirty="0"/>
              <a:t>3</a:t>
            </a:r>
            <a:r>
              <a:rPr lang="en-US" sz="2400" dirty="0"/>
              <a:t> “forward”, D</a:t>
            </a:r>
            <a:r>
              <a:rPr lang="en-US" sz="2400" baseline="-25000" dirty="0"/>
              <a:t>2</a:t>
            </a:r>
            <a:r>
              <a:rPr lang="en-US" sz="2400" dirty="0"/>
              <a:t> &amp; D</a:t>
            </a:r>
            <a:r>
              <a:rPr lang="en-US" sz="2400" baseline="-25000" dirty="0"/>
              <a:t>4</a:t>
            </a:r>
            <a:r>
              <a:rPr lang="en-US" sz="2400" dirty="0"/>
              <a:t> “reverse” </a:t>
            </a:r>
          </a:p>
        </p:txBody>
      </p:sp>
      <p:sp>
        <p:nvSpPr>
          <p:cNvPr id="107" name="ZoneTexte 106"/>
          <p:cNvSpPr txBox="1"/>
          <p:nvPr/>
        </p:nvSpPr>
        <p:spPr>
          <a:xfrm>
            <a:off x="0" y="0"/>
            <a:ext cx="247996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Push-Pull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No laod study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Other structures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97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7" grpId="0" animBg="1"/>
      <p:bldP spid="31" grpId="0" animBg="1"/>
      <p:bldP spid="34" grpId="0"/>
      <p:bldP spid="35" grpId="0"/>
      <p:bldP spid="36" grpId="0" animBg="1"/>
      <p:bldP spid="68" grpId="0" animBg="1"/>
      <p:bldP spid="69" grpId="0" animBg="1"/>
      <p:bldP spid="70" grpId="0"/>
      <p:bldP spid="71" grpId="0" animBg="1"/>
      <p:bldP spid="6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Image 9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558" y="880925"/>
            <a:ext cx="6544424" cy="36780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study: second phase</a:t>
            </a:r>
          </a:p>
          <a:p>
            <a:pPr lvl="0">
              <a:defRPr/>
            </a:pP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e 14"/>
          <p:cNvGrpSpPr/>
          <p:nvPr/>
        </p:nvGrpSpPr>
        <p:grpSpPr>
          <a:xfrm>
            <a:off x="2533674" y="2825764"/>
            <a:ext cx="1026463" cy="971274"/>
            <a:chOff x="2648246" y="1477267"/>
            <a:chExt cx="1532275" cy="4246301"/>
          </a:xfrm>
        </p:grpSpPr>
        <p:sp>
          <p:nvSpPr>
            <p:cNvPr id="16" name="Rectangle 15"/>
            <p:cNvSpPr/>
            <p:nvPr/>
          </p:nvSpPr>
          <p:spPr>
            <a:xfrm>
              <a:off x="2648246" y="1477267"/>
              <a:ext cx="1532275" cy="3672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656303" y="5033076"/>
              <a:ext cx="733866" cy="6904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5196272" y="2704724"/>
            <a:ext cx="893134" cy="1135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/>
          <p:cNvSpPr/>
          <p:nvPr/>
        </p:nvSpPr>
        <p:spPr>
          <a:xfrm>
            <a:off x="7399607" y="2475914"/>
            <a:ext cx="404544" cy="495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Connecteur droit 26"/>
          <p:cNvCxnSpPr/>
          <p:nvPr/>
        </p:nvCxnSpPr>
        <p:spPr>
          <a:xfrm flipV="1">
            <a:off x="7397339" y="2592698"/>
            <a:ext cx="409080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69694" y="995111"/>
            <a:ext cx="404544" cy="495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2" name="Connecteur droit 31"/>
          <p:cNvCxnSpPr/>
          <p:nvPr/>
        </p:nvCxnSpPr>
        <p:spPr>
          <a:xfrm flipV="1">
            <a:off x="7356972" y="1375080"/>
            <a:ext cx="409080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3217636" y="6274941"/>
                <a:ext cx="25163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636" y="6274941"/>
                <a:ext cx="2516395" cy="369332"/>
              </a:xfrm>
              <a:prstGeom prst="rect">
                <a:avLst/>
              </a:prstGeom>
              <a:blipFill>
                <a:blip r:embed="rId4"/>
                <a:stretch>
                  <a:fillRect l="-242" r="-969"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utoShape 355"/>
          <p:cNvSpPr>
            <a:spLocks noChangeArrowheads="1"/>
          </p:cNvSpPr>
          <p:nvPr/>
        </p:nvSpPr>
        <p:spPr bwMode="auto">
          <a:xfrm rot="16200000">
            <a:off x="6302243" y="6232292"/>
            <a:ext cx="495300" cy="504825"/>
          </a:xfrm>
          <a:prstGeom prst="downArrow">
            <a:avLst>
              <a:gd name="adj1" fmla="val 50000"/>
              <a:gd name="adj2" fmla="val 25481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/>
              <p:cNvSpPr txBox="1"/>
              <p:nvPr/>
            </p:nvSpPr>
            <p:spPr>
              <a:xfrm>
                <a:off x="7732348" y="6290268"/>
                <a:ext cx="11407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𝒄𝒔𝒕</m:t>
                      </m:r>
                    </m:oMath>
                  </m:oMathPara>
                </a14:m>
                <a:endParaRPr lang="fr-FR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ZoneText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348" y="6290268"/>
                <a:ext cx="1140762" cy="369332"/>
              </a:xfrm>
              <a:prstGeom prst="rect">
                <a:avLst/>
              </a:prstGeom>
              <a:blipFill>
                <a:blip r:embed="rId5"/>
                <a:stretch>
                  <a:fillRect l="-6383" r="-4255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93"/>
          <p:cNvGrpSpPr>
            <a:grpSpLocks/>
          </p:cNvGrpSpPr>
          <p:nvPr/>
        </p:nvGrpSpPr>
        <p:grpSpPr bwMode="auto">
          <a:xfrm>
            <a:off x="10601461" y="3405419"/>
            <a:ext cx="1152525" cy="2381250"/>
            <a:chOff x="2244" y="2429"/>
            <a:chExt cx="726" cy="1500"/>
          </a:xfrm>
        </p:grpSpPr>
        <p:sp>
          <p:nvSpPr>
            <p:cNvPr id="37" name="Freeform 66" descr="noir)"/>
            <p:cNvSpPr>
              <a:spLocks/>
            </p:cNvSpPr>
            <p:nvPr/>
          </p:nvSpPr>
          <p:spPr bwMode="auto">
            <a:xfrm>
              <a:off x="2244" y="3203"/>
              <a:ext cx="726" cy="182"/>
            </a:xfrm>
            <a:custGeom>
              <a:avLst/>
              <a:gdLst>
                <a:gd name="T0" fmla="*/ 0 w 726"/>
                <a:gd name="T1" fmla="*/ 0 h 182"/>
                <a:gd name="T2" fmla="*/ 726 w 726"/>
                <a:gd name="T3" fmla="*/ 91 h 182"/>
                <a:gd name="T4" fmla="*/ 726 w 726"/>
                <a:gd name="T5" fmla="*/ 182 h 182"/>
                <a:gd name="T6" fmla="*/ 0 w 726"/>
                <a:gd name="T7" fmla="*/ 91 h 1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6" h="182">
                  <a:moveTo>
                    <a:pt x="0" y="0"/>
                  </a:moveTo>
                  <a:lnTo>
                    <a:pt x="726" y="91"/>
                  </a:lnTo>
                  <a:lnTo>
                    <a:pt x="726" y="182"/>
                  </a:lnTo>
                  <a:lnTo>
                    <a:pt x="0" y="91"/>
                  </a:lnTo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Freeform 67" descr="noir)"/>
            <p:cNvSpPr>
              <a:spLocks/>
            </p:cNvSpPr>
            <p:nvPr/>
          </p:nvSpPr>
          <p:spPr bwMode="auto">
            <a:xfrm>
              <a:off x="2244" y="3747"/>
              <a:ext cx="726" cy="182"/>
            </a:xfrm>
            <a:custGeom>
              <a:avLst/>
              <a:gdLst>
                <a:gd name="T0" fmla="*/ 0 w 726"/>
                <a:gd name="T1" fmla="*/ 0 h 182"/>
                <a:gd name="T2" fmla="*/ 726 w 726"/>
                <a:gd name="T3" fmla="*/ 91 h 182"/>
                <a:gd name="T4" fmla="*/ 726 w 726"/>
                <a:gd name="T5" fmla="*/ 182 h 182"/>
                <a:gd name="T6" fmla="*/ 0 w 726"/>
                <a:gd name="T7" fmla="*/ 91 h 1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6" h="182">
                  <a:moveTo>
                    <a:pt x="0" y="0"/>
                  </a:moveTo>
                  <a:lnTo>
                    <a:pt x="726" y="91"/>
                  </a:lnTo>
                  <a:lnTo>
                    <a:pt x="726" y="182"/>
                  </a:lnTo>
                  <a:lnTo>
                    <a:pt x="0" y="91"/>
                  </a:lnTo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Rectangle 55" descr="noir)"/>
            <p:cNvSpPr>
              <a:spLocks noChangeArrowheads="1"/>
            </p:cNvSpPr>
            <p:nvPr/>
          </p:nvSpPr>
          <p:spPr bwMode="auto">
            <a:xfrm>
              <a:off x="2244" y="2429"/>
              <a:ext cx="726" cy="136"/>
            </a:xfrm>
            <a:prstGeom prst="rect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9810886" y="252645"/>
            <a:ext cx="79057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" name="Line 5"/>
          <p:cNvSpPr>
            <a:spLocks noChangeShapeType="1"/>
          </p:cNvSpPr>
          <p:nvPr/>
        </p:nvSpPr>
        <p:spPr bwMode="auto">
          <a:xfrm flipV="1">
            <a:off x="9810886" y="36745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Text Box 6"/>
          <p:cNvSpPr txBox="1">
            <a:spLocks noChangeArrowheads="1"/>
          </p:cNvSpPr>
          <p:nvPr/>
        </p:nvSpPr>
        <p:spPr bwMode="auto">
          <a:xfrm>
            <a:off x="9567070" y="394422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3" name="Line 8"/>
          <p:cNvSpPr>
            <a:spLocks noChangeShapeType="1"/>
          </p:cNvSpPr>
          <p:nvPr/>
        </p:nvSpPr>
        <p:spPr bwMode="auto">
          <a:xfrm>
            <a:off x="9810886" y="908282"/>
            <a:ext cx="79057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9408569" y="686032"/>
            <a:ext cx="3770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5" name="Line 10"/>
          <p:cNvSpPr>
            <a:spLocks noChangeShapeType="1"/>
          </p:cNvSpPr>
          <p:nvPr/>
        </p:nvSpPr>
        <p:spPr bwMode="auto">
          <a:xfrm flipV="1">
            <a:off x="9810886" y="763820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11827011" y="252645"/>
            <a:ext cx="2333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7" name="Text Box 12"/>
          <p:cNvSpPr txBox="1">
            <a:spLocks noChangeArrowheads="1"/>
          </p:cNvSpPr>
          <p:nvPr/>
        </p:nvSpPr>
        <p:spPr bwMode="auto">
          <a:xfrm>
            <a:off x="10601461" y="181207"/>
            <a:ext cx="504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 dirty="0">
                <a:latin typeface="Symbol" panose="05050102010706020507" pitchFamily="18" charset="2"/>
              </a:rPr>
              <a:t>a</a:t>
            </a:r>
            <a:r>
              <a:rPr lang="fr-FR" altLang="fr-FR" sz="1400" b="1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8" name="Line 16"/>
          <p:cNvSpPr>
            <a:spLocks noChangeShapeType="1"/>
          </p:cNvSpPr>
          <p:nvPr/>
        </p:nvSpPr>
        <p:spPr bwMode="auto">
          <a:xfrm flipV="1">
            <a:off x="9810886" y="1482957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9" name="Line 17"/>
          <p:cNvSpPr>
            <a:spLocks noChangeShapeType="1"/>
          </p:cNvSpPr>
          <p:nvPr/>
        </p:nvSpPr>
        <p:spPr bwMode="auto">
          <a:xfrm flipV="1">
            <a:off x="9810886" y="1763945"/>
            <a:ext cx="792163" cy="360362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" name="Text Box 18"/>
          <p:cNvSpPr txBox="1">
            <a:spLocks noChangeArrowheads="1"/>
          </p:cNvSpPr>
          <p:nvPr/>
        </p:nvSpPr>
        <p:spPr bwMode="auto">
          <a:xfrm>
            <a:off x="9435555" y="1333732"/>
            <a:ext cx="322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9900"/>
                </a:solidFill>
                <a:latin typeface="Symbol" panose="05050102010706020507" pitchFamily="18" charset="2"/>
              </a:rPr>
              <a:t>j</a:t>
            </a:r>
            <a:endParaRPr lang="fr-FR" altLang="fr-FR" sz="1800" b="1" baseline="-25000" dirty="0">
              <a:solidFill>
                <a:srgbClr val="009900"/>
              </a:solidFill>
              <a:latin typeface="Symbol" panose="05050102010706020507" pitchFamily="18" charset="2"/>
            </a:endParaRPr>
          </a:p>
        </p:txBody>
      </p:sp>
      <p:sp>
        <p:nvSpPr>
          <p:cNvPr id="51" name="Line 19"/>
          <p:cNvSpPr>
            <a:spLocks noChangeShapeType="1"/>
          </p:cNvSpPr>
          <p:nvPr/>
        </p:nvSpPr>
        <p:spPr bwMode="auto">
          <a:xfrm>
            <a:off x="10601461" y="181208"/>
            <a:ext cx="0" cy="606066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2" name="Text Box 22"/>
          <p:cNvSpPr txBox="1">
            <a:spLocks noChangeArrowheads="1"/>
          </p:cNvSpPr>
          <p:nvPr/>
        </p:nvSpPr>
        <p:spPr bwMode="auto">
          <a:xfrm>
            <a:off x="9450524" y="2197332"/>
            <a:ext cx="3513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53" name="Line 23"/>
          <p:cNvSpPr>
            <a:spLocks noChangeShapeType="1"/>
          </p:cNvSpPr>
          <p:nvPr/>
        </p:nvSpPr>
        <p:spPr bwMode="auto">
          <a:xfrm flipV="1">
            <a:off x="9810886" y="2268770"/>
            <a:ext cx="0" cy="87502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4" name="Line 25"/>
          <p:cNvSpPr>
            <a:spLocks noChangeShapeType="1"/>
          </p:cNvSpPr>
          <p:nvPr/>
        </p:nvSpPr>
        <p:spPr bwMode="auto">
          <a:xfrm flipV="1">
            <a:off x="9810886" y="2341795"/>
            <a:ext cx="790575" cy="2873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5" name="Freeform 27" descr="noir)"/>
          <p:cNvSpPr>
            <a:spLocks/>
          </p:cNvSpPr>
          <p:nvPr/>
        </p:nvSpPr>
        <p:spPr bwMode="auto">
          <a:xfrm>
            <a:off x="9810886" y="3405420"/>
            <a:ext cx="790575" cy="360362"/>
          </a:xfrm>
          <a:custGeom>
            <a:avLst/>
            <a:gdLst>
              <a:gd name="T0" fmla="*/ 0 w 498"/>
              <a:gd name="T1" fmla="*/ 2147483646 h 227"/>
              <a:gd name="T2" fmla="*/ 2147483646 w 498"/>
              <a:gd name="T3" fmla="*/ 2147483646 h 227"/>
              <a:gd name="T4" fmla="*/ 2147483646 w 498"/>
              <a:gd name="T5" fmla="*/ 0 h 227"/>
              <a:gd name="T6" fmla="*/ 0 w 498"/>
              <a:gd name="T7" fmla="*/ 2147483646 h 227"/>
              <a:gd name="T8" fmla="*/ 0 w 498"/>
              <a:gd name="T9" fmla="*/ 2147483646 h 2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98" h="227">
                <a:moveTo>
                  <a:pt x="0" y="136"/>
                </a:moveTo>
                <a:lnTo>
                  <a:pt x="498" y="136"/>
                </a:lnTo>
                <a:lnTo>
                  <a:pt x="498" y="0"/>
                </a:lnTo>
                <a:lnTo>
                  <a:pt x="0" y="227"/>
                </a:lnTo>
                <a:lnTo>
                  <a:pt x="0" y="136"/>
                </a:lnTo>
                <a:close/>
              </a:path>
            </a:pathLst>
          </a:custGeom>
          <a:blipFill dpi="0" rotWithShape="0">
            <a:blip r:embed="rId6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6" name="Text Box 32"/>
          <p:cNvSpPr txBox="1">
            <a:spLocks noChangeArrowheads="1"/>
          </p:cNvSpPr>
          <p:nvPr/>
        </p:nvSpPr>
        <p:spPr bwMode="auto">
          <a:xfrm>
            <a:off x="9521961" y="3915007"/>
            <a:ext cx="325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7" name="Line 38"/>
          <p:cNvSpPr>
            <a:spLocks noChangeShapeType="1"/>
          </p:cNvSpPr>
          <p:nvPr/>
        </p:nvSpPr>
        <p:spPr bwMode="auto">
          <a:xfrm flipV="1">
            <a:off x="9810886" y="3986445"/>
            <a:ext cx="0" cy="1296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 flipV="1">
            <a:off x="9810886" y="3122845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9" name="Line 44"/>
          <p:cNvSpPr>
            <a:spLocks noChangeShapeType="1"/>
          </p:cNvSpPr>
          <p:nvPr/>
        </p:nvSpPr>
        <p:spPr bwMode="auto">
          <a:xfrm flipV="1">
            <a:off x="9810886" y="3411770"/>
            <a:ext cx="790575" cy="354012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0" name="Text Box 45"/>
          <p:cNvSpPr txBox="1">
            <a:spLocks noChangeArrowheads="1"/>
          </p:cNvSpPr>
          <p:nvPr/>
        </p:nvSpPr>
        <p:spPr bwMode="auto">
          <a:xfrm>
            <a:off x="9466625" y="3028730"/>
            <a:ext cx="402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FF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61" name="Line 3"/>
          <p:cNvSpPr>
            <a:spLocks noChangeShapeType="1"/>
          </p:cNvSpPr>
          <p:nvPr/>
        </p:nvSpPr>
        <p:spPr bwMode="auto">
          <a:xfrm>
            <a:off x="9702936" y="613007"/>
            <a:ext cx="2339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2" name="Line 7"/>
          <p:cNvSpPr>
            <a:spLocks noChangeShapeType="1"/>
          </p:cNvSpPr>
          <p:nvPr/>
        </p:nvSpPr>
        <p:spPr bwMode="auto">
          <a:xfrm flipV="1">
            <a:off x="9702936" y="1333732"/>
            <a:ext cx="2339975" cy="7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3" name="Line 15"/>
          <p:cNvSpPr>
            <a:spLocks noChangeShapeType="1"/>
          </p:cNvSpPr>
          <p:nvPr/>
        </p:nvSpPr>
        <p:spPr bwMode="auto">
          <a:xfrm>
            <a:off x="9702936" y="1987782"/>
            <a:ext cx="2339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4" name="Line 24"/>
          <p:cNvSpPr>
            <a:spLocks noChangeShapeType="1"/>
          </p:cNvSpPr>
          <p:nvPr/>
        </p:nvSpPr>
        <p:spPr bwMode="auto">
          <a:xfrm>
            <a:off x="9702936" y="2941889"/>
            <a:ext cx="2339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5" name="Line 39"/>
          <p:cNvSpPr>
            <a:spLocks noChangeShapeType="1"/>
          </p:cNvSpPr>
          <p:nvPr/>
        </p:nvSpPr>
        <p:spPr bwMode="auto">
          <a:xfrm>
            <a:off x="9702936" y="5140557"/>
            <a:ext cx="2339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" name="Line 46"/>
          <p:cNvSpPr>
            <a:spLocks noChangeShapeType="1"/>
          </p:cNvSpPr>
          <p:nvPr/>
        </p:nvSpPr>
        <p:spPr bwMode="auto">
          <a:xfrm>
            <a:off x="9702936" y="3622907"/>
            <a:ext cx="2339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7" name="Line 51"/>
          <p:cNvSpPr>
            <a:spLocks noChangeShapeType="1"/>
          </p:cNvSpPr>
          <p:nvPr/>
        </p:nvSpPr>
        <p:spPr bwMode="auto">
          <a:xfrm>
            <a:off x="11753986" y="174858"/>
            <a:ext cx="0" cy="606701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8" name="Line 52"/>
          <p:cNvSpPr>
            <a:spLocks noChangeShapeType="1"/>
          </p:cNvSpPr>
          <p:nvPr/>
        </p:nvSpPr>
        <p:spPr bwMode="auto">
          <a:xfrm>
            <a:off x="10601461" y="1327382"/>
            <a:ext cx="11525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9" name="Line 53"/>
          <p:cNvSpPr>
            <a:spLocks noChangeShapeType="1"/>
          </p:cNvSpPr>
          <p:nvPr/>
        </p:nvSpPr>
        <p:spPr bwMode="auto">
          <a:xfrm flipV="1">
            <a:off x="10601461" y="895582"/>
            <a:ext cx="1588" cy="4191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0" name="Line 54"/>
          <p:cNvSpPr>
            <a:spLocks noChangeShapeType="1"/>
          </p:cNvSpPr>
          <p:nvPr/>
        </p:nvSpPr>
        <p:spPr bwMode="auto">
          <a:xfrm>
            <a:off x="10601461" y="3399070"/>
            <a:ext cx="1152525" cy="635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71" name="Group 92"/>
          <p:cNvGrpSpPr>
            <a:grpSpLocks/>
          </p:cNvGrpSpPr>
          <p:nvPr/>
        </p:nvGrpSpPr>
        <p:grpSpPr bwMode="auto">
          <a:xfrm>
            <a:off x="10601462" y="4634144"/>
            <a:ext cx="1152525" cy="1152525"/>
            <a:chOff x="2244" y="3203"/>
            <a:chExt cx="726" cy="726"/>
          </a:xfrm>
        </p:grpSpPr>
        <p:sp>
          <p:nvSpPr>
            <p:cNvPr id="72" name="Line 40"/>
            <p:cNvSpPr>
              <a:spLocks noChangeShapeType="1"/>
            </p:cNvSpPr>
            <p:nvPr/>
          </p:nvSpPr>
          <p:spPr bwMode="auto">
            <a:xfrm>
              <a:off x="2244" y="3203"/>
              <a:ext cx="726" cy="9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Line 62"/>
            <p:cNvSpPr>
              <a:spLocks noChangeShapeType="1"/>
            </p:cNvSpPr>
            <p:nvPr/>
          </p:nvSpPr>
          <p:spPr bwMode="auto">
            <a:xfrm>
              <a:off x="2244" y="3838"/>
              <a:ext cx="726" cy="9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4" name="Line 50"/>
          <p:cNvSpPr>
            <a:spLocks noChangeShapeType="1"/>
          </p:cNvSpPr>
          <p:nvPr/>
        </p:nvSpPr>
        <p:spPr bwMode="auto">
          <a:xfrm>
            <a:off x="10601461" y="2341792"/>
            <a:ext cx="1152525" cy="2809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5" name="Text Box 60"/>
          <p:cNvSpPr txBox="1">
            <a:spLocks noChangeArrowheads="1"/>
          </p:cNvSpPr>
          <p:nvPr/>
        </p:nvSpPr>
        <p:spPr bwMode="auto">
          <a:xfrm>
            <a:off x="9514390" y="5252236"/>
            <a:ext cx="325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76" name="Line 61"/>
          <p:cNvSpPr>
            <a:spLocks noChangeShapeType="1"/>
          </p:cNvSpPr>
          <p:nvPr/>
        </p:nvSpPr>
        <p:spPr bwMode="auto">
          <a:xfrm flipV="1">
            <a:off x="9810886" y="5353282"/>
            <a:ext cx="0" cy="938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" name="Line 63"/>
          <p:cNvSpPr>
            <a:spLocks noChangeShapeType="1"/>
          </p:cNvSpPr>
          <p:nvPr/>
        </p:nvSpPr>
        <p:spPr bwMode="auto">
          <a:xfrm>
            <a:off x="9702936" y="6148620"/>
            <a:ext cx="2339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" name="Line 68"/>
          <p:cNvSpPr>
            <a:spLocks noChangeShapeType="1"/>
          </p:cNvSpPr>
          <p:nvPr/>
        </p:nvSpPr>
        <p:spPr bwMode="auto">
          <a:xfrm flipV="1">
            <a:off x="9810886" y="4130907"/>
            <a:ext cx="792163" cy="287338"/>
          </a:xfrm>
          <a:prstGeom prst="line">
            <a:avLst/>
          </a:prstGeom>
          <a:noFill/>
          <a:ln w="254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9" name="Line 73"/>
          <p:cNvSpPr>
            <a:spLocks noChangeShapeType="1"/>
          </p:cNvSpPr>
          <p:nvPr/>
        </p:nvSpPr>
        <p:spPr bwMode="auto">
          <a:xfrm>
            <a:off x="9810886" y="6147032"/>
            <a:ext cx="790575" cy="0"/>
          </a:xfrm>
          <a:prstGeom prst="line">
            <a:avLst/>
          </a:prstGeom>
          <a:noFill/>
          <a:ln w="254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80" name="Group 95"/>
          <p:cNvGrpSpPr>
            <a:grpSpLocks/>
          </p:cNvGrpSpPr>
          <p:nvPr/>
        </p:nvGrpSpPr>
        <p:grpSpPr bwMode="auto">
          <a:xfrm>
            <a:off x="10601461" y="4130907"/>
            <a:ext cx="1154113" cy="2016125"/>
            <a:chOff x="2244" y="2886"/>
            <a:chExt cx="727" cy="1270"/>
          </a:xfrm>
        </p:grpSpPr>
        <p:sp>
          <p:nvSpPr>
            <p:cNvPr id="81" name="Line 69"/>
            <p:cNvSpPr>
              <a:spLocks noChangeShapeType="1"/>
            </p:cNvSpPr>
            <p:nvPr/>
          </p:nvSpPr>
          <p:spPr bwMode="auto">
            <a:xfrm>
              <a:off x="2244" y="3294"/>
              <a:ext cx="726" cy="91"/>
            </a:xfrm>
            <a:prstGeom prst="line">
              <a:avLst/>
            </a:prstGeom>
            <a:noFill/>
            <a:ln w="254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Line 70"/>
            <p:cNvSpPr>
              <a:spLocks noChangeShapeType="1"/>
            </p:cNvSpPr>
            <p:nvPr/>
          </p:nvSpPr>
          <p:spPr bwMode="auto">
            <a:xfrm>
              <a:off x="2970" y="3385"/>
              <a:ext cx="1" cy="136"/>
            </a:xfrm>
            <a:prstGeom prst="line">
              <a:avLst/>
            </a:prstGeom>
            <a:noFill/>
            <a:ln w="254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Line 71"/>
            <p:cNvSpPr>
              <a:spLocks noChangeShapeType="1"/>
            </p:cNvSpPr>
            <p:nvPr/>
          </p:nvSpPr>
          <p:spPr bwMode="auto">
            <a:xfrm flipV="1">
              <a:off x="2244" y="2886"/>
              <a:ext cx="1" cy="408"/>
            </a:xfrm>
            <a:prstGeom prst="line">
              <a:avLst/>
            </a:prstGeom>
            <a:noFill/>
            <a:ln w="254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Line 72"/>
            <p:cNvSpPr>
              <a:spLocks noChangeShapeType="1"/>
            </p:cNvSpPr>
            <p:nvPr/>
          </p:nvSpPr>
          <p:spPr bwMode="auto">
            <a:xfrm>
              <a:off x="2244" y="3747"/>
              <a:ext cx="726" cy="91"/>
            </a:xfrm>
            <a:prstGeom prst="line">
              <a:avLst/>
            </a:prstGeom>
            <a:noFill/>
            <a:ln w="254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Line 74"/>
            <p:cNvSpPr>
              <a:spLocks noChangeShapeType="1"/>
            </p:cNvSpPr>
            <p:nvPr/>
          </p:nvSpPr>
          <p:spPr bwMode="auto">
            <a:xfrm>
              <a:off x="2244" y="3747"/>
              <a:ext cx="0" cy="409"/>
            </a:xfrm>
            <a:prstGeom prst="line">
              <a:avLst/>
            </a:prstGeom>
            <a:noFill/>
            <a:ln w="254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Line 75"/>
            <p:cNvSpPr>
              <a:spLocks noChangeShapeType="1"/>
            </p:cNvSpPr>
            <p:nvPr/>
          </p:nvSpPr>
          <p:spPr bwMode="auto">
            <a:xfrm>
              <a:off x="2970" y="3838"/>
              <a:ext cx="0" cy="318"/>
            </a:xfrm>
            <a:prstGeom prst="line">
              <a:avLst/>
            </a:prstGeom>
            <a:noFill/>
            <a:ln w="254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7" name="Line 49"/>
          <p:cNvSpPr>
            <a:spLocks noChangeShapeType="1"/>
          </p:cNvSpPr>
          <p:nvPr/>
        </p:nvSpPr>
        <p:spPr bwMode="auto">
          <a:xfrm flipV="1">
            <a:off x="10601461" y="1763945"/>
            <a:ext cx="1152525" cy="0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4501658" y="2799273"/>
            <a:ext cx="971689" cy="979675"/>
            <a:chOff x="4501658" y="2799273"/>
            <a:chExt cx="971689" cy="979675"/>
          </a:xfrm>
        </p:grpSpPr>
        <p:sp>
          <p:nvSpPr>
            <p:cNvPr id="89" name="Rectangle 88"/>
            <p:cNvSpPr/>
            <p:nvPr/>
          </p:nvSpPr>
          <p:spPr>
            <a:xfrm>
              <a:off x="4517016" y="2799273"/>
              <a:ext cx="956331" cy="8664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4501658" y="3485027"/>
              <a:ext cx="366774" cy="2939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" name="Groupe 2"/>
          <p:cNvGrpSpPr/>
          <p:nvPr/>
        </p:nvGrpSpPr>
        <p:grpSpPr>
          <a:xfrm>
            <a:off x="3277490" y="2704724"/>
            <a:ext cx="749583" cy="1135126"/>
            <a:chOff x="3277490" y="2704724"/>
            <a:chExt cx="749583" cy="1135126"/>
          </a:xfrm>
        </p:grpSpPr>
        <p:sp>
          <p:nvSpPr>
            <p:cNvPr id="91" name="Rectangle 90"/>
            <p:cNvSpPr/>
            <p:nvPr/>
          </p:nvSpPr>
          <p:spPr>
            <a:xfrm>
              <a:off x="3277490" y="2704724"/>
              <a:ext cx="569060" cy="11351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3458013" y="3305324"/>
              <a:ext cx="569060" cy="3709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93" name="Rectangle 92"/>
          <p:cNvSpPr/>
          <p:nvPr/>
        </p:nvSpPr>
        <p:spPr>
          <a:xfrm>
            <a:off x="6549892" y="3305457"/>
            <a:ext cx="199676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l-GR" sz="2400" b="1" u="sng" dirty="0"/>
              <a:t>α</a:t>
            </a:r>
            <a:r>
              <a:rPr lang="fr-FR" sz="2400" b="1" u="sng" dirty="0"/>
              <a:t>T &lt; t &lt; T/2:</a:t>
            </a:r>
            <a:r>
              <a:rPr lang="fr-FR" sz="2400" dirty="0"/>
              <a:t> </a:t>
            </a:r>
          </a:p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 &amp; T</a:t>
            </a:r>
            <a:r>
              <a:rPr lang="en-US" sz="2400" baseline="-25000" dirty="0"/>
              <a:t>2</a:t>
            </a:r>
            <a:r>
              <a:rPr lang="en-US" sz="2400" dirty="0"/>
              <a:t> “open”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245656" y="4423917"/>
                <a:ext cx="60501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𝓡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656" y="4423917"/>
                <a:ext cx="6050118" cy="461665"/>
              </a:xfrm>
              <a:prstGeom prst="rect">
                <a:avLst/>
              </a:prstGeom>
              <a:blipFill>
                <a:blip r:embed="rId7"/>
                <a:stretch>
                  <a:fillRect b="-14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/>
              <p:cNvSpPr/>
              <p:nvPr/>
            </p:nvSpPr>
            <p:spPr>
              <a:xfrm>
                <a:off x="2415025" y="4884512"/>
                <a:ext cx="4912563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D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« forward »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→ D</a:t>
                </a:r>
                <a:r>
                  <a:rPr lang="en-US" sz="2400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/>
                  <a:t>« forward »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𝓡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sz="24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5" name="Rectangle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025" y="4884512"/>
                <a:ext cx="4912563" cy="830997"/>
              </a:xfrm>
              <a:prstGeom prst="rect">
                <a:avLst/>
              </a:prstGeom>
              <a:blipFill>
                <a:blip r:embed="rId8"/>
                <a:stretch>
                  <a:fillRect l="-1613" t="-5839" b="-656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AutoShape 355"/>
          <p:cNvSpPr>
            <a:spLocks noChangeArrowheads="1"/>
          </p:cNvSpPr>
          <p:nvPr/>
        </p:nvSpPr>
        <p:spPr bwMode="auto">
          <a:xfrm rot="16200000">
            <a:off x="7163664" y="5098279"/>
            <a:ext cx="495300" cy="504825"/>
          </a:xfrm>
          <a:prstGeom prst="downArrow">
            <a:avLst>
              <a:gd name="adj1" fmla="val 50000"/>
              <a:gd name="adj2" fmla="val 25481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32348" y="5108583"/>
            <a:ext cx="17632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D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  <a:r>
              <a:rPr lang="en-US" sz="2400" b="1" dirty="0">
                <a:solidFill>
                  <a:srgbClr val="FF0000"/>
                </a:solidFill>
              </a:rPr>
              <a:t> “reverse”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/>
              <p:cNvSpPr/>
              <p:nvPr/>
            </p:nvSpPr>
            <p:spPr>
              <a:xfrm>
                <a:off x="2415026" y="5714438"/>
                <a:ext cx="38755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𝓡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Rectangle 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026" y="5714438"/>
                <a:ext cx="3875548" cy="461665"/>
              </a:xfrm>
              <a:prstGeom prst="rect">
                <a:avLst/>
              </a:prstGeom>
              <a:blipFill>
                <a:blip r:embed="rId9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AutoShape 355"/>
          <p:cNvSpPr>
            <a:spLocks noChangeArrowheads="1"/>
          </p:cNvSpPr>
          <p:nvPr/>
        </p:nvSpPr>
        <p:spPr bwMode="auto">
          <a:xfrm rot="16200000">
            <a:off x="6302242" y="5695617"/>
            <a:ext cx="495300" cy="504825"/>
          </a:xfrm>
          <a:prstGeom prst="downArrow">
            <a:avLst>
              <a:gd name="adj1" fmla="val 50000"/>
              <a:gd name="adj2" fmla="val 25481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6956779" y="5728506"/>
            <a:ext cx="26112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D</a:t>
            </a:r>
            <a:r>
              <a:rPr lang="en-US" sz="2400" b="1" baseline="-25000" dirty="0">
                <a:solidFill>
                  <a:srgbClr val="FF0000"/>
                </a:solidFill>
              </a:rPr>
              <a:t>3</a:t>
            </a:r>
            <a:r>
              <a:rPr lang="en-US" sz="2400" b="1" dirty="0">
                <a:solidFill>
                  <a:srgbClr val="FF0000"/>
                </a:solidFill>
              </a:rPr>
              <a:t> &amp; D</a:t>
            </a:r>
            <a:r>
              <a:rPr lang="en-US" sz="2400" b="1" baseline="-25000" dirty="0">
                <a:solidFill>
                  <a:srgbClr val="FF0000"/>
                </a:solidFill>
              </a:rPr>
              <a:t>4</a:t>
            </a:r>
            <a:r>
              <a:rPr lang="en-US" sz="2400" b="1" dirty="0">
                <a:solidFill>
                  <a:srgbClr val="FF0000"/>
                </a:solidFill>
              </a:rPr>
              <a:t> “forward”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198" name="ZoneTexte 197"/>
          <p:cNvSpPr txBox="1"/>
          <p:nvPr/>
        </p:nvSpPr>
        <p:spPr>
          <a:xfrm>
            <a:off x="0" y="0"/>
            <a:ext cx="247996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Push-Pull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No laod study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Other structures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65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6" grpId="0" animBg="1"/>
      <p:bldP spid="31" grpId="0" animBg="1"/>
      <p:bldP spid="33" grpId="0"/>
      <p:bldP spid="34" grpId="0" animBg="1"/>
      <p:bldP spid="35" grpId="0"/>
      <p:bldP spid="68" grpId="0" animBg="1"/>
      <p:bldP spid="70" grpId="0" animBg="1"/>
      <p:bldP spid="74" grpId="0" animBg="1"/>
      <p:bldP spid="87" grpId="0" animBg="1"/>
      <p:bldP spid="6" grpId="0"/>
      <p:bldP spid="95" grpId="0"/>
      <p:bldP spid="96" grpId="0" animBg="1"/>
      <p:bldP spid="12" grpId="0"/>
      <p:bldP spid="97" grpId="0"/>
      <p:bldP spid="98" grpId="0" animBg="1"/>
      <p:bldP spid="9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 8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558" y="880925"/>
            <a:ext cx="6544424" cy="36780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study: demagnetization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479964" y="2772229"/>
            <a:ext cx="1264778" cy="1027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2453311" y="4610932"/>
                <a:ext cx="7001853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 		</a:t>
                </a:r>
                <a:r>
                  <a:rPr lang="en-US" sz="2400" dirty="0">
                    <a:solidFill>
                      <a:srgbClr val="FF0000"/>
                    </a:solidFill>
                  </a:rPr>
                  <a:t>Demagnetization</a:t>
                </a:r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311" y="4610932"/>
                <a:ext cx="7001853" cy="624273"/>
              </a:xfrm>
              <a:prstGeom prst="rect">
                <a:avLst/>
              </a:prstGeom>
              <a:blipFill>
                <a:blip r:embed="rId3"/>
                <a:stretch>
                  <a:fillRect b="-87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4746494" y="2710377"/>
            <a:ext cx="1274841" cy="1204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Connecteur droit 24"/>
          <p:cNvCxnSpPr/>
          <p:nvPr/>
        </p:nvCxnSpPr>
        <p:spPr>
          <a:xfrm>
            <a:off x="3264329" y="2737303"/>
            <a:ext cx="0" cy="1088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399606" y="2475914"/>
            <a:ext cx="886265" cy="738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/>
          <p:cNvSpPr/>
          <p:nvPr/>
        </p:nvSpPr>
        <p:spPr>
          <a:xfrm>
            <a:off x="7420561" y="897093"/>
            <a:ext cx="481323" cy="612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2" name="Connecteur droit 31"/>
          <p:cNvCxnSpPr/>
          <p:nvPr/>
        </p:nvCxnSpPr>
        <p:spPr>
          <a:xfrm>
            <a:off x="7393439" y="2594081"/>
            <a:ext cx="5250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/>
              <p:cNvSpPr txBox="1"/>
              <p:nvPr/>
            </p:nvSpPr>
            <p:spPr>
              <a:xfrm>
                <a:off x="4466005" y="5413158"/>
                <a:ext cx="28771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𝓡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005" y="5413158"/>
                <a:ext cx="2877134" cy="369332"/>
              </a:xfrm>
              <a:prstGeom prst="rect">
                <a:avLst/>
              </a:prstGeom>
              <a:blipFill>
                <a:blip r:embed="rId4"/>
                <a:stretch>
                  <a:fillRect l="-1059" r="-2119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/>
              <p:cNvSpPr txBox="1"/>
              <p:nvPr/>
            </p:nvSpPr>
            <p:spPr>
              <a:xfrm>
                <a:off x="4259902" y="5978192"/>
                <a:ext cx="4539256" cy="7523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𝓡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5" name="ZoneText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902" y="5978192"/>
                <a:ext cx="4539256" cy="7523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utoShape 355"/>
          <p:cNvSpPr>
            <a:spLocks noChangeArrowheads="1"/>
          </p:cNvSpPr>
          <p:nvPr/>
        </p:nvSpPr>
        <p:spPr bwMode="auto">
          <a:xfrm rot="16200000">
            <a:off x="3195109" y="6012609"/>
            <a:ext cx="495300" cy="823584"/>
          </a:xfrm>
          <a:prstGeom prst="downArrow">
            <a:avLst>
              <a:gd name="adj1" fmla="val 50000"/>
              <a:gd name="adj2" fmla="val 25481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cxnSp>
        <p:nvCxnSpPr>
          <p:cNvPr id="103" name="Connecteur droit 102"/>
          <p:cNvCxnSpPr/>
          <p:nvPr/>
        </p:nvCxnSpPr>
        <p:spPr>
          <a:xfrm>
            <a:off x="7917125" y="2215507"/>
            <a:ext cx="2595" cy="3696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471391" y="3305457"/>
            <a:ext cx="415376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b="1" u="sng" dirty="0"/>
              <a:t>T/2 &lt; t &lt; T/2+</a:t>
            </a:r>
            <a:r>
              <a:rPr lang="el-GR" sz="2400" b="1" u="sng" dirty="0"/>
              <a:t>α</a:t>
            </a:r>
            <a:r>
              <a:rPr lang="fr-FR" sz="2400" b="1" u="sng" dirty="0"/>
              <a:t>T:</a:t>
            </a:r>
            <a:r>
              <a:rPr lang="fr-FR" sz="2400" dirty="0"/>
              <a:t> </a:t>
            </a:r>
          </a:p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 “open”, T</a:t>
            </a:r>
            <a:r>
              <a:rPr lang="en-US" sz="2400" baseline="-25000" dirty="0"/>
              <a:t>2</a:t>
            </a:r>
            <a:r>
              <a:rPr lang="en-US" sz="2400" dirty="0"/>
              <a:t> “closed”</a:t>
            </a:r>
          </a:p>
          <a:p>
            <a:pPr algn="ctr"/>
            <a:r>
              <a:rPr lang="en-US" sz="2400" dirty="0"/>
              <a:t>D</a:t>
            </a:r>
            <a:r>
              <a:rPr lang="en-US" sz="2400" baseline="-25000" dirty="0"/>
              <a:t>4</a:t>
            </a:r>
            <a:r>
              <a:rPr lang="en-US" sz="2400" dirty="0"/>
              <a:t> “forward”, D</a:t>
            </a:r>
            <a:r>
              <a:rPr lang="en-US" sz="2400" baseline="-25000" dirty="0"/>
              <a:t>1</a:t>
            </a:r>
            <a:r>
              <a:rPr lang="en-US" sz="2400" dirty="0"/>
              <a:t> &amp; D</a:t>
            </a:r>
            <a:r>
              <a:rPr lang="en-US" sz="2400" baseline="-25000" dirty="0"/>
              <a:t>3</a:t>
            </a:r>
            <a:r>
              <a:rPr lang="en-US" sz="2400" dirty="0"/>
              <a:t> “reverse” 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56186" y="2898216"/>
            <a:ext cx="360139" cy="867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/>
          <p:cNvSpPr/>
          <p:nvPr/>
        </p:nvSpPr>
        <p:spPr>
          <a:xfrm>
            <a:off x="3565206" y="3032315"/>
            <a:ext cx="514658" cy="539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 75"/>
          <p:cNvSpPr/>
          <p:nvPr/>
        </p:nvSpPr>
        <p:spPr>
          <a:xfrm>
            <a:off x="4805867" y="2711565"/>
            <a:ext cx="338159" cy="447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Rectangle 6"/>
          <p:cNvSpPr>
            <a:spLocks noChangeArrowheads="1"/>
          </p:cNvSpPr>
          <p:nvPr/>
        </p:nvSpPr>
        <p:spPr bwMode="auto">
          <a:xfrm>
            <a:off x="9756198" y="316799"/>
            <a:ext cx="533814" cy="33942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9" name="Line 7"/>
          <p:cNvSpPr>
            <a:spLocks noChangeShapeType="1"/>
          </p:cNvSpPr>
          <p:nvPr/>
        </p:nvSpPr>
        <p:spPr bwMode="auto">
          <a:xfrm flipV="1">
            <a:off x="9756198" y="113440"/>
            <a:ext cx="0" cy="6115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0" name="Rectangle 9"/>
          <p:cNvSpPr>
            <a:spLocks noChangeArrowheads="1"/>
          </p:cNvSpPr>
          <p:nvPr/>
        </p:nvSpPr>
        <p:spPr bwMode="auto">
          <a:xfrm>
            <a:off x="11125985" y="316799"/>
            <a:ext cx="533814" cy="339429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  <a:r>
              <a:rPr lang="fr-FR" altLang="fr-FR" sz="18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34" name="Line 11"/>
          <p:cNvSpPr>
            <a:spLocks noChangeShapeType="1"/>
          </p:cNvSpPr>
          <p:nvPr/>
        </p:nvSpPr>
        <p:spPr bwMode="auto">
          <a:xfrm>
            <a:off x="9756198" y="659459"/>
            <a:ext cx="0" cy="331779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5" name="Line 12"/>
          <p:cNvSpPr>
            <a:spLocks noChangeShapeType="1"/>
          </p:cNvSpPr>
          <p:nvPr/>
        </p:nvSpPr>
        <p:spPr bwMode="auto">
          <a:xfrm>
            <a:off x="10290012" y="659459"/>
            <a:ext cx="0" cy="5688374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6" name="Line 13"/>
          <p:cNvSpPr>
            <a:spLocks noChangeShapeType="1"/>
          </p:cNvSpPr>
          <p:nvPr/>
        </p:nvSpPr>
        <p:spPr bwMode="auto">
          <a:xfrm>
            <a:off x="11127664" y="654733"/>
            <a:ext cx="0" cy="569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7" name="Line 14"/>
          <p:cNvSpPr>
            <a:spLocks noChangeShapeType="1"/>
          </p:cNvSpPr>
          <p:nvPr/>
        </p:nvSpPr>
        <p:spPr bwMode="auto">
          <a:xfrm>
            <a:off x="11661478" y="654733"/>
            <a:ext cx="0" cy="569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8" name="Text Box 16"/>
          <p:cNvSpPr txBox="1">
            <a:spLocks noChangeArrowheads="1"/>
          </p:cNvSpPr>
          <p:nvPr/>
        </p:nvSpPr>
        <p:spPr bwMode="auto">
          <a:xfrm>
            <a:off x="9450681" y="310817"/>
            <a:ext cx="315588" cy="345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9" name="Text Box 17"/>
          <p:cNvSpPr txBox="1">
            <a:spLocks noChangeArrowheads="1"/>
          </p:cNvSpPr>
          <p:nvPr/>
        </p:nvSpPr>
        <p:spPr bwMode="auto">
          <a:xfrm>
            <a:off x="10699333" y="636719"/>
            <a:ext cx="5052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latin typeface="Times New Roman" panose="02020603050405020304" pitchFamily="18" charset="0"/>
              </a:rPr>
              <a:t>T/2</a:t>
            </a:r>
          </a:p>
        </p:txBody>
      </p:sp>
      <p:sp>
        <p:nvSpPr>
          <p:cNvPr id="140" name="Line 20"/>
          <p:cNvSpPr>
            <a:spLocks noChangeShapeType="1"/>
          </p:cNvSpPr>
          <p:nvPr/>
        </p:nvSpPr>
        <p:spPr bwMode="auto">
          <a:xfrm>
            <a:off x="9756198" y="993073"/>
            <a:ext cx="533814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1" name="Line 21"/>
          <p:cNvSpPr>
            <a:spLocks noChangeShapeType="1"/>
          </p:cNvSpPr>
          <p:nvPr/>
        </p:nvSpPr>
        <p:spPr bwMode="auto">
          <a:xfrm flipV="1">
            <a:off x="10288332" y="993073"/>
            <a:ext cx="0" cy="4186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2" name="Line 22"/>
          <p:cNvSpPr>
            <a:spLocks noChangeShapeType="1"/>
          </p:cNvSpPr>
          <p:nvPr/>
        </p:nvSpPr>
        <p:spPr bwMode="auto">
          <a:xfrm flipV="1">
            <a:off x="11125985" y="1399790"/>
            <a:ext cx="0" cy="40671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3" name="Line 23"/>
          <p:cNvSpPr>
            <a:spLocks noChangeShapeType="1"/>
          </p:cNvSpPr>
          <p:nvPr/>
        </p:nvSpPr>
        <p:spPr bwMode="auto">
          <a:xfrm flipV="1">
            <a:off x="10288332" y="1399790"/>
            <a:ext cx="85276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4" name="Line 24"/>
          <p:cNvSpPr>
            <a:spLocks noChangeShapeType="1"/>
          </p:cNvSpPr>
          <p:nvPr/>
        </p:nvSpPr>
        <p:spPr bwMode="auto">
          <a:xfrm>
            <a:off x="11125985" y="1783648"/>
            <a:ext cx="533814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6" name="Text Box 28"/>
          <p:cNvSpPr txBox="1">
            <a:spLocks noChangeArrowheads="1"/>
          </p:cNvSpPr>
          <p:nvPr/>
        </p:nvSpPr>
        <p:spPr bwMode="auto">
          <a:xfrm>
            <a:off x="9450681" y="783733"/>
            <a:ext cx="396164" cy="345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47" name="Line 30"/>
          <p:cNvSpPr>
            <a:spLocks noChangeShapeType="1"/>
          </p:cNvSpPr>
          <p:nvPr/>
        </p:nvSpPr>
        <p:spPr bwMode="auto">
          <a:xfrm flipV="1">
            <a:off x="9756198" y="1803037"/>
            <a:ext cx="550601" cy="542789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8" name="Line 31"/>
          <p:cNvSpPr>
            <a:spLocks noChangeShapeType="1"/>
          </p:cNvSpPr>
          <p:nvPr/>
        </p:nvSpPr>
        <p:spPr bwMode="auto">
          <a:xfrm>
            <a:off x="11125985" y="1803037"/>
            <a:ext cx="550601" cy="542789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9" name="Line 34"/>
          <p:cNvSpPr>
            <a:spLocks noChangeShapeType="1"/>
          </p:cNvSpPr>
          <p:nvPr/>
        </p:nvSpPr>
        <p:spPr bwMode="auto">
          <a:xfrm flipV="1">
            <a:off x="10288332" y="1818277"/>
            <a:ext cx="837652" cy="0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0" name="Line 35"/>
          <p:cNvSpPr>
            <a:spLocks noChangeShapeType="1"/>
          </p:cNvSpPr>
          <p:nvPr/>
        </p:nvSpPr>
        <p:spPr bwMode="auto">
          <a:xfrm flipV="1">
            <a:off x="9756198" y="857002"/>
            <a:ext cx="0" cy="101828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1" name="Line 36"/>
          <p:cNvSpPr>
            <a:spLocks noChangeShapeType="1"/>
          </p:cNvSpPr>
          <p:nvPr/>
        </p:nvSpPr>
        <p:spPr bwMode="auto">
          <a:xfrm flipV="1">
            <a:off x="9756198" y="1584438"/>
            <a:ext cx="0" cy="81493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2" name="Line 37"/>
          <p:cNvSpPr>
            <a:spLocks noChangeShapeType="1"/>
          </p:cNvSpPr>
          <p:nvPr/>
        </p:nvSpPr>
        <p:spPr bwMode="auto">
          <a:xfrm flipV="1">
            <a:off x="9756198" y="993073"/>
            <a:ext cx="0" cy="40671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3" name="Line 5"/>
          <p:cNvSpPr>
            <a:spLocks noChangeShapeType="1"/>
          </p:cNvSpPr>
          <p:nvPr/>
        </p:nvSpPr>
        <p:spPr bwMode="auto">
          <a:xfrm>
            <a:off x="9715910" y="654733"/>
            <a:ext cx="236271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4" name="Line 19"/>
          <p:cNvSpPr>
            <a:spLocks noChangeShapeType="1"/>
          </p:cNvSpPr>
          <p:nvPr/>
        </p:nvSpPr>
        <p:spPr bwMode="auto">
          <a:xfrm>
            <a:off x="9715910" y="1398295"/>
            <a:ext cx="236271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5" name="Line 29"/>
          <p:cNvSpPr>
            <a:spLocks noChangeShapeType="1"/>
          </p:cNvSpPr>
          <p:nvPr/>
        </p:nvSpPr>
        <p:spPr bwMode="auto">
          <a:xfrm>
            <a:off x="9715910" y="2058444"/>
            <a:ext cx="236271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6" name="Line 42"/>
          <p:cNvSpPr>
            <a:spLocks noChangeShapeType="1"/>
          </p:cNvSpPr>
          <p:nvPr/>
        </p:nvSpPr>
        <p:spPr bwMode="auto">
          <a:xfrm>
            <a:off x="9747805" y="3639320"/>
            <a:ext cx="233082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7" name="Text Box 54"/>
          <p:cNvSpPr txBox="1">
            <a:spLocks noChangeArrowheads="1"/>
          </p:cNvSpPr>
          <p:nvPr/>
        </p:nvSpPr>
        <p:spPr bwMode="auto">
          <a:xfrm>
            <a:off x="10004639" y="669686"/>
            <a:ext cx="439809" cy="287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 dirty="0">
                <a:latin typeface="Symbol" panose="05050102010706020507" pitchFamily="18" charset="2"/>
              </a:rPr>
              <a:t>a</a:t>
            </a:r>
            <a:r>
              <a:rPr lang="fr-FR" altLang="fr-FR" sz="1400" b="1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58" name="Text Box 146"/>
          <p:cNvSpPr txBox="1">
            <a:spLocks noChangeArrowheads="1"/>
          </p:cNvSpPr>
          <p:nvPr/>
        </p:nvSpPr>
        <p:spPr bwMode="auto">
          <a:xfrm>
            <a:off x="9490969" y="1517151"/>
            <a:ext cx="340768" cy="345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9900"/>
                </a:solidFill>
                <a:latin typeface="Symbol" panose="05050102010706020507" pitchFamily="18" charset="2"/>
              </a:rPr>
              <a:t>j</a:t>
            </a:r>
            <a:endParaRPr lang="fr-FR" altLang="fr-FR" sz="1800" b="1" baseline="-25000">
              <a:solidFill>
                <a:srgbClr val="009900"/>
              </a:solidFill>
              <a:latin typeface="Symbol" panose="05050102010706020507" pitchFamily="18" charset="2"/>
            </a:endParaRPr>
          </a:p>
        </p:txBody>
      </p:sp>
      <p:sp>
        <p:nvSpPr>
          <p:cNvPr id="159" name="Line 151"/>
          <p:cNvSpPr>
            <a:spLocks noChangeShapeType="1"/>
          </p:cNvSpPr>
          <p:nvPr/>
        </p:nvSpPr>
        <p:spPr bwMode="auto">
          <a:xfrm flipV="1">
            <a:off x="9756198" y="3504744"/>
            <a:ext cx="532135" cy="270646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0" name="Line 152"/>
          <p:cNvSpPr>
            <a:spLocks noChangeShapeType="1"/>
          </p:cNvSpPr>
          <p:nvPr/>
        </p:nvSpPr>
        <p:spPr bwMode="auto">
          <a:xfrm>
            <a:off x="11125985" y="3504744"/>
            <a:ext cx="532135" cy="270646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1" name="Line 153"/>
          <p:cNvSpPr>
            <a:spLocks noChangeShapeType="1"/>
          </p:cNvSpPr>
          <p:nvPr/>
        </p:nvSpPr>
        <p:spPr bwMode="auto">
          <a:xfrm flipV="1">
            <a:off x="10288332" y="3504744"/>
            <a:ext cx="83765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2" name="Line 156"/>
          <p:cNvSpPr>
            <a:spLocks noChangeShapeType="1"/>
          </p:cNvSpPr>
          <p:nvPr/>
        </p:nvSpPr>
        <p:spPr bwMode="auto">
          <a:xfrm flipV="1">
            <a:off x="9756198" y="3096531"/>
            <a:ext cx="0" cy="81493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3" name="Text Box 157"/>
          <p:cNvSpPr txBox="1">
            <a:spLocks noChangeArrowheads="1"/>
          </p:cNvSpPr>
          <p:nvPr/>
        </p:nvSpPr>
        <p:spPr bwMode="auto">
          <a:xfrm>
            <a:off x="9436101" y="3029244"/>
            <a:ext cx="402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chemeClr val="accent2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64" name="Line 82"/>
          <p:cNvSpPr>
            <a:spLocks noChangeShapeType="1"/>
          </p:cNvSpPr>
          <p:nvPr/>
        </p:nvSpPr>
        <p:spPr bwMode="auto">
          <a:xfrm flipV="1">
            <a:off x="9756198" y="2331668"/>
            <a:ext cx="0" cy="8849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5" name="Line 88"/>
          <p:cNvSpPr>
            <a:spLocks noChangeShapeType="1"/>
          </p:cNvSpPr>
          <p:nvPr/>
        </p:nvSpPr>
        <p:spPr bwMode="auto">
          <a:xfrm>
            <a:off x="9678704" y="2994131"/>
            <a:ext cx="239992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6" name="Line 76"/>
          <p:cNvSpPr>
            <a:spLocks noChangeShapeType="1"/>
          </p:cNvSpPr>
          <p:nvPr/>
        </p:nvSpPr>
        <p:spPr bwMode="auto">
          <a:xfrm flipV="1">
            <a:off x="9756197" y="2459236"/>
            <a:ext cx="547618" cy="295511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7" name="Line 77"/>
          <p:cNvSpPr>
            <a:spLocks noChangeShapeType="1"/>
          </p:cNvSpPr>
          <p:nvPr/>
        </p:nvSpPr>
        <p:spPr bwMode="auto">
          <a:xfrm>
            <a:off x="10303815" y="2459236"/>
            <a:ext cx="859312" cy="293354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8" name="Line 147"/>
          <p:cNvSpPr>
            <a:spLocks noChangeShapeType="1"/>
          </p:cNvSpPr>
          <p:nvPr/>
        </p:nvSpPr>
        <p:spPr bwMode="auto">
          <a:xfrm flipV="1">
            <a:off x="11163126" y="2459236"/>
            <a:ext cx="547618" cy="295511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9" name="Text Box 150"/>
          <p:cNvSpPr txBox="1">
            <a:spLocks noChangeArrowheads="1"/>
          </p:cNvSpPr>
          <p:nvPr/>
        </p:nvSpPr>
        <p:spPr bwMode="auto">
          <a:xfrm>
            <a:off x="9444503" y="2260226"/>
            <a:ext cx="3513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chemeClr val="accent1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70" name="Line 84"/>
          <p:cNvSpPr>
            <a:spLocks noChangeShapeType="1"/>
          </p:cNvSpPr>
          <p:nvPr/>
        </p:nvSpPr>
        <p:spPr bwMode="auto">
          <a:xfrm flipV="1">
            <a:off x="9750314" y="4127499"/>
            <a:ext cx="0" cy="10630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1" name="Line 89"/>
          <p:cNvSpPr>
            <a:spLocks noChangeShapeType="1"/>
          </p:cNvSpPr>
          <p:nvPr/>
        </p:nvSpPr>
        <p:spPr bwMode="auto">
          <a:xfrm>
            <a:off x="9705541" y="5190571"/>
            <a:ext cx="237308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2" name="Line 90"/>
          <p:cNvSpPr>
            <a:spLocks noChangeShapeType="1"/>
          </p:cNvSpPr>
          <p:nvPr/>
        </p:nvSpPr>
        <p:spPr bwMode="auto">
          <a:xfrm flipH="1" flipV="1">
            <a:off x="10297931" y="5844234"/>
            <a:ext cx="0" cy="35852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3" name="Text Box 99"/>
          <p:cNvSpPr txBox="1">
            <a:spLocks noChangeArrowheads="1"/>
          </p:cNvSpPr>
          <p:nvPr/>
        </p:nvSpPr>
        <p:spPr bwMode="auto">
          <a:xfrm>
            <a:off x="9444503" y="4121573"/>
            <a:ext cx="3474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FF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74" name="Line 160"/>
          <p:cNvSpPr>
            <a:spLocks noChangeShapeType="1"/>
          </p:cNvSpPr>
          <p:nvPr/>
        </p:nvSpPr>
        <p:spPr bwMode="auto">
          <a:xfrm>
            <a:off x="9672821" y="6201131"/>
            <a:ext cx="240580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5" name="Line 161"/>
          <p:cNvSpPr>
            <a:spLocks noChangeShapeType="1"/>
          </p:cNvSpPr>
          <p:nvPr/>
        </p:nvSpPr>
        <p:spPr bwMode="auto">
          <a:xfrm flipV="1">
            <a:off x="9750314" y="5413157"/>
            <a:ext cx="0" cy="86266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6" name="Line 162"/>
          <p:cNvSpPr>
            <a:spLocks noChangeShapeType="1"/>
          </p:cNvSpPr>
          <p:nvPr/>
        </p:nvSpPr>
        <p:spPr bwMode="auto">
          <a:xfrm flipV="1">
            <a:off x="9750314" y="4209319"/>
            <a:ext cx="538480" cy="48627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7" name="Line 165"/>
          <p:cNvSpPr>
            <a:spLocks noChangeShapeType="1"/>
          </p:cNvSpPr>
          <p:nvPr/>
        </p:nvSpPr>
        <p:spPr bwMode="auto">
          <a:xfrm>
            <a:off x="10297931" y="4708242"/>
            <a:ext cx="844974" cy="243134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8" name="Line 167"/>
          <p:cNvSpPr>
            <a:spLocks noChangeShapeType="1"/>
          </p:cNvSpPr>
          <p:nvPr/>
        </p:nvSpPr>
        <p:spPr bwMode="auto">
          <a:xfrm flipV="1">
            <a:off x="10297931" y="4209318"/>
            <a:ext cx="0" cy="482391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9" name="Line 168"/>
          <p:cNvSpPr>
            <a:spLocks noChangeShapeType="1"/>
          </p:cNvSpPr>
          <p:nvPr/>
        </p:nvSpPr>
        <p:spPr bwMode="auto">
          <a:xfrm flipV="1">
            <a:off x="11134383" y="4947435"/>
            <a:ext cx="0" cy="24313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" name="Line 169"/>
          <p:cNvSpPr>
            <a:spLocks noChangeShapeType="1"/>
          </p:cNvSpPr>
          <p:nvPr/>
        </p:nvSpPr>
        <p:spPr bwMode="auto">
          <a:xfrm>
            <a:off x="9750314" y="6201131"/>
            <a:ext cx="53848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1" name="Line 170"/>
          <p:cNvSpPr>
            <a:spLocks noChangeShapeType="1"/>
          </p:cNvSpPr>
          <p:nvPr/>
        </p:nvSpPr>
        <p:spPr bwMode="auto">
          <a:xfrm flipV="1">
            <a:off x="11106543" y="5504431"/>
            <a:ext cx="539828" cy="25670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2" name="Line 172"/>
          <p:cNvSpPr>
            <a:spLocks noChangeShapeType="1"/>
          </p:cNvSpPr>
          <p:nvPr/>
        </p:nvSpPr>
        <p:spPr bwMode="auto">
          <a:xfrm flipH="1">
            <a:off x="11125984" y="5772003"/>
            <a:ext cx="0" cy="243134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3" name="Line 173"/>
          <p:cNvSpPr>
            <a:spLocks noChangeShapeType="1"/>
          </p:cNvSpPr>
          <p:nvPr/>
        </p:nvSpPr>
        <p:spPr bwMode="auto">
          <a:xfrm flipV="1">
            <a:off x="11157243" y="5192192"/>
            <a:ext cx="50087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" name="Text Box 180"/>
          <p:cNvSpPr txBox="1">
            <a:spLocks noChangeArrowheads="1"/>
          </p:cNvSpPr>
          <p:nvPr/>
        </p:nvSpPr>
        <p:spPr bwMode="auto">
          <a:xfrm>
            <a:off x="9396558" y="5356265"/>
            <a:ext cx="4295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85" name="Line 94"/>
          <p:cNvSpPr>
            <a:spLocks noChangeShapeType="1"/>
          </p:cNvSpPr>
          <p:nvPr/>
        </p:nvSpPr>
        <p:spPr bwMode="auto">
          <a:xfrm>
            <a:off x="10284128" y="5844234"/>
            <a:ext cx="844974" cy="18344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6" name="ZoneTexte 185"/>
          <p:cNvSpPr txBox="1"/>
          <p:nvPr/>
        </p:nvSpPr>
        <p:spPr>
          <a:xfrm>
            <a:off x="0" y="0"/>
            <a:ext cx="247996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Push-Pull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No laod study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Other structures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88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6" grpId="0" animBg="1"/>
      <p:bldP spid="27" grpId="0" animBg="1"/>
      <p:bldP spid="34" grpId="0"/>
      <p:bldP spid="35" grpId="0"/>
      <p:bldP spid="36" grpId="0" animBg="1"/>
      <p:bldP spid="73" grpId="0" animBg="1"/>
      <p:bldP spid="75" grpId="0" animBg="1"/>
      <p:bldP spid="76" grpId="0" animBg="1"/>
      <p:bldP spid="142" grpId="0" animBg="1"/>
      <p:bldP spid="144" grpId="0" animBg="1"/>
      <p:bldP spid="148" grpId="0" animBg="1"/>
      <p:bldP spid="160" grpId="0" animBg="1"/>
      <p:bldP spid="168" grpId="0" animBg="1"/>
      <p:bldP spid="179" grpId="0" animBg="1"/>
      <p:bldP spid="181" grpId="0" animBg="1"/>
      <p:bldP spid="182" grpId="0" animBg="1"/>
      <p:bldP spid="18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Image 17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558" y="880925"/>
            <a:ext cx="6544424" cy="36780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study: fourth phase</a:t>
            </a:r>
          </a:p>
          <a:p>
            <a:pPr lvl="0">
              <a:defRPr/>
            </a:pP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e 14"/>
          <p:cNvGrpSpPr/>
          <p:nvPr/>
        </p:nvGrpSpPr>
        <p:grpSpPr>
          <a:xfrm>
            <a:off x="2494069" y="2828292"/>
            <a:ext cx="1076624" cy="971851"/>
            <a:chOff x="2866168" y="1937805"/>
            <a:chExt cx="1354109" cy="3585991"/>
          </a:xfrm>
        </p:grpSpPr>
        <p:sp>
          <p:nvSpPr>
            <p:cNvPr id="16" name="Rectangle 15"/>
            <p:cNvSpPr/>
            <p:nvPr/>
          </p:nvSpPr>
          <p:spPr>
            <a:xfrm>
              <a:off x="3042667" y="1937805"/>
              <a:ext cx="1177610" cy="30526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866168" y="4007084"/>
              <a:ext cx="733865" cy="15167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4604657" y="2799714"/>
            <a:ext cx="870224" cy="827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/>
          <p:cNvSpPr/>
          <p:nvPr/>
        </p:nvSpPr>
        <p:spPr>
          <a:xfrm>
            <a:off x="7399607" y="2475914"/>
            <a:ext cx="404544" cy="495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Connecteur droit 26"/>
          <p:cNvCxnSpPr/>
          <p:nvPr/>
        </p:nvCxnSpPr>
        <p:spPr>
          <a:xfrm flipV="1">
            <a:off x="7397339" y="2592698"/>
            <a:ext cx="409080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69694" y="995111"/>
            <a:ext cx="404544" cy="495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2" name="Connecteur droit 31"/>
          <p:cNvCxnSpPr/>
          <p:nvPr/>
        </p:nvCxnSpPr>
        <p:spPr>
          <a:xfrm flipV="1">
            <a:off x="7356972" y="1375080"/>
            <a:ext cx="409080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6508822" y="3305457"/>
            <a:ext cx="20789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b="1" u="sng" dirty="0"/>
              <a:t>T/2+</a:t>
            </a:r>
            <a:r>
              <a:rPr lang="el-GR" sz="2400" b="1" u="sng" dirty="0"/>
              <a:t>α</a:t>
            </a:r>
            <a:r>
              <a:rPr lang="fr-FR" sz="2400" b="1" u="sng" dirty="0"/>
              <a:t>T &lt; t &lt; T:</a:t>
            </a:r>
            <a:r>
              <a:rPr lang="fr-FR" sz="2400" dirty="0"/>
              <a:t> </a:t>
            </a:r>
          </a:p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 &amp; T</a:t>
            </a:r>
            <a:r>
              <a:rPr lang="en-US" sz="2400" baseline="-25000" dirty="0"/>
              <a:t>2</a:t>
            </a:r>
            <a:r>
              <a:rPr lang="en-US" sz="2400" dirty="0"/>
              <a:t> “open”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3245656" y="4423917"/>
                <a:ext cx="60501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𝓡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656" y="4423917"/>
                <a:ext cx="6050118" cy="461665"/>
              </a:xfrm>
              <a:prstGeom prst="rect">
                <a:avLst/>
              </a:prstGeom>
              <a:blipFill>
                <a:blip r:embed="rId4"/>
                <a:stretch>
                  <a:fillRect b="-14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90"/>
          <p:cNvSpPr/>
          <p:nvPr/>
        </p:nvSpPr>
        <p:spPr>
          <a:xfrm>
            <a:off x="4479197" y="3379568"/>
            <a:ext cx="374336" cy="483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ZoneTexte 91"/>
              <p:cNvSpPr txBox="1"/>
              <p:nvPr/>
            </p:nvSpPr>
            <p:spPr>
              <a:xfrm>
                <a:off x="3217636" y="6274941"/>
                <a:ext cx="25163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92" name="ZoneTexte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636" y="6274941"/>
                <a:ext cx="2516395" cy="369332"/>
              </a:xfrm>
              <a:prstGeom prst="rect">
                <a:avLst/>
              </a:prstGeom>
              <a:blipFill>
                <a:blip r:embed="rId5"/>
                <a:stretch>
                  <a:fillRect l="-242" r="-969"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AutoShape 355"/>
          <p:cNvSpPr>
            <a:spLocks noChangeArrowheads="1"/>
          </p:cNvSpPr>
          <p:nvPr/>
        </p:nvSpPr>
        <p:spPr bwMode="auto">
          <a:xfrm rot="16200000">
            <a:off x="6302243" y="6232292"/>
            <a:ext cx="495300" cy="504825"/>
          </a:xfrm>
          <a:prstGeom prst="downArrow">
            <a:avLst>
              <a:gd name="adj1" fmla="val 50000"/>
              <a:gd name="adj2" fmla="val 25481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ZoneTexte 93"/>
              <p:cNvSpPr txBox="1"/>
              <p:nvPr/>
            </p:nvSpPr>
            <p:spPr>
              <a:xfrm>
                <a:off x="7732348" y="6290268"/>
                <a:ext cx="11407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𝒄𝒔𝒕</m:t>
                      </m:r>
                    </m:oMath>
                  </m:oMathPara>
                </a14:m>
                <a:endParaRPr lang="fr-FR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" name="ZoneTexte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348" y="6290268"/>
                <a:ext cx="1140762" cy="369332"/>
              </a:xfrm>
              <a:prstGeom prst="rect">
                <a:avLst/>
              </a:prstGeom>
              <a:blipFill>
                <a:blip r:embed="rId6"/>
                <a:stretch>
                  <a:fillRect l="-6383" r="-4255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/>
              <p:cNvSpPr/>
              <p:nvPr/>
            </p:nvSpPr>
            <p:spPr>
              <a:xfrm>
                <a:off x="2555580" y="4906451"/>
                <a:ext cx="336810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D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« forward »</a:t>
                </a:r>
                <a:endParaRPr lang="fr-FR" sz="24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𝓡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fr-FR" sz="24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5" name="Rectangle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580" y="4906451"/>
                <a:ext cx="3368102" cy="830997"/>
              </a:xfrm>
              <a:prstGeom prst="rect">
                <a:avLst/>
              </a:prstGeom>
              <a:blipFill>
                <a:blip r:embed="rId7"/>
                <a:stretch>
                  <a:fillRect l="-2351" t="-5882" b="-73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AutoShape 355"/>
          <p:cNvSpPr>
            <a:spLocks noChangeArrowheads="1"/>
          </p:cNvSpPr>
          <p:nvPr/>
        </p:nvSpPr>
        <p:spPr bwMode="auto">
          <a:xfrm rot="16200000">
            <a:off x="6323080" y="5014498"/>
            <a:ext cx="495300" cy="504825"/>
          </a:xfrm>
          <a:prstGeom prst="downArrow">
            <a:avLst>
              <a:gd name="adj1" fmla="val 50000"/>
              <a:gd name="adj2" fmla="val 25481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/>
              <p:cNvSpPr/>
              <p:nvPr/>
            </p:nvSpPr>
            <p:spPr>
              <a:xfrm>
                <a:off x="2415026" y="5714438"/>
                <a:ext cx="38755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𝓡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Rectangle 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026" y="5714438"/>
                <a:ext cx="3875548" cy="461665"/>
              </a:xfrm>
              <a:prstGeom prst="rect">
                <a:avLst/>
              </a:prstGeom>
              <a:blipFill>
                <a:blip r:embed="rId8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AutoShape 355"/>
          <p:cNvSpPr>
            <a:spLocks noChangeArrowheads="1"/>
          </p:cNvSpPr>
          <p:nvPr/>
        </p:nvSpPr>
        <p:spPr bwMode="auto">
          <a:xfrm rot="16200000">
            <a:off x="6302242" y="5695617"/>
            <a:ext cx="495300" cy="504825"/>
          </a:xfrm>
          <a:prstGeom prst="downArrow">
            <a:avLst>
              <a:gd name="adj1" fmla="val 50000"/>
              <a:gd name="adj2" fmla="val 25481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6956779" y="5728506"/>
            <a:ext cx="26112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D</a:t>
            </a:r>
            <a:r>
              <a:rPr lang="en-US" sz="2400" b="1" baseline="-25000" dirty="0">
                <a:solidFill>
                  <a:srgbClr val="FF0000"/>
                </a:solidFill>
              </a:rPr>
              <a:t>3</a:t>
            </a:r>
            <a:r>
              <a:rPr lang="en-US" sz="2400" b="1" dirty="0">
                <a:solidFill>
                  <a:srgbClr val="FF0000"/>
                </a:solidFill>
              </a:rPr>
              <a:t> &amp; D</a:t>
            </a:r>
            <a:r>
              <a:rPr lang="en-US" sz="2400" b="1" baseline="-25000" dirty="0">
                <a:solidFill>
                  <a:srgbClr val="FF0000"/>
                </a:solidFill>
              </a:rPr>
              <a:t>4</a:t>
            </a:r>
            <a:r>
              <a:rPr lang="en-US" sz="2400" b="1" dirty="0">
                <a:solidFill>
                  <a:srgbClr val="FF0000"/>
                </a:solidFill>
              </a:rPr>
              <a:t> “forward”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7114266" y="5036079"/>
            <a:ext cx="1883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D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 “reverse” 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60521" y="2666036"/>
            <a:ext cx="1047710" cy="113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Rectangle 101"/>
          <p:cNvSpPr/>
          <p:nvPr/>
        </p:nvSpPr>
        <p:spPr>
          <a:xfrm>
            <a:off x="3146028" y="2770127"/>
            <a:ext cx="649057" cy="1111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Rectangle 102"/>
          <p:cNvSpPr/>
          <p:nvPr/>
        </p:nvSpPr>
        <p:spPr>
          <a:xfrm>
            <a:off x="3450776" y="3217799"/>
            <a:ext cx="649057" cy="452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Rectangle 6"/>
          <p:cNvSpPr>
            <a:spLocks noChangeArrowheads="1"/>
          </p:cNvSpPr>
          <p:nvPr/>
        </p:nvSpPr>
        <p:spPr bwMode="auto">
          <a:xfrm>
            <a:off x="9458568" y="316799"/>
            <a:ext cx="492869" cy="33942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05" name="Line 7"/>
          <p:cNvSpPr>
            <a:spLocks noChangeShapeType="1"/>
          </p:cNvSpPr>
          <p:nvPr/>
        </p:nvSpPr>
        <p:spPr bwMode="auto">
          <a:xfrm flipV="1">
            <a:off x="9458568" y="113440"/>
            <a:ext cx="0" cy="6115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10723290" y="316799"/>
            <a:ext cx="492869" cy="339429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  <a:r>
              <a:rPr lang="fr-FR" altLang="fr-FR" sz="18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07" name="Line 11"/>
          <p:cNvSpPr>
            <a:spLocks noChangeShapeType="1"/>
          </p:cNvSpPr>
          <p:nvPr/>
        </p:nvSpPr>
        <p:spPr bwMode="auto">
          <a:xfrm>
            <a:off x="9458568" y="659459"/>
            <a:ext cx="0" cy="331779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8" name="Line 12"/>
          <p:cNvSpPr>
            <a:spLocks noChangeShapeType="1"/>
          </p:cNvSpPr>
          <p:nvPr/>
        </p:nvSpPr>
        <p:spPr bwMode="auto">
          <a:xfrm>
            <a:off x="9951437" y="659459"/>
            <a:ext cx="0" cy="5688374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9" name="Line 13"/>
          <p:cNvSpPr>
            <a:spLocks noChangeShapeType="1"/>
          </p:cNvSpPr>
          <p:nvPr/>
        </p:nvSpPr>
        <p:spPr bwMode="auto">
          <a:xfrm>
            <a:off x="10724840" y="654733"/>
            <a:ext cx="0" cy="569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0" name="Line 14"/>
          <p:cNvSpPr>
            <a:spLocks noChangeShapeType="1"/>
          </p:cNvSpPr>
          <p:nvPr/>
        </p:nvSpPr>
        <p:spPr bwMode="auto">
          <a:xfrm>
            <a:off x="11217709" y="654733"/>
            <a:ext cx="0" cy="569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1" name="Text Box 16"/>
          <p:cNvSpPr txBox="1">
            <a:spLocks noChangeArrowheads="1"/>
          </p:cNvSpPr>
          <p:nvPr/>
        </p:nvSpPr>
        <p:spPr bwMode="auto">
          <a:xfrm>
            <a:off x="9176485" y="310817"/>
            <a:ext cx="291382" cy="345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2" name="Text Box 17"/>
          <p:cNvSpPr txBox="1">
            <a:spLocks noChangeArrowheads="1"/>
          </p:cNvSpPr>
          <p:nvPr/>
        </p:nvSpPr>
        <p:spPr bwMode="auto">
          <a:xfrm>
            <a:off x="10329363" y="636719"/>
            <a:ext cx="4665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latin typeface="Times New Roman" panose="02020603050405020304" pitchFamily="18" charset="0"/>
              </a:rPr>
              <a:t>T/2</a:t>
            </a:r>
          </a:p>
        </p:txBody>
      </p:sp>
      <p:sp>
        <p:nvSpPr>
          <p:cNvPr id="113" name="Line 20"/>
          <p:cNvSpPr>
            <a:spLocks noChangeShapeType="1"/>
          </p:cNvSpPr>
          <p:nvPr/>
        </p:nvSpPr>
        <p:spPr bwMode="auto">
          <a:xfrm>
            <a:off x="9458568" y="993073"/>
            <a:ext cx="492869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4" name="Line 21"/>
          <p:cNvSpPr>
            <a:spLocks noChangeShapeType="1"/>
          </p:cNvSpPr>
          <p:nvPr/>
        </p:nvSpPr>
        <p:spPr bwMode="auto">
          <a:xfrm flipV="1">
            <a:off x="9949886" y="993073"/>
            <a:ext cx="0" cy="4186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5" name="Line 22"/>
          <p:cNvSpPr>
            <a:spLocks noChangeShapeType="1"/>
          </p:cNvSpPr>
          <p:nvPr/>
        </p:nvSpPr>
        <p:spPr bwMode="auto">
          <a:xfrm flipV="1">
            <a:off x="10723290" y="1399790"/>
            <a:ext cx="0" cy="40671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6" name="Line 23"/>
          <p:cNvSpPr>
            <a:spLocks noChangeShapeType="1"/>
          </p:cNvSpPr>
          <p:nvPr/>
        </p:nvSpPr>
        <p:spPr bwMode="auto">
          <a:xfrm flipV="1">
            <a:off x="9949886" y="1399790"/>
            <a:ext cx="78735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7" name="Line 24"/>
          <p:cNvSpPr>
            <a:spLocks noChangeShapeType="1"/>
          </p:cNvSpPr>
          <p:nvPr/>
        </p:nvSpPr>
        <p:spPr bwMode="auto">
          <a:xfrm>
            <a:off x="10723290" y="1783648"/>
            <a:ext cx="492869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8" name="Text Box 28"/>
          <p:cNvSpPr txBox="1">
            <a:spLocks noChangeArrowheads="1"/>
          </p:cNvSpPr>
          <p:nvPr/>
        </p:nvSpPr>
        <p:spPr bwMode="auto">
          <a:xfrm>
            <a:off x="9107031" y="752477"/>
            <a:ext cx="365777" cy="345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19" name="Line 30"/>
          <p:cNvSpPr>
            <a:spLocks noChangeShapeType="1"/>
          </p:cNvSpPr>
          <p:nvPr/>
        </p:nvSpPr>
        <p:spPr bwMode="auto">
          <a:xfrm flipV="1">
            <a:off x="9458568" y="1803037"/>
            <a:ext cx="508369" cy="542789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0" name="Line 31"/>
          <p:cNvSpPr>
            <a:spLocks noChangeShapeType="1"/>
          </p:cNvSpPr>
          <p:nvPr/>
        </p:nvSpPr>
        <p:spPr bwMode="auto">
          <a:xfrm>
            <a:off x="10723290" y="1803037"/>
            <a:ext cx="508369" cy="542789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1" name="Line 34"/>
          <p:cNvSpPr>
            <a:spLocks noChangeShapeType="1"/>
          </p:cNvSpPr>
          <p:nvPr/>
        </p:nvSpPr>
        <p:spPr bwMode="auto">
          <a:xfrm flipV="1">
            <a:off x="9949886" y="1818277"/>
            <a:ext cx="773402" cy="0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2" name="Line 35"/>
          <p:cNvSpPr>
            <a:spLocks noChangeShapeType="1"/>
          </p:cNvSpPr>
          <p:nvPr/>
        </p:nvSpPr>
        <p:spPr bwMode="auto">
          <a:xfrm flipV="1">
            <a:off x="9458568" y="857002"/>
            <a:ext cx="0" cy="101828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3" name="Line 36"/>
          <p:cNvSpPr>
            <a:spLocks noChangeShapeType="1"/>
          </p:cNvSpPr>
          <p:nvPr/>
        </p:nvSpPr>
        <p:spPr bwMode="auto">
          <a:xfrm flipV="1">
            <a:off x="9458568" y="1584438"/>
            <a:ext cx="0" cy="81493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4" name="Line 37"/>
          <p:cNvSpPr>
            <a:spLocks noChangeShapeType="1"/>
          </p:cNvSpPr>
          <p:nvPr/>
        </p:nvSpPr>
        <p:spPr bwMode="auto">
          <a:xfrm flipV="1">
            <a:off x="9458568" y="993073"/>
            <a:ext cx="0" cy="40671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5" name="Line 5"/>
          <p:cNvSpPr>
            <a:spLocks noChangeShapeType="1"/>
          </p:cNvSpPr>
          <p:nvPr/>
        </p:nvSpPr>
        <p:spPr bwMode="auto">
          <a:xfrm>
            <a:off x="9421369" y="654733"/>
            <a:ext cx="266395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6" name="Line 19"/>
          <p:cNvSpPr>
            <a:spLocks noChangeShapeType="1"/>
          </p:cNvSpPr>
          <p:nvPr/>
        </p:nvSpPr>
        <p:spPr bwMode="auto">
          <a:xfrm>
            <a:off x="9421370" y="1398295"/>
            <a:ext cx="2663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7" name="Line 29"/>
          <p:cNvSpPr>
            <a:spLocks noChangeShapeType="1"/>
          </p:cNvSpPr>
          <p:nvPr/>
        </p:nvSpPr>
        <p:spPr bwMode="auto">
          <a:xfrm>
            <a:off x="9421369" y="2058444"/>
            <a:ext cx="266395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8" name="Line 42"/>
          <p:cNvSpPr>
            <a:spLocks noChangeShapeType="1"/>
          </p:cNvSpPr>
          <p:nvPr/>
        </p:nvSpPr>
        <p:spPr bwMode="auto">
          <a:xfrm>
            <a:off x="9450818" y="3639320"/>
            <a:ext cx="263450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9" name="Text Box 54"/>
          <p:cNvSpPr txBox="1">
            <a:spLocks noChangeArrowheads="1"/>
          </p:cNvSpPr>
          <p:nvPr/>
        </p:nvSpPr>
        <p:spPr bwMode="auto">
          <a:xfrm>
            <a:off x="9613812" y="640283"/>
            <a:ext cx="406075" cy="287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 dirty="0">
                <a:latin typeface="Symbol" panose="05050102010706020507" pitchFamily="18" charset="2"/>
              </a:rPr>
              <a:t>a</a:t>
            </a:r>
            <a:r>
              <a:rPr lang="fr-FR" altLang="fr-FR" sz="1400" b="1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30" name="Text Box 146"/>
          <p:cNvSpPr txBox="1">
            <a:spLocks noChangeArrowheads="1"/>
          </p:cNvSpPr>
          <p:nvPr/>
        </p:nvSpPr>
        <p:spPr bwMode="auto">
          <a:xfrm>
            <a:off x="9153237" y="1494371"/>
            <a:ext cx="314630" cy="345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9900"/>
                </a:solidFill>
                <a:latin typeface="Symbol" panose="05050102010706020507" pitchFamily="18" charset="2"/>
              </a:rPr>
              <a:t>j</a:t>
            </a:r>
            <a:endParaRPr lang="fr-FR" altLang="fr-FR" sz="1800" b="1" baseline="-25000" dirty="0">
              <a:solidFill>
                <a:srgbClr val="009900"/>
              </a:solidFill>
              <a:latin typeface="Symbol" panose="05050102010706020507" pitchFamily="18" charset="2"/>
            </a:endParaRPr>
          </a:p>
        </p:txBody>
      </p:sp>
      <p:sp>
        <p:nvSpPr>
          <p:cNvPr id="131" name="Line 151"/>
          <p:cNvSpPr>
            <a:spLocks noChangeShapeType="1"/>
          </p:cNvSpPr>
          <p:nvPr/>
        </p:nvSpPr>
        <p:spPr bwMode="auto">
          <a:xfrm flipV="1">
            <a:off x="9458568" y="3504744"/>
            <a:ext cx="491319" cy="270646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2" name="Line 152"/>
          <p:cNvSpPr>
            <a:spLocks noChangeShapeType="1"/>
          </p:cNvSpPr>
          <p:nvPr/>
        </p:nvSpPr>
        <p:spPr bwMode="auto">
          <a:xfrm>
            <a:off x="10723290" y="3504743"/>
            <a:ext cx="494419" cy="312051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" name="Line 153"/>
          <p:cNvSpPr>
            <a:spLocks noChangeShapeType="1"/>
          </p:cNvSpPr>
          <p:nvPr/>
        </p:nvSpPr>
        <p:spPr bwMode="auto">
          <a:xfrm flipV="1">
            <a:off x="9949886" y="3504744"/>
            <a:ext cx="77340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4" name="Line 156"/>
          <p:cNvSpPr>
            <a:spLocks noChangeShapeType="1"/>
          </p:cNvSpPr>
          <p:nvPr/>
        </p:nvSpPr>
        <p:spPr bwMode="auto">
          <a:xfrm flipV="1">
            <a:off x="9458568" y="3096531"/>
            <a:ext cx="0" cy="81493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5" name="Text Box 157"/>
          <p:cNvSpPr txBox="1">
            <a:spLocks noChangeArrowheads="1"/>
          </p:cNvSpPr>
          <p:nvPr/>
        </p:nvSpPr>
        <p:spPr bwMode="auto">
          <a:xfrm>
            <a:off x="9163023" y="3029244"/>
            <a:ext cx="402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chemeClr val="accent2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36" name="Line 82"/>
          <p:cNvSpPr>
            <a:spLocks noChangeShapeType="1"/>
          </p:cNvSpPr>
          <p:nvPr/>
        </p:nvSpPr>
        <p:spPr bwMode="auto">
          <a:xfrm flipV="1">
            <a:off x="9458568" y="2331668"/>
            <a:ext cx="0" cy="8849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7" name="Line 88"/>
          <p:cNvSpPr>
            <a:spLocks noChangeShapeType="1"/>
          </p:cNvSpPr>
          <p:nvPr/>
        </p:nvSpPr>
        <p:spPr bwMode="auto">
          <a:xfrm>
            <a:off x="9387018" y="2994131"/>
            <a:ext cx="269830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8" name="Line 76"/>
          <p:cNvSpPr>
            <a:spLocks noChangeShapeType="1"/>
          </p:cNvSpPr>
          <p:nvPr/>
        </p:nvSpPr>
        <p:spPr bwMode="auto">
          <a:xfrm flipV="1">
            <a:off x="9458567" y="2459236"/>
            <a:ext cx="505615" cy="295511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9" name="Line 77"/>
          <p:cNvSpPr>
            <a:spLocks noChangeShapeType="1"/>
          </p:cNvSpPr>
          <p:nvPr/>
        </p:nvSpPr>
        <p:spPr bwMode="auto">
          <a:xfrm>
            <a:off x="9964182" y="2459236"/>
            <a:ext cx="793401" cy="293354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0" name="Line 147"/>
          <p:cNvSpPr>
            <a:spLocks noChangeShapeType="1"/>
          </p:cNvSpPr>
          <p:nvPr/>
        </p:nvSpPr>
        <p:spPr bwMode="auto">
          <a:xfrm flipV="1">
            <a:off x="10757582" y="2451695"/>
            <a:ext cx="457027" cy="303052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1" name="Text Box 150"/>
          <p:cNvSpPr txBox="1">
            <a:spLocks noChangeArrowheads="1"/>
          </p:cNvSpPr>
          <p:nvPr/>
        </p:nvSpPr>
        <p:spPr bwMode="auto">
          <a:xfrm>
            <a:off x="9170781" y="2260226"/>
            <a:ext cx="3244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chemeClr val="accent1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42" name="Line 84"/>
          <p:cNvSpPr>
            <a:spLocks noChangeShapeType="1"/>
          </p:cNvSpPr>
          <p:nvPr/>
        </p:nvSpPr>
        <p:spPr bwMode="auto">
          <a:xfrm flipV="1">
            <a:off x="9453135" y="3881155"/>
            <a:ext cx="0" cy="130941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3" name="Line 89"/>
          <p:cNvSpPr>
            <a:spLocks noChangeShapeType="1"/>
          </p:cNvSpPr>
          <p:nvPr/>
        </p:nvSpPr>
        <p:spPr bwMode="auto">
          <a:xfrm>
            <a:off x="9411796" y="5190571"/>
            <a:ext cx="267352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4" name="Line 90"/>
          <p:cNvSpPr>
            <a:spLocks noChangeShapeType="1"/>
          </p:cNvSpPr>
          <p:nvPr/>
        </p:nvSpPr>
        <p:spPr bwMode="auto">
          <a:xfrm flipH="1" flipV="1">
            <a:off x="9958749" y="5844234"/>
            <a:ext cx="0" cy="35852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5" name="Text Box 99"/>
          <p:cNvSpPr txBox="1">
            <a:spLocks noChangeArrowheads="1"/>
          </p:cNvSpPr>
          <p:nvPr/>
        </p:nvSpPr>
        <p:spPr bwMode="auto">
          <a:xfrm>
            <a:off x="9093799" y="3988751"/>
            <a:ext cx="3976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FF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46" name="Line 160"/>
          <p:cNvSpPr>
            <a:spLocks noChangeShapeType="1"/>
          </p:cNvSpPr>
          <p:nvPr/>
        </p:nvSpPr>
        <p:spPr bwMode="auto">
          <a:xfrm>
            <a:off x="9381585" y="6201131"/>
            <a:ext cx="270373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7" name="Line 161"/>
          <p:cNvSpPr>
            <a:spLocks noChangeShapeType="1"/>
          </p:cNvSpPr>
          <p:nvPr/>
        </p:nvSpPr>
        <p:spPr bwMode="auto">
          <a:xfrm flipV="1">
            <a:off x="9453135" y="5368642"/>
            <a:ext cx="0" cy="90717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8" name="Line 162"/>
          <p:cNvSpPr>
            <a:spLocks noChangeShapeType="1"/>
          </p:cNvSpPr>
          <p:nvPr/>
        </p:nvSpPr>
        <p:spPr bwMode="auto">
          <a:xfrm flipV="1">
            <a:off x="9453135" y="4209319"/>
            <a:ext cx="497177" cy="48627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9" name="Line 165"/>
          <p:cNvSpPr>
            <a:spLocks noChangeShapeType="1"/>
          </p:cNvSpPr>
          <p:nvPr/>
        </p:nvSpPr>
        <p:spPr bwMode="auto">
          <a:xfrm>
            <a:off x="9958749" y="4708242"/>
            <a:ext cx="780163" cy="243134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0" name="Line 167"/>
          <p:cNvSpPr>
            <a:spLocks noChangeShapeType="1"/>
          </p:cNvSpPr>
          <p:nvPr/>
        </p:nvSpPr>
        <p:spPr bwMode="auto">
          <a:xfrm flipV="1">
            <a:off x="9958749" y="4209318"/>
            <a:ext cx="0" cy="482391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1" name="Line 168"/>
          <p:cNvSpPr>
            <a:spLocks noChangeShapeType="1"/>
          </p:cNvSpPr>
          <p:nvPr/>
        </p:nvSpPr>
        <p:spPr bwMode="auto">
          <a:xfrm flipV="1">
            <a:off x="10731043" y="4947435"/>
            <a:ext cx="0" cy="24313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2" name="Line 169"/>
          <p:cNvSpPr>
            <a:spLocks noChangeShapeType="1"/>
          </p:cNvSpPr>
          <p:nvPr/>
        </p:nvSpPr>
        <p:spPr bwMode="auto">
          <a:xfrm>
            <a:off x="9453135" y="6201131"/>
            <a:ext cx="497177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3" name="Line 170"/>
          <p:cNvSpPr>
            <a:spLocks noChangeShapeType="1"/>
          </p:cNvSpPr>
          <p:nvPr/>
        </p:nvSpPr>
        <p:spPr bwMode="auto">
          <a:xfrm flipV="1">
            <a:off x="10705339" y="5504431"/>
            <a:ext cx="498422" cy="25670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4" name="Line 172"/>
          <p:cNvSpPr>
            <a:spLocks noChangeShapeType="1"/>
          </p:cNvSpPr>
          <p:nvPr/>
        </p:nvSpPr>
        <p:spPr bwMode="auto">
          <a:xfrm flipH="1">
            <a:off x="10723289" y="5772003"/>
            <a:ext cx="0" cy="243134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5" name="Line 173"/>
          <p:cNvSpPr>
            <a:spLocks noChangeShapeType="1"/>
          </p:cNvSpPr>
          <p:nvPr/>
        </p:nvSpPr>
        <p:spPr bwMode="auto">
          <a:xfrm flipV="1">
            <a:off x="10752150" y="5192192"/>
            <a:ext cx="462459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6" name="Text Box 180"/>
          <p:cNvSpPr txBox="1">
            <a:spLocks noChangeArrowheads="1"/>
          </p:cNvSpPr>
          <p:nvPr/>
        </p:nvSpPr>
        <p:spPr bwMode="auto">
          <a:xfrm>
            <a:off x="9088443" y="5220260"/>
            <a:ext cx="5473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57" name="Line 94"/>
          <p:cNvSpPr>
            <a:spLocks noChangeShapeType="1"/>
          </p:cNvSpPr>
          <p:nvPr/>
        </p:nvSpPr>
        <p:spPr bwMode="auto">
          <a:xfrm>
            <a:off x="9946005" y="5844234"/>
            <a:ext cx="780163" cy="18344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8" name="Line 14"/>
          <p:cNvSpPr>
            <a:spLocks noChangeShapeType="1"/>
          </p:cNvSpPr>
          <p:nvPr/>
        </p:nvSpPr>
        <p:spPr bwMode="auto">
          <a:xfrm>
            <a:off x="11994097" y="552026"/>
            <a:ext cx="0" cy="569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9" name="Text Box 17"/>
          <p:cNvSpPr txBox="1">
            <a:spLocks noChangeArrowheads="1"/>
          </p:cNvSpPr>
          <p:nvPr/>
        </p:nvSpPr>
        <p:spPr bwMode="auto">
          <a:xfrm>
            <a:off x="11684488" y="650008"/>
            <a:ext cx="3007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61" name="Line 153"/>
          <p:cNvSpPr>
            <a:spLocks noChangeShapeType="1"/>
          </p:cNvSpPr>
          <p:nvPr/>
        </p:nvSpPr>
        <p:spPr bwMode="auto">
          <a:xfrm flipV="1">
            <a:off x="11203761" y="3818417"/>
            <a:ext cx="773402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2" name="Line 22"/>
          <p:cNvSpPr>
            <a:spLocks noChangeShapeType="1"/>
          </p:cNvSpPr>
          <p:nvPr/>
        </p:nvSpPr>
        <p:spPr bwMode="auto">
          <a:xfrm flipV="1">
            <a:off x="11231659" y="1399790"/>
            <a:ext cx="0" cy="40671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3" name="Line 24"/>
          <p:cNvSpPr>
            <a:spLocks noChangeShapeType="1"/>
          </p:cNvSpPr>
          <p:nvPr/>
        </p:nvSpPr>
        <p:spPr bwMode="auto">
          <a:xfrm>
            <a:off x="11231659" y="1398295"/>
            <a:ext cx="745504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4" name="Line 24"/>
          <p:cNvSpPr>
            <a:spLocks noChangeShapeType="1"/>
          </p:cNvSpPr>
          <p:nvPr/>
        </p:nvSpPr>
        <p:spPr bwMode="auto">
          <a:xfrm>
            <a:off x="9946005" y="1393240"/>
            <a:ext cx="759334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5" name="Line 34"/>
          <p:cNvSpPr>
            <a:spLocks noChangeShapeType="1"/>
          </p:cNvSpPr>
          <p:nvPr/>
        </p:nvSpPr>
        <p:spPr bwMode="auto">
          <a:xfrm flipV="1">
            <a:off x="11220695" y="2331668"/>
            <a:ext cx="773402" cy="0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6" name="Line 77"/>
          <p:cNvSpPr>
            <a:spLocks noChangeShapeType="1"/>
          </p:cNvSpPr>
          <p:nvPr/>
        </p:nvSpPr>
        <p:spPr bwMode="auto">
          <a:xfrm>
            <a:off x="11203761" y="2446243"/>
            <a:ext cx="793401" cy="293354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7" name="Line 94"/>
          <p:cNvSpPr>
            <a:spLocks noChangeShapeType="1"/>
          </p:cNvSpPr>
          <p:nvPr/>
        </p:nvSpPr>
        <p:spPr bwMode="auto">
          <a:xfrm>
            <a:off x="11217314" y="5909990"/>
            <a:ext cx="780163" cy="18344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8" name="Line 165"/>
          <p:cNvSpPr>
            <a:spLocks noChangeShapeType="1"/>
          </p:cNvSpPr>
          <p:nvPr/>
        </p:nvSpPr>
        <p:spPr bwMode="auto">
          <a:xfrm>
            <a:off x="11231659" y="4555842"/>
            <a:ext cx="780163" cy="243134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9" name="Line 168"/>
          <p:cNvSpPr>
            <a:spLocks noChangeShapeType="1"/>
          </p:cNvSpPr>
          <p:nvPr/>
        </p:nvSpPr>
        <p:spPr bwMode="auto">
          <a:xfrm flipV="1">
            <a:off x="11231659" y="4535862"/>
            <a:ext cx="0" cy="684398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0" name="Line 172"/>
          <p:cNvSpPr>
            <a:spLocks noChangeShapeType="1"/>
          </p:cNvSpPr>
          <p:nvPr/>
        </p:nvSpPr>
        <p:spPr bwMode="auto">
          <a:xfrm flipH="1">
            <a:off x="11230475" y="5504430"/>
            <a:ext cx="0" cy="405559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1" name="ZoneTexte 170"/>
          <p:cNvSpPr txBox="1"/>
          <p:nvPr/>
        </p:nvSpPr>
        <p:spPr>
          <a:xfrm>
            <a:off x="0" y="0"/>
            <a:ext cx="247996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Push-Pull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No laod study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Other structures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99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6" grpId="0" animBg="1"/>
      <p:bldP spid="31" grpId="0" animBg="1"/>
      <p:bldP spid="89" grpId="0"/>
      <p:bldP spid="91" grpId="0" animBg="1"/>
      <p:bldP spid="92" grpId="0"/>
      <p:bldP spid="93" grpId="0" animBg="1"/>
      <p:bldP spid="94" grpId="0"/>
      <p:bldP spid="95" grpId="0"/>
      <p:bldP spid="96" grpId="0" animBg="1"/>
      <p:bldP spid="97" grpId="0"/>
      <p:bldP spid="98" grpId="0" animBg="1"/>
      <p:bldP spid="99" grpId="0"/>
      <p:bldP spid="100" grpId="0"/>
      <p:bldP spid="101" grpId="0" animBg="1"/>
      <p:bldP spid="102" grpId="0" animBg="1"/>
      <p:bldP spid="103" grpId="0" animBg="1"/>
      <p:bldP spid="161" grpId="0" animBg="1"/>
      <p:bldP spid="162" grpId="0" animBg="1"/>
      <p:bldP spid="163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e 127"/>
          <p:cNvGrpSpPr/>
          <p:nvPr/>
        </p:nvGrpSpPr>
        <p:grpSpPr>
          <a:xfrm>
            <a:off x="2909816" y="1193572"/>
            <a:ext cx="4164764" cy="5248729"/>
            <a:chOff x="3689727" y="1762352"/>
            <a:chExt cx="3295954" cy="4102100"/>
          </a:xfrm>
        </p:grpSpPr>
        <p:sp>
          <p:nvSpPr>
            <p:cNvPr id="2" name="Freeform 198" descr="noir)"/>
            <p:cNvSpPr>
              <a:spLocks/>
            </p:cNvSpPr>
            <p:nvPr/>
          </p:nvSpPr>
          <p:spPr bwMode="auto">
            <a:xfrm>
              <a:off x="3978956" y="5362802"/>
              <a:ext cx="503237" cy="287337"/>
            </a:xfrm>
            <a:custGeom>
              <a:avLst/>
              <a:gdLst>
                <a:gd name="T0" fmla="*/ 0 w 317"/>
                <a:gd name="T1" fmla="*/ 2147483646 h 181"/>
                <a:gd name="T2" fmla="*/ 0 w 317"/>
                <a:gd name="T3" fmla="*/ 2147483646 h 181"/>
                <a:gd name="T4" fmla="*/ 2147483646 w 317"/>
                <a:gd name="T5" fmla="*/ 2147483646 h 181"/>
                <a:gd name="T6" fmla="*/ 2147483646 w 317"/>
                <a:gd name="T7" fmla="*/ 0 h 181"/>
                <a:gd name="T8" fmla="*/ 0 w 317"/>
                <a:gd name="T9" fmla="*/ 2147483646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7" h="181">
                  <a:moveTo>
                    <a:pt x="0" y="181"/>
                  </a:moveTo>
                  <a:lnTo>
                    <a:pt x="0" y="90"/>
                  </a:lnTo>
                  <a:lnTo>
                    <a:pt x="317" y="90"/>
                  </a:lnTo>
                  <a:lnTo>
                    <a:pt x="317" y="0"/>
                  </a:lnTo>
                  <a:lnTo>
                    <a:pt x="0" y="18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Rectangle 6"/>
            <p:cNvSpPr>
              <a:spLocks noChangeArrowheads="1"/>
            </p:cNvSpPr>
            <p:nvPr/>
          </p:nvSpPr>
          <p:spPr bwMode="auto">
            <a:xfrm>
              <a:off x="3978956" y="1978252"/>
              <a:ext cx="504825" cy="360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" name="Line 7"/>
            <p:cNvSpPr>
              <a:spLocks noChangeShapeType="1"/>
            </p:cNvSpPr>
            <p:nvPr/>
          </p:nvSpPr>
          <p:spPr bwMode="auto">
            <a:xfrm flipV="1">
              <a:off x="3978956" y="1762352"/>
              <a:ext cx="0" cy="6492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5274356" y="1978252"/>
              <a:ext cx="504825" cy="36036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6" name="Group 10"/>
            <p:cNvGrpSpPr>
              <a:grpSpLocks/>
            </p:cNvGrpSpPr>
            <p:nvPr/>
          </p:nvGrpSpPr>
          <p:grpSpPr bwMode="auto">
            <a:xfrm>
              <a:off x="3978956" y="2337027"/>
              <a:ext cx="2593975" cy="3527425"/>
              <a:chOff x="2663" y="1117"/>
              <a:chExt cx="1634" cy="2812"/>
            </a:xfrm>
          </p:grpSpPr>
          <p:sp>
            <p:nvSpPr>
              <p:cNvPr id="7" name="Line 11"/>
              <p:cNvSpPr>
                <a:spLocks noChangeShapeType="1"/>
              </p:cNvSpPr>
              <p:nvPr/>
            </p:nvSpPr>
            <p:spPr bwMode="auto">
              <a:xfrm>
                <a:off x="2663" y="1121"/>
                <a:ext cx="0" cy="28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" name="Line 12"/>
              <p:cNvSpPr>
                <a:spLocks noChangeShapeType="1"/>
              </p:cNvSpPr>
              <p:nvPr/>
            </p:nvSpPr>
            <p:spPr bwMode="auto">
              <a:xfrm>
                <a:off x="2981" y="1121"/>
                <a:ext cx="0" cy="28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" name="Line 13"/>
              <p:cNvSpPr>
                <a:spLocks noChangeShapeType="1"/>
              </p:cNvSpPr>
              <p:nvPr/>
            </p:nvSpPr>
            <p:spPr bwMode="auto">
              <a:xfrm>
                <a:off x="3480" y="1117"/>
                <a:ext cx="0" cy="28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" name="Line 14"/>
              <p:cNvSpPr>
                <a:spLocks noChangeShapeType="1"/>
              </p:cNvSpPr>
              <p:nvPr/>
            </p:nvSpPr>
            <p:spPr bwMode="auto">
              <a:xfrm>
                <a:off x="3798" y="1117"/>
                <a:ext cx="0" cy="28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" name="Line 15"/>
              <p:cNvSpPr>
                <a:spLocks noChangeShapeType="1"/>
              </p:cNvSpPr>
              <p:nvPr/>
            </p:nvSpPr>
            <p:spPr bwMode="auto">
              <a:xfrm>
                <a:off x="4297" y="1121"/>
                <a:ext cx="0" cy="28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3690031" y="1971902"/>
              <a:ext cx="2984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i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6353856" y="1978252"/>
              <a:ext cx="3238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>
              <a:off x="3978956" y="2841852"/>
              <a:ext cx="5048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Line 21"/>
            <p:cNvSpPr>
              <a:spLocks noChangeShapeType="1"/>
            </p:cNvSpPr>
            <p:nvPr/>
          </p:nvSpPr>
          <p:spPr bwMode="auto">
            <a:xfrm flipV="1">
              <a:off x="4482193" y="2841852"/>
              <a:ext cx="0" cy="4445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22"/>
            <p:cNvSpPr>
              <a:spLocks noChangeShapeType="1"/>
            </p:cNvSpPr>
            <p:nvPr/>
          </p:nvSpPr>
          <p:spPr bwMode="auto">
            <a:xfrm flipV="1">
              <a:off x="5274356" y="3273652"/>
              <a:ext cx="0" cy="431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Line 23"/>
            <p:cNvSpPr>
              <a:spLocks noChangeShapeType="1"/>
            </p:cNvSpPr>
            <p:nvPr/>
          </p:nvSpPr>
          <p:spPr bwMode="auto">
            <a:xfrm flipV="1">
              <a:off x="4482193" y="3273652"/>
              <a:ext cx="80645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Line 24"/>
            <p:cNvSpPr>
              <a:spLocks noChangeShapeType="1"/>
            </p:cNvSpPr>
            <p:nvPr/>
          </p:nvSpPr>
          <p:spPr bwMode="auto">
            <a:xfrm>
              <a:off x="5274356" y="3705452"/>
              <a:ext cx="5048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Line 25"/>
            <p:cNvSpPr>
              <a:spLocks noChangeShapeType="1"/>
            </p:cNvSpPr>
            <p:nvPr/>
          </p:nvSpPr>
          <p:spPr bwMode="auto">
            <a:xfrm flipH="1" flipV="1">
              <a:off x="5779181" y="3273652"/>
              <a:ext cx="0" cy="4333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Line 26"/>
            <p:cNvSpPr>
              <a:spLocks noChangeShapeType="1"/>
            </p:cNvSpPr>
            <p:nvPr/>
          </p:nvSpPr>
          <p:spPr bwMode="auto">
            <a:xfrm flipV="1">
              <a:off x="6571343" y="2841852"/>
              <a:ext cx="0" cy="431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Line 27"/>
            <p:cNvSpPr>
              <a:spLocks noChangeShapeType="1"/>
            </p:cNvSpPr>
            <p:nvPr/>
          </p:nvSpPr>
          <p:spPr bwMode="auto">
            <a:xfrm>
              <a:off x="5779181" y="3273652"/>
              <a:ext cx="79216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3690031" y="2619602"/>
              <a:ext cx="3746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" name="Line 30"/>
            <p:cNvSpPr>
              <a:spLocks noChangeShapeType="1"/>
            </p:cNvSpPr>
            <p:nvPr/>
          </p:nvSpPr>
          <p:spPr bwMode="auto">
            <a:xfrm flipV="1">
              <a:off x="3978956" y="4065814"/>
              <a:ext cx="520700" cy="576263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Line 31"/>
            <p:cNvSpPr>
              <a:spLocks noChangeShapeType="1"/>
            </p:cNvSpPr>
            <p:nvPr/>
          </p:nvSpPr>
          <p:spPr bwMode="auto">
            <a:xfrm>
              <a:off x="5274356" y="4065814"/>
              <a:ext cx="520700" cy="576263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Line 32"/>
            <p:cNvSpPr>
              <a:spLocks noChangeShapeType="1"/>
            </p:cNvSpPr>
            <p:nvPr/>
          </p:nvSpPr>
          <p:spPr bwMode="auto">
            <a:xfrm flipH="1">
              <a:off x="5779181" y="4642077"/>
              <a:ext cx="792162" cy="0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Line 33"/>
            <p:cNvSpPr>
              <a:spLocks noChangeShapeType="1"/>
            </p:cNvSpPr>
            <p:nvPr/>
          </p:nvSpPr>
          <p:spPr bwMode="auto">
            <a:xfrm flipV="1">
              <a:off x="6571343" y="4281714"/>
              <a:ext cx="287338" cy="360363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Line 34"/>
            <p:cNvSpPr>
              <a:spLocks noChangeShapeType="1"/>
            </p:cNvSpPr>
            <p:nvPr/>
          </p:nvSpPr>
          <p:spPr bwMode="auto">
            <a:xfrm flipV="1">
              <a:off x="4482193" y="4065814"/>
              <a:ext cx="792163" cy="0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35"/>
            <p:cNvSpPr>
              <a:spLocks noChangeShapeType="1"/>
            </p:cNvSpPr>
            <p:nvPr/>
          </p:nvSpPr>
          <p:spPr bwMode="auto">
            <a:xfrm flipV="1">
              <a:off x="3978956" y="2697389"/>
              <a:ext cx="0" cy="10810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Line 36"/>
            <p:cNvSpPr>
              <a:spLocks noChangeShapeType="1"/>
            </p:cNvSpPr>
            <p:nvPr/>
          </p:nvSpPr>
          <p:spPr bwMode="auto">
            <a:xfrm flipV="1">
              <a:off x="3978956" y="3849914"/>
              <a:ext cx="0" cy="865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37"/>
            <p:cNvSpPr>
              <a:spLocks noChangeShapeType="1"/>
            </p:cNvSpPr>
            <p:nvPr/>
          </p:nvSpPr>
          <p:spPr bwMode="auto">
            <a:xfrm flipV="1">
              <a:off x="3978956" y="2841852"/>
              <a:ext cx="0" cy="431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940856" y="2337027"/>
              <a:ext cx="30146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19"/>
            <p:cNvSpPr>
              <a:spLocks noChangeShapeType="1"/>
            </p:cNvSpPr>
            <p:nvPr/>
          </p:nvSpPr>
          <p:spPr bwMode="auto">
            <a:xfrm>
              <a:off x="3940856" y="3272064"/>
              <a:ext cx="30146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>
              <a:off x="3940856" y="4353152"/>
              <a:ext cx="30146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42"/>
            <p:cNvSpPr>
              <a:spLocks noChangeShapeType="1"/>
            </p:cNvSpPr>
            <p:nvPr/>
          </p:nvSpPr>
          <p:spPr bwMode="auto">
            <a:xfrm>
              <a:off x="3971018" y="5505677"/>
              <a:ext cx="30146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 Box 54"/>
            <p:cNvSpPr txBox="1">
              <a:spLocks noChangeArrowheads="1"/>
            </p:cNvSpPr>
            <p:nvPr/>
          </p:nvSpPr>
          <p:spPr bwMode="auto">
            <a:xfrm>
              <a:off x="4213906" y="2352902"/>
              <a:ext cx="4159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 b="1" dirty="0">
                  <a:latin typeface="Symbol" panose="05050102010706020507" pitchFamily="18" charset="2"/>
                </a:rPr>
                <a:t>a</a:t>
              </a:r>
              <a:r>
                <a:rPr lang="fr-FR" altLang="fr-FR" sz="1400" b="1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6" name="Text Box 146"/>
            <p:cNvSpPr txBox="1">
              <a:spLocks noChangeArrowheads="1"/>
            </p:cNvSpPr>
            <p:nvPr/>
          </p:nvSpPr>
          <p:spPr bwMode="auto">
            <a:xfrm>
              <a:off x="3728131" y="3778477"/>
              <a:ext cx="322262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009900"/>
                  </a:solidFill>
                  <a:latin typeface="Symbol" panose="05050102010706020507" pitchFamily="18" charset="2"/>
                </a:rPr>
                <a:t>j</a:t>
              </a:r>
              <a:endParaRPr lang="fr-FR" altLang="fr-FR" sz="1800" b="1" baseline="-25000">
                <a:solidFill>
                  <a:srgbClr val="0099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37" name="Line 151"/>
            <p:cNvSpPr>
              <a:spLocks noChangeShapeType="1"/>
            </p:cNvSpPr>
            <p:nvPr/>
          </p:nvSpPr>
          <p:spPr bwMode="auto">
            <a:xfrm flipV="1">
              <a:off x="3978956" y="5362802"/>
              <a:ext cx="503237" cy="287337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Line 152"/>
            <p:cNvSpPr>
              <a:spLocks noChangeShapeType="1"/>
            </p:cNvSpPr>
            <p:nvPr/>
          </p:nvSpPr>
          <p:spPr bwMode="auto">
            <a:xfrm>
              <a:off x="5274356" y="5362802"/>
              <a:ext cx="503237" cy="287337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Line 153"/>
            <p:cNvSpPr>
              <a:spLocks noChangeShapeType="1"/>
            </p:cNvSpPr>
            <p:nvPr/>
          </p:nvSpPr>
          <p:spPr bwMode="auto">
            <a:xfrm flipV="1">
              <a:off x="4482193" y="5362802"/>
              <a:ext cx="792163" cy="0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Line 154"/>
            <p:cNvSpPr>
              <a:spLocks noChangeShapeType="1"/>
            </p:cNvSpPr>
            <p:nvPr/>
          </p:nvSpPr>
          <p:spPr bwMode="auto">
            <a:xfrm flipH="1">
              <a:off x="5779181" y="5650139"/>
              <a:ext cx="792162" cy="0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155"/>
            <p:cNvSpPr>
              <a:spLocks noChangeShapeType="1"/>
            </p:cNvSpPr>
            <p:nvPr/>
          </p:nvSpPr>
          <p:spPr bwMode="auto">
            <a:xfrm flipV="1">
              <a:off x="6571343" y="5434239"/>
              <a:ext cx="358775" cy="215900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156"/>
            <p:cNvSpPr>
              <a:spLocks noChangeShapeType="1"/>
            </p:cNvSpPr>
            <p:nvPr/>
          </p:nvSpPr>
          <p:spPr bwMode="auto">
            <a:xfrm flipV="1">
              <a:off x="3978956" y="4929414"/>
              <a:ext cx="0" cy="865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Text Box 157"/>
            <p:cNvSpPr txBox="1">
              <a:spLocks noChangeArrowheads="1"/>
            </p:cNvSpPr>
            <p:nvPr/>
          </p:nvSpPr>
          <p:spPr bwMode="auto">
            <a:xfrm>
              <a:off x="3689727" y="4853466"/>
              <a:ext cx="318672" cy="2886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</p:grpSp>
      <p:sp>
        <p:nvSpPr>
          <p:cNvPr id="44" name="Freeform 232" descr="noir)"/>
          <p:cNvSpPr>
            <a:spLocks/>
          </p:cNvSpPr>
          <p:nvPr/>
        </p:nvSpPr>
        <p:spPr bwMode="auto">
          <a:xfrm>
            <a:off x="10253015" y="4560080"/>
            <a:ext cx="859312" cy="220821"/>
          </a:xfrm>
          <a:custGeom>
            <a:avLst/>
            <a:gdLst>
              <a:gd name="T0" fmla="*/ 0 w 499"/>
              <a:gd name="T1" fmla="*/ 0 h 136"/>
              <a:gd name="T2" fmla="*/ 2147483646 w 499"/>
              <a:gd name="T3" fmla="*/ 2147483646 h 136"/>
              <a:gd name="T4" fmla="*/ 2147483646 w 499"/>
              <a:gd name="T5" fmla="*/ 2147483646 h 136"/>
              <a:gd name="T6" fmla="*/ 0 w 499"/>
              <a:gd name="T7" fmla="*/ 2147483646 h 13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99" h="136">
                <a:moveTo>
                  <a:pt x="0" y="0"/>
                </a:moveTo>
                <a:lnTo>
                  <a:pt x="499" y="90"/>
                </a:lnTo>
                <a:lnTo>
                  <a:pt x="499" y="136"/>
                </a:lnTo>
                <a:lnTo>
                  <a:pt x="0" y="45"/>
                </a:lnTo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5" name="Freeform 233" descr="noir)"/>
          <p:cNvSpPr>
            <a:spLocks/>
          </p:cNvSpPr>
          <p:nvPr/>
        </p:nvSpPr>
        <p:spPr bwMode="auto">
          <a:xfrm>
            <a:off x="10253015" y="5886631"/>
            <a:ext cx="859312" cy="220821"/>
          </a:xfrm>
          <a:custGeom>
            <a:avLst/>
            <a:gdLst>
              <a:gd name="T0" fmla="*/ 0 w 499"/>
              <a:gd name="T1" fmla="*/ 0 h 136"/>
              <a:gd name="T2" fmla="*/ 2147483646 w 499"/>
              <a:gd name="T3" fmla="*/ 2147483646 h 136"/>
              <a:gd name="T4" fmla="*/ 2147483646 w 499"/>
              <a:gd name="T5" fmla="*/ 2147483646 h 136"/>
              <a:gd name="T6" fmla="*/ 0 w 499"/>
              <a:gd name="T7" fmla="*/ 2147483646 h 13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99" h="136">
                <a:moveTo>
                  <a:pt x="0" y="0"/>
                </a:moveTo>
                <a:lnTo>
                  <a:pt x="499" y="90"/>
                </a:lnTo>
                <a:lnTo>
                  <a:pt x="499" y="136"/>
                </a:lnTo>
                <a:lnTo>
                  <a:pt x="0" y="45"/>
                </a:lnTo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6" name="Freeform 229" descr="noir)"/>
          <p:cNvSpPr>
            <a:spLocks/>
          </p:cNvSpPr>
          <p:nvPr/>
        </p:nvSpPr>
        <p:spPr bwMode="auto">
          <a:xfrm>
            <a:off x="8847807" y="5813564"/>
            <a:ext cx="859312" cy="220821"/>
          </a:xfrm>
          <a:custGeom>
            <a:avLst/>
            <a:gdLst>
              <a:gd name="T0" fmla="*/ 0 w 499"/>
              <a:gd name="T1" fmla="*/ 0 h 136"/>
              <a:gd name="T2" fmla="*/ 2147483646 w 499"/>
              <a:gd name="T3" fmla="*/ 2147483646 h 136"/>
              <a:gd name="T4" fmla="*/ 2147483646 w 499"/>
              <a:gd name="T5" fmla="*/ 2147483646 h 136"/>
              <a:gd name="T6" fmla="*/ 0 w 499"/>
              <a:gd name="T7" fmla="*/ 2147483646 h 13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99" h="136">
                <a:moveTo>
                  <a:pt x="0" y="0"/>
                </a:moveTo>
                <a:lnTo>
                  <a:pt x="499" y="90"/>
                </a:lnTo>
                <a:lnTo>
                  <a:pt x="499" y="136"/>
                </a:lnTo>
                <a:lnTo>
                  <a:pt x="0" y="45"/>
                </a:lnTo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7" name="Freeform 228" descr="noir)"/>
          <p:cNvSpPr>
            <a:spLocks/>
          </p:cNvSpPr>
          <p:nvPr/>
        </p:nvSpPr>
        <p:spPr bwMode="auto">
          <a:xfrm>
            <a:off x="8847807" y="4634770"/>
            <a:ext cx="859312" cy="220821"/>
          </a:xfrm>
          <a:custGeom>
            <a:avLst/>
            <a:gdLst>
              <a:gd name="T0" fmla="*/ 0 w 499"/>
              <a:gd name="T1" fmla="*/ 0 h 136"/>
              <a:gd name="T2" fmla="*/ 2147483646 w 499"/>
              <a:gd name="T3" fmla="*/ 2147483646 h 136"/>
              <a:gd name="T4" fmla="*/ 2147483646 w 499"/>
              <a:gd name="T5" fmla="*/ 2147483646 h 136"/>
              <a:gd name="T6" fmla="*/ 0 w 499"/>
              <a:gd name="T7" fmla="*/ 2147483646 h 13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99" h="136">
                <a:moveTo>
                  <a:pt x="0" y="0"/>
                </a:moveTo>
                <a:lnTo>
                  <a:pt x="499" y="90"/>
                </a:lnTo>
                <a:lnTo>
                  <a:pt x="499" y="136"/>
                </a:lnTo>
                <a:lnTo>
                  <a:pt x="0" y="45"/>
                </a:lnTo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8" name="Freeform 182" descr="noir)"/>
          <p:cNvSpPr>
            <a:spLocks/>
          </p:cNvSpPr>
          <p:nvPr/>
        </p:nvSpPr>
        <p:spPr bwMode="auto">
          <a:xfrm>
            <a:off x="8300190" y="729810"/>
            <a:ext cx="547618" cy="514707"/>
          </a:xfrm>
          <a:custGeom>
            <a:avLst/>
            <a:gdLst>
              <a:gd name="T0" fmla="*/ 0 w 318"/>
              <a:gd name="T1" fmla="*/ 2147483646 h 317"/>
              <a:gd name="T2" fmla="*/ 0 w 318"/>
              <a:gd name="T3" fmla="*/ 2147483646 h 317"/>
              <a:gd name="T4" fmla="*/ 2147483646 w 318"/>
              <a:gd name="T5" fmla="*/ 2147483646 h 317"/>
              <a:gd name="T6" fmla="*/ 2147483646 w 318"/>
              <a:gd name="T7" fmla="*/ 0 h 317"/>
              <a:gd name="T8" fmla="*/ 0 w 318"/>
              <a:gd name="T9" fmla="*/ 2147483646 h 3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8" h="317">
                <a:moveTo>
                  <a:pt x="0" y="317"/>
                </a:moveTo>
                <a:lnTo>
                  <a:pt x="0" y="227"/>
                </a:lnTo>
                <a:lnTo>
                  <a:pt x="318" y="91"/>
                </a:lnTo>
                <a:lnTo>
                  <a:pt x="318" y="0"/>
                </a:lnTo>
                <a:lnTo>
                  <a:pt x="0" y="3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9" name="Line 57"/>
          <p:cNvSpPr>
            <a:spLocks noChangeShapeType="1"/>
          </p:cNvSpPr>
          <p:nvPr/>
        </p:nvSpPr>
        <p:spPr bwMode="auto">
          <a:xfrm flipV="1">
            <a:off x="8300190" y="510612"/>
            <a:ext cx="0" cy="110572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50" name="Group 59"/>
          <p:cNvGrpSpPr>
            <a:grpSpLocks/>
          </p:cNvGrpSpPr>
          <p:nvPr/>
        </p:nvGrpSpPr>
        <p:grpSpPr bwMode="auto">
          <a:xfrm>
            <a:off x="8300190" y="1541652"/>
            <a:ext cx="2813860" cy="4786621"/>
            <a:chOff x="2663" y="1117"/>
            <a:chExt cx="1634" cy="2812"/>
          </a:xfrm>
        </p:grpSpPr>
        <p:sp>
          <p:nvSpPr>
            <p:cNvPr id="51" name="Line 60"/>
            <p:cNvSpPr>
              <a:spLocks noChangeShapeType="1"/>
            </p:cNvSpPr>
            <p:nvPr/>
          </p:nvSpPr>
          <p:spPr bwMode="auto">
            <a:xfrm>
              <a:off x="2663" y="1121"/>
              <a:ext cx="0" cy="28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61"/>
            <p:cNvSpPr>
              <a:spLocks noChangeShapeType="1"/>
            </p:cNvSpPr>
            <p:nvPr/>
          </p:nvSpPr>
          <p:spPr bwMode="auto">
            <a:xfrm>
              <a:off x="2981" y="1121"/>
              <a:ext cx="0" cy="28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62"/>
            <p:cNvSpPr>
              <a:spLocks noChangeShapeType="1"/>
            </p:cNvSpPr>
            <p:nvPr/>
          </p:nvSpPr>
          <p:spPr bwMode="auto">
            <a:xfrm>
              <a:off x="3480" y="1117"/>
              <a:ext cx="0" cy="28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63"/>
            <p:cNvSpPr>
              <a:spLocks noChangeShapeType="1"/>
            </p:cNvSpPr>
            <p:nvPr/>
          </p:nvSpPr>
          <p:spPr bwMode="auto">
            <a:xfrm>
              <a:off x="3798" y="1117"/>
              <a:ext cx="0" cy="28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64"/>
            <p:cNvSpPr>
              <a:spLocks noChangeShapeType="1"/>
            </p:cNvSpPr>
            <p:nvPr/>
          </p:nvSpPr>
          <p:spPr bwMode="auto">
            <a:xfrm>
              <a:off x="4297" y="1121"/>
              <a:ext cx="0" cy="28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6" name="Text Box 65"/>
          <p:cNvSpPr txBox="1">
            <a:spLocks noChangeArrowheads="1"/>
          </p:cNvSpPr>
          <p:nvPr/>
        </p:nvSpPr>
        <p:spPr bwMode="auto">
          <a:xfrm>
            <a:off x="8028103" y="1166580"/>
            <a:ext cx="323749" cy="375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7" name="Text Box 66"/>
          <p:cNvSpPr txBox="1">
            <a:spLocks noChangeArrowheads="1"/>
          </p:cNvSpPr>
          <p:nvPr/>
        </p:nvSpPr>
        <p:spPr bwMode="auto">
          <a:xfrm>
            <a:off x="10840240" y="1173075"/>
            <a:ext cx="351302" cy="375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58" name="Line 68"/>
          <p:cNvSpPr>
            <a:spLocks noChangeShapeType="1"/>
          </p:cNvSpPr>
          <p:nvPr/>
        </p:nvSpPr>
        <p:spPr bwMode="auto">
          <a:xfrm flipV="1">
            <a:off x="8300190" y="877564"/>
            <a:ext cx="547618" cy="233811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9" name="Line 70"/>
          <p:cNvSpPr>
            <a:spLocks noChangeShapeType="1"/>
          </p:cNvSpPr>
          <p:nvPr/>
        </p:nvSpPr>
        <p:spPr bwMode="auto">
          <a:xfrm flipV="1">
            <a:off x="8300190" y="731433"/>
            <a:ext cx="547618" cy="51470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0" name="Text Box 75"/>
          <p:cNvSpPr txBox="1">
            <a:spLocks noChangeArrowheads="1"/>
          </p:cNvSpPr>
          <p:nvPr/>
        </p:nvSpPr>
        <p:spPr bwMode="auto">
          <a:xfrm>
            <a:off x="7911002" y="362857"/>
            <a:ext cx="402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-i</a:t>
            </a:r>
            <a:r>
              <a: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1" name="Line 81"/>
          <p:cNvSpPr>
            <a:spLocks noChangeShapeType="1"/>
          </p:cNvSpPr>
          <p:nvPr/>
        </p:nvSpPr>
        <p:spPr bwMode="auto">
          <a:xfrm flipV="1">
            <a:off x="8300190" y="1908604"/>
            <a:ext cx="0" cy="11057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2" name="Line 82"/>
          <p:cNvSpPr>
            <a:spLocks noChangeShapeType="1"/>
          </p:cNvSpPr>
          <p:nvPr/>
        </p:nvSpPr>
        <p:spPr bwMode="auto">
          <a:xfrm flipV="1">
            <a:off x="8300190" y="3087399"/>
            <a:ext cx="0" cy="8849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3" name="Line 84"/>
          <p:cNvSpPr>
            <a:spLocks noChangeShapeType="1"/>
          </p:cNvSpPr>
          <p:nvPr/>
        </p:nvSpPr>
        <p:spPr bwMode="auto">
          <a:xfrm flipV="1">
            <a:off x="8300190" y="4118438"/>
            <a:ext cx="0" cy="88490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4" name="Line 86"/>
          <p:cNvSpPr>
            <a:spLocks noChangeShapeType="1"/>
          </p:cNvSpPr>
          <p:nvPr/>
        </p:nvSpPr>
        <p:spPr bwMode="auto">
          <a:xfrm>
            <a:off x="8222696" y="1541652"/>
            <a:ext cx="327020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5" name="Line 87"/>
          <p:cNvSpPr>
            <a:spLocks noChangeShapeType="1"/>
          </p:cNvSpPr>
          <p:nvPr/>
        </p:nvSpPr>
        <p:spPr bwMode="auto">
          <a:xfrm>
            <a:off x="8222696" y="2795136"/>
            <a:ext cx="327020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" name="Line 88"/>
          <p:cNvSpPr>
            <a:spLocks noChangeShapeType="1"/>
          </p:cNvSpPr>
          <p:nvPr/>
        </p:nvSpPr>
        <p:spPr bwMode="auto">
          <a:xfrm>
            <a:off x="8222696" y="3749862"/>
            <a:ext cx="327020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7" name="Line 89"/>
          <p:cNvSpPr>
            <a:spLocks noChangeShapeType="1"/>
          </p:cNvSpPr>
          <p:nvPr/>
        </p:nvSpPr>
        <p:spPr bwMode="auto">
          <a:xfrm>
            <a:off x="8255416" y="5003347"/>
            <a:ext cx="327020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8" name="Line 90"/>
          <p:cNvSpPr>
            <a:spLocks noChangeShapeType="1"/>
          </p:cNvSpPr>
          <p:nvPr/>
        </p:nvSpPr>
        <p:spPr bwMode="auto">
          <a:xfrm flipH="1" flipV="1">
            <a:off x="8847807" y="5813564"/>
            <a:ext cx="0" cy="443266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9" name="Text Box 99"/>
          <p:cNvSpPr txBox="1">
            <a:spLocks noChangeArrowheads="1"/>
          </p:cNvSpPr>
          <p:nvPr/>
        </p:nvSpPr>
        <p:spPr bwMode="auto">
          <a:xfrm>
            <a:off x="7911002" y="4045373"/>
            <a:ext cx="353341" cy="37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FF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70" name="Text Box 100"/>
          <p:cNvSpPr txBox="1">
            <a:spLocks noChangeArrowheads="1"/>
          </p:cNvSpPr>
          <p:nvPr/>
        </p:nvSpPr>
        <p:spPr bwMode="auto">
          <a:xfrm>
            <a:off x="8787534" y="1229904"/>
            <a:ext cx="451182" cy="311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 dirty="0">
                <a:latin typeface="Symbol" panose="05050102010706020507" pitchFamily="18" charset="2"/>
              </a:rPr>
              <a:t>a</a:t>
            </a:r>
            <a:r>
              <a:rPr lang="fr-FR" altLang="fr-FR" sz="1400" b="1" dirty="0">
                <a:latin typeface="Times New Roman" panose="02020603050405020304" pitchFamily="18" charset="0"/>
              </a:rPr>
              <a:t>T</a:t>
            </a:r>
          </a:p>
        </p:txBody>
      </p:sp>
      <p:grpSp>
        <p:nvGrpSpPr>
          <p:cNvPr id="71" name="Group 183"/>
          <p:cNvGrpSpPr>
            <a:grpSpLocks/>
          </p:cNvGrpSpPr>
          <p:nvPr/>
        </p:nvGrpSpPr>
        <p:grpSpPr bwMode="auto">
          <a:xfrm>
            <a:off x="8300190" y="3014333"/>
            <a:ext cx="3125553" cy="295511"/>
            <a:chOff x="3061" y="1979"/>
            <a:chExt cx="1815" cy="137"/>
          </a:xfrm>
        </p:grpSpPr>
        <p:sp>
          <p:nvSpPr>
            <p:cNvPr id="72" name="Line 76"/>
            <p:cNvSpPr>
              <a:spLocks noChangeShapeType="1"/>
            </p:cNvSpPr>
            <p:nvPr/>
          </p:nvSpPr>
          <p:spPr bwMode="auto">
            <a:xfrm flipV="1">
              <a:off x="3061" y="1979"/>
              <a:ext cx="318" cy="137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Line 77"/>
            <p:cNvSpPr>
              <a:spLocks noChangeShapeType="1"/>
            </p:cNvSpPr>
            <p:nvPr/>
          </p:nvSpPr>
          <p:spPr bwMode="auto">
            <a:xfrm>
              <a:off x="3379" y="1979"/>
              <a:ext cx="499" cy="136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Line 147"/>
            <p:cNvSpPr>
              <a:spLocks noChangeShapeType="1"/>
            </p:cNvSpPr>
            <p:nvPr/>
          </p:nvSpPr>
          <p:spPr bwMode="auto">
            <a:xfrm flipV="1">
              <a:off x="3878" y="1979"/>
              <a:ext cx="318" cy="137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Line 148"/>
            <p:cNvSpPr>
              <a:spLocks noChangeShapeType="1"/>
            </p:cNvSpPr>
            <p:nvPr/>
          </p:nvSpPr>
          <p:spPr bwMode="auto">
            <a:xfrm>
              <a:off x="4196" y="1979"/>
              <a:ext cx="499" cy="136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Line 149"/>
            <p:cNvSpPr>
              <a:spLocks noChangeShapeType="1"/>
            </p:cNvSpPr>
            <p:nvPr/>
          </p:nvSpPr>
          <p:spPr bwMode="auto">
            <a:xfrm flipV="1">
              <a:off x="4694" y="2025"/>
              <a:ext cx="182" cy="9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7" name="Text Box 150"/>
          <p:cNvSpPr txBox="1">
            <a:spLocks noChangeArrowheads="1"/>
          </p:cNvSpPr>
          <p:nvPr/>
        </p:nvSpPr>
        <p:spPr bwMode="auto">
          <a:xfrm>
            <a:off x="7988495" y="3015957"/>
            <a:ext cx="381163" cy="37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78" name="Line 158"/>
          <p:cNvSpPr>
            <a:spLocks noChangeShapeType="1"/>
          </p:cNvSpPr>
          <p:nvPr/>
        </p:nvSpPr>
        <p:spPr bwMode="auto">
          <a:xfrm flipV="1">
            <a:off x="8847807" y="731433"/>
            <a:ext cx="0" cy="80859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9" name="Line 159"/>
          <p:cNvSpPr>
            <a:spLocks noChangeShapeType="1"/>
          </p:cNvSpPr>
          <p:nvPr/>
        </p:nvSpPr>
        <p:spPr bwMode="auto">
          <a:xfrm flipH="1" flipV="1">
            <a:off x="8300190" y="1244517"/>
            <a:ext cx="1722" cy="29551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0" name="Line 160"/>
          <p:cNvSpPr>
            <a:spLocks noChangeShapeType="1"/>
          </p:cNvSpPr>
          <p:nvPr/>
        </p:nvSpPr>
        <p:spPr bwMode="auto">
          <a:xfrm>
            <a:off x="8222696" y="6255207"/>
            <a:ext cx="327020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1" name="Line 161"/>
          <p:cNvSpPr>
            <a:spLocks noChangeShapeType="1"/>
          </p:cNvSpPr>
          <p:nvPr/>
        </p:nvSpPr>
        <p:spPr bwMode="auto">
          <a:xfrm flipV="1">
            <a:off x="8300190" y="5444989"/>
            <a:ext cx="0" cy="8849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" name="Line 162"/>
          <p:cNvSpPr>
            <a:spLocks noChangeShapeType="1"/>
          </p:cNvSpPr>
          <p:nvPr/>
        </p:nvSpPr>
        <p:spPr bwMode="auto">
          <a:xfrm flipV="1">
            <a:off x="8300190" y="4266194"/>
            <a:ext cx="547618" cy="295511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3" name="Line 165"/>
          <p:cNvSpPr>
            <a:spLocks noChangeShapeType="1"/>
          </p:cNvSpPr>
          <p:nvPr/>
        </p:nvSpPr>
        <p:spPr bwMode="auto">
          <a:xfrm>
            <a:off x="8847807" y="4707836"/>
            <a:ext cx="859312" cy="147755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4" name="Line 167"/>
          <p:cNvSpPr>
            <a:spLocks noChangeShapeType="1"/>
          </p:cNvSpPr>
          <p:nvPr/>
        </p:nvSpPr>
        <p:spPr bwMode="auto">
          <a:xfrm flipV="1">
            <a:off x="8847807" y="4266194"/>
            <a:ext cx="0" cy="441642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5" name="Line 168"/>
          <p:cNvSpPr>
            <a:spLocks noChangeShapeType="1"/>
          </p:cNvSpPr>
          <p:nvPr/>
        </p:nvSpPr>
        <p:spPr bwMode="auto">
          <a:xfrm flipV="1">
            <a:off x="9707119" y="4855591"/>
            <a:ext cx="0" cy="14775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6" name="Line 169"/>
          <p:cNvSpPr>
            <a:spLocks noChangeShapeType="1"/>
          </p:cNvSpPr>
          <p:nvPr/>
        </p:nvSpPr>
        <p:spPr bwMode="auto">
          <a:xfrm>
            <a:off x="8300190" y="6255207"/>
            <a:ext cx="547618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7" name="Line 170"/>
          <p:cNvSpPr>
            <a:spLocks noChangeShapeType="1"/>
          </p:cNvSpPr>
          <p:nvPr/>
        </p:nvSpPr>
        <p:spPr bwMode="auto">
          <a:xfrm flipV="1">
            <a:off x="9707119" y="5518054"/>
            <a:ext cx="547618" cy="29551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8" name="Line 172"/>
          <p:cNvSpPr>
            <a:spLocks noChangeShapeType="1"/>
          </p:cNvSpPr>
          <p:nvPr/>
        </p:nvSpPr>
        <p:spPr bwMode="auto">
          <a:xfrm flipH="1">
            <a:off x="9707119" y="5811941"/>
            <a:ext cx="0" cy="14775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9" name="Line 173"/>
          <p:cNvSpPr>
            <a:spLocks noChangeShapeType="1"/>
          </p:cNvSpPr>
          <p:nvPr/>
        </p:nvSpPr>
        <p:spPr bwMode="auto">
          <a:xfrm flipV="1">
            <a:off x="9707119" y="5003347"/>
            <a:ext cx="545896" cy="1623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0" name="Line 174"/>
          <p:cNvSpPr>
            <a:spLocks noChangeShapeType="1"/>
          </p:cNvSpPr>
          <p:nvPr/>
        </p:nvSpPr>
        <p:spPr bwMode="auto">
          <a:xfrm flipH="1" flipV="1">
            <a:off x="10253015" y="4560080"/>
            <a:ext cx="0" cy="444889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1" name="Line 175"/>
          <p:cNvSpPr>
            <a:spLocks noChangeShapeType="1"/>
          </p:cNvSpPr>
          <p:nvPr/>
        </p:nvSpPr>
        <p:spPr bwMode="auto">
          <a:xfrm>
            <a:off x="10253015" y="4560080"/>
            <a:ext cx="874811" cy="14775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2" name="Line 178"/>
          <p:cNvSpPr>
            <a:spLocks noChangeShapeType="1"/>
          </p:cNvSpPr>
          <p:nvPr/>
        </p:nvSpPr>
        <p:spPr bwMode="auto">
          <a:xfrm>
            <a:off x="10253015" y="5961320"/>
            <a:ext cx="859312" cy="14613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3" name="Line 179"/>
          <p:cNvSpPr>
            <a:spLocks noChangeShapeType="1"/>
          </p:cNvSpPr>
          <p:nvPr/>
        </p:nvSpPr>
        <p:spPr bwMode="auto">
          <a:xfrm flipH="1" flipV="1">
            <a:off x="10253015" y="5518054"/>
            <a:ext cx="0" cy="44164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4" name="Text Box 180"/>
          <p:cNvSpPr txBox="1">
            <a:spLocks noChangeArrowheads="1"/>
          </p:cNvSpPr>
          <p:nvPr/>
        </p:nvSpPr>
        <p:spPr bwMode="auto">
          <a:xfrm>
            <a:off x="7907987" y="5297233"/>
            <a:ext cx="325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5" name="Line 94"/>
          <p:cNvSpPr>
            <a:spLocks noChangeShapeType="1"/>
          </p:cNvSpPr>
          <p:nvPr/>
        </p:nvSpPr>
        <p:spPr bwMode="auto">
          <a:xfrm>
            <a:off x="8847807" y="5813564"/>
            <a:ext cx="859312" cy="14613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96" name="Group 212"/>
          <p:cNvGrpSpPr>
            <a:grpSpLocks/>
          </p:cNvGrpSpPr>
          <p:nvPr/>
        </p:nvGrpSpPr>
        <p:grpSpPr bwMode="auto">
          <a:xfrm>
            <a:off x="8300190" y="3382910"/>
            <a:ext cx="3125553" cy="147755"/>
            <a:chOff x="3061" y="2115"/>
            <a:chExt cx="1815" cy="91"/>
          </a:xfrm>
        </p:grpSpPr>
        <p:sp>
          <p:nvSpPr>
            <p:cNvPr id="97" name="Line 201"/>
            <p:cNvSpPr>
              <a:spLocks noChangeShapeType="1"/>
            </p:cNvSpPr>
            <p:nvPr/>
          </p:nvSpPr>
          <p:spPr bwMode="auto">
            <a:xfrm flipV="1">
              <a:off x="3061" y="2115"/>
              <a:ext cx="318" cy="91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Line 202"/>
            <p:cNvSpPr>
              <a:spLocks noChangeShapeType="1"/>
            </p:cNvSpPr>
            <p:nvPr/>
          </p:nvSpPr>
          <p:spPr bwMode="auto">
            <a:xfrm>
              <a:off x="3379" y="2115"/>
              <a:ext cx="499" cy="9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Line 207"/>
            <p:cNvSpPr>
              <a:spLocks noChangeShapeType="1"/>
            </p:cNvSpPr>
            <p:nvPr/>
          </p:nvSpPr>
          <p:spPr bwMode="auto">
            <a:xfrm flipV="1">
              <a:off x="3877" y="2115"/>
              <a:ext cx="318" cy="91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Line 208"/>
            <p:cNvSpPr>
              <a:spLocks noChangeShapeType="1"/>
            </p:cNvSpPr>
            <p:nvPr/>
          </p:nvSpPr>
          <p:spPr bwMode="auto">
            <a:xfrm>
              <a:off x="4195" y="2115"/>
              <a:ext cx="499" cy="9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Line 209"/>
            <p:cNvSpPr>
              <a:spLocks noChangeShapeType="1"/>
            </p:cNvSpPr>
            <p:nvPr/>
          </p:nvSpPr>
          <p:spPr bwMode="auto">
            <a:xfrm flipV="1">
              <a:off x="4693" y="2160"/>
              <a:ext cx="183" cy="46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2" name="Group 216"/>
          <p:cNvGrpSpPr>
            <a:grpSpLocks/>
          </p:cNvGrpSpPr>
          <p:nvPr/>
        </p:nvGrpSpPr>
        <p:grpSpPr bwMode="auto">
          <a:xfrm>
            <a:off x="8300190" y="4634770"/>
            <a:ext cx="3125553" cy="147756"/>
            <a:chOff x="3061" y="2115"/>
            <a:chExt cx="1815" cy="91"/>
          </a:xfrm>
        </p:grpSpPr>
        <p:sp>
          <p:nvSpPr>
            <p:cNvPr id="103" name="Line 217"/>
            <p:cNvSpPr>
              <a:spLocks noChangeShapeType="1"/>
            </p:cNvSpPr>
            <p:nvPr/>
          </p:nvSpPr>
          <p:spPr bwMode="auto">
            <a:xfrm flipV="1">
              <a:off x="3061" y="2115"/>
              <a:ext cx="318" cy="91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4" name="Line 218"/>
            <p:cNvSpPr>
              <a:spLocks noChangeShapeType="1"/>
            </p:cNvSpPr>
            <p:nvPr/>
          </p:nvSpPr>
          <p:spPr bwMode="auto">
            <a:xfrm>
              <a:off x="3379" y="2115"/>
              <a:ext cx="499" cy="9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Line 219"/>
            <p:cNvSpPr>
              <a:spLocks noChangeShapeType="1"/>
            </p:cNvSpPr>
            <p:nvPr/>
          </p:nvSpPr>
          <p:spPr bwMode="auto">
            <a:xfrm flipV="1">
              <a:off x="3877" y="2115"/>
              <a:ext cx="318" cy="91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Line 220"/>
            <p:cNvSpPr>
              <a:spLocks noChangeShapeType="1"/>
            </p:cNvSpPr>
            <p:nvPr/>
          </p:nvSpPr>
          <p:spPr bwMode="auto">
            <a:xfrm>
              <a:off x="4195" y="2115"/>
              <a:ext cx="499" cy="9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Line 221"/>
            <p:cNvSpPr>
              <a:spLocks noChangeShapeType="1"/>
            </p:cNvSpPr>
            <p:nvPr/>
          </p:nvSpPr>
          <p:spPr bwMode="auto">
            <a:xfrm flipV="1">
              <a:off x="4693" y="2160"/>
              <a:ext cx="183" cy="46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8" name="Group 222"/>
          <p:cNvGrpSpPr>
            <a:grpSpLocks/>
          </p:cNvGrpSpPr>
          <p:nvPr/>
        </p:nvGrpSpPr>
        <p:grpSpPr bwMode="auto">
          <a:xfrm>
            <a:off x="8300190" y="5886631"/>
            <a:ext cx="3125553" cy="147755"/>
            <a:chOff x="3061" y="2115"/>
            <a:chExt cx="1815" cy="91"/>
          </a:xfrm>
        </p:grpSpPr>
        <p:sp>
          <p:nvSpPr>
            <p:cNvPr id="109" name="Line 223"/>
            <p:cNvSpPr>
              <a:spLocks noChangeShapeType="1"/>
            </p:cNvSpPr>
            <p:nvPr/>
          </p:nvSpPr>
          <p:spPr bwMode="auto">
            <a:xfrm flipV="1">
              <a:off x="3061" y="2115"/>
              <a:ext cx="318" cy="91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" name="Line 224"/>
            <p:cNvSpPr>
              <a:spLocks noChangeShapeType="1"/>
            </p:cNvSpPr>
            <p:nvPr/>
          </p:nvSpPr>
          <p:spPr bwMode="auto">
            <a:xfrm>
              <a:off x="3379" y="2115"/>
              <a:ext cx="499" cy="9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Line 225"/>
            <p:cNvSpPr>
              <a:spLocks noChangeShapeType="1"/>
            </p:cNvSpPr>
            <p:nvPr/>
          </p:nvSpPr>
          <p:spPr bwMode="auto">
            <a:xfrm flipV="1">
              <a:off x="3877" y="2115"/>
              <a:ext cx="318" cy="91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2" name="Line 226"/>
            <p:cNvSpPr>
              <a:spLocks noChangeShapeType="1"/>
            </p:cNvSpPr>
            <p:nvPr/>
          </p:nvSpPr>
          <p:spPr bwMode="auto">
            <a:xfrm>
              <a:off x="4195" y="2115"/>
              <a:ext cx="499" cy="9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3" name="Line 227"/>
            <p:cNvSpPr>
              <a:spLocks noChangeShapeType="1"/>
            </p:cNvSpPr>
            <p:nvPr/>
          </p:nvSpPr>
          <p:spPr bwMode="auto">
            <a:xfrm flipV="1">
              <a:off x="4693" y="2160"/>
              <a:ext cx="183" cy="46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14" name="Line 234"/>
          <p:cNvSpPr>
            <a:spLocks noChangeShapeType="1"/>
          </p:cNvSpPr>
          <p:nvPr/>
        </p:nvSpPr>
        <p:spPr bwMode="auto">
          <a:xfrm flipV="1">
            <a:off x="11112327" y="4413949"/>
            <a:ext cx="313416" cy="14775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5" name="Line 235"/>
          <p:cNvSpPr>
            <a:spLocks noChangeShapeType="1"/>
          </p:cNvSpPr>
          <p:nvPr/>
        </p:nvSpPr>
        <p:spPr bwMode="auto">
          <a:xfrm flipV="1">
            <a:off x="11110605" y="4560080"/>
            <a:ext cx="1722" cy="14775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6" name="Line 236"/>
          <p:cNvSpPr>
            <a:spLocks noChangeShapeType="1"/>
          </p:cNvSpPr>
          <p:nvPr/>
        </p:nvSpPr>
        <p:spPr bwMode="auto">
          <a:xfrm flipH="1" flipV="1">
            <a:off x="11110605" y="6107452"/>
            <a:ext cx="1722" cy="14775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7" name="Line 237"/>
          <p:cNvSpPr>
            <a:spLocks noChangeShapeType="1"/>
          </p:cNvSpPr>
          <p:nvPr/>
        </p:nvSpPr>
        <p:spPr bwMode="auto">
          <a:xfrm>
            <a:off x="11112327" y="6255207"/>
            <a:ext cx="313416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8" name="Text Box 238"/>
          <p:cNvSpPr txBox="1">
            <a:spLocks noChangeArrowheads="1"/>
          </p:cNvSpPr>
          <p:nvPr/>
        </p:nvSpPr>
        <p:spPr bwMode="auto">
          <a:xfrm>
            <a:off x="7831787" y="1762473"/>
            <a:ext cx="436808" cy="37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-i</a:t>
            </a:r>
            <a:r>
              <a: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19" name="Freeform 239" descr="noir)"/>
          <p:cNvSpPr>
            <a:spLocks/>
          </p:cNvSpPr>
          <p:nvPr/>
        </p:nvSpPr>
        <p:spPr bwMode="auto">
          <a:xfrm>
            <a:off x="9707119" y="1983294"/>
            <a:ext cx="547618" cy="514707"/>
          </a:xfrm>
          <a:custGeom>
            <a:avLst/>
            <a:gdLst>
              <a:gd name="T0" fmla="*/ 0 w 318"/>
              <a:gd name="T1" fmla="*/ 2147483646 h 317"/>
              <a:gd name="T2" fmla="*/ 0 w 318"/>
              <a:gd name="T3" fmla="*/ 2147483646 h 317"/>
              <a:gd name="T4" fmla="*/ 2147483646 w 318"/>
              <a:gd name="T5" fmla="*/ 2147483646 h 317"/>
              <a:gd name="T6" fmla="*/ 2147483646 w 318"/>
              <a:gd name="T7" fmla="*/ 0 h 317"/>
              <a:gd name="T8" fmla="*/ 0 w 318"/>
              <a:gd name="T9" fmla="*/ 2147483646 h 3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8" h="317">
                <a:moveTo>
                  <a:pt x="0" y="317"/>
                </a:moveTo>
                <a:lnTo>
                  <a:pt x="0" y="227"/>
                </a:lnTo>
                <a:lnTo>
                  <a:pt x="318" y="91"/>
                </a:lnTo>
                <a:lnTo>
                  <a:pt x="318" y="0"/>
                </a:lnTo>
                <a:lnTo>
                  <a:pt x="0" y="3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0" name="Line 240"/>
          <p:cNvSpPr>
            <a:spLocks noChangeShapeType="1"/>
          </p:cNvSpPr>
          <p:nvPr/>
        </p:nvSpPr>
        <p:spPr bwMode="auto">
          <a:xfrm flipV="1">
            <a:off x="9707119" y="2131049"/>
            <a:ext cx="547618" cy="233811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1" name="Line 241"/>
          <p:cNvSpPr>
            <a:spLocks noChangeShapeType="1"/>
          </p:cNvSpPr>
          <p:nvPr/>
        </p:nvSpPr>
        <p:spPr bwMode="auto">
          <a:xfrm flipV="1">
            <a:off x="9707119" y="1984917"/>
            <a:ext cx="547618" cy="51470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2" name="Line 242"/>
          <p:cNvSpPr>
            <a:spLocks noChangeShapeType="1"/>
          </p:cNvSpPr>
          <p:nvPr/>
        </p:nvSpPr>
        <p:spPr bwMode="auto">
          <a:xfrm flipV="1">
            <a:off x="10254737" y="1984917"/>
            <a:ext cx="0" cy="80859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3" name="Line 243"/>
          <p:cNvSpPr>
            <a:spLocks noChangeShapeType="1"/>
          </p:cNvSpPr>
          <p:nvPr/>
        </p:nvSpPr>
        <p:spPr bwMode="auto">
          <a:xfrm flipH="1" flipV="1">
            <a:off x="9707119" y="2498001"/>
            <a:ext cx="1723" cy="29551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124" name="Object 244"/>
          <p:cNvGraphicFramePr>
            <a:graphicFrameLocks noChangeAspect="1"/>
          </p:cNvGraphicFramePr>
          <p:nvPr/>
        </p:nvGraphicFramePr>
        <p:xfrm>
          <a:off x="9550411" y="877564"/>
          <a:ext cx="309972" cy="60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957" imgH="342603" progId="Equation.3">
                  <p:embed/>
                </p:oleObj>
              </mc:Choice>
              <mc:Fallback>
                <p:oleObj name="Equation" r:id="rId3" imgW="164957" imgH="342603" progId="Equation.3">
                  <p:embed/>
                  <p:pic>
                    <p:nvPicPr>
                      <p:cNvPr id="124" name="Object 2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0411" y="877564"/>
                        <a:ext cx="309972" cy="605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study: chronograms</a:t>
            </a:r>
          </a:p>
          <a:p>
            <a:pPr lvl="0">
              <a:defRPr/>
            </a:pP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126" name="Connecteur droit 125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131" name="Rectangle 130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ZoneTexte 131"/>
          <p:cNvSpPr txBox="1"/>
          <p:nvPr/>
        </p:nvSpPr>
        <p:spPr>
          <a:xfrm>
            <a:off x="0" y="0"/>
            <a:ext cx="247996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Push-Pull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No laod study</a:t>
            </a:r>
          </a:p>
          <a:p>
            <a:r>
              <a:rPr lang="en-US" b="1" dirty="0">
                <a:solidFill>
                  <a:srgbClr val="FF0000"/>
                </a:solidFill>
              </a:rPr>
              <a:t>Continuous mode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Other structures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84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659677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Other symmetrical structures : Half Bridge Forward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213655" y="5593060"/>
            <a:ext cx="5563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Same behavior as Push-Pull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Only on primary and secondary winding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Transformer simpler (so cheaper)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814" y="1293025"/>
            <a:ext cx="7542941" cy="410156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0" y="0"/>
            <a:ext cx="247996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Push-Pull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No laod study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Other structures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4125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6988661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Other symmetrical structures: Full Bridge Forward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8951862" y="2425417"/>
            <a:ext cx="32256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Same behavior with </a:t>
            </a:r>
          </a:p>
          <a:p>
            <a:r>
              <a:rPr lang="en-US" sz="2400" dirty="0"/>
              <a:t>no-load and full load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Control with the shift</a:t>
            </a:r>
          </a:p>
          <a:p>
            <a:r>
              <a:rPr lang="en-US" sz="2400" dirty="0"/>
              <a:t>between the two arms 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945" y="1238495"/>
            <a:ext cx="6595610" cy="4089855"/>
          </a:xfrm>
          <a:prstGeom prst="rect">
            <a:avLst/>
          </a:prstGeom>
        </p:spPr>
      </p:pic>
      <p:grpSp>
        <p:nvGrpSpPr>
          <p:cNvPr id="32" name="Groupe 31"/>
          <p:cNvGrpSpPr/>
          <p:nvPr/>
        </p:nvGrpSpPr>
        <p:grpSpPr>
          <a:xfrm>
            <a:off x="3683665" y="5151119"/>
            <a:ext cx="7474094" cy="1647318"/>
            <a:chOff x="4278750" y="4959934"/>
            <a:chExt cx="7474094" cy="1647318"/>
          </a:xfrm>
        </p:grpSpPr>
        <p:sp>
          <p:nvSpPr>
            <p:cNvPr id="9" name="Rectangle 17"/>
            <p:cNvSpPr>
              <a:spLocks noChangeArrowheads="1"/>
            </p:cNvSpPr>
            <p:nvPr/>
          </p:nvSpPr>
          <p:spPr bwMode="auto">
            <a:xfrm>
              <a:off x="4463548" y="5137056"/>
              <a:ext cx="705983" cy="461036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4</a:t>
              </a:r>
              <a:endParaRPr lang="fr-FR" altLang="fr-FR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4278750" y="6057033"/>
              <a:ext cx="303324" cy="255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4867936" y="6050296"/>
              <a:ext cx="6303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 dirty="0" err="1">
                  <a:latin typeface="Symbol" panose="05050102010706020507" pitchFamily="18" charset="2"/>
                </a:rPr>
                <a:t>a</a:t>
              </a:r>
              <a:r>
                <a:rPr lang="fr-FR" altLang="fr-FR" sz="2800" dirty="0" err="1">
                  <a:latin typeface="Times New Roman" panose="02020603050405020304" pitchFamily="18" charset="0"/>
                </a:rPr>
                <a:t>T</a:t>
              </a:r>
              <a:endParaRPr lang="fr-FR" altLang="fr-FR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7789471" y="6100458"/>
              <a:ext cx="336583" cy="255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5154866" y="5135578"/>
              <a:ext cx="1764069" cy="461035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3</a:t>
              </a:r>
              <a:endParaRPr lang="fr-FR" altLang="fr-FR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6220966" y="5597155"/>
              <a:ext cx="1748105" cy="46103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2</a:t>
              </a:r>
              <a:endParaRPr lang="fr-FR" altLang="fr-FR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6926524" y="5134758"/>
              <a:ext cx="1757417" cy="46103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4</a:t>
              </a:r>
              <a:endParaRPr lang="fr-FR" altLang="fr-FR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5918973" y="6094196"/>
              <a:ext cx="568068" cy="255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 dirty="0">
                  <a:latin typeface="Times New Roman" panose="02020603050405020304" pitchFamily="18" charset="0"/>
                </a:rPr>
                <a:t>T/2</a:t>
              </a:r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4471531" y="5597155"/>
              <a:ext cx="1749435" cy="461035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>
                  <a:latin typeface="Times New Roman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7"/>
            <p:cNvSpPr txBox="1">
              <a:spLocks noChangeArrowheads="1"/>
            </p:cNvSpPr>
            <p:nvPr/>
          </p:nvSpPr>
          <p:spPr bwMode="auto">
            <a:xfrm>
              <a:off x="11545306" y="5757674"/>
              <a:ext cx="207538" cy="1808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6" name="Line 6"/>
            <p:cNvSpPr>
              <a:spLocks noChangeShapeType="1"/>
            </p:cNvSpPr>
            <p:nvPr/>
          </p:nvSpPr>
          <p:spPr bwMode="auto">
            <a:xfrm flipV="1">
              <a:off x="4467540" y="4959934"/>
              <a:ext cx="0" cy="12054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Rectangle 16"/>
            <p:cNvSpPr>
              <a:spLocks noChangeArrowheads="1"/>
            </p:cNvSpPr>
            <p:nvPr/>
          </p:nvSpPr>
          <p:spPr bwMode="auto">
            <a:xfrm>
              <a:off x="9738462" y="5597938"/>
              <a:ext cx="1737462" cy="46103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2</a:t>
              </a:r>
              <a:endParaRPr lang="fr-FR" altLang="fr-FR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19"/>
            <p:cNvSpPr>
              <a:spLocks noChangeArrowheads="1"/>
            </p:cNvSpPr>
            <p:nvPr/>
          </p:nvSpPr>
          <p:spPr bwMode="auto">
            <a:xfrm>
              <a:off x="7978384" y="5597938"/>
              <a:ext cx="1749435" cy="461035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>
                  <a:latin typeface="Times New Roman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6" name="Line 5"/>
            <p:cNvSpPr>
              <a:spLocks noChangeShapeType="1"/>
            </p:cNvSpPr>
            <p:nvPr/>
          </p:nvSpPr>
          <p:spPr bwMode="auto">
            <a:xfrm>
              <a:off x="4290601" y="6059756"/>
              <a:ext cx="735847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8691530" y="5134758"/>
              <a:ext cx="1764069" cy="46808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3</a:t>
              </a:r>
              <a:endParaRPr lang="fr-FR" altLang="fr-FR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Rectangle 17"/>
            <p:cNvSpPr>
              <a:spLocks noChangeArrowheads="1"/>
            </p:cNvSpPr>
            <p:nvPr/>
          </p:nvSpPr>
          <p:spPr bwMode="auto">
            <a:xfrm>
              <a:off x="10463189" y="5134758"/>
              <a:ext cx="1012736" cy="46947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4</a:t>
              </a:r>
              <a:endParaRPr lang="fr-FR" altLang="fr-FR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31" name="Text Box 18"/>
            <p:cNvSpPr txBox="1">
              <a:spLocks noChangeArrowheads="1"/>
            </p:cNvSpPr>
            <p:nvPr/>
          </p:nvSpPr>
          <p:spPr bwMode="auto">
            <a:xfrm>
              <a:off x="9307093" y="6084032"/>
              <a:ext cx="86273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 dirty="0">
                  <a:latin typeface="Times New Roman" panose="02020603050405020304" pitchFamily="18" charset="0"/>
                </a:rPr>
                <a:t>3T/2</a:t>
              </a:r>
            </a:p>
          </p:txBody>
        </p:sp>
      </p:grpSp>
      <p:sp>
        <p:nvSpPr>
          <p:cNvPr id="34" name="ZoneTexte 33"/>
          <p:cNvSpPr txBox="1"/>
          <p:nvPr/>
        </p:nvSpPr>
        <p:spPr>
          <a:xfrm>
            <a:off x="0" y="0"/>
            <a:ext cx="247996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Flyback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Forward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Push-Pull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No laod study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Continuous mode</a:t>
            </a:r>
          </a:p>
          <a:p>
            <a:r>
              <a:rPr lang="en-US" b="1" dirty="0">
                <a:solidFill>
                  <a:srgbClr val="FF0000"/>
                </a:solidFill>
              </a:rPr>
              <a:t>Other structures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100873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3436</TotalTime>
  <Words>2855</Words>
  <Application>Microsoft Office PowerPoint</Application>
  <PresentationFormat>Grand écran</PresentationFormat>
  <Paragraphs>1417</Paragraphs>
  <Slides>61</Slides>
  <Notes>3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61</vt:i4>
      </vt:variant>
    </vt:vector>
  </HeadingPairs>
  <TitlesOfParts>
    <vt:vector size="75" baseType="lpstr">
      <vt:lpstr>Arial</vt:lpstr>
      <vt:lpstr>Calibri</vt:lpstr>
      <vt:lpstr>Calibri (Corps)</vt:lpstr>
      <vt:lpstr>Cambria Math</vt:lpstr>
      <vt:lpstr>Myriad Pro</vt:lpstr>
      <vt:lpstr>Symbol</vt:lpstr>
      <vt:lpstr>Times</vt:lpstr>
      <vt:lpstr>Times New Roman</vt:lpstr>
      <vt:lpstr>Wingdings</vt:lpstr>
      <vt:lpstr>1_Thème Office</vt:lpstr>
      <vt:lpstr>Thème Office</vt:lpstr>
      <vt:lpstr>2_Thème Office</vt:lpstr>
      <vt:lpstr>Équation</vt:lpstr>
      <vt:lpstr>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ENERGEN ENERGEN</dc:creator>
  <cp:lastModifiedBy>Alexis MARTIN</cp:lastModifiedBy>
  <cp:revision>173</cp:revision>
  <dcterms:created xsi:type="dcterms:W3CDTF">2021-03-25T13:34:06Z</dcterms:created>
  <dcterms:modified xsi:type="dcterms:W3CDTF">2026-09-07T09:49:01Z</dcterms:modified>
</cp:coreProperties>
</file>