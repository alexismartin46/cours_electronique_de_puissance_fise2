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</p:sldMasterIdLst>
  <p:notesMasterIdLst>
    <p:notesMasterId r:id="rId154"/>
  </p:notesMasterIdLst>
  <p:sldIdLst>
    <p:sldId id="257" r:id="rId7"/>
    <p:sldId id="256" r:id="rId8"/>
    <p:sldId id="260" r:id="rId9"/>
    <p:sldId id="261" r:id="rId10"/>
    <p:sldId id="258" r:id="rId11"/>
    <p:sldId id="263" r:id="rId12"/>
    <p:sldId id="264" r:id="rId13"/>
    <p:sldId id="265" r:id="rId14"/>
    <p:sldId id="266" r:id="rId15"/>
    <p:sldId id="268" r:id="rId16"/>
    <p:sldId id="396" r:id="rId17"/>
    <p:sldId id="269" r:id="rId18"/>
    <p:sldId id="270" r:id="rId19"/>
    <p:sldId id="271" r:id="rId20"/>
    <p:sldId id="274" r:id="rId21"/>
    <p:sldId id="272" r:id="rId22"/>
    <p:sldId id="273" r:id="rId23"/>
    <p:sldId id="275" r:id="rId24"/>
    <p:sldId id="388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416" r:id="rId35"/>
    <p:sldId id="285" r:id="rId36"/>
    <p:sldId id="286" r:id="rId37"/>
    <p:sldId id="287" r:id="rId38"/>
    <p:sldId id="288" r:id="rId39"/>
    <p:sldId id="289" r:id="rId40"/>
    <p:sldId id="290" r:id="rId41"/>
    <p:sldId id="401" r:id="rId42"/>
    <p:sldId id="402" r:id="rId43"/>
    <p:sldId id="403" r:id="rId44"/>
    <p:sldId id="404" r:id="rId45"/>
    <p:sldId id="405" r:id="rId46"/>
    <p:sldId id="406" r:id="rId47"/>
    <p:sldId id="407" r:id="rId48"/>
    <p:sldId id="408" r:id="rId49"/>
    <p:sldId id="409" r:id="rId50"/>
    <p:sldId id="410" r:id="rId51"/>
    <p:sldId id="389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60"/>
    <p:sldId id="299" r:id="rId61"/>
    <p:sldId id="300" r:id="rId62"/>
    <p:sldId id="301" r:id="rId63"/>
    <p:sldId id="418" r:id="rId64"/>
    <p:sldId id="302" r:id="rId65"/>
    <p:sldId id="303" r:id="rId66"/>
    <p:sldId id="304" r:id="rId67"/>
    <p:sldId id="305" r:id="rId68"/>
    <p:sldId id="306" r:id="rId69"/>
    <p:sldId id="411" r:id="rId70"/>
    <p:sldId id="412" r:id="rId71"/>
    <p:sldId id="307" r:id="rId72"/>
    <p:sldId id="308" r:id="rId73"/>
    <p:sldId id="309" r:id="rId74"/>
    <p:sldId id="390" r:id="rId75"/>
    <p:sldId id="310" r:id="rId76"/>
    <p:sldId id="311" r:id="rId77"/>
    <p:sldId id="312" r:id="rId78"/>
    <p:sldId id="313" r:id="rId79"/>
    <p:sldId id="314" r:id="rId80"/>
    <p:sldId id="315" r:id="rId81"/>
    <p:sldId id="316" r:id="rId82"/>
    <p:sldId id="317" r:id="rId83"/>
    <p:sldId id="318" r:id="rId84"/>
    <p:sldId id="319" r:id="rId85"/>
    <p:sldId id="320" r:id="rId86"/>
    <p:sldId id="321" r:id="rId87"/>
    <p:sldId id="322" r:id="rId88"/>
    <p:sldId id="323" r:id="rId89"/>
    <p:sldId id="324" r:id="rId90"/>
    <p:sldId id="325" r:id="rId91"/>
    <p:sldId id="326" r:id="rId92"/>
    <p:sldId id="327" r:id="rId93"/>
    <p:sldId id="328" r:id="rId94"/>
    <p:sldId id="329" r:id="rId95"/>
    <p:sldId id="397" r:id="rId96"/>
    <p:sldId id="330" r:id="rId97"/>
    <p:sldId id="413" r:id="rId98"/>
    <p:sldId id="414" r:id="rId99"/>
    <p:sldId id="415" r:id="rId100"/>
    <p:sldId id="391" r:id="rId101"/>
    <p:sldId id="331" r:id="rId102"/>
    <p:sldId id="332" r:id="rId103"/>
    <p:sldId id="393" r:id="rId104"/>
    <p:sldId id="398" r:id="rId105"/>
    <p:sldId id="400" r:id="rId106"/>
    <p:sldId id="392" r:id="rId107"/>
    <p:sldId id="335" r:id="rId108"/>
    <p:sldId id="340" r:id="rId109"/>
    <p:sldId id="337" r:id="rId110"/>
    <p:sldId id="395" r:id="rId111"/>
    <p:sldId id="336" r:id="rId112"/>
    <p:sldId id="338" r:id="rId113"/>
    <p:sldId id="339" r:id="rId114"/>
    <p:sldId id="341" r:id="rId115"/>
    <p:sldId id="344" r:id="rId116"/>
    <p:sldId id="345" r:id="rId117"/>
    <p:sldId id="346" r:id="rId118"/>
    <p:sldId id="347" r:id="rId119"/>
    <p:sldId id="348" r:id="rId120"/>
    <p:sldId id="349" r:id="rId121"/>
    <p:sldId id="350" r:id="rId122"/>
    <p:sldId id="342" r:id="rId123"/>
    <p:sldId id="351" r:id="rId124"/>
    <p:sldId id="352" r:id="rId125"/>
    <p:sldId id="394" r:id="rId126"/>
    <p:sldId id="353" r:id="rId127"/>
    <p:sldId id="354" r:id="rId128"/>
    <p:sldId id="355" r:id="rId129"/>
    <p:sldId id="356" r:id="rId130"/>
    <p:sldId id="357" r:id="rId131"/>
    <p:sldId id="358" r:id="rId132"/>
    <p:sldId id="359" r:id="rId133"/>
    <p:sldId id="419" r:id="rId134"/>
    <p:sldId id="360" r:id="rId135"/>
    <p:sldId id="361" r:id="rId136"/>
    <p:sldId id="362" r:id="rId137"/>
    <p:sldId id="363" r:id="rId138"/>
    <p:sldId id="364" r:id="rId139"/>
    <p:sldId id="365" r:id="rId140"/>
    <p:sldId id="366" r:id="rId141"/>
    <p:sldId id="367" r:id="rId142"/>
    <p:sldId id="368" r:id="rId143"/>
    <p:sldId id="369" r:id="rId144"/>
    <p:sldId id="370" r:id="rId145"/>
    <p:sldId id="371" r:id="rId146"/>
    <p:sldId id="372" r:id="rId147"/>
    <p:sldId id="373" r:id="rId148"/>
    <p:sldId id="374" r:id="rId149"/>
    <p:sldId id="375" r:id="rId150"/>
    <p:sldId id="376" r:id="rId151"/>
    <p:sldId id="377" r:id="rId152"/>
    <p:sldId id="378" r:id="rId153"/>
  </p:sldIdLst>
  <p:sldSz cx="12192000" cy="6858000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E20EE-A3A8-4DA6-9D42-11614A0C0882}" v="19" dt="2026-09-18T11:49:49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02" autoAdjust="0"/>
    <p:restoredTop sz="94343" autoAdjust="0"/>
  </p:normalViewPr>
  <p:slideViewPr>
    <p:cSldViewPr snapToGrid="0">
      <p:cViewPr varScale="1">
        <p:scale>
          <a:sx n="111" d="100"/>
          <a:sy n="111" d="100"/>
        </p:scale>
        <p:origin x="552" y="96"/>
      </p:cViewPr>
      <p:guideLst/>
    </p:cSldViewPr>
  </p:slideViewPr>
  <p:outlineViewPr>
    <p:cViewPr>
      <p:scale>
        <a:sx n="33" d="100"/>
        <a:sy n="33" d="100"/>
      </p:scale>
      <p:origin x="0" y="-28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63" Type="http://schemas.openxmlformats.org/officeDocument/2006/relationships/slide" Target="slides/slide57.xml"/><Relationship Id="rId84" Type="http://schemas.openxmlformats.org/officeDocument/2006/relationships/slide" Target="slides/slide78.xml"/><Relationship Id="rId138" Type="http://schemas.openxmlformats.org/officeDocument/2006/relationships/slide" Target="slides/slide132.xml"/><Relationship Id="rId159" Type="http://schemas.microsoft.com/office/2016/11/relationships/changesInfo" Target="changesInfos/changesInfo1.xml"/><Relationship Id="rId107" Type="http://schemas.openxmlformats.org/officeDocument/2006/relationships/slide" Target="slides/slide10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53" Type="http://schemas.openxmlformats.org/officeDocument/2006/relationships/slide" Target="slides/slide47.xml"/><Relationship Id="rId74" Type="http://schemas.openxmlformats.org/officeDocument/2006/relationships/slide" Target="slides/slide68.xml"/><Relationship Id="rId128" Type="http://schemas.openxmlformats.org/officeDocument/2006/relationships/slide" Target="slides/slide122.xml"/><Relationship Id="rId149" Type="http://schemas.openxmlformats.org/officeDocument/2006/relationships/slide" Target="slides/slide143.xml"/><Relationship Id="rId5" Type="http://schemas.openxmlformats.org/officeDocument/2006/relationships/slideMaster" Target="slideMasters/slideMaster2.xml"/><Relationship Id="rId95" Type="http://schemas.openxmlformats.org/officeDocument/2006/relationships/slide" Target="slides/slide89.xml"/><Relationship Id="rId160" Type="http://schemas.microsoft.com/office/2015/10/relationships/revisionInfo" Target="revisionInfo.xml"/><Relationship Id="rId22" Type="http://schemas.openxmlformats.org/officeDocument/2006/relationships/slide" Target="slides/slide16.xml"/><Relationship Id="rId43" Type="http://schemas.openxmlformats.org/officeDocument/2006/relationships/slide" Target="slides/slide37.xml"/><Relationship Id="rId64" Type="http://schemas.openxmlformats.org/officeDocument/2006/relationships/slide" Target="slides/slide58.xml"/><Relationship Id="rId118" Type="http://schemas.openxmlformats.org/officeDocument/2006/relationships/slide" Target="slides/slide112.xml"/><Relationship Id="rId139" Type="http://schemas.openxmlformats.org/officeDocument/2006/relationships/slide" Target="slides/slide13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50" Type="http://schemas.openxmlformats.org/officeDocument/2006/relationships/slide" Target="slides/slide144.xml"/><Relationship Id="rId155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08" Type="http://schemas.openxmlformats.org/officeDocument/2006/relationships/slide" Target="slides/slide102.xml"/><Relationship Id="rId124" Type="http://schemas.openxmlformats.org/officeDocument/2006/relationships/slide" Target="slides/slide118.xml"/><Relationship Id="rId129" Type="http://schemas.openxmlformats.org/officeDocument/2006/relationships/slide" Target="slides/slide123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40" Type="http://schemas.openxmlformats.org/officeDocument/2006/relationships/slide" Target="slides/slide134.xml"/><Relationship Id="rId145" Type="http://schemas.openxmlformats.org/officeDocument/2006/relationships/slide" Target="slides/slide13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49" Type="http://schemas.openxmlformats.org/officeDocument/2006/relationships/slide" Target="slides/slide43.xml"/><Relationship Id="rId114" Type="http://schemas.openxmlformats.org/officeDocument/2006/relationships/slide" Target="slides/slide108.xml"/><Relationship Id="rId119" Type="http://schemas.openxmlformats.org/officeDocument/2006/relationships/slide" Target="slides/slide113.xml"/><Relationship Id="rId44" Type="http://schemas.openxmlformats.org/officeDocument/2006/relationships/slide" Target="slides/slide38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130" Type="http://schemas.openxmlformats.org/officeDocument/2006/relationships/slide" Target="slides/slide124.xml"/><Relationship Id="rId135" Type="http://schemas.openxmlformats.org/officeDocument/2006/relationships/slide" Target="slides/slide129.xml"/><Relationship Id="rId151" Type="http://schemas.openxmlformats.org/officeDocument/2006/relationships/slide" Target="slides/slide145.xml"/><Relationship Id="rId156" Type="http://schemas.openxmlformats.org/officeDocument/2006/relationships/viewProps" Target="viewProps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slide" Target="slides/slide10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141" Type="http://schemas.openxmlformats.org/officeDocument/2006/relationships/slide" Target="slides/slide135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Relationship Id="rId131" Type="http://schemas.openxmlformats.org/officeDocument/2006/relationships/slide" Target="slides/slide125.xml"/><Relationship Id="rId136" Type="http://schemas.openxmlformats.org/officeDocument/2006/relationships/slide" Target="slides/slide130.xml"/><Relationship Id="rId157" Type="http://schemas.openxmlformats.org/officeDocument/2006/relationships/theme" Target="theme/theme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52" Type="http://schemas.openxmlformats.org/officeDocument/2006/relationships/slide" Target="slides/slide14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26" Type="http://schemas.openxmlformats.org/officeDocument/2006/relationships/slide" Target="slides/slide120.xml"/><Relationship Id="rId147" Type="http://schemas.openxmlformats.org/officeDocument/2006/relationships/slide" Target="slides/slide14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142" Type="http://schemas.openxmlformats.org/officeDocument/2006/relationships/slide" Target="slides/slide136.xml"/><Relationship Id="rId3" Type="http://schemas.openxmlformats.org/officeDocument/2006/relationships/customXml" Target="../customXml/item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Relationship Id="rId158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slide" Target="slides/slide105.xml"/><Relationship Id="rId132" Type="http://schemas.openxmlformats.org/officeDocument/2006/relationships/slide" Target="slides/slide126.xml"/><Relationship Id="rId153" Type="http://schemas.openxmlformats.org/officeDocument/2006/relationships/slide" Target="slides/slide147.xml"/><Relationship Id="rId15" Type="http://schemas.openxmlformats.org/officeDocument/2006/relationships/slide" Target="slides/slide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27" Type="http://schemas.openxmlformats.org/officeDocument/2006/relationships/slide" Target="slides/slide12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52" Type="http://schemas.openxmlformats.org/officeDocument/2006/relationships/slide" Target="slides/slide46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43" Type="http://schemas.openxmlformats.org/officeDocument/2006/relationships/slide" Target="slides/slide137.xml"/><Relationship Id="rId148" Type="http://schemas.openxmlformats.org/officeDocument/2006/relationships/slide" Target="slides/slide14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7" Type="http://schemas.openxmlformats.org/officeDocument/2006/relationships/slide" Target="slides/slide41.xml"/><Relationship Id="rId68" Type="http://schemas.openxmlformats.org/officeDocument/2006/relationships/slide" Target="slides/slide62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slide" Target="slides/slide127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0.xml"/><Relationship Id="rId37" Type="http://schemas.openxmlformats.org/officeDocument/2006/relationships/slide" Target="slides/slide31.xml"/><Relationship Id="rId58" Type="http://schemas.openxmlformats.org/officeDocument/2006/relationships/slide" Target="slides/slide52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44" Type="http://schemas.openxmlformats.org/officeDocument/2006/relationships/slide" Target="slides/slide138.xml"/><Relationship Id="rId90" Type="http://schemas.openxmlformats.org/officeDocument/2006/relationships/slide" Target="slides/slide84.xml"/><Relationship Id="rId27" Type="http://schemas.openxmlformats.org/officeDocument/2006/relationships/slide" Target="slides/slide21.xml"/><Relationship Id="rId48" Type="http://schemas.openxmlformats.org/officeDocument/2006/relationships/slide" Target="slides/slide42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34" Type="http://schemas.openxmlformats.org/officeDocument/2006/relationships/slide" Target="slides/slide1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MARTIN" userId="ec32c3d9-5957-42d0-8757-996fd533d25b" providerId="ADAL" clId="{B76BE869-635B-4DC9-A437-AFDC8BC5A345}"/>
    <pc:docChg chg="undo redo custSel addSld delSld modSld sldOrd modNotesMaster">
      <pc:chgData name="Alexis MARTIN" userId="ec32c3d9-5957-42d0-8757-996fd533d25b" providerId="ADAL" clId="{B76BE869-635B-4DC9-A437-AFDC8BC5A345}" dt="2026-09-18T11:49:49.912" v="1134" actId="164"/>
      <pc:docMkLst>
        <pc:docMk/>
      </pc:docMkLst>
      <pc:sldChg chg="addSp modSp mod">
        <pc:chgData name="Alexis MARTIN" userId="ec32c3d9-5957-42d0-8757-996fd533d25b" providerId="ADAL" clId="{B76BE869-635B-4DC9-A437-AFDC8BC5A345}" dt="2026-09-07T09:42:27.064" v="1049" actId="108"/>
        <pc:sldMkLst>
          <pc:docMk/>
          <pc:sldMk cId="2482507123" sldId="256"/>
        </pc:sldMkLst>
        <pc:spChg chg="mod">
          <ac:chgData name="Alexis MARTIN" userId="ec32c3d9-5957-42d0-8757-996fd533d25b" providerId="ADAL" clId="{B76BE869-635B-4DC9-A437-AFDC8BC5A345}" dt="2026-09-07T09:42:27.064" v="1049" actId="108"/>
          <ac:spMkLst>
            <pc:docMk/>
            <pc:sldMk cId="2482507123" sldId="256"/>
            <ac:spMk id="13" creationId="{00000000-0000-0000-0000-000000000000}"/>
          </ac:spMkLst>
        </pc:spChg>
      </pc:sldChg>
      <pc:sldChg chg="addSp delSp modSp mod">
        <pc:chgData name="Alexis MARTIN" userId="ec32c3d9-5957-42d0-8757-996fd533d25b" providerId="ADAL" clId="{B76BE869-635B-4DC9-A437-AFDC8BC5A345}" dt="2026-09-18T11:43:24.107" v="1068" actId="14100"/>
        <pc:sldMkLst>
          <pc:docMk/>
          <pc:sldMk cId="2731574757" sldId="307"/>
        </pc:sldMkLst>
        <pc:spChg chg="mod">
          <ac:chgData name="Alexis MARTIN" userId="ec32c3d9-5957-42d0-8757-996fd533d25b" providerId="ADAL" clId="{B76BE869-635B-4DC9-A437-AFDC8BC5A345}" dt="2026-09-18T11:43:24.107" v="1068" actId="14100"/>
          <ac:spMkLst>
            <pc:docMk/>
            <pc:sldMk cId="2731574757" sldId="307"/>
            <ac:spMk id="88" creationId="{00000000-0000-0000-0000-000000000000}"/>
          </ac:spMkLst>
        </pc:spChg>
        <pc:picChg chg="del">
          <ac:chgData name="Alexis MARTIN" userId="ec32c3d9-5957-42d0-8757-996fd533d25b" providerId="ADAL" clId="{B76BE869-635B-4DC9-A437-AFDC8BC5A345}" dt="2026-09-18T11:43:05.664" v="1060" actId="478"/>
          <ac:picMkLst>
            <pc:docMk/>
            <pc:sldMk cId="2731574757" sldId="307"/>
            <ac:picMk id="3" creationId="{2C4E0AEA-C829-EC12-5B14-22B5E78720E0}"/>
          </ac:picMkLst>
        </pc:picChg>
        <pc:picChg chg="add mod">
          <ac:chgData name="Alexis MARTIN" userId="ec32c3d9-5957-42d0-8757-996fd533d25b" providerId="ADAL" clId="{B76BE869-635B-4DC9-A437-AFDC8BC5A345}" dt="2026-09-18T11:43:19.287" v="1066" actId="1076"/>
          <ac:picMkLst>
            <pc:docMk/>
            <pc:sldMk cId="2731574757" sldId="307"/>
            <ac:picMk id="4" creationId="{B2065DEF-A34E-1190-2151-8E0940C68D6F}"/>
          </ac:picMkLst>
        </pc:picChg>
      </pc:sldChg>
      <pc:sldChg chg="addSp modSp mod">
        <pc:chgData name="Alexis MARTIN" userId="ec32c3d9-5957-42d0-8757-996fd533d25b" providerId="ADAL" clId="{B76BE869-635B-4DC9-A437-AFDC8BC5A345}" dt="2026-09-18T11:46:07.822" v="1096" actId="164"/>
        <pc:sldMkLst>
          <pc:docMk/>
          <pc:sldMk cId="1209860441" sldId="311"/>
        </pc:sldMkLst>
        <pc:spChg chg="mod">
          <ac:chgData name="Alexis MARTIN" userId="ec32c3d9-5957-42d0-8757-996fd533d25b" providerId="ADAL" clId="{B76BE869-635B-4DC9-A437-AFDC8BC5A345}" dt="2026-09-18T11:43:52.826" v="1070" actId="208"/>
          <ac:spMkLst>
            <pc:docMk/>
            <pc:sldMk cId="1209860441" sldId="311"/>
            <ac:spMk id="6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9-18T11:44:03.128" v="1072" actId="208"/>
          <ac:spMkLst>
            <pc:docMk/>
            <pc:sldMk cId="1209860441" sldId="311"/>
            <ac:spMk id="7" creationId="{00000000-0000-0000-0000-000000000000}"/>
          </ac:spMkLst>
        </pc:spChg>
        <pc:grpChg chg="add mod">
          <ac:chgData name="Alexis MARTIN" userId="ec32c3d9-5957-42d0-8757-996fd533d25b" providerId="ADAL" clId="{B76BE869-635B-4DC9-A437-AFDC8BC5A345}" dt="2026-09-18T11:46:07.822" v="1096" actId="164"/>
          <ac:grpSpMkLst>
            <pc:docMk/>
            <pc:sldMk cId="1209860441" sldId="311"/>
            <ac:grpSpMk id="15" creationId="{EFF58C4F-6307-7B88-D1EE-91117BA9F1D8}"/>
          </ac:grpSpMkLst>
        </pc:grpChg>
        <pc:picChg chg="add mod modCrop">
          <ac:chgData name="Alexis MARTIN" userId="ec32c3d9-5957-42d0-8757-996fd533d25b" providerId="ADAL" clId="{B76BE869-635B-4DC9-A437-AFDC8BC5A345}" dt="2026-09-18T11:46:07.822" v="1096" actId="164"/>
          <ac:picMkLst>
            <pc:docMk/>
            <pc:sldMk cId="1209860441" sldId="311"/>
            <ac:picMk id="3" creationId="{AEE87930-91BE-CC49-2B16-C38CF5329AF7}"/>
          </ac:picMkLst>
        </pc:picChg>
        <pc:picChg chg="add mod modCrop">
          <ac:chgData name="Alexis MARTIN" userId="ec32c3d9-5957-42d0-8757-996fd533d25b" providerId="ADAL" clId="{B76BE869-635B-4DC9-A437-AFDC8BC5A345}" dt="2026-09-18T11:46:07.822" v="1096" actId="164"/>
          <ac:picMkLst>
            <pc:docMk/>
            <pc:sldMk cId="1209860441" sldId="311"/>
            <ac:picMk id="13" creationId="{7E64C7DD-45EC-B598-4896-0FA1C3F81E52}"/>
          </ac:picMkLst>
        </pc:picChg>
        <pc:picChg chg="mod">
          <ac:chgData name="Alexis MARTIN" userId="ec32c3d9-5957-42d0-8757-996fd533d25b" providerId="ADAL" clId="{B76BE869-635B-4DC9-A437-AFDC8BC5A345}" dt="2026-09-18T11:46:07.822" v="1096" actId="164"/>
          <ac:picMkLst>
            <pc:docMk/>
            <pc:sldMk cId="1209860441" sldId="311"/>
            <ac:picMk id="19" creationId="{16B9D6A3-1B22-8F2E-77A3-FF3C413DE366}"/>
          </ac:picMkLst>
        </pc:picChg>
      </pc:sldChg>
      <pc:sldChg chg="addSp modSp mod">
        <pc:chgData name="Alexis MARTIN" userId="ec32c3d9-5957-42d0-8757-996fd533d25b" providerId="ADAL" clId="{B76BE869-635B-4DC9-A437-AFDC8BC5A345}" dt="2026-09-18T11:47:16.057" v="1107" actId="164"/>
        <pc:sldMkLst>
          <pc:docMk/>
          <pc:sldMk cId="2823898125" sldId="312"/>
        </pc:sldMkLst>
        <pc:grpChg chg="add mod">
          <ac:chgData name="Alexis MARTIN" userId="ec32c3d9-5957-42d0-8757-996fd533d25b" providerId="ADAL" clId="{B76BE869-635B-4DC9-A437-AFDC8BC5A345}" dt="2026-09-18T11:47:16.057" v="1107" actId="164"/>
          <ac:grpSpMkLst>
            <pc:docMk/>
            <pc:sldMk cId="2823898125" sldId="312"/>
            <ac:grpSpMk id="26" creationId="{C3A0B73E-E36A-7195-1772-A79CF8DE7DA6}"/>
          </ac:grpSpMkLst>
        </pc:grpChg>
        <pc:picChg chg="mod">
          <ac:chgData name="Alexis MARTIN" userId="ec32c3d9-5957-42d0-8757-996fd533d25b" providerId="ADAL" clId="{B76BE869-635B-4DC9-A437-AFDC8BC5A345}" dt="2026-09-18T11:47:16.057" v="1107" actId="164"/>
          <ac:picMkLst>
            <pc:docMk/>
            <pc:sldMk cId="2823898125" sldId="312"/>
            <ac:picMk id="3" creationId="{D81EBC72-C9B3-7F05-FA66-ACFCE283D381}"/>
          </ac:picMkLst>
        </pc:picChg>
        <pc:picChg chg="add mod modCrop">
          <ac:chgData name="Alexis MARTIN" userId="ec32c3d9-5957-42d0-8757-996fd533d25b" providerId="ADAL" clId="{B76BE869-635B-4DC9-A437-AFDC8BC5A345}" dt="2026-09-18T11:47:16.057" v="1107" actId="164"/>
          <ac:picMkLst>
            <pc:docMk/>
            <pc:sldMk cId="2823898125" sldId="312"/>
            <ac:picMk id="4" creationId="{C0FE9844-A8C0-0A16-9F92-2D1C56D60A4F}"/>
          </ac:picMkLst>
        </pc:picChg>
        <pc:picChg chg="add mod modCrop">
          <ac:chgData name="Alexis MARTIN" userId="ec32c3d9-5957-42d0-8757-996fd533d25b" providerId="ADAL" clId="{B76BE869-635B-4DC9-A437-AFDC8BC5A345}" dt="2026-09-18T11:47:16.057" v="1107" actId="164"/>
          <ac:picMkLst>
            <pc:docMk/>
            <pc:sldMk cId="2823898125" sldId="312"/>
            <ac:picMk id="24" creationId="{A9661824-101D-F589-5867-743D604420A6}"/>
          </ac:picMkLst>
        </pc:picChg>
      </pc:sldChg>
      <pc:sldChg chg="addSp modSp mod">
        <pc:chgData name="Alexis MARTIN" userId="ec32c3d9-5957-42d0-8757-996fd533d25b" providerId="ADAL" clId="{B76BE869-635B-4DC9-A437-AFDC8BC5A345}" dt="2026-09-18T11:48:23.260" v="1120" actId="167"/>
        <pc:sldMkLst>
          <pc:docMk/>
          <pc:sldMk cId="4182163512" sldId="313"/>
        </pc:sldMkLst>
        <pc:grpChg chg="add mod ord">
          <ac:chgData name="Alexis MARTIN" userId="ec32c3d9-5957-42d0-8757-996fd533d25b" providerId="ADAL" clId="{B76BE869-635B-4DC9-A437-AFDC8BC5A345}" dt="2026-09-18T11:48:23.260" v="1120" actId="167"/>
          <ac:grpSpMkLst>
            <pc:docMk/>
            <pc:sldMk cId="4182163512" sldId="313"/>
            <ac:grpSpMk id="55" creationId="{CF88B0B4-9E64-C533-E272-7279D256585F}"/>
          </ac:grpSpMkLst>
        </pc:grpChg>
        <pc:picChg chg="mod">
          <ac:chgData name="Alexis MARTIN" userId="ec32c3d9-5957-42d0-8757-996fd533d25b" providerId="ADAL" clId="{B76BE869-635B-4DC9-A437-AFDC8BC5A345}" dt="2026-09-18T11:48:17.937" v="1119" actId="164"/>
          <ac:picMkLst>
            <pc:docMk/>
            <pc:sldMk cId="4182163512" sldId="313"/>
            <ac:picMk id="4" creationId="{0921D982-FF4D-AA29-C66F-C40E09B803D8}"/>
          </ac:picMkLst>
        </pc:picChg>
        <pc:picChg chg="add mod modCrop">
          <ac:chgData name="Alexis MARTIN" userId="ec32c3d9-5957-42d0-8757-996fd533d25b" providerId="ADAL" clId="{B76BE869-635B-4DC9-A437-AFDC8BC5A345}" dt="2026-09-18T11:48:17.937" v="1119" actId="164"/>
          <ac:picMkLst>
            <pc:docMk/>
            <pc:sldMk cId="4182163512" sldId="313"/>
            <ac:picMk id="52" creationId="{837BBC59-84DD-3608-C2D1-7B5A48E7425E}"/>
          </ac:picMkLst>
        </pc:picChg>
        <pc:picChg chg="add mod modCrop">
          <ac:chgData name="Alexis MARTIN" userId="ec32c3d9-5957-42d0-8757-996fd533d25b" providerId="ADAL" clId="{B76BE869-635B-4DC9-A437-AFDC8BC5A345}" dt="2026-09-18T11:48:17.937" v="1119" actId="164"/>
          <ac:picMkLst>
            <pc:docMk/>
            <pc:sldMk cId="4182163512" sldId="313"/>
            <ac:picMk id="54" creationId="{EB1FBC6E-07FD-2D6D-441A-AD26E001FED3}"/>
          </ac:picMkLst>
        </pc:picChg>
      </pc:sldChg>
      <pc:sldChg chg="addSp modSp mod">
        <pc:chgData name="Alexis MARTIN" userId="ec32c3d9-5957-42d0-8757-996fd533d25b" providerId="ADAL" clId="{B76BE869-635B-4DC9-A437-AFDC8BC5A345}" dt="2026-09-18T11:49:49.912" v="1134" actId="164"/>
        <pc:sldMkLst>
          <pc:docMk/>
          <pc:sldMk cId="1551497786" sldId="314"/>
        </pc:sldMkLst>
        <pc:grpChg chg="add mod">
          <ac:chgData name="Alexis MARTIN" userId="ec32c3d9-5957-42d0-8757-996fd533d25b" providerId="ADAL" clId="{B76BE869-635B-4DC9-A437-AFDC8BC5A345}" dt="2026-09-18T11:49:32.756" v="1131" actId="164"/>
          <ac:grpSpMkLst>
            <pc:docMk/>
            <pc:sldMk cId="1551497786" sldId="314"/>
            <ac:grpSpMk id="85" creationId="{5113EC9E-7D7E-0EEC-9084-B7CD68C9438C}"/>
          </ac:grpSpMkLst>
        </pc:grpChg>
        <pc:grpChg chg="add mod">
          <ac:chgData name="Alexis MARTIN" userId="ec32c3d9-5957-42d0-8757-996fd533d25b" providerId="ADAL" clId="{B76BE869-635B-4DC9-A437-AFDC8BC5A345}" dt="2026-09-18T11:49:49.912" v="1134" actId="164"/>
          <ac:grpSpMkLst>
            <pc:docMk/>
            <pc:sldMk cId="1551497786" sldId="314"/>
            <ac:grpSpMk id="90" creationId="{9356BBD4-A3A0-0E84-6628-95DFAD7296FE}"/>
          </ac:grpSpMkLst>
        </pc:grpChg>
        <pc:picChg chg="add mod modCrop">
          <ac:chgData name="Alexis MARTIN" userId="ec32c3d9-5957-42d0-8757-996fd533d25b" providerId="ADAL" clId="{B76BE869-635B-4DC9-A437-AFDC8BC5A345}" dt="2026-09-18T11:49:32.756" v="1131" actId="164"/>
          <ac:picMkLst>
            <pc:docMk/>
            <pc:sldMk cId="1551497786" sldId="314"/>
            <ac:picMk id="4" creationId="{581FCC26-75BE-F7C3-48C5-622AAEBD1D6E}"/>
          </ac:picMkLst>
        </pc:picChg>
        <pc:picChg chg="mod">
          <ac:chgData name="Alexis MARTIN" userId="ec32c3d9-5957-42d0-8757-996fd533d25b" providerId="ADAL" clId="{B76BE869-635B-4DC9-A437-AFDC8BC5A345}" dt="2026-09-18T11:49:32.756" v="1131" actId="164"/>
          <ac:picMkLst>
            <pc:docMk/>
            <pc:sldMk cId="1551497786" sldId="314"/>
            <ac:picMk id="6" creationId="{BA84C268-D8D3-3C1E-BEE1-20417152370F}"/>
          </ac:picMkLst>
        </pc:picChg>
        <pc:picChg chg="mod">
          <ac:chgData name="Alexis MARTIN" userId="ec32c3d9-5957-42d0-8757-996fd533d25b" providerId="ADAL" clId="{B76BE869-635B-4DC9-A437-AFDC8BC5A345}" dt="2026-09-18T11:49:49.912" v="1134" actId="164"/>
          <ac:picMkLst>
            <pc:docMk/>
            <pc:sldMk cId="1551497786" sldId="314"/>
            <ac:picMk id="82" creationId="{435AF6C6-A115-1458-3D2B-7FDA29844C2F}"/>
          </ac:picMkLst>
        </pc:picChg>
        <pc:picChg chg="add mod modCrop">
          <ac:chgData name="Alexis MARTIN" userId="ec32c3d9-5957-42d0-8757-996fd533d25b" providerId="ADAL" clId="{B76BE869-635B-4DC9-A437-AFDC8BC5A345}" dt="2026-09-18T11:49:32.756" v="1131" actId="164"/>
          <ac:picMkLst>
            <pc:docMk/>
            <pc:sldMk cId="1551497786" sldId="314"/>
            <ac:picMk id="84" creationId="{EDF9D226-7853-DC69-B04C-6F9F34671298}"/>
          </ac:picMkLst>
        </pc:picChg>
        <pc:picChg chg="add mod">
          <ac:chgData name="Alexis MARTIN" userId="ec32c3d9-5957-42d0-8757-996fd533d25b" providerId="ADAL" clId="{B76BE869-635B-4DC9-A437-AFDC8BC5A345}" dt="2026-09-18T11:49:49.912" v="1134" actId="164"/>
          <ac:picMkLst>
            <pc:docMk/>
            <pc:sldMk cId="1551497786" sldId="314"/>
            <ac:picMk id="87" creationId="{7E87A726-AFF1-B168-58A9-0AAB32F4CDFC}"/>
          </ac:picMkLst>
        </pc:picChg>
        <pc:picChg chg="add mod">
          <ac:chgData name="Alexis MARTIN" userId="ec32c3d9-5957-42d0-8757-996fd533d25b" providerId="ADAL" clId="{B76BE869-635B-4DC9-A437-AFDC8BC5A345}" dt="2026-09-18T11:49:49.912" v="1134" actId="164"/>
          <ac:picMkLst>
            <pc:docMk/>
            <pc:sldMk cId="1551497786" sldId="314"/>
            <ac:picMk id="89" creationId="{C3711CE7-A825-C3C3-0773-F66C360D179A}"/>
          </ac:picMkLst>
        </pc:picChg>
      </pc:sldChg>
      <pc:sldChg chg="delSp">
        <pc:chgData name="Alexis MARTIN" userId="ec32c3d9-5957-42d0-8757-996fd533d25b" providerId="ADAL" clId="{B76BE869-635B-4DC9-A437-AFDC8BC5A345}" dt="2026-09-07T09:41:06.025" v="1019" actId="478"/>
        <pc:sldMkLst>
          <pc:docMk/>
          <pc:sldMk cId="58600242" sldId="362"/>
        </pc:sldMkLst>
      </pc:sldChg>
      <pc:sldChg chg="addSp modSp mod">
        <pc:chgData name="Alexis MARTIN" userId="ec32c3d9-5957-42d0-8757-996fd533d25b" providerId="ADAL" clId="{B76BE869-635B-4DC9-A437-AFDC8BC5A345}" dt="2026-09-07T09:44:19.466" v="1059" actId="1035"/>
        <pc:sldMkLst>
          <pc:docMk/>
          <pc:sldMk cId="1065768845" sldId="370"/>
        </pc:sldMkLst>
        <pc:spChg chg="add mod">
          <ac:chgData name="Alexis MARTIN" userId="ec32c3d9-5957-42d0-8757-996fd533d25b" providerId="ADAL" clId="{B76BE869-635B-4DC9-A437-AFDC8BC5A345}" dt="2026-09-07T09:44:19.466" v="1059" actId="1035"/>
          <ac:spMkLst>
            <pc:docMk/>
            <pc:sldMk cId="1065768845" sldId="370"/>
            <ac:spMk id="2" creationId="{CC4898B7-84D2-906A-C083-84663FA9C42B}"/>
          </ac:spMkLst>
        </pc:spChg>
      </pc:sldChg>
      <pc:sldChg chg="modSp mod">
        <pc:chgData name="Alexis MARTIN" userId="ec32c3d9-5957-42d0-8757-996fd533d25b" providerId="ADAL" clId="{B76BE869-635B-4DC9-A437-AFDC8BC5A345}" dt="2026-09-07T09:41:29.328" v="1027" actId="20577"/>
        <pc:sldMkLst>
          <pc:docMk/>
          <pc:sldMk cId="571444179" sldId="400"/>
        </pc:sldMkLst>
        <pc:spChg chg="mod">
          <ac:chgData name="Alexis MARTIN" userId="ec32c3d9-5957-42d0-8757-996fd533d25b" providerId="ADAL" clId="{B76BE869-635B-4DC9-A437-AFDC8BC5A345}" dt="2026-09-07T09:41:29.328" v="1027" actId="20577"/>
          <ac:spMkLst>
            <pc:docMk/>
            <pc:sldMk cId="571444179" sldId="400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81097-CFD4-43AE-B2A8-707AE1F0BF0B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FFFE8-3228-45BE-80CB-3E5A136B58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779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v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798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5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3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8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86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80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29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emf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0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1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0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520.png"/><Relationship Id="rId4" Type="http://schemas.openxmlformats.org/officeDocument/2006/relationships/image" Target="../media/image5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70.emf"/><Relationship Id="rId4" Type="http://schemas.openxmlformats.org/officeDocument/2006/relationships/image" Target="../media/image69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73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3.emf"/><Relationship Id="rId2" Type="http://schemas.openxmlformats.org/officeDocument/2006/relationships/image" Target="../media/image81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82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emf"/><Relationship Id="rId4" Type="http://schemas.openxmlformats.org/officeDocument/2006/relationships/image" Target="../media/image92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emf"/><Relationship Id="rId4" Type="http://schemas.openxmlformats.org/officeDocument/2006/relationships/image" Target="../media/image92.w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70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7.bin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0.png"/><Relationship Id="rId3" Type="http://schemas.openxmlformats.org/officeDocument/2006/relationships/image" Target="../media/image101.png"/><Relationship Id="rId7" Type="http://schemas.openxmlformats.org/officeDocument/2006/relationships/image" Target="../media/image105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40.png"/><Relationship Id="rId5" Type="http://schemas.openxmlformats.org/officeDocument/2006/relationships/image" Target="../media/image1030.png"/><Relationship Id="rId4" Type="http://schemas.openxmlformats.org/officeDocument/2006/relationships/image" Target="../media/image1020.png"/></Relationships>
</file>

<file path=ppt/slides/_rels/slide1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png"/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12" Type="http://schemas.openxmlformats.org/officeDocument/2006/relationships/image" Target="../media/image112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020.png"/><Relationship Id="rId5" Type="http://schemas.openxmlformats.org/officeDocument/2006/relationships/image" Target="../media/image111.wmf"/><Relationship Id="rId15" Type="http://schemas.openxmlformats.org/officeDocument/2006/relationships/image" Target="../media/image115.png"/><Relationship Id="rId10" Type="http://schemas.openxmlformats.org/officeDocument/2006/relationships/image" Target="../media/image111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10.png"/><Relationship Id="rId14" Type="http://schemas.openxmlformats.org/officeDocument/2006/relationships/image" Target="../media/image114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13.bin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oleObject" Target="../embeddings/oleObject15.bin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15.wmf"/><Relationship Id="rId16" Type="http://schemas.openxmlformats.org/officeDocument/2006/relationships/image" Target="../media/image117.w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4.png"/><Relationship Id="rId11" Type="http://schemas.openxmlformats.org/officeDocument/2006/relationships/oleObject" Target="../embeddings/oleObject14.bin"/><Relationship Id="rId5" Type="http://schemas.openxmlformats.org/officeDocument/2006/relationships/image" Target="../media/image123.png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16.w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7" Type="http://schemas.openxmlformats.org/officeDocument/2006/relationships/image" Target="../media/image101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3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21.bin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30.wmf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4.png"/><Relationship Id="rId7" Type="http://schemas.openxmlformats.org/officeDocument/2006/relationships/image" Target="../media/image136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3.emf"/><Relationship Id="rId5" Type="http://schemas.openxmlformats.org/officeDocument/2006/relationships/image" Target="../media/image132.emf"/><Relationship Id="rId4" Type="http://schemas.openxmlformats.org/officeDocument/2006/relationships/image" Target="../media/image135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0.png"/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42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1.png"/><Relationship Id="rId5" Type="http://schemas.openxmlformats.org/officeDocument/2006/relationships/image" Target="../media/image1400.png"/><Relationship Id="rId4" Type="http://schemas.openxmlformats.org/officeDocument/2006/relationships/image" Target="../media/image139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1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0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42.wmf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42.wmf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43.wmf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6.wmf"/><Relationship Id="rId4" Type="http://schemas.openxmlformats.org/officeDocument/2006/relationships/oleObject" Target="../embeddings/oleObject24.bin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151.png"/><Relationship Id="rId7" Type="http://schemas.openxmlformats.org/officeDocument/2006/relationships/image" Target="../media/image152.wmf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154.wmf"/><Relationship Id="rId5" Type="http://schemas.openxmlformats.org/officeDocument/2006/relationships/image" Target="../media/image145.e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53.wmf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5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wmf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eg"/><Relationship Id="rId2" Type="http://schemas.openxmlformats.org/officeDocument/2006/relationships/image" Target="../media/image159.wmf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01462" y="3063875"/>
            <a:ext cx="9290538" cy="221456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3759229" y="3306355"/>
            <a:ext cx="5572713" cy="1103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US" altLang="fr-FR" sz="3200" b="1" dirty="0">
                <a:solidFill>
                  <a:prstClr val="white"/>
                </a:solidFill>
                <a:latin typeface="Myriad Pro" pitchFamily="125" charset="0"/>
              </a:rPr>
              <a:t>Power Electronics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759229" y="4444291"/>
            <a:ext cx="5572713" cy="432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Aft>
                <a:spcPct val="0"/>
              </a:spcAft>
            </a:pPr>
            <a:r>
              <a:rPr lang="en-US" altLang="fr-FR" sz="2400" dirty="0">
                <a:solidFill>
                  <a:prstClr val="white"/>
                </a:solidFill>
                <a:latin typeface="Myriad Pro" pitchFamily="125" charset="0"/>
              </a:rPr>
              <a:t>alexis.martin@ensea.fr</a:t>
            </a:r>
          </a:p>
          <a:p>
            <a:pPr algn="l" fontAlgn="base">
              <a:spcAft>
                <a:spcPct val="0"/>
              </a:spcAft>
            </a:pPr>
            <a:r>
              <a:rPr lang="en-US" altLang="fr-FR" sz="2400" dirty="0">
                <a:solidFill>
                  <a:prstClr val="white"/>
                </a:solidFill>
                <a:latin typeface="Myriad Pro" pitchFamily="125" charset="0"/>
              </a:rPr>
              <a:t>Desk D216</a:t>
            </a:r>
          </a:p>
        </p:txBody>
      </p:sp>
      <p:pic>
        <p:nvPicPr>
          <p:cNvPr id="7" name="Image 6" descr="Logo ENSEA 2021 quadri.psd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267" y="635245"/>
            <a:ext cx="160972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161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ZoneTexte 13"/>
          <p:cNvSpPr txBox="1"/>
          <p:nvPr/>
        </p:nvSpPr>
        <p:spPr>
          <a:xfrm>
            <a:off x="2110672" y="1114860"/>
            <a:ext cx="808461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 isolated choppers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 conversion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Buck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Boost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Closed loop chopper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Reversible choppers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Half bridge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 – bridge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Inverter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Energy storage based chopper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Buck-boost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Cuck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Isolated power supplies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PFC</a:t>
            </a:r>
            <a:endParaRPr lang="fr-FR" dirty="0"/>
          </a:p>
        </p:txBody>
      </p:sp>
      <p:sp>
        <p:nvSpPr>
          <p:cNvPr id="14" name="Sous-titre 2"/>
          <p:cNvSpPr txBox="1">
            <a:spLocks/>
          </p:cNvSpPr>
          <p:nvPr/>
        </p:nvSpPr>
        <p:spPr>
          <a:xfrm>
            <a:off x="230707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Layout</a:t>
            </a:r>
            <a:endParaRPr lang="fr-FR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248250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ZoneTexte 1"/>
          <p:cNvSpPr txBox="1"/>
          <p:nvPr/>
        </p:nvSpPr>
        <p:spPr>
          <a:xfrm>
            <a:off x="2253802" y="1337540"/>
            <a:ext cx="78075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fr-FR" b="1" dirty="0"/>
              <a:t>Lesson : 8 x 2h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fr-FR" b="1" dirty="0"/>
              <a:t>Tutorials : 9 x 2h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fr-FR" b="1" dirty="0"/>
              <a:t>Labs : 4 x 4h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fr-F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fr-FR" b="1" dirty="0"/>
              <a:t>Buck chopper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fr-F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fr-FR" b="1" dirty="0"/>
              <a:t>Reversible chopper for DC motor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fr-F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fr-FR" b="1" dirty="0"/>
              <a:t>Switch mode power supply </a:t>
            </a:r>
            <a:r>
              <a:rPr lang="en-US" altLang="fr-FR" b="1" dirty="0" err="1"/>
              <a:t>Flyback</a:t>
            </a:r>
            <a:endParaRPr lang="en-US" altLang="fr-F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fr-F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fr-FR" b="1" dirty="0"/>
              <a:t>Switch mode power supply Forward</a:t>
            </a:r>
          </a:p>
          <a:p>
            <a:endParaRPr lang="en-US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fr-FR" b="1" dirty="0"/>
              <a:t>Marks : Final exam - Labs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Sous-titre 2"/>
          <p:cNvSpPr txBox="1">
            <a:spLocks/>
          </p:cNvSpPr>
          <p:nvPr/>
        </p:nvSpPr>
        <p:spPr>
          <a:xfrm>
            <a:off x="230707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fr-FR" sz="2000" dirty="0">
                <a:solidFill>
                  <a:srgbClr val="9E003B"/>
                </a:solidFill>
                <a:latin typeface="Myriad Pro"/>
                <a:cs typeface="Myriad Pro"/>
              </a:rPr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420164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ZoneTexte 1"/>
          <p:cNvSpPr txBox="1"/>
          <p:nvPr/>
        </p:nvSpPr>
        <p:spPr>
          <a:xfrm>
            <a:off x="2307075" y="1923190"/>
            <a:ext cx="93813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fr-FR" b="1" dirty="0"/>
              <a:t>Kirchhoff's circuit laws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fr-FR" b="1" dirty="0"/>
              <a:t>Average value of a signal, integral calculus, RMS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fr-FR" b="1" dirty="0"/>
              <a:t>AC and DC real power, power factor, complex representation, phasor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altLang="fr-FR" b="1" dirty="0">
                <a:solidFill>
                  <a:schemeClr val="bg2">
                    <a:lumMod val="75000"/>
                  </a:schemeClr>
                </a:solidFill>
              </a:rPr>
              <a:t>Transformers (magnetic field, flux)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altLang="fr-FR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altLang="fr-FR" b="1" dirty="0"/>
              <a:t>Linear control (Laplace transform, Bode diagram, gain/phase margin, </a:t>
            </a:r>
            <a:r>
              <a:rPr lang="en-CA" altLang="fr-FR" sz="1400" b="1" dirty="0"/>
              <a:t>PI controller</a:t>
            </a:r>
            <a:r>
              <a:rPr lang="en-CA" altLang="fr-FR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30707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Prerequisites</a:t>
            </a:r>
          </a:p>
        </p:txBody>
      </p:sp>
    </p:spTree>
    <p:extLst>
      <p:ext uri="{BB962C8B-B14F-4D97-AF65-F5344CB8AC3E}">
        <p14:creationId xmlns:p14="http://schemas.microsoft.com/office/powerpoint/2010/main" val="104320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Introduction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995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Energy conversion: principles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835" y="1939956"/>
            <a:ext cx="7859750" cy="3480417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19776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4" descr="http://www.astrosurf.com/luxorion/Physique/robot-insecte-harva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293" y="1384973"/>
            <a:ext cx="378142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 descr="281296-154464-jpg_168483_434x2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455" y="3616998"/>
            <a:ext cx="413385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skywatcher_newt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243" y="1169073"/>
            <a:ext cx="26193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oneTexte 9"/>
          <p:cNvSpPr txBox="1">
            <a:spLocks noChangeArrowheads="1"/>
          </p:cNvSpPr>
          <p:nvPr/>
        </p:nvSpPr>
        <p:spPr>
          <a:xfrm>
            <a:off x="9322668" y="4840960"/>
            <a:ext cx="1368425" cy="647700"/>
          </a:xfrm>
          <a:prstGeom prst="rect">
            <a:avLst/>
          </a:prstGeom>
          <a:noFill/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fr-FR" altLang="fr-FR" sz="2400" b="1"/>
              <a:t>1-100 W</a:t>
            </a:r>
            <a:endParaRPr lang="fr-FR" altLang="fr-FR" sz="2400" b="1" dirty="0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Micro-mechanisms</a:t>
            </a:r>
          </a:p>
        </p:txBody>
      </p:sp>
      <p:cxnSp>
        <p:nvCxnSpPr>
          <p:cNvPr id="13" name="Connecteur droit 1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97258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Use : automatisms</a:t>
            </a:r>
          </a:p>
        </p:txBody>
      </p:sp>
      <p:sp>
        <p:nvSpPr>
          <p:cNvPr id="13" name="ZoneTexte 12"/>
          <p:cNvSpPr txBox="1">
            <a:spLocks noChangeArrowheads="1"/>
          </p:cNvSpPr>
          <p:nvPr/>
        </p:nvSpPr>
        <p:spPr>
          <a:xfrm>
            <a:off x="2641097" y="4721663"/>
            <a:ext cx="2592388" cy="863600"/>
          </a:xfrm>
          <a:prstGeom prst="rect">
            <a:avLst/>
          </a:prstGeom>
          <a:noFill/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fr-FR" altLang="fr-FR" sz="2400" b="1" dirty="0"/>
              <a:t>0,1 à 10 kW</a:t>
            </a:r>
          </a:p>
        </p:txBody>
      </p:sp>
      <p:pic>
        <p:nvPicPr>
          <p:cNvPr id="14" name="Picture 4" descr="la-chaine-de-fabrication-de-la-ds4-a-mulhouse-apres-la-fermeture-d-aulnay-le-site-alsacien-pour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891" y="1346079"/>
            <a:ext cx="4470400" cy="25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 descr="ascenseur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104" y="1130179"/>
            <a:ext cx="3119437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6" descr="Robo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816" y="3435229"/>
            <a:ext cx="3678238" cy="277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Connecteur droit 1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29238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Use : rail traction</a:t>
            </a:r>
          </a:p>
        </p:txBody>
      </p:sp>
      <p:sp>
        <p:nvSpPr>
          <p:cNvPr id="6" name="ZoneTexte 5"/>
          <p:cNvSpPr txBox="1">
            <a:spLocks noChangeArrowheads="1"/>
          </p:cNvSpPr>
          <p:nvPr/>
        </p:nvSpPr>
        <p:spPr>
          <a:xfrm>
            <a:off x="9407204" y="2548804"/>
            <a:ext cx="1692275" cy="792162"/>
          </a:xfrm>
          <a:prstGeom prst="rect">
            <a:avLst/>
          </a:prstGeom>
          <a:noFill/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fr-FR" altLang="fr-FR" sz="2400" b="1" dirty="0">
                <a:latin typeface="Times New Roman" panose="02020603050405020304" pitchFamily="18" charset="0"/>
              </a:rPr>
              <a:t>100 kW</a:t>
            </a:r>
          </a:p>
        </p:txBody>
      </p:sp>
      <p:pic>
        <p:nvPicPr>
          <p:cNvPr id="7" name="Picture 7" descr="Tramway de Par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467" y="1324841"/>
            <a:ext cx="59531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914769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High speed rail traction</a:t>
            </a:r>
          </a:p>
        </p:txBody>
      </p:sp>
      <p:pic>
        <p:nvPicPr>
          <p:cNvPr id="6" name="Picture 5" descr="premier-tgv-1981-5013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353" y="1769919"/>
            <a:ext cx="51435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6"/>
          <p:cNvSpPr txBox="1">
            <a:spLocks noChangeArrowheads="1"/>
          </p:cNvSpPr>
          <p:nvPr/>
        </p:nvSpPr>
        <p:spPr>
          <a:xfrm>
            <a:off x="8858828" y="2128694"/>
            <a:ext cx="1692275" cy="792162"/>
          </a:xfrm>
          <a:prstGeom prst="rect">
            <a:avLst/>
          </a:prstGeom>
          <a:noFill/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fr-FR" altLang="fr-FR" sz="2400" b="1" dirty="0"/>
              <a:t>10 MW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685488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>
          <a:xfrm>
            <a:off x="9842501" y="2821421"/>
            <a:ext cx="1692275" cy="792162"/>
          </a:xfrm>
          <a:prstGeom prst="rect">
            <a:avLst/>
          </a:prstGeom>
          <a:noFill/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fr-FR" altLang="fr-FR" sz="2400" b="1" dirty="0"/>
              <a:t>300 </a:t>
            </a:r>
            <a:r>
              <a:rPr lang="fr-FR" altLang="fr-FR" sz="2400" b="1" dirty="0" err="1"/>
              <a:t>MWc</a:t>
            </a:r>
            <a:endParaRPr lang="fr-FR" altLang="fr-FR" sz="2400" b="1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610" y="1371952"/>
            <a:ext cx="6724891" cy="4483261"/>
          </a:xfrm>
          <a:prstGeom prst="rect">
            <a:avLst/>
          </a:prstGeom>
        </p:spPr>
      </p:pic>
      <p:sp>
        <p:nvSpPr>
          <p:cNvPr id="13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Photovoltaic plant</a:t>
            </a:r>
          </a:p>
        </p:txBody>
      </p:sp>
    </p:spTree>
    <p:extLst>
      <p:ext uri="{BB962C8B-B14F-4D97-AF65-F5344CB8AC3E}">
        <p14:creationId xmlns:p14="http://schemas.microsoft.com/office/powerpoint/2010/main" val="212662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490561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«Chopper » function : a switching electronic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4441031" y="3681412"/>
            <a:ext cx="3743325" cy="863600"/>
          </a:xfrm>
          <a:prstGeom prst="rightArrow">
            <a:avLst>
              <a:gd name="adj1" fmla="val 50000"/>
              <a:gd name="adj2" fmla="val 108364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fr-FR" sz="1800" b="1" i="1" dirty="0"/>
              <a:t>Power transfer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3720306" y="4616450"/>
            <a:ext cx="4537075" cy="936625"/>
          </a:xfrm>
          <a:prstGeom prst="leftRightArrow">
            <a:avLst>
              <a:gd name="adj1" fmla="val 50000"/>
              <a:gd name="adj2" fmla="val 96881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fr-FR" sz="1800" b="1" i="1" dirty="0"/>
              <a:t>Reversible transfer</a:t>
            </a:r>
          </a:p>
        </p:txBody>
      </p:sp>
      <p:sp>
        <p:nvSpPr>
          <p:cNvPr id="8" name="AutoShape 5"/>
          <p:cNvSpPr>
            <a:spLocks noChangeAspect="1" noChangeArrowheads="1" noTextEdit="1"/>
          </p:cNvSpPr>
          <p:nvPr/>
        </p:nvSpPr>
        <p:spPr bwMode="auto">
          <a:xfrm>
            <a:off x="3547268" y="1330325"/>
            <a:ext cx="5097463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548856" y="1330325"/>
            <a:ext cx="381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3574256" y="1889125"/>
            <a:ext cx="1435100" cy="1446212"/>
          </a:xfrm>
          <a:prstGeom prst="roundRect">
            <a:avLst>
              <a:gd name="adj" fmla="val 12389"/>
            </a:avLst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>
            <a:off x="3574256" y="1889125"/>
            <a:ext cx="1435100" cy="1446212"/>
          </a:xfrm>
          <a:prstGeom prst="roundRect">
            <a:avLst>
              <a:gd name="adj" fmla="val 13042"/>
            </a:avLst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5009356" y="3119437"/>
            <a:ext cx="21605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5009356" y="2105025"/>
            <a:ext cx="8651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6242843" y="2105025"/>
            <a:ext cx="9271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V="1">
            <a:off x="5874543" y="1889125"/>
            <a:ext cx="431800" cy="2159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7169943" y="1825625"/>
            <a:ext cx="1449388" cy="1433512"/>
          </a:xfrm>
          <a:prstGeom prst="roundRect">
            <a:avLst>
              <a:gd name="adj" fmla="val 12389"/>
            </a:avLst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" name="AutoShape 14"/>
          <p:cNvSpPr>
            <a:spLocks noChangeArrowheads="1"/>
          </p:cNvSpPr>
          <p:nvPr/>
        </p:nvSpPr>
        <p:spPr bwMode="auto">
          <a:xfrm>
            <a:off x="7169943" y="1825625"/>
            <a:ext cx="1449388" cy="1433512"/>
          </a:xfrm>
          <a:prstGeom prst="roundRect">
            <a:avLst>
              <a:gd name="adj" fmla="val 13042"/>
            </a:avLst>
          </a:prstGeom>
          <a:solidFill>
            <a:schemeClr val="accent1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0" name="Arc 15"/>
          <p:cNvSpPr>
            <a:spLocks/>
          </p:cNvSpPr>
          <p:nvPr/>
        </p:nvSpPr>
        <p:spPr bwMode="auto">
          <a:xfrm>
            <a:off x="6247606" y="1539875"/>
            <a:ext cx="433387" cy="361950"/>
          </a:xfrm>
          <a:custGeom>
            <a:avLst/>
            <a:gdLst>
              <a:gd name="T0" fmla="*/ 0 w 21708"/>
              <a:gd name="T1" fmla="*/ 0 h 21600"/>
              <a:gd name="T2" fmla="*/ 2147483646 w 21708"/>
              <a:gd name="T3" fmla="*/ 2147483646 h 21600"/>
              <a:gd name="T4" fmla="*/ 342507894 w 21708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08" h="21600" fill="none" extrusionOk="0">
                <a:moveTo>
                  <a:pt x="0" y="0"/>
                </a:moveTo>
                <a:cubicBezTo>
                  <a:pt x="36" y="0"/>
                  <a:pt x="72" y="-1"/>
                  <a:pt x="108" y="0"/>
                </a:cubicBezTo>
                <a:cubicBezTo>
                  <a:pt x="12037" y="0"/>
                  <a:pt x="21708" y="9670"/>
                  <a:pt x="21708" y="21600"/>
                </a:cubicBezTo>
              </a:path>
              <a:path w="21708" h="21600" stroke="0" extrusionOk="0">
                <a:moveTo>
                  <a:pt x="0" y="0"/>
                </a:moveTo>
                <a:cubicBezTo>
                  <a:pt x="36" y="0"/>
                  <a:pt x="72" y="-1"/>
                  <a:pt x="108" y="0"/>
                </a:cubicBezTo>
                <a:cubicBezTo>
                  <a:pt x="12037" y="0"/>
                  <a:pt x="21708" y="9670"/>
                  <a:pt x="21708" y="21600"/>
                </a:cubicBezTo>
                <a:lnTo>
                  <a:pt x="108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1" name="Freeform 16"/>
          <p:cNvSpPr>
            <a:spLocks/>
          </p:cNvSpPr>
          <p:nvPr/>
        </p:nvSpPr>
        <p:spPr bwMode="auto">
          <a:xfrm>
            <a:off x="6623843" y="1863725"/>
            <a:ext cx="88900" cy="177800"/>
          </a:xfrm>
          <a:custGeom>
            <a:avLst/>
            <a:gdLst>
              <a:gd name="T0" fmla="*/ 2147483646 w 56"/>
              <a:gd name="T1" fmla="*/ 2147483646 h 112"/>
              <a:gd name="T2" fmla="*/ 0 w 56"/>
              <a:gd name="T3" fmla="*/ 0 h 112"/>
              <a:gd name="T4" fmla="*/ 2147483646 w 56"/>
              <a:gd name="T5" fmla="*/ 0 h 112"/>
              <a:gd name="T6" fmla="*/ 2147483646 w 56"/>
              <a:gd name="T7" fmla="*/ 0 h 112"/>
              <a:gd name="T8" fmla="*/ 2147483646 w 56"/>
              <a:gd name="T9" fmla="*/ 2147483646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12">
                <a:moveTo>
                  <a:pt x="32" y="112"/>
                </a:moveTo>
                <a:lnTo>
                  <a:pt x="0" y="0"/>
                </a:lnTo>
                <a:lnTo>
                  <a:pt x="32" y="0"/>
                </a:lnTo>
                <a:lnTo>
                  <a:pt x="56" y="0"/>
                </a:lnTo>
                <a:lnTo>
                  <a:pt x="32" y="1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 flipV="1">
            <a:off x="6674643" y="1863725"/>
            <a:ext cx="0" cy="254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979443" y="1304925"/>
            <a:ext cx="279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  <a:latin typeface="Times" panose="02020603050405020304" pitchFamily="18" charset="0"/>
              </a:rPr>
              <a:t>,T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674643" y="1330325"/>
            <a:ext cx="192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3817349" y="2473325"/>
            <a:ext cx="9489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fr-FR" sz="1800" b="1" dirty="0"/>
              <a:t>DC source</a:t>
            </a:r>
            <a:endParaRPr lang="en-GB" altLang="fr-FR" sz="1800" dirty="0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7505107" y="2362200"/>
            <a:ext cx="7790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fr-FR" sz="1800" b="1" dirty="0"/>
              <a:t>DC Load</a:t>
            </a:r>
            <a:endParaRPr lang="en-GB" altLang="fr-FR" sz="1800" dirty="0"/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972840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Link power sources</a:t>
            </a:r>
          </a:p>
        </p:txBody>
      </p:sp>
      <p:sp>
        <p:nvSpPr>
          <p:cNvPr id="6" name="ZoneTexte 5"/>
          <p:cNvSpPr txBox="1">
            <a:spLocks noChangeArrowheads="1"/>
          </p:cNvSpPr>
          <p:nvPr/>
        </p:nvSpPr>
        <p:spPr>
          <a:xfrm>
            <a:off x="3089564" y="4102632"/>
            <a:ext cx="7536872" cy="13169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miter lim="800000"/>
            <a:headEnd/>
            <a:tailEnd/>
          </a:ln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US" altLang="fr-FR" sz="2400" b="1" i="1" dirty="0">
                <a:solidFill>
                  <a:srgbClr val="FF3300"/>
                </a:solidFill>
              </a:rPr>
              <a:t>Theorem</a:t>
            </a:r>
          </a:p>
          <a:p>
            <a:pPr algn="ctr">
              <a:buFontTx/>
              <a:buNone/>
            </a:pPr>
            <a:r>
              <a:rPr lang="en-US" altLang="fr-FR" sz="2400" b="1" i="1" dirty="0">
                <a:solidFill>
                  <a:srgbClr val="FF3300"/>
                </a:solidFill>
              </a:rPr>
              <a:t>Only two sources with different category</a:t>
            </a:r>
          </a:p>
          <a:p>
            <a:pPr algn="ctr">
              <a:buFontTx/>
              <a:buNone/>
            </a:pPr>
            <a:r>
              <a:rPr lang="en-US" altLang="fr-FR" sz="2400" b="1" i="1" dirty="0">
                <a:solidFill>
                  <a:srgbClr val="FF3300"/>
                </a:solidFill>
              </a:rPr>
              <a:t>can be directly connected.</a:t>
            </a:r>
            <a:endParaRPr lang="fr-FR" altLang="fr-FR" sz="2400" b="1" i="1" dirty="0">
              <a:solidFill>
                <a:srgbClr val="FF3300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859085" y="1466851"/>
            <a:ext cx="4391025" cy="2107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fr-FR" sz="2400" i="1" dirty="0">
                <a:solidFill>
                  <a:srgbClr val="0033CC"/>
                </a:solidFill>
              </a:rPr>
              <a:t>Voltage Source</a:t>
            </a:r>
          </a:p>
          <a:p>
            <a:pPr algn="ctr" eaLnBrk="1" hangingPunct="1">
              <a:buFontTx/>
              <a:buNone/>
            </a:pPr>
            <a:endParaRPr lang="en-US" altLang="fr-FR" sz="2400" i="1" dirty="0">
              <a:solidFill>
                <a:srgbClr val="0033CC"/>
              </a:solidFill>
            </a:endParaRPr>
          </a:p>
          <a:p>
            <a:pPr algn="ctr" eaLnBrk="1" hangingPunct="1">
              <a:buFontTx/>
              <a:buNone/>
            </a:pPr>
            <a:endParaRPr lang="en-US" altLang="fr-FR" sz="2400" i="1" dirty="0">
              <a:solidFill>
                <a:srgbClr val="0033CC"/>
              </a:solidFill>
            </a:endParaRPr>
          </a:p>
          <a:p>
            <a:pPr algn="ctr" eaLnBrk="1" hangingPunct="1">
              <a:buFontTx/>
              <a:buNone/>
            </a:pPr>
            <a:endParaRPr lang="en-US" altLang="fr-FR" sz="2400" i="1" dirty="0">
              <a:solidFill>
                <a:srgbClr val="0033CC"/>
              </a:solidFill>
            </a:endParaRPr>
          </a:p>
          <a:p>
            <a:pPr algn="ctr" eaLnBrk="1" hangingPunct="1">
              <a:buFontTx/>
              <a:buNone/>
            </a:pPr>
            <a:r>
              <a:rPr lang="en-US" altLang="fr-FR" sz="2400" i="1" dirty="0">
                <a:solidFill>
                  <a:srgbClr val="0033CC"/>
                </a:solidFill>
              </a:rPr>
              <a:t>Current Source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392193" y="1288257"/>
            <a:ext cx="2901734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fr-FR" sz="2800" i="1" dirty="0">
                <a:solidFill>
                  <a:srgbClr val="FF3300"/>
                </a:solidFill>
              </a:rPr>
              <a:t>Active</a:t>
            </a:r>
          </a:p>
          <a:p>
            <a:pPr algn="ctr" eaLnBrk="1" hangingPunct="1">
              <a:buFontTx/>
              <a:buNone/>
            </a:pPr>
            <a:r>
              <a:rPr lang="en-US" altLang="fr-FR" sz="2400" i="1" dirty="0">
                <a:solidFill>
                  <a:srgbClr val="0033CC"/>
                </a:solidFill>
              </a:rPr>
              <a:t>(Energy generator)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463631" y="2440782"/>
            <a:ext cx="2449512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fr-FR" sz="2800" i="1" dirty="0">
                <a:solidFill>
                  <a:srgbClr val="009900"/>
                </a:solidFill>
              </a:rPr>
              <a:t>Passive</a:t>
            </a:r>
          </a:p>
          <a:p>
            <a:pPr algn="ctr" eaLnBrk="1" hangingPunct="1">
              <a:buFontTx/>
              <a:buNone/>
            </a:pPr>
            <a:r>
              <a:rPr lang="en-US" altLang="fr-FR" sz="2400" i="1" dirty="0">
                <a:solidFill>
                  <a:srgbClr val="0033CC"/>
                </a:solidFill>
              </a:rPr>
              <a:t>(Energy receiver)</a:t>
            </a:r>
          </a:p>
        </p:txBody>
      </p:sp>
      <p:cxnSp>
        <p:nvCxnSpPr>
          <p:cNvPr id="13" name="Connecteur droit 1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898463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Non reversible chopper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3048438" y="1978458"/>
            <a:ext cx="431800" cy="431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2903975" y="1907020"/>
            <a:ext cx="0" cy="5746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592785" y="2483283"/>
            <a:ext cx="11049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FF3300"/>
                </a:solidFill>
              </a:rPr>
              <a:t>Voltage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FF3300"/>
                </a:solidFill>
              </a:rPr>
              <a:t>generator</a:t>
            </a:r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3048438" y="4786745"/>
            <a:ext cx="431800" cy="431800"/>
          </a:xfrm>
          <a:prstGeom prst="ellips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 flipV="1">
            <a:off x="3264338" y="4859770"/>
            <a:ext cx="0" cy="288925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307075" y="5304270"/>
            <a:ext cx="1872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009900"/>
                </a:solidFill>
              </a:rPr>
              <a:t>Current generator</a:t>
            </a:r>
          </a:p>
        </p:txBody>
      </p:sp>
      <p:grpSp>
        <p:nvGrpSpPr>
          <p:cNvPr id="15" name="Group 11"/>
          <p:cNvGrpSpPr>
            <a:grpSpLocks/>
          </p:cNvGrpSpPr>
          <p:nvPr/>
        </p:nvGrpSpPr>
        <p:grpSpPr bwMode="auto">
          <a:xfrm>
            <a:off x="7296602" y="4931190"/>
            <a:ext cx="1308103" cy="277811"/>
            <a:chOff x="3760" y="3283"/>
            <a:chExt cx="824" cy="175"/>
          </a:xfrm>
        </p:grpSpPr>
        <p:sp>
          <p:nvSpPr>
            <p:cNvPr id="40" name="Freeform 12"/>
            <p:cNvSpPr>
              <a:spLocks/>
            </p:cNvSpPr>
            <p:nvPr/>
          </p:nvSpPr>
          <p:spPr bwMode="auto">
            <a:xfrm>
              <a:off x="3925" y="3283"/>
              <a:ext cx="77" cy="87"/>
            </a:xfrm>
            <a:custGeom>
              <a:avLst/>
              <a:gdLst>
                <a:gd name="T0" fmla="*/ 0 w 77"/>
                <a:gd name="T1" fmla="*/ 87 h 87"/>
                <a:gd name="T2" fmla="*/ 0 w 77"/>
                <a:gd name="T3" fmla="*/ 68 h 87"/>
                <a:gd name="T4" fmla="*/ 9 w 77"/>
                <a:gd name="T5" fmla="*/ 39 h 87"/>
                <a:gd name="T6" fmla="*/ 19 w 77"/>
                <a:gd name="T7" fmla="*/ 19 h 87"/>
                <a:gd name="T8" fmla="*/ 39 w 77"/>
                <a:gd name="T9" fmla="*/ 9 h 87"/>
                <a:gd name="T10" fmla="*/ 68 w 77"/>
                <a:gd name="T11" fmla="*/ 0 h 87"/>
                <a:gd name="T12" fmla="*/ 77 w 77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7" h="87">
                  <a:moveTo>
                    <a:pt x="0" y="87"/>
                  </a:moveTo>
                  <a:lnTo>
                    <a:pt x="0" y="68"/>
                  </a:lnTo>
                  <a:lnTo>
                    <a:pt x="9" y="39"/>
                  </a:lnTo>
                  <a:lnTo>
                    <a:pt x="1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1" name="Freeform 13"/>
            <p:cNvSpPr>
              <a:spLocks/>
            </p:cNvSpPr>
            <p:nvPr/>
          </p:nvSpPr>
          <p:spPr bwMode="auto">
            <a:xfrm>
              <a:off x="3925" y="3370"/>
              <a:ext cx="29" cy="88"/>
            </a:xfrm>
            <a:custGeom>
              <a:avLst/>
              <a:gdLst>
                <a:gd name="T0" fmla="*/ 29 w 29"/>
                <a:gd name="T1" fmla="*/ 88 h 88"/>
                <a:gd name="T2" fmla="*/ 29 w 29"/>
                <a:gd name="T3" fmla="*/ 88 h 88"/>
                <a:gd name="T4" fmla="*/ 19 w 29"/>
                <a:gd name="T5" fmla="*/ 78 h 88"/>
                <a:gd name="T6" fmla="*/ 9 w 29"/>
                <a:gd name="T7" fmla="*/ 68 h 88"/>
                <a:gd name="T8" fmla="*/ 9 w 29"/>
                <a:gd name="T9" fmla="*/ 58 h 88"/>
                <a:gd name="T10" fmla="*/ 0 w 29"/>
                <a:gd name="T11" fmla="*/ 20 h 88"/>
                <a:gd name="T12" fmla="*/ 0 w 2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9" y="68"/>
                  </a:lnTo>
                  <a:lnTo>
                    <a:pt x="9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2" name="Freeform 14"/>
            <p:cNvSpPr>
              <a:spLocks/>
            </p:cNvSpPr>
            <p:nvPr/>
          </p:nvSpPr>
          <p:spPr bwMode="auto">
            <a:xfrm>
              <a:off x="3905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20 w 78"/>
                <a:gd name="T3" fmla="*/ 0 h 87"/>
                <a:gd name="T4" fmla="*/ 49 w 78"/>
                <a:gd name="T5" fmla="*/ 9 h 87"/>
                <a:gd name="T6" fmla="*/ 59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20" y="0"/>
                  </a:lnTo>
                  <a:lnTo>
                    <a:pt x="49" y="9"/>
                  </a:lnTo>
                  <a:lnTo>
                    <a:pt x="59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3" name="Freeform 15"/>
            <p:cNvSpPr>
              <a:spLocks/>
            </p:cNvSpPr>
            <p:nvPr/>
          </p:nvSpPr>
          <p:spPr bwMode="auto">
            <a:xfrm>
              <a:off x="3954" y="3370"/>
              <a:ext cx="29" cy="88"/>
            </a:xfrm>
            <a:custGeom>
              <a:avLst/>
              <a:gdLst>
                <a:gd name="T0" fmla="*/ 29 w 29"/>
                <a:gd name="T1" fmla="*/ 0 h 88"/>
                <a:gd name="T2" fmla="*/ 29 w 29"/>
                <a:gd name="T3" fmla="*/ 20 h 88"/>
                <a:gd name="T4" fmla="*/ 29 w 29"/>
                <a:gd name="T5" fmla="*/ 49 h 88"/>
                <a:gd name="T6" fmla="*/ 19 w 29"/>
                <a:gd name="T7" fmla="*/ 68 h 88"/>
                <a:gd name="T8" fmla="*/ 19 w 29"/>
                <a:gd name="T9" fmla="*/ 78 h 88"/>
                <a:gd name="T10" fmla="*/ 10 w 29"/>
                <a:gd name="T11" fmla="*/ 88 h 88"/>
                <a:gd name="T12" fmla="*/ 0 w 2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0"/>
                  </a:moveTo>
                  <a:lnTo>
                    <a:pt x="29" y="20"/>
                  </a:lnTo>
                  <a:lnTo>
                    <a:pt x="29" y="49"/>
                  </a:lnTo>
                  <a:lnTo>
                    <a:pt x="19" y="68"/>
                  </a:lnTo>
                  <a:lnTo>
                    <a:pt x="1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4" name="Freeform 16"/>
            <p:cNvSpPr>
              <a:spLocks/>
            </p:cNvSpPr>
            <p:nvPr/>
          </p:nvSpPr>
          <p:spPr bwMode="auto">
            <a:xfrm>
              <a:off x="4012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9 w 78"/>
                <a:gd name="T9" fmla="*/ 9 h 87"/>
                <a:gd name="T10" fmla="*/ 68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5" name="Freeform 17"/>
            <p:cNvSpPr>
              <a:spLocks/>
            </p:cNvSpPr>
            <p:nvPr/>
          </p:nvSpPr>
          <p:spPr bwMode="auto">
            <a:xfrm>
              <a:off x="4012" y="3370"/>
              <a:ext cx="29" cy="88"/>
            </a:xfrm>
            <a:custGeom>
              <a:avLst/>
              <a:gdLst>
                <a:gd name="T0" fmla="*/ 29 w 29"/>
                <a:gd name="T1" fmla="*/ 88 h 88"/>
                <a:gd name="T2" fmla="*/ 29 w 29"/>
                <a:gd name="T3" fmla="*/ 88 h 88"/>
                <a:gd name="T4" fmla="*/ 20 w 29"/>
                <a:gd name="T5" fmla="*/ 78 h 88"/>
                <a:gd name="T6" fmla="*/ 10 w 29"/>
                <a:gd name="T7" fmla="*/ 68 h 88"/>
                <a:gd name="T8" fmla="*/ 10 w 29"/>
                <a:gd name="T9" fmla="*/ 58 h 88"/>
                <a:gd name="T10" fmla="*/ 0 w 29"/>
                <a:gd name="T11" fmla="*/ 20 h 88"/>
                <a:gd name="T12" fmla="*/ 0 w 2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88"/>
                  </a:moveTo>
                  <a:lnTo>
                    <a:pt x="29" y="88"/>
                  </a:lnTo>
                  <a:lnTo>
                    <a:pt x="20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6" name="Freeform 18"/>
            <p:cNvSpPr>
              <a:spLocks/>
            </p:cNvSpPr>
            <p:nvPr/>
          </p:nvSpPr>
          <p:spPr bwMode="auto">
            <a:xfrm>
              <a:off x="3993" y="3283"/>
              <a:ext cx="87" cy="87"/>
            </a:xfrm>
            <a:custGeom>
              <a:avLst/>
              <a:gdLst>
                <a:gd name="T0" fmla="*/ 0 w 87"/>
                <a:gd name="T1" fmla="*/ 0 h 87"/>
                <a:gd name="T2" fmla="*/ 19 w 87"/>
                <a:gd name="T3" fmla="*/ 0 h 87"/>
                <a:gd name="T4" fmla="*/ 48 w 87"/>
                <a:gd name="T5" fmla="*/ 9 h 87"/>
                <a:gd name="T6" fmla="*/ 58 w 87"/>
                <a:gd name="T7" fmla="*/ 19 h 87"/>
                <a:gd name="T8" fmla="*/ 68 w 87"/>
                <a:gd name="T9" fmla="*/ 29 h 87"/>
                <a:gd name="T10" fmla="*/ 77 w 87"/>
                <a:gd name="T11" fmla="*/ 48 h 87"/>
                <a:gd name="T12" fmla="*/ 87 w 87"/>
                <a:gd name="T13" fmla="*/ 68 h 87"/>
                <a:gd name="T14" fmla="*/ 87 w 87"/>
                <a:gd name="T15" fmla="*/ 77 h 87"/>
                <a:gd name="T16" fmla="*/ 87 w 87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29"/>
                  </a:lnTo>
                  <a:lnTo>
                    <a:pt x="77" y="48"/>
                  </a:lnTo>
                  <a:lnTo>
                    <a:pt x="87" y="68"/>
                  </a:lnTo>
                  <a:lnTo>
                    <a:pt x="87" y="77"/>
                  </a:lnTo>
                  <a:lnTo>
                    <a:pt x="8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7" name="Freeform 19"/>
            <p:cNvSpPr>
              <a:spLocks/>
            </p:cNvSpPr>
            <p:nvPr/>
          </p:nvSpPr>
          <p:spPr bwMode="auto">
            <a:xfrm>
              <a:off x="4041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0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0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8" name="Freeform 20"/>
            <p:cNvSpPr>
              <a:spLocks/>
            </p:cNvSpPr>
            <p:nvPr/>
          </p:nvSpPr>
          <p:spPr bwMode="auto">
            <a:xfrm>
              <a:off x="4099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9 w 78"/>
                <a:gd name="T9" fmla="*/ 9 h 87"/>
                <a:gd name="T10" fmla="*/ 68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49" name="Freeform 21"/>
            <p:cNvSpPr>
              <a:spLocks/>
            </p:cNvSpPr>
            <p:nvPr/>
          </p:nvSpPr>
          <p:spPr bwMode="auto">
            <a:xfrm>
              <a:off x="4099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30 w 39"/>
                <a:gd name="T3" fmla="*/ 88 h 88"/>
                <a:gd name="T4" fmla="*/ 20 w 39"/>
                <a:gd name="T5" fmla="*/ 78 h 88"/>
                <a:gd name="T6" fmla="*/ 1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30" y="88"/>
                  </a:lnTo>
                  <a:lnTo>
                    <a:pt x="20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0" name="Freeform 22"/>
            <p:cNvSpPr>
              <a:spLocks/>
            </p:cNvSpPr>
            <p:nvPr/>
          </p:nvSpPr>
          <p:spPr bwMode="auto">
            <a:xfrm>
              <a:off x="4080" y="3283"/>
              <a:ext cx="87" cy="87"/>
            </a:xfrm>
            <a:custGeom>
              <a:avLst/>
              <a:gdLst>
                <a:gd name="T0" fmla="*/ 0 w 87"/>
                <a:gd name="T1" fmla="*/ 0 h 87"/>
                <a:gd name="T2" fmla="*/ 19 w 87"/>
                <a:gd name="T3" fmla="*/ 0 h 87"/>
                <a:gd name="T4" fmla="*/ 49 w 87"/>
                <a:gd name="T5" fmla="*/ 9 h 87"/>
                <a:gd name="T6" fmla="*/ 58 w 87"/>
                <a:gd name="T7" fmla="*/ 19 h 87"/>
                <a:gd name="T8" fmla="*/ 68 w 87"/>
                <a:gd name="T9" fmla="*/ 29 h 87"/>
                <a:gd name="T10" fmla="*/ 78 w 87"/>
                <a:gd name="T11" fmla="*/ 48 h 87"/>
                <a:gd name="T12" fmla="*/ 87 w 87"/>
                <a:gd name="T13" fmla="*/ 68 h 87"/>
                <a:gd name="T14" fmla="*/ 87 w 87"/>
                <a:gd name="T15" fmla="*/ 77 h 87"/>
                <a:gd name="T16" fmla="*/ 87 w 87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0"/>
                  </a:moveTo>
                  <a:lnTo>
                    <a:pt x="19" y="0"/>
                  </a:lnTo>
                  <a:lnTo>
                    <a:pt x="49" y="9"/>
                  </a:lnTo>
                  <a:lnTo>
                    <a:pt x="58" y="19"/>
                  </a:lnTo>
                  <a:lnTo>
                    <a:pt x="68" y="29"/>
                  </a:lnTo>
                  <a:lnTo>
                    <a:pt x="78" y="48"/>
                  </a:lnTo>
                  <a:lnTo>
                    <a:pt x="87" y="68"/>
                  </a:lnTo>
                  <a:lnTo>
                    <a:pt x="87" y="77"/>
                  </a:lnTo>
                  <a:lnTo>
                    <a:pt x="8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1" name="Freeform 23"/>
            <p:cNvSpPr>
              <a:spLocks/>
            </p:cNvSpPr>
            <p:nvPr/>
          </p:nvSpPr>
          <p:spPr bwMode="auto">
            <a:xfrm>
              <a:off x="4129" y="3370"/>
              <a:ext cx="38" cy="88"/>
            </a:xfrm>
            <a:custGeom>
              <a:avLst/>
              <a:gdLst>
                <a:gd name="T0" fmla="*/ 38 w 38"/>
                <a:gd name="T1" fmla="*/ 0 h 88"/>
                <a:gd name="T2" fmla="*/ 38 w 38"/>
                <a:gd name="T3" fmla="*/ 20 h 88"/>
                <a:gd name="T4" fmla="*/ 38 w 38"/>
                <a:gd name="T5" fmla="*/ 49 h 88"/>
                <a:gd name="T6" fmla="*/ 29 w 38"/>
                <a:gd name="T7" fmla="*/ 68 h 88"/>
                <a:gd name="T8" fmla="*/ 29 w 38"/>
                <a:gd name="T9" fmla="*/ 78 h 88"/>
                <a:gd name="T10" fmla="*/ 9 w 38"/>
                <a:gd name="T11" fmla="*/ 88 h 88"/>
                <a:gd name="T12" fmla="*/ 0 w 38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88">
                  <a:moveTo>
                    <a:pt x="38" y="0"/>
                  </a:moveTo>
                  <a:lnTo>
                    <a:pt x="38" y="20"/>
                  </a:lnTo>
                  <a:lnTo>
                    <a:pt x="38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9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2" name="Freeform 24"/>
            <p:cNvSpPr>
              <a:spLocks/>
            </p:cNvSpPr>
            <p:nvPr/>
          </p:nvSpPr>
          <p:spPr bwMode="auto">
            <a:xfrm>
              <a:off x="4187" y="3283"/>
              <a:ext cx="77" cy="87"/>
            </a:xfrm>
            <a:custGeom>
              <a:avLst/>
              <a:gdLst>
                <a:gd name="T0" fmla="*/ 0 w 77"/>
                <a:gd name="T1" fmla="*/ 87 h 87"/>
                <a:gd name="T2" fmla="*/ 0 w 77"/>
                <a:gd name="T3" fmla="*/ 77 h 87"/>
                <a:gd name="T4" fmla="*/ 0 w 77"/>
                <a:gd name="T5" fmla="*/ 68 h 87"/>
                <a:gd name="T6" fmla="*/ 9 w 77"/>
                <a:gd name="T7" fmla="*/ 48 h 87"/>
                <a:gd name="T8" fmla="*/ 19 w 77"/>
                <a:gd name="T9" fmla="*/ 29 h 87"/>
                <a:gd name="T10" fmla="*/ 29 w 77"/>
                <a:gd name="T11" fmla="*/ 19 h 87"/>
                <a:gd name="T12" fmla="*/ 39 w 77"/>
                <a:gd name="T13" fmla="*/ 9 h 87"/>
                <a:gd name="T14" fmla="*/ 68 w 77"/>
                <a:gd name="T15" fmla="*/ 0 h 87"/>
                <a:gd name="T16" fmla="*/ 77 w 77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9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3" name="Freeform 25"/>
            <p:cNvSpPr>
              <a:spLocks/>
            </p:cNvSpPr>
            <p:nvPr/>
          </p:nvSpPr>
          <p:spPr bwMode="auto">
            <a:xfrm>
              <a:off x="4187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29 w 39"/>
                <a:gd name="T3" fmla="*/ 88 h 88"/>
                <a:gd name="T4" fmla="*/ 19 w 39"/>
                <a:gd name="T5" fmla="*/ 78 h 88"/>
                <a:gd name="T6" fmla="*/ 9 w 39"/>
                <a:gd name="T7" fmla="*/ 68 h 88"/>
                <a:gd name="T8" fmla="*/ 9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9" y="68"/>
                  </a:lnTo>
                  <a:lnTo>
                    <a:pt x="9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4" name="Freeform 26"/>
            <p:cNvSpPr>
              <a:spLocks/>
            </p:cNvSpPr>
            <p:nvPr/>
          </p:nvSpPr>
          <p:spPr bwMode="auto">
            <a:xfrm>
              <a:off x="4177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19 w 78"/>
                <a:gd name="T3" fmla="*/ 0 h 87"/>
                <a:gd name="T4" fmla="*/ 39 w 78"/>
                <a:gd name="T5" fmla="*/ 9 h 87"/>
                <a:gd name="T6" fmla="*/ 49 w 78"/>
                <a:gd name="T7" fmla="*/ 19 h 87"/>
                <a:gd name="T8" fmla="*/ 58 w 78"/>
                <a:gd name="T9" fmla="*/ 29 h 87"/>
                <a:gd name="T10" fmla="*/ 68 w 78"/>
                <a:gd name="T11" fmla="*/ 48 h 87"/>
                <a:gd name="T12" fmla="*/ 78 w 78"/>
                <a:gd name="T13" fmla="*/ 68 h 87"/>
                <a:gd name="T14" fmla="*/ 78 w 78"/>
                <a:gd name="T15" fmla="*/ 77 h 87"/>
                <a:gd name="T16" fmla="*/ 78 w 78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19" y="0"/>
                  </a:lnTo>
                  <a:lnTo>
                    <a:pt x="39" y="9"/>
                  </a:lnTo>
                  <a:lnTo>
                    <a:pt x="49" y="19"/>
                  </a:lnTo>
                  <a:lnTo>
                    <a:pt x="58" y="29"/>
                  </a:lnTo>
                  <a:lnTo>
                    <a:pt x="68" y="48"/>
                  </a:lnTo>
                  <a:lnTo>
                    <a:pt x="78" y="68"/>
                  </a:lnTo>
                  <a:lnTo>
                    <a:pt x="78" y="77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5" name="Freeform 27"/>
            <p:cNvSpPr>
              <a:spLocks/>
            </p:cNvSpPr>
            <p:nvPr/>
          </p:nvSpPr>
          <p:spPr bwMode="auto">
            <a:xfrm>
              <a:off x="4216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9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6" name="Freeform 28"/>
            <p:cNvSpPr>
              <a:spLocks/>
            </p:cNvSpPr>
            <p:nvPr/>
          </p:nvSpPr>
          <p:spPr bwMode="auto">
            <a:xfrm>
              <a:off x="4274" y="3283"/>
              <a:ext cx="87" cy="87"/>
            </a:xfrm>
            <a:custGeom>
              <a:avLst/>
              <a:gdLst>
                <a:gd name="T0" fmla="*/ 0 w 87"/>
                <a:gd name="T1" fmla="*/ 87 h 87"/>
                <a:gd name="T2" fmla="*/ 0 w 87"/>
                <a:gd name="T3" fmla="*/ 77 h 87"/>
                <a:gd name="T4" fmla="*/ 0 w 87"/>
                <a:gd name="T5" fmla="*/ 68 h 87"/>
                <a:gd name="T6" fmla="*/ 10 w 87"/>
                <a:gd name="T7" fmla="*/ 48 h 87"/>
                <a:gd name="T8" fmla="*/ 19 w 87"/>
                <a:gd name="T9" fmla="*/ 29 h 87"/>
                <a:gd name="T10" fmla="*/ 29 w 87"/>
                <a:gd name="T11" fmla="*/ 19 h 87"/>
                <a:gd name="T12" fmla="*/ 39 w 87"/>
                <a:gd name="T13" fmla="*/ 9 h 87"/>
                <a:gd name="T14" fmla="*/ 68 w 87"/>
                <a:gd name="T15" fmla="*/ 0 h 87"/>
                <a:gd name="T16" fmla="*/ 87 w 87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10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8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7" name="Freeform 29"/>
            <p:cNvSpPr>
              <a:spLocks/>
            </p:cNvSpPr>
            <p:nvPr/>
          </p:nvSpPr>
          <p:spPr bwMode="auto">
            <a:xfrm>
              <a:off x="4274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29 w 39"/>
                <a:gd name="T3" fmla="*/ 88 h 88"/>
                <a:gd name="T4" fmla="*/ 19 w 39"/>
                <a:gd name="T5" fmla="*/ 78 h 88"/>
                <a:gd name="T6" fmla="*/ 1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8" name="Freeform 30"/>
            <p:cNvSpPr>
              <a:spLocks/>
            </p:cNvSpPr>
            <p:nvPr/>
          </p:nvSpPr>
          <p:spPr bwMode="auto">
            <a:xfrm>
              <a:off x="4264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20 w 78"/>
                <a:gd name="T3" fmla="*/ 0 h 87"/>
                <a:gd name="T4" fmla="*/ 49 w 78"/>
                <a:gd name="T5" fmla="*/ 9 h 87"/>
                <a:gd name="T6" fmla="*/ 59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20" y="0"/>
                  </a:lnTo>
                  <a:lnTo>
                    <a:pt x="49" y="9"/>
                  </a:lnTo>
                  <a:lnTo>
                    <a:pt x="59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59" name="Freeform 31"/>
            <p:cNvSpPr>
              <a:spLocks/>
            </p:cNvSpPr>
            <p:nvPr/>
          </p:nvSpPr>
          <p:spPr bwMode="auto">
            <a:xfrm>
              <a:off x="4303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9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60" name="Freeform 32"/>
            <p:cNvSpPr>
              <a:spLocks/>
            </p:cNvSpPr>
            <p:nvPr/>
          </p:nvSpPr>
          <p:spPr bwMode="auto">
            <a:xfrm>
              <a:off x="4361" y="3283"/>
              <a:ext cx="88" cy="87"/>
            </a:xfrm>
            <a:custGeom>
              <a:avLst/>
              <a:gdLst>
                <a:gd name="T0" fmla="*/ 0 w 88"/>
                <a:gd name="T1" fmla="*/ 87 h 87"/>
                <a:gd name="T2" fmla="*/ 0 w 88"/>
                <a:gd name="T3" fmla="*/ 77 h 87"/>
                <a:gd name="T4" fmla="*/ 0 w 88"/>
                <a:gd name="T5" fmla="*/ 68 h 87"/>
                <a:gd name="T6" fmla="*/ 10 w 88"/>
                <a:gd name="T7" fmla="*/ 48 h 87"/>
                <a:gd name="T8" fmla="*/ 20 w 88"/>
                <a:gd name="T9" fmla="*/ 29 h 87"/>
                <a:gd name="T10" fmla="*/ 29 w 88"/>
                <a:gd name="T11" fmla="*/ 19 h 87"/>
                <a:gd name="T12" fmla="*/ 39 w 88"/>
                <a:gd name="T13" fmla="*/ 9 h 87"/>
                <a:gd name="T14" fmla="*/ 68 w 88"/>
                <a:gd name="T15" fmla="*/ 0 h 87"/>
                <a:gd name="T16" fmla="*/ 88 w 88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8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10" y="48"/>
                  </a:lnTo>
                  <a:lnTo>
                    <a:pt x="20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8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61" name="Freeform 33"/>
            <p:cNvSpPr>
              <a:spLocks/>
            </p:cNvSpPr>
            <p:nvPr/>
          </p:nvSpPr>
          <p:spPr bwMode="auto">
            <a:xfrm>
              <a:off x="4361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39 w 39"/>
                <a:gd name="T3" fmla="*/ 88 h 88"/>
                <a:gd name="T4" fmla="*/ 29 w 39"/>
                <a:gd name="T5" fmla="*/ 78 h 88"/>
                <a:gd name="T6" fmla="*/ 2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39" y="88"/>
                  </a:lnTo>
                  <a:lnTo>
                    <a:pt x="29" y="78"/>
                  </a:lnTo>
                  <a:lnTo>
                    <a:pt x="2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62" name="Freeform 34"/>
            <p:cNvSpPr>
              <a:spLocks/>
            </p:cNvSpPr>
            <p:nvPr/>
          </p:nvSpPr>
          <p:spPr bwMode="auto">
            <a:xfrm>
              <a:off x="4352" y="3283"/>
              <a:ext cx="77" cy="87"/>
            </a:xfrm>
            <a:custGeom>
              <a:avLst/>
              <a:gdLst>
                <a:gd name="T0" fmla="*/ 0 w 77"/>
                <a:gd name="T1" fmla="*/ 0 h 87"/>
                <a:gd name="T2" fmla="*/ 19 w 77"/>
                <a:gd name="T3" fmla="*/ 0 h 87"/>
                <a:gd name="T4" fmla="*/ 48 w 77"/>
                <a:gd name="T5" fmla="*/ 9 h 87"/>
                <a:gd name="T6" fmla="*/ 58 w 77"/>
                <a:gd name="T7" fmla="*/ 19 h 87"/>
                <a:gd name="T8" fmla="*/ 68 w 77"/>
                <a:gd name="T9" fmla="*/ 39 h 87"/>
                <a:gd name="T10" fmla="*/ 77 w 77"/>
                <a:gd name="T11" fmla="*/ 68 h 87"/>
                <a:gd name="T12" fmla="*/ 77 w 77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7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39"/>
                  </a:lnTo>
                  <a:lnTo>
                    <a:pt x="77" y="68"/>
                  </a:lnTo>
                  <a:lnTo>
                    <a:pt x="7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63" name="Freeform 35"/>
            <p:cNvSpPr>
              <a:spLocks/>
            </p:cNvSpPr>
            <p:nvPr/>
          </p:nvSpPr>
          <p:spPr bwMode="auto">
            <a:xfrm>
              <a:off x="4400" y="3370"/>
              <a:ext cx="29" cy="88"/>
            </a:xfrm>
            <a:custGeom>
              <a:avLst/>
              <a:gdLst>
                <a:gd name="T0" fmla="*/ 29 w 29"/>
                <a:gd name="T1" fmla="*/ 0 h 88"/>
                <a:gd name="T2" fmla="*/ 29 w 29"/>
                <a:gd name="T3" fmla="*/ 20 h 88"/>
                <a:gd name="T4" fmla="*/ 29 w 29"/>
                <a:gd name="T5" fmla="*/ 49 h 88"/>
                <a:gd name="T6" fmla="*/ 20 w 29"/>
                <a:gd name="T7" fmla="*/ 68 h 88"/>
                <a:gd name="T8" fmla="*/ 20 w 29"/>
                <a:gd name="T9" fmla="*/ 78 h 88"/>
                <a:gd name="T10" fmla="*/ 10 w 29"/>
                <a:gd name="T11" fmla="*/ 88 h 88"/>
                <a:gd name="T12" fmla="*/ 0 w 2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0"/>
                  </a:moveTo>
                  <a:lnTo>
                    <a:pt x="29" y="20"/>
                  </a:lnTo>
                  <a:lnTo>
                    <a:pt x="29" y="49"/>
                  </a:lnTo>
                  <a:lnTo>
                    <a:pt x="20" y="68"/>
                  </a:lnTo>
                  <a:lnTo>
                    <a:pt x="20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64" name="Freeform 36"/>
            <p:cNvSpPr>
              <a:spLocks/>
            </p:cNvSpPr>
            <p:nvPr/>
          </p:nvSpPr>
          <p:spPr bwMode="auto">
            <a:xfrm>
              <a:off x="4439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19 w 78"/>
                <a:gd name="T3" fmla="*/ 0 h 87"/>
                <a:gd name="T4" fmla="*/ 48 w 78"/>
                <a:gd name="T5" fmla="*/ 9 h 87"/>
                <a:gd name="T6" fmla="*/ 58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65" name="Freeform 37"/>
            <p:cNvSpPr>
              <a:spLocks/>
            </p:cNvSpPr>
            <p:nvPr/>
          </p:nvSpPr>
          <p:spPr bwMode="auto">
            <a:xfrm>
              <a:off x="3837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0 w 78"/>
                <a:gd name="T9" fmla="*/ 9 h 87"/>
                <a:gd name="T10" fmla="*/ 59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0" y="9"/>
                  </a:lnTo>
                  <a:lnTo>
                    <a:pt x="59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66" name="Line 38"/>
            <p:cNvSpPr>
              <a:spLocks noChangeShapeType="1"/>
            </p:cNvSpPr>
            <p:nvPr/>
          </p:nvSpPr>
          <p:spPr bwMode="auto">
            <a:xfrm>
              <a:off x="4517" y="3370"/>
              <a:ext cx="67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67" name="Line 39"/>
            <p:cNvSpPr>
              <a:spLocks noChangeShapeType="1"/>
            </p:cNvSpPr>
            <p:nvPr/>
          </p:nvSpPr>
          <p:spPr bwMode="auto">
            <a:xfrm>
              <a:off x="3760" y="3370"/>
              <a:ext cx="68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sp>
        <p:nvSpPr>
          <p:cNvPr id="16" name="Text Box 40"/>
          <p:cNvSpPr txBox="1">
            <a:spLocks noChangeArrowheads="1"/>
          </p:cNvSpPr>
          <p:nvPr/>
        </p:nvSpPr>
        <p:spPr bwMode="auto">
          <a:xfrm>
            <a:off x="7944288" y="5291570"/>
            <a:ext cx="16922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009900"/>
                </a:solidFill>
              </a:rPr>
              <a:t>Current receiver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8593575" y="4931208"/>
            <a:ext cx="863600" cy="287337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7368025" y="2626158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7872850" y="2481695"/>
            <a:ext cx="863600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0" name="Line 45"/>
          <p:cNvSpPr>
            <a:spLocks noChangeShapeType="1"/>
          </p:cNvSpPr>
          <p:nvPr/>
        </p:nvSpPr>
        <p:spPr bwMode="auto">
          <a:xfrm>
            <a:off x="8736450" y="2626158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1" name="Line 46"/>
          <p:cNvSpPr>
            <a:spLocks noChangeShapeType="1"/>
          </p:cNvSpPr>
          <p:nvPr/>
        </p:nvSpPr>
        <p:spPr bwMode="auto">
          <a:xfrm>
            <a:off x="8231625" y="1691120"/>
            <a:ext cx="0" cy="5762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2" name="Line 47"/>
          <p:cNvSpPr>
            <a:spLocks noChangeShapeType="1"/>
          </p:cNvSpPr>
          <p:nvPr/>
        </p:nvSpPr>
        <p:spPr bwMode="auto">
          <a:xfrm>
            <a:off x="7728388" y="1978458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3" name="Line 49"/>
          <p:cNvSpPr>
            <a:spLocks noChangeShapeType="1"/>
          </p:cNvSpPr>
          <p:nvPr/>
        </p:nvSpPr>
        <p:spPr bwMode="auto">
          <a:xfrm>
            <a:off x="8376088" y="1691120"/>
            <a:ext cx="0" cy="5762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4" name="Line 50"/>
          <p:cNvSpPr>
            <a:spLocks noChangeShapeType="1"/>
          </p:cNvSpPr>
          <p:nvPr/>
        </p:nvSpPr>
        <p:spPr bwMode="auto">
          <a:xfrm>
            <a:off x="8376088" y="1978458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5" name="Line 51"/>
          <p:cNvSpPr>
            <a:spLocks noChangeShapeType="1"/>
          </p:cNvSpPr>
          <p:nvPr/>
        </p:nvSpPr>
        <p:spPr bwMode="auto">
          <a:xfrm>
            <a:off x="8880913" y="1978458"/>
            <a:ext cx="0" cy="6477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6" name="Line 52"/>
          <p:cNvSpPr>
            <a:spLocks noChangeShapeType="1"/>
          </p:cNvSpPr>
          <p:nvPr/>
        </p:nvSpPr>
        <p:spPr bwMode="auto">
          <a:xfrm>
            <a:off x="7728388" y="1978458"/>
            <a:ext cx="0" cy="6477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7" name="Text Box 53"/>
          <p:cNvSpPr txBox="1">
            <a:spLocks noChangeArrowheads="1"/>
          </p:cNvSpPr>
          <p:nvPr/>
        </p:nvSpPr>
        <p:spPr bwMode="auto">
          <a:xfrm>
            <a:off x="7728388" y="2843645"/>
            <a:ext cx="16875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fr-FR" sz="1800" dirty="0">
                <a:solidFill>
                  <a:srgbClr val="FF3300"/>
                </a:solidFill>
              </a:rPr>
              <a:t>Voltage receiver</a:t>
            </a:r>
          </a:p>
        </p:txBody>
      </p:sp>
      <p:grpSp>
        <p:nvGrpSpPr>
          <p:cNvPr id="28" name="Group 64"/>
          <p:cNvGrpSpPr>
            <a:grpSpLocks/>
          </p:cNvGrpSpPr>
          <p:nvPr/>
        </p:nvGrpSpPr>
        <p:grpSpPr bwMode="auto">
          <a:xfrm>
            <a:off x="3696138" y="2613461"/>
            <a:ext cx="3781429" cy="1597029"/>
            <a:chOff x="1247" y="1607"/>
            <a:chExt cx="2382" cy="1006"/>
          </a:xfrm>
        </p:grpSpPr>
        <p:sp>
          <p:nvSpPr>
            <p:cNvPr id="38" name="AutoShape 56"/>
            <p:cNvSpPr>
              <a:spLocks noChangeArrowheads="1"/>
            </p:cNvSpPr>
            <p:nvPr/>
          </p:nvSpPr>
          <p:spPr bwMode="auto">
            <a:xfrm rot="-1812834">
              <a:off x="1247" y="1752"/>
              <a:ext cx="2338" cy="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2 w 21600"/>
                <a:gd name="T13" fmla="*/ 5394 h 21600"/>
                <a:gd name="T14" fmla="*/ 18902 w 21600"/>
                <a:gd name="T15" fmla="*/ 162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sp>
          <p:nvSpPr>
            <p:cNvPr id="39" name="Text Box 57"/>
            <p:cNvSpPr txBox="1">
              <a:spLocks noChangeArrowheads="1"/>
            </p:cNvSpPr>
            <p:nvPr/>
          </p:nvSpPr>
          <p:spPr bwMode="auto">
            <a:xfrm rot="19800000">
              <a:off x="2455" y="1607"/>
              <a:ext cx="117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fr-FR" sz="1800" b="1" dirty="0">
                  <a:solidFill>
                    <a:srgbClr val="0033CC"/>
                  </a:solidFill>
                </a:rPr>
                <a:t>Boost Converter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fr-FR" sz="1800" b="1" dirty="0" err="1">
                  <a:solidFill>
                    <a:srgbClr val="00B050"/>
                  </a:solidFill>
                </a:rPr>
                <a:t>Hacheur</a:t>
              </a:r>
              <a:r>
                <a:rPr lang="en-GB" altLang="fr-FR" sz="1800" b="1" dirty="0">
                  <a:solidFill>
                    <a:srgbClr val="00B050"/>
                  </a:solidFill>
                </a:rPr>
                <a:t> </a:t>
              </a:r>
              <a:r>
                <a:rPr lang="en-GB" altLang="fr-FR" sz="1800" b="1" dirty="0" err="1">
                  <a:solidFill>
                    <a:srgbClr val="00B050"/>
                  </a:solidFill>
                </a:rPr>
                <a:t>parallèle</a:t>
              </a:r>
              <a:endParaRPr lang="en-GB" altLang="fr-FR" sz="1800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9" name="Group 65"/>
          <p:cNvGrpSpPr>
            <a:grpSpLocks/>
          </p:cNvGrpSpPr>
          <p:nvPr/>
        </p:nvGrpSpPr>
        <p:grpSpPr bwMode="auto">
          <a:xfrm>
            <a:off x="2903975" y="1114860"/>
            <a:ext cx="6480175" cy="658813"/>
            <a:chOff x="748" y="663"/>
            <a:chExt cx="4082" cy="415"/>
          </a:xfrm>
        </p:grpSpPr>
        <p:sp>
          <p:nvSpPr>
            <p:cNvPr id="36" name="AutoShape 58"/>
            <p:cNvSpPr>
              <a:spLocks noChangeArrowheads="1"/>
            </p:cNvSpPr>
            <p:nvPr/>
          </p:nvSpPr>
          <p:spPr bwMode="auto">
            <a:xfrm>
              <a:off x="748" y="663"/>
              <a:ext cx="4082" cy="318"/>
            </a:xfrm>
            <a:prstGeom prst="curvedDownArrow">
              <a:avLst>
                <a:gd name="adj1" fmla="val 179414"/>
                <a:gd name="adj2" fmla="val 436143"/>
                <a:gd name="adj3" fmla="val 43528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fr-FR" sz="1800" dirty="0"/>
            </a:p>
          </p:txBody>
        </p:sp>
        <p:sp>
          <p:nvSpPr>
            <p:cNvPr id="37" name="Text Box 61"/>
            <p:cNvSpPr txBox="1">
              <a:spLocks noChangeArrowheads="1"/>
            </p:cNvSpPr>
            <p:nvPr/>
          </p:nvSpPr>
          <p:spPr bwMode="auto">
            <a:xfrm>
              <a:off x="1519" y="845"/>
              <a:ext cx="16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fr-FR" sz="1800" dirty="0">
                  <a:solidFill>
                    <a:srgbClr val="FF9933"/>
                  </a:solidFill>
                </a:rPr>
                <a:t>Inductive storage chopper</a:t>
              </a:r>
            </a:p>
          </p:txBody>
        </p:sp>
      </p:grpSp>
      <p:grpSp>
        <p:nvGrpSpPr>
          <p:cNvPr id="30" name="Group 66"/>
          <p:cNvGrpSpPr>
            <a:grpSpLocks/>
          </p:cNvGrpSpPr>
          <p:nvPr/>
        </p:nvGrpSpPr>
        <p:grpSpPr bwMode="auto">
          <a:xfrm>
            <a:off x="2903975" y="5867842"/>
            <a:ext cx="6480175" cy="647701"/>
            <a:chOff x="748" y="3657"/>
            <a:chExt cx="4082" cy="408"/>
          </a:xfrm>
        </p:grpSpPr>
        <p:sp>
          <p:nvSpPr>
            <p:cNvPr id="34" name="AutoShape 59"/>
            <p:cNvSpPr>
              <a:spLocks noChangeArrowheads="1"/>
            </p:cNvSpPr>
            <p:nvPr/>
          </p:nvSpPr>
          <p:spPr bwMode="auto">
            <a:xfrm flipV="1">
              <a:off x="748" y="3748"/>
              <a:ext cx="4082" cy="317"/>
            </a:xfrm>
            <a:prstGeom prst="curvedDownArrow">
              <a:avLst>
                <a:gd name="adj1" fmla="val 179980"/>
                <a:gd name="adj2" fmla="val 437519"/>
                <a:gd name="adj3" fmla="val 43528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fr-FR" sz="1800" dirty="0"/>
            </a:p>
          </p:txBody>
        </p:sp>
        <p:sp>
          <p:nvSpPr>
            <p:cNvPr id="35" name="Text Box 62"/>
            <p:cNvSpPr txBox="1">
              <a:spLocks noChangeArrowheads="1"/>
            </p:cNvSpPr>
            <p:nvPr/>
          </p:nvSpPr>
          <p:spPr bwMode="auto">
            <a:xfrm>
              <a:off x="1474" y="3657"/>
              <a:ext cx="171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fr-FR" sz="1800" dirty="0">
                  <a:solidFill>
                    <a:srgbClr val="FF9933"/>
                  </a:solidFill>
                </a:rPr>
                <a:t>Capacitive storage chopper</a:t>
              </a:r>
            </a:p>
          </p:txBody>
        </p:sp>
      </p:grpSp>
      <p:grpSp>
        <p:nvGrpSpPr>
          <p:cNvPr id="31" name="Group 63"/>
          <p:cNvGrpSpPr>
            <a:grpSpLocks/>
          </p:cNvGrpSpPr>
          <p:nvPr/>
        </p:nvGrpSpPr>
        <p:grpSpPr bwMode="auto">
          <a:xfrm>
            <a:off x="3778688" y="3157970"/>
            <a:ext cx="3711575" cy="1366838"/>
            <a:chOff x="1299" y="1950"/>
            <a:chExt cx="2338" cy="861"/>
          </a:xfrm>
        </p:grpSpPr>
        <p:sp>
          <p:nvSpPr>
            <p:cNvPr id="32" name="AutoShape 54"/>
            <p:cNvSpPr>
              <a:spLocks noChangeArrowheads="1"/>
            </p:cNvSpPr>
            <p:nvPr/>
          </p:nvSpPr>
          <p:spPr bwMode="auto">
            <a:xfrm rot="1811372">
              <a:off x="1299" y="1950"/>
              <a:ext cx="2338" cy="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2 w 21600"/>
                <a:gd name="T13" fmla="*/ 5394 h 21600"/>
                <a:gd name="T14" fmla="*/ 18902 w 21600"/>
                <a:gd name="T15" fmla="*/ 162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sp>
          <p:nvSpPr>
            <p:cNvPr id="33" name="Text Box 55"/>
            <p:cNvSpPr txBox="1">
              <a:spLocks noChangeArrowheads="1"/>
            </p:cNvSpPr>
            <p:nvPr/>
          </p:nvSpPr>
          <p:spPr bwMode="auto">
            <a:xfrm rot="1767202">
              <a:off x="1863" y="2117"/>
              <a:ext cx="101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fr-FR" sz="1800" b="1" dirty="0">
                  <a:solidFill>
                    <a:srgbClr val="FF3300"/>
                  </a:solidFill>
                </a:rPr>
                <a:t>Buck converter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fr-FR" sz="1800" b="1" dirty="0" err="1">
                  <a:solidFill>
                    <a:srgbClr val="00B050"/>
                  </a:solidFill>
                </a:rPr>
                <a:t>Hacheur</a:t>
              </a:r>
              <a:r>
                <a:rPr lang="en-GB" altLang="fr-FR" sz="1800" b="1" dirty="0">
                  <a:solidFill>
                    <a:srgbClr val="00B050"/>
                  </a:solidFill>
                </a:rPr>
                <a:t> </a:t>
              </a:r>
              <a:r>
                <a:rPr lang="en-GB" altLang="fr-FR" sz="1800" b="1" dirty="0" err="1">
                  <a:solidFill>
                    <a:srgbClr val="00B050"/>
                  </a:solidFill>
                </a:rPr>
                <a:t>série</a:t>
              </a:r>
              <a:endParaRPr lang="en-GB" altLang="fr-FR" sz="1800" b="1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69" name="Connecteur droit 6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534610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« Perfect » diode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3187988" y="3784242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V="1">
            <a:off x="5354926" y="1696680"/>
            <a:ext cx="0" cy="3600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V="1">
            <a:off x="5346988" y="1885592"/>
            <a:ext cx="17463" cy="18986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3475326" y="3784242"/>
            <a:ext cx="1871662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3475326" y="3784242"/>
            <a:ext cx="0" cy="143986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162838" y="1480780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374101" y="3347680"/>
            <a:ext cx="517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v</a:t>
            </a:r>
            <a:r>
              <a:rPr lang="fr-FR" altLang="fr-FR" sz="1800" baseline="-25000">
                <a:latin typeface="Times New Roman" panose="02020603050405020304" pitchFamily="18" charset="0"/>
              </a:rPr>
              <a:t>AK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5086638" y="3779480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6" name="AutoShape 13"/>
          <p:cNvSpPr>
            <a:spLocks/>
          </p:cNvSpPr>
          <p:nvPr/>
        </p:nvSpPr>
        <p:spPr bwMode="auto">
          <a:xfrm>
            <a:off x="6734463" y="1726842"/>
            <a:ext cx="1085850" cy="403225"/>
          </a:xfrm>
          <a:prstGeom prst="borderCallout1">
            <a:avLst>
              <a:gd name="adj1" fmla="val 28347"/>
              <a:gd name="adj2" fmla="val -7019"/>
              <a:gd name="adj3" fmla="val 314171"/>
              <a:gd name="adj4" fmla="val -119736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AK</a:t>
            </a:r>
            <a:r>
              <a:rPr lang="fr-FR" altLang="fr-FR" sz="1800" b="1">
                <a:latin typeface="Times New Roman" panose="02020603050405020304" pitchFamily="18" charset="0"/>
              </a:rPr>
              <a:t> = 0</a:t>
            </a:r>
            <a:endParaRPr lang="fr-FR" altLang="fr-FR" sz="1800" b="1" baseline="-25000">
              <a:latin typeface="Times New Roman" panose="02020603050405020304" pitchFamily="18" charset="0"/>
            </a:endParaRPr>
          </a:p>
        </p:txBody>
      </p:sp>
      <p:sp>
        <p:nvSpPr>
          <p:cNvPr id="17" name="AutoShape 14"/>
          <p:cNvSpPr>
            <a:spLocks/>
          </p:cNvSpPr>
          <p:nvPr/>
        </p:nvSpPr>
        <p:spPr bwMode="auto">
          <a:xfrm>
            <a:off x="5523201" y="4577992"/>
            <a:ext cx="936625" cy="403225"/>
          </a:xfrm>
          <a:prstGeom prst="borderCallout1">
            <a:avLst>
              <a:gd name="adj1" fmla="val 28347"/>
              <a:gd name="adj2" fmla="val -8134"/>
              <a:gd name="adj3" fmla="val -199606"/>
              <a:gd name="adj4" fmla="val -101866"/>
            </a:avLst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i = 0</a:t>
            </a:r>
            <a:endParaRPr lang="fr-FR" altLang="fr-FR" sz="1800" b="1" baseline="-25000">
              <a:latin typeface="Times New Roman" panose="02020603050405020304" pitchFamily="18" charset="0"/>
            </a:endParaRPr>
          </a:p>
        </p:txBody>
      </p:sp>
      <p:sp>
        <p:nvSpPr>
          <p:cNvPr id="18" name="AutoShape 15"/>
          <p:cNvSpPr>
            <a:spLocks/>
          </p:cNvSpPr>
          <p:nvPr/>
        </p:nvSpPr>
        <p:spPr bwMode="auto">
          <a:xfrm>
            <a:off x="5523201" y="5514617"/>
            <a:ext cx="1584325" cy="403225"/>
          </a:xfrm>
          <a:prstGeom prst="borderCallout1">
            <a:avLst>
              <a:gd name="adj1" fmla="val 28347"/>
              <a:gd name="adj2" fmla="val -4810"/>
              <a:gd name="adj3" fmla="val -181495"/>
              <a:gd name="adj4" fmla="val -128356"/>
            </a:avLst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AK</a:t>
            </a:r>
            <a:r>
              <a:rPr lang="fr-FR" altLang="fr-FR" sz="1800" b="1">
                <a:latin typeface="Times New Roman" panose="02020603050405020304" pitchFamily="18" charset="0"/>
              </a:rPr>
              <a:t> = -V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BR</a:t>
            </a:r>
          </a:p>
        </p:txBody>
      </p:sp>
      <p:pic>
        <p:nvPicPr>
          <p:cNvPr id="19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613" y="3096855"/>
            <a:ext cx="20161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Connecteur droit 20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95842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Controlled switch</a:t>
            </a:r>
          </a:p>
        </p:txBody>
      </p:sp>
      <p:pic>
        <p:nvPicPr>
          <p:cNvPr id="6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1307277"/>
            <a:ext cx="1935162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4" name="Group 104"/>
          <p:cNvGrpSpPr>
            <a:grpSpLocks/>
          </p:cNvGrpSpPr>
          <p:nvPr/>
        </p:nvGrpSpPr>
        <p:grpSpPr bwMode="auto">
          <a:xfrm>
            <a:off x="5270500" y="2531240"/>
            <a:ext cx="1708150" cy="2341562"/>
            <a:chOff x="2381" y="981"/>
            <a:chExt cx="1076" cy="1475"/>
          </a:xfrm>
        </p:grpSpPr>
        <p:sp>
          <p:nvSpPr>
            <p:cNvPr id="95" name="AutoShape 89"/>
            <p:cNvSpPr>
              <a:spLocks noChangeAspect="1" noChangeArrowheads="1" noTextEdit="1"/>
            </p:cNvSpPr>
            <p:nvPr/>
          </p:nvSpPr>
          <p:spPr bwMode="auto">
            <a:xfrm>
              <a:off x="2381" y="981"/>
              <a:ext cx="1076" cy="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6" name="Rectangle 95"/>
            <p:cNvSpPr>
              <a:spLocks noChangeArrowheads="1"/>
            </p:cNvSpPr>
            <p:nvPr/>
          </p:nvSpPr>
          <p:spPr bwMode="auto">
            <a:xfrm>
              <a:off x="2381" y="983"/>
              <a:ext cx="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7" name="Line 93"/>
            <p:cNvSpPr>
              <a:spLocks noChangeShapeType="1"/>
            </p:cNvSpPr>
            <p:nvPr/>
          </p:nvSpPr>
          <p:spPr bwMode="auto">
            <a:xfrm>
              <a:off x="3024" y="1429"/>
              <a:ext cx="0" cy="694"/>
            </a:xfrm>
            <a:prstGeom prst="line">
              <a:avLst/>
            </a:prstGeom>
            <a:noFill/>
            <a:ln w="396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8" name="Freeform 94"/>
            <p:cNvSpPr>
              <a:spLocks/>
            </p:cNvSpPr>
            <p:nvPr/>
          </p:nvSpPr>
          <p:spPr bwMode="auto">
            <a:xfrm>
              <a:off x="3049" y="1937"/>
              <a:ext cx="185" cy="186"/>
            </a:xfrm>
            <a:custGeom>
              <a:avLst/>
              <a:gdLst>
                <a:gd name="T0" fmla="*/ 185 w 185"/>
                <a:gd name="T1" fmla="*/ 186 h 186"/>
                <a:gd name="T2" fmla="*/ 0 w 185"/>
                <a:gd name="T3" fmla="*/ 75 h 186"/>
                <a:gd name="T4" fmla="*/ 37 w 185"/>
                <a:gd name="T5" fmla="*/ 37 h 186"/>
                <a:gd name="T6" fmla="*/ 74 w 185"/>
                <a:gd name="T7" fmla="*/ 0 h 186"/>
                <a:gd name="T8" fmla="*/ 185 w 185"/>
                <a:gd name="T9" fmla="*/ 18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" h="186">
                  <a:moveTo>
                    <a:pt x="185" y="186"/>
                  </a:moveTo>
                  <a:lnTo>
                    <a:pt x="0" y="75"/>
                  </a:lnTo>
                  <a:lnTo>
                    <a:pt x="37" y="37"/>
                  </a:lnTo>
                  <a:lnTo>
                    <a:pt x="74" y="0"/>
                  </a:lnTo>
                  <a:lnTo>
                    <a:pt x="185" y="1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9" name="Line 95"/>
            <p:cNvSpPr>
              <a:spLocks noChangeShapeType="1"/>
            </p:cNvSpPr>
            <p:nvPr/>
          </p:nvSpPr>
          <p:spPr bwMode="auto">
            <a:xfrm>
              <a:off x="3024" y="1912"/>
              <a:ext cx="62" cy="62"/>
            </a:xfrm>
            <a:prstGeom prst="line">
              <a:avLst/>
            </a:prstGeom>
            <a:noFill/>
            <a:ln w="396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00" name="Line 96"/>
            <p:cNvSpPr>
              <a:spLocks noChangeShapeType="1"/>
            </p:cNvSpPr>
            <p:nvPr/>
          </p:nvSpPr>
          <p:spPr bwMode="auto">
            <a:xfrm flipV="1">
              <a:off x="3024" y="1429"/>
              <a:ext cx="210" cy="211"/>
            </a:xfrm>
            <a:prstGeom prst="line">
              <a:avLst/>
            </a:prstGeom>
            <a:noFill/>
            <a:ln w="396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01" name="Line 97"/>
            <p:cNvSpPr>
              <a:spLocks noChangeShapeType="1"/>
            </p:cNvSpPr>
            <p:nvPr/>
          </p:nvSpPr>
          <p:spPr bwMode="auto">
            <a:xfrm>
              <a:off x="3234" y="1007"/>
              <a:ext cx="0" cy="42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02" name="Line 98"/>
            <p:cNvSpPr>
              <a:spLocks noChangeShapeType="1"/>
            </p:cNvSpPr>
            <p:nvPr/>
          </p:nvSpPr>
          <p:spPr bwMode="auto">
            <a:xfrm>
              <a:off x="3234" y="2123"/>
              <a:ext cx="0" cy="32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03" name="Line 99"/>
            <p:cNvSpPr>
              <a:spLocks noChangeShapeType="1"/>
            </p:cNvSpPr>
            <p:nvPr/>
          </p:nvSpPr>
          <p:spPr bwMode="auto">
            <a:xfrm>
              <a:off x="2596" y="1776"/>
              <a:ext cx="42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2535" y="1542"/>
              <a:ext cx="10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 b="1" dirty="0">
                  <a:solidFill>
                    <a:srgbClr val="000000"/>
                  </a:solidFill>
                  <a:latin typeface="Times" panose="02020603050405020304" pitchFamily="18" charset="0"/>
                </a:rPr>
                <a:t>B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05" name="Rectangle 104"/>
            <p:cNvSpPr>
              <a:spLocks noChangeArrowheads="1"/>
            </p:cNvSpPr>
            <p:nvPr/>
          </p:nvSpPr>
          <p:spPr bwMode="auto">
            <a:xfrm>
              <a:off x="3333" y="1119"/>
              <a:ext cx="11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 b="1">
                  <a:solidFill>
                    <a:srgbClr val="000000"/>
                  </a:solidFill>
                  <a:latin typeface="Times" panose="02020603050405020304" pitchFamily="18" charset="0"/>
                </a:rPr>
                <a:t>C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3296" y="2173"/>
              <a:ext cx="10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900" b="1">
                  <a:solidFill>
                    <a:srgbClr val="000000"/>
                  </a:solidFill>
                  <a:latin typeface="Times" panose="02020603050405020304" pitchFamily="18" charset="0"/>
                </a:rPr>
                <a:t>E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pic>
        <p:nvPicPr>
          <p:cNvPr id="65" name="Picture 105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087" y="1594615"/>
            <a:ext cx="1708150" cy="234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6" name="Group 152"/>
          <p:cNvGrpSpPr>
            <a:grpSpLocks/>
          </p:cNvGrpSpPr>
          <p:nvPr/>
        </p:nvGrpSpPr>
        <p:grpSpPr bwMode="auto">
          <a:xfrm>
            <a:off x="2727456" y="3607565"/>
            <a:ext cx="2628909" cy="2771771"/>
            <a:chOff x="4157" y="2809"/>
            <a:chExt cx="1008" cy="1085"/>
          </a:xfrm>
        </p:grpSpPr>
        <p:sp>
          <p:nvSpPr>
            <p:cNvPr id="71" name="Freeform 120"/>
            <p:cNvSpPr>
              <a:spLocks/>
            </p:cNvSpPr>
            <p:nvPr/>
          </p:nvSpPr>
          <p:spPr bwMode="auto">
            <a:xfrm>
              <a:off x="4622" y="2875"/>
              <a:ext cx="45" cy="91"/>
            </a:xfrm>
            <a:custGeom>
              <a:avLst/>
              <a:gdLst>
                <a:gd name="T0" fmla="*/ 19 w 45"/>
                <a:gd name="T1" fmla="*/ 91 h 91"/>
                <a:gd name="T2" fmla="*/ 0 w 45"/>
                <a:gd name="T3" fmla="*/ 0 h 91"/>
                <a:gd name="T4" fmla="*/ 19 w 45"/>
                <a:gd name="T5" fmla="*/ 0 h 91"/>
                <a:gd name="T6" fmla="*/ 45 w 45"/>
                <a:gd name="T7" fmla="*/ 0 h 91"/>
                <a:gd name="T8" fmla="*/ 19 w 45"/>
                <a:gd name="T9" fmla="*/ 91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91">
                  <a:moveTo>
                    <a:pt x="19" y="91"/>
                  </a:moveTo>
                  <a:lnTo>
                    <a:pt x="0" y="0"/>
                  </a:lnTo>
                  <a:lnTo>
                    <a:pt x="19" y="0"/>
                  </a:lnTo>
                  <a:lnTo>
                    <a:pt x="45" y="0"/>
                  </a:lnTo>
                  <a:lnTo>
                    <a:pt x="19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72" name="Line 121"/>
            <p:cNvSpPr>
              <a:spLocks noChangeShapeType="1"/>
            </p:cNvSpPr>
            <p:nvPr/>
          </p:nvSpPr>
          <p:spPr bwMode="auto">
            <a:xfrm>
              <a:off x="4641" y="2816"/>
              <a:ext cx="0" cy="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73" name="Freeform 122"/>
            <p:cNvSpPr>
              <a:spLocks/>
            </p:cNvSpPr>
            <p:nvPr/>
          </p:nvSpPr>
          <p:spPr bwMode="auto">
            <a:xfrm>
              <a:off x="5066" y="2966"/>
              <a:ext cx="46" cy="92"/>
            </a:xfrm>
            <a:custGeom>
              <a:avLst/>
              <a:gdLst>
                <a:gd name="T0" fmla="*/ 20 w 46"/>
                <a:gd name="T1" fmla="*/ 0 h 92"/>
                <a:gd name="T2" fmla="*/ 46 w 46"/>
                <a:gd name="T3" fmla="*/ 92 h 92"/>
                <a:gd name="T4" fmla="*/ 20 w 46"/>
                <a:gd name="T5" fmla="*/ 92 h 92"/>
                <a:gd name="T6" fmla="*/ 0 w 46"/>
                <a:gd name="T7" fmla="*/ 92 h 92"/>
                <a:gd name="T8" fmla="*/ 20 w 46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2">
                  <a:moveTo>
                    <a:pt x="20" y="0"/>
                  </a:moveTo>
                  <a:lnTo>
                    <a:pt x="46" y="92"/>
                  </a:lnTo>
                  <a:lnTo>
                    <a:pt x="20" y="92"/>
                  </a:lnTo>
                  <a:lnTo>
                    <a:pt x="0" y="9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74" name="Line 123"/>
            <p:cNvSpPr>
              <a:spLocks noChangeShapeType="1"/>
            </p:cNvSpPr>
            <p:nvPr/>
          </p:nvSpPr>
          <p:spPr bwMode="auto">
            <a:xfrm>
              <a:off x="5086" y="3058"/>
              <a:ext cx="0" cy="7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5138" y="3365"/>
              <a:ext cx="27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100" b="1">
                  <a:solidFill>
                    <a:srgbClr val="000000"/>
                  </a:solidFill>
                  <a:latin typeface="Times" panose="02020603050405020304" pitchFamily="18" charset="0"/>
                </a:rPr>
                <a:t>v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4556" y="2809"/>
              <a:ext cx="1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100" b="1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77" name="Line 126"/>
            <p:cNvSpPr>
              <a:spLocks noChangeShapeType="1"/>
            </p:cNvSpPr>
            <p:nvPr/>
          </p:nvSpPr>
          <p:spPr bwMode="auto">
            <a:xfrm>
              <a:off x="4419" y="3005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78" name="Line 127"/>
            <p:cNvSpPr>
              <a:spLocks noChangeShapeType="1"/>
            </p:cNvSpPr>
            <p:nvPr/>
          </p:nvSpPr>
          <p:spPr bwMode="auto">
            <a:xfrm flipH="1">
              <a:off x="4268" y="3260"/>
              <a:ext cx="3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79" name="Line 128"/>
            <p:cNvSpPr>
              <a:spLocks noChangeShapeType="1"/>
            </p:cNvSpPr>
            <p:nvPr/>
          </p:nvSpPr>
          <p:spPr bwMode="auto">
            <a:xfrm flipH="1">
              <a:off x="4268" y="3522"/>
              <a:ext cx="301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0" name="Line 129"/>
            <p:cNvSpPr>
              <a:spLocks noChangeShapeType="1"/>
            </p:cNvSpPr>
            <p:nvPr/>
          </p:nvSpPr>
          <p:spPr bwMode="auto">
            <a:xfrm>
              <a:off x="4419" y="3522"/>
              <a:ext cx="0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1" name="Line 130"/>
            <p:cNvSpPr>
              <a:spLocks noChangeShapeType="1"/>
            </p:cNvSpPr>
            <p:nvPr/>
          </p:nvSpPr>
          <p:spPr bwMode="auto">
            <a:xfrm>
              <a:off x="4268" y="3260"/>
              <a:ext cx="151" cy="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2" name="Line 131"/>
            <p:cNvSpPr>
              <a:spLocks noChangeShapeType="1"/>
            </p:cNvSpPr>
            <p:nvPr/>
          </p:nvSpPr>
          <p:spPr bwMode="auto">
            <a:xfrm flipV="1">
              <a:off x="4419" y="3260"/>
              <a:ext cx="150" cy="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3" name="Line 132"/>
            <p:cNvSpPr>
              <a:spLocks noChangeShapeType="1"/>
            </p:cNvSpPr>
            <p:nvPr/>
          </p:nvSpPr>
          <p:spPr bwMode="auto">
            <a:xfrm flipH="1">
              <a:off x="4268" y="3522"/>
              <a:ext cx="79" cy="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4" name="Line 133"/>
            <p:cNvSpPr>
              <a:spLocks noChangeShapeType="1"/>
            </p:cNvSpPr>
            <p:nvPr/>
          </p:nvSpPr>
          <p:spPr bwMode="auto">
            <a:xfrm flipH="1">
              <a:off x="4157" y="3594"/>
              <a:ext cx="1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5" name="Line 141"/>
            <p:cNvSpPr>
              <a:spLocks noChangeShapeType="1"/>
            </p:cNvSpPr>
            <p:nvPr/>
          </p:nvSpPr>
          <p:spPr bwMode="auto">
            <a:xfrm flipV="1">
              <a:off x="4864" y="3522"/>
              <a:ext cx="0" cy="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6" name="Line 142"/>
            <p:cNvSpPr>
              <a:spLocks noChangeShapeType="1"/>
            </p:cNvSpPr>
            <p:nvPr/>
          </p:nvSpPr>
          <p:spPr bwMode="auto">
            <a:xfrm>
              <a:off x="4713" y="3522"/>
              <a:ext cx="3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7" name="Line 143"/>
            <p:cNvSpPr>
              <a:spLocks noChangeShapeType="1"/>
            </p:cNvSpPr>
            <p:nvPr/>
          </p:nvSpPr>
          <p:spPr bwMode="auto">
            <a:xfrm>
              <a:off x="4713" y="3260"/>
              <a:ext cx="301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8" name="Line 144"/>
            <p:cNvSpPr>
              <a:spLocks noChangeShapeType="1"/>
            </p:cNvSpPr>
            <p:nvPr/>
          </p:nvSpPr>
          <p:spPr bwMode="auto">
            <a:xfrm flipV="1">
              <a:off x="4864" y="3005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89" name="Line 145"/>
            <p:cNvSpPr>
              <a:spLocks noChangeShapeType="1"/>
            </p:cNvSpPr>
            <p:nvPr/>
          </p:nvSpPr>
          <p:spPr bwMode="auto">
            <a:xfrm flipH="1" flipV="1">
              <a:off x="4864" y="3260"/>
              <a:ext cx="150" cy="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0" name="Line 146"/>
            <p:cNvSpPr>
              <a:spLocks noChangeShapeType="1"/>
            </p:cNvSpPr>
            <p:nvPr/>
          </p:nvSpPr>
          <p:spPr bwMode="auto">
            <a:xfrm flipH="1">
              <a:off x="4713" y="3260"/>
              <a:ext cx="151" cy="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1" name="Line 147"/>
            <p:cNvSpPr>
              <a:spLocks noChangeShapeType="1"/>
            </p:cNvSpPr>
            <p:nvPr/>
          </p:nvSpPr>
          <p:spPr bwMode="auto">
            <a:xfrm>
              <a:off x="4419" y="3005"/>
              <a:ext cx="4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2" name="Line 148"/>
            <p:cNvSpPr>
              <a:spLocks noChangeShapeType="1"/>
            </p:cNvSpPr>
            <p:nvPr/>
          </p:nvSpPr>
          <p:spPr bwMode="auto">
            <a:xfrm>
              <a:off x="4419" y="3783"/>
              <a:ext cx="4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3" name="Line 149"/>
            <p:cNvSpPr>
              <a:spLocks noChangeShapeType="1"/>
            </p:cNvSpPr>
            <p:nvPr/>
          </p:nvSpPr>
          <p:spPr bwMode="auto">
            <a:xfrm>
              <a:off x="4641" y="3783"/>
              <a:ext cx="0" cy="1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  <p:sp>
          <p:nvSpPr>
            <p:cNvPr id="94" name="Line 150"/>
            <p:cNvSpPr>
              <a:spLocks noChangeShapeType="1"/>
            </p:cNvSpPr>
            <p:nvPr/>
          </p:nvSpPr>
          <p:spPr bwMode="auto">
            <a:xfrm>
              <a:off x="4641" y="2894"/>
              <a:ext cx="0" cy="1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2398712" y="1094552"/>
            <a:ext cx="1617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0000"/>
                </a:solidFill>
                <a:latin typeface="Times New Roman" panose="02020603050405020304" pitchFamily="18" charset="0"/>
              </a:rPr>
              <a:t>MOSFET</a:t>
            </a:r>
            <a:endParaRPr lang="fr-FR" altLang="fr-FR" sz="2400">
              <a:latin typeface="Times New Roman" panose="02020603050405020304" pitchFamily="18" charset="0"/>
            </a:endParaRP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5514975" y="1683515"/>
            <a:ext cx="17494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0000"/>
                </a:solidFill>
                <a:latin typeface="Times New Roman" panose="02020603050405020304" pitchFamily="18" charset="0"/>
              </a:rPr>
              <a:t>Bipolar</a:t>
            </a:r>
            <a:endParaRPr lang="fr-FR" altLang="fr-FR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0000"/>
                </a:solidFill>
                <a:latin typeface="Times New Roman" panose="02020603050405020304" pitchFamily="18" charset="0"/>
              </a:rPr>
              <a:t>transistor</a:t>
            </a:r>
            <a:endParaRPr lang="fr-FR" altLang="fr-FR" sz="2400">
              <a:latin typeface="Times New Roman" panose="02020603050405020304" pitchFamily="18" charset="0"/>
            </a:endParaRP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8489950" y="5747515"/>
            <a:ext cx="14493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latin typeface="Times New Roman" panose="02020603050405020304" pitchFamily="18" charset="0"/>
              </a:rPr>
              <a:t>Thyristor</a:t>
            </a:r>
            <a:endParaRPr lang="fr-FR" altLang="fr-FR">
              <a:latin typeface="Times New Roman" panose="02020603050405020304" pitchFamily="18" charset="0"/>
            </a:endParaRP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9369425" y="2605852"/>
            <a:ext cx="954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IGBT</a:t>
            </a:r>
            <a:endParaRPr lang="fr-FR" altLang="fr-FR" sz="2400">
              <a:latin typeface="Times New Roman" panose="02020603050405020304" pitchFamily="18" charset="0"/>
            </a:endParaRPr>
          </a:p>
        </p:txBody>
      </p:sp>
      <p:grpSp>
        <p:nvGrpSpPr>
          <p:cNvPr id="126" name="Group 4"/>
          <p:cNvGrpSpPr>
            <a:grpSpLocks/>
          </p:cNvGrpSpPr>
          <p:nvPr/>
        </p:nvGrpSpPr>
        <p:grpSpPr bwMode="auto">
          <a:xfrm>
            <a:off x="8181181" y="4707645"/>
            <a:ext cx="2376488" cy="1079500"/>
            <a:chOff x="3560" y="887"/>
            <a:chExt cx="726" cy="320"/>
          </a:xfrm>
        </p:grpSpPr>
        <p:sp>
          <p:nvSpPr>
            <p:cNvPr id="127" name="Line 5"/>
            <p:cNvSpPr>
              <a:spLocks noChangeShapeType="1"/>
            </p:cNvSpPr>
            <p:nvPr/>
          </p:nvSpPr>
          <p:spPr bwMode="auto">
            <a:xfrm>
              <a:off x="3560" y="1071"/>
              <a:ext cx="273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8" name="Line 6"/>
            <p:cNvSpPr>
              <a:spLocks noChangeShapeType="1"/>
            </p:cNvSpPr>
            <p:nvPr/>
          </p:nvSpPr>
          <p:spPr bwMode="auto">
            <a:xfrm>
              <a:off x="4041" y="1071"/>
              <a:ext cx="245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29" name="Group 7"/>
            <p:cNvGrpSpPr>
              <a:grpSpLocks/>
            </p:cNvGrpSpPr>
            <p:nvPr/>
          </p:nvGrpSpPr>
          <p:grpSpPr bwMode="auto">
            <a:xfrm>
              <a:off x="3833" y="935"/>
              <a:ext cx="184" cy="272"/>
              <a:chOff x="2542" y="540"/>
              <a:chExt cx="461" cy="680"/>
            </a:xfrm>
          </p:grpSpPr>
          <p:sp>
            <p:nvSpPr>
              <p:cNvPr id="132" name="Line 8"/>
              <p:cNvSpPr>
                <a:spLocks noChangeShapeType="1"/>
              </p:cNvSpPr>
              <p:nvPr/>
            </p:nvSpPr>
            <p:spPr bwMode="auto">
              <a:xfrm>
                <a:off x="3002" y="540"/>
                <a:ext cx="1" cy="680"/>
              </a:xfrm>
              <a:prstGeom prst="line">
                <a:avLst/>
              </a:prstGeom>
              <a:noFill/>
              <a:ln w="508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Line 9"/>
              <p:cNvSpPr>
                <a:spLocks noChangeShapeType="1"/>
              </p:cNvSpPr>
              <p:nvPr/>
            </p:nvSpPr>
            <p:spPr bwMode="auto">
              <a:xfrm flipH="1" flipV="1">
                <a:off x="2542" y="540"/>
                <a:ext cx="460" cy="340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4" name="Line 10"/>
              <p:cNvSpPr>
                <a:spLocks noChangeShapeType="1"/>
              </p:cNvSpPr>
              <p:nvPr/>
            </p:nvSpPr>
            <p:spPr bwMode="auto">
              <a:xfrm>
                <a:off x="2542" y="540"/>
                <a:ext cx="1" cy="680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Line 11"/>
              <p:cNvSpPr>
                <a:spLocks noChangeShapeType="1"/>
              </p:cNvSpPr>
              <p:nvPr/>
            </p:nvSpPr>
            <p:spPr bwMode="auto">
              <a:xfrm flipV="1">
                <a:off x="2542" y="880"/>
                <a:ext cx="460" cy="340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30" name="Line 12"/>
            <p:cNvSpPr>
              <a:spLocks noChangeShapeType="1"/>
            </p:cNvSpPr>
            <p:nvPr/>
          </p:nvSpPr>
          <p:spPr bwMode="auto">
            <a:xfrm flipV="1">
              <a:off x="4017" y="887"/>
              <a:ext cx="96" cy="96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cxnSp>
        <p:nvCxnSpPr>
          <p:cNvPr id="137" name="Connecteur droit 136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ZoneTexte 137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49456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578634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« Perfect » controlled switch ex : IGBT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646007" y="2731033"/>
            <a:ext cx="8229600" cy="292258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fr-FR" dirty="0"/>
              <a:t>On state: « short circuit »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fr-FR" dirty="0"/>
              <a:t> </a:t>
            </a:r>
            <a:r>
              <a:rPr lang="en-US" altLang="fr-FR" dirty="0" err="1"/>
              <a:t>v</a:t>
            </a:r>
            <a:r>
              <a:rPr lang="en-US" altLang="fr-FR" baseline="-25000" dirty="0" err="1"/>
              <a:t>CE</a:t>
            </a:r>
            <a:r>
              <a:rPr lang="en-US" altLang="fr-FR" dirty="0"/>
              <a:t> = 0, </a:t>
            </a:r>
            <a:r>
              <a:rPr lang="en-US" altLang="fr-FR" dirty="0" err="1"/>
              <a:t>i</a:t>
            </a:r>
            <a:r>
              <a:rPr lang="en-US" altLang="fr-FR" baseline="-25000" dirty="0" err="1"/>
              <a:t>C</a:t>
            </a:r>
            <a:r>
              <a:rPr lang="en-US" altLang="fr-FR" dirty="0"/>
              <a:t> fixed by circuit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fr-FR" dirty="0"/>
          </a:p>
          <a:p>
            <a:r>
              <a:rPr lang="en-US" altLang="fr-FR" dirty="0"/>
              <a:t>Off state: « open circuit »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fr-FR" dirty="0"/>
              <a:t> </a:t>
            </a:r>
            <a:r>
              <a:rPr lang="en-US" altLang="fr-FR" dirty="0" err="1"/>
              <a:t>i</a:t>
            </a:r>
            <a:r>
              <a:rPr lang="en-US" altLang="fr-FR" baseline="-25000" dirty="0" err="1"/>
              <a:t>C</a:t>
            </a:r>
            <a:r>
              <a:rPr lang="en-US" altLang="fr-FR" dirty="0"/>
              <a:t> = 0, </a:t>
            </a:r>
            <a:r>
              <a:rPr lang="en-US" altLang="fr-FR" dirty="0" err="1"/>
              <a:t>v</a:t>
            </a:r>
            <a:r>
              <a:rPr lang="en-US" altLang="fr-FR" baseline="-25000" dirty="0" err="1"/>
              <a:t>CE</a:t>
            </a:r>
            <a:r>
              <a:rPr lang="en-US" altLang="fr-FR" dirty="0"/>
              <a:t> fixed by circuit</a:t>
            </a:r>
            <a:endParaRPr lang="fr-FR" altLang="fr-FR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594" y="712284"/>
            <a:ext cx="135572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10154882" y="759909"/>
            <a:ext cx="11112" cy="181927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9681807" y="750384"/>
            <a:ext cx="11112" cy="246062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0197744" y="1544134"/>
            <a:ext cx="677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CE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9283344" y="620209"/>
            <a:ext cx="6778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15" name="Connecteur droit 1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093872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Duty cycle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762345" y="3164873"/>
            <a:ext cx="8424863" cy="158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 flipV="1">
            <a:off x="2978245" y="1509111"/>
            <a:ext cx="0" cy="1871662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898283" y="330933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+mn-lt"/>
              </a:rPr>
              <a:t>t</a:t>
            </a:r>
          </a:p>
        </p:txBody>
      </p:sp>
      <p:sp>
        <p:nvSpPr>
          <p:cNvPr id="10" name="Rectangle 8" descr="noir)"/>
          <p:cNvSpPr>
            <a:spLocks noChangeArrowheads="1"/>
          </p:cNvSpPr>
          <p:nvPr/>
        </p:nvSpPr>
        <p:spPr bwMode="auto">
          <a:xfrm>
            <a:off x="2978245" y="2229836"/>
            <a:ext cx="1295400" cy="9350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+mn-lt"/>
              </a:rPr>
              <a:t>Switch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+mn-lt"/>
              </a:rPr>
              <a:t>“</a:t>
            </a:r>
            <a:r>
              <a:rPr lang="fr-FR" altLang="fr-FR" sz="1800" dirty="0" err="1">
                <a:latin typeface="+mn-lt"/>
              </a:rPr>
              <a:t>Closed</a:t>
            </a:r>
            <a:r>
              <a:rPr lang="fr-FR" altLang="fr-FR" sz="1800" dirty="0">
                <a:latin typeface="+mn-lt"/>
              </a:rPr>
              <a:t>”</a:t>
            </a:r>
          </a:p>
        </p:txBody>
      </p:sp>
      <p:sp>
        <p:nvSpPr>
          <p:cNvPr id="12" name="Rectangle 10" descr="noir)"/>
          <p:cNvSpPr>
            <a:spLocks noChangeArrowheads="1"/>
          </p:cNvSpPr>
          <p:nvPr/>
        </p:nvSpPr>
        <p:spPr bwMode="auto">
          <a:xfrm>
            <a:off x="4273645" y="2229836"/>
            <a:ext cx="1944688" cy="93503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+mn-lt"/>
              </a:rPr>
              <a:t>Switch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+mn-lt"/>
              </a:rPr>
              <a:t>“</a:t>
            </a:r>
            <a:r>
              <a:rPr lang="fr-FR" altLang="fr-FR" sz="1800" dirty="0" err="1">
                <a:latin typeface="+mn-lt"/>
              </a:rPr>
              <a:t>Opened</a:t>
            </a:r>
            <a:r>
              <a:rPr lang="fr-FR" altLang="fr-FR" sz="1800" dirty="0">
                <a:latin typeface="+mn-lt"/>
              </a:rPr>
              <a:t>”</a:t>
            </a:r>
          </a:p>
        </p:txBody>
      </p:sp>
      <p:sp>
        <p:nvSpPr>
          <p:cNvPr id="13" name="Rectangle 12" descr="noir)"/>
          <p:cNvSpPr>
            <a:spLocks noChangeArrowheads="1"/>
          </p:cNvSpPr>
          <p:nvPr/>
        </p:nvSpPr>
        <p:spPr bwMode="auto">
          <a:xfrm>
            <a:off x="6218333" y="2229836"/>
            <a:ext cx="1295400" cy="9350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+mn-lt"/>
              </a:rPr>
              <a:t>Switch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+mn-lt"/>
              </a:rPr>
              <a:t>“Closed”</a:t>
            </a:r>
          </a:p>
        </p:txBody>
      </p:sp>
      <p:sp>
        <p:nvSpPr>
          <p:cNvPr id="14" name="Rectangle 13" descr="noir)"/>
          <p:cNvSpPr>
            <a:spLocks noChangeArrowheads="1"/>
          </p:cNvSpPr>
          <p:nvPr/>
        </p:nvSpPr>
        <p:spPr bwMode="auto">
          <a:xfrm>
            <a:off x="7513733" y="2229836"/>
            <a:ext cx="1944687" cy="93503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+mn-lt"/>
              </a:rPr>
              <a:t>Switch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+mn-lt"/>
              </a:rPr>
              <a:t>“Opened”</a:t>
            </a:r>
          </a:p>
        </p:txBody>
      </p:sp>
      <p:sp>
        <p:nvSpPr>
          <p:cNvPr id="15" name="Rectangle 14" descr="noir)"/>
          <p:cNvSpPr>
            <a:spLocks noChangeArrowheads="1"/>
          </p:cNvSpPr>
          <p:nvPr/>
        </p:nvSpPr>
        <p:spPr bwMode="auto">
          <a:xfrm>
            <a:off x="9458420" y="2229836"/>
            <a:ext cx="1295400" cy="9350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+mn-lt"/>
              </a:rPr>
              <a:t>Switch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+mn-lt"/>
              </a:rPr>
              <a:t>“Closed”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6218333" y="3516727"/>
            <a:ext cx="32416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lg"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6697758" y="3589752"/>
            <a:ext cx="23288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>
                <a:latin typeface="+mn-lt"/>
              </a:rPr>
              <a:t>Switching period</a:t>
            </a:r>
          </a:p>
        </p:txBody>
      </p:sp>
      <p:sp>
        <p:nvSpPr>
          <p:cNvPr id="29" name="Rectangle à coins arrondis 28"/>
          <p:cNvSpPr/>
          <p:nvPr/>
        </p:nvSpPr>
        <p:spPr>
          <a:xfrm>
            <a:off x="3838537" y="4617272"/>
            <a:ext cx="4965377" cy="150341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à coins arrondis 29"/>
          <p:cNvSpPr/>
          <p:nvPr/>
        </p:nvSpPr>
        <p:spPr>
          <a:xfrm>
            <a:off x="3644572" y="4423307"/>
            <a:ext cx="5358578" cy="188151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4389012" y="4905865"/>
                <a:ext cx="3839962" cy="8940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𝑪𝒐𝒏𝒅𝒖𝒄𝒕𝒊𝒐𝒏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𝒕𝒊𝒎𝒆</m:t>
                          </m:r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𝑺𝒘𝒊𝒕𝒄𝒉𝒊𝒏𝒈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𝒑𝒆𝒓𝒊𝒐𝒅</m:t>
                          </m:r>
                        </m:den>
                      </m:f>
                    </m:oMath>
                  </m:oMathPara>
                </a14:m>
                <a:endParaRPr lang="fr-FR" sz="2800" b="1" dirty="0"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012" y="4905865"/>
                <a:ext cx="3839962" cy="8940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ine 15"/>
          <p:cNvSpPr>
            <a:spLocks noChangeShapeType="1"/>
          </p:cNvSpPr>
          <p:nvPr/>
        </p:nvSpPr>
        <p:spPr bwMode="auto">
          <a:xfrm>
            <a:off x="2978246" y="3506348"/>
            <a:ext cx="13155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arrow" w="med" len="lg"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2550064" y="3608047"/>
            <a:ext cx="2294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 dirty="0">
                <a:latin typeface="+mn-lt"/>
              </a:rPr>
              <a:t>Conduction time</a:t>
            </a:r>
          </a:p>
        </p:txBody>
      </p:sp>
      <p:cxnSp>
        <p:nvCxnSpPr>
          <p:cNvPr id="35" name="Connecteur droit 3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34" name="Picture 5"/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0" r="15471"/>
          <a:stretch/>
        </p:blipFill>
        <p:spPr bwMode="auto">
          <a:xfrm rot="16200000">
            <a:off x="9478231" y="230316"/>
            <a:ext cx="954156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224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Buck Chopper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502824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 chopper : principle</a:t>
            </a:r>
          </a:p>
        </p:txBody>
      </p:sp>
      <p:sp>
        <p:nvSpPr>
          <p:cNvPr id="87" name="Text Box 86"/>
          <p:cNvSpPr txBox="1">
            <a:spLocks noChangeArrowheads="1"/>
          </p:cNvSpPr>
          <p:nvPr/>
        </p:nvSpPr>
        <p:spPr bwMode="auto">
          <a:xfrm>
            <a:off x="4581668" y="5095551"/>
            <a:ext cx="3799247" cy="510778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2400" b="1" i="1" u="sng" dirty="0">
                <a:solidFill>
                  <a:srgbClr val="FF3300"/>
                </a:solidFill>
                <a:latin typeface="+mn-lt"/>
              </a:rPr>
              <a:t>Hypothesis</a:t>
            </a:r>
            <a:r>
              <a:rPr lang="en-US" altLang="fr-FR" sz="2400" b="1" i="1" dirty="0">
                <a:solidFill>
                  <a:srgbClr val="FF3300"/>
                </a:solidFill>
                <a:latin typeface="+mn-lt"/>
              </a:rPr>
              <a:t> : V</a:t>
            </a:r>
            <a:r>
              <a:rPr lang="en-US" altLang="fr-FR" sz="2400" b="1" i="1" baseline="-25000" dirty="0">
                <a:solidFill>
                  <a:srgbClr val="FF3300"/>
                </a:solidFill>
                <a:latin typeface="+mn-lt"/>
              </a:rPr>
              <a:t>s</a:t>
            </a:r>
            <a:r>
              <a:rPr lang="en-US" altLang="fr-FR" sz="2400" b="1" i="1" dirty="0">
                <a:solidFill>
                  <a:srgbClr val="FF3300"/>
                </a:solidFill>
                <a:latin typeface="+mn-lt"/>
              </a:rPr>
              <a:t> = constant</a:t>
            </a:r>
          </a:p>
        </p:txBody>
      </p:sp>
      <p:sp>
        <p:nvSpPr>
          <p:cNvPr id="88" name="Rectangle à coins arrondis 87"/>
          <p:cNvSpPr/>
          <p:nvPr/>
        </p:nvSpPr>
        <p:spPr>
          <a:xfrm>
            <a:off x="4404082" y="4884688"/>
            <a:ext cx="4143375" cy="91598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0" name="Connecteur droit 8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ZoneTexte 90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86" name="Image 85">
            <a:extLst>
              <a:ext uri="{FF2B5EF4-FFF2-40B4-BE49-F238E27FC236}">
                <a16:creationId xmlns:a16="http://schemas.microsoft.com/office/drawing/2014/main" id="{65AF1DBA-44A2-86D2-3825-4A2213368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075" y="1394091"/>
            <a:ext cx="8770964" cy="284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8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Control</a:t>
            </a:r>
          </a:p>
        </p:txBody>
      </p:sp>
      <p:grpSp>
        <p:nvGrpSpPr>
          <p:cNvPr id="6" name="Group 98"/>
          <p:cNvGrpSpPr>
            <a:grpSpLocks/>
          </p:cNvGrpSpPr>
          <p:nvPr/>
        </p:nvGrpSpPr>
        <p:grpSpPr bwMode="auto">
          <a:xfrm>
            <a:off x="2611438" y="2462435"/>
            <a:ext cx="5445125" cy="3100388"/>
            <a:chOff x="493" y="1706"/>
            <a:chExt cx="3430" cy="1953"/>
          </a:xfrm>
        </p:grpSpPr>
        <p:sp>
          <p:nvSpPr>
            <p:cNvPr id="7" name="Line 3"/>
            <p:cNvSpPr>
              <a:spLocks noChangeShapeType="1"/>
            </p:cNvSpPr>
            <p:nvPr/>
          </p:nvSpPr>
          <p:spPr bwMode="auto">
            <a:xfrm>
              <a:off x="493" y="2791"/>
              <a:ext cx="322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 flipV="1">
              <a:off x="629" y="1747"/>
              <a:ext cx="0" cy="117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3759" y="2881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2" name="Rectangle 6" descr="noir)"/>
            <p:cNvSpPr>
              <a:spLocks noChangeArrowheads="1"/>
            </p:cNvSpPr>
            <p:nvPr/>
          </p:nvSpPr>
          <p:spPr bwMode="auto">
            <a:xfrm>
              <a:off x="630" y="2201"/>
              <a:ext cx="816" cy="589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+mn-lt"/>
                </a:rPr>
                <a:t>T</a:t>
              </a:r>
              <a:r>
                <a:rPr lang="fr-FR" altLang="fr-FR" sz="1800" baseline="-25000" dirty="0">
                  <a:latin typeface="+mn-lt"/>
                </a:rPr>
                <a:t>p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+mn-lt"/>
                </a:rPr>
                <a:t>“</a:t>
              </a:r>
              <a:r>
                <a:rPr lang="fr-FR" altLang="fr-FR" sz="1800" dirty="0" err="1">
                  <a:latin typeface="+mn-lt"/>
                </a:rPr>
                <a:t>Closed</a:t>
              </a:r>
              <a:r>
                <a:rPr lang="fr-FR" altLang="fr-FR" sz="1800" dirty="0">
                  <a:latin typeface="+mn-lt"/>
                </a:rPr>
                <a:t>”</a:t>
              </a:r>
            </a:p>
          </p:txBody>
        </p:sp>
        <p:sp>
          <p:nvSpPr>
            <p:cNvPr id="13" name="Rectangle 7" descr="noir)"/>
            <p:cNvSpPr>
              <a:spLocks noChangeArrowheads="1"/>
            </p:cNvSpPr>
            <p:nvPr/>
          </p:nvSpPr>
          <p:spPr bwMode="auto">
            <a:xfrm>
              <a:off x="1446" y="2201"/>
              <a:ext cx="1225" cy="589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+mn-lt"/>
                </a:rPr>
                <a:t>T</a:t>
              </a:r>
              <a:r>
                <a:rPr lang="fr-FR" altLang="fr-FR" sz="1800" baseline="-25000" dirty="0">
                  <a:latin typeface="+mn-lt"/>
                </a:rPr>
                <a:t>p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+mn-lt"/>
                </a:rPr>
                <a:t>“Open”</a:t>
              </a:r>
            </a:p>
          </p:txBody>
        </p:sp>
        <p:sp>
          <p:nvSpPr>
            <p:cNvPr id="14" name="Rectangle 8" descr="noir)"/>
            <p:cNvSpPr>
              <a:spLocks noChangeArrowheads="1"/>
            </p:cNvSpPr>
            <p:nvPr/>
          </p:nvSpPr>
          <p:spPr bwMode="auto">
            <a:xfrm>
              <a:off x="2671" y="2201"/>
              <a:ext cx="816" cy="589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+mn-lt"/>
                </a:rPr>
                <a:t>T</a:t>
              </a:r>
              <a:r>
                <a:rPr lang="fr-FR" altLang="fr-FR" sz="1800" baseline="-25000" dirty="0">
                  <a:latin typeface="+mn-lt"/>
                </a:rPr>
                <a:t>p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+mn-lt"/>
                </a:rPr>
                <a:t>“</a:t>
              </a:r>
              <a:r>
                <a:rPr lang="fr-FR" altLang="fr-FR" sz="1800" dirty="0" err="1">
                  <a:latin typeface="+mn-lt"/>
                </a:rPr>
                <a:t>Closed</a:t>
              </a:r>
              <a:r>
                <a:rPr lang="fr-FR" altLang="fr-FR" sz="1800" dirty="0">
                  <a:latin typeface="+mn-lt"/>
                </a:rPr>
                <a:t>”</a:t>
              </a: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538" y="289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1264" y="2890"/>
              <a:ext cx="4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 b="1" dirty="0">
                  <a:latin typeface="Symbol" panose="05050102010706020507" pitchFamily="18" charset="2"/>
                </a:rPr>
                <a:t>a</a:t>
              </a:r>
              <a:r>
                <a:rPr lang="fr-FR" altLang="fr-FR" sz="2800" b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2552" y="2894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629" y="3335"/>
              <a:ext cx="771" cy="0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493" y="3426"/>
              <a:ext cx="111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i="1">
                  <a:solidFill>
                    <a:srgbClr val="0033CC"/>
                  </a:solidFill>
                  <a:latin typeface="+mn-lt"/>
                </a:rPr>
                <a:t>Conduction time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657" y="2024"/>
              <a:ext cx="2041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975" y="1706"/>
              <a:ext cx="11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i="1">
                  <a:solidFill>
                    <a:srgbClr val="FF9900"/>
                  </a:solidFill>
                  <a:latin typeface="+mn-lt"/>
                </a:rPr>
                <a:t>Switching period</a:t>
              </a:r>
            </a:p>
          </p:txBody>
        </p:sp>
      </p:grpSp>
      <p:cxnSp>
        <p:nvCxnSpPr>
          <p:cNvPr id="25" name="Connecteur droit 2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23" name="Oval 97"/>
          <p:cNvSpPr>
            <a:spLocks noChangeArrowheads="1"/>
          </p:cNvSpPr>
          <p:nvPr/>
        </p:nvSpPr>
        <p:spPr bwMode="auto">
          <a:xfrm>
            <a:off x="7447543" y="377609"/>
            <a:ext cx="1238539" cy="1257226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F8331EF-0994-B973-BD5E-B082D8B07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469" y="420955"/>
            <a:ext cx="5890764" cy="191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9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Operation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97" name="Rectangle 373"/>
          <p:cNvSpPr txBox="1">
            <a:spLocks noChangeArrowheads="1"/>
          </p:cNvSpPr>
          <p:nvPr/>
        </p:nvSpPr>
        <p:spPr>
          <a:xfrm>
            <a:off x="8391962" y="2365520"/>
            <a:ext cx="2051050" cy="792162"/>
          </a:xfrm>
          <a:prstGeom prst="rect">
            <a:avLst/>
          </a:prstGeom>
          <a:noFill/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fr-FR" altLang="fr-FR" b="1" dirty="0"/>
              <a:t>0 &lt; t &lt; </a:t>
            </a:r>
            <a:r>
              <a:rPr lang="fr-FR" altLang="fr-FR" b="1" dirty="0">
                <a:latin typeface="Symbol" panose="05050102010706020507" pitchFamily="18" charset="2"/>
              </a:rPr>
              <a:t>a</a:t>
            </a:r>
            <a:r>
              <a:rPr lang="fr-FR" altLang="fr-FR" b="1" dirty="0"/>
              <a:t>T</a:t>
            </a:r>
          </a:p>
        </p:txBody>
      </p:sp>
      <p:cxnSp>
        <p:nvCxnSpPr>
          <p:cNvPr id="196" name="Connecteur droit 195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ZoneTexte 196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29" name="Rectangle 374"/>
          <p:cNvSpPr>
            <a:spLocks noChangeArrowheads="1"/>
          </p:cNvSpPr>
          <p:nvPr/>
        </p:nvSpPr>
        <p:spPr bwMode="auto">
          <a:xfrm>
            <a:off x="8428475" y="4522933"/>
            <a:ext cx="205105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fr-FR" altLang="fr-FR" b="1" dirty="0">
                <a:latin typeface="Symbol" panose="05050102010706020507" pitchFamily="18" charset="2"/>
              </a:rPr>
              <a:t>a</a:t>
            </a:r>
            <a:r>
              <a:rPr lang="fr-FR" altLang="fr-FR" b="1" dirty="0">
                <a:latin typeface="Calibri (Corps)"/>
              </a:rPr>
              <a:t>T &lt; t &lt; T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00FB741F-0581-DC51-E7EE-52B857AFB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91"/>
          <a:stretch>
            <a:fillRect/>
          </a:stretch>
        </p:blipFill>
        <p:spPr>
          <a:xfrm>
            <a:off x="2484875" y="1853019"/>
            <a:ext cx="1315164" cy="1817164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E4D378FB-DE36-2668-FDAC-DAF90DC25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40" r="-2"/>
          <a:stretch>
            <a:fillRect/>
          </a:stretch>
        </p:blipFill>
        <p:spPr>
          <a:xfrm>
            <a:off x="4902200" y="1853019"/>
            <a:ext cx="2557822" cy="1817164"/>
          </a:xfrm>
          <a:prstGeom prst="rect">
            <a:avLst/>
          </a:prstGeom>
        </p:spPr>
      </p:pic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2A4104A2-812B-A9F5-37A5-A9CE6DBCE3E0}"/>
              </a:ext>
            </a:extLst>
          </p:cNvPr>
          <p:cNvCxnSpPr/>
          <p:nvPr/>
        </p:nvCxnSpPr>
        <p:spPr>
          <a:xfrm>
            <a:off x="3800039" y="3651927"/>
            <a:ext cx="20188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6BC09883-29CB-4521-FCBD-78100C192A35}"/>
              </a:ext>
            </a:extLst>
          </p:cNvPr>
          <p:cNvCxnSpPr/>
          <p:nvPr/>
        </p:nvCxnSpPr>
        <p:spPr>
          <a:xfrm>
            <a:off x="3799562" y="2218890"/>
            <a:ext cx="20188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Image 125">
            <a:extLst>
              <a:ext uri="{FF2B5EF4-FFF2-40B4-BE49-F238E27FC236}">
                <a16:creationId xmlns:a16="http://schemas.microsoft.com/office/drawing/2014/main" id="{A11DDFF1-A104-277C-C477-139C41E36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91"/>
          <a:stretch>
            <a:fillRect/>
          </a:stretch>
        </p:blipFill>
        <p:spPr>
          <a:xfrm>
            <a:off x="2484875" y="4001543"/>
            <a:ext cx="1315164" cy="1817164"/>
          </a:xfrm>
          <a:prstGeom prst="rect">
            <a:avLst/>
          </a:prstGeom>
        </p:spPr>
      </p:pic>
      <p:pic>
        <p:nvPicPr>
          <p:cNvPr id="129" name="Image 128">
            <a:extLst>
              <a:ext uri="{FF2B5EF4-FFF2-40B4-BE49-F238E27FC236}">
                <a16:creationId xmlns:a16="http://schemas.microsoft.com/office/drawing/2014/main" id="{AB35CDF5-76A2-1619-1F02-BED1A5696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56" r="-1"/>
          <a:stretch>
            <a:fillRect/>
          </a:stretch>
        </p:blipFill>
        <p:spPr>
          <a:xfrm>
            <a:off x="4614152" y="4001543"/>
            <a:ext cx="2845870" cy="1817164"/>
          </a:xfrm>
          <a:prstGeom prst="rect">
            <a:avLst/>
          </a:prstGeom>
        </p:spPr>
      </p:pic>
      <p:cxnSp>
        <p:nvCxnSpPr>
          <p:cNvPr id="130" name="Connecteur droit 129">
            <a:extLst>
              <a:ext uri="{FF2B5EF4-FFF2-40B4-BE49-F238E27FC236}">
                <a16:creationId xmlns:a16="http://schemas.microsoft.com/office/drawing/2014/main" id="{AD70D745-B368-1E7E-F538-474FAEF9B7BF}"/>
              </a:ext>
            </a:extLst>
          </p:cNvPr>
          <p:cNvCxnSpPr>
            <a:cxnSpLocks/>
          </p:cNvCxnSpPr>
          <p:nvPr/>
        </p:nvCxnSpPr>
        <p:spPr>
          <a:xfrm>
            <a:off x="3676214" y="5800854"/>
            <a:ext cx="10608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EC1AA05-A48E-2237-5EA9-5B602C6A5164}"/>
              </a:ext>
            </a:extLst>
          </p:cNvPr>
          <p:cNvSpPr/>
          <p:nvPr/>
        </p:nvSpPr>
        <p:spPr>
          <a:xfrm>
            <a:off x="4902200" y="2692400"/>
            <a:ext cx="622300" cy="62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A2162AB-AF69-9736-A3E3-9808378ABA96}"/>
              </a:ext>
            </a:extLst>
          </p:cNvPr>
          <p:cNvSpPr/>
          <p:nvPr/>
        </p:nvSpPr>
        <p:spPr>
          <a:xfrm>
            <a:off x="4614151" y="4841122"/>
            <a:ext cx="910349" cy="627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6" name="Connecteur droit 205">
            <a:extLst>
              <a:ext uri="{FF2B5EF4-FFF2-40B4-BE49-F238E27FC236}">
                <a16:creationId xmlns:a16="http://schemas.microsoft.com/office/drawing/2014/main" id="{82A9E11F-80B8-3828-A0BE-8F3AC13FE904}"/>
              </a:ext>
            </a:extLst>
          </p:cNvPr>
          <p:cNvCxnSpPr>
            <a:cxnSpLocks/>
          </p:cNvCxnSpPr>
          <p:nvPr/>
        </p:nvCxnSpPr>
        <p:spPr>
          <a:xfrm flipV="1">
            <a:off x="5231606" y="4731543"/>
            <a:ext cx="0" cy="9621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2F88704C-99FF-970C-7F8A-1CB935657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469" y="157254"/>
            <a:ext cx="5890764" cy="191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2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Modes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09970" y="1114860"/>
            <a:ext cx="8964612" cy="4929188"/>
          </a:xfrm>
          <a:prstGeom prst="rect">
            <a:avLst/>
          </a:prstGeom>
          <a:noFill/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altLang="fr-FR" b="1" i="1" dirty="0"/>
              <a:t>Continuous conduction mode: </a:t>
            </a:r>
            <a:r>
              <a:rPr lang="en-AU" altLang="fr-FR" b="1" i="1" dirty="0" err="1"/>
              <a:t>i</a:t>
            </a:r>
            <a:r>
              <a:rPr lang="en-AU" altLang="fr-FR" b="1" i="1" baseline="-25000" dirty="0" err="1"/>
              <a:t>L</a:t>
            </a:r>
            <a:r>
              <a:rPr lang="en-AU" altLang="fr-FR" b="1" i="1" dirty="0"/>
              <a:t> &gt; 0</a:t>
            </a:r>
          </a:p>
          <a:p>
            <a:endParaRPr lang="en-AU" altLang="fr-FR" b="1" i="1" dirty="0"/>
          </a:p>
          <a:p>
            <a:endParaRPr lang="en-AU" altLang="fr-FR" b="1" i="1" dirty="0"/>
          </a:p>
          <a:p>
            <a:endParaRPr lang="en-AU" altLang="fr-FR" b="1" i="1" dirty="0"/>
          </a:p>
          <a:p>
            <a:endParaRPr lang="en-AU" altLang="fr-FR" b="1" i="1" dirty="0"/>
          </a:p>
          <a:p>
            <a:endParaRPr lang="en-AU" altLang="fr-FR" b="1" i="1" dirty="0"/>
          </a:p>
          <a:p>
            <a:endParaRPr lang="en-AU" altLang="fr-FR" b="1" i="1" dirty="0"/>
          </a:p>
          <a:p>
            <a:r>
              <a:rPr lang="en-AU" altLang="fr-FR" b="1" i="1" dirty="0"/>
              <a:t>Discontinuous conduction mode: </a:t>
            </a:r>
            <a:r>
              <a:rPr lang="en-AU" altLang="fr-FR" b="1" i="1" dirty="0" err="1"/>
              <a:t>i</a:t>
            </a:r>
            <a:r>
              <a:rPr lang="en-AU" altLang="fr-FR" b="1" i="1" baseline="-25000" dirty="0" err="1"/>
              <a:t>L</a:t>
            </a:r>
            <a:r>
              <a:rPr lang="en-AU" altLang="fr-FR" b="1" i="1" dirty="0"/>
              <a:t>(t</a:t>
            </a:r>
            <a:r>
              <a:rPr lang="en-AU" altLang="fr-FR" b="1" i="1" baseline="-25000" dirty="0"/>
              <a:t>0</a:t>
            </a:r>
            <a:r>
              <a:rPr lang="en-AU" altLang="fr-FR" b="1" i="1" dirty="0"/>
              <a:t>) = 0 ; t</a:t>
            </a:r>
            <a:r>
              <a:rPr lang="en-AU" altLang="fr-FR" b="1" i="1" baseline="-25000" dirty="0"/>
              <a:t>0</a:t>
            </a:r>
            <a:r>
              <a:rPr lang="en-AU" altLang="fr-FR" b="1" i="1" dirty="0"/>
              <a:t> &lt; T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6927273" y="1681803"/>
            <a:ext cx="2479964" cy="1015739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8E022C-A948-F3A9-31E1-B4E901045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393" y="1681803"/>
            <a:ext cx="9675761" cy="314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8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899761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3639272" y="3555423"/>
            <a:ext cx="5113337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3855172" y="1898073"/>
            <a:ext cx="0" cy="187166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824047" y="3698298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" name="Rectangle 6" descr="noir)"/>
          <p:cNvSpPr>
            <a:spLocks noChangeArrowheads="1"/>
          </p:cNvSpPr>
          <p:nvPr/>
        </p:nvSpPr>
        <p:spPr bwMode="auto">
          <a:xfrm>
            <a:off x="3856759" y="2618798"/>
            <a:ext cx="1295400" cy="9350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+mn-lt"/>
              </a:rPr>
              <a:t>T</a:t>
            </a:r>
            <a:r>
              <a:rPr lang="fr-FR" altLang="fr-FR" sz="1800" baseline="-25000" dirty="0">
                <a:latin typeface="+mn-lt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+mn-lt"/>
              </a:rPr>
              <a:t>«</a:t>
            </a:r>
            <a:r>
              <a:rPr lang="fr-FR" altLang="fr-FR" sz="1800" dirty="0" err="1">
                <a:latin typeface="+mn-lt"/>
              </a:rPr>
              <a:t>Closed</a:t>
            </a:r>
            <a:r>
              <a:rPr lang="fr-FR" altLang="fr-FR" sz="1800" dirty="0">
                <a:latin typeface="+mn-lt"/>
              </a:rPr>
              <a:t> »</a:t>
            </a:r>
          </a:p>
        </p:txBody>
      </p:sp>
      <p:sp>
        <p:nvSpPr>
          <p:cNvPr id="12" name="Rectangle 7" descr="noir)"/>
          <p:cNvSpPr>
            <a:spLocks noChangeArrowheads="1"/>
          </p:cNvSpPr>
          <p:nvPr/>
        </p:nvSpPr>
        <p:spPr bwMode="auto">
          <a:xfrm>
            <a:off x="5152159" y="2618798"/>
            <a:ext cx="2636838" cy="9350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+mn-lt"/>
              </a:rPr>
              <a:t>T</a:t>
            </a:r>
            <a:r>
              <a:rPr lang="fr-FR" altLang="fr-FR" sz="1800" baseline="-25000" dirty="0">
                <a:latin typeface="+mn-lt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+mn-lt"/>
              </a:rPr>
              <a:t>«</a:t>
            </a:r>
            <a:r>
              <a:rPr lang="fr-FR" altLang="fr-FR" sz="1800" dirty="0" err="1">
                <a:latin typeface="+mn-lt"/>
              </a:rPr>
              <a:t>Opened</a:t>
            </a:r>
            <a:r>
              <a:rPr lang="fr-FR" altLang="fr-FR" sz="1800" dirty="0">
                <a:latin typeface="+mn-lt"/>
              </a:rPr>
              <a:t> »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710709" y="3718936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4863234" y="3712586"/>
            <a:ext cx="644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 dirty="0">
                <a:latin typeface="Symbol" panose="05050102010706020507" pitchFamily="18" charset="2"/>
              </a:rPr>
              <a:t>a</a:t>
            </a:r>
            <a:r>
              <a:rPr lang="fr-FR" altLang="fr-FR" sz="28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7584209" y="3718936"/>
            <a:ext cx="420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3855172" y="4419023"/>
            <a:ext cx="1268412" cy="635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828184" y="4563486"/>
            <a:ext cx="13308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D</a:t>
            </a:r>
            <a:r>
              <a:rPr lang="fr-FR" altLang="fr-FR" sz="1800" b="1" i="1" baseline="-25000" dirty="0">
                <a:solidFill>
                  <a:srgbClr val="0033CC"/>
                </a:solidFill>
                <a:latin typeface="Calibri (Corps)"/>
              </a:rPr>
              <a:t>p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reverse</a:t>
            </a: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5123584" y="4425373"/>
            <a:ext cx="266541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5844309" y="4563486"/>
            <a:ext cx="13564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FF9900"/>
                </a:solidFill>
                <a:latin typeface="Calibri (Corps)"/>
              </a:rPr>
              <a:t>D</a:t>
            </a:r>
            <a:r>
              <a:rPr lang="fr-FR" altLang="fr-FR" sz="1800" b="1" i="1" baseline="-25000" dirty="0">
                <a:solidFill>
                  <a:srgbClr val="FF9900"/>
                </a:solidFill>
                <a:latin typeface="Calibri (Corps)"/>
              </a:rPr>
              <a:t>p</a:t>
            </a:r>
            <a:r>
              <a:rPr lang="fr-FR" altLang="fr-FR" sz="1800" b="1" i="1" dirty="0">
                <a:solidFill>
                  <a:srgbClr val="FF9900"/>
                </a:solidFill>
                <a:latin typeface="Calibri (Corps)"/>
              </a:rPr>
              <a:t> </a:t>
            </a:r>
            <a:r>
              <a:rPr lang="fr-FR" altLang="fr-FR" sz="1800" b="1" i="1" dirty="0" err="1">
                <a:solidFill>
                  <a:srgbClr val="FF9900"/>
                </a:solidFill>
                <a:latin typeface="Calibri (Corps)"/>
              </a:rPr>
              <a:t>forward</a:t>
            </a:r>
            <a:endParaRPr lang="fr-FR" altLang="fr-FR" sz="1800" b="1" i="1" dirty="0">
              <a:solidFill>
                <a:srgbClr val="FF9900"/>
              </a:solidFill>
              <a:latin typeface="Calibri (Corps)"/>
            </a:endParaRPr>
          </a:p>
        </p:txBody>
      </p:sp>
      <p:cxnSp>
        <p:nvCxnSpPr>
          <p:cNvPr id="21" name="Connecteur droit 20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141257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423761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Chronograms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9508554" y="5702012"/>
            <a:ext cx="13319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b="1" dirty="0">
                <a:solidFill>
                  <a:srgbClr val="FF3300"/>
                </a:solidFill>
                <a:latin typeface="Times New Roman" panose="02020603050405020304" pitchFamily="18" charset="0"/>
              </a:rPr>
              <a:t>E &gt; V</a:t>
            </a:r>
            <a:r>
              <a:rPr lang="fr-FR" altLang="fr-FR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</a:p>
        </p:txBody>
      </p:sp>
      <p:grpSp>
        <p:nvGrpSpPr>
          <p:cNvPr id="8" name="Group 125"/>
          <p:cNvGrpSpPr>
            <a:grpSpLocks/>
          </p:cNvGrpSpPr>
          <p:nvPr/>
        </p:nvGrpSpPr>
        <p:grpSpPr bwMode="auto">
          <a:xfrm>
            <a:off x="2590222" y="1833275"/>
            <a:ext cx="4638675" cy="4306887"/>
            <a:chOff x="340" y="989"/>
            <a:chExt cx="2922" cy="2713"/>
          </a:xfrm>
        </p:grpSpPr>
        <p:sp>
          <p:nvSpPr>
            <p:cNvPr id="10" name="AutoShape 12"/>
            <p:cNvSpPr>
              <a:spLocks noChangeAspect="1" noChangeArrowheads="1" noTextEdit="1"/>
            </p:cNvSpPr>
            <p:nvPr/>
          </p:nvSpPr>
          <p:spPr bwMode="auto">
            <a:xfrm>
              <a:off x="340" y="989"/>
              <a:ext cx="2922" cy="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2" name="Group 123"/>
            <p:cNvGrpSpPr>
              <a:grpSpLocks/>
            </p:cNvGrpSpPr>
            <p:nvPr/>
          </p:nvGrpSpPr>
          <p:grpSpPr bwMode="auto">
            <a:xfrm>
              <a:off x="340" y="989"/>
              <a:ext cx="2914" cy="1207"/>
              <a:chOff x="340" y="989"/>
              <a:chExt cx="2914" cy="1207"/>
            </a:xfrm>
          </p:grpSpPr>
          <p:sp>
            <p:nvSpPr>
              <p:cNvPr id="82" name="Rectangle 14"/>
              <p:cNvSpPr>
                <a:spLocks noChangeArrowheads="1"/>
              </p:cNvSpPr>
              <p:nvPr/>
            </p:nvSpPr>
            <p:spPr bwMode="auto">
              <a:xfrm>
                <a:off x="340" y="989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" name="Freeform 15"/>
              <p:cNvSpPr>
                <a:spLocks/>
              </p:cNvSpPr>
              <p:nvPr/>
            </p:nvSpPr>
            <p:spPr bwMode="auto">
              <a:xfrm>
                <a:off x="500" y="1094"/>
                <a:ext cx="56" cy="112"/>
              </a:xfrm>
              <a:custGeom>
                <a:avLst/>
                <a:gdLst>
                  <a:gd name="T0" fmla="*/ 32 w 56"/>
                  <a:gd name="T1" fmla="*/ 0 h 112"/>
                  <a:gd name="T2" fmla="*/ 56 w 56"/>
                  <a:gd name="T3" fmla="*/ 112 h 112"/>
                  <a:gd name="T4" fmla="*/ 32 w 56"/>
                  <a:gd name="T5" fmla="*/ 112 h 112"/>
                  <a:gd name="T6" fmla="*/ 0 w 56"/>
                  <a:gd name="T7" fmla="*/ 112 h 112"/>
                  <a:gd name="T8" fmla="*/ 32 w 56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112">
                    <a:moveTo>
                      <a:pt x="32" y="0"/>
                    </a:moveTo>
                    <a:lnTo>
                      <a:pt x="56" y="112"/>
                    </a:lnTo>
                    <a:lnTo>
                      <a:pt x="32" y="112"/>
                    </a:lnTo>
                    <a:lnTo>
                      <a:pt x="0" y="112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4" name="Line 16"/>
              <p:cNvSpPr>
                <a:spLocks noChangeShapeType="1"/>
              </p:cNvSpPr>
              <p:nvPr/>
            </p:nvSpPr>
            <p:spPr bwMode="auto">
              <a:xfrm>
                <a:off x="532" y="1206"/>
                <a:ext cx="0" cy="8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5" name="Freeform 17"/>
              <p:cNvSpPr>
                <a:spLocks/>
              </p:cNvSpPr>
              <p:nvPr/>
            </p:nvSpPr>
            <p:spPr bwMode="auto">
              <a:xfrm>
                <a:off x="3142" y="1974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6" name="Line 18"/>
              <p:cNvSpPr>
                <a:spLocks noChangeShapeType="1"/>
              </p:cNvSpPr>
              <p:nvPr/>
            </p:nvSpPr>
            <p:spPr bwMode="auto">
              <a:xfrm>
                <a:off x="484" y="2006"/>
                <a:ext cx="265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7" name="Line 19"/>
              <p:cNvSpPr>
                <a:spLocks noChangeShapeType="1"/>
              </p:cNvSpPr>
              <p:nvPr/>
            </p:nvSpPr>
            <p:spPr bwMode="auto">
              <a:xfrm>
                <a:off x="484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8" name="Line 20"/>
              <p:cNvSpPr>
                <a:spLocks noChangeShapeType="1"/>
              </p:cNvSpPr>
              <p:nvPr/>
            </p:nvSpPr>
            <p:spPr bwMode="auto">
              <a:xfrm>
                <a:off x="628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9" name="Line 21"/>
              <p:cNvSpPr>
                <a:spLocks noChangeShapeType="1"/>
              </p:cNvSpPr>
              <p:nvPr/>
            </p:nvSpPr>
            <p:spPr bwMode="auto">
              <a:xfrm>
                <a:off x="772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0" name="Line 22"/>
              <p:cNvSpPr>
                <a:spLocks noChangeShapeType="1"/>
              </p:cNvSpPr>
              <p:nvPr/>
            </p:nvSpPr>
            <p:spPr bwMode="auto">
              <a:xfrm>
                <a:off x="916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Line 23"/>
              <p:cNvSpPr>
                <a:spLocks noChangeShapeType="1"/>
              </p:cNvSpPr>
              <p:nvPr/>
            </p:nvSpPr>
            <p:spPr bwMode="auto">
              <a:xfrm>
                <a:off x="1060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Line 24"/>
              <p:cNvSpPr>
                <a:spLocks noChangeShapeType="1"/>
              </p:cNvSpPr>
              <p:nvPr/>
            </p:nvSpPr>
            <p:spPr bwMode="auto">
              <a:xfrm>
                <a:off x="1205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3" name="Line 25"/>
              <p:cNvSpPr>
                <a:spLocks noChangeShapeType="1"/>
              </p:cNvSpPr>
              <p:nvPr/>
            </p:nvSpPr>
            <p:spPr bwMode="auto">
              <a:xfrm>
                <a:off x="1349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4" name="Line 26"/>
              <p:cNvSpPr>
                <a:spLocks noChangeShapeType="1"/>
              </p:cNvSpPr>
              <p:nvPr/>
            </p:nvSpPr>
            <p:spPr bwMode="auto">
              <a:xfrm>
                <a:off x="1493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5" name="Line 27"/>
              <p:cNvSpPr>
                <a:spLocks noChangeShapeType="1"/>
              </p:cNvSpPr>
              <p:nvPr/>
            </p:nvSpPr>
            <p:spPr bwMode="auto">
              <a:xfrm>
                <a:off x="1637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" name="Line 28"/>
              <p:cNvSpPr>
                <a:spLocks noChangeShapeType="1"/>
              </p:cNvSpPr>
              <p:nvPr/>
            </p:nvSpPr>
            <p:spPr bwMode="auto">
              <a:xfrm>
                <a:off x="1781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7" name="Line 29"/>
              <p:cNvSpPr>
                <a:spLocks noChangeShapeType="1"/>
              </p:cNvSpPr>
              <p:nvPr/>
            </p:nvSpPr>
            <p:spPr bwMode="auto">
              <a:xfrm>
                <a:off x="1925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8" name="Line 30"/>
              <p:cNvSpPr>
                <a:spLocks noChangeShapeType="1"/>
              </p:cNvSpPr>
              <p:nvPr/>
            </p:nvSpPr>
            <p:spPr bwMode="auto">
              <a:xfrm>
                <a:off x="2069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9" name="Line 31"/>
              <p:cNvSpPr>
                <a:spLocks noChangeShapeType="1"/>
              </p:cNvSpPr>
              <p:nvPr/>
            </p:nvSpPr>
            <p:spPr bwMode="auto">
              <a:xfrm>
                <a:off x="2213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0" name="Line 32"/>
              <p:cNvSpPr>
                <a:spLocks noChangeShapeType="1"/>
              </p:cNvSpPr>
              <p:nvPr/>
            </p:nvSpPr>
            <p:spPr bwMode="auto">
              <a:xfrm>
                <a:off x="2357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1" name="Line 33"/>
              <p:cNvSpPr>
                <a:spLocks noChangeShapeType="1"/>
              </p:cNvSpPr>
              <p:nvPr/>
            </p:nvSpPr>
            <p:spPr bwMode="auto">
              <a:xfrm>
                <a:off x="2501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" name="Line 34"/>
              <p:cNvSpPr>
                <a:spLocks noChangeShapeType="1"/>
              </p:cNvSpPr>
              <p:nvPr/>
            </p:nvSpPr>
            <p:spPr bwMode="auto">
              <a:xfrm>
                <a:off x="2645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3" name="Line 35"/>
              <p:cNvSpPr>
                <a:spLocks noChangeShapeType="1"/>
              </p:cNvSpPr>
              <p:nvPr/>
            </p:nvSpPr>
            <p:spPr bwMode="auto">
              <a:xfrm>
                <a:off x="2789" y="1550"/>
                <a:ext cx="65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" name="Line 36"/>
              <p:cNvSpPr>
                <a:spLocks noChangeShapeType="1"/>
              </p:cNvSpPr>
              <p:nvPr/>
            </p:nvSpPr>
            <p:spPr bwMode="auto">
              <a:xfrm>
                <a:off x="2934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" name="Line 37"/>
              <p:cNvSpPr>
                <a:spLocks noChangeShapeType="1"/>
              </p:cNvSpPr>
              <p:nvPr/>
            </p:nvSpPr>
            <p:spPr bwMode="auto">
              <a:xfrm>
                <a:off x="3078" y="1550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6" name="Line 38"/>
              <p:cNvSpPr>
                <a:spLocks noChangeShapeType="1"/>
              </p:cNvSpPr>
              <p:nvPr/>
            </p:nvSpPr>
            <p:spPr bwMode="auto">
              <a:xfrm>
                <a:off x="532" y="1326"/>
                <a:ext cx="905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7" name="Line 39"/>
              <p:cNvSpPr>
                <a:spLocks noChangeShapeType="1"/>
              </p:cNvSpPr>
              <p:nvPr/>
            </p:nvSpPr>
            <p:spPr bwMode="auto">
              <a:xfrm>
                <a:off x="1437" y="1326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8" name="Line 40"/>
              <p:cNvSpPr>
                <a:spLocks noChangeShapeType="1"/>
              </p:cNvSpPr>
              <p:nvPr/>
            </p:nvSpPr>
            <p:spPr bwMode="auto">
              <a:xfrm>
                <a:off x="1437" y="2006"/>
                <a:ext cx="45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9" name="Line 41"/>
              <p:cNvSpPr>
                <a:spLocks noChangeShapeType="1"/>
              </p:cNvSpPr>
              <p:nvPr/>
            </p:nvSpPr>
            <p:spPr bwMode="auto">
              <a:xfrm flipV="1">
                <a:off x="1893" y="1326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0" name="Line 42"/>
              <p:cNvSpPr>
                <a:spLocks noChangeShapeType="1"/>
              </p:cNvSpPr>
              <p:nvPr/>
            </p:nvSpPr>
            <p:spPr bwMode="auto">
              <a:xfrm>
                <a:off x="1893" y="1326"/>
                <a:ext cx="90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1" name="Line 43"/>
              <p:cNvSpPr>
                <a:spLocks noChangeShapeType="1"/>
              </p:cNvSpPr>
              <p:nvPr/>
            </p:nvSpPr>
            <p:spPr bwMode="auto">
              <a:xfrm>
                <a:off x="2797" y="1326"/>
                <a:ext cx="0" cy="68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" name="Line 44"/>
              <p:cNvSpPr>
                <a:spLocks noChangeShapeType="1"/>
              </p:cNvSpPr>
              <p:nvPr/>
            </p:nvSpPr>
            <p:spPr bwMode="auto">
              <a:xfrm>
                <a:off x="2797" y="2006"/>
                <a:ext cx="27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3" name="Rectangle 45"/>
              <p:cNvSpPr>
                <a:spLocks noChangeArrowheads="1"/>
              </p:cNvSpPr>
              <p:nvPr/>
            </p:nvSpPr>
            <p:spPr bwMode="auto">
              <a:xfrm>
                <a:off x="460" y="990"/>
                <a:ext cx="5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4" name="Rectangle 46"/>
              <p:cNvSpPr>
                <a:spLocks noChangeArrowheads="1"/>
              </p:cNvSpPr>
              <p:nvPr/>
            </p:nvSpPr>
            <p:spPr bwMode="auto">
              <a:xfrm>
                <a:off x="3198" y="1806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200">
                    <a:solidFill>
                      <a:srgbClr val="000000"/>
                    </a:solidFill>
                    <a:latin typeface="Times" panose="02020603050405020304" pitchFamily="18" charset="0"/>
                  </a:rPr>
                  <a:t>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5" name="Rectangle 47"/>
              <p:cNvSpPr>
                <a:spLocks noChangeArrowheads="1"/>
              </p:cNvSpPr>
              <p:nvPr/>
            </p:nvSpPr>
            <p:spPr bwMode="auto">
              <a:xfrm>
                <a:off x="428" y="1894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200">
                    <a:solidFill>
                      <a:srgbClr val="000000"/>
                    </a:solidFill>
                    <a:latin typeface="Times" panose="02020603050405020304" pitchFamily="18" charset="0"/>
                  </a:rPr>
                  <a:t>0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" name="Rectangle 48"/>
              <p:cNvSpPr>
                <a:spLocks noChangeArrowheads="1"/>
              </p:cNvSpPr>
              <p:nvPr/>
            </p:nvSpPr>
            <p:spPr bwMode="auto">
              <a:xfrm>
                <a:off x="356" y="1446"/>
                <a:ext cx="80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V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Rectangle 49"/>
              <p:cNvSpPr>
                <a:spLocks noChangeArrowheads="1"/>
              </p:cNvSpPr>
              <p:nvPr/>
            </p:nvSpPr>
            <p:spPr bwMode="auto">
              <a:xfrm>
                <a:off x="428" y="1502"/>
                <a:ext cx="31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0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s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" name="Rectangle 50"/>
              <p:cNvSpPr>
                <a:spLocks noChangeArrowheads="1"/>
              </p:cNvSpPr>
              <p:nvPr/>
            </p:nvSpPr>
            <p:spPr bwMode="auto">
              <a:xfrm>
                <a:off x="388" y="1246"/>
                <a:ext cx="7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E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" name="Rectangle 51"/>
              <p:cNvSpPr>
                <a:spLocks noChangeArrowheads="1"/>
              </p:cNvSpPr>
              <p:nvPr/>
            </p:nvSpPr>
            <p:spPr bwMode="auto">
              <a:xfrm>
                <a:off x="1837" y="2062"/>
                <a:ext cx="7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Rectangle 52"/>
              <p:cNvSpPr>
                <a:spLocks noChangeArrowheads="1"/>
              </p:cNvSpPr>
              <p:nvPr/>
            </p:nvSpPr>
            <p:spPr bwMode="auto">
              <a:xfrm>
                <a:off x="1437" y="2030"/>
                <a:ext cx="10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.T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Rectangle 53"/>
              <p:cNvSpPr>
                <a:spLocks noChangeArrowheads="1"/>
              </p:cNvSpPr>
              <p:nvPr/>
            </p:nvSpPr>
            <p:spPr bwMode="auto">
              <a:xfrm>
                <a:off x="1357" y="2022"/>
                <a:ext cx="7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24"/>
            <p:cNvGrpSpPr>
              <a:grpSpLocks/>
            </p:cNvGrpSpPr>
            <p:nvPr/>
          </p:nvGrpSpPr>
          <p:grpSpPr bwMode="auto">
            <a:xfrm>
              <a:off x="420" y="2222"/>
              <a:ext cx="2810" cy="1246"/>
              <a:chOff x="420" y="2222"/>
              <a:chExt cx="2810" cy="1246"/>
            </a:xfrm>
          </p:grpSpPr>
          <p:sp>
            <p:nvSpPr>
              <p:cNvPr id="24" name="Freeform 54"/>
              <p:cNvSpPr>
                <a:spLocks/>
              </p:cNvSpPr>
              <p:nvPr/>
            </p:nvSpPr>
            <p:spPr bwMode="auto">
              <a:xfrm>
                <a:off x="500" y="2390"/>
                <a:ext cx="56" cy="112"/>
              </a:xfrm>
              <a:custGeom>
                <a:avLst/>
                <a:gdLst>
                  <a:gd name="T0" fmla="*/ 32 w 56"/>
                  <a:gd name="T1" fmla="*/ 0 h 112"/>
                  <a:gd name="T2" fmla="*/ 56 w 56"/>
                  <a:gd name="T3" fmla="*/ 112 h 112"/>
                  <a:gd name="T4" fmla="*/ 32 w 56"/>
                  <a:gd name="T5" fmla="*/ 112 h 112"/>
                  <a:gd name="T6" fmla="*/ 0 w 56"/>
                  <a:gd name="T7" fmla="*/ 112 h 112"/>
                  <a:gd name="T8" fmla="*/ 32 w 56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112">
                    <a:moveTo>
                      <a:pt x="32" y="0"/>
                    </a:moveTo>
                    <a:lnTo>
                      <a:pt x="56" y="112"/>
                    </a:lnTo>
                    <a:lnTo>
                      <a:pt x="32" y="112"/>
                    </a:lnTo>
                    <a:lnTo>
                      <a:pt x="0" y="112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" name="Line 55"/>
              <p:cNvSpPr>
                <a:spLocks noChangeShapeType="1"/>
              </p:cNvSpPr>
              <p:nvPr/>
            </p:nvSpPr>
            <p:spPr bwMode="auto">
              <a:xfrm>
                <a:off x="532" y="2502"/>
                <a:ext cx="0" cy="8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" name="Freeform 56"/>
              <p:cNvSpPr>
                <a:spLocks/>
              </p:cNvSpPr>
              <p:nvPr/>
            </p:nvSpPr>
            <p:spPr bwMode="auto">
              <a:xfrm>
                <a:off x="3118" y="3246"/>
                <a:ext cx="112" cy="56"/>
              </a:xfrm>
              <a:custGeom>
                <a:avLst/>
                <a:gdLst>
                  <a:gd name="T0" fmla="*/ 112 w 112"/>
                  <a:gd name="T1" fmla="*/ 32 h 56"/>
                  <a:gd name="T2" fmla="*/ 0 w 112"/>
                  <a:gd name="T3" fmla="*/ 56 h 56"/>
                  <a:gd name="T4" fmla="*/ 0 w 112"/>
                  <a:gd name="T5" fmla="*/ 32 h 56"/>
                  <a:gd name="T6" fmla="*/ 0 w 112"/>
                  <a:gd name="T7" fmla="*/ 0 h 56"/>
                  <a:gd name="T8" fmla="*/ 112 w 112"/>
                  <a:gd name="T9" fmla="*/ 32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56">
                    <a:moveTo>
                      <a:pt x="112" y="32"/>
                    </a:moveTo>
                    <a:lnTo>
                      <a:pt x="0" y="56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112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" name="Line 57"/>
              <p:cNvSpPr>
                <a:spLocks noChangeShapeType="1"/>
              </p:cNvSpPr>
              <p:nvPr/>
            </p:nvSpPr>
            <p:spPr bwMode="auto">
              <a:xfrm>
                <a:off x="460" y="3278"/>
                <a:ext cx="265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Rectangle 58"/>
              <p:cNvSpPr>
                <a:spLocks noChangeArrowheads="1"/>
              </p:cNvSpPr>
              <p:nvPr/>
            </p:nvSpPr>
            <p:spPr bwMode="auto">
              <a:xfrm>
                <a:off x="3198" y="3078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200">
                    <a:solidFill>
                      <a:srgbClr val="000000"/>
                    </a:solidFill>
                    <a:latin typeface="Times" panose="02020603050405020304" pitchFamily="18" charset="0"/>
                  </a:rPr>
                  <a:t>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Rectangle 59"/>
              <p:cNvSpPr>
                <a:spLocks noChangeArrowheads="1"/>
              </p:cNvSpPr>
              <p:nvPr/>
            </p:nvSpPr>
            <p:spPr bwMode="auto">
              <a:xfrm>
                <a:off x="420" y="316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200">
                    <a:solidFill>
                      <a:srgbClr val="000000"/>
                    </a:solidFill>
                    <a:latin typeface="Times" panose="02020603050405020304" pitchFamily="18" charset="0"/>
                  </a:rPr>
                  <a:t>0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Rectangle 60"/>
              <p:cNvSpPr>
                <a:spLocks noChangeArrowheads="1"/>
              </p:cNvSpPr>
              <p:nvPr/>
            </p:nvSpPr>
            <p:spPr bwMode="auto">
              <a:xfrm>
                <a:off x="444" y="2222"/>
                <a:ext cx="3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i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" name="Rectangle 61"/>
              <p:cNvSpPr>
                <a:spLocks noChangeArrowheads="1"/>
              </p:cNvSpPr>
              <p:nvPr/>
            </p:nvSpPr>
            <p:spPr bwMode="auto">
              <a:xfrm>
                <a:off x="476" y="2318"/>
                <a:ext cx="53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0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L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" name="Line 62"/>
              <p:cNvSpPr>
                <a:spLocks noChangeShapeType="1"/>
              </p:cNvSpPr>
              <p:nvPr/>
            </p:nvSpPr>
            <p:spPr bwMode="auto">
              <a:xfrm>
                <a:off x="484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Line 63"/>
              <p:cNvSpPr>
                <a:spLocks noChangeShapeType="1"/>
              </p:cNvSpPr>
              <p:nvPr/>
            </p:nvSpPr>
            <p:spPr bwMode="auto">
              <a:xfrm>
                <a:off x="628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Line 64"/>
              <p:cNvSpPr>
                <a:spLocks noChangeShapeType="1"/>
              </p:cNvSpPr>
              <p:nvPr/>
            </p:nvSpPr>
            <p:spPr bwMode="auto">
              <a:xfrm>
                <a:off x="772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5" name="Line 65"/>
              <p:cNvSpPr>
                <a:spLocks noChangeShapeType="1"/>
              </p:cNvSpPr>
              <p:nvPr/>
            </p:nvSpPr>
            <p:spPr bwMode="auto">
              <a:xfrm>
                <a:off x="916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Line 66"/>
              <p:cNvSpPr>
                <a:spLocks noChangeShapeType="1"/>
              </p:cNvSpPr>
              <p:nvPr/>
            </p:nvSpPr>
            <p:spPr bwMode="auto">
              <a:xfrm>
                <a:off x="1060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7" name="Line 67"/>
              <p:cNvSpPr>
                <a:spLocks noChangeShapeType="1"/>
              </p:cNvSpPr>
              <p:nvPr/>
            </p:nvSpPr>
            <p:spPr bwMode="auto">
              <a:xfrm>
                <a:off x="1205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Line 68"/>
              <p:cNvSpPr>
                <a:spLocks noChangeShapeType="1"/>
              </p:cNvSpPr>
              <p:nvPr/>
            </p:nvSpPr>
            <p:spPr bwMode="auto">
              <a:xfrm>
                <a:off x="1349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9" name="Line 69"/>
              <p:cNvSpPr>
                <a:spLocks noChangeShapeType="1"/>
              </p:cNvSpPr>
              <p:nvPr/>
            </p:nvSpPr>
            <p:spPr bwMode="auto">
              <a:xfrm>
                <a:off x="1493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Line 70"/>
              <p:cNvSpPr>
                <a:spLocks noChangeShapeType="1"/>
              </p:cNvSpPr>
              <p:nvPr/>
            </p:nvSpPr>
            <p:spPr bwMode="auto">
              <a:xfrm>
                <a:off x="1637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Line 71"/>
              <p:cNvSpPr>
                <a:spLocks noChangeShapeType="1"/>
              </p:cNvSpPr>
              <p:nvPr/>
            </p:nvSpPr>
            <p:spPr bwMode="auto">
              <a:xfrm>
                <a:off x="1781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Line 72"/>
              <p:cNvSpPr>
                <a:spLocks noChangeShapeType="1"/>
              </p:cNvSpPr>
              <p:nvPr/>
            </p:nvSpPr>
            <p:spPr bwMode="auto">
              <a:xfrm>
                <a:off x="1925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Line 73"/>
              <p:cNvSpPr>
                <a:spLocks noChangeShapeType="1"/>
              </p:cNvSpPr>
              <p:nvPr/>
            </p:nvSpPr>
            <p:spPr bwMode="auto">
              <a:xfrm>
                <a:off x="2069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Line 74"/>
              <p:cNvSpPr>
                <a:spLocks noChangeShapeType="1"/>
              </p:cNvSpPr>
              <p:nvPr/>
            </p:nvSpPr>
            <p:spPr bwMode="auto">
              <a:xfrm>
                <a:off x="2213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Line 75"/>
              <p:cNvSpPr>
                <a:spLocks noChangeShapeType="1"/>
              </p:cNvSpPr>
              <p:nvPr/>
            </p:nvSpPr>
            <p:spPr bwMode="auto">
              <a:xfrm>
                <a:off x="2357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Line 76"/>
              <p:cNvSpPr>
                <a:spLocks noChangeShapeType="1"/>
              </p:cNvSpPr>
              <p:nvPr/>
            </p:nvSpPr>
            <p:spPr bwMode="auto">
              <a:xfrm>
                <a:off x="2501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Line 77"/>
              <p:cNvSpPr>
                <a:spLocks noChangeShapeType="1"/>
              </p:cNvSpPr>
              <p:nvPr/>
            </p:nvSpPr>
            <p:spPr bwMode="auto">
              <a:xfrm>
                <a:off x="2645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8" name="Line 78"/>
              <p:cNvSpPr>
                <a:spLocks noChangeShapeType="1"/>
              </p:cNvSpPr>
              <p:nvPr/>
            </p:nvSpPr>
            <p:spPr bwMode="auto">
              <a:xfrm>
                <a:off x="2789" y="2774"/>
                <a:ext cx="65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9" name="Line 79"/>
              <p:cNvSpPr>
                <a:spLocks noChangeShapeType="1"/>
              </p:cNvSpPr>
              <p:nvPr/>
            </p:nvSpPr>
            <p:spPr bwMode="auto">
              <a:xfrm>
                <a:off x="2934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" name="Line 80"/>
              <p:cNvSpPr>
                <a:spLocks noChangeShapeType="1"/>
              </p:cNvSpPr>
              <p:nvPr/>
            </p:nvSpPr>
            <p:spPr bwMode="auto">
              <a:xfrm>
                <a:off x="3078" y="2774"/>
                <a:ext cx="6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Line 81"/>
              <p:cNvSpPr>
                <a:spLocks noChangeShapeType="1"/>
              </p:cNvSpPr>
              <p:nvPr/>
            </p:nvSpPr>
            <p:spPr bwMode="auto">
              <a:xfrm flipV="1">
                <a:off x="532" y="2638"/>
                <a:ext cx="905" cy="27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Line 82"/>
              <p:cNvSpPr>
                <a:spLocks noChangeShapeType="1"/>
              </p:cNvSpPr>
              <p:nvPr/>
            </p:nvSpPr>
            <p:spPr bwMode="auto">
              <a:xfrm>
                <a:off x="1437" y="2638"/>
                <a:ext cx="456" cy="27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" name="Line 83"/>
              <p:cNvSpPr>
                <a:spLocks noChangeShapeType="1"/>
              </p:cNvSpPr>
              <p:nvPr/>
            </p:nvSpPr>
            <p:spPr bwMode="auto">
              <a:xfrm flipV="1">
                <a:off x="1893" y="2638"/>
                <a:ext cx="904" cy="27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Line 84"/>
              <p:cNvSpPr>
                <a:spLocks noChangeShapeType="1"/>
              </p:cNvSpPr>
              <p:nvPr/>
            </p:nvSpPr>
            <p:spPr bwMode="auto">
              <a:xfrm>
                <a:off x="2797" y="2638"/>
                <a:ext cx="321" cy="18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Rectangle 85"/>
              <p:cNvSpPr>
                <a:spLocks noChangeArrowheads="1"/>
              </p:cNvSpPr>
              <p:nvPr/>
            </p:nvSpPr>
            <p:spPr bwMode="auto">
              <a:xfrm>
                <a:off x="1837" y="3334"/>
                <a:ext cx="7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Rectangle 86"/>
              <p:cNvSpPr>
                <a:spLocks noChangeArrowheads="1"/>
              </p:cNvSpPr>
              <p:nvPr/>
            </p:nvSpPr>
            <p:spPr bwMode="auto">
              <a:xfrm>
                <a:off x="1437" y="3294"/>
                <a:ext cx="10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.T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" name="Rectangle 87"/>
              <p:cNvSpPr>
                <a:spLocks noChangeArrowheads="1"/>
              </p:cNvSpPr>
              <p:nvPr/>
            </p:nvSpPr>
            <p:spPr bwMode="auto">
              <a:xfrm>
                <a:off x="1357" y="3286"/>
                <a:ext cx="7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>
                    <a:solidFill>
                      <a:srgbClr val="000000"/>
                    </a:solidFill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" name="Line 88"/>
              <p:cNvSpPr>
                <a:spLocks noChangeShapeType="1"/>
              </p:cNvSpPr>
              <p:nvPr/>
            </p:nvSpPr>
            <p:spPr bwMode="auto">
              <a:xfrm>
                <a:off x="1437" y="2502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9" name="Line 89"/>
              <p:cNvSpPr>
                <a:spLocks noChangeShapeType="1"/>
              </p:cNvSpPr>
              <p:nvPr/>
            </p:nvSpPr>
            <p:spPr bwMode="auto">
              <a:xfrm>
                <a:off x="1437" y="2574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Line 90"/>
              <p:cNvSpPr>
                <a:spLocks noChangeShapeType="1"/>
              </p:cNvSpPr>
              <p:nvPr/>
            </p:nvSpPr>
            <p:spPr bwMode="auto">
              <a:xfrm>
                <a:off x="1437" y="2646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Line 91"/>
              <p:cNvSpPr>
                <a:spLocks noChangeShapeType="1"/>
              </p:cNvSpPr>
              <p:nvPr/>
            </p:nvSpPr>
            <p:spPr bwMode="auto">
              <a:xfrm>
                <a:off x="1437" y="2718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2" name="Line 92"/>
              <p:cNvSpPr>
                <a:spLocks noChangeShapeType="1"/>
              </p:cNvSpPr>
              <p:nvPr/>
            </p:nvSpPr>
            <p:spPr bwMode="auto">
              <a:xfrm>
                <a:off x="1437" y="2790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3" name="Line 93"/>
              <p:cNvSpPr>
                <a:spLocks noChangeShapeType="1"/>
              </p:cNvSpPr>
              <p:nvPr/>
            </p:nvSpPr>
            <p:spPr bwMode="auto">
              <a:xfrm>
                <a:off x="1437" y="2862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4" name="Line 94"/>
              <p:cNvSpPr>
                <a:spLocks noChangeShapeType="1"/>
              </p:cNvSpPr>
              <p:nvPr/>
            </p:nvSpPr>
            <p:spPr bwMode="auto">
              <a:xfrm>
                <a:off x="1437" y="2934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5" name="Line 95"/>
              <p:cNvSpPr>
                <a:spLocks noChangeShapeType="1"/>
              </p:cNvSpPr>
              <p:nvPr/>
            </p:nvSpPr>
            <p:spPr bwMode="auto">
              <a:xfrm>
                <a:off x="1437" y="3006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6" name="Line 96"/>
              <p:cNvSpPr>
                <a:spLocks noChangeShapeType="1"/>
              </p:cNvSpPr>
              <p:nvPr/>
            </p:nvSpPr>
            <p:spPr bwMode="auto">
              <a:xfrm>
                <a:off x="1437" y="3078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" name="Line 97"/>
              <p:cNvSpPr>
                <a:spLocks noChangeShapeType="1"/>
              </p:cNvSpPr>
              <p:nvPr/>
            </p:nvSpPr>
            <p:spPr bwMode="auto">
              <a:xfrm>
                <a:off x="1437" y="3150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Line 98"/>
              <p:cNvSpPr>
                <a:spLocks noChangeShapeType="1"/>
              </p:cNvSpPr>
              <p:nvPr/>
            </p:nvSpPr>
            <p:spPr bwMode="auto">
              <a:xfrm>
                <a:off x="1437" y="3222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Line 99"/>
              <p:cNvSpPr>
                <a:spLocks noChangeShapeType="1"/>
              </p:cNvSpPr>
              <p:nvPr/>
            </p:nvSpPr>
            <p:spPr bwMode="auto">
              <a:xfrm>
                <a:off x="1437" y="3294"/>
                <a:ext cx="0" cy="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0" name="Line 100"/>
              <p:cNvSpPr>
                <a:spLocks noChangeShapeType="1"/>
              </p:cNvSpPr>
              <p:nvPr/>
            </p:nvSpPr>
            <p:spPr bwMode="auto">
              <a:xfrm>
                <a:off x="1893" y="2502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1" name="Line 101"/>
              <p:cNvSpPr>
                <a:spLocks noChangeShapeType="1"/>
              </p:cNvSpPr>
              <p:nvPr/>
            </p:nvSpPr>
            <p:spPr bwMode="auto">
              <a:xfrm>
                <a:off x="1893" y="2574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2" name="Line 102"/>
              <p:cNvSpPr>
                <a:spLocks noChangeShapeType="1"/>
              </p:cNvSpPr>
              <p:nvPr/>
            </p:nvSpPr>
            <p:spPr bwMode="auto">
              <a:xfrm>
                <a:off x="1893" y="2646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3" name="Line 103"/>
              <p:cNvSpPr>
                <a:spLocks noChangeShapeType="1"/>
              </p:cNvSpPr>
              <p:nvPr/>
            </p:nvSpPr>
            <p:spPr bwMode="auto">
              <a:xfrm>
                <a:off x="1893" y="2718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Line 104"/>
              <p:cNvSpPr>
                <a:spLocks noChangeShapeType="1"/>
              </p:cNvSpPr>
              <p:nvPr/>
            </p:nvSpPr>
            <p:spPr bwMode="auto">
              <a:xfrm>
                <a:off x="1893" y="2790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Line 105"/>
              <p:cNvSpPr>
                <a:spLocks noChangeShapeType="1"/>
              </p:cNvSpPr>
              <p:nvPr/>
            </p:nvSpPr>
            <p:spPr bwMode="auto">
              <a:xfrm>
                <a:off x="1893" y="2862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6" name="Line 106"/>
              <p:cNvSpPr>
                <a:spLocks noChangeShapeType="1"/>
              </p:cNvSpPr>
              <p:nvPr/>
            </p:nvSpPr>
            <p:spPr bwMode="auto">
              <a:xfrm>
                <a:off x="1893" y="2934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7" name="Line 107"/>
              <p:cNvSpPr>
                <a:spLocks noChangeShapeType="1"/>
              </p:cNvSpPr>
              <p:nvPr/>
            </p:nvSpPr>
            <p:spPr bwMode="auto">
              <a:xfrm>
                <a:off x="1893" y="3006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" name="Line 108"/>
              <p:cNvSpPr>
                <a:spLocks noChangeShapeType="1"/>
              </p:cNvSpPr>
              <p:nvPr/>
            </p:nvSpPr>
            <p:spPr bwMode="auto">
              <a:xfrm>
                <a:off x="1893" y="3078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" name="Line 109"/>
              <p:cNvSpPr>
                <a:spLocks noChangeShapeType="1"/>
              </p:cNvSpPr>
              <p:nvPr/>
            </p:nvSpPr>
            <p:spPr bwMode="auto">
              <a:xfrm>
                <a:off x="1893" y="3150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0" name="Line 110"/>
              <p:cNvSpPr>
                <a:spLocks noChangeShapeType="1"/>
              </p:cNvSpPr>
              <p:nvPr/>
            </p:nvSpPr>
            <p:spPr bwMode="auto">
              <a:xfrm>
                <a:off x="1893" y="3222"/>
                <a:ext cx="0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1" name="Line 111"/>
              <p:cNvSpPr>
                <a:spLocks noChangeShapeType="1"/>
              </p:cNvSpPr>
              <p:nvPr/>
            </p:nvSpPr>
            <p:spPr bwMode="auto">
              <a:xfrm>
                <a:off x="1893" y="3294"/>
                <a:ext cx="0" cy="1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4" name="Freeform 112"/>
            <p:cNvSpPr>
              <a:spLocks/>
            </p:cNvSpPr>
            <p:nvPr/>
          </p:nvSpPr>
          <p:spPr bwMode="auto">
            <a:xfrm>
              <a:off x="532" y="3510"/>
              <a:ext cx="128" cy="72"/>
            </a:xfrm>
            <a:custGeom>
              <a:avLst/>
              <a:gdLst>
                <a:gd name="T0" fmla="*/ 0 w 128"/>
                <a:gd name="T1" fmla="*/ 40 h 72"/>
                <a:gd name="T2" fmla="*/ 128 w 128"/>
                <a:gd name="T3" fmla="*/ 0 h 72"/>
                <a:gd name="T4" fmla="*/ 128 w 128"/>
                <a:gd name="T5" fmla="*/ 40 h 72"/>
                <a:gd name="T6" fmla="*/ 128 w 128"/>
                <a:gd name="T7" fmla="*/ 72 h 72"/>
                <a:gd name="T8" fmla="*/ 0 w 128"/>
                <a:gd name="T9" fmla="*/ 4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72">
                  <a:moveTo>
                    <a:pt x="0" y="40"/>
                  </a:moveTo>
                  <a:lnTo>
                    <a:pt x="128" y="0"/>
                  </a:lnTo>
                  <a:lnTo>
                    <a:pt x="128" y="40"/>
                  </a:lnTo>
                  <a:lnTo>
                    <a:pt x="128" y="72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13"/>
            <p:cNvSpPr>
              <a:spLocks/>
            </p:cNvSpPr>
            <p:nvPr/>
          </p:nvSpPr>
          <p:spPr bwMode="auto">
            <a:xfrm>
              <a:off x="1301" y="3510"/>
              <a:ext cx="136" cy="72"/>
            </a:xfrm>
            <a:custGeom>
              <a:avLst/>
              <a:gdLst>
                <a:gd name="T0" fmla="*/ 136 w 136"/>
                <a:gd name="T1" fmla="*/ 40 h 72"/>
                <a:gd name="T2" fmla="*/ 0 w 136"/>
                <a:gd name="T3" fmla="*/ 72 h 72"/>
                <a:gd name="T4" fmla="*/ 0 w 136"/>
                <a:gd name="T5" fmla="*/ 40 h 72"/>
                <a:gd name="T6" fmla="*/ 0 w 136"/>
                <a:gd name="T7" fmla="*/ 0 h 72"/>
                <a:gd name="T8" fmla="*/ 136 w 136"/>
                <a:gd name="T9" fmla="*/ 4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72">
                  <a:moveTo>
                    <a:pt x="136" y="40"/>
                  </a:moveTo>
                  <a:lnTo>
                    <a:pt x="0" y="72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36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14"/>
            <p:cNvSpPr>
              <a:spLocks noChangeShapeType="1"/>
            </p:cNvSpPr>
            <p:nvPr/>
          </p:nvSpPr>
          <p:spPr bwMode="auto">
            <a:xfrm>
              <a:off x="660" y="3550"/>
              <a:ext cx="64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15"/>
            <p:cNvSpPr>
              <a:spLocks/>
            </p:cNvSpPr>
            <p:nvPr/>
          </p:nvSpPr>
          <p:spPr bwMode="auto">
            <a:xfrm>
              <a:off x="1437" y="3510"/>
              <a:ext cx="136" cy="72"/>
            </a:xfrm>
            <a:custGeom>
              <a:avLst/>
              <a:gdLst>
                <a:gd name="T0" fmla="*/ 0 w 136"/>
                <a:gd name="T1" fmla="*/ 40 h 72"/>
                <a:gd name="T2" fmla="*/ 136 w 136"/>
                <a:gd name="T3" fmla="*/ 0 h 72"/>
                <a:gd name="T4" fmla="*/ 136 w 136"/>
                <a:gd name="T5" fmla="*/ 40 h 72"/>
                <a:gd name="T6" fmla="*/ 136 w 136"/>
                <a:gd name="T7" fmla="*/ 72 h 72"/>
                <a:gd name="T8" fmla="*/ 0 w 136"/>
                <a:gd name="T9" fmla="*/ 4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72">
                  <a:moveTo>
                    <a:pt x="0" y="40"/>
                  </a:moveTo>
                  <a:lnTo>
                    <a:pt x="136" y="0"/>
                  </a:lnTo>
                  <a:lnTo>
                    <a:pt x="136" y="40"/>
                  </a:lnTo>
                  <a:lnTo>
                    <a:pt x="136" y="72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16"/>
            <p:cNvSpPr>
              <a:spLocks/>
            </p:cNvSpPr>
            <p:nvPr/>
          </p:nvSpPr>
          <p:spPr bwMode="auto">
            <a:xfrm>
              <a:off x="1757" y="3510"/>
              <a:ext cx="136" cy="72"/>
            </a:xfrm>
            <a:custGeom>
              <a:avLst/>
              <a:gdLst>
                <a:gd name="T0" fmla="*/ 136 w 136"/>
                <a:gd name="T1" fmla="*/ 40 h 72"/>
                <a:gd name="T2" fmla="*/ 0 w 136"/>
                <a:gd name="T3" fmla="*/ 72 h 72"/>
                <a:gd name="T4" fmla="*/ 0 w 136"/>
                <a:gd name="T5" fmla="*/ 40 h 72"/>
                <a:gd name="T6" fmla="*/ 0 w 136"/>
                <a:gd name="T7" fmla="*/ 0 h 72"/>
                <a:gd name="T8" fmla="*/ 136 w 136"/>
                <a:gd name="T9" fmla="*/ 4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" h="72">
                  <a:moveTo>
                    <a:pt x="136" y="40"/>
                  </a:moveTo>
                  <a:lnTo>
                    <a:pt x="0" y="72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36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117"/>
            <p:cNvSpPr>
              <a:spLocks noChangeShapeType="1"/>
            </p:cNvSpPr>
            <p:nvPr/>
          </p:nvSpPr>
          <p:spPr bwMode="auto">
            <a:xfrm>
              <a:off x="1573" y="3550"/>
              <a:ext cx="18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Rectangle 118"/>
            <p:cNvSpPr>
              <a:spLocks noChangeArrowheads="1"/>
            </p:cNvSpPr>
            <p:nvPr/>
          </p:nvSpPr>
          <p:spPr bwMode="auto">
            <a:xfrm>
              <a:off x="916" y="3558"/>
              <a:ext cx="6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119"/>
            <p:cNvSpPr>
              <a:spLocks noChangeArrowheads="1"/>
            </p:cNvSpPr>
            <p:nvPr/>
          </p:nvSpPr>
          <p:spPr bwMode="auto">
            <a:xfrm>
              <a:off x="964" y="3598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p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120"/>
            <p:cNvSpPr>
              <a:spLocks noChangeArrowheads="1"/>
            </p:cNvSpPr>
            <p:nvPr/>
          </p:nvSpPr>
          <p:spPr bwMode="auto">
            <a:xfrm>
              <a:off x="1637" y="3542"/>
              <a:ext cx="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121"/>
            <p:cNvSpPr>
              <a:spLocks noChangeArrowheads="1"/>
            </p:cNvSpPr>
            <p:nvPr/>
          </p:nvSpPr>
          <p:spPr bwMode="auto">
            <a:xfrm>
              <a:off x="1693" y="3598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p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 121"/>
              <p:cNvSpPr/>
              <p:nvPr/>
            </p:nvSpPr>
            <p:spPr>
              <a:xfrm>
                <a:off x="8681807" y="4155787"/>
                <a:ext cx="1901483" cy="1514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altLang="fr-FR" sz="2400" b="1" u="sng" dirty="0">
                    <a:latin typeface="Symbol" panose="05050102010706020507" pitchFamily="18" charset="2"/>
                  </a:rPr>
                  <a:t>a</a:t>
                </a:r>
                <a:r>
                  <a:rPr lang="fr-FR" altLang="fr-FR" sz="2400" b="1" u="sng" dirty="0">
                    <a:latin typeface="Calibri (Corps)"/>
                  </a:rPr>
                  <a:t>T &lt; t &lt; T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  <m:t>𝒅𝒊</m:t>
                          </m:r>
                        </m:num>
                        <m:den>
                          <m: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fr-FR" altLang="fr-FR" sz="24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alt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altLang="fr-FR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altLang="fr-FR" sz="24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altLang="fr-FR" sz="2400" b="1" dirty="0">
                  <a:latin typeface="Calibri (Corps)"/>
                </a:endParaRPr>
              </a:p>
            </p:txBody>
          </p:sp>
        </mc:Choice>
        <mc:Fallback xmlns="">
          <p:sp>
            <p:nvSpPr>
              <p:cNvPr id="122" name="Rectangle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1807" y="4155787"/>
                <a:ext cx="1901483" cy="1514004"/>
              </a:xfrm>
              <a:prstGeom prst="rect">
                <a:avLst/>
              </a:prstGeom>
              <a:blipFill>
                <a:blip r:embed="rId3"/>
                <a:stretch>
                  <a:fillRect l="-4167" t="-3226" r="-44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/>
              <p:cNvSpPr/>
              <p:nvPr/>
            </p:nvSpPr>
            <p:spPr>
              <a:xfrm>
                <a:off x="8703337" y="2224359"/>
                <a:ext cx="1931106" cy="1514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altLang="fr-FR" sz="2400" b="1" u="sng" dirty="0">
                    <a:latin typeface="Symbol" panose="05050102010706020507" pitchFamily="18" charset="2"/>
                  </a:rPr>
                  <a:t>0</a:t>
                </a:r>
                <a:r>
                  <a:rPr lang="fr-FR" altLang="fr-FR" sz="2400" b="1" u="sng" dirty="0">
                    <a:latin typeface="Calibri (Corps)"/>
                  </a:rPr>
                  <a:t> &lt; t &lt; </a:t>
                </a:r>
                <a:r>
                  <a:rPr lang="fr-FR" altLang="fr-FR" sz="2400" b="1" u="sng" dirty="0">
                    <a:latin typeface="Symbol" panose="05050102010706020507" pitchFamily="18" charset="2"/>
                  </a:rPr>
                  <a:t>a</a:t>
                </a:r>
                <a:r>
                  <a:rPr lang="fr-FR" altLang="fr-FR" sz="2400" b="1" u="sng" dirty="0">
                    <a:latin typeface="Calibri (Corps)"/>
                  </a:rPr>
                  <a:t>T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  <m:t>𝒅𝒊</m:t>
                          </m:r>
                        </m:num>
                        <m:den>
                          <m: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fr-FR" alt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alt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altLang="fr-FR" sz="2400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altLang="fr-FR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altLang="fr-FR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altLang="fr-FR" sz="24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altLang="fr-FR" sz="2400" b="1" dirty="0">
                  <a:latin typeface="Calibri (Corps)"/>
                </a:endParaRPr>
              </a:p>
            </p:txBody>
          </p:sp>
        </mc:Choice>
        <mc:Fallback xmlns=""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337" y="2224359"/>
                <a:ext cx="1931106" cy="1514004"/>
              </a:xfrm>
              <a:prstGeom prst="rect">
                <a:avLst/>
              </a:prstGeom>
              <a:blipFill>
                <a:blip r:embed="rId4"/>
                <a:stretch>
                  <a:fillRect l="-4430" t="-3226" r="-12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Connecteur droit 12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ZoneTexte 125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47942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864634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 (Calculation)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307075" y="1444534"/>
            <a:ext cx="2746375" cy="8509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2400" b="1" dirty="0">
                <a:solidFill>
                  <a:srgbClr val="0033CC"/>
                </a:solidFill>
                <a:latin typeface="Calibri (Corps)"/>
              </a:rPr>
              <a:t>Output voltage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49950" y="2525621"/>
            <a:ext cx="252095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fr-FR" sz="2400" b="1" dirty="0">
                <a:solidFill>
                  <a:srgbClr val="0033CC"/>
                </a:solidFill>
                <a:latin typeface="Calibri (Corps)"/>
              </a:rPr>
              <a:t>Current ripple </a:t>
            </a:r>
            <a:r>
              <a:rPr lang="en-AU" altLang="fr-FR" sz="2400" b="1" dirty="0" err="1">
                <a:solidFill>
                  <a:srgbClr val="0033CC"/>
                </a:solidFill>
                <a:latin typeface="Calibri (Corps)"/>
              </a:rPr>
              <a:t>i</a:t>
            </a:r>
            <a:r>
              <a:rPr lang="en-AU" altLang="fr-FR" sz="2400" b="1" baseline="-25000" dirty="0" err="1">
                <a:solidFill>
                  <a:srgbClr val="0033CC"/>
                </a:solidFill>
                <a:latin typeface="Calibri (Corps)"/>
              </a:rPr>
              <a:t>L</a:t>
            </a:r>
            <a:endParaRPr lang="en-AU" altLang="fr-FR" sz="2400" b="1" baseline="-25000" dirty="0">
              <a:solidFill>
                <a:srgbClr val="0033CC"/>
              </a:solidFill>
              <a:latin typeface="Calibri (Corps)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410262" y="3940082"/>
            <a:ext cx="360045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2400" b="1" dirty="0">
                <a:solidFill>
                  <a:srgbClr val="0033CC"/>
                </a:solidFill>
                <a:latin typeface="Calibri (Corps)"/>
              </a:rPr>
              <a:t>Maximum ripple</a:t>
            </a:r>
          </a:p>
        </p:txBody>
      </p:sp>
      <p:grpSp>
        <p:nvGrpSpPr>
          <p:cNvPr id="10" name="Group 86"/>
          <p:cNvGrpSpPr>
            <a:grpSpLocks/>
          </p:cNvGrpSpPr>
          <p:nvPr/>
        </p:nvGrpSpPr>
        <p:grpSpPr bwMode="auto">
          <a:xfrm>
            <a:off x="6802875" y="3747996"/>
            <a:ext cx="3209925" cy="2952750"/>
            <a:chOff x="2945" y="2250"/>
            <a:chExt cx="2022" cy="1860"/>
          </a:xfrm>
        </p:grpSpPr>
        <p:sp>
          <p:nvSpPr>
            <p:cNvPr id="12" name="Line 13"/>
            <p:cNvSpPr>
              <a:spLocks noChangeShapeType="1"/>
            </p:cNvSpPr>
            <p:nvPr/>
          </p:nvSpPr>
          <p:spPr bwMode="auto">
            <a:xfrm flipV="1">
              <a:off x="3081" y="2250"/>
              <a:ext cx="0" cy="14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2991" y="3611"/>
              <a:ext cx="19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Arc 15"/>
            <p:cNvSpPr>
              <a:spLocks/>
            </p:cNvSpPr>
            <p:nvPr/>
          </p:nvSpPr>
          <p:spPr bwMode="auto">
            <a:xfrm>
              <a:off x="3082" y="2655"/>
              <a:ext cx="1490" cy="1273"/>
            </a:xfrm>
            <a:custGeom>
              <a:avLst/>
              <a:gdLst>
                <a:gd name="T0" fmla="*/ 0 w 41723"/>
                <a:gd name="T1" fmla="*/ 0 h 21600"/>
                <a:gd name="T2" fmla="*/ 0 w 41723"/>
                <a:gd name="T3" fmla="*/ 0 h 21600"/>
                <a:gd name="T4" fmla="*/ 0 w 41723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723" h="21600" fill="none" extrusionOk="0">
                  <a:moveTo>
                    <a:pt x="0" y="15928"/>
                  </a:moveTo>
                  <a:cubicBezTo>
                    <a:pt x="2558" y="6525"/>
                    <a:pt x="11097" y="-1"/>
                    <a:pt x="20842" y="0"/>
                  </a:cubicBezTo>
                  <a:cubicBezTo>
                    <a:pt x="30642" y="0"/>
                    <a:pt x="39214" y="6598"/>
                    <a:pt x="41722" y="16072"/>
                  </a:cubicBezTo>
                </a:path>
                <a:path w="41723" h="21600" stroke="0" extrusionOk="0">
                  <a:moveTo>
                    <a:pt x="0" y="15928"/>
                  </a:moveTo>
                  <a:cubicBezTo>
                    <a:pt x="2558" y="6525"/>
                    <a:pt x="11097" y="-1"/>
                    <a:pt x="20842" y="0"/>
                  </a:cubicBezTo>
                  <a:cubicBezTo>
                    <a:pt x="30642" y="0"/>
                    <a:pt x="39214" y="6598"/>
                    <a:pt x="41722" y="16072"/>
                  </a:cubicBezTo>
                  <a:lnTo>
                    <a:pt x="20842" y="21600"/>
                  </a:lnTo>
                  <a:lnTo>
                    <a:pt x="0" y="15928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3023" y="376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4487" y="3747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4760" y="3290"/>
              <a:ext cx="2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Symbol" panose="05050102010706020507" pitchFamily="18" charset="2"/>
                </a:rPr>
                <a:t>a</a:t>
              </a: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2945" y="2658"/>
              <a:ext cx="1361" cy="0"/>
            </a:xfrm>
            <a:prstGeom prst="line">
              <a:avLst/>
            </a:prstGeom>
            <a:noFill/>
            <a:ln w="22225">
              <a:solidFill>
                <a:srgbClr val="3366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3807" y="2613"/>
              <a:ext cx="0" cy="10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pic>
          <p:nvPicPr>
            <p:cNvPr id="20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" y="3611"/>
              <a:ext cx="203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3159" y="2260"/>
              <a:ext cx="31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Symbol" panose="05050102010706020507" pitchFamily="18" charset="2"/>
                </a:rPr>
                <a:t>D</a:t>
              </a:r>
              <a:r>
                <a:rPr lang="fr-FR" altLang="fr-FR" sz="1800"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L</a:t>
              </a:r>
            </a:p>
          </p:txBody>
        </p:sp>
      </p:grpSp>
      <p:grpSp>
        <p:nvGrpSpPr>
          <p:cNvPr id="22" name="Group 85"/>
          <p:cNvGrpSpPr>
            <a:grpSpLocks/>
          </p:cNvGrpSpPr>
          <p:nvPr/>
        </p:nvGrpSpPr>
        <p:grpSpPr bwMode="auto">
          <a:xfrm>
            <a:off x="7923650" y="1517559"/>
            <a:ext cx="3025775" cy="649287"/>
            <a:chOff x="3651" y="845"/>
            <a:chExt cx="1906" cy="409"/>
          </a:xfrm>
        </p:grpSpPr>
        <p:sp>
          <p:nvSpPr>
            <p:cNvPr id="23" name="Rectangle 3"/>
            <p:cNvSpPr>
              <a:spLocks noChangeArrowheads="1"/>
            </p:cNvSpPr>
            <p:nvPr/>
          </p:nvSpPr>
          <p:spPr bwMode="auto">
            <a:xfrm>
              <a:off x="3651" y="845"/>
              <a:ext cx="179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b="1" dirty="0">
                  <a:latin typeface="Times New Roman" panose="02020603050405020304" pitchFamily="18" charset="0"/>
                </a:rPr>
                <a:t>&lt;v&gt; = </a:t>
              </a:r>
              <a:r>
                <a:rPr lang="fr-FR" altLang="fr-FR" b="1" dirty="0" err="1">
                  <a:latin typeface="Symbol" panose="05050102010706020507" pitchFamily="18" charset="2"/>
                </a:rPr>
                <a:t>a</a:t>
              </a:r>
              <a:r>
                <a:rPr lang="fr-FR" altLang="fr-FR" b="1" dirty="0" err="1">
                  <a:latin typeface="Times New Roman" panose="02020603050405020304" pitchFamily="18" charset="0"/>
                </a:rPr>
                <a:t>.E</a:t>
              </a:r>
              <a:r>
                <a:rPr lang="fr-FR" altLang="fr-FR" b="1" dirty="0">
                  <a:latin typeface="Times New Roman" panose="02020603050405020304" pitchFamily="18" charset="0"/>
                </a:rPr>
                <a:t>  = V</a:t>
              </a:r>
              <a:r>
                <a:rPr lang="fr-FR" altLang="fr-FR" b="1" baseline="-250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332" y="845"/>
              <a:ext cx="1225" cy="409"/>
            </a:xfrm>
            <a:prstGeom prst="rect">
              <a:avLst/>
            </a:prstGeom>
            <a:noFill/>
            <a:ln w="222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5" name="Picture 24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925" y="1228634"/>
            <a:ext cx="2665412" cy="1108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84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362" y="2444659"/>
            <a:ext cx="2520950" cy="1122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/>
              <p:cNvSpPr txBox="1"/>
              <p:nvPr/>
            </p:nvSpPr>
            <p:spPr>
              <a:xfrm>
                <a:off x="3208223" y="4818811"/>
                <a:ext cx="1948024" cy="66665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223" y="4818811"/>
                <a:ext cx="1948024" cy="6666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7680762" y="2703614"/>
                <a:ext cx="3736975" cy="78136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762" y="2703614"/>
                <a:ext cx="3736975" cy="781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2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65025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7946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Output filtering principle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4539100" y="2565977"/>
            <a:ext cx="288925" cy="1079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4683563" y="3647065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 flipH="1">
            <a:off x="2883338" y="3934402"/>
            <a:ext cx="1800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4683563" y="2207202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H="1">
            <a:off x="2954775" y="2207202"/>
            <a:ext cx="17287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3819963" y="2207202"/>
            <a:ext cx="0" cy="790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3459600" y="2999365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>
            <a:off x="3459600" y="3142240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>
            <a:off x="3819963" y="3142240"/>
            <a:ext cx="0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V="1">
            <a:off x="2883338" y="2278640"/>
            <a:ext cx="0" cy="151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2307075" y="2926340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4035863" y="3215265"/>
            <a:ext cx="420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R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3315138" y="3351790"/>
            <a:ext cx="4206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C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>
            <a:off x="3099238" y="2207202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3099238" y="1703965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4035863" y="2207202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4035863" y="1703965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S</a:t>
            </a:r>
          </a:p>
        </p:txBody>
      </p:sp>
      <p:grpSp>
        <p:nvGrpSpPr>
          <p:cNvPr id="25" name="Group 145"/>
          <p:cNvGrpSpPr>
            <a:grpSpLocks/>
          </p:cNvGrpSpPr>
          <p:nvPr/>
        </p:nvGrpSpPr>
        <p:grpSpPr bwMode="auto">
          <a:xfrm>
            <a:off x="5547163" y="2956502"/>
            <a:ext cx="4397375" cy="88900"/>
            <a:chOff x="300" y="5640"/>
            <a:chExt cx="6925" cy="140"/>
          </a:xfrm>
        </p:grpSpPr>
        <p:sp>
          <p:nvSpPr>
            <p:cNvPr id="26" name="Freeform 146"/>
            <p:cNvSpPr>
              <a:spLocks/>
            </p:cNvSpPr>
            <p:nvPr/>
          </p:nvSpPr>
          <p:spPr bwMode="auto">
            <a:xfrm>
              <a:off x="6945" y="5640"/>
              <a:ext cx="280" cy="140"/>
            </a:xfrm>
            <a:custGeom>
              <a:avLst/>
              <a:gdLst>
                <a:gd name="T0" fmla="*/ 280 w 280"/>
                <a:gd name="T1" fmla="*/ 80 h 140"/>
                <a:gd name="T2" fmla="*/ 0 w 280"/>
                <a:gd name="T3" fmla="*/ 140 h 140"/>
                <a:gd name="T4" fmla="*/ 0 w 280"/>
                <a:gd name="T5" fmla="*/ 80 h 140"/>
                <a:gd name="T6" fmla="*/ 0 w 280"/>
                <a:gd name="T7" fmla="*/ 0 h 140"/>
                <a:gd name="T8" fmla="*/ 280 w 280"/>
                <a:gd name="T9" fmla="*/ 80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0" h="140">
                  <a:moveTo>
                    <a:pt x="280" y="80"/>
                  </a:moveTo>
                  <a:lnTo>
                    <a:pt x="0" y="140"/>
                  </a:lnTo>
                  <a:lnTo>
                    <a:pt x="0" y="80"/>
                  </a:lnTo>
                  <a:lnTo>
                    <a:pt x="0" y="0"/>
                  </a:lnTo>
                  <a:lnTo>
                    <a:pt x="280" y="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147"/>
            <p:cNvSpPr>
              <a:spLocks noChangeShapeType="1"/>
            </p:cNvSpPr>
            <p:nvPr/>
          </p:nvSpPr>
          <p:spPr bwMode="auto">
            <a:xfrm>
              <a:off x="300" y="5720"/>
              <a:ext cx="664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8" name="Rectangle 148"/>
          <p:cNvSpPr>
            <a:spLocks noChangeArrowheads="1"/>
          </p:cNvSpPr>
          <p:nvPr/>
        </p:nvSpPr>
        <p:spPr bwMode="auto">
          <a:xfrm>
            <a:off x="9893738" y="2677102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29" name="Group 149"/>
          <p:cNvGrpSpPr>
            <a:grpSpLocks/>
          </p:cNvGrpSpPr>
          <p:nvPr/>
        </p:nvGrpSpPr>
        <p:grpSpPr bwMode="auto">
          <a:xfrm>
            <a:off x="5585263" y="2207202"/>
            <a:ext cx="4219575" cy="0"/>
            <a:chOff x="360" y="4460"/>
            <a:chExt cx="6645" cy="1"/>
          </a:xfrm>
        </p:grpSpPr>
        <p:sp>
          <p:nvSpPr>
            <p:cNvPr id="30" name="Line 150"/>
            <p:cNvSpPr>
              <a:spLocks noChangeShapeType="1"/>
            </p:cNvSpPr>
            <p:nvPr/>
          </p:nvSpPr>
          <p:spPr bwMode="auto">
            <a:xfrm>
              <a:off x="360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151"/>
            <p:cNvSpPr>
              <a:spLocks noChangeShapeType="1"/>
            </p:cNvSpPr>
            <p:nvPr/>
          </p:nvSpPr>
          <p:spPr bwMode="auto">
            <a:xfrm>
              <a:off x="720" y="4460"/>
              <a:ext cx="161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152"/>
            <p:cNvSpPr>
              <a:spLocks noChangeShapeType="1"/>
            </p:cNvSpPr>
            <p:nvPr/>
          </p:nvSpPr>
          <p:spPr bwMode="auto">
            <a:xfrm>
              <a:off x="1081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153"/>
            <p:cNvSpPr>
              <a:spLocks noChangeShapeType="1"/>
            </p:cNvSpPr>
            <p:nvPr/>
          </p:nvSpPr>
          <p:spPr bwMode="auto">
            <a:xfrm>
              <a:off x="1441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154"/>
            <p:cNvSpPr>
              <a:spLocks noChangeShapeType="1"/>
            </p:cNvSpPr>
            <p:nvPr/>
          </p:nvSpPr>
          <p:spPr bwMode="auto">
            <a:xfrm>
              <a:off x="1801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155"/>
            <p:cNvSpPr>
              <a:spLocks noChangeShapeType="1"/>
            </p:cNvSpPr>
            <p:nvPr/>
          </p:nvSpPr>
          <p:spPr bwMode="auto">
            <a:xfrm>
              <a:off x="2161" y="4460"/>
              <a:ext cx="161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156"/>
            <p:cNvSpPr>
              <a:spLocks noChangeShapeType="1"/>
            </p:cNvSpPr>
            <p:nvPr/>
          </p:nvSpPr>
          <p:spPr bwMode="auto">
            <a:xfrm>
              <a:off x="2522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157"/>
            <p:cNvSpPr>
              <a:spLocks noChangeShapeType="1"/>
            </p:cNvSpPr>
            <p:nvPr/>
          </p:nvSpPr>
          <p:spPr bwMode="auto">
            <a:xfrm>
              <a:off x="2882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158"/>
            <p:cNvSpPr>
              <a:spLocks noChangeShapeType="1"/>
            </p:cNvSpPr>
            <p:nvPr/>
          </p:nvSpPr>
          <p:spPr bwMode="auto">
            <a:xfrm>
              <a:off x="3242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159"/>
            <p:cNvSpPr>
              <a:spLocks noChangeShapeType="1"/>
            </p:cNvSpPr>
            <p:nvPr/>
          </p:nvSpPr>
          <p:spPr bwMode="auto">
            <a:xfrm>
              <a:off x="3602" y="4460"/>
              <a:ext cx="161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160"/>
            <p:cNvSpPr>
              <a:spLocks noChangeShapeType="1"/>
            </p:cNvSpPr>
            <p:nvPr/>
          </p:nvSpPr>
          <p:spPr bwMode="auto">
            <a:xfrm>
              <a:off x="3963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161"/>
            <p:cNvSpPr>
              <a:spLocks noChangeShapeType="1"/>
            </p:cNvSpPr>
            <p:nvPr/>
          </p:nvSpPr>
          <p:spPr bwMode="auto">
            <a:xfrm>
              <a:off x="4323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162"/>
            <p:cNvSpPr>
              <a:spLocks noChangeShapeType="1"/>
            </p:cNvSpPr>
            <p:nvPr/>
          </p:nvSpPr>
          <p:spPr bwMode="auto">
            <a:xfrm>
              <a:off x="4683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163"/>
            <p:cNvSpPr>
              <a:spLocks noChangeShapeType="1"/>
            </p:cNvSpPr>
            <p:nvPr/>
          </p:nvSpPr>
          <p:spPr bwMode="auto">
            <a:xfrm>
              <a:off x="5043" y="4460"/>
              <a:ext cx="161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164"/>
            <p:cNvSpPr>
              <a:spLocks noChangeShapeType="1"/>
            </p:cNvSpPr>
            <p:nvPr/>
          </p:nvSpPr>
          <p:spPr bwMode="auto">
            <a:xfrm>
              <a:off x="5404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165"/>
            <p:cNvSpPr>
              <a:spLocks noChangeShapeType="1"/>
            </p:cNvSpPr>
            <p:nvPr/>
          </p:nvSpPr>
          <p:spPr bwMode="auto">
            <a:xfrm>
              <a:off x="5764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166"/>
            <p:cNvSpPr>
              <a:spLocks noChangeShapeType="1"/>
            </p:cNvSpPr>
            <p:nvPr/>
          </p:nvSpPr>
          <p:spPr bwMode="auto">
            <a:xfrm>
              <a:off x="6124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167"/>
            <p:cNvSpPr>
              <a:spLocks noChangeShapeType="1"/>
            </p:cNvSpPr>
            <p:nvPr/>
          </p:nvSpPr>
          <p:spPr bwMode="auto">
            <a:xfrm>
              <a:off x="6484" y="4460"/>
              <a:ext cx="161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168"/>
            <p:cNvSpPr>
              <a:spLocks noChangeShapeType="1"/>
            </p:cNvSpPr>
            <p:nvPr/>
          </p:nvSpPr>
          <p:spPr bwMode="auto">
            <a:xfrm>
              <a:off x="6845" y="446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9" name="Line 169"/>
          <p:cNvSpPr>
            <a:spLocks noChangeShapeType="1"/>
          </p:cNvSpPr>
          <p:nvPr/>
        </p:nvSpPr>
        <p:spPr bwMode="auto">
          <a:xfrm flipV="1">
            <a:off x="5661463" y="1991302"/>
            <a:ext cx="1436687" cy="431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Line 170"/>
          <p:cNvSpPr>
            <a:spLocks noChangeShapeType="1"/>
          </p:cNvSpPr>
          <p:nvPr/>
        </p:nvSpPr>
        <p:spPr bwMode="auto">
          <a:xfrm>
            <a:off x="7098150" y="1991302"/>
            <a:ext cx="723900" cy="431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Line 171"/>
          <p:cNvSpPr>
            <a:spLocks noChangeShapeType="1"/>
          </p:cNvSpPr>
          <p:nvPr/>
        </p:nvSpPr>
        <p:spPr bwMode="auto">
          <a:xfrm flipV="1">
            <a:off x="7822050" y="1991302"/>
            <a:ext cx="1436688" cy="431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Line 172"/>
          <p:cNvSpPr>
            <a:spLocks noChangeShapeType="1"/>
          </p:cNvSpPr>
          <p:nvPr/>
        </p:nvSpPr>
        <p:spPr bwMode="auto">
          <a:xfrm>
            <a:off x="9258738" y="1991302"/>
            <a:ext cx="508000" cy="2921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53" name="Group 260"/>
          <p:cNvGrpSpPr>
            <a:grpSpLocks/>
          </p:cNvGrpSpPr>
          <p:nvPr/>
        </p:nvGrpSpPr>
        <p:grpSpPr bwMode="auto">
          <a:xfrm>
            <a:off x="3819963" y="2496127"/>
            <a:ext cx="5948362" cy="719138"/>
            <a:chOff x="1111" y="1616"/>
            <a:chExt cx="3747" cy="453"/>
          </a:xfrm>
        </p:grpSpPr>
        <p:sp>
          <p:nvSpPr>
            <p:cNvPr id="54" name="Line 28"/>
            <p:cNvSpPr>
              <a:spLocks noChangeShapeType="1"/>
            </p:cNvSpPr>
            <p:nvPr/>
          </p:nvSpPr>
          <p:spPr bwMode="auto">
            <a:xfrm>
              <a:off x="1111" y="1706"/>
              <a:ext cx="0" cy="9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 Box 29"/>
            <p:cNvSpPr txBox="1">
              <a:spLocks noChangeArrowheads="1"/>
            </p:cNvSpPr>
            <p:nvPr/>
          </p:nvSpPr>
          <p:spPr bwMode="auto">
            <a:xfrm>
              <a:off x="1156" y="1616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Line 201"/>
            <p:cNvSpPr>
              <a:spLocks noChangeShapeType="1"/>
            </p:cNvSpPr>
            <p:nvPr/>
          </p:nvSpPr>
          <p:spPr bwMode="auto">
            <a:xfrm flipV="1">
              <a:off x="2272" y="1797"/>
              <a:ext cx="905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202"/>
            <p:cNvSpPr>
              <a:spLocks noChangeShapeType="1"/>
            </p:cNvSpPr>
            <p:nvPr/>
          </p:nvSpPr>
          <p:spPr bwMode="auto">
            <a:xfrm>
              <a:off x="3177" y="1797"/>
              <a:ext cx="456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Line 203"/>
            <p:cNvSpPr>
              <a:spLocks noChangeShapeType="1"/>
            </p:cNvSpPr>
            <p:nvPr/>
          </p:nvSpPr>
          <p:spPr bwMode="auto">
            <a:xfrm flipV="1">
              <a:off x="3633" y="1797"/>
              <a:ext cx="905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Line 204"/>
            <p:cNvSpPr>
              <a:spLocks noChangeShapeType="1"/>
            </p:cNvSpPr>
            <p:nvPr/>
          </p:nvSpPr>
          <p:spPr bwMode="auto">
            <a:xfrm>
              <a:off x="4538" y="1797"/>
              <a:ext cx="320" cy="184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0" name="Line 205"/>
          <p:cNvSpPr>
            <a:spLocks noChangeShapeType="1"/>
          </p:cNvSpPr>
          <p:nvPr/>
        </p:nvSpPr>
        <p:spPr bwMode="auto">
          <a:xfrm flipV="1">
            <a:off x="5696388" y="1630940"/>
            <a:ext cx="0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61" name="Group 221"/>
          <p:cNvGrpSpPr>
            <a:grpSpLocks/>
          </p:cNvGrpSpPr>
          <p:nvPr/>
        </p:nvGrpSpPr>
        <p:grpSpPr bwMode="auto">
          <a:xfrm>
            <a:off x="5043925" y="3720090"/>
            <a:ext cx="5397500" cy="1800225"/>
            <a:chOff x="2109" y="2387"/>
            <a:chExt cx="3400" cy="1134"/>
          </a:xfrm>
        </p:grpSpPr>
        <p:grpSp>
          <p:nvGrpSpPr>
            <p:cNvPr id="62" name="Group 206"/>
            <p:cNvGrpSpPr>
              <a:grpSpLocks/>
            </p:cNvGrpSpPr>
            <p:nvPr/>
          </p:nvGrpSpPr>
          <p:grpSpPr bwMode="auto">
            <a:xfrm>
              <a:off x="2426" y="3222"/>
              <a:ext cx="2770" cy="56"/>
              <a:chOff x="300" y="5640"/>
              <a:chExt cx="6925" cy="140"/>
            </a:xfrm>
          </p:grpSpPr>
          <p:sp>
            <p:nvSpPr>
              <p:cNvPr id="73" name="Freeform 207"/>
              <p:cNvSpPr>
                <a:spLocks/>
              </p:cNvSpPr>
              <p:nvPr/>
            </p:nvSpPr>
            <p:spPr bwMode="auto">
              <a:xfrm>
                <a:off x="694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Line 208"/>
              <p:cNvSpPr>
                <a:spLocks noChangeShapeType="1"/>
              </p:cNvSpPr>
              <p:nvPr/>
            </p:nvSpPr>
            <p:spPr bwMode="auto">
              <a:xfrm>
                <a:off x="30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63" name="Line 209"/>
            <p:cNvSpPr>
              <a:spLocks noChangeShapeType="1"/>
            </p:cNvSpPr>
            <p:nvPr/>
          </p:nvSpPr>
          <p:spPr bwMode="auto">
            <a:xfrm flipV="1">
              <a:off x="2520" y="2387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Line 212"/>
            <p:cNvSpPr>
              <a:spLocks noChangeShapeType="1"/>
            </p:cNvSpPr>
            <p:nvPr/>
          </p:nvSpPr>
          <p:spPr bwMode="auto">
            <a:xfrm>
              <a:off x="2381" y="2750"/>
              <a:ext cx="27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Text Box 213"/>
            <p:cNvSpPr txBox="1">
              <a:spLocks noChangeArrowheads="1"/>
            </p:cNvSpPr>
            <p:nvPr/>
          </p:nvSpPr>
          <p:spPr bwMode="auto">
            <a:xfrm>
              <a:off x="2109" y="2614"/>
              <a:ext cx="2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V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6" name="Arc 214"/>
            <p:cNvSpPr>
              <a:spLocks/>
            </p:cNvSpPr>
            <p:nvPr/>
          </p:nvSpPr>
          <p:spPr bwMode="auto">
            <a:xfrm flipH="1" flipV="1">
              <a:off x="2517" y="2705"/>
              <a:ext cx="922" cy="226"/>
            </a:xfrm>
            <a:custGeom>
              <a:avLst/>
              <a:gdLst>
                <a:gd name="T0" fmla="*/ 0 w 41834"/>
                <a:gd name="T1" fmla="*/ 0 h 21600"/>
                <a:gd name="T2" fmla="*/ 0 w 41834"/>
                <a:gd name="T3" fmla="*/ 0 h 21600"/>
                <a:gd name="T4" fmla="*/ 0 w 418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834" h="21600" fill="none" extrusionOk="0">
                  <a:moveTo>
                    <a:pt x="0" y="17703"/>
                  </a:moveTo>
                  <a:cubicBezTo>
                    <a:pt x="1881" y="7447"/>
                    <a:pt x="10819" y="-1"/>
                    <a:pt x="21246" y="0"/>
                  </a:cubicBezTo>
                  <a:cubicBezTo>
                    <a:pt x="30657" y="0"/>
                    <a:pt x="38986" y="6094"/>
                    <a:pt x="41833" y="15065"/>
                  </a:cubicBezTo>
                </a:path>
                <a:path w="41834" h="21600" stroke="0" extrusionOk="0">
                  <a:moveTo>
                    <a:pt x="0" y="17703"/>
                  </a:moveTo>
                  <a:cubicBezTo>
                    <a:pt x="1881" y="7447"/>
                    <a:pt x="10819" y="-1"/>
                    <a:pt x="21246" y="0"/>
                  </a:cubicBezTo>
                  <a:cubicBezTo>
                    <a:pt x="30657" y="0"/>
                    <a:pt x="38986" y="6094"/>
                    <a:pt x="41833" y="15065"/>
                  </a:cubicBezTo>
                  <a:lnTo>
                    <a:pt x="21246" y="21600"/>
                  </a:lnTo>
                  <a:lnTo>
                    <a:pt x="0" y="17703"/>
                  </a:lnTo>
                  <a:close/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" name="Arc 215"/>
            <p:cNvSpPr>
              <a:spLocks/>
            </p:cNvSpPr>
            <p:nvPr/>
          </p:nvSpPr>
          <p:spPr bwMode="auto">
            <a:xfrm rot="10800000" flipH="1" flipV="1">
              <a:off x="3439" y="2614"/>
              <a:ext cx="432" cy="227"/>
            </a:xfrm>
            <a:custGeom>
              <a:avLst/>
              <a:gdLst>
                <a:gd name="T0" fmla="*/ 0 w 39762"/>
                <a:gd name="T1" fmla="*/ 0 h 21600"/>
                <a:gd name="T2" fmla="*/ 0 w 39762"/>
                <a:gd name="T3" fmla="*/ 0 h 21600"/>
                <a:gd name="T4" fmla="*/ 0 w 3976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762" h="21600" fill="none" extrusionOk="0">
                  <a:moveTo>
                    <a:pt x="-1" y="12928"/>
                  </a:moveTo>
                  <a:cubicBezTo>
                    <a:pt x="3442" y="5073"/>
                    <a:pt x="11206" y="-1"/>
                    <a:pt x="19783" y="0"/>
                  </a:cubicBezTo>
                  <a:cubicBezTo>
                    <a:pt x="28541" y="0"/>
                    <a:pt x="36432" y="5288"/>
                    <a:pt x="39761" y="13389"/>
                  </a:cubicBezTo>
                </a:path>
                <a:path w="39762" h="21600" stroke="0" extrusionOk="0">
                  <a:moveTo>
                    <a:pt x="-1" y="12928"/>
                  </a:moveTo>
                  <a:cubicBezTo>
                    <a:pt x="3442" y="5073"/>
                    <a:pt x="11206" y="-1"/>
                    <a:pt x="19783" y="0"/>
                  </a:cubicBezTo>
                  <a:cubicBezTo>
                    <a:pt x="28541" y="0"/>
                    <a:pt x="36432" y="5288"/>
                    <a:pt x="39761" y="13389"/>
                  </a:cubicBezTo>
                  <a:lnTo>
                    <a:pt x="19783" y="21600"/>
                  </a:lnTo>
                  <a:lnTo>
                    <a:pt x="-1" y="12928"/>
                  </a:lnTo>
                  <a:close/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8" name="Arc 216"/>
            <p:cNvSpPr>
              <a:spLocks/>
            </p:cNvSpPr>
            <p:nvPr/>
          </p:nvSpPr>
          <p:spPr bwMode="auto">
            <a:xfrm flipH="1" flipV="1">
              <a:off x="3878" y="2705"/>
              <a:ext cx="907" cy="226"/>
            </a:xfrm>
            <a:custGeom>
              <a:avLst/>
              <a:gdLst>
                <a:gd name="T0" fmla="*/ 0 w 42287"/>
                <a:gd name="T1" fmla="*/ 0 h 21600"/>
                <a:gd name="T2" fmla="*/ 0 w 42287"/>
                <a:gd name="T3" fmla="*/ 0 h 21600"/>
                <a:gd name="T4" fmla="*/ 0 w 4228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87" h="21600" fill="none" extrusionOk="0">
                  <a:moveTo>
                    <a:pt x="0" y="17703"/>
                  </a:moveTo>
                  <a:cubicBezTo>
                    <a:pt x="1881" y="7447"/>
                    <a:pt x="10819" y="-1"/>
                    <a:pt x="21246" y="0"/>
                  </a:cubicBezTo>
                  <a:cubicBezTo>
                    <a:pt x="31293" y="0"/>
                    <a:pt x="40014" y="6928"/>
                    <a:pt x="42286" y="16716"/>
                  </a:cubicBezTo>
                </a:path>
                <a:path w="42287" h="21600" stroke="0" extrusionOk="0">
                  <a:moveTo>
                    <a:pt x="0" y="17703"/>
                  </a:moveTo>
                  <a:cubicBezTo>
                    <a:pt x="1881" y="7447"/>
                    <a:pt x="10819" y="-1"/>
                    <a:pt x="21246" y="0"/>
                  </a:cubicBezTo>
                  <a:cubicBezTo>
                    <a:pt x="31293" y="0"/>
                    <a:pt x="40014" y="6928"/>
                    <a:pt x="42286" y="16716"/>
                  </a:cubicBezTo>
                  <a:lnTo>
                    <a:pt x="21246" y="21600"/>
                  </a:lnTo>
                  <a:lnTo>
                    <a:pt x="0" y="17703"/>
                  </a:lnTo>
                  <a:close/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" name="Line 217"/>
            <p:cNvSpPr>
              <a:spLocks noChangeShapeType="1"/>
            </p:cNvSpPr>
            <p:nvPr/>
          </p:nvSpPr>
          <p:spPr bwMode="auto">
            <a:xfrm>
              <a:off x="2381" y="2931"/>
              <a:ext cx="2767" cy="0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Line 218"/>
            <p:cNvSpPr>
              <a:spLocks noChangeShapeType="1"/>
            </p:cNvSpPr>
            <p:nvPr/>
          </p:nvSpPr>
          <p:spPr bwMode="auto">
            <a:xfrm>
              <a:off x="2381" y="2614"/>
              <a:ext cx="2767" cy="0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Line 219"/>
            <p:cNvSpPr>
              <a:spLocks noChangeShapeType="1"/>
            </p:cNvSpPr>
            <p:nvPr/>
          </p:nvSpPr>
          <p:spPr bwMode="auto">
            <a:xfrm>
              <a:off x="5012" y="2614"/>
              <a:ext cx="0" cy="31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Text Box 220"/>
            <p:cNvSpPr txBox="1">
              <a:spLocks noChangeArrowheads="1"/>
            </p:cNvSpPr>
            <p:nvPr/>
          </p:nvSpPr>
          <p:spPr bwMode="auto">
            <a:xfrm>
              <a:off x="5148" y="265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Symbol" panose="05050102010706020507" pitchFamily="18" charset="2"/>
                </a:rPr>
                <a:t>D</a:t>
              </a:r>
              <a:r>
                <a:rPr lang="fr-FR" altLang="fr-FR" sz="1800">
                  <a:latin typeface="Times New Roman" panose="02020603050405020304" pitchFamily="18" charset="0"/>
                </a:rPr>
                <a:t>V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75" name="Groupe 74"/>
          <p:cNvGrpSpPr>
            <a:grpSpLocks/>
          </p:cNvGrpSpPr>
          <p:nvPr/>
        </p:nvGrpSpPr>
        <p:grpSpPr bwMode="auto">
          <a:xfrm>
            <a:off x="6051988" y="1630940"/>
            <a:ext cx="1800225" cy="4471987"/>
            <a:chOff x="3995738" y="1700213"/>
            <a:chExt cx="1800225" cy="4471987"/>
          </a:xfrm>
        </p:grpSpPr>
        <p:sp>
          <p:nvSpPr>
            <p:cNvPr id="76" name="Line 210"/>
            <p:cNvSpPr>
              <a:spLocks noChangeShapeType="1"/>
            </p:cNvSpPr>
            <p:nvPr/>
          </p:nvSpPr>
          <p:spPr bwMode="auto">
            <a:xfrm>
              <a:off x="5075238" y="1700213"/>
              <a:ext cx="0" cy="410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Line 211"/>
            <p:cNvSpPr>
              <a:spLocks noChangeShapeType="1"/>
            </p:cNvSpPr>
            <p:nvPr/>
          </p:nvSpPr>
          <p:spPr bwMode="auto">
            <a:xfrm>
              <a:off x="5795963" y="1700213"/>
              <a:ext cx="0" cy="410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Line 222"/>
            <p:cNvSpPr>
              <a:spLocks noChangeShapeType="1"/>
            </p:cNvSpPr>
            <p:nvPr/>
          </p:nvSpPr>
          <p:spPr bwMode="auto">
            <a:xfrm>
              <a:off x="4283075" y="2852738"/>
              <a:ext cx="0" cy="3097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Line 223"/>
            <p:cNvSpPr>
              <a:spLocks noChangeShapeType="1"/>
            </p:cNvSpPr>
            <p:nvPr/>
          </p:nvSpPr>
          <p:spPr bwMode="auto">
            <a:xfrm>
              <a:off x="5435600" y="2781300"/>
              <a:ext cx="0" cy="3168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Text Box 226"/>
            <p:cNvSpPr txBox="1">
              <a:spLocks noChangeArrowheads="1"/>
            </p:cNvSpPr>
            <p:nvPr/>
          </p:nvSpPr>
          <p:spPr bwMode="auto">
            <a:xfrm>
              <a:off x="3995738" y="5805488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latin typeface="Times New Roman" panose="02020603050405020304" pitchFamily="18" charset="0"/>
                </a:rPr>
                <a:t>t</a:t>
              </a:r>
              <a:r>
                <a:rPr lang="fr-FR" altLang="fr-FR" sz="1800" b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1" name="Text Box 227"/>
            <p:cNvSpPr txBox="1">
              <a:spLocks noChangeArrowheads="1"/>
            </p:cNvSpPr>
            <p:nvPr/>
          </p:nvSpPr>
          <p:spPr bwMode="auto">
            <a:xfrm>
              <a:off x="5219700" y="5805488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latin typeface="Times New Roman" panose="02020603050405020304" pitchFamily="18" charset="0"/>
                </a:rPr>
                <a:t>t</a:t>
              </a:r>
              <a:r>
                <a:rPr lang="fr-FR" altLang="fr-FR" sz="1800" b="1" baseline="-25000"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82" name="Line 228"/>
          <p:cNvSpPr>
            <a:spLocks noChangeShapeType="1"/>
          </p:cNvSpPr>
          <p:nvPr/>
        </p:nvSpPr>
        <p:spPr bwMode="auto">
          <a:xfrm>
            <a:off x="6915588" y="1991302"/>
            <a:ext cx="3168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3" name="Line 229"/>
          <p:cNvSpPr>
            <a:spLocks noChangeShapeType="1"/>
          </p:cNvSpPr>
          <p:nvPr/>
        </p:nvSpPr>
        <p:spPr bwMode="auto">
          <a:xfrm>
            <a:off x="6915588" y="2423102"/>
            <a:ext cx="3168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4" name="Line 244"/>
          <p:cNvSpPr>
            <a:spLocks noChangeShapeType="1"/>
          </p:cNvSpPr>
          <p:nvPr/>
        </p:nvSpPr>
        <p:spPr bwMode="auto">
          <a:xfrm>
            <a:off x="10012800" y="1991302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5" name="Text Box 259"/>
          <p:cNvSpPr txBox="1">
            <a:spLocks noChangeArrowheads="1"/>
          </p:cNvSpPr>
          <p:nvPr/>
        </p:nvSpPr>
        <p:spPr bwMode="auto">
          <a:xfrm>
            <a:off x="10084238" y="1991302"/>
            <a:ext cx="5762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latin typeface="Symbol" panose="05050102010706020507" pitchFamily="18" charset="2"/>
              </a:rPr>
              <a:t>D</a:t>
            </a:r>
            <a:r>
              <a:rPr lang="fr-FR" altLang="fr-FR" sz="1800" b="1"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ZoneTexte 85"/>
              <p:cNvSpPr txBox="1"/>
              <p:nvPr/>
            </p:nvSpPr>
            <p:spPr>
              <a:xfrm>
                <a:off x="2656017" y="4698013"/>
                <a:ext cx="1995162" cy="818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86" name="ZoneTexte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017" y="4698013"/>
                <a:ext cx="1995162" cy="8184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necteur droit 8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ZoneTexte 88"/>
          <p:cNvSpPr txBox="1"/>
          <p:nvPr/>
        </p:nvSpPr>
        <p:spPr>
          <a:xfrm>
            <a:off x="0" y="0"/>
            <a:ext cx="247996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84426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506601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Output filtering calculation</a:t>
            </a:r>
          </a:p>
        </p:txBody>
      </p:sp>
      <p:grpSp>
        <p:nvGrpSpPr>
          <p:cNvPr id="10" name="Group 14"/>
          <p:cNvGrpSpPr>
            <a:grpSpLocks/>
          </p:cNvGrpSpPr>
          <p:nvPr/>
        </p:nvGrpSpPr>
        <p:grpSpPr bwMode="auto">
          <a:xfrm>
            <a:off x="7720002" y="620209"/>
            <a:ext cx="3097213" cy="2557551"/>
            <a:chOff x="2290" y="1207"/>
            <a:chExt cx="2903" cy="3024"/>
          </a:xfrm>
        </p:grpSpPr>
        <p:grpSp>
          <p:nvGrpSpPr>
            <p:cNvPr id="12" name="Group 15"/>
            <p:cNvGrpSpPr>
              <a:grpSpLocks/>
            </p:cNvGrpSpPr>
            <p:nvPr/>
          </p:nvGrpSpPr>
          <p:grpSpPr bwMode="auto">
            <a:xfrm>
              <a:off x="2335" y="2042"/>
              <a:ext cx="2770" cy="56"/>
              <a:chOff x="300" y="5640"/>
              <a:chExt cx="6925" cy="140"/>
            </a:xfrm>
          </p:grpSpPr>
          <p:sp>
            <p:nvSpPr>
              <p:cNvPr id="63" name="Freeform 16"/>
              <p:cNvSpPr>
                <a:spLocks/>
              </p:cNvSpPr>
              <p:nvPr/>
            </p:nvSpPr>
            <p:spPr bwMode="auto">
              <a:xfrm>
                <a:off x="694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4" name="Line 17"/>
              <p:cNvSpPr>
                <a:spLocks noChangeShapeType="1"/>
              </p:cNvSpPr>
              <p:nvPr/>
            </p:nvSpPr>
            <p:spPr bwMode="auto">
              <a:xfrm>
                <a:off x="30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5072" y="1866"/>
              <a:ext cx="41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4" name="Group 19"/>
            <p:cNvGrpSpPr>
              <a:grpSpLocks/>
            </p:cNvGrpSpPr>
            <p:nvPr/>
          </p:nvGrpSpPr>
          <p:grpSpPr bwMode="auto">
            <a:xfrm>
              <a:off x="2359" y="1570"/>
              <a:ext cx="2658" cy="0"/>
              <a:chOff x="360" y="4460"/>
              <a:chExt cx="6645" cy="1"/>
            </a:xfrm>
          </p:grpSpPr>
          <p:sp>
            <p:nvSpPr>
              <p:cNvPr id="44" name="Line 20"/>
              <p:cNvSpPr>
                <a:spLocks noChangeShapeType="1"/>
              </p:cNvSpPr>
              <p:nvPr/>
            </p:nvSpPr>
            <p:spPr bwMode="auto">
              <a:xfrm>
                <a:off x="360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Line 21"/>
              <p:cNvSpPr>
                <a:spLocks noChangeShapeType="1"/>
              </p:cNvSpPr>
              <p:nvPr/>
            </p:nvSpPr>
            <p:spPr bwMode="auto">
              <a:xfrm>
                <a:off x="720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Line 22"/>
              <p:cNvSpPr>
                <a:spLocks noChangeShapeType="1"/>
              </p:cNvSpPr>
              <p:nvPr/>
            </p:nvSpPr>
            <p:spPr bwMode="auto">
              <a:xfrm>
                <a:off x="108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Line 23"/>
              <p:cNvSpPr>
                <a:spLocks noChangeShapeType="1"/>
              </p:cNvSpPr>
              <p:nvPr/>
            </p:nvSpPr>
            <p:spPr bwMode="auto">
              <a:xfrm>
                <a:off x="144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8" name="Line 24"/>
              <p:cNvSpPr>
                <a:spLocks noChangeShapeType="1"/>
              </p:cNvSpPr>
              <p:nvPr/>
            </p:nvSpPr>
            <p:spPr bwMode="auto">
              <a:xfrm>
                <a:off x="180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9" name="Line 25"/>
              <p:cNvSpPr>
                <a:spLocks noChangeShapeType="1"/>
              </p:cNvSpPr>
              <p:nvPr/>
            </p:nvSpPr>
            <p:spPr bwMode="auto">
              <a:xfrm>
                <a:off x="2161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" name="Line 26"/>
              <p:cNvSpPr>
                <a:spLocks noChangeShapeType="1"/>
              </p:cNvSpPr>
              <p:nvPr/>
            </p:nvSpPr>
            <p:spPr bwMode="auto">
              <a:xfrm>
                <a:off x="252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Line 27"/>
              <p:cNvSpPr>
                <a:spLocks noChangeShapeType="1"/>
              </p:cNvSpPr>
              <p:nvPr/>
            </p:nvSpPr>
            <p:spPr bwMode="auto">
              <a:xfrm>
                <a:off x="288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Line 28"/>
              <p:cNvSpPr>
                <a:spLocks noChangeShapeType="1"/>
              </p:cNvSpPr>
              <p:nvPr/>
            </p:nvSpPr>
            <p:spPr bwMode="auto">
              <a:xfrm>
                <a:off x="324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" name="Line 29"/>
              <p:cNvSpPr>
                <a:spLocks noChangeShapeType="1"/>
              </p:cNvSpPr>
              <p:nvPr/>
            </p:nvSpPr>
            <p:spPr bwMode="auto">
              <a:xfrm>
                <a:off x="3602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Line 30"/>
              <p:cNvSpPr>
                <a:spLocks noChangeShapeType="1"/>
              </p:cNvSpPr>
              <p:nvPr/>
            </p:nvSpPr>
            <p:spPr bwMode="auto">
              <a:xfrm>
                <a:off x="396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Line 31"/>
              <p:cNvSpPr>
                <a:spLocks noChangeShapeType="1"/>
              </p:cNvSpPr>
              <p:nvPr/>
            </p:nvSpPr>
            <p:spPr bwMode="auto">
              <a:xfrm>
                <a:off x="432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6" name="Line 32"/>
              <p:cNvSpPr>
                <a:spLocks noChangeShapeType="1"/>
              </p:cNvSpPr>
              <p:nvPr/>
            </p:nvSpPr>
            <p:spPr bwMode="auto">
              <a:xfrm>
                <a:off x="468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7" name="Line 33"/>
              <p:cNvSpPr>
                <a:spLocks noChangeShapeType="1"/>
              </p:cNvSpPr>
              <p:nvPr/>
            </p:nvSpPr>
            <p:spPr bwMode="auto">
              <a:xfrm>
                <a:off x="5043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" name="Line 34"/>
              <p:cNvSpPr>
                <a:spLocks noChangeShapeType="1"/>
              </p:cNvSpPr>
              <p:nvPr/>
            </p:nvSpPr>
            <p:spPr bwMode="auto">
              <a:xfrm>
                <a:off x="540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9" name="Line 35"/>
              <p:cNvSpPr>
                <a:spLocks noChangeShapeType="1"/>
              </p:cNvSpPr>
              <p:nvPr/>
            </p:nvSpPr>
            <p:spPr bwMode="auto">
              <a:xfrm>
                <a:off x="576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Line 36"/>
              <p:cNvSpPr>
                <a:spLocks noChangeShapeType="1"/>
              </p:cNvSpPr>
              <p:nvPr/>
            </p:nvSpPr>
            <p:spPr bwMode="auto">
              <a:xfrm>
                <a:off x="612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Line 37"/>
              <p:cNvSpPr>
                <a:spLocks noChangeShapeType="1"/>
              </p:cNvSpPr>
              <p:nvPr/>
            </p:nvSpPr>
            <p:spPr bwMode="auto">
              <a:xfrm>
                <a:off x="6484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2" name="Line 38"/>
              <p:cNvSpPr>
                <a:spLocks noChangeShapeType="1"/>
              </p:cNvSpPr>
              <p:nvPr/>
            </p:nvSpPr>
            <p:spPr bwMode="auto">
              <a:xfrm>
                <a:off x="6845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" name="Line 39"/>
            <p:cNvSpPr>
              <a:spLocks noChangeShapeType="1"/>
            </p:cNvSpPr>
            <p:nvPr/>
          </p:nvSpPr>
          <p:spPr bwMode="auto">
            <a:xfrm flipV="1">
              <a:off x="2407" y="1434"/>
              <a:ext cx="905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40"/>
            <p:cNvSpPr>
              <a:spLocks noChangeShapeType="1"/>
            </p:cNvSpPr>
            <p:nvPr/>
          </p:nvSpPr>
          <p:spPr bwMode="auto">
            <a:xfrm>
              <a:off x="3312" y="1434"/>
              <a:ext cx="456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41"/>
            <p:cNvSpPr>
              <a:spLocks noChangeShapeType="1"/>
            </p:cNvSpPr>
            <p:nvPr/>
          </p:nvSpPr>
          <p:spPr bwMode="auto">
            <a:xfrm flipV="1">
              <a:off x="3768" y="1434"/>
              <a:ext cx="905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42"/>
            <p:cNvSpPr>
              <a:spLocks noChangeShapeType="1"/>
            </p:cNvSpPr>
            <p:nvPr/>
          </p:nvSpPr>
          <p:spPr bwMode="auto">
            <a:xfrm>
              <a:off x="4673" y="1434"/>
              <a:ext cx="320" cy="1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43"/>
            <p:cNvSpPr>
              <a:spLocks noChangeShapeType="1"/>
            </p:cNvSpPr>
            <p:nvPr/>
          </p:nvSpPr>
          <p:spPr bwMode="auto">
            <a:xfrm flipV="1">
              <a:off x="2408" y="1933"/>
              <a:ext cx="905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44"/>
            <p:cNvSpPr>
              <a:spLocks noChangeShapeType="1"/>
            </p:cNvSpPr>
            <p:nvPr/>
          </p:nvSpPr>
          <p:spPr bwMode="auto">
            <a:xfrm>
              <a:off x="3313" y="1933"/>
              <a:ext cx="456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Line 45"/>
            <p:cNvSpPr>
              <a:spLocks noChangeShapeType="1"/>
            </p:cNvSpPr>
            <p:nvPr/>
          </p:nvSpPr>
          <p:spPr bwMode="auto">
            <a:xfrm flipV="1">
              <a:off x="3769" y="1933"/>
              <a:ext cx="905" cy="27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Line 46"/>
            <p:cNvSpPr>
              <a:spLocks noChangeShapeType="1"/>
            </p:cNvSpPr>
            <p:nvPr/>
          </p:nvSpPr>
          <p:spPr bwMode="auto">
            <a:xfrm>
              <a:off x="4674" y="1933"/>
              <a:ext cx="320" cy="184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Line 47"/>
            <p:cNvSpPr>
              <a:spLocks noChangeShapeType="1"/>
            </p:cNvSpPr>
            <p:nvPr/>
          </p:nvSpPr>
          <p:spPr bwMode="auto">
            <a:xfrm flipV="1">
              <a:off x="2429" y="1207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Line 48"/>
            <p:cNvSpPr>
              <a:spLocks noChangeShapeType="1"/>
            </p:cNvSpPr>
            <p:nvPr/>
          </p:nvSpPr>
          <p:spPr bwMode="auto">
            <a:xfrm>
              <a:off x="3333" y="1207"/>
              <a:ext cx="0" cy="25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49"/>
            <p:cNvSpPr>
              <a:spLocks noChangeShapeType="1"/>
            </p:cNvSpPr>
            <p:nvPr/>
          </p:nvSpPr>
          <p:spPr bwMode="auto">
            <a:xfrm>
              <a:off x="3787" y="1207"/>
              <a:ext cx="0" cy="25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6" name="Group 50"/>
            <p:cNvGrpSpPr>
              <a:grpSpLocks/>
            </p:cNvGrpSpPr>
            <p:nvPr/>
          </p:nvGrpSpPr>
          <p:grpSpPr bwMode="auto">
            <a:xfrm>
              <a:off x="2335" y="3358"/>
              <a:ext cx="2770" cy="56"/>
              <a:chOff x="300" y="5640"/>
              <a:chExt cx="6925" cy="140"/>
            </a:xfrm>
          </p:grpSpPr>
          <p:sp>
            <p:nvSpPr>
              <p:cNvPr id="42" name="Freeform 51"/>
              <p:cNvSpPr>
                <a:spLocks/>
              </p:cNvSpPr>
              <p:nvPr/>
            </p:nvSpPr>
            <p:spPr bwMode="auto">
              <a:xfrm>
                <a:off x="694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Line 52"/>
              <p:cNvSpPr>
                <a:spLocks noChangeShapeType="1"/>
              </p:cNvSpPr>
              <p:nvPr/>
            </p:nvSpPr>
            <p:spPr bwMode="auto">
              <a:xfrm>
                <a:off x="30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7" name="Line 53"/>
            <p:cNvSpPr>
              <a:spLocks noChangeShapeType="1"/>
            </p:cNvSpPr>
            <p:nvPr/>
          </p:nvSpPr>
          <p:spPr bwMode="auto">
            <a:xfrm flipV="1">
              <a:off x="2429" y="252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54"/>
            <p:cNvSpPr>
              <a:spLocks noChangeShapeType="1"/>
            </p:cNvSpPr>
            <p:nvPr/>
          </p:nvSpPr>
          <p:spPr bwMode="auto">
            <a:xfrm>
              <a:off x="2290" y="2886"/>
              <a:ext cx="27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Arc 55"/>
            <p:cNvSpPr>
              <a:spLocks/>
            </p:cNvSpPr>
            <p:nvPr/>
          </p:nvSpPr>
          <p:spPr bwMode="auto">
            <a:xfrm flipH="1" flipV="1">
              <a:off x="2426" y="2841"/>
              <a:ext cx="922" cy="226"/>
            </a:xfrm>
            <a:custGeom>
              <a:avLst/>
              <a:gdLst>
                <a:gd name="T0" fmla="*/ 0 w 41834"/>
                <a:gd name="T1" fmla="*/ 0 h 21600"/>
                <a:gd name="T2" fmla="*/ 0 w 41834"/>
                <a:gd name="T3" fmla="*/ 0 h 21600"/>
                <a:gd name="T4" fmla="*/ 0 w 418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834" h="21600" fill="none" extrusionOk="0">
                  <a:moveTo>
                    <a:pt x="0" y="17703"/>
                  </a:moveTo>
                  <a:cubicBezTo>
                    <a:pt x="1881" y="7447"/>
                    <a:pt x="10819" y="-1"/>
                    <a:pt x="21246" y="0"/>
                  </a:cubicBezTo>
                  <a:cubicBezTo>
                    <a:pt x="30657" y="0"/>
                    <a:pt x="38986" y="6094"/>
                    <a:pt x="41833" y="15065"/>
                  </a:cubicBezTo>
                </a:path>
                <a:path w="41834" h="21600" stroke="0" extrusionOk="0">
                  <a:moveTo>
                    <a:pt x="0" y="17703"/>
                  </a:moveTo>
                  <a:cubicBezTo>
                    <a:pt x="1881" y="7447"/>
                    <a:pt x="10819" y="-1"/>
                    <a:pt x="21246" y="0"/>
                  </a:cubicBezTo>
                  <a:cubicBezTo>
                    <a:pt x="30657" y="0"/>
                    <a:pt x="38986" y="6094"/>
                    <a:pt x="41833" y="15065"/>
                  </a:cubicBezTo>
                  <a:lnTo>
                    <a:pt x="21246" y="21600"/>
                  </a:lnTo>
                  <a:lnTo>
                    <a:pt x="0" y="17703"/>
                  </a:lnTo>
                  <a:close/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" name="Arc 56"/>
            <p:cNvSpPr>
              <a:spLocks/>
            </p:cNvSpPr>
            <p:nvPr/>
          </p:nvSpPr>
          <p:spPr bwMode="auto">
            <a:xfrm rot="10800000" flipH="1" flipV="1">
              <a:off x="3348" y="2750"/>
              <a:ext cx="432" cy="227"/>
            </a:xfrm>
            <a:custGeom>
              <a:avLst/>
              <a:gdLst>
                <a:gd name="T0" fmla="*/ 0 w 39762"/>
                <a:gd name="T1" fmla="*/ 0 h 21600"/>
                <a:gd name="T2" fmla="*/ 0 w 39762"/>
                <a:gd name="T3" fmla="*/ 0 h 21600"/>
                <a:gd name="T4" fmla="*/ 0 w 3976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762" h="21600" fill="none" extrusionOk="0">
                  <a:moveTo>
                    <a:pt x="-1" y="12928"/>
                  </a:moveTo>
                  <a:cubicBezTo>
                    <a:pt x="3442" y="5073"/>
                    <a:pt x="11206" y="-1"/>
                    <a:pt x="19783" y="0"/>
                  </a:cubicBezTo>
                  <a:cubicBezTo>
                    <a:pt x="28541" y="0"/>
                    <a:pt x="36432" y="5288"/>
                    <a:pt x="39761" y="13389"/>
                  </a:cubicBezTo>
                </a:path>
                <a:path w="39762" h="21600" stroke="0" extrusionOk="0">
                  <a:moveTo>
                    <a:pt x="-1" y="12928"/>
                  </a:moveTo>
                  <a:cubicBezTo>
                    <a:pt x="3442" y="5073"/>
                    <a:pt x="11206" y="-1"/>
                    <a:pt x="19783" y="0"/>
                  </a:cubicBezTo>
                  <a:cubicBezTo>
                    <a:pt x="28541" y="0"/>
                    <a:pt x="36432" y="5288"/>
                    <a:pt x="39761" y="13389"/>
                  </a:cubicBezTo>
                  <a:lnTo>
                    <a:pt x="19783" y="21600"/>
                  </a:lnTo>
                  <a:lnTo>
                    <a:pt x="-1" y="12928"/>
                  </a:lnTo>
                  <a:close/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" name="Arc 57"/>
            <p:cNvSpPr>
              <a:spLocks/>
            </p:cNvSpPr>
            <p:nvPr/>
          </p:nvSpPr>
          <p:spPr bwMode="auto">
            <a:xfrm flipH="1" flipV="1">
              <a:off x="3787" y="2841"/>
              <a:ext cx="907" cy="226"/>
            </a:xfrm>
            <a:custGeom>
              <a:avLst/>
              <a:gdLst>
                <a:gd name="T0" fmla="*/ 0 w 42287"/>
                <a:gd name="T1" fmla="*/ 0 h 21600"/>
                <a:gd name="T2" fmla="*/ 0 w 42287"/>
                <a:gd name="T3" fmla="*/ 0 h 21600"/>
                <a:gd name="T4" fmla="*/ 0 w 4228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87" h="21600" fill="none" extrusionOk="0">
                  <a:moveTo>
                    <a:pt x="0" y="17703"/>
                  </a:moveTo>
                  <a:cubicBezTo>
                    <a:pt x="1881" y="7447"/>
                    <a:pt x="10819" y="-1"/>
                    <a:pt x="21246" y="0"/>
                  </a:cubicBezTo>
                  <a:cubicBezTo>
                    <a:pt x="31293" y="0"/>
                    <a:pt x="40014" y="6928"/>
                    <a:pt x="42286" y="16716"/>
                  </a:cubicBezTo>
                </a:path>
                <a:path w="42287" h="21600" stroke="0" extrusionOk="0">
                  <a:moveTo>
                    <a:pt x="0" y="17703"/>
                  </a:moveTo>
                  <a:cubicBezTo>
                    <a:pt x="1881" y="7447"/>
                    <a:pt x="10819" y="-1"/>
                    <a:pt x="21246" y="0"/>
                  </a:cubicBezTo>
                  <a:cubicBezTo>
                    <a:pt x="31293" y="0"/>
                    <a:pt x="40014" y="6928"/>
                    <a:pt x="42286" y="16716"/>
                  </a:cubicBezTo>
                  <a:lnTo>
                    <a:pt x="21246" y="21600"/>
                  </a:lnTo>
                  <a:lnTo>
                    <a:pt x="0" y="17703"/>
                  </a:lnTo>
                  <a:close/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" name="Line 58"/>
            <p:cNvSpPr>
              <a:spLocks noChangeShapeType="1"/>
            </p:cNvSpPr>
            <p:nvPr/>
          </p:nvSpPr>
          <p:spPr bwMode="auto">
            <a:xfrm>
              <a:off x="2290" y="3067"/>
              <a:ext cx="2767" cy="0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59"/>
            <p:cNvSpPr>
              <a:spLocks noChangeShapeType="1"/>
            </p:cNvSpPr>
            <p:nvPr/>
          </p:nvSpPr>
          <p:spPr bwMode="auto">
            <a:xfrm>
              <a:off x="2290" y="2750"/>
              <a:ext cx="2767" cy="0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60"/>
            <p:cNvSpPr>
              <a:spLocks noChangeShapeType="1"/>
            </p:cNvSpPr>
            <p:nvPr/>
          </p:nvSpPr>
          <p:spPr bwMode="auto">
            <a:xfrm>
              <a:off x="4921" y="2750"/>
              <a:ext cx="0" cy="31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61"/>
            <p:cNvSpPr>
              <a:spLocks noChangeShapeType="1"/>
            </p:cNvSpPr>
            <p:nvPr/>
          </p:nvSpPr>
          <p:spPr bwMode="auto">
            <a:xfrm>
              <a:off x="2834" y="1933"/>
              <a:ext cx="0" cy="1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62"/>
            <p:cNvSpPr>
              <a:spLocks noChangeShapeType="1"/>
            </p:cNvSpPr>
            <p:nvPr/>
          </p:nvSpPr>
          <p:spPr bwMode="auto">
            <a:xfrm>
              <a:off x="3560" y="1888"/>
              <a:ext cx="0" cy="19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 Box 63"/>
            <p:cNvSpPr txBox="1">
              <a:spLocks noChangeArrowheads="1"/>
            </p:cNvSpPr>
            <p:nvPr/>
          </p:nvSpPr>
          <p:spPr bwMode="auto">
            <a:xfrm>
              <a:off x="2653" y="3794"/>
              <a:ext cx="346" cy="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" name="Text Box 64"/>
            <p:cNvSpPr txBox="1">
              <a:spLocks noChangeArrowheads="1"/>
            </p:cNvSpPr>
            <p:nvPr/>
          </p:nvSpPr>
          <p:spPr bwMode="auto">
            <a:xfrm>
              <a:off x="3424" y="3793"/>
              <a:ext cx="363" cy="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" name="Line 65"/>
            <p:cNvSpPr>
              <a:spLocks noChangeShapeType="1"/>
            </p:cNvSpPr>
            <p:nvPr/>
          </p:nvSpPr>
          <p:spPr bwMode="auto">
            <a:xfrm>
              <a:off x="3197" y="1434"/>
              <a:ext cx="19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66"/>
            <p:cNvSpPr>
              <a:spLocks noChangeShapeType="1"/>
            </p:cNvSpPr>
            <p:nvPr/>
          </p:nvSpPr>
          <p:spPr bwMode="auto">
            <a:xfrm>
              <a:off x="3197" y="1706"/>
              <a:ext cx="19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67"/>
            <p:cNvSpPr>
              <a:spLocks noChangeShapeType="1"/>
            </p:cNvSpPr>
            <p:nvPr/>
          </p:nvSpPr>
          <p:spPr bwMode="auto">
            <a:xfrm>
              <a:off x="5148" y="143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5" name="Line 8"/>
          <p:cNvSpPr>
            <a:spLocks noChangeShapeType="1"/>
          </p:cNvSpPr>
          <p:nvPr/>
        </p:nvSpPr>
        <p:spPr bwMode="auto">
          <a:xfrm>
            <a:off x="3503507" y="2704251"/>
            <a:ext cx="0" cy="165735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" name="AutoShape 10"/>
          <p:cNvSpPr>
            <a:spLocks noChangeArrowheads="1"/>
          </p:cNvSpPr>
          <p:nvPr/>
        </p:nvSpPr>
        <p:spPr bwMode="auto">
          <a:xfrm>
            <a:off x="2566882" y="3785339"/>
            <a:ext cx="576263" cy="2087562"/>
          </a:xfrm>
          <a:prstGeom prst="curvedRightArrow">
            <a:avLst>
              <a:gd name="adj1" fmla="val 72385"/>
              <a:gd name="adj2" fmla="val 144903"/>
              <a:gd name="adj3" fmla="val 2757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/>
              <p:cNvSpPr txBox="1"/>
              <p:nvPr/>
            </p:nvSpPr>
            <p:spPr>
              <a:xfrm>
                <a:off x="3350236" y="2586445"/>
                <a:ext cx="3736975" cy="78136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7" name="ZoneTexte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236" y="2586445"/>
                <a:ext cx="3736975" cy="781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ZoneTexte 67"/>
              <p:cNvSpPr txBox="1"/>
              <p:nvPr/>
            </p:nvSpPr>
            <p:spPr>
              <a:xfrm>
                <a:off x="2556460" y="1556153"/>
                <a:ext cx="4743703" cy="640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𝜶</m:t>
                    </m:r>
                    <m:f>
                      <m:f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fr-FR" sz="2400" b="1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sz="2400" b="1" i="1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8" name="ZoneTexte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460" y="1556153"/>
                <a:ext cx="4743703" cy="6407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/>
              <p:cNvSpPr txBox="1"/>
              <p:nvPr/>
            </p:nvSpPr>
            <p:spPr>
              <a:xfrm>
                <a:off x="3713380" y="3367963"/>
                <a:ext cx="7337265" cy="1150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limLoc m:val="undOvr"/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69" name="ZoneTexte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380" y="3367963"/>
                <a:ext cx="7337265" cy="1150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/>
              <p:cNvSpPr txBox="1"/>
              <p:nvPr/>
            </p:nvSpPr>
            <p:spPr>
              <a:xfrm>
                <a:off x="3503507" y="5065704"/>
                <a:ext cx="3392660" cy="948145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p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.∆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70" name="ZoneText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507" y="5065704"/>
                <a:ext cx="3392660" cy="9481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necteur droit 7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ZoneTexte 72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53454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BF4A-ED27-39CF-F136-6FE271DC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B8B252-0430-6784-A7BC-DE19D76BED1B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3799B1-8340-E858-A3FF-98ADF1ED506D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35C30790-F8C0-31CE-267C-71C4001003F0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506601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Output filtering calculation</a:t>
            </a:r>
          </a:p>
        </p:txBody>
      </p: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BAF74B53-72A1-48E3-C009-8F0999D966F4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ZoneTexte 72">
            <a:extLst>
              <a:ext uri="{FF2B5EF4-FFF2-40B4-BE49-F238E27FC236}">
                <a16:creationId xmlns:a16="http://schemas.microsoft.com/office/drawing/2014/main" id="{9F4897FD-A431-A90C-511F-119562D12ED8}"/>
              </a:ext>
            </a:extLst>
          </p:cNvPr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88" name="Triangle isocèle 87">
            <a:extLst>
              <a:ext uri="{FF2B5EF4-FFF2-40B4-BE49-F238E27FC236}">
                <a16:creationId xmlns:a16="http://schemas.microsoft.com/office/drawing/2014/main" id="{B04EB6A6-DD15-8842-4B70-57B91EE810F3}"/>
              </a:ext>
            </a:extLst>
          </p:cNvPr>
          <p:cNvSpPr/>
          <p:nvPr/>
        </p:nvSpPr>
        <p:spPr>
          <a:xfrm>
            <a:off x="5518365" y="1692128"/>
            <a:ext cx="916707" cy="954041"/>
          </a:xfrm>
          <a:prstGeom prst="triangl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rgbClr val="FF0000"/>
                </a:solidFill>
              </a:rPr>
              <a:t>!</a:t>
            </a:r>
            <a:br>
              <a:rPr lang="fr-FR" sz="5400"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5918ED24-71DA-C837-7878-F09473FB26FB}"/>
              </a:ext>
            </a:extLst>
          </p:cNvPr>
          <p:cNvGrpSpPr/>
          <p:nvPr/>
        </p:nvGrpSpPr>
        <p:grpSpPr>
          <a:xfrm>
            <a:off x="8265324" y="2028654"/>
            <a:ext cx="719138" cy="287338"/>
            <a:chOff x="8265324" y="2028654"/>
            <a:chExt cx="719138" cy="287338"/>
          </a:xfrm>
        </p:grpSpPr>
        <p:sp>
          <p:nvSpPr>
            <p:cNvPr id="93" name="Line 15">
              <a:extLst>
                <a:ext uri="{FF2B5EF4-FFF2-40B4-BE49-F238E27FC236}">
                  <a16:creationId xmlns:a16="http://schemas.microsoft.com/office/drawing/2014/main" id="{FFFF61A3-8AA2-82BF-0F70-FE52E0769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65324" y="2028654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Line 16">
              <a:extLst>
                <a:ext uri="{FF2B5EF4-FFF2-40B4-BE49-F238E27FC236}">
                  <a16:creationId xmlns:a16="http://schemas.microsoft.com/office/drawing/2014/main" id="{DEF2EA7D-F8AF-75E9-E937-8E744454F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65324" y="2171529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Line 16">
              <a:extLst>
                <a:ext uri="{FF2B5EF4-FFF2-40B4-BE49-F238E27FC236}">
                  <a16:creationId xmlns:a16="http://schemas.microsoft.com/office/drawing/2014/main" id="{DA3715A5-170A-880A-7A3E-6F81C36A3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65324" y="2315992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876342E0-92C2-06C2-C318-50CC59B7414E}"/>
              </a:ext>
            </a:extLst>
          </p:cNvPr>
          <p:cNvGrpSpPr/>
          <p:nvPr/>
        </p:nvGrpSpPr>
        <p:grpSpPr>
          <a:xfrm>
            <a:off x="2339945" y="914230"/>
            <a:ext cx="2520950" cy="2230437"/>
            <a:chOff x="2307075" y="1317660"/>
            <a:chExt cx="2520950" cy="2230437"/>
          </a:xfrm>
        </p:grpSpPr>
        <p:grpSp>
          <p:nvGrpSpPr>
            <p:cNvPr id="87" name="Groupe 86">
              <a:extLst>
                <a:ext uri="{FF2B5EF4-FFF2-40B4-BE49-F238E27FC236}">
                  <a16:creationId xmlns:a16="http://schemas.microsoft.com/office/drawing/2014/main" id="{782D0104-B46F-EBF6-E6BD-14728CF2BF84}"/>
                </a:ext>
              </a:extLst>
            </p:cNvPr>
            <p:cNvGrpSpPr/>
            <p:nvPr/>
          </p:nvGrpSpPr>
          <p:grpSpPr>
            <a:xfrm>
              <a:off x="2307075" y="1317660"/>
              <a:ext cx="2520950" cy="2230437"/>
              <a:chOff x="2307075" y="1703965"/>
              <a:chExt cx="2520950" cy="2230437"/>
            </a:xfrm>
          </p:grpSpPr>
          <p:sp>
            <p:nvSpPr>
              <p:cNvPr id="2" name="Rectangle 9">
                <a:extLst>
                  <a:ext uri="{FF2B5EF4-FFF2-40B4-BE49-F238E27FC236}">
                    <a16:creationId xmlns:a16="http://schemas.microsoft.com/office/drawing/2014/main" id="{454C613D-593D-3079-EC3C-D46EA3C7E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9100" y="2565977"/>
                <a:ext cx="288925" cy="10795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33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" name="Line 10">
                <a:extLst>
                  <a:ext uri="{FF2B5EF4-FFF2-40B4-BE49-F238E27FC236}">
                    <a16:creationId xmlns:a16="http://schemas.microsoft.com/office/drawing/2014/main" id="{128325BA-D8F6-4BC2-2225-6AD0F6B3A9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3563" y="3647065"/>
                <a:ext cx="0" cy="2873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" name="Line 11">
                <a:extLst>
                  <a:ext uri="{FF2B5EF4-FFF2-40B4-BE49-F238E27FC236}">
                    <a16:creationId xmlns:a16="http://schemas.microsoft.com/office/drawing/2014/main" id="{4A076F04-BE44-D3D6-3B3D-C4A2313E2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3338" y="3934402"/>
                <a:ext cx="1800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1" name="Line 12">
                <a:extLst>
                  <a:ext uri="{FF2B5EF4-FFF2-40B4-BE49-F238E27FC236}">
                    <a16:creationId xmlns:a16="http://schemas.microsoft.com/office/drawing/2014/main" id="{A29036E9-37F3-31D2-90ED-50A681EE8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83563" y="2207202"/>
                <a:ext cx="0" cy="3587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Line 13">
                <a:extLst>
                  <a:ext uri="{FF2B5EF4-FFF2-40B4-BE49-F238E27FC236}">
                    <a16:creationId xmlns:a16="http://schemas.microsoft.com/office/drawing/2014/main" id="{B8DB67D8-B780-CA12-58A7-972DA15BE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54775" y="2207202"/>
                <a:ext cx="17287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Line 14">
                <a:extLst>
                  <a:ext uri="{FF2B5EF4-FFF2-40B4-BE49-F238E27FC236}">
                    <a16:creationId xmlns:a16="http://schemas.microsoft.com/office/drawing/2014/main" id="{45F79D25-8602-35BE-86E9-9149BB880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9963" y="2207202"/>
                <a:ext cx="0" cy="7905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6" name="Line 15">
                <a:extLst>
                  <a:ext uri="{FF2B5EF4-FFF2-40B4-BE49-F238E27FC236}">
                    <a16:creationId xmlns:a16="http://schemas.microsoft.com/office/drawing/2014/main" id="{8FC59665-10CD-7CA2-1926-BC7ACB2CF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600" y="2999365"/>
                <a:ext cx="719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7" name="Line 16">
                <a:extLst>
                  <a:ext uri="{FF2B5EF4-FFF2-40B4-BE49-F238E27FC236}">
                    <a16:creationId xmlns:a16="http://schemas.microsoft.com/office/drawing/2014/main" id="{5C111D37-8148-4D92-6A33-A726D1BD1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600" y="3142240"/>
                <a:ext cx="719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" name="Line 17">
                <a:extLst>
                  <a:ext uri="{FF2B5EF4-FFF2-40B4-BE49-F238E27FC236}">
                    <a16:creationId xmlns:a16="http://schemas.microsoft.com/office/drawing/2014/main" id="{985CD8BB-FC01-58BE-1B1D-AF46EFF425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9963" y="3142240"/>
                <a:ext cx="0" cy="7921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" name="Line 18">
                <a:extLst>
                  <a:ext uri="{FF2B5EF4-FFF2-40B4-BE49-F238E27FC236}">
                    <a16:creationId xmlns:a16="http://schemas.microsoft.com/office/drawing/2014/main" id="{F6218199-9CB9-E1B9-7533-DB7C43A01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3338" y="2278640"/>
                <a:ext cx="0" cy="15113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0" name="Text Box 19">
                <a:extLst>
                  <a:ext uri="{FF2B5EF4-FFF2-40B4-BE49-F238E27FC236}">
                    <a16:creationId xmlns:a16="http://schemas.microsoft.com/office/drawing/2014/main" id="{AA7FF1BF-B32A-292C-947A-74E64A9B3B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7075" y="2926340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 dirty="0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fr-FR" altLang="fr-FR" sz="1800" b="1" baseline="-25000" dirty="0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81" name="Text Box 20">
                <a:extLst>
                  <a:ext uri="{FF2B5EF4-FFF2-40B4-BE49-F238E27FC236}">
                    <a16:creationId xmlns:a16="http://schemas.microsoft.com/office/drawing/2014/main" id="{1EB2EF5D-23AE-7AB5-4F84-EB12FE880C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863" y="3215265"/>
                <a:ext cx="420687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 New Roman" panose="02020603050405020304" pitchFamily="18" charset="0"/>
                  </a:rPr>
                  <a:t>R</a:t>
                </a:r>
                <a:r>
                  <a:rPr lang="fr-FR" altLang="fr-FR" sz="1800" baseline="-2500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82" name="Text Box 21">
                <a:extLst>
                  <a:ext uri="{FF2B5EF4-FFF2-40B4-BE49-F238E27FC236}">
                    <a16:creationId xmlns:a16="http://schemas.microsoft.com/office/drawing/2014/main" id="{A55023A0-CFBD-16DF-C58D-DB72F73C78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138" y="3351790"/>
                <a:ext cx="420687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 New Roman" panose="02020603050405020304" pitchFamily="18" charset="0"/>
                  </a:rPr>
                  <a:t>C</a:t>
                </a:r>
                <a:r>
                  <a:rPr lang="fr-FR" altLang="fr-FR" sz="1800" baseline="-2500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83" name="Line 23">
                <a:extLst>
                  <a:ext uri="{FF2B5EF4-FFF2-40B4-BE49-F238E27FC236}">
                    <a16:creationId xmlns:a16="http://schemas.microsoft.com/office/drawing/2014/main" id="{7366FE3A-67DB-2E0B-AEA2-265062074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238" y="2207202"/>
                <a:ext cx="3603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4" name="Text Box 24">
                <a:extLst>
                  <a:ext uri="{FF2B5EF4-FFF2-40B4-BE49-F238E27FC236}">
                    <a16:creationId xmlns:a16="http://schemas.microsoft.com/office/drawing/2014/main" id="{F2484DBA-2463-FA2E-2479-4136982C1C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9238" y="1703965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 dirty="0">
                    <a:latin typeface="Times New Roman" panose="02020603050405020304" pitchFamily="18" charset="0"/>
                  </a:rPr>
                  <a:t>i</a:t>
                </a:r>
                <a:r>
                  <a:rPr lang="fr-FR" altLang="fr-FR" sz="1800" b="1" baseline="-25000" dirty="0"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85" name="Line 26">
                <a:extLst>
                  <a:ext uri="{FF2B5EF4-FFF2-40B4-BE49-F238E27FC236}">
                    <a16:creationId xmlns:a16="http://schemas.microsoft.com/office/drawing/2014/main" id="{EF77D092-5072-9EAC-1EFE-E4ABA8932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863" y="2207202"/>
                <a:ext cx="3603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6" name="Text Box 27">
                <a:extLst>
                  <a:ext uri="{FF2B5EF4-FFF2-40B4-BE49-F238E27FC236}">
                    <a16:creationId xmlns:a16="http://schemas.microsoft.com/office/drawing/2014/main" id="{2A88D4C7-4DEF-DD92-B5D7-D698FF33D8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863" y="1703965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fr-FR" altLang="fr-FR" sz="1800" b="1" baseline="-2500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106" name="Line 28">
              <a:extLst>
                <a:ext uri="{FF2B5EF4-FFF2-40B4-BE49-F238E27FC236}">
                  <a16:creationId xmlns:a16="http://schemas.microsoft.com/office/drawing/2014/main" id="{4A6A0723-F3F6-7D50-1C37-916F9F566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225" y="2101654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Text Box 29">
              <a:extLst>
                <a:ext uri="{FF2B5EF4-FFF2-40B4-BE49-F238E27FC236}">
                  <a16:creationId xmlns:a16="http://schemas.microsoft.com/office/drawing/2014/main" id="{5AA5B3C6-092D-381F-FC61-FEEDE78FD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662" y="1958779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28612E35-D642-309D-B502-1633AF1FEAA0}"/>
              </a:ext>
            </a:extLst>
          </p:cNvPr>
          <p:cNvGrpSpPr/>
          <p:nvPr/>
        </p:nvGrpSpPr>
        <p:grpSpPr>
          <a:xfrm>
            <a:off x="6585052" y="1380954"/>
            <a:ext cx="1635808" cy="1727200"/>
            <a:chOff x="6552182" y="1784384"/>
            <a:chExt cx="1635808" cy="1727200"/>
          </a:xfrm>
        </p:grpSpPr>
        <p:sp>
          <p:nvSpPr>
            <p:cNvPr id="89" name="Line 14">
              <a:extLst>
                <a:ext uri="{FF2B5EF4-FFF2-40B4-BE49-F238E27FC236}">
                  <a16:creationId xmlns:a16="http://schemas.microsoft.com/office/drawing/2014/main" id="{0FA54B74-FF35-48E5-894E-63B0E438B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38" y="1784384"/>
              <a:ext cx="0" cy="7905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Line 15">
              <a:extLst>
                <a:ext uri="{FF2B5EF4-FFF2-40B4-BE49-F238E27FC236}">
                  <a16:creationId xmlns:a16="http://schemas.microsoft.com/office/drawing/2014/main" id="{AB1E88A5-8F4B-149E-C63F-F90C697F2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575" y="2576547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Line 16">
              <a:extLst>
                <a:ext uri="{FF2B5EF4-FFF2-40B4-BE49-F238E27FC236}">
                  <a16:creationId xmlns:a16="http://schemas.microsoft.com/office/drawing/2014/main" id="{77AE8052-3EDD-D8CD-E1CA-3FEE1A221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575" y="2719422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Line 17">
              <a:extLst>
                <a:ext uri="{FF2B5EF4-FFF2-40B4-BE49-F238E27FC236}">
                  <a16:creationId xmlns:a16="http://schemas.microsoft.com/office/drawing/2014/main" id="{C9C8060D-F2EE-9371-6116-008223D47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38" y="2719422"/>
              <a:ext cx="0" cy="792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2C7E9369-B890-15DF-1635-1B0987D95534}"/>
                </a:ext>
              </a:extLst>
            </p:cNvPr>
            <p:cNvSpPr txBox="1"/>
            <p:nvPr/>
          </p:nvSpPr>
          <p:spPr>
            <a:xfrm>
              <a:off x="7742034" y="2417152"/>
              <a:ext cx="445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C</a:t>
              </a:r>
              <a:r>
                <a:rPr lang="fr-FR" sz="2400" b="1" baseline="-25000" dirty="0"/>
                <a:t>S</a:t>
              </a:r>
            </a:p>
          </p:txBody>
        </p:sp>
        <p:sp>
          <p:nvSpPr>
            <p:cNvPr id="109" name="Line 28">
              <a:extLst>
                <a:ext uri="{FF2B5EF4-FFF2-40B4-BE49-F238E27FC236}">
                  <a16:creationId xmlns:a16="http://schemas.microsoft.com/office/drawing/2014/main" id="{597AC747-8C98-9B19-0BC9-15CFAA973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40" y="1967773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Text Box 29">
              <a:extLst>
                <a:ext uri="{FF2B5EF4-FFF2-40B4-BE49-F238E27FC236}">
                  <a16:creationId xmlns:a16="http://schemas.microsoft.com/office/drawing/2014/main" id="{F85E3C1F-471A-3CAF-1737-FC945D783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1377" y="1824898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" name="Line 18">
              <a:extLst>
                <a:ext uri="{FF2B5EF4-FFF2-40B4-BE49-F238E27FC236}">
                  <a16:creationId xmlns:a16="http://schemas.microsoft.com/office/drawing/2014/main" id="{518F5D8C-DCE4-216C-0807-5D01D897FB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9282" y="1929010"/>
              <a:ext cx="0" cy="15113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Text Box 19">
              <a:extLst>
                <a:ext uri="{FF2B5EF4-FFF2-40B4-BE49-F238E27FC236}">
                  <a16:creationId xmlns:a16="http://schemas.microsoft.com/office/drawing/2014/main" id="{0B69271A-0760-4ADA-3D08-34D8249EB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2182" y="2389223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22" name="Groupe 121">
            <a:extLst>
              <a:ext uri="{FF2B5EF4-FFF2-40B4-BE49-F238E27FC236}">
                <a16:creationId xmlns:a16="http://schemas.microsoft.com/office/drawing/2014/main" id="{FB57517D-D9A6-B41F-3F12-ACC4033E326A}"/>
              </a:ext>
            </a:extLst>
          </p:cNvPr>
          <p:cNvGrpSpPr/>
          <p:nvPr/>
        </p:nvGrpSpPr>
        <p:grpSpPr>
          <a:xfrm>
            <a:off x="9028959" y="1184071"/>
            <a:ext cx="2614472" cy="2377437"/>
            <a:chOff x="8996089" y="1587501"/>
            <a:chExt cx="2614472" cy="2377437"/>
          </a:xfrm>
        </p:grpSpPr>
        <p:sp>
          <p:nvSpPr>
            <p:cNvPr id="97" name="Line 14">
              <a:extLst>
                <a:ext uri="{FF2B5EF4-FFF2-40B4-BE49-F238E27FC236}">
                  <a16:creationId xmlns:a16="http://schemas.microsoft.com/office/drawing/2014/main" id="{29BD3FE9-D30D-0C35-D378-C057990EE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2750" y="1587501"/>
              <a:ext cx="0" cy="585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Line 15">
              <a:extLst>
                <a:ext uri="{FF2B5EF4-FFF2-40B4-BE49-F238E27FC236}">
                  <a16:creationId xmlns:a16="http://schemas.microsoft.com/office/drawing/2014/main" id="{6A9FC35D-0CEA-F579-ABA0-4AB383189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2387" y="2174450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Line 16">
              <a:extLst>
                <a:ext uri="{FF2B5EF4-FFF2-40B4-BE49-F238E27FC236}">
                  <a16:creationId xmlns:a16="http://schemas.microsoft.com/office/drawing/2014/main" id="{D8C6592E-B5C0-4CB7-5F04-FA73E3A85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2387" y="2317325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17">
              <a:extLst>
                <a:ext uri="{FF2B5EF4-FFF2-40B4-BE49-F238E27FC236}">
                  <a16:creationId xmlns:a16="http://schemas.microsoft.com/office/drawing/2014/main" id="{837651EF-576F-18EB-C569-E16A100DB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2750" y="2317325"/>
              <a:ext cx="0" cy="4454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Rectangle 9">
              <a:extLst>
                <a:ext uri="{FF2B5EF4-FFF2-40B4-BE49-F238E27FC236}">
                  <a16:creationId xmlns:a16="http://schemas.microsoft.com/office/drawing/2014/main" id="{8A7DBBCE-2AD0-E8AD-E673-B7E2183C8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2646" y="2773526"/>
              <a:ext cx="259206" cy="73534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03" name="ZoneTexte 102">
              <a:extLst>
                <a:ext uri="{FF2B5EF4-FFF2-40B4-BE49-F238E27FC236}">
                  <a16:creationId xmlns:a16="http://schemas.microsoft.com/office/drawing/2014/main" id="{D2427C82-62C0-9954-A6F6-8E61C8D4624A}"/>
                </a:ext>
              </a:extLst>
            </p:cNvPr>
            <p:cNvSpPr txBox="1"/>
            <p:nvPr/>
          </p:nvSpPr>
          <p:spPr>
            <a:xfrm>
              <a:off x="10289566" y="2008255"/>
              <a:ext cx="445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C</a:t>
              </a:r>
              <a:r>
                <a:rPr lang="fr-FR" sz="2400" b="1" baseline="-25000" dirty="0"/>
                <a:t>S</a:t>
              </a:r>
            </a:p>
          </p:txBody>
        </p:sp>
        <p:sp>
          <p:nvSpPr>
            <p:cNvPr id="104" name="ZoneTexte 103">
              <a:extLst>
                <a:ext uri="{FF2B5EF4-FFF2-40B4-BE49-F238E27FC236}">
                  <a16:creationId xmlns:a16="http://schemas.microsoft.com/office/drawing/2014/main" id="{9473F4E2-CA5B-773D-E734-E08061B6623D}"/>
                </a:ext>
              </a:extLst>
            </p:cNvPr>
            <p:cNvSpPr txBox="1"/>
            <p:nvPr/>
          </p:nvSpPr>
          <p:spPr>
            <a:xfrm>
              <a:off x="10289566" y="2918008"/>
              <a:ext cx="6513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ESR</a:t>
              </a:r>
            </a:p>
          </p:txBody>
        </p:sp>
        <p:sp>
          <p:nvSpPr>
            <p:cNvPr id="105" name="Line 17">
              <a:extLst>
                <a:ext uri="{FF2B5EF4-FFF2-40B4-BE49-F238E27FC236}">
                  <a16:creationId xmlns:a16="http://schemas.microsoft.com/office/drawing/2014/main" id="{62468DFE-5533-9704-D37C-9B07A6993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1956" y="3519519"/>
              <a:ext cx="0" cy="4454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28">
              <a:extLst>
                <a:ext uri="{FF2B5EF4-FFF2-40B4-BE49-F238E27FC236}">
                  <a16:creationId xmlns:a16="http://schemas.microsoft.com/office/drawing/2014/main" id="{8C9E2955-2625-E369-462E-BB25B406C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7945" y="1888398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Text Box 29">
              <a:extLst>
                <a:ext uri="{FF2B5EF4-FFF2-40B4-BE49-F238E27FC236}">
                  <a16:creationId xmlns:a16="http://schemas.microsoft.com/office/drawing/2014/main" id="{45103F7F-0B38-0255-C25A-57AF987BC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9382" y="1745523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5" name="Line 18">
              <a:extLst>
                <a:ext uri="{FF2B5EF4-FFF2-40B4-BE49-F238E27FC236}">
                  <a16:creationId xmlns:a16="http://schemas.microsoft.com/office/drawing/2014/main" id="{12D93690-EAA0-FB23-F944-F3F9463ED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406964" y="1894899"/>
              <a:ext cx="6908" cy="19246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6" name="Text Box 19">
              <a:extLst>
                <a:ext uri="{FF2B5EF4-FFF2-40B4-BE49-F238E27FC236}">
                  <a16:creationId xmlns:a16="http://schemas.microsoft.com/office/drawing/2014/main" id="{17E6E83C-AF26-5E29-A8B4-372019FE4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6089" y="2667069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17" name="Line 18">
              <a:extLst>
                <a:ext uri="{FF2B5EF4-FFF2-40B4-BE49-F238E27FC236}">
                  <a16:creationId xmlns:a16="http://schemas.microsoft.com/office/drawing/2014/main" id="{D6012944-965B-327C-2516-A4723B656D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45287" y="1713263"/>
              <a:ext cx="0" cy="9191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Text Box 19">
              <a:extLst>
                <a:ext uri="{FF2B5EF4-FFF2-40B4-BE49-F238E27FC236}">
                  <a16:creationId xmlns:a16="http://schemas.microsoft.com/office/drawing/2014/main" id="{91213470-68E8-49D0-DCE8-EF20A5775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9786" y="1967247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" name="Line 18">
              <a:extLst>
                <a:ext uri="{FF2B5EF4-FFF2-40B4-BE49-F238E27FC236}">
                  <a16:creationId xmlns:a16="http://schemas.microsoft.com/office/drawing/2014/main" id="{466DE79E-B62B-3445-8FBC-6F8F5C414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45288" y="2646595"/>
              <a:ext cx="0" cy="11729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Text Box 19">
              <a:extLst>
                <a:ext uri="{FF2B5EF4-FFF2-40B4-BE49-F238E27FC236}">
                  <a16:creationId xmlns:a16="http://schemas.microsoft.com/office/drawing/2014/main" id="{A3EF936D-8A4E-E257-DD59-CF071D135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9786" y="2900580"/>
              <a:ext cx="64077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ESR</a:t>
              </a:r>
              <a:endPara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3" name="Text Box 19">
            <a:extLst>
              <a:ext uri="{FF2B5EF4-FFF2-40B4-BE49-F238E27FC236}">
                <a16:creationId xmlns:a16="http://schemas.microsoft.com/office/drawing/2014/main" id="{1604EF85-86F0-602D-8810-B9D189CA6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8807" y="4559854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C</a:t>
            </a:r>
            <a:endParaRPr lang="fr-FR" altLang="fr-FR" sz="1800" b="1" baseline="-25000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" name="Text Box 29">
            <a:extLst>
              <a:ext uri="{FF2B5EF4-FFF2-40B4-BE49-F238E27FC236}">
                <a16:creationId xmlns:a16="http://schemas.microsoft.com/office/drawing/2014/main" id="{6F53AD01-F89A-9780-6A61-89E6B3DF1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473" y="3844646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  <a:endParaRPr lang="fr-FR" altLang="fr-FR" sz="1800" b="1" baseline="-250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6BFC78B4-8FBB-7882-358E-35748C9FB4C8}"/>
              </a:ext>
            </a:extLst>
          </p:cNvPr>
          <p:cNvGrpSpPr/>
          <p:nvPr/>
        </p:nvGrpSpPr>
        <p:grpSpPr>
          <a:xfrm>
            <a:off x="2701875" y="3326771"/>
            <a:ext cx="3552118" cy="3031171"/>
            <a:chOff x="2929484" y="3304165"/>
            <a:chExt cx="3552118" cy="3031171"/>
          </a:xfrm>
        </p:grpSpPr>
        <p:grpSp>
          <p:nvGrpSpPr>
            <p:cNvPr id="123" name="Group 14">
              <a:extLst>
                <a:ext uri="{FF2B5EF4-FFF2-40B4-BE49-F238E27FC236}">
                  <a16:creationId xmlns:a16="http://schemas.microsoft.com/office/drawing/2014/main" id="{694D4BF0-3296-D6DB-EEDE-31EF18E536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9484" y="3304165"/>
              <a:ext cx="3097213" cy="2557551"/>
              <a:chOff x="2290" y="1207"/>
              <a:chExt cx="2903" cy="3024"/>
            </a:xfrm>
          </p:grpSpPr>
          <p:grpSp>
            <p:nvGrpSpPr>
              <p:cNvPr id="124" name="Group 15">
                <a:extLst>
                  <a:ext uri="{FF2B5EF4-FFF2-40B4-BE49-F238E27FC236}">
                    <a16:creationId xmlns:a16="http://schemas.microsoft.com/office/drawing/2014/main" id="{86925FD0-00CF-A49D-50AF-7B1DBE88C4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5" y="2042"/>
                <a:ext cx="2770" cy="56"/>
                <a:chOff x="300" y="5640"/>
                <a:chExt cx="6925" cy="140"/>
              </a:xfrm>
            </p:grpSpPr>
            <p:sp>
              <p:nvSpPr>
                <p:cNvPr id="175" name="Freeform 16">
                  <a:extLst>
                    <a:ext uri="{FF2B5EF4-FFF2-40B4-BE49-F238E27FC236}">
                      <a16:creationId xmlns:a16="http://schemas.microsoft.com/office/drawing/2014/main" id="{2BBFBDD6-CAAF-4BD9-FCFB-FB169683D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5" y="5640"/>
                  <a:ext cx="280" cy="140"/>
                </a:xfrm>
                <a:custGeom>
                  <a:avLst/>
                  <a:gdLst>
                    <a:gd name="T0" fmla="*/ 280 w 280"/>
                    <a:gd name="T1" fmla="*/ 80 h 140"/>
                    <a:gd name="T2" fmla="*/ 0 w 280"/>
                    <a:gd name="T3" fmla="*/ 140 h 140"/>
                    <a:gd name="T4" fmla="*/ 0 w 280"/>
                    <a:gd name="T5" fmla="*/ 80 h 140"/>
                    <a:gd name="T6" fmla="*/ 0 w 280"/>
                    <a:gd name="T7" fmla="*/ 0 h 140"/>
                    <a:gd name="T8" fmla="*/ 280 w 280"/>
                    <a:gd name="T9" fmla="*/ 8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0" h="140">
                      <a:moveTo>
                        <a:pt x="280" y="80"/>
                      </a:moveTo>
                      <a:lnTo>
                        <a:pt x="0" y="140"/>
                      </a:lnTo>
                      <a:lnTo>
                        <a:pt x="0" y="80"/>
                      </a:lnTo>
                      <a:lnTo>
                        <a:pt x="0" y="0"/>
                      </a:lnTo>
                      <a:lnTo>
                        <a:pt x="28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6" name="Line 17">
                  <a:extLst>
                    <a:ext uri="{FF2B5EF4-FFF2-40B4-BE49-F238E27FC236}">
                      <a16:creationId xmlns:a16="http://schemas.microsoft.com/office/drawing/2014/main" id="{95ADD9FE-418B-DC8D-B90D-4F09C77B82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" y="5720"/>
                  <a:ext cx="664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25" name="Rectangle 18">
                <a:extLst>
                  <a:ext uri="{FF2B5EF4-FFF2-40B4-BE49-F238E27FC236}">
                    <a16:creationId xmlns:a16="http://schemas.microsoft.com/office/drawing/2014/main" id="{154CC192-B4FD-8A79-0A9E-FFEE5EADF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2" y="1866"/>
                <a:ext cx="41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fr-FR" sz="1200">
                    <a:solidFill>
                      <a:srgbClr val="000000"/>
                    </a:solidFill>
                    <a:latin typeface="Times" panose="02020603050405020304" pitchFamily="18" charset="0"/>
                  </a:rPr>
                  <a:t>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6" name="Group 19">
                <a:extLst>
                  <a:ext uri="{FF2B5EF4-FFF2-40B4-BE49-F238E27FC236}">
                    <a16:creationId xmlns:a16="http://schemas.microsoft.com/office/drawing/2014/main" id="{462E0F91-05CC-5047-DB6B-08AC471FA0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9" y="1570"/>
                <a:ext cx="2658" cy="0"/>
                <a:chOff x="360" y="4460"/>
                <a:chExt cx="6645" cy="1"/>
              </a:xfrm>
            </p:grpSpPr>
            <p:sp>
              <p:nvSpPr>
                <p:cNvPr id="156" name="Line 20">
                  <a:extLst>
                    <a:ext uri="{FF2B5EF4-FFF2-40B4-BE49-F238E27FC236}">
                      <a16:creationId xmlns:a16="http://schemas.microsoft.com/office/drawing/2014/main" id="{79CC7353-FFFF-D692-3AC6-BF8102F193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7" name="Line 21">
                  <a:extLst>
                    <a:ext uri="{FF2B5EF4-FFF2-40B4-BE49-F238E27FC236}">
                      <a16:creationId xmlns:a16="http://schemas.microsoft.com/office/drawing/2014/main" id="{FB874DB7-C7D0-AC52-5A47-C999E661A0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4460"/>
                  <a:ext cx="161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8" name="Line 22">
                  <a:extLst>
                    <a:ext uri="{FF2B5EF4-FFF2-40B4-BE49-F238E27FC236}">
                      <a16:creationId xmlns:a16="http://schemas.microsoft.com/office/drawing/2014/main" id="{0A7779B9-3CE4-7F9D-7576-04A2334C7E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81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9" name="Line 23">
                  <a:extLst>
                    <a:ext uri="{FF2B5EF4-FFF2-40B4-BE49-F238E27FC236}">
                      <a16:creationId xmlns:a16="http://schemas.microsoft.com/office/drawing/2014/main" id="{4472C8A3-8BEA-0F37-E1E0-824F4F30ED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1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0" name="Line 24">
                  <a:extLst>
                    <a:ext uri="{FF2B5EF4-FFF2-40B4-BE49-F238E27FC236}">
                      <a16:creationId xmlns:a16="http://schemas.microsoft.com/office/drawing/2014/main" id="{978E5E5E-7D94-458A-C4FE-EC7F568BC8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01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1" name="Line 25">
                  <a:extLst>
                    <a:ext uri="{FF2B5EF4-FFF2-40B4-BE49-F238E27FC236}">
                      <a16:creationId xmlns:a16="http://schemas.microsoft.com/office/drawing/2014/main" id="{2116301D-0A34-945B-714D-C62D960563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1" y="4460"/>
                  <a:ext cx="161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2" name="Line 26">
                  <a:extLst>
                    <a:ext uri="{FF2B5EF4-FFF2-40B4-BE49-F238E27FC236}">
                      <a16:creationId xmlns:a16="http://schemas.microsoft.com/office/drawing/2014/main" id="{9914DAF4-73A1-A638-DC5A-848E092798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2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3" name="Line 27">
                  <a:extLst>
                    <a:ext uri="{FF2B5EF4-FFF2-40B4-BE49-F238E27FC236}">
                      <a16:creationId xmlns:a16="http://schemas.microsoft.com/office/drawing/2014/main" id="{660AE1F6-C0FD-EC92-2F67-03D48AC990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2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4" name="Line 28">
                  <a:extLst>
                    <a:ext uri="{FF2B5EF4-FFF2-40B4-BE49-F238E27FC236}">
                      <a16:creationId xmlns:a16="http://schemas.microsoft.com/office/drawing/2014/main" id="{8337EF2F-5DC4-CA50-FF6E-538BA4B98A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2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5" name="Line 29">
                  <a:extLst>
                    <a:ext uri="{FF2B5EF4-FFF2-40B4-BE49-F238E27FC236}">
                      <a16:creationId xmlns:a16="http://schemas.microsoft.com/office/drawing/2014/main" id="{D908B216-F2CC-7B54-310D-20B50D89FD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2" y="4460"/>
                  <a:ext cx="161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6" name="Line 30">
                  <a:extLst>
                    <a:ext uri="{FF2B5EF4-FFF2-40B4-BE49-F238E27FC236}">
                      <a16:creationId xmlns:a16="http://schemas.microsoft.com/office/drawing/2014/main" id="{74B80022-3876-AEB3-901D-23DCE67FCC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3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7" name="Line 31">
                  <a:extLst>
                    <a:ext uri="{FF2B5EF4-FFF2-40B4-BE49-F238E27FC236}">
                      <a16:creationId xmlns:a16="http://schemas.microsoft.com/office/drawing/2014/main" id="{916C60B8-DD1E-B284-4CEE-91D1197DA2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3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8" name="Line 32">
                  <a:extLst>
                    <a:ext uri="{FF2B5EF4-FFF2-40B4-BE49-F238E27FC236}">
                      <a16:creationId xmlns:a16="http://schemas.microsoft.com/office/drawing/2014/main" id="{07D71648-8148-3F3E-C5F1-81D72DE674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3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9" name="Line 33">
                  <a:extLst>
                    <a:ext uri="{FF2B5EF4-FFF2-40B4-BE49-F238E27FC236}">
                      <a16:creationId xmlns:a16="http://schemas.microsoft.com/office/drawing/2014/main" id="{6CCECD3D-93C1-8E66-1C44-B80462DFA4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3" y="4460"/>
                  <a:ext cx="161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0" name="Line 34">
                  <a:extLst>
                    <a:ext uri="{FF2B5EF4-FFF2-40B4-BE49-F238E27FC236}">
                      <a16:creationId xmlns:a16="http://schemas.microsoft.com/office/drawing/2014/main" id="{AD7A0F21-C9B9-9ADA-E712-4A12A26236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04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1" name="Line 35">
                  <a:extLst>
                    <a:ext uri="{FF2B5EF4-FFF2-40B4-BE49-F238E27FC236}">
                      <a16:creationId xmlns:a16="http://schemas.microsoft.com/office/drawing/2014/main" id="{4D5C8337-DFE4-F078-9C37-0333A29415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4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2" name="Line 36">
                  <a:extLst>
                    <a:ext uri="{FF2B5EF4-FFF2-40B4-BE49-F238E27FC236}">
                      <a16:creationId xmlns:a16="http://schemas.microsoft.com/office/drawing/2014/main" id="{DEC79DB7-C1BE-1D33-8138-19F7868016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24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3" name="Line 37">
                  <a:extLst>
                    <a:ext uri="{FF2B5EF4-FFF2-40B4-BE49-F238E27FC236}">
                      <a16:creationId xmlns:a16="http://schemas.microsoft.com/office/drawing/2014/main" id="{F2996EE7-7991-0D1E-CCDA-9BF64DB317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84" y="4460"/>
                  <a:ext cx="161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4" name="Line 38">
                  <a:extLst>
                    <a:ext uri="{FF2B5EF4-FFF2-40B4-BE49-F238E27FC236}">
                      <a16:creationId xmlns:a16="http://schemas.microsoft.com/office/drawing/2014/main" id="{0EB2B5D9-04AF-0795-E1CE-03ACAEB0C0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45" y="446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27" name="Line 39">
                <a:extLst>
                  <a:ext uri="{FF2B5EF4-FFF2-40B4-BE49-F238E27FC236}">
                    <a16:creationId xmlns:a16="http://schemas.microsoft.com/office/drawing/2014/main" id="{4915B55B-4A4B-19F4-3986-4EC552CA4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7" y="1434"/>
                <a:ext cx="905" cy="27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8" name="Line 40">
                <a:extLst>
                  <a:ext uri="{FF2B5EF4-FFF2-40B4-BE49-F238E27FC236}">
                    <a16:creationId xmlns:a16="http://schemas.microsoft.com/office/drawing/2014/main" id="{ABD47186-62BF-8679-AA4F-8295041227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434"/>
                <a:ext cx="456" cy="27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" name="Line 41">
                <a:extLst>
                  <a:ext uri="{FF2B5EF4-FFF2-40B4-BE49-F238E27FC236}">
                    <a16:creationId xmlns:a16="http://schemas.microsoft.com/office/drawing/2014/main" id="{58C0522D-181C-1CEB-963D-E678E875C9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8" y="1434"/>
                <a:ext cx="905" cy="27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0" name="Line 42">
                <a:extLst>
                  <a:ext uri="{FF2B5EF4-FFF2-40B4-BE49-F238E27FC236}">
                    <a16:creationId xmlns:a16="http://schemas.microsoft.com/office/drawing/2014/main" id="{312897A6-719B-536B-469F-3057873577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3" y="1434"/>
                <a:ext cx="320" cy="18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1" name="Line 43">
                <a:extLst>
                  <a:ext uri="{FF2B5EF4-FFF2-40B4-BE49-F238E27FC236}">
                    <a16:creationId xmlns:a16="http://schemas.microsoft.com/office/drawing/2014/main" id="{688709C1-DA30-742F-EE9F-5D2CB0191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8" y="1933"/>
                <a:ext cx="905" cy="272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2" name="Line 44">
                <a:extLst>
                  <a:ext uri="{FF2B5EF4-FFF2-40B4-BE49-F238E27FC236}">
                    <a16:creationId xmlns:a16="http://schemas.microsoft.com/office/drawing/2014/main" id="{7D4EE380-93C4-D203-5921-2033E1BA77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1933"/>
                <a:ext cx="456" cy="272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Line 45">
                <a:extLst>
                  <a:ext uri="{FF2B5EF4-FFF2-40B4-BE49-F238E27FC236}">
                    <a16:creationId xmlns:a16="http://schemas.microsoft.com/office/drawing/2014/main" id="{246A023F-9B73-060E-7CBC-C920AB8B4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9" y="1933"/>
                <a:ext cx="905" cy="272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4" name="Line 46">
                <a:extLst>
                  <a:ext uri="{FF2B5EF4-FFF2-40B4-BE49-F238E27FC236}">
                    <a16:creationId xmlns:a16="http://schemas.microsoft.com/office/drawing/2014/main" id="{E786117C-D2AD-F74A-1692-C1F1111B6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4" y="1933"/>
                <a:ext cx="320" cy="184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Line 47">
                <a:extLst>
                  <a:ext uri="{FF2B5EF4-FFF2-40B4-BE49-F238E27FC236}">
                    <a16:creationId xmlns:a16="http://schemas.microsoft.com/office/drawing/2014/main" id="{0E70AA0E-B3CC-0F93-1DAB-8F8808D70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9" y="1207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6" name="Line 48">
                <a:extLst>
                  <a:ext uri="{FF2B5EF4-FFF2-40B4-BE49-F238E27FC236}">
                    <a16:creationId xmlns:a16="http://schemas.microsoft.com/office/drawing/2014/main" id="{6BC31250-3DC1-F2BB-E3B4-FF41826CE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3" y="1207"/>
                <a:ext cx="0" cy="25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Line 49">
                <a:extLst>
                  <a:ext uri="{FF2B5EF4-FFF2-40B4-BE49-F238E27FC236}">
                    <a16:creationId xmlns:a16="http://schemas.microsoft.com/office/drawing/2014/main" id="{F934E940-36D5-CFB1-4824-4EF131FF1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7" y="1207"/>
                <a:ext cx="0" cy="25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138" name="Group 50">
                <a:extLst>
                  <a:ext uri="{FF2B5EF4-FFF2-40B4-BE49-F238E27FC236}">
                    <a16:creationId xmlns:a16="http://schemas.microsoft.com/office/drawing/2014/main" id="{946AFF3D-2227-B24D-98DB-DF15E54ACA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5" y="3358"/>
                <a:ext cx="2770" cy="56"/>
                <a:chOff x="300" y="5640"/>
                <a:chExt cx="6925" cy="140"/>
              </a:xfrm>
            </p:grpSpPr>
            <p:sp>
              <p:nvSpPr>
                <p:cNvPr id="154" name="Freeform 51">
                  <a:extLst>
                    <a:ext uri="{FF2B5EF4-FFF2-40B4-BE49-F238E27FC236}">
                      <a16:creationId xmlns:a16="http://schemas.microsoft.com/office/drawing/2014/main" id="{560E94CF-8B56-55FC-AF78-4E988093EB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5" y="5640"/>
                  <a:ext cx="280" cy="140"/>
                </a:xfrm>
                <a:custGeom>
                  <a:avLst/>
                  <a:gdLst>
                    <a:gd name="T0" fmla="*/ 280 w 280"/>
                    <a:gd name="T1" fmla="*/ 80 h 140"/>
                    <a:gd name="T2" fmla="*/ 0 w 280"/>
                    <a:gd name="T3" fmla="*/ 140 h 140"/>
                    <a:gd name="T4" fmla="*/ 0 w 280"/>
                    <a:gd name="T5" fmla="*/ 80 h 140"/>
                    <a:gd name="T6" fmla="*/ 0 w 280"/>
                    <a:gd name="T7" fmla="*/ 0 h 140"/>
                    <a:gd name="T8" fmla="*/ 280 w 280"/>
                    <a:gd name="T9" fmla="*/ 8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0" h="140">
                      <a:moveTo>
                        <a:pt x="280" y="80"/>
                      </a:moveTo>
                      <a:lnTo>
                        <a:pt x="0" y="140"/>
                      </a:lnTo>
                      <a:lnTo>
                        <a:pt x="0" y="80"/>
                      </a:lnTo>
                      <a:lnTo>
                        <a:pt x="0" y="0"/>
                      </a:lnTo>
                      <a:lnTo>
                        <a:pt x="28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5" name="Line 52">
                  <a:extLst>
                    <a:ext uri="{FF2B5EF4-FFF2-40B4-BE49-F238E27FC236}">
                      <a16:creationId xmlns:a16="http://schemas.microsoft.com/office/drawing/2014/main" id="{70A88B63-75B8-319D-9C16-F8C5E1E412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" y="5720"/>
                  <a:ext cx="664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39" name="Line 53">
                <a:extLst>
                  <a:ext uri="{FF2B5EF4-FFF2-40B4-BE49-F238E27FC236}">
                    <a16:creationId xmlns:a16="http://schemas.microsoft.com/office/drawing/2014/main" id="{6306E14E-A891-47E7-2DD9-C2C3B72DF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9" y="2523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0" name="Line 54">
                <a:extLst>
                  <a:ext uri="{FF2B5EF4-FFF2-40B4-BE49-F238E27FC236}">
                    <a16:creationId xmlns:a16="http://schemas.microsoft.com/office/drawing/2014/main" id="{C8180D2C-8CD9-AD05-7FC1-B7A8D9738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0" y="2886"/>
                <a:ext cx="276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1" name="Arc 55">
                <a:extLst>
                  <a:ext uri="{FF2B5EF4-FFF2-40B4-BE49-F238E27FC236}">
                    <a16:creationId xmlns:a16="http://schemas.microsoft.com/office/drawing/2014/main" id="{C6CAB67A-77B1-1334-BE60-BE503EC8FDC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426" y="2841"/>
                <a:ext cx="922" cy="226"/>
              </a:xfrm>
              <a:custGeom>
                <a:avLst/>
                <a:gdLst>
                  <a:gd name="T0" fmla="*/ 0 w 41834"/>
                  <a:gd name="T1" fmla="*/ 0 h 21600"/>
                  <a:gd name="T2" fmla="*/ 0 w 41834"/>
                  <a:gd name="T3" fmla="*/ 0 h 21600"/>
                  <a:gd name="T4" fmla="*/ 0 w 41834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834" h="21600" fill="none" extrusionOk="0">
                    <a:moveTo>
                      <a:pt x="0" y="17703"/>
                    </a:moveTo>
                    <a:cubicBezTo>
                      <a:pt x="1881" y="7447"/>
                      <a:pt x="10819" y="-1"/>
                      <a:pt x="21246" y="0"/>
                    </a:cubicBezTo>
                    <a:cubicBezTo>
                      <a:pt x="30657" y="0"/>
                      <a:pt x="38986" y="6094"/>
                      <a:pt x="41833" y="15065"/>
                    </a:cubicBezTo>
                  </a:path>
                  <a:path w="41834" h="21600" stroke="0" extrusionOk="0">
                    <a:moveTo>
                      <a:pt x="0" y="17703"/>
                    </a:moveTo>
                    <a:cubicBezTo>
                      <a:pt x="1881" y="7447"/>
                      <a:pt x="10819" y="-1"/>
                      <a:pt x="21246" y="0"/>
                    </a:cubicBezTo>
                    <a:cubicBezTo>
                      <a:pt x="30657" y="0"/>
                      <a:pt x="38986" y="6094"/>
                      <a:pt x="41833" y="15065"/>
                    </a:cubicBezTo>
                    <a:lnTo>
                      <a:pt x="21246" y="21600"/>
                    </a:lnTo>
                    <a:lnTo>
                      <a:pt x="0" y="17703"/>
                    </a:lnTo>
                    <a:close/>
                  </a:path>
                </a:pathLst>
              </a:cu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2" name="Arc 56">
                <a:extLst>
                  <a:ext uri="{FF2B5EF4-FFF2-40B4-BE49-F238E27FC236}">
                    <a16:creationId xmlns:a16="http://schemas.microsoft.com/office/drawing/2014/main" id="{73FF46A2-4A1A-0277-BFD1-FA8639BCA430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 flipV="1">
                <a:off x="3348" y="2750"/>
                <a:ext cx="432" cy="227"/>
              </a:xfrm>
              <a:custGeom>
                <a:avLst/>
                <a:gdLst>
                  <a:gd name="T0" fmla="*/ 0 w 39762"/>
                  <a:gd name="T1" fmla="*/ 0 h 21600"/>
                  <a:gd name="T2" fmla="*/ 0 w 39762"/>
                  <a:gd name="T3" fmla="*/ 0 h 21600"/>
                  <a:gd name="T4" fmla="*/ 0 w 397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762" h="21600" fill="none" extrusionOk="0">
                    <a:moveTo>
                      <a:pt x="-1" y="12928"/>
                    </a:moveTo>
                    <a:cubicBezTo>
                      <a:pt x="3442" y="5073"/>
                      <a:pt x="11206" y="-1"/>
                      <a:pt x="19783" y="0"/>
                    </a:cubicBezTo>
                    <a:cubicBezTo>
                      <a:pt x="28541" y="0"/>
                      <a:pt x="36432" y="5288"/>
                      <a:pt x="39761" y="13389"/>
                    </a:cubicBezTo>
                  </a:path>
                  <a:path w="39762" h="21600" stroke="0" extrusionOk="0">
                    <a:moveTo>
                      <a:pt x="-1" y="12928"/>
                    </a:moveTo>
                    <a:cubicBezTo>
                      <a:pt x="3442" y="5073"/>
                      <a:pt x="11206" y="-1"/>
                      <a:pt x="19783" y="0"/>
                    </a:cubicBezTo>
                    <a:cubicBezTo>
                      <a:pt x="28541" y="0"/>
                      <a:pt x="36432" y="5288"/>
                      <a:pt x="39761" y="13389"/>
                    </a:cubicBezTo>
                    <a:lnTo>
                      <a:pt x="19783" y="21600"/>
                    </a:lnTo>
                    <a:lnTo>
                      <a:pt x="-1" y="12928"/>
                    </a:lnTo>
                    <a:close/>
                  </a:path>
                </a:pathLst>
              </a:cu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3" name="Arc 57">
                <a:extLst>
                  <a:ext uri="{FF2B5EF4-FFF2-40B4-BE49-F238E27FC236}">
                    <a16:creationId xmlns:a16="http://schemas.microsoft.com/office/drawing/2014/main" id="{EA979EB1-F9E8-1AD6-C3D9-010301FEBB8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787" y="2841"/>
                <a:ext cx="907" cy="226"/>
              </a:xfrm>
              <a:custGeom>
                <a:avLst/>
                <a:gdLst>
                  <a:gd name="T0" fmla="*/ 0 w 42287"/>
                  <a:gd name="T1" fmla="*/ 0 h 21600"/>
                  <a:gd name="T2" fmla="*/ 0 w 42287"/>
                  <a:gd name="T3" fmla="*/ 0 h 21600"/>
                  <a:gd name="T4" fmla="*/ 0 w 4228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287" h="21600" fill="none" extrusionOk="0">
                    <a:moveTo>
                      <a:pt x="0" y="17703"/>
                    </a:moveTo>
                    <a:cubicBezTo>
                      <a:pt x="1881" y="7447"/>
                      <a:pt x="10819" y="-1"/>
                      <a:pt x="21246" y="0"/>
                    </a:cubicBezTo>
                    <a:cubicBezTo>
                      <a:pt x="31293" y="0"/>
                      <a:pt x="40014" y="6928"/>
                      <a:pt x="42286" y="16716"/>
                    </a:cubicBezTo>
                  </a:path>
                  <a:path w="42287" h="21600" stroke="0" extrusionOk="0">
                    <a:moveTo>
                      <a:pt x="0" y="17703"/>
                    </a:moveTo>
                    <a:cubicBezTo>
                      <a:pt x="1881" y="7447"/>
                      <a:pt x="10819" y="-1"/>
                      <a:pt x="21246" y="0"/>
                    </a:cubicBezTo>
                    <a:cubicBezTo>
                      <a:pt x="31293" y="0"/>
                      <a:pt x="40014" y="6928"/>
                      <a:pt x="42286" y="16716"/>
                    </a:cubicBezTo>
                    <a:lnTo>
                      <a:pt x="21246" y="21600"/>
                    </a:lnTo>
                    <a:lnTo>
                      <a:pt x="0" y="17703"/>
                    </a:lnTo>
                    <a:close/>
                  </a:path>
                </a:pathLst>
              </a:cu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4" name="Line 58">
                <a:extLst>
                  <a:ext uri="{FF2B5EF4-FFF2-40B4-BE49-F238E27FC236}">
                    <a16:creationId xmlns:a16="http://schemas.microsoft.com/office/drawing/2014/main" id="{4A90F7D3-9024-0E26-E250-B46D18746F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0" y="3067"/>
                <a:ext cx="2767" cy="0"/>
              </a:xfrm>
              <a:prstGeom prst="line">
                <a:avLst/>
              </a:prstGeom>
              <a:noFill/>
              <a:ln w="12700">
                <a:solidFill>
                  <a:srgbClr val="3366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5" name="Line 59">
                <a:extLst>
                  <a:ext uri="{FF2B5EF4-FFF2-40B4-BE49-F238E27FC236}">
                    <a16:creationId xmlns:a16="http://schemas.microsoft.com/office/drawing/2014/main" id="{578087ED-F609-930D-C071-B37A149B0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0" y="2750"/>
                <a:ext cx="2767" cy="0"/>
              </a:xfrm>
              <a:prstGeom prst="line">
                <a:avLst/>
              </a:prstGeom>
              <a:noFill/>
              <a:ln w="12700">
                <a:solidFill>
                  <a:srgbClr val="3366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6" name="Line 60">
                <a:extLst>
                  <a:ext uri="{FF2B5EF4-FFF2-40B4-BE49-F238E27FC236}">
                    <a16:creationId xmlns:a16="http://schemas.microsoft.com/office/drawing/2014/main" id="{729E9220-FC1F-71F5-CC0D-BE26760EA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2750"/>
                <a:ext cx="0" cy="317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 type="triangle" w="lg" len="med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7" name="Line 61">
                <a:extLst>
                  <a:ext uri="{FF2B5EF4-FFF2-40B4-BE49-F238E27FC236}">
                    <a16:creationId xmlns:a16="http://schemas.microsoft.com/office/drawing/2014/main" id="{6A6AA1BD-54F2-8B5D-A634-D4D89E9E2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4" y="1933"/>
                <a:ext cx="0" cy="19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8" name="Line 62">
                <a:extLst>
                  <a:ext uri="{FF2B5EF4-FFF2-40B4-BE49-F238E27FC236}">
                    <a16:creationId xmlns:a16="http://schemas.microsoft.com/office/drawing/2014/main" id="{3D43635D-C36B-1284-8DBA-6753B7089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1888"/>
                <a:ext cx="0" cy="19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9" name="Text Box 63">
                <a:extLst>
                  <a:ext uri="{FF2B5EF4-FFF2-40B4-BE49-F238E27FC236}">
                    <a16:creationId xmlns:a16="http://schemas.microsoft.com/office/drawing/2014/main" id="{879D72F8-C457-BD8B-1417-93000EFBC0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3" y="3794"/>
                <a:ext cx="381" cy="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dirty="0">
                    <a:latin typeface="Times New Roman" panose="02020603050405020304" pitchFamily="18" charset="0"/>
                  </a:rPr>
                  <a:t>t</a:t>
                </a:r>
                <a:r>
                  <a:rPr lang="fr-FR" altLang="fr-FR" sz="1800" baseline="-2500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50" name="Text Box 64">
                <a:extLst>
                  <a:ext uri="{FF2B5EF4-FFF2-40B4-BE49-F238E27FC236}">
                    <a16:creationId xmlns:a16="http://schemas.microsoft.com/office/drawing/2014/main" id="{3412D85C-E0A0-684E-3620-E2ED2DE98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4" y="3793"/>
                <a:ext cx="381" cy="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dirty="0">
                    <a:latin typeface="Times New Roman" panose="02020603050405020304" pitchFamily="18" charset="0"/>
                  </a:rPr>
                  <a:t>t</a:t>
                </a:r>
                <a:r>
                  <a:rPr lang="fr-FR" altLang="fr-FR" sz="1800" baseline="-25000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51" name="Line 65">
                <a:extLst>
                  <a:ext uri="{FF2B5EF4-FFF2-40B4-BE49-F238E27FC236}">
                    <a16:creationId xmlns:a16="http://schemas.microsoft.com/office/drawing/2014/main" id="{DE7A3658-E5D4-AA65-4E9F-5E7EFCF70E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1434"/>
                <a:ext cx="19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2" name="Line 66">
                <a:extLst>
                  <a:ext uri="{FF2B5EF4-FFF2-40B4-BE49-F238E27FC236}">
                    <a16:creationId xmlns:a16="http://schemas.microsoft.com/office/drawing/2014/main" id="{6F46871E-EE27-2591-2960-A2F8C0380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1706"/>
                <a:ext cx="19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" name="Line 67">
                <a:extLst>
                  <a:ext uri="{FF2B5EF4-FFF2-40B4-BE49-F238E27FC236}">
                    <a16:creationId xmlns:a16="http://schemas.microsoft.com/office/drawing/2014/main" id="{3ED36E4C-BB32-6236-D519-279DFF4E4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8" y="1434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lg" len="med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77" name="Line 17">
              <a:extLst>
                <a:ext uri="{FF2B5EF4-FFF2-40B4-BE49-F238E27FC236}">
                  <a16:creationId xmlns:a16="http://schemas.microsoft.com/office/drawing/2014/main" id="{23314E3F-5B4D-F7C2-A28A-6D2F1A375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428" y="6109520"/>
              <a:ext cx="2835822" cy="3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8" name="Line 43">
              <a:extLst>
                <a:ext uri="{FF2B5EF4-FFF2-40B4-BE49-F238E27FC236}">
                  <a16:creationId xmlns:a16="http://schemas.microsoft.com/office/drawing/2014/main" id="{5BBEBA45-C98D-C5DC-791C-927620DBD1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4311" y="5990269"/>
              <a:ext cx="965545" cy="230044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9" name="Line 44">
              <a:extLst>
                <a:ext uri="{FF2B5EF4-FFF2-40B4-BE49-F238E27FC236}">
                  <a16:creationId xmlns:a16="http://schemas.microsoft.com/office/drawing/2014/main" id="{49502274-5529-842D-DFEB-C8897C2EE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9857" y="5990269"/>
              <a:ext cx="486507" cy="230044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" name="Line 45">
              <a:extLst>
                <a:ext uri="{FF2B5EF4-FFF2-40B4-BE49-F238E27FC236}">
                  <a16:creationId xmlns:a16="http://schemas.microsoft.com/office/drawing/2014/main" id="{06A7C80F-9332-B6E4-F1BD-4C85FC5396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6363" y="5990269"/>
              <a:ext cx="965545" cy="230044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1" name="Line 46">
              <a:extLst>
                <a:ext uri="{FF2B5EF4-FFF2-40B4-BE49-F238E27FC236}">
                  <a16:creationId xmlns:a16="http://schemas.microsoft.com/office/drawing/2014/main" id="{D7027E09-A348-29D9-F9B3-D820812E5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908" y="5990269"/>
              <a:ext cx="341408" cy="15561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2" name="Line 47">
              <a:extLst>
                <a:ext uri="{FF2B5EF4-FFF2-40B4-BE49-F238E27FC236}">
                  <a16:creationId xmlns:a16="http://schemas.microsoft.com/office/drawing/2014/main" id="{7123F101-29E0-255C-8C28-42BC5AB4B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6716" y="5376254"/>
              <a:ext cx="0" cy="9590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5" name="Text Box 29">
              <a:extLst>
                <a:ext uri="{FF2B5EF4-FFF2-40B4-BE49-F238E27FC236}">
                  <a16:creationId xmlns:a16="http://schemas.microsoft.com/office/drawing/2014/main" id="{DC729E85-C33C-6000-C044-C596B2EBD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8344" y="5883412"/>
              <a:ext cx="70325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ESR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ZoneTexte 185">
                <a:extLst>
                  <a:ext uri="{FF2B5EF4-FFF2-40B4-BE49-F238E27FC236}">
                    <a16:creationId xmlns:a16="http://schemas.microsoft.com/office/drawing/2014/main" id="{738E37E4-9FC2-8019-FCFB-DBDF936E0FFC}"/>
                  </a:ext>
                </a:extLst>
              </p:cNvPr>
              <p:cNvSpPr txBox="1"/>
              <p:nvPr/>
            </p:nvSpPr>
            <p:spPr>
              <a:xfrm>
                <a:off x="7206760" y="3437879"/>
                <a:ext cx="285796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𝑬𝑺𝑹</m:t>
                          </m:r>
                        </m:sub>
                      </m:sSub>
                    </m:oMath>
                  </m:oMathPara>
                </a14:m>
                <a:br>
                  <a:rPr lang="fr-FR" sz="2400" b="1" dirty="0"/>
                </a:br>
                <a:br>
                  <a:rPr lang="fr-FR" sz="2400" b="1" dirty="0"/>
                </a:br>
                <a14:m>
                  <m:oMathPara xmlns:m="http://schemas.openxmlformats.org/officeDocument/2006/math">
                    <m:oMath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𝐄𝐒𝐑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86" name="ZoneTexte 185">
                <a:extLst>
                  <a:ext uri="{FF2B5EF4-FFF2-40B4-BE49-F238E27FC236}">
                    <a16:creationId xmlns:a16="http://schemas.microsoft.com/office/drawing/2014/main" id="{738E37E4-9FC2-8019-FCFB-DBDF936E0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760" y="3437879"/>
                <a:ext cx="2857962" cy="1107996"/>
              </a:xfrm>
              <a:prstGeom prst="rect">
                <a:avLst/>
              </a:prstGeom>
              <a:blipFill>
                <a:blip r:embed="rId2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F4537198-6873-55C6-0C8A-6FE572565AB4}"/>
                  </a:ext>
                </a:extLst>
              </p:cNvPr>
              <p:cNvSpPr txBox="1"/>
              <p:nvPr/>
            </p:nvSpPr>
            <p:spPr>
              <a:xfrm>
                <a:off x="6798969" y="4682436"/>
                <a:ext cx="50164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fr-FR" sz="2400" dirty="0"/>
                  <a:t>For high value of C</a:t>
                </a:r>
                <a:r>
                  <a:rPr lang="fr-FR" sz="2400" baseline="-25000" dirty="0"/>
                  <a:t>S</a:t>
                </a:r>
                <a:r>
                  <a:rPr lang="fr-FR" sz="2400" dirty="0"/>
                  <a:t>, </a:t>
                </a:r>
                <a:br>
                  <a:rPr lang="fr-FR" sz="2400" dirty="0"/>
                </a:b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𝐸𝑆𝑅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F4537198-6873-55C6-0C8A-6FE572565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969" y="4682436"/>
                <a:ext cx="5016423" cy="830997"/>
              </a:xfrm>
              <a:prstGeom prst="rect">
                <a:avLst/>
              </a:prstGeom>
              <a:blipFill>
                <a:blip r:embed="rId3"/>
                <a:stretch>
                  <a:fillRect l="-1823" t="-5882" b="-7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ZoneTexte 188">
                <a:extLst>
                  <a:ext uri="{FF2B5EF4-FFF2-40B4-BE49-F238E27FC236}">
                    <a16:creationId xmlns:a16="http://schemas.microsoft.com/office/drawing/2014/main" id="{6240BA6D-C23D-D801-7DFD-47FA098A4BC2}"/>
                  </a:ext>
                </a:extLst>
              </p:cNvPr>
              <p:cNvSpPr txBox="1"/>
              <p:nvPr/>
            </p:nvSpPr>
            <p:spPr>
              <a:xfrm>
                <a:off x="7997882" y="5616274"/>
                <a:ext cx="1825949" cy="87870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𝑬𝑺𝑹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fr-FR" sz="2800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sub>
                          </m:sSub>
                        </m:num>
                        <m:den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89" name="ZoneTexte 188">
                <a:extLst>
                  <a:ext uri="{FF2B5EF4-FFF2-40B4-BE49-F238E27FC236}">
                    <a16:creationId xmlns:a16="http://schemas.microsoft.com/office/drawing/2014/main" id="{6240BA6D-C23D-D801-7DFD-47FA098A4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882" y="5616274"/>
                <a:ext cx="1825949" cy="8787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757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Boundary mode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7501002" y="2347409"/>
            <a:ext cx="151130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33CC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2400" b="1" baseline="-25000">
                <a:solidFill>
                  <a:srgbClr val="0033CC"/>
                </a:solidFill>
                <a:latin typeface="Times New Roman" panose="02020603050405020304" pitchFamily="18" charset="0"/>
              </a:rPr>
              <a:t>L</a:t>
            </a:r>
            <a:r>
              <a:rPr lang="fr-FR" altLang="fr-FR" sz="2400" b="1">
                <a:solidFill>
                  <a:srgbClr val="0033CC"/>
                </a:solidFill>
                <a:latin typeface="Times New Roman" panose="02020603050405020304" pitchFamily="18" charset="0"/>
              </a:rPr>
              <a:t>(T) = 0</a:t>
            </a:r>
            <a:endParaRPr lang="fr-FR" altLang="fr-FR" sz="2400" b="1" baseline="-250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2527364" y="2882396"/>
            <a:ext cx="4397375" cy="88900"/>
            <a:chOff x="300" y="5640"/>
            <a:chExt cx="6925" cy="140"/>
          </a:xfrm>
        </p:grpSpPr>
        <p:sp>
          <p:nvSpPr>
            <p:cNvPr id="8" name="Freeform 13"/>
            <p:cNvSpPr>
              <a:spLocks/>
            </p:cNvSpPr>
            <p:nvPr/>
          </p:nvSpPr>
          <p:spPr bwMode="auto">
            <a:xfrm>
              <a:off x="6945" y="5640"/>
              <a:ext cx="280" cy="140"/>
            </a:xfrm>
            <a:custGeom>
              <a:avLst/>
              <a:gdLst>
                <a:gd name="T0" fmla="*/ 280 w 280"/>
                <a:gd name="T1" fmla="*/ 80 h 140"/>
                <a:gd name="T2" fmla="*/ 0 w 280"/>
                <a:gd name="T3" fmla="*/ 140 h 140"/>
                <a:gd name="T4" fmla="*/ 0 w 280"/>
                <a:gd name="T5" fmla="*/ 80 h 140"/>
                <a:gd name="T6" fmla="*/ 0 w 280"/>
                <a:gd name="T7" fmla="*/ 0 h 140"/>
                <a:gd name="T8" fmla="*/ 280 w 280"/>
                <a:gd name="T9" fmla="*/ 80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0" h="140">
                  <a:moveTo>
                    <a:pt x="280" y="80"/>
                  </a:moveTo>
                  <a:lnTo>
                    <a:pt x="0" y="140"/>
                  </a:lnTo>
                  <a:lnTo>
                    <a:pt x="0" y="80"/>
                  </a:lnTo>
                  <a:lnTo>
                    <a:pt x="0" y="0"/>
                  </a:lnTo>
                  <a:lnTo>
                    <a:pt x="280" y="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300" y="5720"/>
              <a:ext cx="664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6873939" y="2602996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 flipV="1">
            <a:off x="2641664" y="2493459"/>
            <a:ext cx="1436688" cy="431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4078352" y="2493459"/>
            <a:ext cx="723900" cy="431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 flipV="1">
            <a:off x="4802252" y="2493459"/>
            <a:ext cx="1436687" cy="431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6238939" y="2493459"/>
            <a:ext cx="508000" cy="2921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 flipV="1">
            <a:off x="2676589" y="1988634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2748027" y="1988634"/>
            <a:ext cx="3413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Times New Roman" panose="02020603050405020304" pitchFamily="18" charset="0"/>
              </a:rPr>
              <a:t>i</a:t>
            </a:r>
            <a:r>
              <a:rPr lang="fr-FR" altLang="fr-FR" sz="1800" baseline="-25000" dirty="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>
            <a:off x="4045014" y="2347409"/>
            <a:ext cx="0" cy="7207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4584764" y="3068134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3829114" y="3068134"/>
            <a:ext cx="4683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Symbol" panose="05050102010706020507" pitchFamily="18" charset="2"/>
              </a:rPr>
              <a:t>a</a:t>
            </a:r>
            <a:r>
              <a:rPr lang="fr-FR" altLang="fr-FR" sz="1800" dirty="0">
                <a:latin typeface="Times New Roman" panose="02020603050405020304" pitchFamily="18" charset="0"/>
              </a:rPr>
              <a:t>T</a:t>
            </a:r>
          </a:p>
        </p:txBody>
      </p:sp>
      <p:grpSp>
        <p:nvGrpSpPr>
          <p:cNvPr id="22" name="Group 32"/>
          <p:cNvGrpSpPr>
            <a:grpSpLocks/>
          </p:cNvGrpSpPr>
          <p:nvPr/>
        </p:nvGrpSpPr>
        <p:grpSpPr bwMode="auto">
          <a:xfrm>
            <a:off x="2892489" y="5012821"/>
            <a:ext cx="7653338" cy="1223963"/>
            <a:chOff x="612" y="2886"/>
            <a:chExt cx="4821" cy="771"/>
          </a:xfrm>
        </p:grpSpPr>
        <p:pic>
          <p:nvPicPr>
            <p:cNvPr id="23" name="Picture 2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2976"/>
              <a:ext cx="2008" cy="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AutoShape 29"/>
            <p:cNvSpPr>
              <a:spLocks noChangeArrowheads="1"/>
            </p:cNvSpPr>
            <p:nvPr/>
          </p:nvSpPr>
          <p:spPr bwMode="auto">
            <a:xfrm>
              <a:off x="612" y="3022"/>
              <a:ext cx="590" cy="408"/>
            </a:xfrm>
            <a:prstGeom prst="notchedRightArrow">
              <a:avLst>
                <a:gd name="adj1" fmla="val 50000"/>
                <a:gd name="adj2" fmla="val 3615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30"/>
            <p:cNvSpPr txBox="1">
              <a:spLocks noChangeArrowheads="1"/>
            </p:cNvSpPr>
            <p:nvPr/>
          </p:nvSpPr>
          <p:spPr bwMode="auto">
            <a:xfrm>
              <a:off x="4105" y="3067"/>
              <a:ext cx="132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AU" altLang="fr-FR" sz="1800" b="1" i="1" dirty="0">
                  <a:solidFill>
                    <a:srgbClr val="0033CC"/>
                  </a:solidFill>
                  <a:latin typeface="Calibri (Corps)"/>
                </a:rPr>
                <a:t>Curve of mode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AU" altLang="fr-FR" sz="1800" b="1" i="1" dirty="0">
                  <a:solidFill>
                    <a:srgbClr val="0033CC"/>
                  </a:solidFill>
                  <a:latin typeface="Calibri (Corps)"/>
                </a:rPr>
                <a:t>separation (</a:t>
              </a:r>
              <a:r>
                <a:rPr lang="en-AU" altLang="fr-FR" sz="1800" b="1" i="1" dirty="0" err="1">
                  <a:solidFill>
                    <a:srgbClr val="0033CC"/>
                  </a:solidFill>
                  <a:latin typeface="Calibri (Corps)"/>
                </a:rPr>
                <a:t>Vs,Is</a:t>
              </a:r>
              <a:r>
                <a:rPr lang="en-AU" altLang="fr-FR" sz="1800" b="1" i="1" dirty="0">
                  <a:solidFill>
                    <a:srgbClr val="0033CC"/>
                  </a:solidFill>
                  <a:latin typeface="Calibri (Corps)"/>
                </a:rPr>
                <a:t>)</a:t>
              </a:r>
            </a:p>
          </p:txBody>
        </p:sp>
        <p:sp>
          <p:nvSpPr>
            <p:cNvPr id="26" name="Rectangle 31"/>
            <p:cNvSpPr>
              <a:spLocks noChangeArrowheads="1"/>
            </p:cNvSpPr>
            <p:nvPr/>
          </p:nvSpPr>
          <p:spPr bwMode="auto">
            <a:xfrm>
              <a:off x="1474" y="2886"/>
              <a:ext cx="2222" cy="771"/>
            </a:xfrm>
            <a:prstGeom prst="rect">
              <a:avLst/>
            </a:prstGeom>
            <a:noFill/>
            <a:ln w="25400">
              <a:solidFill>
                <a:srgbClr val="3366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779035" y="3762882"/>
                <a:ext cx="173970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035" y="3762882"/>
                <a:ext cx="173970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>
                <a:off x="2307075" y="3768939"/>
                <a:ext cx="5949577" cy="6526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&gt; = </m:t>
                    </m:r>
                    <m:f>
                      <m:f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fr-FR" sz="28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den>
                        </m:f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  <m:d>
                          <m:dPr>
                            <m:ctrlP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</m:oMath>
                </a14:m>
                <a:r>
                  <a:rPr lang="fr-FR" sz="2800" b="1" dirty="0"/>
                  <a:t> </a:t>
                </a:r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075" y="3768939"/>
                <a:ext cx="5949577" cy="6526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 droit 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31E607-156C-A646-1E63-15C9A02DF5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469" y="157254"/>
            <a:ext cx="5890764" cy="191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2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3916363" y="3403023"/>
            <a:ext cx="5113337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4132263" y="1745673"/>
            <a:ext cx="0" cy="187166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9101138" y="3545898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" name="Rectangle 6" descr="noir)"/>
          <p:cNvSpPr>
            <a:spLocks noChangeArrowheads="1"/>
          </p:cNvSpPr>
          <p:nvPr/>
        </p:nvSpPr>
        <p:spPr bwMode="auto">
          <a:xfrm>
            <a:off x="4133850" y="2466398"/>
            <a:ext cx="1295400" cy="9350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1800" dirty="0" err="1">
                <a:latin typeface="Calibri (Corps)"/>
              </a:rPr>
              <a:t>T</a:t>
            </a:r>
            <a:r>
              <a:rPr lang="en-AU" altLang="fr-FR" sz="1800" baseline="-25000" dirty="0" err="1">
                <a:latin typeface="Calibri (Corps)"/>
              </a:rPr>
              <a:t>p</a:t>
            </a:r>
            <a:endParaRPr lang="en-AU" altLang="fr-FR" sz="1800" baseline="-25000" dirty="0">
              <a:latin typeface="Calibri (Corps)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1800" dirty="0">
                <a:latin typeface="Calibri (Corps)"/>
              </a:rPr>
              <a:t>“Closed”</a:t>
            </a:r>
          </a:p>
        </p:txBody>
      </p:sp>
      <p:sp>
        <p:nvSpPr>
          <p:cNvPr id="12" name="Rectangle 7" descr="noir)"/>
          <p:cNvSpPr>
            <a:spLocks noChangeArrowheads="1"/>
          </p:cNvSpPr>
          <p:nvPr/>
        </p:nvSpPr>
        <p:spPr bwMode="auto">
          <a:xfrm>
            <a:off x="5429250" y="2466398"/>
            <a:ext cx="2636838" cy="9350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1800" dirty="0" err="1">
                <a:latin typeface="Calibri (Corps)"/>
              </a:rPr>
              <a:t>T</a:t>
            </a:r>
            <a:r>
              <a:rPr lang="en-AU" altLang="fr-FR" sz="1800" baseline="-25000" dirty="0" err="1">
                <a:latin typeface="Calibri (Corps)"/>
              </a:rPr>
              <a:t>p</a:t>
            </a:r>
            <a:endParaRPr lang="en-AU" altLang="fr-FR" sz="1800" baseline="-25000" dirty="0">
              <a:latin typeface="Calibri (Corps)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1800" dirty="0">
                <a:latin typeface="Calibri (Corps)"/>
              </a:rPr>
              <a:t>“Opened”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987800" y="3566536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5140325" y="3560186"/>
            <a:ext cx="644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 dirty="0">
                <a:latin typeface="Symbol" panose="05050102010706020507" pitchFamily="18" charset="2"/>
              </a:rPr>
              <a:t>a</a:t>
            </a:r>
            <a:r>
              <a:rPr lang="fr-FR" altLang="fr-FR" sz="28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7861300" y="3566536"/>
            <a:ext cx="420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4132263" y="4266623"/>
            <a:ext cx="1268412" cy="635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4105275" y="4411086"/>
            <a:ext cx="13308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D</a:t>
            </a:r>
            <a:r>
              <a:rPr lang="fr-FR" altLang="fr-FR" sz="1800" b="1" i="1" baseline="-25000" dirty="0">
                <a:solidFill>
                  <a:srgbClr val="0033CC"/>
                </a:solidFill>
                <a:latin typeface="Calibri (Corps)"/>
              </a:rPr>
              <a:t>p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reverse</a:t>
            </a: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5400675" y="4272973"/>
            <a:ext cx="1728788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5689600" y="4417436"/>
            <a:ext cx="13564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AU" altLang="fr-FR" sz="1800" b="1" i="1" dirty="0" err="1">
                <a:solidFill>
                  <a:srgbClr val="FF9900"/>
                </a:solidFill>
                <a:latin typeface="Calibri (Corps)"/>
              </a:rPr>
              <a:t>D</a:t>
            </a:r>
            <a:r>
              <a:rPr lang="en-AU" altLang="fr-FR" sz="1800" b="1" i="1" baseline="-25000" dirty="0" err="1">
                <a:solidFill>
                  <a:srgbClr val="FF9900"/>
                </a:solidFill>
                <a:latin typeface="Calibri (Corps)"/>
              </a:rPr>
              <a:t>p</a:t>
            </a:r>
            <a:r>
              <a:rPr lang="en-AU" altLang="fr-FR" sz="1800" b="1" i="1" dirty="0">
                <a:solidFill>
                  <a:srgbClr val="FF9900"/>
                </a:solidFill>
                <a:latin typeface="Calibri (Corps)"/>
              </a:rPr>
              <a:t> forward</a:t>
            </a:r>
          </a:p>
        </p:txBody>
      </p:sp>
      <p:grpSp>
        <p:nvGrpSpPr>
          <p:cNvPr id="20" name="Group 20"/>
          <p:cNvGrpSpPr>
            <a:grpSpLocks/>
          </p:cNvGrpSpPr>
          <p:nvPr/>
        </p:nvGrpSpPr>
        <p:grpSpPr bwMode="auto">
          <a:xfrm>
            <a:off x="7129463" y="4272973"/>
            <a:ext cx="1330325" cy="514350"/>
            <a:chOff x="3243" y="2840"/>
            <a:chExt cx="838" cy="324"/>
          </a:xfrm>
        </p:grpSpPr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3260" y="2840"/>
              <a:ext cx="573" cy="0"/>
            </a:xfrm>
            <a:prstGeom prst="line">
              <a:avLst/>
            </a:prstGeom>
            <a:noFill/>
            <a:ln w="19050">
              <a:noFill/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3243" y="2931"/>
              <a:ext cx="8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i="1" dirty="0">
                  <a:solidFill>
                    <a:srgbClr val="009900"/>
                  </a:solidFill>
                  <a:latin typeface="Calibri (Corps)"/>
                </a:rPr>
                <a:t>D</a:t>
              </a:r>
              <a:r>
                <a:rPr lang="fr-FR" altLang="fr-FR" sz="1800" b="1" i="1" baseline="-25000" dirty="0">
                  <a:solidFill>
                    <a:srgbClr val="009900"/>
                  </a:solidFill>
                  <a:latin typeface="Calibri (Corps)"/>
                </a:rPr>
                <a:t>p</a:t>
              </a:r>
              <a:r>
                <a:rPr lang="fr-FR" altLang="fr-FR" sz="1800" b="1" i="1" dirty="0">
                  <a:solidFill>
                    <a:srgbClr val="009900"/>
                  </a:solidFill>
                  <a:latin typeface="Calibri (Corps)"/>
                </a:rPr>
                <a:t> reverse</a:t>
              </a:r>
            </a:p>
          </p:txBody>
        </p:sp>
      </p:grpSp>
      <p:sp>
        <p:nvSpPr>
          <p:cNvPr id="23" name="Line 17"/>
          <p:cNvSpPr>
            <a:spLocks noChangeShapeType="1"/>
          </p:cNvSpPr>
          <p:nvPr/>
        </p:nvSpPr>
        <p:spPr bwMode="auto">
          <a:xfrm flipV="1">
            <a:off x="7129463" y="1969511"/>
            <a:ext cx="0" cy="2376487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6840538" y="355224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fr-FR" altLang="fr-FR" sz="24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4105275" y="5281036"/>
            <a:ext cx="547211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 i="1" dirty="0">
                <a:solidFill>
                  <a:srgbClr val="009900"/>
                </a:solidFill>
                <a:latin typeface="Calibri (Corps)"/>
              </a:rPr>
              <a:t>At t</a:t>
            </a:r>
            <a:r>
              <a:rPr lang="fr-FR" altLang="fr-FR" sz="2000" b="1" i="1" baseline="-25000" dirty="0">
                <a:solidFill>
                  <a:srgbClr val="009900"/>
                </a:solidFill>
                <a:latin typeface="Calibri (Corps)"/>
              </a:rPr>
              <a:t>0</a:t>
            </a:r>
            <a:r>
              <a:rPr lang="fr-FR" altLang="fr-FR" sz="2000" b="1" i="1" dirty="0">
                <a:solidFill>
                  <a:srgbClr val="009900"/>
                </a:solidFill>
                <a:latin typeface="Calibri (Corps)"/>
              </a:rPr>
              <a:t> = a ’.T : diode switches to reverse mode</a:t>
            </a:r>
          </a:p>
        </p:txBody>
      </p:sp>
      <p:cxnSp>
        <p:nvCxnSpPr>
          <p:cNvPr id="27" name="Connecteur droit 26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65398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46532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mode: Chronograms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958" y="2121911"/>
            <a:ext cx="46386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80F0345-FC35-0379-6CB2-967F46070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843" y="329782"/>
            <a:ext cx="5890764" cy="191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85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48165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mode: calculation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7855385" y="2857571"/>
            <a:ext cx="574675" cy="503237"/>
          </a:xfrm>
          <a:prstGeom prst="rightArrow">
            <a:avLst>
              <a:gd name="adj1" fmla="val 50000"/>
              <a:gd name="adj2" fmla="val 285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7628370" y="4646683"/>
            <a:ext cx="574675" cy="503238"/>
          </a:xfrm>
          <a:prstGeom prst="rightArrow">
            <a:avLst>
              <a:gd name="adj1" fmla="val 50000"/>
              <a:gd name="adj2" fmla="val 285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pic>
        <p:nvPicPr>
          <p:cNvPr id="8" name="Picture 15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508" y="333446"/>
            <a:ext cx="2751137" cy="2259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9023706" y="2696565"/>
                <a:ext cx="1278812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706" y="2696565"/>
                <a:ext cx="1278812" cy="806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459655" y="2704450"/>
                <a:ext cx="5203091" cy="689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.(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655" y="2704450"/>
                <a:ext cx="5203091" cy="689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2459655" y="3784059"/>
                <a:ext cx="7556107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&gt; 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655" y="3784059"/>
                <a:ext cx="7556107" cy="6914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8377451" y="4485594"/>
                <a:ext cx="272119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.&lt;</m:t>
                          </m:r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451" y="4485594"/>
                <a:ext cx="2721194" cy="6938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3790922" y="5344185"/>
                <a:ext cx="2762872" cy="9897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.&lt;</m:t>
                              </m:r>
                              <m:sSub>
                                <m:sSubPr>
                                  <m:ctrlPr>
                                    <a:rPr lang="fr-FR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fr-FR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sub>
                              </m:sSub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num>
                            <m:den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fr-FR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22" y="5344185"/>
                <a:ext cx="2762872" cy="9897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7044887" y="5576696"/>
                <a:ext cx="39576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Output current: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 =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887" y="5576696"/>
                <a:ext cx="3957638" cy="461665"/>
              </a:xfrm>
              <a:prstGeom prst="rect">
                <a:avLst/>
              </a:prstGeom>
              <a:blipFill>
                <a:blip r:embed="rId8"/>
                <a:stretch>
                  <a:fillRect l="-2465" t="-10526" b="-289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12"/>
          <p:cNvSpPr>
            <a:spLocks noChangeArrowheads="1"/>
          </p:cNvSpPr>
          <p:nvPr/>
        </p:nvSpPr>
        <p:spPr bwMode="auto">
          <a:xfrm>
            <a:off x="2741253" y="5310618"/>
            <a:ext cx="865188" cy="79216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69 w 21600"/>
              <a:gd name="T13" fmla="*/ 5411 h 21600"/>
              <a:gd name="T14" fmla="*/ 18905 w 21600"/>
              <a:gd name="T15" fmla="*/ 1618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cxnSp>
        <p:nvCxnSpPr>
          <p:cNvPr id="19" name="Connecteur droit 1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971989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Output characteristics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741" y="1357384"/>
            <a:ext cx="7561263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6461991" y="2436884"/>
            <a:ext cx="0" cy="367188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546283" y="3033784"/>
            <a:ext cx="23198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2400" b="1" i="1" dirty="0">
                <a:solidFill>
                  <a:srgbClr val="FF3300"/>
                </a:solidFill>
                <a:latin typeface="Calibri (Corps)"/>
              </a:rPr>
              <a:t>Discontinuous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2400" b="1" i="1" dirty="0">
                <a:solidFill>
                  <a:srgbClr val="FF3300"/>
                </a:solidFill>
                <a:latin typeface="Calibri (Corps)"/>
              </a:rPr>
              <a:t>mode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914646" y="3084584"/>
            <a:ext cx="189186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2400" b="1" i="1" dirty="0">
                <a:solidFill>
                  <a:srgbClr val="0033CC"/>
                </a:solidFill>
                <a:latin typeface="Calibri (Corps)"/>
              </a:rPr>
              <a:t>Continuous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2400" b="1" i="1" dirty="0">
                <a:solidFill>
                  <a:srgbClr val="0033CC"/>
                </a:solidFill>
                <a:latin typeface="Calibri (Corps)"/>
              </a:rPr>
              <a:t>mode</a:t>
            </a:r>
          </a:p>
        </p:txBody>
      </p:sp>
      <p:sp>
        <p:nvSpPr>
          <p:cNvPr id="12" name="AutoShape 9"/>
          <p:cNvSpPr>
            <a:spLocks/>
          </p:cNvSpPr>
          <p:nvPr/>
        </p:nvSpPr>
        <p:spPr bwMode="auto">
          <a:xfrm>
            <a:off x="4666529" y="5778571"/>
            <a:ext cx="1233487" cy="609600"/>
          </a:xfrm>
          <a:prstGeom prst="accentCallout1">
            <a:avLst>
              <a:gd name="adj1" fmla="val 18750"/>
              <a:gd name="adj2" fmla="val -8333"/>
              <a:gd name="adj3" fmla="val -111199"/>
              <a:gd name="adj4" fmla="val -63542"/>
            </a:avLst>
          </a:prstGeom>
          <a:noFill/>
          <a:ln w="158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1800" dirty="0">
                <a:solidFill>
                  <a:srgbClr val="009900"/>
                </a:solidFill>
                <a:latin typeface="+mn-lt"/>
              </a:rPr>
              <a:t>Boundary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AU" altLang="fr-FR" sz="1800" dirty="0">
                <a:solidFill>
                  <a:srgbClr val="009900"/>
                </a:solidFill>
                <a:latin typeface="+mn-lt"/>
              </a:rPr>
              <a:t>mode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4229966" y="1644721"/>
            <a:ext cx="215900" cy="8636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7685954" y="2143196"/>
            <a:ext cx="1728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20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s</a:t>
            </a:r>
            <a:r>
              <a:rPr lang="fr-FR" altLang="fr-FR" sz="20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 = </a:t>
            </a:r>
            <a:r>
              <a:rPr lang="fr-FR" altLang="fr-FR" sz="2000" b="1" dirty="0" err="1">
                <a:solidFill>
                  <a:srgbClr val="0033CC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2000" b="1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.E</a:t>
            </a:r>
            <a:endParaRPr lang="fr-FR" altLang="fr-FR" sz="20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4136214" y="1055456"/>
                <a:ext cx="2074158" cy="742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.&lt;</m:t>
                              </m:r>
                              <m:sSub>
                                <m:sSubPr>
                                  <m:ctrlPr>
                                    <a:rPr lang="fr-F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sub>
                              </m:sSub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num>
                            <m:den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fr-F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214" y="1055456"/>
                <a:ext cx="2074158" cy="742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eur droit 1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585791" y="297511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6131740" y="5906007"/>
                <a:ext cx="2674771" cy="8068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740" y="5906007"/>
                <a:ext cx="2674771" cy="8068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719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</a:t>
            </a:r>
          </a:p>
        </p:txBody>
      </p:sp>
      <p:sp>
        <p:nvSpPr>
          <p:cNvPr id="6" name="Line 15"/>
          <p:cNvSpPr>
            <a:spLocks noChangeShapeType="1"/>
          </p:cNvSpPr>
          <p:nvPr/>
        </p:nvSpPr>
        <p:spPr bwMode="auto">
          <a:xfrm>
            <a:off x="4594802" y="2232747"/>
            <a:ext cx="1368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4594802" y="3672609"/>
            <a:ext cx="1368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5963227" y="2016847"/>
            <a:ext cx="1295400" cy="1871662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" name="Line 22"/>
          <p:cNvSpPr>
            <a:spLocks noChangeShapeType="1"/>
          </p:cNvSpPr>
          <p:nvPr/>
        </p:nvSpPr>
        <p:spPr bwMode="auto">
          <a:xfrm flipH="1">
            <a:off x="5963227" y="2016847"/>
            <a:ext cx="1295400" cy="1871662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6826827" y="3312247"/>
            <a:ext cx="488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3600" b="1">
                <a:solidFill>
                  <a:srgbClr val="FF99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5963227" y="1943822"/>
            <a:ext cx="488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3600" b="1">
                <a:solidFill>
                  <a:srgbClr val="FF99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14" name="Line 25"/>
          <p:cNvSpPr>
            <a:spLocks noChangeShapeType="1"/>
          </p:cNvSpPr>
          <p:nvPr/>
        </p:nvSpPr>
        <p:spPr bwMode="auto">
          <a:xfrm>
            <a:off x="7258627" y="2232747"/>
            <a:ext cx="1368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26"/>
          <p:cNvSpPr>
            <a:spLocks noChangeShapeType="1"/>
          </p:cNvSpPr>
          <p:nvPr/>
        </p:nvSpPr>
        <p:spPr bwMode="auto">
          <a:xfrm>
            <a:off x="7258627" y="3672609"/>
            <a:ext cx="13684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Text Box 32"/>
          <p:cNvSpPr txBox="1">
            <a:spLocks noChangeArrowheads="1"/>
          </p:cNvSpPr>
          <p:nvPr/>
        </p:nvSpPr>
        <p:spPr bwMode="auto">
          <a:xfrm>
            <a:off x="3520269" y="4270084"/>
            <a:ext cx="979755" cy="369332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 i="1" dirty="0">
                <a:solidFill>
                  <a:srgbClr val="0033CC"/>
                </a:solidFill>
                <a:latin typeface="Calibri (Corps)"/>
              </a:rPr>
              <a:t>Battery</a:t>
            </a:r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6107690" y="4248872"/>
            <a:ext cx="1133644" cy="369332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FF9900"/>
                </a:solidFill>
                <a:latin typeface="Calibri (Corps)"/>
              </a:rPr>
              <a:t>Chopper</a:t>
            </a:r>
          </a:p>
        </p:txBody>
      </p:sp>
      <p:sp>
        <p:nvSpPr>
          <p:cNvPr id="18" name="Text Box 37"/>
          <p:cNvSpPr txBox="1">
            <a:spLocks noChangeArrowheads="1"/>
          </p:cNvSpPr>
          <p:nvPr/>
        </p:nvSpPr>
        <p:spPr bwMode="auto">
          <a:xfrm>
            <a:off x="2846965" y="5442672"/>
            <a:ext cx="46794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800" b="1" i="1" dirty="0">
                <a:solidFill>
                  <a:srgbClr val="FF3300"/>
                </a:solidFill>
                <a:latin typeface="Calibri (Corps)"/>
              </a:rPr>
              <a:t>=&gt; DC supply from battery</a:t>
            </a:r>
            <a:endParaRPr lang="fr-FR" altLang="fr-FR" sz="2800" b="1" i="1" dirty="0">
              <a:solidFill>
                <a:srgbClr val="FF3300"/>
              </a:solidFill>
              <a:latin typeface="Calibri (Corps)"/>
            </a:endParaRPr>
          </a:p>
        </p:txBody>
      </p:sp>
      <p:cxnSp>
        <p:nvCxnSpPr>
          <p:cNvPr id="19" name="Connecteur droit 18"/>
          <p:cNvCxnSpPr/>
          <p:nvPr/>
        </p:nvCxnSpPr>
        <p:spPr>
          <a:xfrm>
            <a:off x="3350202" y="2847109"/>
            <a:ext cx="1143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3661675" y="2999509"/>
            <a:ext cx="4476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H="1">
            <a:off x="3893127" y="2232747"/>
            <a:ext cx="701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V="1">
            <a:off x="3893127" y="2232747"/>
            <a:ext cx="0" cy="6143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H="1">
            <a:off x="3893127" y="3672609"/>
            <a:ext cx="7016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V="1">
            <a:off x="3893127" y="2999509"/>
            <a:ext cx="0" cy="679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627052" y="2016848"/>
            <a:ext cx="1409700" cy="193675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 Box 34"/>
          <p:cNvSpPr txBox="1">
            <a:spLocks noChangeArrowheads="1"/>
          </p:cNvSpPr>
          <p:nvPr/>
        </p:nvSpPr>
        <p:spPr bwMode="auto">
          <a:xfrm>
            <a:off x="8802919" y="4270084"/>
            <a:ext cx="1313180" cy="369332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B050"/>
                </a:solidFill>
                <a:latin typeface="Calibri (Corps)"/>
              </a:rPr>
              <a:t>Processor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17725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LM3489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587" y="1409445"/>
            <a:ext cx="8032750" cy="403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128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LM3489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662" y="1189037"/>
            <a:ext cx="4486275" cy="46577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213" y="1179512"/>
            <a:ext cx="45624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024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LM3489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137" y="1513651"/>
            <a:ext cx="7878763" cy="5233073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2654300" y="2921000"/>
            <a:ext cx="3746500" cy="2425700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2345175" y="2128103"/>
            <a:ext cx="1774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Overcurrent</a:t>
            </a:r>
          </a:p>
          <a:p>
            <a:pPr algn="ctr"/>
            <a:r>
              <a:rPr lang="en-US" sz="2400" b="1" dirty="0">
                <a:solidFill>
                  <a:schemeClr val="accent2"/>
                </a:solidFill>
              </a:rPr>
              <a:t>protection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4748939" y="4584699"/>
            <a:ext cx="5753961" cy="1511503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10412410" y="4771935"/>
            <a:ext cx="1774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Voltage hysteresis control</a:t>
            </a: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039" y="0"/>
            <a:ext cx="3637012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39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A7985A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964" y="1714761"/>
            <a:ext cx="9429920" cy="377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026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A7985A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00" y="165100"/>
            <a:ext cx="4473646" cy="179093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/>
          <a:srcRect t="3475"/>
          <a:stretch/>
        </p:blipFill>
        <p:spPr>
          <a:xfrm>
            <a:off x="2637063" y="2049786"/>
            <a:ext cx="8103961" cy="4744714"/>
          </a:xfrm>
          <a:prstGeom prst="rect">
            <a:avLst/>
          </a:prstGeom>
        </p:spPr>
      </p:pic>
      <p:sp>
        <p:nvSpPr>
          <p:cNvPr id="10" name="Rectangle à coins arrondis 9"/>
          <p:cNvSpPr/>
          <p:nvPr/>
        </p:nvSpPr>
        <p:spPr>
          <a:xfrm>
            <a:off x="2464175" y="4212007"/>
            <a:ext cx="3174625" cy="1502994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3135746" y="4759235"/>
            <a:ext cx="1774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Voltage control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6667500" y="2999157"/>
            <a:ext cx="3356912" cy="1180802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10183743" y="3348962"/>
            <a:ext cx="1774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Overcurrent</a:t>
            </a:r>
          </a:p>
          <a:p>
            <a:pPr algn="ctr"/>
            <a:r>
              <a:rPr lang="en-US" sz="2400" b="1" dirty="0">
                <a:solidFill>
                  <a:schemeClr val="accent2"/>
                </a:solidFill>
              </a:rPr>
              <a:t>protection</a:t>
            </a:r>
          </a:p>
        </p:txBody>
      </p:sp>
    </p:spTree>
    <p:extLst>
      <p:ext uri="{BB962C8B-B14F-4D97-AF65-F5344CB8AC3E}">
        <p14:creationId xmlns:p14="http://schemas.microsoft.com/office/powerpoint/2010/main" val="2871659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A7985A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3969"/>
          <a:stretch/>
        </p:blipFill>
        <p:spPr>
          <a:xfrm>
            <a:off x="4659085" y="351896"/>
            <a:ext cx="7233381" cy="35090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306" y="3630641"/>
            <a:ext cx="2771775" cy="100965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760" y="3749703"/>
            <a:ext cx="4295775" cy="8382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225" y="4587903"/>
            <a:ext cx="2790825" cy="771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3362493" y="5211964"/>
                <a:ext cx="34925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u="sng" dirty="0"/>
                  <a:t>Usually</a:t>
                </a:r>
                <a:r>
                  <a:rPr lang="en-US" sz="2000" b="0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𝐿𝐶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𝑧𝐸𝑆𝑅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493" y="5211964"/>
                <a:ext cx="3492500" cy="400110"/>
              </a:xfrm>
              <a:prstGeom prst="rect">
                <a:avLst/>
              </a:prstGeom>
              <a:blipFill>
                <a:blip r:embed="rId6"/>
                <a:stretch>
                  <a:fillRect l="-1920" t="-9091" b="-257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/>
          <p:cNvSpPr txBox="1"/>
          <p:nvPr/>
        </p:nvSpPr>
        <p:spPr>
          <a:xfrm>
            <a:off x="5671363" y="5801588"/>
            <a:ext cx="4140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ym typeface="Wingdings" panose="05000000000000000000" pitchFamily="2" charset="2"/>
              </a:rPr>
              <a:t> Slightly depends on the load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2316054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A7985A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906" y="1"/>
            <a:ext cx="4907081" cy="228600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499" y="2406371"/>
            <a:ext cx="7445375" cy="3794403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>
            <a:off x="7143750" y="2800350"/>
            <a:ext cx="0" cy="320129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10525125" y="2838896"/>
            <a:ext cx="0" cy="320129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6881811" y="6079031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f</a:t>
            </a:r>
            <a:r>
              <a:rPr lang="fr-FR" sz="2400" b="1" baseline="-25000" dirty="0">
                <a:solidFill>
                  <a:srgbClr val="FF0000"/>
                </a:solidFill>
              </a:rPr>
              <a:t>LC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10271123" y="5965081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f</a:t>
            </a:r>
            <a:r>
              <a:rPr lang="fr-FR" sz="2400" b="1" baseline="-25000" dirty="0" err="1">
                <a:solidFill>
                  <a:srgbClr val="FF0000"/>
                </a:solidFill>
              </a:rPr>
              <a:t>ESR</a:t>
            </a:r>
            <a:endParaRPr lang="fr-FR" sz="2400" b="1" baseline="-25000" dirty="0">
              <a:solidFill>
                <a:srgbClr val="FF0000"/>
              </a:solidFill>
            </a:endParaRPr>
          </a:p>
        </p:txBody>
      </p:sp>
      <p:cxnSp>
        <p:nvCxnSpPr>
          <p:cNvPr id="19" name="Connecteur droit 18"/>
          <p:cNvCxnSpPr/>
          <p:nvPr/>
        </p:nvCxnSpPr>
        <p:spPr>
          <a:xfrm>
            <a:off x="7869234" y="3076575"/>
            <a:ext cx="0" cy="300245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V="1">
            <a:off x="3871913" y="3248025"/>
            <a:ext cx="4157662" cy="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16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A7985A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809" y="127966"/>
            <a:ext cx="4109622" cy="33094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925" y="2856115"/>
            <a:ext cx="7649695" cy="390249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/>
          <a:srcRect t="13944" b="13425"/>
          <a:stretch/>
        </p:blipFill>
        <p:spPr>
          <a:xfrm>
            <a:off x="3758234" y="1482090"/>
            <a:ext cx="4219575" cy="525780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900751" y="1558437"/>
            <a:ext cx="952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Zeroes :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2887500" y="2201544"/>
            <a:ext cx="952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Poles :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 rotWithShape="1">
          <a:blip r:embed="rId5"/>
          <a:srcRect t="20630" b="6327"/>
          <a:stretch/>
        </p:blipFill>
        <p:spPr>
          <a:xfrm>
            <a:off x="3758234" y="2167890"/>
            <a:ext cx="5095875" cy="800100"/>
          </a:xfrm>
          <a:prstGeom prst="rect">
            <a:avLst/>
          </a:prstGeom>
        </p:spPr>
      </p:pic>
      <p:cxnSp>
        <p:nvCxnSpPr>
          <p:cNvPr id="22" name="Connecteur droit 21"/>
          <p:cNvCxnSpPr/>
          <p:nvPr/>
        </p:nvCxnSpPr>
        <p:spPr>
          <a:xfrm>
            <a:off x="5689600" y="3481994"/>
            <a:ext cx="0" cy="3201293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6066920" y="3485041"/>
            <a:ext cx="0" cy="3201293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5252178" y="6383824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</a:rPr>
              <a:t>f</a:t>
            </a:r>
            <a:r>
              <a:rPr lang="fr-FR" sz="2400" b="1" baseline="-25000" dirty="0">
                <a:solidFill>
                  <a:schemeClr val="accent1"/>
                </a:solidFill>
              </a:rPr>
              <a:t>z1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6050256" y="6390712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</a:rPr>
              <a:t>f</a:t>
            </a:r>
            <a:r>
              <a:rPr lang="fr-FR" sz="2400" b="1" baseline="-25000" dirty="0">
                <a:solidFill>
                  <a:schemeClr val="accent1"/>
                </a:solidFill>
              </a:rPr>
              <a:t>z2</a:t>
            </a:r>
          </a:p>
        </p:txBody>
      </p:sp>
      <p:cxnSp>
        <p:nvCxnSpPr>
          <p:cNvPr id="26" name="Connecteur droit 25"/>
          <p:cNvCxnSpPr/>
          <p:nvPr/>
        </p:nvCxnSpPr>
        <p:spPr>
          <a:xfrm>
            <a:off x="7502481" y="3481994"/>
            <a:ext cx="0" cy="320129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7529761" y="6390712"/>
            <a:ext cx="125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/>
                </a:solidFill>
              </a:rPr>
              <a:t>f</a:t>
            </a:r>
            <a:r>
              <a:rPr lang="fr-FR" sz="2400" b="1" baseline="-25000" dirty="0">
                <a:solidFill>
                  <a:schemeClr val="accent6"/>
                </a:solidFill>
              </a:rPr>
              <a:t>p1</a:t>
            </a:r>
            <a:r>
              <a:rPr lang="fr-FR" sz="2400" b="1" dirty="0">
                <a:solidFill>
                  <a:schemeClr val="accent6"/>
                </a:solidFill>
              </a:rPr>
              <a:t> &amp; f</a:t>
            </a:r>
            <a:r>
              <a:rPr lang="fr-FR" sz="2400" b="1" baseline="-25000" dirty="0">
                <a:solidFill>
                  <a:schemeClr val="accent6"/>
                </a:solidFill>
              </a:rPr>
              <a:t>p2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>
                <a:off x="4871674" y="768661"/>
                <a:ext cx="2933247" cy="64633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𝑧𝐸𝑆𝑅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𝐵𝑊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𝑑𝑒𝑠𝑖𝑟𝑒𝑑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(ESR &lt; 1m</a:t>
                </a:r>
                <a:r>
                  <a:rPr lang="el-GR" dirty="0"/>
                  <a:t>Ω</a:t>
                </a:r>
                <a:r>
                  <a:rPr lang="fr-FR" dirty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674" y="768661"/>
                <a:ext cx="2933247" cy="646331"/>
              </a:xfrm>
              <a:prstGeom prst="rect">
                <a:avLst/>
              </a:prstGeom>
              <a:blipFill>
                <a:blip r:embed="rId6"/>
                <a:stretch>
                  <a:fillRect t="-1786" b="-10714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2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A7985A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011" y="1295399"/>
            <a:ext cx="9401456" cy="4830259"/>
          </a:xfrm>
          <a:prstGeom prst="rect">
            <a:avLst/>
          </a:prstGeom>
        </p:spPr>
      </p:pic>
      <p:cxnSp>
        <p:nvCxnSpPr>
          <p:cNvPr id="26" name="Connecteur droit 25"/>
          <p:cNvCxnSpPr/>
          <p:nvPr/>
        </p:nvCxnSpPr>
        <p:spPr>
          <a:xfrm>
            <a:off x="8811350" y="5602514"/>
            <a:ext cx="0" cy="52009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8838630" y="5862562"/>
            <a:ext cx="125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/>
                </a:solidFill>
              </a:rPr>
              <a:t>f</a:t>
            </a:r>
            <a:r>
              <a:rPr lang="fr-FR" sz="2400" b="1" baseline="-25000" dirty="0">
                <a:solidFill>
                  <a:schemeClr val="accent6"/>
                </a:solidFill>
              </a:rPr>
              <a:t>p1</a:t>
            </a:r>
            <a:r>
              <a:rPr lang="fr-FR" sz="2400" b="1" dirty="0">
                <a:solidFill>
                  <a:schemeClr val="accent6"/>
                </a:solidFill>
              </a:rPr>
              <a:t> &amp; f</a:t>
            </a:r>
            <a:r>
              <a:rPr lang="fr-FR" sz="2400" b="1" baseline="-25000" dirty="0">
                <a:solidFill>
                  <a:schemeClr val="accent6"/>
                </a:solidFill>
              </a:rPr>
              <a:t>p2</a:t>
            </a:r>
          </a:p>
        </p:txBody>
      </p:sp>
      <p:cxnSp>
        <p:nvCxnSpPr>
          <p:cNvPr id="20" name="Connecteur droit 19"/>
          <p:cNvCxnSpPr/>
          <p:nvPr/>
        </p:nvCxnSpPr>
        <p:spPr>
          <a:xfrm>
            <a:off x="6553200" y="5471886"/>
            <a:ext cx="0" cy="65072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7006720" y="5471886"/>
            <a:ext cx="0" cy="653772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6252933" y="5907042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</a:rPr>
              <a:t>f</a:t>
            </a:r>
            <a:r>
              <a:rPr lang="fr-FR" sz="2400" b="1" baseline="-25000" dirty="0">
                <a:solidFill>
                  <a:schemeClr val="accent1"/>
                </a:solidFill>
              </a:rPr>
              <a:t>z1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6707967" y="5910670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</a:rPr>
              <a:t>f</a:t>
            </a:r>
            <a:r>
              <a:rPr lang="fr-FR" sz="2400" b="1" baseline="-25000" dirty="0">
                <a:solidFill>
                  <a:schemeClr val="accent1"/>
                </a:solidFill>
              </a:rPr>
              <a:t>z2</a:t>
            </a:r>
          </a:p>
        </p:txBody>
      </p:sp>
      <p:cxnSp>
        <p:nvCxnSpPr>
          <p:cNvPr id="33" name="Connecteur droit 32"/>
          <p:cNvCxnSpPr/>
          <p:nvPr/>
        </p:nvCxnSpPr>
        <p:spPr>
          <a:xfrm>
            <a:off x="7131050" y="5471886"/>
            <a:ext cx="0" cy="6507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>
            <a:off x="11528425" y="5602514"/>
            <a:ext cx="0" cy="3081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7142098" y="5929266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f</a:t>
            </a:r>
            <a:r>
              <a:rPr lang="fr-FR" sz="2400" b="1" baseline="-25000" dirty="0">
                <a:solidFill>
                  <a:srgbClr val="FF0000"/>
                </a:solidFill>
              </a:rPr>
              <a:t>LC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11195050" y="5813228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f</a:t>
            </a:r>
            <a:r>
              <a:rPr lang="fr-FR" sz="2400" b="1" baseline="-25000" dirty="0" err="1">
                <a:solidFill>
                  <a:srgbClr val="FF0000"/>
                </a:solidFill>
              </a:rPr>
              <a:t>ESR</a:t>
            </a:r>
            <a:endParaRPr lang="fr-FR" sz="2400" b="1" baseline="-25000" dirty="0">
              <a:solidFill>
                <a:srgbClr val="FF0000"/>
              </a:solidFill>
            </a:endParaRPr>
          </a:p>
        </p:txBody>
      </p:sp>
      <p:cxnSp>
        <p:nvCxnSpPr>
          <p:cNvPr id="40" name="Connecteur droit 39"/>
          <p:cNvCxnSpPr/>
          <p:nvPr/>
        </p:nvCxnSpPr>
        <p:spPr>
          <a:xfrm>
            <a:off x="8811350" y="3098520"/>
            <a:ext cx="0" cy="65252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/>
          <p:cNvSpPr txBox="1"/>
          <p:nvPr/>
        </p:nvSpPr>
        <p:spPr>
          <a:xfrm>
            <a:off x="8838630" y="3458469"/>
            <a:ext cx="125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6"/>
                </a:solidFill>
              </a:rPr>
              <a:t>f</a:t>
            </a:r>
            <a:r>
              <a:rPr lang="fr-FR" sz="2400" b="1" baseline="-25000" dirty="0">
                <a:solidFill>
                  <a:schemeClr val="accent6"/>
                </a:solidFill>
              </a:rPr>
              <a:t>p1</a:t>
            </a:r>
            <a:r>
              <a:rPr lang="fr-FR" sz="2400" b="1" dirty="0">
                <a:solidFill>
                  <a:schemeClr val="accent6"/>
                </a:solidFill>
              </a:rPr>
              <a:t> &amp; f</a:t>
            </a:r>
            <a:r>
              <a:rPr lang="fr-FR" sz="2400" b="1" baseline="-25000" dirty="0">
                <a:solidFill>
                  <a:schemeClr val="accent6"/>
                </a:solidFill>
              </a:rPr>
              <a:t>p2</a:t>
            </a:r>
          </a:p>
        </p:txBody>
      </p:sp>
      <p:cxnSp>
        <p:nvCxnSpPr>
          <p:cNvPr id="42" name="Connecteur droit 41"/>
          <p:cNvCxnSpPr/>
          <p:nvPr/>
        </p:nvCxnSpPr>
        <p:spPr>
          <a:xfrm>
            <a:off x="6553200" y="2967892"/>
            <a:ext cx="0" cy="650725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7006720" y="2967892"/>
            <a:ext cx="0" cy="653772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6252933" y="3403048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</a:rPr>
              <a:t>f</a:t>
            </a:r>
            <a:r>
              <a:rPr lang="fr-FR" sz="2400" b="1" baseline="-25000" dirty="0">
                <a:solidFill>
                  <a:schemeClr val="accent1"/>
                </a:solidFill>
              </a:rPr>
              <a:t>z1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6707967" y="3406676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</a:rPr>
              <a:t>f</a:t>
            </a:r>
            <a:r>
              <a:rPr lang="fr-FR" sz="2400" b="1" baseline="-25000" dirty="0">
                <a:solidFill>
                  <a:schemeClr val="accent1"/>
                </a:solidFill>
              </a:rPr>
              <a:t>z2</a:t>
            </a:r>
          </a:p>
        </p:txBody>
      </p:sp>
      <p:cxnSp>
        <p:nvCxnSpPr>
          <p:cNvPr id="46" name="Connecteur droit 45"/>
          <p:cNvCxnSpPr/>
          <p:nvPr/>
        </p:nvCxnSpPr>
        <p:spPr>
          <a:xfrm>
            <a:off x="7131050" y="2967892"/>
            <a:ext cx="0" cy="6507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>
            <a:off x="11528425" y="3098520"/>
            <a:ext cx="0" cy="30815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7142098" y="3454300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f</a:t>
            </a:r>
            <a:r>
              <a:rPr lang="fr-FR" sz="2400" b="1" baseline="-25000" dirty="0">
                <a:solidFill>
                  <a:srgbClr val="FF0000"/>
                </a:solidFill>
              </a:rPr>
              <a:t>LC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11195050" y="3309234"/>
            <a:ext cx="66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f</a:t>
            </a:r>
            <a:r>
              <a:rPr lang="fr-FR" sz="2400" b="1" baseline="-25000" dirty="0" err="1">
                <a:solidFill>
                  <a:srgbClr val="FF0000"/>
                </a:solidFill>
              </a:rPr>
              <a:t>ESR</a:t>
            </a:r>
            <a:endParaRPr lang="fr-FR" sz="2400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6604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A7985A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Buck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5234531" y="857380"/>
                <a:ext cx="2933247" cy="64633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𝑧𝐸𝑆𝑅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𝐵𝑊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𝑑𝑒𝑠𝑖𝑟𝑒𝑑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ESR &gt; 30 m</a:t>
                </a:r>
                <a:r>
                  <a:rPr lang="el-GR" dirty="0"/>
                  <a:t>Ω</a:t>
                </a:r>
                <a:endParaRPr lang="en-US" dirty="0"/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531" y="857380"/>
                <a:ext cx="2933247" cy="646331"/>
              </a:xfrm>
              <a:prstGeom prst="rect">
                <a:avLst/>
              </a:prstGeom>
              <a:blipFill>
                <a:blip r:embed="rId2"/>
                <a:stretch>
                  <a:fillRect t="-2679" b="-10714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847" y="2101164"/>
            <a:ext cx="6000750" cy="392430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3134417" y="1602382"/>
            <a:ext cx="5335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Use of the zero of ESR to stabilize the loop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303" y="2552700"/>
            <a:ext cx="1695450" cy="876300"/>
          </a:xfrm>
          <a:prstGeom prst="rect">
            <a:avLst/>
          </a:prstGeom>
        </p:spPr>
      </p:pic>
      <p:sp>
        <p:nvSpPr>
          <p:cNvPr id="39" name="ZoneTexte 38"/>
          <p:cNvSpPr txBox="1"/>
          <p:nvPr/>
        </p:nvSpPr>
        <p:spPr>
          <a:xfrm>
            <a:off x="8964843" y="2865632"/>
            <a:ext cx="952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Zero :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8951592" y="3785474"/>
            <a:ext cx="952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Poles :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192" y="3741932"/>
            <a:ext cx="781050" cy="44767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3941" y="4350030"/>
            <a:ext cx="21336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586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Boost Chopper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7876741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Boost chopper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629622" y="1755632"/>
            <a:ext cx="90040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latin typeface="Calibri (Corps)"/>
              </a:rPr>
              <a:t>Buck chopper : Voltage source			</a:t>
            </a:r>
            <a:r>
              <a:rPr lang="en-AU" altLang="fr-FR" sz="2400" b="1" dirty="0">
                <a:latin typeface="Calibri (Corps)"/>
              </a:rPr>
              <a:t>Current</a:t>
            </a:r>
            <a:r>
              <a:rPr lang="fr-FR" altLang="fr-FR" sz="2400" b="1" dirty="0">
                <a:latin typeface="Calibri (Corps)"/>
              </a:rPr>
              <a:t> </a:t>
            </a:r>
            <a:r>
              <a:rPr lang="en-AU" altLang="fr-FR" sz="2400" b="1" dirty="0">
                <a:latin typeface="Calibri (Corps)"/>
              </a:rPr>
              <a:t>receiver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400" b="1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dirty="0">
                <a:latin typeface="Calibri (Corps)"/>
              </a:rPr>
              <a:t>Boost chopper : Current source			Voltage receiver</a:t>
            </a:r>
            <a:endParaRPr lang="fr-FR" altLang="fr-FR" sz="2400" b="1" dirty="0">
              <a:latin typeface="Calibri (Corps)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7575925" y="1805328"/>
            <a:ext cx="792163" cy="360362"/>
          </a:xfrm>
          <a:prstGeom prst="rightArrow">
            <a:avLst>
              <a:gd name="adj1" fmla="val 50000"/>
              <a:gd name="adj2" fmla="val 2499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575925" y="2592728"/>
            <a:ext cx="792163" cy="360362"/>
          </a:xfrm>
          <a:prstGeom prst="rightArrow">
            <a:avLst>
              <a:gd name="adj1" fmla="val 50000"/>
              <a:gd name="adj2" fmla="val 2499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2866159" y="3700319"/>
            <a:ext cx="52355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Calibri (Corps)"/>
              </a:rPr>
              <a:t>Current source </a:t>
            </a:r>
            <a:r>
              <a:rPr lang="en-CA" altLang="fr-FR" sz="1800" b="1" dirty="0">
                <a:latin typeface="Calibri (Corps)"/>
                <a:sym typeface="Wingdings" panose="05000000000000000000" pitchFamily="2" charset="2"/>
              </a:rPr>
              <a:t>  Voltage source + inductor</a:t>
            </a:r>
            <a:endParaRPr lang="en-CA" altLang="fr-FR" sz="1800" b="1" dirty="0">
              <a:latin typeface="Calibri (Corps)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429847" y="4924282"/>
            <a:ext cx="55435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CA" altLang="fr-FR" sz="1800" b="1" dirty="0">
                <a:latin typeface="Calibri (Corps)"/>
              </a:rPr>
              <a:t>Voltage receiver </a:t>
            </a:r>
            <a:r>
              <a:rPr lang="en-CA" altLang="fr-FR" sz="1800" b="1" dirty="0">
                <a:latin typeface="Calibri (Corps)"/>
                <a:sym typeface="Wingdings" panose="05000000000000000000" pitchFamily="2" charset="2"/>
              </a:rPr>
              <a:t>  Battery or capacitive receiver</a:t>
            </a:r>
            <a:endParaRPr lang="en-CA" altLang="fr-FR" sz="1800" b="1" dirty="0">
              <a:latin typeface="Calibri (Corps)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 rot="5400000">
            <a:off x="3492428" y="4277376"/>
            <a:ext cx="1296987" cy="8636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8114 h 21600"/>
              <a:gd name="T20" fmla="*/ 18506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013" y="0"/>
                </a:moveTo>
                <a:lnTo>
                  <a:pt x="12425" y="4804"/>
                </a:lnTo>
                <a:lnTo>
                  <a:pt x="15519" y="4804"/>
                </a:lnTo>
                <a:lnTo>
                  <a:pt x="15519" y="18114"/>
                </a:lnTo>
                <a:lnTo>
                  <a:pt x="0" y="18114"/>
                </a:lnTo>
                <a:lnTo>
                  <a:pt x="0" y="21600"/>
                </a:lnTo>
                <a:lnTo>
                  <a:pt x="18506" y="21600"/>
                </a:lnTo>
                <a:lnTo>
                  <a:pt x="18506" y="4804"/>
                </a:lnTo>
                <a:lnTo>
                  <a:pt x="21600" y="4804"/>
                </a:lnTo>
                <a:lnTo>
                  <a:pt x="17013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41453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Boost chopper: principle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9138624" y="1685512"/>
            <a:ext cx="1819663" cy="3816350"/>
          </a:xfrm>
          <a:prstGeom prst="ellips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350618" y="1462769"/>
            <a:ext cx="3621294" cy="381635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A60768C-1E55-2A60-6E9E-99C85219E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861" y="1729054"/>
            <a:ext cx="9062741" cy="3133845"/>
          </a:xfrm>
          <a:prstGeom prst="rect">
            <a:avLst/>
          </a:prstGeom>
        </p:spPr>
      </p:pic>
      <p:sp>
        <p:nvSpPr>
          <p:cNvPr id="15" name="Text Box 86">
            <a:extLst>
              <a:ext uri="{FF2B5EF4-FFF2-40B4-BE49-F238E27FC236}">
                <a16:creationId xmlns:a16="http://schemas.microsoft.com/office/drawing/2014/main" id="{3482B455-2148-D4C9-39CC-FA6FBC909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377" y="5489982"/>
            <a:ext cx="3799247" cy="510778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2400" b="1" i="1" u="sng" dirty="0">
                <a:solidFill>
                  <a:srgbClr val="FF3300"/>
                </a:solidFill>
                <a:latin typeface="+mn-lt"/>
              </a:rPr>
              <a:t>Hypothesis</a:t>
            </a:r>
            <a:r>
              <a:rPr lang="en-US" altLang="fr-FR" sz="2400" b="1" i="1" dirty="0">
                <a:solidFill>
                  <a:srgbClr val="FF3300"/>
                </a:solidFill>
                <a:latin typeface="+mn-lt"/>
              </a:rPr>
              <a:t> : V</a:t>
            </a:r>
            <a:r>
              <a:rPr lang="en-US" altLang="fr-FR" sz="2400" b="1" i="1" baseline="-25000" dirty="0">
                <a:solidFill>
                  <a:srgbClr val="FF3300"/>
                </a:solidFill>
                <a:latin typeface="+mn-lt"/>
              </a:rPr>
              <a:t>s</a:t>
            </a:r>
            <a:r>
              <a:rPr lang="en-US" altLang="fr-FR" sz="2400" b="1" i="1" dirty="0">
                <a:solidFill>
                  <a:srgbClr val="FF3300"/>
                </a:solidFill>
                <a:latin typeface="+mn-lt"/>
              </a:rPr>
              <a:t> = constant</a:t>
            </a:r>
          </a:p>
        </p:txBody>
      </p:sp>
      <p:sp>
        <p:nvSpPr>
          <p:cNvPr id="16" name="Rectangle à coins arrondis 87">
            <a:extLst>
              <a:ext uri="{FF2B5EF4-FFF2-40B4-BE49-F238E27FC236}">
                <a16:creationId xmlns:a16="http://schemas.microsoft.com/office/drawing/2014/main" id="{609DE3B0-B3F8-41C4-E95C-600681FC7181}"/>
              </a:ext>
            </a:extLst>
          </p:cNvPr>
          <p:cNvSpPr/>
          <p:nvPr/>
        </p:nvSpPr>
        <p:spPr>
          <a:xfrm>
            <a:off x="5161791" y="5279119"/>
            <a:ext cx="4143375" cy="91598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23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Control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2863418" y="4422631"/>
            <a:ext cx="5113337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3079318" y="2765281"/>
            <a:ext cx="0" cy="1871662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048193" y="4565506"/>
            <a:ext cx="26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" name="Rectangle 6" descr="noir)"/>
          <p:cNvSpPr>
            <a:spLocks noChangeArrowheads="1"/>
          </p:cNvSpPr>
          <p:nvPr/>
        </p:nvSpPr>
        <p:spPr bwMode="auto">
          <a:xfrm>
            <a:off x="3080905" y="3486006"/>
            <a:ext cx="1295400" cy="9350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T</a:t>
            </a:r>
            <a:r>
              <a:rPr lang="fr-FR" altLang="fr-FR" sz="1800" baseline="-25000" dirty="0">
                <a:latin typeface="Calibri (Corps)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“</a:t>
            </a:r>
            <a:r>
              <a:rPr lang="fr-FR" altLang="fr-FR" sz="1800" dirty="0" err="1">
                <a:latin typeface="Calibri (Corps)"/>
              </a:rPr>
              <a:t>Closed</a:t>
            </a:r>
            <a:r>
              <a:rPr lang="fr-FR" altLang="fr-FR" sz="1800" dirty="0">
                <a:latin typeface="Calibri (Corps)"/>
              </a:rPr>
              <a:t>”</a:t>
            </a:r>
          </a:p>
        </p:txBody>
      </p:sp>
      <p:sp>
        <p:nvSpPr>
          <p:cNvPr id="12" name="Rectangle 7" descr="noir)"/>
          <p:cNvSpPr>
            <a:spLocks noChangeArrowheads="1"/>
          </p:cNvSpPr>
          <p:nvPr/>
        </p:nvSpPr>
        <p:spPr bwMode="auto">
          <a:xfrm>
            <a:off x="4376305" y="3486006"/>
            <a:ext cx="1944688" cy="93503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T</a:t>
            </a:r>
            <a:r>
              <a:rPr lang="fr-FR" altLang="fr-FR" sz="1800" baseline="-25000" dirty="0">
                <a:latin typeface="Calibri (Corps)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“</a:t>
            </a:r>
            <a:r>
              <a:rPr lang="fr-FR" altLang="fr-FR" sz="1800" dirty="0" err="1">
                <a:latin typeface="Calibri (Corps)"/>
              </a:rPr>
              <a:t>Opened</a:t>
            </a:r>
            <a:r>
              <a:rPr lang="fr-FR" altLang="fr-FR" sz="1800" dirty="0">
                <a:latin typeface="Calibri (Corps)"/>
              </a:rPr>
              <a:t>”</a:t>
            </a:r>
          </a:p>
        </p:txBody>
      </p:sp>
      <p:sp>
        <p:nvSpPr>
          <p:cNvPr id="13" name="Rectangle 8" descr="noir)"/>
          <p:cNvSpPr>
            <a:spLocks noChangeArrowheads="1"/>
          </p:cNvSpPr>
          <p:nvPr/>
        </p:nvSpPr>
        <p:spPr bwMode="auto">
          <a:xfrm>
            <a:off x="6320993" y="3486006"/>
            <a:ext cx="1295400" cy="9350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T</a:t>
            </a:r>
            <a:r>
              <a:rPr lang="fr-FR" altLang="fr-FR" sz="1800" baseline="-25000" dirty="0">
                <a:latin typeface="Calibri (Corps)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“</a:t>
            </a:r>
            <a:r>
              <a:rPr lang="fr-FR" altLang="fr-FR" sz="1800" dirty="0" err="1">
                <a:latin typeface="Calibri (Corps)"/>
              </a:rPr>
              <a:t>Closed</a:t>
            </a:r>
            <a:r>
              <a:rPr lang="fr-FR" altLang="fr-FR" sz="1800" dirty="0">
                <a:latin typeface="Calibri (Corps)"/>
              </a:rPr>
              <a:t>”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2934855" y="4586143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087380" y="4579793"/>
            <a:ext cx="644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 dirty="0">
                <a:latin typeface="Symbol" panose="05050102010706020507" pitchFamily="18" charset="2"/>
              </a:rPr>
              <a:t>a</a:t>
            </a:r>
            <a:r>
              <a:rPr lang="fr-FR" altLang="fr-FR" sz="2800" b="1" dirty="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6132080" y="4586143"/>
            <a:ext cx="420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3079318" y="5286231"/>
            <a:ext cx="1223962" cy="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863418" y="5430693"/>
            <a:ext cx="20056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0033CC"/>
                </a:solidFill>
                <a:latin typeface="Calibri (Corps)"/>
              </a:rPr>
              <a:t>Conduction time</a:t>
            </a: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3123768" y="3205018"/>
            <a:ext cx="3240087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3628593" y="2700193"/>
            <a:ext cx="20441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 i="1" dirty="0">
                <a:solidFill>
                  <a:srgbClr val="FF9900"/>
                </a:solidFill>
                <a:latin typeface="Calibri (Corps)"/>
              </a:rPr>
              <a:t>Switching period</a:t>
            </a:r>
          </a:p>
        </p:txBody>
      </p:sp>
      <p:cxnSp>
        <p:nvCxnSpPr>
          <p:cNvPr id="22" name="Connecteur droit 2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547EE71-C59D-2A15-93AE-F1DBAE419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0"/>
          <a:stretch>
            <a:fillRect/>
          </a:stretch>
        </p:blipFill>
        <p:spPr>
          <a:xfrm>
            <a:off x="5672742" y="346739"/>
            <a:ext cx="6029754" cy="218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62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Principle</a:t>
            </a:r>
          </a:p>
        </p:txBody>
      </p:sp>
      <p:sp>
        <p:nvSpPr>
          <p:cNvPr id="107" name="Rectangle 198"/>
          <p:cNvSpPr txBox="1">
            <a:spLocks noChangeArrowheads="1"/>
          </p:cNvSpPr>
          <p:nvPr/>
        </p:nvSpPr>
        <p:spPr>
          <a:xfrm>
            <a:off x="9278687" y="2084656"/>
            <a:ext cx="2051050" cy="792163"/>
          </a:xfrm>
          <a:prstGeom prst="rect">
            <a:avLst/>
          </a:prstGeom>
          <a:noFill/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fr-FR" altLang="fr-FR" b="1" dirty="0"/>
              <a:t>0 &lt; t &lt; </a:t>
            </a:r>
            <a:r>
              <a:rPr lang="fr-FR" altLang="fr-FR" b="1" dirty="0">
                <a:latin typeface="Symbol" panose="05050102010706020507" pitchFamily="18" charset="2"/>
              </a:rPr>
              <a:t>a</a:t>
            </a:r>
            <a:r>
              <a:rPr lang="fr-FR" altLang="fr-FR" b="1" dirty="0"/>
              <a:t>T</a:t>
            </a:r>
          </a:p>
        </p:txBody>
      </p:sp>
      <p:cxnSp>
        <p:nvCxnSpPr>
          <p:cNvPr id="211" name="Connecteur droit 210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ZoneTexte 213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3" name="Rectangle 199"/>
          <p:cNvSpPr>
            <a:spLocks noChangeArrowheads="1"/>
          </p:cNvSpPr>
          <p:nvPr/>
        </p:nvSpPr>
        <p:spPr bwMode="auto">
          <a:xfrm>
            <a:off x="9169757" y="4657299"/>
            <a:ext cx="205105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fr-FR" altLang="fr-FR" b="1" dirty="0">
                <a:latin typeface="Symbol" panose="05050102010706020507" pitchFamily="18" charset="2"/>
              </a:rPr>
              <a:t>a</a:t>
            </a:r>
            <a:r>
              <a:rPr lang="fr-FR" altLang="fr-FR" b="1" dirty="0"/>
              <a:t>T &lt; t &lt; T</a:t>
            </a:r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90D03E4E-38B9-21D2-6C7A-BA7A0F501AB0}"/>
              </a:ext>
            </a:extLst>
          </p:cNvPr>
          <p:cNvGrpSpPr/>
          <p:nvPr/>
        </p:nvGrpSpPr>
        <p:grpSpPr>
          <a:xfrm>
            <a:off x="2619802" y="1094552"/>
            <a:ext cx="6084606" cy="2334448"/>
            <a:chOff x="2619802" y="1094552"/>
            <a:chExt cx="6084606" cy="2334448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AA8BB500-7C96-866E-4847-8FD58834F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24"/>
            <a:stretch>
              <a:fillRect/>
            </a:stretch>
          </p:blipFill>
          <p:spPr>
            <a:xfrm>
              <a:off x="2619802" y="1239057"/>
              <a:ext cx="6084606" cy="2189943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E87914-0476-539E-1CE5-CDD4A39CC46A}"/>
                </a:ext>
              </a:extLst>
            </p:cNvPr>
            <p:cNvSpPr/>
            <p:nvPr/>
          </p:nvSpPr>
          <p:spPr>
            <a:xfrm>
              <a:off x="6850743" y="1094552"/>
              <a:ext cx="841828" cy="990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44EF37F-BEC1-B740-B1A2-94ECBE6DA3C6}"/>
                </a:ext>
              </a:extLst>
            </p:cNvPr>
            <p:cNvSpPr/>
            <p:nvPr/>
          </p:nvSpPr>
          <p:spPr>
            <a:xfrm>
              <a:off x="7271657" y="1094552"/>
              <a:ext cx="841828" cy="4950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D42552-2C93-6C49-5BDD-8A13241E92A9}"/>
                </a:ext>
              </a:extLst>
            </p:cNvPr>
            <p:cNvSpPr/>
            <p:nvPr/>
          </p:nvSpPr>
          <p:spPr>
            <a:xfrm>
              <a:off x="5059680" y="2229932"/>
              <a:ext cx="1364387" cy="990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0B790B0F-7A5C-34C5-5396-FD2464C082F8}"/>
              </a:ext>
            </a:extLst>
          </p:cNvPr>
          <p:cNvGrpSpPr/>
          <p:nvPr/>
        </p:nvGrpSpPr>
        <p:grpSpPr>
          <a:xfrm>
            <a:off x="2619802" y="3667195"/>
            <a:ext cx="6084606" cy="2334448"/>
            <a:chOff x="2619802" y="1094552"/>
            <a:chExt cx="6084606" cy="2334448"/>
          </a:xfrm>
        </p:grpSpPr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F7CE1437-A175-A4A9-5840-208B741A1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24"/>
            <a:stretch>
              <a:fillRect/>
            </a:stretch>
          </p:blipFill>
          <p:spPr>
            <a:xfrm>
              <a:off x="2619802" y="1239057"/>
              <a:ext cx="6084606" cy="2189943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5678EE8-7684-990F-1C89-023EF850918C}"/>
                </a:ext>
              </a:extLst>
            </p:cNvPr>
            <p:cNvSpPr/>
            <p:nvPr/>
          </p:nvSpPr>
          <p:spPr>
            <a:xfrm>
              <a:off x="6850743" y="1094552"/>
              <a:ext cx="841828" cy="990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4EBBF9D-6C3C-DDC3-F633-84D10C2CD39F}"/>
                </a:ext>
              </a:extLst>
            </p:cNvPr>
            <p:cNvSpPr/>
            <p:nvPr/>
          </p:nvSpPr>
          <p:spPr>
            <a:xfrm>
              <a:off x="7271657" y="1094552"/>
              <a:ext cx="841828" cy="4950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052DB9B-0AA0-15DC-715D-6C023AECA461}"/>
                </a:ext>
              </a:extLst>
            </p:cNvPr>
            <p:cNvSpPr/>
            <p:nvPr/>
          </p:nvSpPr>
          <p:spPr>
            <a:xfrm>
              <a:off x="5059680" y="2229932"/>
              <a:ext cx="1364387" cy="990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45" name="Connecteur droit 144">
            <a:extLst>
              <a:ext uri="{FF2B5EF4-FFF2-40B4-BE49-F238E27FC236}">
                <a16:creationId xmlns:a16="http://schemas.microsoft.com/office/drawing/2014/main" id="{4472DF24-349D-A785-A2B7-67656A7C3FFF}"/>
              </a:ext>
            </a:extLst>
          </p:cNvPr>
          <p:cNvCxnSpPr>
            <a:cxnSpLocks/>
          </p:cNvCxnSpPr>
          <p:nvPr/>
        </p:nvCxnSpPr>
        <p:spPr>
          <a:xfrm>
            <a:off x="6553452" y="4197172"/>
            <a:ext cx="141262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Connecteur droit 146">
            <a:extLst>
              <a:ext uri="{FF2B5EF4-FFF2-40B4-BE49-F238E27FC236}">
                <a16:creationId xmlns:a16="http://schemas.microsoft.com/office/drawing/2014/main" id="{6DC65493-057D-4F8C-8411-1CC010ECBBB8}"/>
              </a:ext>
            </a:extLst>
          </p:cNvPr>
          <p:cNvCxnSpPr>
            <a:cxnSpLocks/>
          </p:cNvCxnSpPr>
          <p:nvPr/>
        </p:nvCxnSpPr>
        <p:spPr>
          <a:xfrm>
            <a:off x="6073270" y="2025650"/>
            <a:ext cx="0" cy="136842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83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FF5DF56-C0EF-F7B3-30A0-1B447B94C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4"/>
          <a:stretch>
            <a:fillRect/>
          </a:stretch>
        </p:blipFill>
        <p:spPr>
          <a:xfrm>
            <a:off x="2434074" y="1937931"/>
            <a:ext cx="8961419" cy="32203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3407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Modes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509261" y="1371307"/>
            <a:ext cx="9383206" cy="4929188"/>
          </a:xfrm>
          <a:prstGeom prst="rect">
            <a:avLst/>
          </a:prstGeom>
          <a:noFill/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fr-FR" b="1" i="1" dirty="0">
                <a:latin typeface="Calibri (Corps)"/>
              </a:rPr>
              <a:t>Continuous conduction: i</a:t>
            </a:r>
            <a:r>
              <a:rPr lang="en-US" altLang="fr-FR" b="1" i="1" baseline="-25000" dirty="0">
                <a:latin typeface="Calibri (Corps)"/>
              </a:rPr>
              <a:t>L</a:t>
            </a:r>
            <a:r>
              <a:rPr lang="en-US" altLang="fr-FR" b="1" i="1" dirty="0">
                <a:latin typeface="Calibri (Corps)"/>
              </a:rPr>
              <a:t> &gt; 0</a:t>
            </a:r>
          </a:p>
          <a:p>
            <a:endParaRPr lang="en-US" altLang="fr-FR" b="1" i="1" dirty="0">
              <a:latin typeface="Calibri (Corps)"/>
            </a:endParaRPr>
          </a:p>
          <a:p>
            <a:endParaRPr lang="en-US" altLang="fr-FR" b="1" i="1" dirty="0">
              <a:latin typeface="Calibri (Corps)"/>
            </a:endParaRPr>
          </a:p>
          <a:p>
            <a:endParaRPr lang="en-US" altLang="fr-FR" b="1" i="1" dirty="0">
              <a:latin typeface="Calibri (Corps)"/>
            </a:endParaRPr>
          </a:p>
          <a:p>
            <a:endParaRPr lang="en-US" altLang="fr-FR" b="1" i="1" dirty="0">
              <a:latin typeface="Calibri (Corps)"/>
            </a:endParaRPr>
          </a:p>
          <a:p>
            <a:endParaRPr lang="en-US" altLang="fr-FR" b="1" i="1" dirty="0">
              <a:latin typeface="Calibri (Corps)"/>
            </a:endParaRPr>
          </a:p>
          <a:p>
            <a:endParaRPr lang="en-US" altLang="fr-FR" b="1" i="1" dirty="0">
              <a:latin typeface="Calibri (Corps)"/>
            </a:endParaRPr>
          </a:p>
          <a:p>
            <a:r>
              <a:rPr lang="en-US" altLang="fr-FR" b="1" i="1" dirty="0">
                <a:latin typeface="Calibri (Corps)"/>
              </a:rPr>
              <a:t>Discontinuous conduction: </a:t>
            </a:r>
            <a:r>
              <a:rPr lang="en-US" altLang="fr-FR" b="1" i="1" dirty="0" err="1">
                <a:latin typeface="Calibri (Corps)"/>
              </a:rPr>
              <a:t>i</a:t>
            </a:r>
            <a:r>
              <a:rPr lang="en-US" altLang="fr-FR" b="1" i="1" baseline="-25000" dirty="0" err="1">
                <a:latin typeface="Calibri (Corps)"/>
              </a:rPr>
              <a:t>L</a:t>
            </a:r>
            <a:r>
              <a:rPr lang="en-US" altLang="fr-FR" b="1" i="1" dirty="0">
                <a:latin typeface="Calibri (Corps)"/>
              </a:rPr>
              <a:t>(t</a:t>
            </a:r>
            <a:r>
              <a:rPr lang="en-US" altLang="fr-FR" b="1" i="1" baseline="-25000" dirty="0">
                <a:latin typeface="Calibri (Corps)"/>
              </a:rPr>
              <a:t>0</a:t>
            </a:r>
            <a:r>
              <a:rPr lang="en-US" altLang="fr-FR" b="1" i="1" dirty="0">
                <a:latin typeface="Calibri (Corps)"/>
              </a:rPr>
              <a:t>) = 0 ; t</a:t>
            </a:r>
            <a:r>
              <a:rPr lang="en-US" altLang="fr-FR" b="1" i="1" baseline="-25000" dirty="0">
                <a:latin typeface="Calibri (Corps)"/>
              </a:rPr>
              <a:t>0</a:t>
            </a:r>
            <a:r>
              <a:rPr lang="en-US" altLang="fr-FR" b="1" i="1" dirty="0">
                <a:latin typeface="Calibri (Corps)"/>
              </a:rPr>
              <a:t> &lt; T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5936340" y="1910221"/>
            <a:ext cx="792162" cy="863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5898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3653126" y="4363893"/>
            <a:ext cx="5113337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3869026" y="2706543"/>
            <a:ext cx="0" cy="187166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837901" y="4506768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" name="Rectangle 6" descr="noir)"/>
          <p:cNvSpPr>
            <a:spLocks noChangeArrowheads="1"/>
          </p:cNvSpPr>
          <p:nvPr/>
        </p:nvSpPr>
        <p:spPr bwMode="auto">
          <a:xfrm>
            <a:off x="3870613" y="3427268"/>
            <a:ext cx="1295400" cy="9350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T</a:t>
            </a:r>
            <a:r>
              <a:rPr lang="fr-FR" altLang="fr-FR" sz="1800" baseline="-25000" dirty="0">
                <a:latin typeface="Calibri (Corps)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“</a:t>
            </a:r>
            <a:r>
              <a:rPr lang="fr-FR" altLang="fr-FR" sz="1800" dirty="0" err="1">
                <a:latin typeface="Calibri (Corps)"/>
              </a:rPr>
              <a:t>Closed</a:t>
            </a:r>
            <a:r>
              <a:rPr lang="fr-FR" altLang="fr-FR" sz="1800" dirty="0">
                <a:latin typeface="Calibri (Corps)"/>
              </a:rPr>
              <a:t>”</a:t>
            </a:r>
          </a:p>
        </p:txBody>
      </p:sp>
      <p:sp>
        <p:nvSpPr>
          <p:cNvPr id="12" name="Rectangle 7" descr="noir)"/>
          <p:cNvSpPr>
            <a:spLocks noChangeArrowheads="1"/>
          </p:cNvSpPr>
          <p:nvPr/>
        </p:nvSpPr>
        <p:spPr bwMode="auto">
          <a:xfrm>
            <a:off x="5166013" y="3427268"/>
            <a:ext cx="2636838" cy="9350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T</a:t>
            </a:r>
            <a:r>
              <a:rPr lang="fr-FR" altLang="fr-FR" sz="1800" baseline="-25000" dirty="0">
                <a:latin typeface="Calibri (Corps)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“</a:t>
            </a:r>
            <a:r>
              <a:rPr lang="fr-FR" altLang="fr-FR" sz="1800" dirty="0" err="1">
                <a:latin typeface="Calibri (Corps)"/>
              </a:rPr>
              <a:t>Opened</a:t>
            </a:r>
            <a:r>
              <a:rPr lang="fr-FR" altLang="fr-FR" sz="1800" dirty="0">
                <a:latin typeface="Calibri (Corps)"/>
              </a:rPr>
              <a:t>”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724563" y="4527406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877088" y="4521056"/>
            <a:ext cx="644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Symbol" panose="05050102010706020507" pitchFamily="18" charset="2"/>
              </a:rPr>
              <a:t>a</a:t>
            </a:r>
            <a:r>
              <a:rPr lang="fr-FR" altLang="fr-FR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7598063" y="4527406"/>
            <a:ext cx="420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3869026" y="5227493"/>
            <a:ext cx="1268412" cy="635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3786232" y="5371956"/>
            <a:ext cx="13308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D</a:t>
            </a:r>
            <a:r>
              <a:rPr lang="fr-FR" altLang="fr-FR" sz="1800" b="1" i="1" baseline="-25000" dirty="0">
                <a:solidFill>
                  <a:srgbClr val="0033CC"/>
                </a:solidFill>
                <a:latin typeface="Calibri (Corps)"/>
              </a:rPr>
              <a:t>p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reverse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 err="1">
                <a:solidFill>
                  <a:srgbClr val="0033CC"/>
                </a:solidFill>
                <a:latin typeface="Calibri (Corps)"/>
              </a:rPr>
              <a:t>v</a:t>
            </a:r>
            <a:r>
              <a:rPr lang="fr-FR" altLang="fr-FR" sz="1800" b="1" i="1" baseline="-25000" dirty="0" err="1">
                <a:solidFill>
                  <a:srgbClr val="0033CC"/>
                </a:solidFill>
                <a:latin typeface="Calibri (Corps)"/>
              </a:rPr>
              <a:t>D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= - V</a:t>
            </a:r>
            <a:r>
              <a:rPr lang="fr-FR" altLang="fr-FR" sz="1800" b="1" i="1" baseline="-25000" dirty="0">
                <a:solidFill>
                  <a:srgbClr val="0033CC"/>
                </a:solidFill>
                <a:latin typeface="Calibri (Corps)"/>
              </a:rPr>
              <a:t>S</a:t>
            </a: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5137438" y="5233843"/>
            <a:ext cx="266541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5858163" y="5371956"/>
            <a:ext cx="14398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FF9900"/>
                </a:solidFill>
                <a:latin typeface="Calibri (Corps)"/>
              </a:rPr>
              <a:t>D</a:t>
            </a:r>
            <a:r>
              <a:rPr lang="fr-FR" altLang="fr-FR" sz="1800" b="1" i="1" baseline="-25000" dirty="0">
                <a:solidFill>
                  <a:srgbClr val="FF9900"/>
                </a:solidFill>
                <a:latin typeface="Calibri (Corps)"/>
              </a:rPr>
              <a:t>p</a:t>
            </a:r>
            <a:r>
              <a:rPr lang="fr-FR" altLang="fr-FR" sz="1800" b="1" i="1" dirty="0">
                <a:solidFill>
                  <a:srgbClr val="FF9900"/>
                </a:solidFill>
                <a:latin typeface="Calibri (Corps)"/>
              </a:rPr>
              <a:t> </a:t>
            </a:r>
            <a:r>
              <a:rPr lang="fr-FR" altLang="fr-FR" sz="1800" b="1" i="1" dirty="0" err="1">
                <a:solidFill>
                  <a:srgbClr val="FF9900"/>
                </a:solidFill>
                <a:latin typeface="Calibri (Corps)"/>
              </a:rPr>
              <a:t>forward</a:t>
            </a:r>
            <a:endParaRPr lang="fr-FR" altLang="fr-FR" sz="1800" b="1" i="1" dirty="0">
              <a:solidFill>
                <a:srgbClr val="FF9900"/>
              </a:solidFill>
              <a:latin typeface="Calibri (Corps)"/>
            </a:endParaRPr>
          </a:p>
        </p:txBody>
      </p:sp>
      <p:cxnSp>
        <p:nvCxnSpPr>
          <p:cNvPr id="21" name="Connecteur droit 20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A0ED667-D1CD-29A3-5D69-45F894E8C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9"/>
          <a:stretch>
            <a:fillRect/>
          </a:stretch>
        </p:blipFill>
        <p:spPr>
          <a:xfrm>
            <a:off x="5521613" y="367376"/>
            <a:ext cx="6098168" cy="218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606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299359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Chronograms</a:t>
            </a: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459" y="1761719"/>
            <a:ext cx="4356100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4148859" y="5865406"/>
            <a:ext cx="13837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b="1" dirty="0">
                <a:solidFill>
                  <a:srgbClr val="FF3300"/>
                </a:solidFill>
                <a:latin typeface="Calibri (Corps)"/>
              </a:rPr>
              <a:t>E &lt; V</a:t>
            </a:r>
            <a:r>
              <a:rPr lang="fr-FR" altLang="fr-FR" b="1" baseline="-25000" dirty="0">
                <a:solidFill>
                  <a:srgbClr val="FF3300"/>
                </a:solidFill>
                <a:latin typeface="Calibri (Corps)"/>
              </a:rPr>
              <a:t>S</a:t>
            </a: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7862022" y="5865406"/>
            <a:ext cx="164339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b="1" dirty="0">
                <a:solidFill>
                  <a:srgbClr val="FF3300"/>
                </a:solidFill>
                <a:latin typeface="Calibri (Corps)"/>
              </a:rPr>
              <a:t>BOOST</a:t>
            </a:r>
            <a:endParaRPr lang="fr-FR" altLang="fr-FR" b="1" baseline="-25000" dirty="0">
              <a:solidFill>
                <a:srgbClr val="FF3300"/>
              </a:solidFill>
              <a:latin typeface="Calibri (Corps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526724" y="4125961"/>
                <a:ext cx="1971181" cy="1514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altLang="fr-FR" sz="2400" b="1" u="sng" dirty="0" err="1">
                    <a:latin typeface="Symbol" panose="05050102010706020507" pitchFamily="18" charset="2"/>
                  </a:rPr>
                  <a:t>a</a:t>
                </a:r>
                <a:r>
                  <a:rPr lang="fr-FR" altLang="fr-FR" sz="2400" b="1" u="sng" dirty="0" err="1">
                    <a:latin typeface="Calibri (Corps)"/>
                  </a:rPr>
                  <a:t>T</a:t>
                </a:r>
                <a:r>
                  <a:rPr lang="fr-FR" altLang="fr-FR" sz="2400" b="1" u="sng" dirty="0">
                    <a:latin typeface="Calibri (Corps)"/>
                  </a:rPr>
                  <a:t> &lt; t &lt; T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2400" b="1" i="1">
                              <a:latin typeface="Cambria Math" panose="02040503050406030204" pitchFamily="18" charset="0"/>
                            </a:rPr>
                            <m:t>𝒅𝒊</m:t>
                          </m:r>
                        </m:num>
                        <m:den>
                          <m:r>
                            <a:rPr lang="fr-FR" altLang="fr-FR" sz="2400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fr-FR" altLang="fr-FR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alt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alt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altLang="fr-FR" sz="2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fr-FR" altLang="fr-FR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altLang="fr-FR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altLang="fr-FR" sz="24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r>
                            <a:rPr lang="fr-FR" altLang="fr-FR" sz="24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altLang="fr-FR" sz="2400" b="1" dirty="0">
                  <a:latin typeface="Calibri (Corps)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724" y="4125961"/>
                <a:ext cx="1971181" cy="1514004"/>
              </a:xfrm>
              <a:prstGeom prst="rect">
                <a:avLst/>
              </a:prstGeom>
              <a:blipFill>
                <a:blip r:embed="rId4"/>
                <a:stretch>
                  <a:fillRect l="-4334" t="-3226" r="-6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8526724" y="2382645"/>
                <a:ext cx="1867819" cy="1514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altLang="fr-FR" sz="2400" b="1" u="sng" dirty="0">
                    <a:latin typeface="Symbol" panose="05050102010706020507" pitchFamily="18" charset="2"/>
                  </a:rPr>
                  <a:t>0</a:t>
                </a:r>
                <a:r>
                  <a:rPr lang="fr-FR" altLang="fr-FR" sz="2400" b="1" u="sng" dirty="0">
                    <a:latin typeface="Calibri (Corps)"/>
                  </a:rPr>
                  <a:t> &lt; t &lt; </a:t>
                </a:r>
                <a:r>
                  <a:rPr lang="fr-FR" altLang="fr-FR" sz="2400" b="1" u="sng" dirty="0" err="1">
                    <a:latin typeface="Symbol" panose="05050102010706020507" pitchFamily="18" charset="2"/>
                  </a:rPr>
                  <a:t>a</a:t>
                </a:r>
                <a:r>
                  <a:rPr lang="fr-FR" altLang="fr-FR" sz="2400" b="1" u="sng" dirty="0" err="1">
                    <a:latin typeface="Calibri (Corps)"/>
                  </a:rPr>
                  <a:t>T</a:t>
                </a:r>
                <a:endParaRPr lang="fr-FR" altLang="fr-FR" sz="2400" b="1" u="sng" dirty="0">
                  <a:latin typeface="Calibri (Corps)"/>
                </a:endParaRP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2400" b="1" i="1">
                              <a:latin typeface="Cambria Math" panose="02040503050406030204" pitchFamily="18" charset="0"/>
                            </a:rPr>
                            <m:t>𝒅𝒊</m:t>
                          </m:r>
                        </m:num>
                        <m:den>
                          <m:r>
                            <a:rPr lang="fr-FR" altLang="fr-FR" sz="2400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fr-FR" altLang="fr-FR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fr-FR" altLang="fr-FR" sz="24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altLang="fr-FR" sz="2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724" y="2382645"/>
                <a:ext cx="1867819" cy="1514004"/>
              </a:xfrm>
              <a:prstGeom prst="rect">
                <a:avLst/>
              </a:prstGeom>
              <a:blipFill>
                <a:blip r:embed="rId5"/>
                <a:stretch>
                  <a:fillRect l="-4575" t="-3226" r="-45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09512B6-BA8C-5F3C-56B0-C1F6472D4D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8"/>
          <a:stretch>
            <a:fillRect/>
          </a:stretch>
        </p:blipFill>
        <p:spPr>
          <a:xfrm>
            <a:off x="6286171" y="157254"/>
            <a:ext cx="5445754" cy="195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5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85325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</a:t>
            </a:r>
          </a:p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Output voltage calculation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139" y="1474051"/>
            <a:ext cx="7032625" cy="499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1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964" y="250089"/>
            <a:ext cx="4703763" cy="19288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2858575" y="2687204"/>
                <a:ext cx="1827873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575" y="2687204"/>
                <a:ext cx="1827873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86110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</a:t>
            </a:r>
          </a:p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Current ripple calculation</a:t>
            </a:r>
          </a:p>
        </p:txBody>
      </p:sp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829" y="620209"/>
            <a:ext cx="4487862" cy="19923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935720" y="3213203"/>
            <a:ext cx="360045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2400" b="1" dirty="0">
                <a:solidFill>
                  <a:srgbClr val="0033CC"/>
                </a:solidFill>
                <a:latin typeface="Calibri (Corps)"/>
              </a:rPr>
              <a:t>Current ripple i</a:t>
            </a:r>
            <a:r>
              <a:rPr lang="en-US" altLang="fr-FR" sz="2400" b="1" baseline="-25000" dirty="0">
                <a:solidFill>
                  <a:srgbClr val="0033CC"/>
                </a:solidFill>
                <a:latin typeface="Calibri (Corps)"/>
              </a:rPr>
              <a:t>L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720254" y="4542651"/>
            <a:ext cx="4535488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2400" b="1" dirty="0">
                <a:solidFill>
                  <a:srgbClr val="0033CC"/>
                </a:solidFill>
                <a:latin typeface="Calibri (Corps)"/>
              </a:rPr>
              <a:t>Maximum ripple (a = 1)</a:t>
            </a:r>
            <a:endParaRPr lang="en-US" altLang="fr-FR" sz="2400" b="1" baseline="-25000" dirty="0">
              <a:solidFill>
                <a:srgbClr val="0033CC"/>
              </a:solidFill>
              <a:latin typeface="Calibri (Corps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7481190" y="3213203"/>
                <a:ext cx="1770678" cy="689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 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190" y="3213203"/>
                <a:ext cx="1770678" cy="6890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8008777" y="4663301"/>
                <a:ext cx="1977464" cy="68903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777" y="4663301"/>
                <a:ext cx="1977464" cy="689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eur droit 1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1174985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772598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Output filtering </a:t>
            </a:r>
          </a:p>
        </p:txBody>
      </p:sp>
      <p:sp>
        <p:nvSpPr>
          <p:cNvPr id="65" name="Rectangle 3"/>
          <p:cNvSpPr>
            <a:spLocks noChangeArrowheads="1"/>
          </p:cNvSpPr>
          <p:nvPr/>
        </p:nvSpPr>
        <p:spPr bwMode="auto">
          <a:xfrm>
            <a:off x="4796559" y="3960077"/>
            <a:ext cx="288925" cy="10795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6" name="Line 4"/>
          <p:cNvSpPr>
            <a:spLocks noChangeShapeType="1"/>
          </p:cNvSpPr>
          <p:nvPr/>
        </p:nvSpPr>
        <p:spPr bwMode="auto">
          <a:xfrm>
            <a:off x="4941022" y="5041164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7" name="Line 5"/>
          <p:cNvSpPr>
            <a:spLocks noChangeShapeType="1"/>
          </p:cNvSpPr>
          <p:nvPr/>
        </p:nvSpPr>
        <p:spPr bwMode="auto">
          <a:xfrm flipH="1">
            <a:off x="3140797" y="5328502"/>
            <a:ext cx="1800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8" name="Line 6"/>
          <p:cNvSpPr>
            <a:spLocks noChangeShapeType="1"/>
          </p:cNvSpPr>
          <p:nvPr/>
        </p:nvSpPr>
        <p:spPr bwMode="auto">
          <a:xfrm flipV="1">
            <a:off x="4941022" y="3601302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Line 7"/>
          <p:cNvSpPr>
            <a:spLocks noChangeShapeType="1"/>
          </p:cNvSpPr>
          <p:nvPr/>
        </p:nvSpPr>
        <p:spPr bwMode="auto">
          <a:xfrm flipH="1">
            <a:off x="3212234" y="3601302"/>
            <a:ext cx="17287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0" name="Line 8"/>
          <p:cNvSpPr>
            <a:spLocks noChangeShapeType="1"/>
          </p:cNvSpPr>
          <p:nvPr/>
        </p:nvSpPr>
        <p:spPr bwMode="auto">
          <a:xfrm>
            <a:off x="4077422" y="3601302"/>
            <a:ext cx="0" cy="790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" name="Line 9"/>
          <p:cNvSpPr>
            <a:spLocks noChangeShapeType="1"/>
          </p:cNvSpPr>
          <p:nvPr/>
        </p:nvSpPr>
        <p:spPr bwMode="auto">
          <a:xfrm>
            <a:off x="3717059" y="4393464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2" name="Line 10"/>
          <p:cNvSpPr>
            <a:spLocks noChangeShapeType="1"/>
          </p:cNvSpPr>
          <p:nvPr/>
        </p:nvSpPr>
        <p:spPr bwMode="auto">
          <a:xfrm>
            <a:off x="3717059" y="4536339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3" name="Line 11"/>
          <p:cNvSpPr>
            <a:spLocks noChangeShapeType="1"/>
          </p:cNvSpPr>
          <p:nvPr/>
        </p:nvSpPr>
        <p:spPr bwMode="auto">
          <a:xfrm>
            <a:off x="4077422" y="4536339"/>
            <a:ext cx="0" cy="792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4" name="Line 12"/>
          <p:cNvSpPr>
            <a:spLocks noChangeShapeType="1"/>
          </p:cNvSpPr>
          <p:nvPr/>
        </p:nvSpPr>
        <p:spPr bwMode="auto">
          <a:xfrm flipV="1">
            <a:off x="3140797" y="3672739"/>
            <a:ext cx="0" cy="1511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2564534" y="4320439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76" name="Text Box 14"/>
          <p:cNvSpPr txBox="1">
            <a:spLocks noChangeArrowheads="1"/>
          </p:cNvSpPr>
          <p:nvPr/>
        </p:nvSpPr>
        <p:spPr bwMode="auto">
          <a:xfrm>
            <a:off x="4293322" y="4609364"/>
            <a:ext cx="420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R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77" name="Text Box 15"/>
          <p:cNvSpPr txBox="1">
            <a:spLocks noChangeArrowheads="1"/>
          </p:cNvSpPr>
          <p:nvPr/>
        </p:nvSpPr>
        <p:spPr bwMode="auto">
          <a:xfrm>
            <a:off x="3572597" y="4745889"/>
            <a:ext cx="420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C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78" name="Line 16"/>
          <p:cNvSpPr>
            <a:spLocks noChangeShapeType="1"/>
          </p:cNvSpPr>
          <p:nvPr/>
        </p:nvSpPr>
        <p:spPr bwMode="auto">
          <a:xfrm>
            <a:off x="3501159" y="3601302"/>
            <a:ext cx="1444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Text Box 17"/>
          <p:cNvSpPr txBox="1">
            <a:spLocks noChangeArrowheads="1"/>
          </p:cNvSpPr>
          <p:nvPr/>
        </p:nvSpPr>
        <p:spPr bwMode="auto">
          <a:xfrm>
            <a:off x="3356697" y="3098064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80" name="Line 18"/>
          <p:cNvSpPr>
            <a:spLocks noChangeShapeType="1"/>
          </p:cNvSpPr>
          <p:nvPr/>
        </p:nvSpPr>
        <p:spPr bwMode="auto">
          <a:xfrm>
            <a:off x="4293322" y="3601302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1" name="Text Box 19"/>
          <p:cNvSpPr txBox="1">
            <a:spLocks noChangeArrowheads="1"/>
          </p:cNvSpPr>
          <p:nvPr/>
        </p:nvSpPr>
        <p:spPr bwMode="auto">
          <a:xfrm>
            <a:off x="4293322" y="3098064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82" name="Line 20"/>
          <p:cNvSpPr>
            <a:spLocks noChangeShapeType="1"/>
          </p:cNvSpPr>
          <p:nvPr/>
        </p:nvSpPr>
        <p:spPr bwMode="auto">
          <a:xfrm>
            <a:off x="4077422" y="4033102"/>
            <a:ext cx="0" cy="144462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3" name="Text Box 21"/>
          <p:cNvSpPr txBox="1">
            <a:spLocks noChangeArrowheads="1"/>
          </p:cNvSpPr>
          <p:nvPr/>
        </p:nvSpPr>
        <p:spPr bwMode="auto">
          <a:xfrm>
            <a:off x="4148859" y="3890227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C</a:t>
            </a:r>
          </a:p>
        </p:txBody>
      </p:sp>
      <p:grpSp>
        <p:nvGrpSpPr>
          <p:cNvPr id="84" name="Group 85"/>
          <p:cNvGrpSpPr>
            <a:grpSpLocks/>
          </p:cNvGrpSpPr>
          <p:nvPr/>
        </p:nvGrpSpPr>
        <p:grpSpPr bwMode="auto">
          <a:xfrm>
            <a:off x="6598372" y="1299427"/>
            <a:ext cx="4108450" cy="1008062"/>
            <a:chOff x="2290" y="1298"/>
            <a:chExt cx="2588" cy="635"/>
          </a:xfrm>
        </p:grpSpPr>
        <p:sp>
          <p:nvSpPr>
            <p:cNvPr id="85" name="Line 51"/>
            <p:cNvSpPr>
              <a:spLocks noChangeShapeType="1"/>
            </p:cNvSpPr>
            <p:nvPr/>
          </p:nvSpPr>
          <p:spPr bwMode="auto">
            <a:xfrm>
              <a:off x="3195" y="1298"/>
              <a:ext cx="456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Line 53"/>
            <p:cNvSpPr>
              <a:spLocks noChangeShapeType="1"/>
            </p:cNvSpPr>
            <p:nvPr/>
          </p:nvSpPr>
          <p:spPr bwMode="auto">
            <a:xfrm>
              <a:off x="4558" y="1298"/>
              <a:ext cx="320" cy="18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Line 80"/>
            <p:cNvSpPr>
              <a:spLocks noChangeShapeType="1"/>
            </p:cNvSpPr>
            <p:nvPr/>
          </p:nvSpPr>
          <p:spPr bwMode="auto">
            <a:xfrm>
              <a:off x="2290" y="1933"/>
              <a:ext cx="9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Line 81"/>
            <p:cNvSpPr>
              <a:spLocks noChangeShapeType="1"/>
            </p:cNvSpPr>
            <p:nvPr/>
          </p:nvSpPr>
          <p:spPr bwMode="auto">
            <a:xfrm flipV="1">
              <a:off x="3198" y="1298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Line 82"/>
            <p:cNvSpPr>
              <a:spLocks noChangeShapeType="1"/>
            </p:cNvSpPr>
            <p:nvPr/>
          </p:nvSpPr>
          <p:spPr bwMode="auto">
            <a:xfrm>
              <a:off x="3651" y="1570"/>
              <a:ext cx="0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Line 83"/>
            <p:cNvSpPr>
              <a:spLocks noChangeShapeType="1"/>
            </p:cNvSpPr>
            <p:nvPr/>
          </p:nvSpPr>
          <p:spPr bwMode="auto">
            <a:xfrm>
              <a:off x="3651" y="1933"/>
              <a:ext cx="907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Line 84"/>
            <p:cNvSpPr>
              <a:spLocks noChangeShapeType="1"/>
            </p:cNvSpPr>
            <p:nvPr/>
          </p:nvSpPr>
          <p:spPr bwMode="auto">
            <a:xfrm flipV="1">
              <a:off x="4558" y="1298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2" name="Group 111"/>
          <p:cNvGrpSpPr>
            <a:grpSpLocks/>
          </p:cNvGrpSpPr>
          <p:nvPr/>
        </p:nvGrpSpPr>
        <p:grpSpPr bwMode="auto">
          <a:xfrm>
            <a:off x="6449147" y="2810727"/>
            <a:ext cx="4397375" cy="1439862"/>
            <a:chOff x="2605" y="1661"/>
            <a:chExt cx="2770" cy="907"/>
          </a:xfrm>
        </p:grpSpPr>
        <p:grpSp>
          <p:nvGrpSpPr>
            <p:cNvPr id="93" name="Group 108"/>
            <p:cNvGrpSpPr>
              <a:grpSpLocks/>
            </p:cNvGrpSpPr>
            <p:nvPr/>
          </p:nvGrpSpPr>
          <p:grpSpPr bwMode="auto">
            <a:xfrm>
              <a:off x="2605" y="1706"/>
              <a:ext cx="2770" cy="862"/>
              <a:chOff x="2605" y="1706"/>
              <a:chExt cx="2770" cy="862"/>
            </a:xfrm>
          </p:grpSpPr>
          <p:grpSp>
            <p:nvGrpSpPr>
              <p:cNvPr id="95" name="Group 86"/>
              <p:cNvGrpSpPr>
                <a:grpSpLocks/>
              </p:cNvGrpSpPr>
              <p:nvPr/>
            </p:nvGrpSpPr>
            <p:grpSpPr bwMode="auto">
              <a:xfrm>
                <a:off x="2605" y="2269"/>
                <a:ext cx="2770" cy="56"/>
                <a:chOff x="300" y="5640"/>
                <a:chExt cx="6925" cy="140"/>
              </a:xfrm>
            </p:grpSpPr>
            <p:sp>
              <p:nvSpPr>
                <p:cNvPr id="105" name="Freeform 87"/>
                <p:cNvSpPr>
                  <a:spLocks/>
                </p:cNvSpPr>
                <p:nvPr/>
              </p:nvSpPr>
              <p:spPr bwMode="auto">
                <a:xfrm>
                  <a:off x="6945" y="5640"/>
                  <a:ext cx="280" cy="140"/>
                </a:xfrm>
                <a:custGeom>
                  <a:avLst/>
                  <a:gdLst>
                    <a:gd name="T0" fmla="*/ 280 w 280"/>
                    <a:gd name="T1" fmla="*/ 80 h 140"/>
                    <a:gd name="T2" fmla="*/ 0 w 280"/>
                    <a:gd name="T3" fmla="*/ 140 h 140"/>
                    <a:gd name="T4" fmla="*/ 0 w 280"/>
                    <a:gd name="T5" fmla="*/ 80 h 140"/>
                    <a:gd name="T6" fmla="*/ 0 w 280"/>
                    <a:gd name="T7" fmla="*/ 0 h 140"/>
                    <a:gd name="T8" fmla="*/ 280 w 280"/>
                    <a:gd name="T9" fmla="*/ 8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0" h="140">
                      <a:moveTo>
                        <a:pt x="280" y="80"/>
                      </a:moveTo>
                      <a:lnTo>
                        <a:pt x="0" y="140"/>
                      </a:lnTo>
                      <a:lnTo>
                        <a:pt x="0" y="80"/>
                      </a:lnTo>
                      <a:lnTo>
                        <a:pt x="0" y="0"/>
                      </a:lnTo>
                      <a:lnTo>
                        <a:pt x="28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6" name="Line 88"/>
                <p:cNvSpPr>
                  <a:spLocks noChangeShapeType="1"/>
                </p:cNvSpPr>
                <p:nvPr/>
              </p:nvSpPr>
              <p:spPr bwMode="auto">
                <a:xfrm>
                  <a:off x="300" y="5720"/>
                  <a:ext cx="664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96" name="Line 89"/>
              <p:cNvSpPr>
                <a:spLocks noChangeShapeType="1"/>
              </p:cNvSpPr>
              <p:nvPr/>
            </p:nvSpPr>
            <p:spPr bwMode="auto">
              <a:xfrm flipV="1">
                <a:off x="2699" y="1706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97" name="Group 90"/>
              <p:cNvGrpSpPr>
                <a:grpSpLocks/>
              </p:cNvGrpSpPr>
              <p:nvPr/>
            </p:nvGrpSpPr>
            <p:grpSpPr bwMode="auto">
              <a:xfrm>
                <a:off x="2699" y="1797"/>
                <a:ext cx="2588" cy="635"/>
                <a:chOff x="2290" y="1298"/>
                <a:chExt cx="2588" cy="635"/>
              </a:xfrm>
            </p:grpSpPr>
            <p:sp>
              <p:nvSpPr>
                <p:cNvPr id="98" name="Line 91"/>
                <p:cNvSpPr>
                  <a:spLocks noChangeShapeType="1"/>
                </p:cNvSpPr>
                <p:nvPr/>
              </p:nvSpPr>
              <p:spPr bwMode="auto">
                <a:xfrm>
                  <a:off x="3195" y="1298"/>
                  <a:ext cx="456" cy="272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9" name="Line 92"/>
                <p:cNvSpPr>
                  <a:spLocks noChangeShapeType="1"/>
                </p:cNvSpPr>
                <p:nvPr/>
              </p:nvSpPr>
              <p:spPr bwMode="auto">
                <a:xfrm>
                  <a:off x="4558" y="1298"/>
                  <a:ext cx="320" cy="184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0" name="Line 93"/>
                <p:cNvSpPr>
                  <a:spLocks noChangeShapeType="1"/>
                </p:cNvSpPr>
                <p:nvPr/>
              </p:nvSpPr>
              <p:spPr bwMode="auto">
                <a:xfrm>
                  <a:off x="2290" y="1933"/>
                  <a:ext cx="908" cy="0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1" name="Line 94"/>
                <p:cNvSpPr>
                  <a:spLocks noChangeShapeType="1"/>
                </p:cNvSpPr>
                <p:nvPr/>
              </p:nvSpPr>
              <p:spPr bwMode="auto">
                <a:xfrm flipV="1">
                  <a:off x="3198" y="1298"/>
                  <a:ext cx="0" cy="635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" name="Line 95"/>
                <p:cNvSpPr>
                  <a:spLocks noChangeShapeType="1"/>
                </p:cNvSpPr>
                <p:nvPr/>
              </p:nvSpPr>
              <p:spPr bwMode="auto">
                <a:xfrm>
                  <a:off x="3651" y="1570"/>
                  <a:ext cx="0" cy="363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3" name="Line 96"/>
                <p:cNvSpPr>
                  <a:spLocks noChangeShapeType="1"/>
                </p:cNvSpPr>
                <p:nvPr/>
              </p:nvSpPr>
              <p:spPr bwMode="auto">
                <a:xfrm>
                  <a:off x="3651" y="1933"/>
                  <a:ext cx="907" cy="0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" name="Line 97"/>
                <p:cNvSpPr>
                  <a:spLocks noChangeShapeType="1"/>
                </p:cNvSpPr>
                <p:nvPr/>
              </p:nvSpPr>
              <p:spPr bwMode="auto">
                <a:xfrm flipV="1">
                  <a:off x="4558" y="1298"/>
                  <a:ext cx="0" cy="635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94" name="Text Box 110"/>
            <p:cNvSpPr txBox="1">
              <a:spLocks noChangeArrowheads="1"/>
            </p:cNvSpPr>
            <p:nvPr/>
          </p:nvSpPr>
          <p:spPr bwMode="auto">
            <a:xfrm>
              <a:off x="2744" y="1661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00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>
                  <a:solidFill>
                    <a:srgbClr val="0099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107" name="Group 113"/>
          <p:cNvGrpSpPr>
            <a:grpSpLocks/>
          </p:cNvGrpSpPr>
          <p:nvPr/>
        </p:nvGrpSpPr>
        <p:grpSpPr bwMode="auto">
          <a:xfrm>
            <a:off x="6449147" y="4323614"/>
            <a:ext cx="5253037" cy="1871663"/>
            <a:chOff x="2605" y="2614"/>
            <a:chExt cx="3309" cy="1179"/>
          </a:xfrm>
        </p:grpSpPr>
        <p:grpSp>
          <p:nvGrpSpPr>
            <p:cNvPr id="108" name="Group 109"/>
            <p:cNvGrpSpPr>
              <a:grpSpLocks/>
            </p:cNvGrpSpPr>
            <p:nvPr/>
          </p:nvGrpSpPr>
          <p:grpSpPr bwMode="auto">
            <a:xfrm>
              <a:off x="2605" y="2659"/>
              <a:ext cx="3309" cy="1134"/>
              <a:chOff x="2605" y="2659"/>
              <a:chExt cx="3309" cy="1134"/>
            </a:xfrm>
          </p:grpSpPr>
          <p:grpSp>
            <p:nvGrpSpPr>
              <p:cNvPr id="110" name="Group 98"/>
              <p:cNvGrpSpPr>
                <a:grpSpLocks/>
              </p:cNvGrpSpPr>
              <p:nvPr/>
            </p:nvGrpSpPr>
            <p:grpSpPr bwMode="auto">
              <a:xfrm>
                <a:off x="2605" y="3646"/>
                <a:ext cx="2770" cy="56"/>
                <a:chOff x="300" y="5640"/>
                <a:chExt cx="6925" cy="140"/>
              </a:xfrm>
            </p:grpSpPr>
            <p:sp>
              <p:nvSpPr>
                <p:cNvPr id="118" name="Freeform 99"/>
                <p:cNvSpPr>
                  <a:spLocks/>
                </p:cNvSpPr>
                <p:nvPr/>
              </p:nvSpPr>
              <p:spPr bwMode="auto">
                <a:xfrm>
                  <a:off x="6945" y="5640"/>
                  <a:ext cx="280" cy="140"/>
                </a:xfrm>
                <a:custGeom>
                  <a:avLst/>
                  <a:gdLst>
                    <a:gd name="T0" fmla="*/ 280 w 280"/>
                    <a:gd name="T1" fmla="*/ 80 h 140"/>
                    <a:gd name="T2" fmla="*/ 0 w 280"/>
                    <a:gd name="T3" fmla="*/ 140 h 140"/>
                    <a:gd name="T4" fmla="*/ 0 w 280"/>
                    <a:gd name="T5" fmla="*/ 80 h 140"/>
                    <a:gd name="T6" fmla="*/ 0 w 280"/>
                    <a:gd name="T7" fmla="*/ 0 h 140"/>
                    <a:gd name="T8" fmla="*/ 280 w 280"/>
                    <a:gd name="T9" fmla="*/ 8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0" h="140">
                      <a:moveTo>
                        <a:pt x="280" y="80"/>
                      </a:moveTo>
                      <a:lnTo>
                        <a:pt x="0" y="140"/>
                      </a:lnTo>
                      <a:lnTo>
                        <a:pt x="0" y="80"/>
                      </a:lnTo>
                      <a:lnTo>
                        <a:pt x="0" y="0"/>
                      </a:lnTo>
                      <a:lnTo>
                        <a:pt x="28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9" name="Line 100"/>
                <p:cNvSpPr>
                  <a:spLocks noChangeShapeType="1"/>
                </p:cNvSpPr>
                <p:nvPr/>
              </p:nvSpPr>
              <p:spPr bwMode="auto">
                <a:xfrm>
                  <a:off x="300" y="5720"/>
                  <a:ext cx="664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11" name="Line 101"/>
              <p:cNvSpPr>
                <a:spLocks noChangeShapeType="1"/>
              </p:cNvSpPr>
              <p:nvPr/>
            </p:nvSpPr>
            <p:spPr bwMode="auto">
              <a:xfrm flipV="1">
                <a:off x="2699" y="2659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" name="Line 102"/>
              <p:cNvSpPr>
                <a:spLocks noChangeShapeType="1"/>
              </p:cNvSpPr>
              <p:nvPr/>
            </p:nvSpPr>
            <p:spPr bwMode="auto">
              <a:xfrm>
                <a:off x="2699" y="2886"/>
                <a:ext cx="907" cy="31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3" name="Arc 103"/>
              <p:cNvSpPr>
                <a:spLocks/>
              </p:cNvSpPr>
              <p:nvPr/>
            </p:nvSpPr>
            <p:spPr bwMode="auto">
              <a:xfrm rot="6459284" flipH="1" flipV="1">
                <a:off x="3888" y="2674"/>
                <a:ext cx="418" cy="915"/>
              </a:xfrm>
              <a:custGeom>
                <a:avLst/>
                <a:gdLst>
                  <a:gd name="T0" fmla="*/ 0 w 18662"/>
                  <a:gd name="T1" fmla="*/ 0 h 21600"/>
                  <a:gd name="T2" fmla="*/ 0 w 18662"/>
                  <a:gd name="T3" fmla="*/ 0 h 21600"/>
                  <a:gd name="T4" fmla="*/ 0 w 186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662" h="21600" fill="none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</a:path>
                  <a:path w="18662" h="21600" stroke="0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  <a:lnTo>
                      <a:pt x="2041" y="21600"/>
                    </a:lnTo>
                    <a:lnTo>
                      <a:pt x="-1" y="96"/>
                    </a:lnTo>
                    <a:close/>
                  </a:path>
                </a:pathLst>
              </a:cu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14" name="Line 104"/>
              <p:cNvSpPr>
                <a:spLocks noChangeShapeType="1"/>
              </p:cNvSpPr>
              <p:nvPr/>
            </p:nvSpPr>
            <p:spPr bwMode="auto">
              <a:xfrm>
                <a:off x="2608" y="2886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5" name="Line 105"/>
              <p:cNvSpPr>
                <a:spLocks noChangeShapeType="1"/>
              </p:cNvSpPr>
              <p:nvPr/>
            </p:nvSpPr>
            <p:spPr bwMode="auto">
              <a:xfrm>
                <a:off x="4059" y="2886"/>
                <a:ext cx="907" cy="31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6" name="Arc 106"/>
              <p:cNvSpPr>
                <a:spLocks/>
              </p:cNvSpPr>
              <p:nvPr/>
            </p:nvSpPr>
            <p:spPr bwMode="auto">
              <a:xfrm rot="6459284" flipH="1" flipV="1">
                <a:off x="5248" y="2674"/>
                <a:ext cx="418" cy="915"/>
              </a:xfrm>
              <a:custGeom>
                <a:avLst/>
                <a:gdLst>
                  <a:gd name="T0" fmla="*/ 0 w 18662"/>
                  <a:gd name="T1" fmla="*/ 0 h 21600"/>
                  <a:gd name="T2" fmla="*/ 0 w 18662"/>
                  <a:gd name="T3" fmla="*/ 0 h 21600"/>
                  <a:gd name="T4" fmla="*/ 0 w 186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662" h="21600" fill="none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</a:path>
                  <a:path w="18662" h="21600" stroke="0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  <a:lnTo>
                      <a:pt x="2041" y="21600"/>
                    </a:lnTo>
                    <a:lnTo>
                      <a:pt x="-1" y="96"/>
                    </a:lnTo>
                    <a:close/>
                  </a:path>
                </a:pathLst>
              </a:cu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17" name="Line 107"/>
              <p:cNvSpPr>
                <a:spLocks noChangeShapeType="1"/>
              </p:cNvSpPr>
              <p:nvPr/>
            </p:nvSpPr>
            <p:spPr bwMode="auto">
              <a:xfrm>
                <a:off x="2608" y="3203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9" name="Text Box 112"/>
            <p:cNvSpPr txBox="1">
              <a:spLocks noChangeArrowheads="1"/>
            </p:cNvSpPr>
            <p:nvPr/>
          </p:nvSpPr>
          <p:spPr bwMode="auto">
            <a:xfrm>
              <a:off x="2744" y="2614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20" name="Group 116"/>
          <p:cNvGrpSpPr>
            <a:grpSpLocks/>
          </p:cNvGrpSpPr>
          <p:nvPr/>
        </p:nvGrpSpPr>
        <p:grpSpPr bwMode="auto">
          <a:xfrm>
            <a:off x="6453909" y="794602"/>
            <a:ext cx="4397375" cy="5113337"/>
            <a:chOff x="2608" y="391"/>
            <a:chExt cx="2770" cy="3221"/>
          </a:xfrm>
        </p:grpSpPr>
        <p:grpSp>
          <p:nvGrpSpPr>
            <p:cNvPr id="121" name="Group 22"/>
            <p:cNvGrpSpPr>
              <a:grpSpLocks/>
            </p:cNvGrpSpPr>
            <p:nvPr/>
          </p:nvGrpSpPr>
          <p:grpSpPr bwMode="auto">
            <a:xfrm>
              <a:off x="2608" y="1317"/>
              <a:ext cx="2770" cy="56"/>
              <a:chOff x="300" y="5640"/>
              <a:chExt cx="6925" cy="140"/>
            </a:xfrm>
          </p:grpSpPr>
          <p:sp>
            <p:nvSpPr>
              <p:cNvPr id="151" name="Freeform 23"/>
              <p:cNvSpPr>
                <a:spLocks/>
              </p:cNvSpPr>
              <p:nvPr/>
            </p:nvSpPr>
            <p:spPr bwMode="auto">
              <a:xfrm>
                <a:off x="694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2" name="Line 24"/>
              <p:cNvSpPr>
                <a:spLocks noChangeShapeType="1"/>
              </p:cNvSpPr>
              <p:nvPr/>
            </p:nvSpPr>
            <p:spPr bwMode="auto">
              <a:xfrm>
                <a:off x="30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22" name="Rectangle 25"/>
            <p:cNvSpPr>
              <a:spLocks noChangeArrowheads="1"/>
            </p:cNvSpPr>
            <p:nvPr/>
          </p:nvSpPr>
          <p:spPr bwMode="auto">
            <a:xfrm>
              <a:off x="5346" y="1141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23" name="Group 26"/>
            <p:cNvGrpSpPr>
              <a:grpSpLocks/>
            </p:cNvGrpSpPr>
            <p:nvPr/>
          </p:nvGrpSpPr>
          <p:grpSpPr bwMode="auto">
            <a:xfrm>
              <a:off x="2632" y="845"/>
              <a:ext cx="2658" cy="0"/>
              <a:chOff x="360" y="4460"/>
              <a:chExt cx="6645" cy="1"/>
            </a:xfrm>
          </p:grpSpPr>
          <p:sp>
            <p:nvSpPr>
              <p:cNvPr id="132" name="Line 27"/>
              <p:cNvSpPr>
                <a:spLocks noChangeShapeType="1"/>
              </p:cNvSpPr>
              <p:nvPr/>
            </p:nvSpPr>
            <p:spPr bwMode="auto">
              <a:xfrm>
                <a:off x="360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Line 28"/>
              <p:cNvSpPr>
                <a:spLocks noChangeShapeType="1"/>
              </p:cNvSpPr>
              <p:nvPr/>
            </p:nvSpPr>
            <p:spPr bwMode="auto">
              <a:xfrm>
                <a:off x="720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4" name="Line 29"/>
              <p:cNvSpPr>
                <a:spLocks noChangeShapeType="1"/>
              </p:cNvSpPr>
              <p:nvPr/>
            </p:nvSpPr>
            <p:spPr bwMode="auto">
              <a:xfrm>
                <a:off x="108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Line 30"/>
              <p:cNvSpPr>
                <a:spLocks noChangeShapeType="1"/>
              </p:cNvSpPr>
              <p:nvPr/>
            </p:nvSpPr>
            <p:spPr bwMode="auto">
              <a:xfrm>
                <a:off x="144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6" name="Line 31"/>
              <p:cNvSpPr>
                <a:spLocks noChangeShapeType="1"/>
              </p:cNvSpPr>
              <p:nvPr/>
            </p:nvSpPr>
            <p:spPr bwMode="auto">
              <a:xfrm>
                <a:off x="180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Line 32"/>
              <p:cNvSpPr>
                <a:spLocks noChangeShapeType="1"/>
              </p:cNvSpPr>
              <p:nvPr/>
            </p:nvSpPr>
            <p:spPr bwMode="auto">
              <a:xfrm>
                <a:off x="2161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Line 33"/>
              <p:cNvSpPr>
                <a:spLocks noChangeShapeType="1"/>
              </p:cNvSpPr>
              <p:nvPr/>
            </p:nvSpPr>
            <p:spPr bwMode="auto">
              <a:xfrm>
                <a:off x="252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Line 34"/>
              <p:cNvSpPr>
                <a:spLocks noChangeShapeType="1"/>
              </p:cNvSpPr>
              <p:nvPr/>
            </p:nvSpPr>
            <p:spPr bwMode="auto">
              <a:xfrm>
                <a:off x="288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0" name="Line 35"/>
              <p:cNvSpPr>
                <a:spLocks noChangeShapeType="1"/>
              </p:cNvSpPr>
              <p:nvPr/>
            </p:nvSpPr>
            <p:spPr bwMode="auto">
              <a:xfrm>
                <a:off x="324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1" name="Line 36"/>
              <p:cNvSpPr>
                <a:spLocks noChangeShapeType="1"/>
              </p:cNvSpPr>
              <p:nvPr/>
            </p:nvSpPr>
            <p:spPr bwMode="auto">
              <a:xfrm>
                <a:off x="3602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2" name="Line 37"/>
              <p:cNvSpPr>
                <a:spLocks noChangeShapeType="1"/>
              </p:cNvSpPr>
              <p:nvPr/>
            </p:nvSpPr>
            <p:spPr bwMode="auto">
              <a:xfrm>
                <a:off x="396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3" name="Line 38"/>
              <p:cNvSpPr>
                <a:spLocks noChangeShapeType="1"/>
              </p:cNvSpPr>
              <p:nvPr/>
            </p:nvSpPr>
            <p:spPr bwMode="auto">
              <a:xfrm>
                <a:off x="432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4" name="Line 39"/>
              <p:cNvSpPr>
                <a:spLocks noChangeShapeType="1"/>
              </p:cNvSpPr>
              <p:nvPr/>
            </p:nvSpPr>
            <p:spPr bwMode="auto">
              <a:xfrm>
                <a:off x="468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5" name="Line 40"/>
              <p:cNvSpPr>
                <a:spLocks noChangeShapeType="1"/>
              </p:cNvSpPr>
              <p:nvPr/>
            </p:nvSpPr>
            <p:spPr bwMode="auto">
              <a:xfrm>
                <a:off x="5043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6" name="Line 41"/>
              <p:cNvSpPr>
                <a:spLocks noChangeShapeType="1"/>
              </p:cNvSpPr>
              <p:nvPr/>
            </p:nvSpPr>
            <p:spPr bwMode="auto">
              <a:xfrm>
                <a:off x="540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7" name="Line 42"/>
              <p:cNvSpPr>
                <a:spLocks noChangeShapeType="1"/>
              </p:cNvSpPr>
              <p:nvPr/>
            </p:nvSpPr>
            <p:spPr bwMode="auto">
              <a:xfrm>
                <a:off x="576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8" name="Line 43"/>
              <p:cNvSpPr>
                <a:spLocks noChangeShapeType="1"/>
              </p:cNvSpPr>
              <p:nvPr/>
            </p:nvSpPr>
            <p:spPr bwMode="auto">
              <a:xfrm>
                <a:off x="612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9" name="Line 44"/>
              <p:cNvSpPr>
                <a:spLocks noChangeShapeType="1"/>
              </p:cNvSpPr>
              <p:nvPr/>
            </p:nvSpPr>
            <p:spPr bwMode="auto">
              <a:xfrm>
                <a:off x="6484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0" name="Line 45"/>
              <p:cNvSpPr>
                <a:spLocks noChangeShapeType="1"/>
              </p:cNvSpPr>
              <p:nvPr/>
            </p:nvSpPr>
            <p:spPr bwMode="auto">
              <a:xfrm>
                <a:off x="6845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24" name="Line 46"/>
            <p:cNvSpPr>
              <a:spLocks noChangeShapeType="1"/>
            </p:cNvSpPr>
            <p:nvPr/>
          </p:nvSpPr>
          <p:spPr bwMode="auto">
            <a:xfrm flipV="1">
              <a:off x="2680" y="709"/>
              <a:ext cx="905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5" name="Line 47"/>
            <p:cNvSpPr>
              <a:spLocks noChangeShapeType="1"/>
            </p:cNvSpPr>
            <p:nvPr/>
          </p:nvSpPr>
          <p:spPr bwMode="auto">
            <a:xfrm>
              <a:off x="3585" y="709"/>
              <a:ext cx="456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6" name="Line 48"/>
            <p:cNvSpPr>
              <a:spLocks noChangeShapeType="1"/>
            </p:cNvSpPr>
            <p:nvPr/>
          </p:nvSpPr>
          <p:spPr bwMode="auto">
            <a:xfrm flipV="1">
              <a:off x="4041" y="709"/>
              <a:ext cx="905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7" name="Line 49"/>
            <p:cNvSpPr>
              <a:spLocks noChangeShapeType="1"/>
            </p:cNvSpPr>
            <p:nvPr/>
          </p:nvSpPr>
          <p:spPr bwMode="auto">
            <a:xfrm>
              <a:off x="4946" y="709"/>
              <a:ext cx="320" cy="1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8" name="Line 54"/>
            <p:cNvSpPr>
              <a:spLocks noChangeShapeType="1"/>
            </p:cNvSpPr>
            <p:nvPr/>
          </p:nvSpPr>
          <p:spPr bwMode="auto">
            <a:xfrm flipV="1">
              <a:off x="2702" y="482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9" name="Line 55"/>
            <p:cNvSpPr>
              <a:spLocks noChangeShapeType="1"/>
            </p:cNvSpPr>
            <p:nvPr/>
          </p:nvSpPr>
          <p:spPr bwMode="auto">
            <a:xfrm>
              <a:off x="3606" y="709"/>
              <a:ext cx="0" cy="29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0" name="Line 56"/>
            <p:cNvSpPr>
              <a:spLocks noChangeShapeType="1"/>
            </p:cNvSpPr>
            <p:nvPr/>
          </p:nvSpPr>
          <p:spPr bwMode="auto">
            <a:xfrm>
              <a:off x="4059" y="754"/>
              <a:ext cx="0" cy="28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1" name="Text Box 114"/>
            <p:cNvSpPr txBox="1">
              <a:spLocks noChangeArrowheads="1"/>
            </p:cNvSpPr>
            <p:nvPr/>
          </p:nvSpPr>
          <p:spPr bwMode="auto">
            <a:xfrm>
              <a:off x="2744" y="391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ZoneTexte 153"/>
              <p:cNvSpPr txBox="1"/>
              <p:nvPr/>
            </p:nvSpPr>
            <p:spPr>
              <a:xfrm>
                <a:off x="3480641" y="5768375"/>
                <a:ext cx="1708032" cy="701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54" name="ZoneTexte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641" y="5768375"/>
                <a:ext cx="1708032" cy="7015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Connecteur droit 15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ZoneTexte 156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CD2B6AC-4723-5172-B167-C05A1CD71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" r="4080"/>
          <a:stretch>
            <a:fillRect/>
          </a:stretch>
        </p:blipFill>
        <p:spPr>
          <a:xfrm>
            <a:off x="2258970" y="1230836"/>
            <a:ext cx="4334639" cy="15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0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257507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Output filtering</a:t>
            </a:r>
          </a:p>
        </p:txBody>
      </p:sp>
      <p:pic>
        <p:nvPicPr>
          <p:cNvPr id="6" name="Picture 9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3" y="2005013"/>
            <a:ext cx="293528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3" y="3157538"/>
            <a:ext cx="2181225" cy="69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9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238" y="4525963"/>
            <a:ext cx="23399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AutoShape 95"/>
          <p:cNvSpPr>
            <a:spLocks noChangeArrowheads="1"/>
          </p:cNvSpPr>
          <p:nvPr/>
        </p:nvSpPr>
        <p:spPr bwMode="auto">
          <a:xfrm>
            <a:off x="2800350" y="3086100"/>
            <a:ext cx="792163" cy="1944688"/>
          </a:xfrm>
          <a:prstGeom prst="curvedRightArrow">
            <a:avLst>
              <a:gd name="adj1" fmla="val 26652"/>
              <a:gd name="adj2" fmla="val 7575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2" name="AutoShape 96"/>
          <p:cNvSpPr>
            <a:spLocks noChangeArrowheads="1"/>
          </p:cNvSpPr>
          <p:nvPr/>
        </p:nvSpPr>
        <p:spPr bwMode="auto">
          <a:xfrm>
            <a:off x="7192963" y="4741863"/>
            <a:ext cx="792162" cy="504825"/>
          </a:xfrm>
          <a:prstGeom prst="notchedRightArrow">
            <a:avLst>
              <a:gd name="adj1" fmla="val 50000"/>
              <a:gd name="adj2" fmla="val 3923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pic>
        <p:nvPicPr>
          <p:cNvPr id="14" name="Picture 98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400" y="1717675"/>
            <a:ext cx="4316072" cy="1823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Line 99"/>
          <p:cNvSpPr>
            <a:spLocks noChangeShapeType="1"/>
          </p:cNvSpPr>
          <p:nvPr/>
        </p:nvSpPr>
        <p:spPr bwMode="auto">
          <a:xfrm>
            <a:off x="8763293" y="1587067"/>
            <a:ext cx="0" cy="18732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00"/>
          <p:cNvSpPr>
            <a:spLocks noChangeShapeType="1"/>
          </p:cNvSpPr>
          <p:nvPr/>
        </p:nvSpPr>
        <p:spPr bwMode="auto">
          <a:xfrm>
            <a:off x="9475929" y="1573213"/>
            <a:ext cx="0" cy="18732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Text Box 101"/>
          <p:cNvSpPr txBox="1">
            <a:spLocks noChangeArrowheads="1"/>
          </p:cNvSpPr>
          <p:nvPr/>
        </p:nvSpPr>
        <p:spPr bwMode="auto">
          <a:xfrm>
            <a:off x="8547393" y="3531754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" name="Text Box 102"/>
          <p:cNvSpPr txBox="1">
            <a:spLocks noChangeArrowheads="1"/>
          </p:cNvSpPr>
          <p:nvPr/>
        </p:nvSpPr>
        <p:spPr bwMode="auto">
          <a:xfrm>
            <a:off x="9331467" y="3517900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dirty="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 dirty="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19" name="Connecteur droit 1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6B1F21D-4687-8AC5-4970-439B0A212F90}"/>
                  </a:ext>
                </a:extLst>
              </p:cNvPr>
              <p:cNvSpPr txBox="1"/>
              <p:nvPr/>
            </p:nvSpPr>
            <p:spPr>
              <a:xfrm>
                <a:off x="8170115" y="4468401"/>
                <a:ext cx="3410357" cy="88306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).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.∆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6B1F21D-4687-8AC5-4970-439B0A212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115" y="4468401"/>
                <a:ext cx="3410357" cy="8830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92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DDC7-0097-E9D1-E272-941B80FD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AA13B6-4BEA-7712-8306-82AE2E91F66A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A3D535-D3C3-D4D3-AC17-6914B14DF141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7AF8C909-1EEF-955E-F024-93192B30BFA5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57507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Continuous mode: Output filtering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A8E2317-FDC1-7A23-EBD1-FAB5D48CF6DF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E6DF0BC5-7EB6-907F-F63B-51B4AFDF16FF}"/>
              </a:ext>
            </a:extLst>
          </p:cNvPr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2" name="Triangle isocèle 1">
            <a:extLst>
              <a:ext uri="{FF2B5EF4-FFF2-40B4-BE49-F238E27FC236}">
                <a16:creationId xmlns:a16="http://schemas.microsoft.com/office/drawing/2014/main" id="{458343E0-7F30-A961-BC6C-58333A063FC1}"/>
              </a:ext>
            </a:extLst>
          </p:cNvPr>
          <p:cNvSpPr/>
          <p:nvPr/>
        </p:nvSpPr>
        <p:spPr>
          <a:xfrm>
            <a:off x="5618277" y="1634255"/>
            <a:ext cx="916707" cy="954041"/>
          </a:xfrm>
          <a:prstGeom prst="triangl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rgbClr val="FF0000"/>
                </a:solidFill>
              </a:rPr>
              <a:t>!</a:t>
            </a:r>
            <a:br>
              <a:rPr lang="fr-FR" sz="5400"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Line 15">
            <a:extLst>
              <a:ext uri="{FF2B5EF4-FFF2-40B4-BE49-F238E27FC236}">
                <a16:creationId xmlns:a16="http://schemas.microsoft.com/office/drawing/2014/main" id="{62196229-7C7E-7FF6-1376-8865041DA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5236" y="1970781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" name="Line 16">
            <a:extLst>
              <a:ext uri="{FF2B5EF4-FFF2-40B4-BE49-F238E27FC236}">
                <a16:creationId xmlns:a16="http://schemas.microsoft.com/office/drawing/2014/main" id="{A206B30E-9D2B-25C8-C072-4BEF8CD9F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5236" y="2113656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6F21BE0C-D60B-08D3-BBA3-715C0DFC8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5236" y="2258119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6704D1BB-DB9E-989E-8F35-42C16DAE6478}"/>
              </a:ext>
            </a:extLst>
          </p:cNvPr>
          <p:cNvGrpSpPr/>
          <p:nvPr/>
        </p:nvGrpSpPr>
        <p:grpSpPr>
          <a:xfrm>
            <a:off x="2439857" y="856357"/>
            <a:ext cx="2520950" cy="2230437"/>
            <a:chOff x="2307075" y="1317660"/>
            <a:chExt cx="2520950" cy="2230437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CA952527-CFF4-C0E4-539A-9A8F50BE69B3}"/>
                </a:ext>
              </a:extLst>
            </p:cNvPr>
            <p:cNvGrpSpPr/>
            <p:nvPr/>
          </p:nvGrpSpPr>
          <p:grpSpPr>
            <a:xfrm>
              <a:off x="2307075" y="1317660"/>
              <a:ext cx="2520950" cy="2230437"/>
              <a:chOff x="2307075" y="1703965"/>
              <a:chExt cx="2520950" cy="2230437"/>
            </a:xfrm>
          </p:grpSpPr>
          <p:sp>
            <p:nvSpPr>
              <p:cNvPr id="26" name="Rectangle 9">
                <a:extLst>
                  <a:ext uri="{FF2B5EF4-FFF2-40B4-BE49-F238E27FC236}">
                    <a16:creationId xmlns:a16="http://schemas.microsoft.com/office/drawing/2014/main" id="{4E0B3741-2BAA-8ABD-5928-A49731AA0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9100" y="2565977"/>
                <a:ext cx="288925" cy="10795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33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Line 10">
                <a:extLst>
                  <a:ext uri="{FF2B5EF4-FFF2-40B4-BE49-F238E27FC236}">
                    <a16:creationId xmlns:a16="http://schemas.microsoft.com/office/drawing/2014/main" id="{65281CF3-0103-8DA6-B8CB-335845C5F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3563" y="3647065"/>
                <a:ext cx="0" cy="2873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Line 11">
                <a:extLst>
                  <a:ext uri="{FF2B5EF4-FFF2-40B4-BE49-F238E27FC236}">
                    <a16:creationId xmlns:a16="http://schemas.microsoft.com/office/drawing/2014/main" id="{79ADCBCA-EBB8-F912-DE9B-591B07801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3338" y="3934402"/>
                <a:ext cx="1800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Line 12">
                <a:extLst>
                  <a:ext uri="{FF2B5EF4-FFF2-40B4-BE49-F238E27FC236}">
                    <a16:creationId xmlns:a16="http://schemas.microsoft.com/office/drawing/2014/main" id="{400DA0D3-2006-8310-A971-AB7C3D54A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83563" y="2207202"/>
                <a:ext cx="0" cy="3587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Line 13">
                <a:extLst>
                  <a:ext uri="{FF2B5EF4-FFF2-40B4-BE49-F238E27FC236}">
                    <a16:creationId xmlns:a16="http://schemas.microsoft.com/office/drawing/2014/main" id="{7D5C5EB4-D4BB-D138-ABAE-30305C83A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54775" y="2207202"/>
                <a:ext cx="17287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" name="Line 14">
                <a:extLst>
                  <a:ext uri="{FF2B5EF4-FFF2-40B4-BE49-F238E27FC236}">
                    <a16:creationId xmlns:a16="http://schemas.microsoft.com/office/drawing/2014/main" id="{EABDBD1B-11D8-16C1-C41E-77C33EC1E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9963" y="2207202"/>
                <a:ext cx="0" cy="7905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Line 15">
                <a:extLst>
                  <a:ext uri="{FF2B5EF4-FFF2-40B4-BE49-F238E27FC236}">
                    <a16:creationId xmlns:a16="http://schemas.microsoft.com/office/drawing/2014/main" id="{0C78DC33-2AEA-4255-13E4-E29369824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600" y="2999365"/>
                <a:ext cx="719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Line 16">
                <a:extLst>
                  <a:ext uri="{FF2B5EF4-FFF2-40B4-BE49-F238E27FC236}">
                    <a16:creationId xmlns:a16="http://schemas.microsoft.com/office/drawing/2014/main" id="{9516BD98-0263-B321-618A-35FFDD334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600" y="3142240"/>
                <a:ext cx="719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Line 17">
                <a:extLst>
                  <a:ext uri="{FF2B5EF4-FFF2-40B4-BE49-F238E27FC236}">
                    <a16:creationId xmlns:a16="http://schemas.microsoft.com/office/drawing/2014/main" id="{C63FB931-A9CA-420E-ECFB-7649305E8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9963" y="3142240"/>
                <a:ext cx="0" cy="7921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5" name="Line 18">
                <a:extLst>
                  <a:ext uri="{FF2B5EF4-FFF2-40B4-BE49-F238E27FC236}">
                    <a16:creationId xmlns:a16="http://schemas.microsoft.com/office/drawing/2014/main" id="{E763F046-1B90-9A7B-715C-FD174F7DC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3338" y="2278640"/>
                <a:ext cx="0" cy="15113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Text Box 19">
                <a:extLst>
                  <a:ext uri="{FF2B5EF4-FFF2-40B4-BE49-F238E27FC236}">
                    <a16:creationId xmlns:a16="http://schemas.microsoft.com/office/drawing/2014/main" id="{FDC69C96-5724-C7BC-FBE4-2804BF26ED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7075" y="2926340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 dirty="0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fr-FR" altLang="fr-FR" sz="1800" b="1" baseline="-25000" dirty="0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7" name="Text Box 20">
                <a:extLst>
                  <a:ext uri="{FF2B5EF4-FFF2-40B4-BE49-F238E27FC236}">
                    <a16:creationId xmlns:a16="http://schemas.microsoft.com/office/drawing/2014/main" id="{1AFA78BA-8739-A70A-F722-FF4F6A21A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863" y="3215265"/>
                <a:ext cx="420687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 New Roman" panose="02020603050405020304" pitchFamily="18" charset="0"/>
                  </a:rPr>
                  <a:t>R</a:t>
                </a:r>
                <a:r>
                  <a:rPr lang="fr-FR" altLang="fr-FR" sz="1800" baseline="-2500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8" name="Text Box 21">
                <a:extLst>
                  <a:ext uri="{FF2B5EF4-FFF2-40B4-BE49-F238E27FC236}">
                    <a16:creationId xmlns:a16="http://schemas.microsoft.com/office/drawing/2014/main" id="{2C66E5E0-7CD2-602B-8458-22D08A2F7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138" y="3351790"/>
                <a:ext cx="420687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 New Roman" panose="02020603050405020304" pitchFamily="18" charset="0"/>
                  </a:rPr>
                  <a:t>C</a:t>
                </a:r>
                <a:r>
                  <a:rPr lang="fr-FR" altLang="fr-FR" sz="1800" baseline="-2500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9" name="Line 23">
                <a:extLst>
                  <a:ext uri="{FF2B5EF4-FFF2-40B4-BE49-F238E27FC236}">
                    <a16:creationId xmlns:a16="http://schemas.microsoft.com/office/drawing/2014/main" id="{C1622E77-77F0-9713-0EB3-63EF6BF4C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238" y="2207202"/>
                <a:ext cx="3603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Text Box 24">
                <a:extLst>
                  <a:ext uri="{FF2B5EF4-FFF2-40B4-BE49-F238E27FC236}">
                    <a16:creationId xmlns:a16="http://schemas.microsoft.com/office/drawing/2014/main" id="{F2902F7E-DF16-9997-C380-C1DA9CABF8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9238" y="1703965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 dirty="0">
                    <a:latin typeface="Times New Roman" panose="02020603050405020304" pitchFamily="18" charset="0"/>
                  </a:rPr>
                  <a:t>i</a:t>
                </a:r>
                <a:r>
                  <a:rPr lang="fr-FR" altLang="fr-FR" sz="1800" b="1" baseline="-25000" dirty="0"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41" name="Line 26">
                <a:extLst>
                  <a:ext uri="{FF2B5EF4-FFF2-40B4-BE49-F238E27FC236}">
                    <a16:creationId xmlns:a16="http://schemas.microsoft.com/office/drawing/2014/main" id="{019DE656-D8E7-3153-E386-7CE417D32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863" y="2207202"/>
                <a:ext cx="3603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Text Box 27">
                <a:extLst>
                  <a:ext uri="{FF2B5EF4-FFF2-40B4-BE49-F238E27FC236}">
                    <a16:creationId xmlns:a16="http://schemas.microsoft.com/office/drawing/2014/main" id="{F99AE84A-E727-9D29-26C7-D7C2A4436A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863" y="1703965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fr-FR" altLang="fr-FR" sz="1800" b="1" baseline="-2500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24" name="Line 28">
              <a:extLst>
                <a:ext uri="{FF2B5EF4-FFF2-40B4-BE49-F238E27FC236}">
                  <a16:creationId xmlns:a16="http://schemas.microsoft.com/office/drawing/2014/main" id="{B841C1E9-5C5C-F806-3B9A-35E8B8DB5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225" y="2101654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 Box 29">
              <a:extLst>
                <a:ext uri="{FF2B5EF4-FFF2-40B4-BE49-F238E27FC236}">
                  <a16:creationId xmlns:a16="http://schemas.microsoft.com/office/drawing/2014/main" id="{B7A687EA-B87C-A656-149A-C25F2B538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662" y="1958779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8FB3066C-B7AD-E057-405E-F87DD6A7CF87}"/>
              </a:ext>
            </a:extLst>
          </p:cNvPr>
          <p:cNvGrpSpPr/>
          <p:nvPr/>
        </p:nvGrpSpPr>
        <p:grpSpPr>
          <a:xfrm>
            <a:off x="6684964" y="1323081"/>
            <a:ext cx="1635808" cy="1727200"/>
            <a:chOff x="6552182" y="1784384"/>
            <a:chExt cx="1635808" cy="1727200"/>
          </a:xfrm>
        </p:grpSpPr>
        <p:sp>
          <p:nvSpPr>
            <p:cNvPr id="44" name="Line 14">
              <a:extLst>
                <a:ext uri="{FF2B5EF4-FFF2-40B4-BE49-F238E27FC236}">
                  <a16:creationId xmlns:a16="http://schemas.microsoft.com/office/drawing/2014/main" id="{EF462CB4-4A9D-3704-EB5B-068E70690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38" y="1784384"/>
              <a:ext cx="0" cy="7905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5C6C1990-B188-BB53-9C2B-45C73F9C2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575" y="2576547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16">
              <a:extLst>
                <a:ext uri="{FF2B5EF4-FFF2-40B4-BE49-F238E27FC236}">
                  <a16:creationId xmlns:a16="http://schemas.microsoft.com/office/drawing/2014/main" id="{B1CD07F3-914E-68CA-5B54-241CF0C53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575" y="2719422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17">
              <a:extLst>
                <a:ext uri="{FF2B5EF4-FFF2-40B4-BE49-F238E27FC236}">
                  <a16:creationId xmlns:a16="http://schemas.microsoft.com/office/drawing/2014/main" id="{34E8D2FE-E223-2207-C782-2EAFA5D55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38" y="2719422"/>
              <a:ext cx="0" cy="792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AFD5E306-FFCC-6E99-ED9A-5B9E06F68624}"/>
                </a:ext>
              </a:extLst>
            </p:cNvPr>
            <p:cNvSpPr txBox="1"/>
            <p:nvPr/>
          </p:nvSpPr>
          <p:spPr>
            <a:xfrm>
              <a:off x="7742034" y="2417152"/>
              <a:ext cx="445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C</a:t>
              </a:r>
              <a:r>
                <a:rPr lang="fr-FR" sz="2400" b="1" baseline="-25000" dirty="0"/>
                <a:t>S</a:t>
              </a:r>
            </a:p>
          </p:txBody>
        </p:sp>
        <p:sp>
          <p:nvSpPr>
            <p:cNvPr id="49" name="Line 28">
              <a:extLst>
                <a:ext uri="{FF2B5EF4-FFF2-40B4-BE49-F238E27FC236}">
                  <a16:creationId xmlns:a16="http://schemas.microsoft.com/office/drawing/2014/main" id="{DCF40881-DFC8-7234-BEB3-A7FB55532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40" y="1967773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Text Box 29">
              <a:extLst>
                <a:ext uri="{FF2B5EF4-FFF2-40B4-BE49-F238E27FC236}">
                  <a16:creationId xmlns:a16="http://schemas.microsoft.com/office/drawing/2014/main" id="{1C1374C7-9567-2AE9-4201-F9823078C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1377" y="1824898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Line 18">
              <a:extLst>
                <a:ext uri="{FF2B5EF4-FFF2-40B4-BE49-F238E27FC236}">
                  <a16:creationId xmlns:a16="http://schemas.microsoft.com/office/drawing/2014/main" id="{6826F4A1-8201-940A-BE57-D08C38AA3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9282" y="1929010"/>
              <a:ext cx="0" cy="15113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 Box 19">
              <a:extLst>
                <a:ext uri="{FF2B5EF4-FFF2-40B4-BE49-F238E27FC236}">
                  <a16:creationId xmlns:a16="http://schemas.microsoft.com/office/drawing/2014/main" id="{66741BA0-C4E0-BEAA-F7E6-8C0ACEFE2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2182" y="2389223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4B45BA4F-C601-601D-1DF1-9819796A8F0D}"/>
              </a:ext>
            </a:extLst>
          </p:cNvPr>
          <p:cNvGrpSpPr/>
          <p:nvPr/>
        </p:nvGrpSpPr>
        <p:grpSpPr>
          <a:xfrm>
            <a:off x="9128871" y="1126198"/>
            <a:ext cx="2614472" cy="2377437"/>
            <a:chOff x="8996089" y="1587501"/>
            <a:chExt cx="2614472" cy="2377437"/>
          </a:xfrm>
        </p:grpSpPr>
        <p:sp>
          <p:nvSpPr>
            <p:cNvPr id="54" name="Line 14">
              <a:extLst>
                <a:ext uri="{FF2B5EF4-FFF2-40B4-BE49-F238E27FC236}">
                  <a16:creationId xmlns:a16="http://schemas.microsoft.com/office/drawing/2014/main" id="{9B76CF91-1367-E038-E7BA-A90B4D48D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2750" y="1587501"/>
              <a:ext cx="0" cy="585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15">
              <a:extLst>
                <a:ext uri="{FF2B5EF4-FFF2-40B4-BE49-F238E27FC236}">
                  <a16:creationId xmlns:a16="http://schemas.microsoft.com/office/drawing/2014/main" id="{04B7F975-2B99-7BC4-06A8-E355F1550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2387" y="2174450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0D4F3AC5-E333-0304-53D6-AEFFDEFFF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2387" y="2317325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17">
              <a:extLst>
                <a:ext uri="{FF2B5EF4-FFF2-40B4-BE49-F238E27FC236}">
                  <a16:creationId xmlns:a16="http://schemas.microsoft.com/office/drawing/2014/main" id="{72DEC266-6DDE-72AF-9682-8BB092A17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2750" y="2317325"/>
              <a:ext cx="0" cy="4454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Rectangle 9">
              <a:extLst>
                <a:ext uri="{FF2B5EF4-FFF2-40B4-BE49-F238E27FC236}">
                  <a16:creationId xmlns:a16="http://schemas.microsoft.com/office/drawing/2014/main" id="{D76172CB-8FBF-F6F7-A08C-E8ABF434F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2646" y="2773526"/>
              <a:ext cx="259206" cy="73534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C7B596CC-E95E-58A6-76EB-439F83380D9A}"/>
                </a:ext>
              </a:extLst>
            </p:cNvPr>
            <p:cNvSpPr txBox="1"/>
            <p:nvPr/>
          </p:nvSpPr>
          <p:spPr>
            <a:xfrm>
              <a:off x="10289566" y="2008255"/>
              <a:ext cx="445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C</a:t>
              </a:r>
              <a:r>
                <a:rPr lang="fr-FR" sz="2400" b="1" baseline="-25000" dirty="0"/>
                <a:t>S</a:t>
              </a:r>
            </a:p>
          </p:txBody>
        </p:sp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88FD3DF4-B3AD-EA8B-FE72-3A763B694176}"/>
                </a:ext>
              </a:extLst>
            </p:cNvPr>
            <p:cNvSpPr txBox="1"/>
            <p:nvPr/>
          </p:nvSpPr>
          <p:spPr>
            <a:xfrm>
              <a:off x="10289566" y="2918008"/>
              <a:ext cx="6513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ESR</a:t>
              </a:r>
            </a:p>
          </p:txBody>
        </p:sp>
        <p:sp>
          <p:nvSpPr>
            <p:cNvPr id="61" name="Line 17">
              <a:extLst>
                <a:ext uri="{FF2B5EF4-FFF2-40B4-BE49-F238E27FC236}">
                  <a16:creationId xmlns:a16="http://schemas.microsoft.com/office/drawing/2014/main" id="{0EFCC0D1-8DD8-DDC9-6DAD-1A5A363BC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1956" y="3519519"/>
              <a:ext cx="0" cy="4454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Line 28">
              <a:extLst>
                <a:ext uri="{FF2B5EF4-FFF2-40B4-BE49-F238E27FC236}">
                  <a16:creationId xmlns:a16="http://schemas.microsoft.com/office/drawing/2014/main" id="{FFB9F8A2-C415-1386-BBAD-4D306BFB4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7945" y="1888398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Text Box 29">
              <a:extLst>
                <a:ext uri="{FF2B5EF4-FFF2-40B4-BE49-F238E27FC236}">
                  <a16:creationId xmlns:a16="http://schemas.microsoft.com/office/drawing/2014/main" id="{333E6FC3-11AA-960E-B474-7902C2F1E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9382" y="1745523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id="{AAB2D00A-EC4C-1161-F00B-DDC59115E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406964" y="1894899"/>
              <a:ext cx="6908" cy="19246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Text Box 19">
              <a:extLst>
                <a:ext uri="{FF2B5EF4-FFF2-40B4-BE49-F238E27FC236}">
                  <a16:creationId xmlns:a16="http://schemas.microsoft.com/office/drawing/2014/main" id="{062BF1E2-F295-677B-63BB-EE6696956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6089" y="2667069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6" name="Line 18">
              <a:extLst>
                <a:ext uri="{FF2B5EF4-FFF2-40B4-BE49-F238E27FC236}">
                  <a16:creationId xmlns:a16="http://schemas.microsoft.com/office/drawing/2014/main" id="{3392B640-9F77-1AB2-14FE-7E6C4096A2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45287" y="1713263"/>
              <a:ext cx="0" cy="9191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4299B788-7C89-4806-3F44-524BEF6CF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9786" y="1967247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Line 18">
              <a:extLst>
                <a:ext uri="{FF2B5EF4-FFF2-40B4-BE49-F238E27FC236}">
                  <a16:creationId xmlns:a16="http://schemas.microsoft.com/office/drawing/2014/main" id="{C0AD5FD5-DE91-827A-609E-4E6608990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45288" y="2646595"/>
              <a:ext cx="0" cy="11729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Text Box 19">
              <a:extLst>
                <a:ext uri="{FF2B5EF4-FFF2-40B4-BE49-F238E27FC236}">
                  <a16:creationId xmlns:a16="http://schemas.microsoft.com/office/drawing/2014/main" id="{BDA1FCB9-B2EF-4DA2-01B3-EFAEDC7C0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9786" y="2900580"/>
              <a:ext cx="64077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ESR</a:t>
              </a:r>
              <a:endPara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" name="Groupe 203">
            <a:extLst>
              <a:ext uri="{FF2B5EF4-FFF2-40B4-BE49-F238E27FC236}">
                <a16:creationId xmlns:a16="http://schemas.microsoft.com/office/drawing/2014/main" id="{903C307E-2242-3AA8-6676-B6D37C9E8411}"/>
              </a:ext>
            </a:extLst>
          </p:cNvPr>
          <p:cNvGrpSpPr/>
          <p:nvPr/>
        </p:nvGrpSpPr>
        <p:grpSpPr>
          <a:xfrm>
            <a:off x="2671264" y="3013768"/>
            <a:ext cx="3715486" cy="3655474"/>
            <a:chOff x="2612655" y="2994812"/>
            <a:chExt cx="3715486" cy="3655474"/>
          </a:xfrm>
        </p:grpSpPr>
        <p:grpSp>
          <p:nvGrpSpPr>
            <p:cNvPr id="196" name="Groupe 195">
              <a:extLst>
                <a:ext uri="{FF2B5EF4-FFF2-40B4-BE49-F238E27FC236}">
                  <a16:creationId xmlns:a16="http://schemas.microsoft.com/office/drawing/2014/main" id="{C20DD06B-E2A7-B1E6-E1C4-B3632E0A3CDB}"/>
                </a:ext>
              </a:extLst>
            </p:cNvPr>
            <p:cNvGrpSpPr/>
            <p:nvPr/>
          </p:nvGrpSpPr>
          <p:grpSpPr>
            <a:xfrm>
              <a:off x="2612655" y="2994812"/>
              <a:ext cx="3715486" cy="3475102"/>
              <a:chOff x="6449147" y="794602"/>
              <a:chExt cx="5253037" cy="5400675"/>
            </a:xfrm>
          </p:grpSpPr>
          <p:grpSp>
            <p:nvGrpSpPr>
              <p:cNvPr id="127" name="Group 85">
                <a:extLst>
                  <a:ext uri="{FF2B5EF4-FFF2-40B4-BE49-F238E27FC236}">
                    <a16:creationId xmlns:a16="http://schemas.microsoft.com/office/drawing/2014/main" id="{DA17AF7C-247F-20DE-920D-9F82704C9A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98372" y="1299427"/>
                <a:ext cx="4108450" cy="1008062"/>
                <a:chOff x="2290" y="1298"/>
                <a:chExt cx="2588" cy="635"/>
              </a:xfrm>
            </p:grpSpPr>
            <p:sp>
              <p:nvSpPr>
                <p:cNvPr id="128" name="Line 51">
                  <a:extLst>
                    <a:ext uri="{FF2B5EF4-FFF2-40B4-BE49-F238E27FC236}">
                      <a16:creationId xmlns:a16="http://schemas.microsoft.com/office/drawing/2014/main" id="{3C070F1B-05F8-85B5-6A6D-CA5F74C234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5" y="1298"/>
                  <a:ext cx="456" cy="272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29" name="Line 53">
                  <a:extLst>
                    <a:ext uri="{FF2B5EF4-FFF2-40B4-BE49-F238E27FC236}">
                      <a16:creationId xmlns:a16="http://schemas.microsoft.com/office/drawing/2014/main" id="{228BA35F-AFA2-4780-1CB7-3C03D0802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58" y="1298"/>
                  <a:ext cx="320" cy="184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30" name="Line 80">
                  <a:extLst>
                    <a:ext uri="{FF2B5EF4-FFF2-40B4-BE49-F238E27FC236}">
                      <a16:creationId xmlns:a16="http://schemas.microsoft.com/office/drawing/2014/main" id="{FE5C24CD-CFB3-99B2-08A5-EDA5EC877A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0" y="1933"/>
                  <a:ext cx="908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31" name="Line 81">
                  <a:extLst>
                    <a:ext uri="{FF2B5EF4-FFF2-40B4-BE49-F238E27FC236}">
                      <a16:creationId xmlns:a16="http://schemas.microsoft.com/office/drawing/2014/main" id="{24B5878E-7787-748B-2C14-D699EB067B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98" y="1298"/>
                  <a:ext cx="0" cy="635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32" name="Line 82">
                  <a:extLst>
                    <a:ext uri="{FF2B5EF4-FFF2-40B4-BE49-F238E27FC236}">
                      <a16:creationId xmlns:a16="http://schemas.microsoft.com/office/drawing/2014/main" id="{55477647-042F-4DC0-AE45-229E5CD4B2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51" y="1570"/>
                  <a:ext cx="0" cy="363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33" name="Line 83">
                  <a:extLst>
                    <a:ext uri="{FF2B5EF4-FFF2-40B4-BE49-F238E27FC236}">
                      <a16:creationId xmlns:a16="http://schemas.microsoft.com/office/drawing/2014/main" id="{EB2A1E44-DA56-0ED1-1D8B-3E3FB804B4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51" y="1933"/>
                  <a:ext cx="907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34" name="Line 84">
                  <a:extLst>
                    <a:ext uri="{FF2B5EF4-FFF2-40B4-BE49-F238E27FC236}">
                      <a16:creationId xmlns:a16="http://schemas.microsoft.com/office/drawing/2014/main" id="{829791C9-99B5-AF07-A22B-8FB6EA6413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58" y="1298"/>
                  <a:ext cx="0" cy="635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35" name="Group 111">
                <a:extLst>
                  <a:ext uri="{FF2B5EF4-FFF2-40B4-BE49-F238E27FC236}">
                    <a16:creationId xmlns:a16="http://schemas.microsoft.com/office/drawing/2014/main" id="{6209BF8E-AE9D-E7ED-0883-D77C800A37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49147" y="2810727"/>
                <a:ext cx="4397375" cy="1439862"/>
                <a:chOff x="2605" y="1661"/>
                <a:chExt cx="2770" cy="907"/>
              </a:xfrm>
            </p:grpSpPr>
            <p:grpSp>
              <p:nvGrpSpPr>
                <p:cNvPr id="136" name="Group 108">
                  <a:extLst>
                    <a:ext uri="{FF2B5EF4-FFF2-40B4-BE49-F238E27FC236}">
                      <a16:creationId xmlns:a16="http://schemas.microsoft.com/office/drawing/2014/main" id="{1CF5BFD0-2DB8-6FF5-F7C8-3CE5BE93A8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05" y="1706"/>
                  <a:ext cx="2770" cy="862"/>
                  <a:chOff x="2605" y="1706"/>
                  <a:chExt cx="2770" cy="862"/>
                </a:xfrm>
              </p:grpSpPr>
              <p:grpSp>
                <p:nvGrpSpPr>
                  <p:cNvPr id="138" name="Group 86">
                    <a:extLst>
                      <a:ext uri="{FF2B5EF4-FFF2-40B4-BE49-F238E27FC236}">
                        <a16:creationId xmlns:a16="http://schemas.microsoft.com/office/drawing/2014/main" id="{36B25BB5-BA46-BF1F-F5D3-93482B2E80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05" y="2269"/>
                    <a:ext cx="2770" cy="56"/>
                    <a:chOff x="300" y="5640"/>
                    <a:chExt cx="6925" cy="140"/>
                  </a:xfrm>
                </p:grpSpPr>
                <p:sp>
                  <p:nvSpPr>
                    <p:cNvPr id="148" name="Freeform 87">
                      <a:extLst>
                        <a:ext uri="{FF2B5EF4-FFF2-40B4-BE49-F238E27FC236}">
                          <a16:creationId xmlns:a16="http://schemas.microsoft.com/office/drawing/2014/main" id="{77C5FDD5-79FE-A500-BB4F-5BCFCAD18A8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945" y="5640"/>
                      <a:ext cx="280" cy="140"/>
                    </a:xfrm>
                    <a:custGeom>
                      <a:avLst/>
                      <a:gdLst>
                        <a:gd name="T0" fmla="*/ 280 w 280"/>
                        <a:gd name="T1" fmla="*/ 80 h 140"/>
                        <a:gd name="T2" fmla="*/ 0 w 280"/>
                        <a:gd name="T3" fmla="*/ 140 h 140"/>
                        <a:gd name="T4" fmla="*/ 0 w 280"/>
                        <a:gd name="T5" fmla="*/ 80 h 140"/>
                        <a:gd name="T6" fmla="*/ 0 w 280"/>
                        <a:gd name="T7" fmla="*/ 0 h 140"/>
                        <a:gd name="T8" fmla="*/ 280 w 280"/>
                        <a:gd name="T9" fmla="*/ 80 h 1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280" h="140">
                          <a:moveTo>
                            <a:pt x="280" y="80"/>
                          </a:moveTo>
                          <a:lnTo>
                            <a:pt x="0" y="140"/>
                          </a:lnTo>
                          <a:lnTo>
                            <a:pt x="0" y="80"/>
                          </a:lnTo>
                          <a:lnTo>
                            <a:pt x="0" y="0"/>
                          </a:lnTo>
                          <a:lnTo>
                            <a:pt x="280" y="8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9" name="Line 88">
                      <a:extLst>
                        <a:ext uri="{FF2B5EF4-FFF2-40B4-BE49-F238E27FC236}">
                          <a16:creationId xmlns:a16="http://schemas.microsoft.com/office/drawing/2014/main" id="{E49BEACD-82F7-CD62-76FB-ABFE2DF68B8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0" y="5720"/>
                      <a:ext cx="6645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139" name="Line 89">
                    <a:extLst>
                      <a:ext uri="{FF2B5EF4-FFF2-40B4-BE49-F238E27FC236}">
                        <a16:creationId xmlns:a16="http://schemas.microsoft.com/office/drawing/2014/main" id="{F8B63DCE-11C0-C0FB-1782-AA731DEDB1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99" y="1706"/>
                    <a:ext cx="0" cy="86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grpSp>
                <p:nvGrpSpPr>
                  <p:cNvPr id="140" name="Group 90">
                    <a:extLst>
                      <a:ext uri="{FF2B5EF4-FFF2-40B4-BE49-F238E27FC236}">
                        <a16:creationId xmlns:a16="http://schemas.microsoft.com/office/drawing/2014/main" id="{0E0700CE-52DF-8864-34E8-3F31E92D3D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9" y="1797"/>
                    <a:ext cx="2588" cy="635"/>
                    <a:chOff x="2290" y="1298"/>
                    <a:chExt cx="2588" cy="635"/>
                  </a:xfrm>
                </p:grpSpPr>
                <p:sp>
                  <p:nvSpPr>
                    <p:cNvPr id="141" name="Line 91">
                      <a:extLst>
                        <a:ext uri="{FF2B5EF4-FFF2-40B4-BE49-F238E27FC236}">
                          <a16:creationId xmlns:a16="http://schemas.microsoft.com/office/drawing/2014/main" id="{3ABDB393-89F6-0561-91CC-F5B73FA01CA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95" y="1298"/>
                      <a:ext cx="456" cy="272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99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2" name="Line 92">
                      <a:extLst>
                        <a:ext uri="{FF2B5EF4-FFF2-40B4-BE49-F238E27FC236}">
                          <a16:creationId xmlns:a16="http://schemas.microsoft.com/office/drawing/2014/main" id="{C38C1202-D013-0587-9BC1-7FE16187CF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558" y="1298"/>
                      <a:ext cx="320" cy="18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99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3" name="Line 93">
                      <a:extLst>
                        <a:ext uri="{FF2B5EF4-FFF2-40B4-BE49-F238E27FC236}">
                          <a16:creationId xmlns:a16="http://schemas.microsoft.com/office/drawing/2014/main" id="{59B8C956-4667-1349-39E4-A68BFB927D0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0" y="1933"/>
                      <a:ext cx="908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99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4" name="Line 94">
                      <a:extLst>
                        <a:ext uri="{FF2B5EF4-FFF2-40B4-BE49-F238E27FC236}">
                          <a16:creationId xmlns:a16="http://schemas.microsoft.com/office/drawing/2014/main" id="{A71F36A6-DBAB-880A-2F5B-F346D6690CC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198" y="1298"/>
                      <a:ext cx="0" cy="63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99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5" name="Line 95">
                      <a:extLst>
                        <a:ext uri="{FF2B5EF4-FFF2-40B4-BE49-F238E27FC236}">
                          <a16:creationId xmlns:a16="http://schemas.microsoft.com/office/drawing/2014/main" id="{E9D73DE1-F82F-8B63-9C62-C8F2A073A2B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51" y="1570"/>
                      <a:ext cx="0" cy="363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99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6" name="Line 96">
                      <a:extLst>
                        <a:ext uri="{FF2B5EF4-FFF2-40B4-BE49-F238E27FC236}">
                          <a16:creationId xmlns:a16="http://schemas.microsoft.com/office/drawing/2014/main" id="{33E80C0B-E8E4-E0E1-D7E8-DF15B7892E5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51" y="1933"/>
                      <a:ext cx="907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99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47" name="Line 97">
                      <a:extLst>
                        <a:ext uri="{FF2B5EF4-FFF2-40B4-BE49-F238E27FC236}">
                          <a16:creationId xmlns:a16="http://schemas.microsoft.com/office/drawing/2014/main" id="{5322A790-E40D-E0AC-5CE2-B1AA4569EF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558" y="1298"/>
                      <a:ext cx="0" cy="63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99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137" name="Text Box 110">
                  <a:extLst>
                    <a:ext uri="{FF2B5EF4-FFF2-40B4-BE49-F238E27FC236}">
                      <a16:creationId xmlns:a16="http://schemas.microsoft.com/office/drawing/2014/main" id="{DBCFD53C-06F8-0048-DF7D-92F45CE7CB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44" y="1661"/>
                  <a:ext cx="405" cy="3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fr-FR" altLang="fr-FR" sz="1800" b="1" dirty="0" err="1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i</a:t>
                  </a:r>
                  <a:r>
                    <a:rPr lang="fr-FR" altLang="fr-FR" sz="1800" b="1" baseline="-25000" dirty="0" err="1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C</a:t>
                  </a:r>
                  <a:endParaRPr lang="fr-FR" altLang="fr-FR" sz="1800" b="1" baseline="-25000" dirty="0">
                    <a:solidFill>
                      <a:srgbClr val="0099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0" name="Group 113">
                <a:extLst>
                  <a:ext uri="{FF2B5EF4-FFF2-40B4-BE49-F238E27FC236}">
                    <a16:creationId xmlns:a16="http://schemas.microsoft.com/office/drawing/2014/main" id="{B53D2D98-6988-95B8-97DE-EFB6DB5885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49147" y="4323614"/>
                <a:ext cx="5253037" cy="1871663"/>
                <a:chOff x="2605" y="2614"/>
                <a:chExt cx="3309" cy="1179"/>
              </a:xfrm>
            </p:grpSpPr>
            <p:grpSp>
              <p:nvGrpSpPr>
                <p:cNvPr id="151" name="Group 109">
                  <a:extLst>
                    <a:ext uri="{FF2B5EF4-FFF2-40B4-BE49-F238E27FC236}">
                      <a16:creationId xmlns:a16="http://schemas.microsoft.com/office/drawing/2014/main" id="{D2C2FD59-6874-2FB1-6E35-6EA80E2039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05" y="2659"/>
                  <a:ext cx="3309" cy="1134"/>
                  <a:chOff x="2605" y="2659"/>
                  <a:chExt cx="3309" cy="1134"/>
                </a:xfrm>
              </p:grpSpPr>
              <p:grpSp>
                <p:nvGrpSpPr>
                  <p:cNvPr id="153" name="Group 98">
                    <a:extLst>
                      <a:ext uri="{FF2B5EF4-FFF2-40B4-BE49-F238E27FC236}">
                        <a16:creationId xmlns:a16="http://schemas.microsoft.com/office/drawing/2014/main" id="{E94B41BA-2A01-670F-D45A-37A7F0353CA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05" y="3646"/>
                    <a:ext cx="2770" cy="56"/>
                    <a:chOff x="300" y="5640"/>
                    <a:chExt cx="6925" cy="140"/>
                  </a:xfrm>
                </p:grpSpPr>
                <p:sp>
                  <p:nvSpPr>
                    <p:cNvPr id="161" name="Freeform 99">
                      <a:extLst>
                        <a:ext uri="{FF2B5EF4-FFF2-40B4-BE49-F238E27FC236}">
                          <a16:creationId xmlns:a16="http://schemas.microsoft.com/office/drawing/2014/main" id="{D8352405-1BB3-E568-273F-55BEDAC38AD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945" y="5640"/>
                      <a:ext cx="280" cy="140"/>
                    </a:xfrm>
                    <a:custGeom>
                      <a:avLst/>
                      <a:gdLst>
                        <a:gd name="T0" fmla="*/ 280 w 280"/>
                        <a:gd name="T1" fmla="*/ 80 h 140"/>
                        <a:gd name="T2" fmla="*/ 0 w 280"/>
                        <a:gd name="T3" fmla="*/ 140 h 140"/>
                        <a:gd name="T4" fmla="*/ 0 w 280"/>
                        <a:gd name="T5" fmla="*/ 80 h 140"/>
                        <a:gd name="T6" fmla="*/ 0 w 280"/>
                        <a:gd name="T7" fmla="*/ 0 h 140"/>
                        <a:gd name="T8" fmla="*/ 280 w 280"/>
                        <a:gd name="T9" fmla="*/ 80 h 14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280" h="140">
                          <a:moveTo>
                            <a:pt x="280" y="80"/>
                          </a:moveTo>
                          <a:lnTo>
                            <a:pt x="0" y="140"/>
                          </a:lnTo>
                          <a:lnTo>
                            <a:pt x="0" y="80"/>
                          </a:lnTo>
                          <a:lnTo>
                            <a:pt x="0" y="0"/>
                          </a:lnTo>
                          <a:lnTo>
                            <a:pt x="280" y="8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62" name="Line 100">
                      <a:extLst>
                        <a:ext uri="{FF2B5EF4-FFF2-40B4-BE49-F238E27FC236}">
                          <a16:creationId xmlns:a16="http://schemas.microsoft.com/office/drawing/2014/main" id="{C420BD74-9233-B0C4-616F-C24F27E3C03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0" y="5720"/>
                      <a:ext cx="6645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154" name="Line 101">
                    <a:extLst>
                      <a:ext uri="{FF2B5EF4-FFF2-40B4-BE49-F238E27FC236}">
                        <a16:creationId xmlns:a16="http://schemas.microsoft.com/office/drawing/2014/main" id="{40029ED6-EAA1-72F0-C2BA-810519C6B3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99" y="2659"/>
                    <a:ext cx="0" cy="113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5" name="Line 102">
                    <a:extLst>
                      <a:ext uri="{FF2B5EF4-FFF2-40B4-BE49-F238E27FC236}">
                        <a16:creationId xmlns:a16="http://schemas.microsoft.com/office/drawing/2014/main" id="{B1064566-D5FD-B9BF-56A1-0F57643249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99" y="2886"/>
                    <a:ext cx="907" cy="317"/>
                  </a:xfrm>
                  <a:prstGeom prst="line">
                    <a:avLst/>
                  </a:prstGeom>
                  <a:noFill/>
                  <a:ln w="28575">
                    <a:solidFill>
                      <a:srgbClr val="0033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6" name="Arc 103">
                    <a:extLst>
                      <a:ext uri="{FF2B5EF4-FFF2-40B4-BE49-F238E27FC236}">
                        <a16:creationId xmlns:a16="http://schemas.microsoft.com/office/drawing/2014/main" id="{9BB98203-5172-E3EA-983A-AB047C2D10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6459284" flipH="1" flipV="1">
                    <a:off x="3888" y="2674"/>
                    <a:ext cx="418" cy="915"/>
                  </a:xfrm>
                  <a:custGeom>
                    <a:avLst/>
                    <a:gdLst>
                      <a:gd name="T0" fmla="*/ 0 w 18662"/>
                      <a:gd name="T1" fmla="*/ 0 h 21600"/>
                      <a:gd name="T2" fmla="*/ 0 w 18662"/>
                      <a:gd name="T3" fmla="*/ 0 h 21600"/>
                      <a:gd name="T4" fmla="*/ 0 w 18662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8662" h="21600" fill="none" extrusionOk="0">
                        <a:moveTo>
                          <a:pt x="-1" y="96"/>
                        </a:moveTo>
                        <a:cubicBezTo>
                          <a:pt x="678" y="32"/>
                          <a:pt x="1359" y="-1"/>
                          <a:pt x="2041" y="0"/>
                        </a:cubicBezTo>
                        <a:cubicBezTo>
                          <a:pt x="8466" y="0"/>
                          <a:pt x="14558" y="2860"/>
                          <a:pt x="18662" y="7804"/>
                        </a:cubicBezTo>
                      </a:path>
                      <a:path w="18662" h="21600" stroke="0" extrusionOk="0">
                        <a:moveTo>
                          <a:pt x="-1" y="96"/>
                        </a:moveTo>
                        <a:cubicBezTo>
                          <a:pt x="678" y="32"/>
                          <a:pt x="1359" y="-1"/>
                          <a:pt x="2041" y="0"/>
                        </a:cubicBezTo>
                        <a:cubicBezTo>
                          <a:pt x="8466" y="0"/>
                          <a:pt x="14558" y="2860"/>
                          <a:pt x="18662" y="7804"/>
                        </a:cubicBezTo>
                        <a:lnTo>
                          <a:pt x="2041" y="21600"/>
                        </a:lnTo>
                        <a:lnTo>
                          <a:pt x="-1" y="96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0033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157" name="Line 104">
                    <a:extLst>
                      <a:ext uri="{FF2B5EF4-FFF2-40B4-BE49-F238E27FC236}">
                        <a16:creationId xmlns:a16="http://schemas.microsoft.com/office/drawing/2014/main" id="{94ED170C-CB1F-1FDA-71DD-8542FD439F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08" y="2886"/>
                    <a:ext cx="2359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8" name="Line 105">
                    <a:extLst>
                      <a:ext uri="{FF2B5EF4-FFF2-40B4-BE49-F238E27FC236}">
                        <a16:creationId xmlns:a16="http://schemas.microsoft.com/office/drawing/2014/main" id="{826EB4C9-8E5C-71A5-34FE-771BC27DC8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9" y="2886"/>
                    <a:ext cx="907" cy="317"/>
                  </a:xfrm>
                  <a:prstGeom prst="line">
                    <a:avLst/>
                  </a:prstGeom>
                  <a:noFill/>
                  <a:ln w="28575">
                    <a:solidFill>
                      <a:srgbClr val="0033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9" name="Arc 106">
                    <a:extLst>
                      <a:ext uri="{FF2B5EF4-FFF2-40B4-BE49-F238E27FC236}">
                        <a16:creationId xmlns:a16="http://schemas.microsoft.com/office/drawing/2014/main" id="{836F3462-D37E-60ED-E602-23B6AF8BB7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6459284" flipH="1" flipV="1">
                    <a:off x="5248" y="2674"/>
                    <a:ext cx="418" cy="915"/>
                  </a:xfrm>
                  <a:custGeom>
                    <a:avLst/>
                    <a:gdLst>
                      <a:gd name="T0" fmla="*/ 0 w 18662"/>
                      <a:gd name="T1" fmla="*/ 0 h 21600"/>
                      <a:gd name="T2" fmla="*/ 0 w 18662"/>
                      <a:gd name="T3" fmla="*/ 0 h 21600"/>
                      <a:gd name="T4" fmla="*/ 0 w 18662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8662" h="21600" fill="none" extrusionOk="0">
                        <a:moveTo>
                          <a:pt x="-1" y="96"/>
                        </a:moveTo>
                        <a:cubicBezTo>
                          <a:pt x="678" y="32"/>
                          <a:pt x="1359" y="-1"/>
                          <a:pt x="2041" y="0"/>
                        </a:cubicBezTo>
                        <a:cubicBezTo>
                          <a:pt x="8466" y="0"/>
                          <a:pt x="14558" y="2860"/>
                          <a:pt x="18662" y="7804"/>
                        </a:cubicBezTo>
                      </a:path>
                      <a:path w="18662" h="21600" stroke="0" extrusionOk="0">
                        <a:moveTo>
                          <a:pt x="-1" y="96"/>
                        </a:moveTo>
                        <a:cubicBezTo>
                          <a:pt x="678" y="32"/>
                          <a:pt x="1359" y="-1"/>
                          <a:pt x="2041" y="0"/>
                        </a:cubicBezTo>
                        <a:cubicBezTo>
                          <a:pt x="8466" y="0"/>
                          <a:pt x="14558" y="2860"/>
                          <a:pt x="18662" y="7804"/>
                        </a:cubicBezTo>
                        <a:lnTo>
                          <a:pt x="2041" y="21600"/>
                        </a:lnTo>
                        <a:lnTo>
                          <a:pt x="-1" y="96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rgbClr val="0033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160" name="Line 107">
                    <a:extLst>
                      <a:ext uri="{FF2B5EF4-FFF2-40B4-BE49-F238E27FC236}">
                        <a16:creationId xmlns:a16="http://schemas.microsoft.com/office/drawing/2014/main" id="{E2D8F111-09E0-21F1-1F51-2CAC45DACE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08" y="3203"/>
                    <a:ext cx="2359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52" name="Text Box 112">
                  <a:extLst>
                    <a:ext uri="{FF2B5EF4-FFF2-40B4-BE49-F238E27FC236}">
                      <a16:creationId xmlns:a16="http://schemas.microsoft.com/office/drawing/2014/main" id="{B5E03AD2-91F1-3AA7-3583-6F4BD12522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44" y="2614"/>
                  <a:ext cx="407" cy="3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fr-FR" altLang="fr-FR" sz="1800" b="1" dirty="0" err="1">
                      <a:solidFill>
                        <a:srgbClr val="0033CC"/>
                      </a:solidFill>
                      <a:latin typeface="Times New Roman" panose="02020603050405020304" pitchFamily="18" charset="0"/>
                    </a:rPr>
                    <a:t>v</a:t>
                  </a:r>
                  <a:r>
                    <a:rPr lang="fr-FR" altLang="fr-FR" sz="1800" b="1" baseline="-25000" dirty="0" err="1">
                      <a:solidFill>
                        <a:srgbClr val="0033CC"/>
                      </a:solidFill>
                      <a:latin typeface="Times New Roman" panose="02020603050405020304" pitchFamily="18" charset="0"/>
                    </a:rPr>
                    <a:t>C</a:t>
                  </a:r>
                  <a:endParaRPr lang="fr-FR" altLang="fr-FR" sz="1800" b="1" baseline="-25000" dirty="0">
                    <a:solidFill>
                      <a:srgbClr val="0033CC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3" name="Group 116">
                <a:extLst>
                  <a:ext uri="{FF2B5EF4-FFF2-40B4-BE49-F238E27FC236}">
                    <a16:creationId xmlns:a16="http://schemas.microsoft.com/office/drawing/2014/main" id="{28EC9CF5-DB72-32DE-0513-3FF205C754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53909" y="794602"/>
                <a:ext cx="4397375" cy="5113337"/>
                <a:chOff x="2608" y="391"/>
                <a:chExt cx="2770" cy="3221"/>
              </a:xfrm>
            </p:grpSpPr>
            <p:grpSp>
              <p:nvGrpSpPr>
                <p:cNvPr id="164" name="Group 22">
                  <a:extLst>
                    <a:ext uri="{FF2B5EF4-FFF2-40B4-BE49-F238E27FC236}">
                      <a16:creationId xmlns:a16="http://schemas.microsoft.com/office/drawing/2014/main" id="{0200DF32-2FB6-CB98-0C9A-F83637B30F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08" y="1317"/>
                  <a:ext cx="2770" cy="56"/>
                  <a:chOff x="300" y="5640"/>
                  <a:chExt cx="6925" cy="140"/>
                </a:xfrm>
              </p:grpSpPr>
              <p:sp>
                <p:nvSpPr>
                  <p:cNvPr id="194" name="Freeform 23">
                    <a:extLst>
                      <a:ext uri="{FF2B5EF4-FFF2-40B4-BE49-F238E27FC236}">
                        <a16:creationId xmlns:a16="http://schemas.microsoft.com/office/drawing/2014/main" id="{85C59D71-11E4-2788-D64D-ED552967F7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945" y="5640"/>
                    <a:ext cx="280" cy="140"/>
                  </a:xfrm>
                  <a:custGeom>
                    <a:avLst/>
                    <a:gdLst>
                      <a:gd name="T0" fmla="*/ 280 w 280"/>
                      <a:gd name="T1" fmla="*/ 80 h 140"/>
                      <a:gd name="T2" fmla="*/ 0 w 280"/>
                      <a:gd name="T3" fmla="*/ 140 h 140"/>
                      <a:gd name="T4" fmla="*/ 0 w 280"/>
                      <a:gd name="T5" fmla="*/ 80 h 140"/>
                      <a:gd name="T6" fmla="*/ 0 w 280"/>
                      <a:gd name="T7" fmla="*/ 0 h 140"/>
                      <a:gd name="T8" fmla="*/ 280 w 280"/>
                      <a:gd name="T9" fmla="*/ 80 h 1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80" h="140">
                        <a:moveTo>
                          <a:pt x="280" y="80"/>
                        </a:moveTo>
                        <a:lnTo>
                          <a:pt x="0" y="140"/>
                        </a:lnTo>
                        <a:lnTo>
                          <a:pt x="0" y="80"/>
                        </a:lnTo>
                        <a:lnTo>
                          <a:pt x="0" y="0"/>
                        </a:lnTo>
                        <a:lnTo>
                          <a:pt x="280" y="8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95" name="Line 24">
                    <a:extLst>
                      <a:ext uri="{FF2B5EF4-FFF2-40B4-BE49-F238E27FC236}">
                        <a16:creationId xmlns:a16="http://schemas.microsoft.com/office/drawing/2014/main" id="{5ABDA10C-719B-8D8E-6D37-D7AA9C039C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0" y="5720"/>
                    <a:ext cx="6645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65" name="Rectangle 25">
                  <a:extLst>
                    <a:ext uri="{FF2B5EF4-FFF2-40B4-BE49-F238E27FC236}">
                      <a16:creationId xmlns:a16="http://schemas.microsoft.com/office/drawing/2014/main" id="{4BC8CB79-7CD1-EC4D-E0C0-786694F662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46" y="1141"/>
                  <a:ext cx="27" cy="1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fr-FR" sz="1200">
                      <a:solidFill>
                        <a:srgbClr val="000000"/>
                      </a:solidFill>
                      <a:latin typeface="Times" panose="02020603050405020304" pitchFamily="18" charset="0"/>
                    </a:rPr>
                    <a:t>t</a:t>
                  </a: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66" name="Group 26">
                  <a:extLst>
                    <a:ext uri="{FF2B5EF4-FFF2-40B4-BE49-F238E27FC236}">
                      <a16:creationId xmlns:a16="http://schemas.microsoft.com/office/drawing/2014/main" id="{FD9E0213-EBBA-15EC-5EE1-74AF4ACD98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32" y="845"/>
                  <a:ext cx="2658" cy="0"/>
                  <a:chOff x="360" y="4460"/>
                  <a:chExt cx="6645" cy="1"/>
                </a:xfrm>
              </p:grpSpPr>
              <p:sp>
                <p:nvSpPr>
                  <p:cNvPr id="175" name="Line 27">
                    <a:extLst>
                      <a:ext uri="{FF2B5EF4-FFF2-40B4-BE49-F238E27FC236}">
                        <a16:creationId xmlns:a16="http://schemas.microsoft.com/office/drawing/2014/main" id="{AC2330BD-4BB8-96C9-5DFC-96BC073C07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6" name="Line 28">
                    <a:extLst>
                      <a:ext uri="{FF2B5EF4-FFF2-40B4-BE49-F238E27FC236}">
                        <a16:creationId xmlns:a16="http://schemas.microsoft.com/office/drawing/2014/main" id="{03766CEA-BB30-7A17-0E35-1C2DB88593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720" y="4460"/>
                    <a:ext cx="161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7" name="Line 29">
                    <a:extLst>
                      <a:ext uri="{FF2B5EF4-FFF2-40B4-BE49-F238E27FC236}">
                        <a16:creationId xmlns:a16="http://schemas.microsoft.com/office/drawing/2014/main" id="{E0074333-6531-ADA9-81D9-F1D94E1FE3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81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8" name="Line 30">
                    <a:extLst>
                      <a:ext uri="{FF2B5EF4-FFF2-40B4-BE49-F238E27FC236}">
                        <a16:creationId xmlns:a16="http://schemas.microsoft.com/office/drawing/2014/main" id="{8AD4333B-4A32-6D3C-D447-DF893341C4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41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79" name="Line 31">
                    <a:extLst>
                      <a:ext uri="{FF2B5EF4-FFF2-40B4-BE49-F238E27FC236}">
                        <a16:creationId xmlns:a16="http://schemas.microsoft.com/office/drawing/2014/main" id="{924F802D-DC46-142D-2D4B-77E8AFF3AC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01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0" name="Line 32">
                    <a:extLst>
                      <a:ext uri="{FF2B5EF4-FFF2-40B4-BE49-F238E27FC236}">
                        <a16:creationId xmlns:a16="http://schemas.microsoft.com/office/drawing/2014/main" id="{27579A62-22BD-DDBE-6D7A-5350B270AF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61" y="4460"/>
                    <a:ext cx="161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1" name="Line 33">
                    <a:extLst>
                      <a:ext uri="{FF2B5EF4-FFF2-40B4-BE49-F238E27FC236}">
                        <a16:creationId xmlns:a16="http://schemas.microsoft.com/office/drawing/2014/main" id="{B47ED484-ACD6-939C-3D50-B531D3B5F4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22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2" name="Line 34">
                    <a:extLst>
                      <a:ext uri="{FF2B5EF4-FFF2-40B4-BE49-F238E27FC236}">
                        <a16:creationId xmlns:a16="http://schemas.microsoft.com/office/drawing/2014/main" id="{5114B315-F8DD-B1FA-2FB7-F740EF31C1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82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3" name="Line 35">
                    <a:extLst>
                      <a:ext uri="{FF2B5EF4-FFF2-40B4-BE49-F238E27FC236}">
                        <a16:creationId xmlns:a16="http://schemas.microsoft.com/office/drawing/2014/main" id="{1CC79E9E-33EE-C931-A915-2BFA35CE71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42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4" name="Line 36">
                    <a:extLst>
                      <a:ext uri="{FF2B5EF4-FFF2-40B4-BE49-F238E27FC236}">
                        <a16:creationId xmlns:a16="http://schemas.microsoft.com/office/drawing/2014/main" id="{CBE1F3EB-C667-F101-78D5-8509C185662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2" y="4460"/>
                    <a:ext cx="161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5" name="Line 37">
                    <a:extLst>
                      <a:ext uri="{FF2B5EF4-FFF2-40B4-BE49-F238E27FC236}">
                        <a16:creationId xmlns:a16="http://schemas.microsoft.com/office/drawing/2014/main" id="{67B33CF5-4294-01EE-EB81-B46E903A9C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63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6" name="Line 38">
                    <a:extLst>
                      <a:ext uri="{FF2B5EF4-FFF2-40B4-BE49-F238E27FC236}">
                        <a16:creationId xmlns:a16="http://schemas.microsoft.com/office/drawing/2014/main" id="{6CEE8848-ADF6-0E8D-8BA0-2A4EE15352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23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7" name="Line 39">
                    <a:extLst>
                      <a:ext uri="{FF2B5EF4-FFF2-40B4-BE49-F238E27FC236}">
                        <a16:creationId xmlns:a16="http://schemas.microsoft.com/office/drawing/2014/main" id="{BB247295-812C-E94E-9CB0-01FA17647A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83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8" name="Line 40">
                    <a:extLst>
                      <a:ext uri="{FF2B5EF4-FFF2-40B4-BE49-F238E27FC236}">
                        <a16:creationId xmlns:a16="http://schemas.microsoft.com/office/drawing/2014/main" id="{177E5BAD-B213-4E81-5C43-25AFF4E3DA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43" y="4460"/>
                    <a:ext cx="161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9" name="Line 41">
                    <a:extLst>
                      <a:ext uri="{FF2B5EF4-FFF2-40B4-BE49-F238E27FC236}">
                        <a16:creationId xmlns:a16="http://schemas.microsoft.com/office/drawing/2014/main" id="{E986895C-A9B0-03E0-E842-5A0F9862C8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04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90" name="Line 42">
                    <a:extLst>
                      <a:ext uri="{FF2B5EF4-FFF2-40B4-BE49-F238E27FC236}">
                        <a16:creationId xmlns:a16="http://schemas.microsoft.com/office/drawing/2014/main" id="{A14CA160-1E19-A2C9-D58E-88DB28EBE5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64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91" name="Line 43">
                    <a:extLst>
                      <a:ext uri="{FF2B5EF4-FFF2-40B4-BE49-F238E27FC236}">
                        <a16:creationId xmlns:a16="http://schemas.microsoft.com/office/drawing/2014/main" id="{E1866ED5-8787-BE2C-CA49-4CD6E1D7F2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124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92" name="Line 44">
                    <a:extLst>
                      <a:ext uri="{FF2B5EF4-FFF2-40B4-BE49-F238E27FC236}">
                        <a16:creationId xmlns:a16="http://schemas.microsoft.com/office/drawing/2014/main" id="{E8CD3B85-A291-87F5-62D1-444623915B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484" y="4460"/>
                    <a:ext cx="161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93" name="Line 45">
                    <a:extLst>
                      <a:ext uri="{FF2B5EF4-FFF2-40B4-BE49-F238E27FC236}">
                        <a16:creationId xmlns:a16="http://schemas.microsoft.com/office/drawing/2014/main" id="{206C840B-097D-BEB0-C745-27F002995E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845" y="4460"/>
                    <a:ext cx="160" cy="1"/>
                  </a:xfrm>
                  <a:prstGeom prst="line">
                    <a:avLst/>
                  </a:prstGeom>
                  <a:noFill/>
                  <a:ln w="25400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67" name="Line 46">
                  <a:extLst>
                    <a:ext uri="{FF2B5EF4-FFF2-40B4-BE49-F238E27FC236}">
                      <a16:creationId xmlns:a16="http://schemas.microsoft.com/office/drawing/2014/main" id="{BE4103D7-A9BF-37FA-8ACE-A310C1E5E6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80" y="709"/>
                  <a:ext cx="905" cy="27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8" name="Line 47">
                  <a:extLst>
                    <a:ext uri="{FF2B5EF4-FFF2-40B4-BE49-F238E27FC236}">
                      <a16:creationId xmlns:a16="http://schemas.microsoft.com/office/drawing/2014/main" id="{ADE12F8D-8578-BD59-E102-8C31A1EFCE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85" y="709"/>
                  <a:ext cx="456" cy="27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69" name="Line 48">
                  <a:extLst>
                    <a:ext uri="{FF2B5EF4-FFF2-40B4-BE49-F238E27FC236}">
                      <a16:creationId xmlns:a16="http://schemas.microsoft.com/office/drawing/2014/main" id="{C87C107F-ADF0-6FF7-9C94-901D2815D8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41" y="709"/>
                  <a:ext cx="905" cy="27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0" name="Line 49">
                  <a:extLst>
                    <a:ext uri="{FF2B5EF4-FFF2-40B4-BE49-F238E27FC236}">
                      <a16:creationId xmlns:a16="http://schemas.microsoft.com/office/drawing/2014/main" id="{69E7E3CA-E846-2D82-6299-3F1A57E3A3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6" y="709"/>
                  <a:ext cx="320" cy="18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1" name="Line 54">
                  <a:extLst>
                    <a:ext uri="{FF2B5EF4-FFF2-40B4-BE49-F238E27FC236}">
                      <a16:creationId xmlns:a16="http://schemas.microsoft.com/office/drawing/2014/main" id="{1B2605C0-F093-EF9E-EB59-F1A804E623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02" y="482"/>
                  <a:ext cx="0" cy="113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2" name="Line 55">
                  <a:extLst>
                    <a:ext uri="{FF2B5EF4-FFF2-40B4-BE49-F238E27FC236}">
                      <a16:creationId xmlns:a16="http://schemas.microsoft.com/office/drawing/2014/main" id="{F0EA9944-823E-EA06-27BE-5915103723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6" y="709"/>
                  <a:ext cx="0" cy="29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3" name="Line 56">
                  <a:extLst>
                    <a:ext uri="{FF2B5EF4-FFF2-40B4-BE49-F238E27FC236}">
                      <a16:creationId xmlns:a16="http://schemas.microsoft.com/office/drawing/2014/main" id="{8023734A-B317-A736-1274-ABAFAF81E9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59" y="754"/>
                  <a:ext cx="0" cy="285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 dirty="0"/>
                </a:p>
              </p:txBody>
            </p:sp>
            <p:sp>
              <p:nvSpPr>
                <p:cNvPr id="174" name="Text Box 114">
                  <a:extLst>
                    <a:ext uri="{FF2B5EF4-FFF2-40B4-BE49-F238E27FC236}">
                      <a16:creationId xmlns:a16="http://schemas.microsoft.com/office/drawing/2014/main" id="{C63B868F-A32E-163E-9B33-F0CAE00693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44" y="391"/>
                  <a:ext cx="40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fr-FR" altLang="fr-FR" sz="1800" dirty="0">
                      <a:latin typeface="Times New Roman" panose="02020603050405020304" pitchFamily="18" charset="0"/>
                    </a:rPr>
                    <a:t>i</a:t>
                  </a:r>
                  <a:r>
                    <a:rPr lang="fr-FR" altLang="fr-FR" sz="1800" baseline="-25000" dirty="0">
                      <a:latin typeface="Times New Roman" panose="02020603050405020304" pitchFamily="18" charset="0"/>
                    </a:rPr>
                    <a:t>L</a:t>
                  </a:r>
                </a:p>
              </p:txBody>
            </p:sp>
          </p:grpSp>
        </p:grpSp>
        <p:sp>
          <p:nvSpPr>
            <p:cNvPr id="197" name="Line 91">
              <a:extLst>
                <a:ext uri="{FF2B5EF4-FFF2-40B4-BE49-F238E27FC236}">
                  <a16:creationId xmlns:a16="http://schemas.microsoft.com/office/drawing/2014/main" id="{4E31009E-1F05-914A-CE89-9F659D4CF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502" y="5983685"/>
              <a:ext cx="512016" cy="277844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8" name="Line 92">
              <a:extLst>
                <a:ext uri="{FF2B5EF4-FFF2-40B4-BE49-F238E27FC236}">
                  <a16:creationId xmlns:a16="http://schemas.microsoft.com/office/drawing/2014/main" id="{049FF71E-2442-2C90-9567-148C255E9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6936" y="5983685"/>
              <a:ext cx="359310" cy="187954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9" name="Line 93">
              <a:extLst>
                <a:ext uri="{FF2B5EF4-FFF2-40B4-BE49-F238E27FC236}">
                  <a16:creationId xmlns:a16="http://schemas.microsoft.com/office/drawing/2014/main" id="{B8E207BB-C251-DFBF-9559-AE3E0AADA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329" y="6632329"/>
              <a:ext cx="1019541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" name="Line 94">
              <a:extLst>
                <a:ext uri="{FF2B5EF4-FFF2-40B4-BE49-F238E27FC236}">
                  <a16:creationId xmlns:a16="http://schemas.microsoft.com/office/drawing/2014/main" id="{184E3885-E383-8C7E-DA92-38367F184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9870" y="5983685"/>
              <a:ext cx="0" cy="648644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1" name="Line 96">
              <a:extLst>
                <a:ext uri="{FF2B5EF4-FFF2-40B4-BE49-F238E27FC236}">
                  <a16:creationId xmlns:a16="http://schemas.microsoft.com/office/drawing/2014/main" id="{5D7E2BAA-B437-148F-8C15-DCB32E261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518" y="6632329"/>
              <a:ext cx="1018418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2" name="Line 97">
              <a:extLst>
                <a:ext uri="{FF2B5EF4-FFF2-40B4-BE49-F238E27FC236}">
                  <a16:creationId xmlns:a16="http://schemas.microsoft.com/office/drawing/2014/main" id="{8B8E22CF-C534-65D0-577A-FDF3292E1E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66936" y="5983685"/>
              <a:ext cx="0" cy="648644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3" name="Line 97">
              <a:extLst>
                <a:ext uri="{FF2B5EF4-FFF2-40B4-BE49-F238E27FC236}">
                  <a16:creationId xmlns:a16="http://schemas.microsoft.com/office/drawing/2014/main" id="{F52E3921-F603-CC9E-9FB7-7AEF570A9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5268" y="6285023"/>
              <a:ext cx="0" cy="36526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5" name="Text Box 110">
            <a:extLst>
              <a:ext uri="{FF2B5EF4-FFF2-40B4-BE49-F238E27FC236}">
                <a16:creationId xmlns:a16="http://schemas.microsoft.com/office/drawing/2014/main" id="{36861F2A-D02E-9937-A4C5-5CDD20799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7269" y="5969508"/>
            <a:ext cx="6706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 err="1">
                <a:solidFill>
                  <a:srgbClr val="0099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 err="1">
                <a:solidFill>
                  <a:srgbClr val="009900"/>
                </a:solidFill>
                <a:latin typeface="Times New Roman" panose="02020603050405020304" pitchFamily="18" charset="0"/>
              </a:rPr>
              <a:t>ESR</a:t>
            </a:r>
            <a:endParaRPr lang="fr-FR" altLang="fr-FR" sz="1800" b="1" baseline="-250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ZoneTexte 205">
                <a:extLst>
                  <a:ext uri="{FF2B5EF4-FFF2-40B4-BE49-F238E27FC236}">
                    <a16:creationId xmlns:a16="http://schemas.microsoft.com/office/drawing/2014/main" id="{531961C7-C8CA-AB07-17AC-5C70FB623611}"/>
                  </a:ext>
                </a:extLst>
              </p:cNvPr>
              <p:cNvSpPr txBox="1"/>
              <p:nvPr/>
            </p:nvSpPr>
            <p:spPr>
              <a:xfrm>
                <a:off x="7206760" y="3437879"/>
                <a:ext cx="285796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𝑬𝑺𝑹</m:t>
                          </m:r>
                        </m:sub>
                      </m:sSub>
                    </m:oMath>
                  </m:oMathPara>
                </a14:m>
                <a:br>
                  <a:rPr lang="fr-FR" sz="2400" b="1" dirty="0"/>
                </a:br>
                <a:br>
                  <a:rPr lang="fr-FR" sz="2400" b="1" dirty="0"/>
                </a:br>
                <a14:m>
                  <m:oMathPara xmlns:m="http://schemas.openxmlformats.org/officeDocument/2006/math">
                    <m:oMath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𝐄𝐒𝐑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206" name="ZoneTexte 205">
                <a:extLst>
                  <a:ext uri="{FF2B5EF4-FFF2-40B4-BE49-F238E27FC236}">
                    <a16:creationId xmlns:a16="http://schemas.microsoft.com/office/drawing/2014/main" id="{531961C7-C8CA-AB07-17AC-5C70FB623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760" y="3437879"/>
                <a:ext cx="2857962" cy="1107996"/>
              </a:xfrm>
              <a:prstGeom prst="rect">
                <a:avLst/>
              </a:prstGeom>
              <a:blipFill>
                <a:blip r:embed="rId2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ZoneTexte 206">
                <a:extLst>
                  <a:ext uri="{FF2B5EF4-FFF2-40B4-BE49-F238E27FC236}">
                    <a16:creationId xmlns:a16="http://schemas.microsoft.com/office/drawing/2014/main" id="{2D9EE0F3-AEEC-EE1C-E4C3-BCDE8C8EF066}"/>
                  </a:ext>
                </a:extLst>
              </p:cNvPr>
              <p:cNvSpPr txBox="1"/>
              <p:nvPr/>
            </p:nvSpPr>
            <p:spPr>
              <a:xfrm>
                <a:off x="6798969" y="4682436"/>
                <a:ext cx="50164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fr-FR" sz="2400" dirty="0"/>
                  <a:t>For high value of C</a:t>
                </a:r>
                <a:r>
                  <a:rPr lang="fr-FR" sz="2400" baseline="-25000" dirty="0"/>
                  <a:t>S</a:t>
                </a:r>
                <a:r>
                  <a:rPr lang="fr-FR" sz="2400" dirty="0"/>
                  <a:t>, </a:t>
                </a:r>
                <a:br>
                  <a:rPr lang="fr-FR" sz="2400" dirty="0"/>
                </a:b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𝐸𝑆𝑅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07" name="ZoneTexte 206">
                <a:extLst>
                  <a:ext uri="{FF2B5EF4-FFF2-40B4-BE49-F238E27FC236}">
                    <a16:creationId xmlns:a16="http://schemas.microsoft.com/office/drawing/2014/main" id="{2D9EE0F3-AEEC-EE1C-E4C3-BCDE8C8EF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969" y="4682436"/>
                <a:ext cx="5016423" cy="830997"/>
              </a:xfrm>
              <a:prstGeom prst="rect">
                <a:avLst/>
              </a:prstGeom>
              <a:blipFill>
                <a:blip r:embed="rId3"/>
                <a:stretch>
                  <a:fillRect l="-1823" t="-5882" b="-7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ZoneTexte 207">
                <a:extLst>
                  <a:ext uri="{FF2B5EF4-FFF2-40B4-BE49-F238E27FC236}">
                    <a16:creationId xmlns:a16="http://schemas.microsoft.com/office/drawing/2014/main" id="{D669BBE8-EB9A-6D00-1ECE-4E2DA18BC0F3}"/>
                  </a:ext>
                </a:extLst>
              </p:cNvPr>
              <p:cNvSpPr txBox="1"/>
              <p:nvPr/>
            </p:nvSpPr>
            <p:spPr>
              <a:xfrm>
                <a:off x="7997882" y="5616274"/>
                <a:ext cx="1825949" cy="87870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𝑬𝑺𝑹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fr-FR" sz="2800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sub>
                          </m:sSub>
                        </m:num>
                        <m:den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208" name="ZoneTexte 207">
                <a:extLst>
                  <a:ext uri="{FF2B5EF4-FFF2-40B4-BE49-F238E27FC236}">
                    <a16:creationId xmlns:a16="http://schemas.microsoft.com/office/drawing/2014/main" id="{D669BBE8-EB9A-6D00-1ECE-4E2DA18BC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882" y="5616274"/>
                <a:ext cx="1825949" cy="8787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8985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Boundary mode: i</a:t>
            </a:r>
            <a:r>
              <a:rPr lang="en-US" sz="2000" baseline="-25000" dirty="0">
                <a:solidFill>
                  <a:srgbClr val="9E003B"/>
                </a:solidFill>
                <a:latin typeface="Myriad Pro"/>
                <a:cs typeface="Myriad Pro"/>
              </a:rPr>
              <a:t>L</a:t>
            </a: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(T)=0</a:t>
            </a:r>
          </a:p>
        </p:txBody>
      </p:sp>
      <p:grpSp>
        <p:nvGrpSpPr>
          <p:cNvPr id="6" name="Group 267"/>
          <p:cNvGrpSpPr>
            <a:grpSpLocks/>
          </p:cNvGrpSpPr>
          <p:nvPr/>
        </p:nvGrpSpPr>
        <p:grpSpPr bwMode="auto">
          <a:xfrm>
            <a:off x="2614042" y="1830821"/>
            <a:ext cx="4249737" cy="3384550"/>
            <a:chOff x="67" y="951"/>
            <a:chExt cx="2949" cy="2343"/>
          </a:xfrm>
        </p:grpSpPr>
        <p:grpSp>
          <p:nvGrpSpPr>
            <p:cNvPr id="7" name="Group 135"/>
            <p:cNvGrpSpPr>
              <a:grpSpLocks/>
            </p:cNvGrpSpPr>
            <p:nvPr/>
          </p:nvGrpSpPr>
          <p:grpSpPr bwMode="auto">
            <a:xfrm>
              <a:off x="270" y="951"/>
              <a:ext cx="56" cy="952"/>
              <a:chOff x="520" y="260"/>
              <a:chExt cx="140" cy="2380"/>
            </a:xfrm>
          </p:grpSpPr>
          <p:sp>
            <p:nvSpPr>
              <p:cNvPr id="114" name="Freeform 136"/>
              <p:cNvSpPr>
                <a:spLocks/>
              </p:cNvSpPr>
              <p:nvPr/>
            </p:nvSpPr>
            <p:spPr bwMode="auto">
              <a:xfrm>
                <a:off x="520" y="260"/>
                <a:ext cx="140" cy="280"/>
              </a:xfrm>
              <a:custGeom>
                <a:avLst/>
                <a:gdLst>
                  <a:gd name="T0" fmla="*/ 60 w 140"/>
                  <a:gd name="T1" fmla="*/ 0 h 280"/>
                  <a:gd name="T2" fmla="*/ 140 w 140"/>
                  <a:gd name="T3" fmla="*/ 280 h 280"/>
                  <a:gd name="T4" fmla="*/ 60 w 140"/>
                  <a:gd name="T5" fmla="*/ 280 h 280"/>
                  <a:gd name="T6" fmla="*/ 0 w 140"/>
                  <a:gd name="T7" fmla="*/ 280 h 280"/>
                  <a:gd name="T8" fmla="*/ 60 w 140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280">
                    <a:moveTo>
                      <a:pt x="60" y="0"/>
                    </a:moveTo>
                    <a:lnTo>
                      <a:pt x="140" y="280"/>
                    </a:lnTo>
                    <a:lnTo>
                      <a:pt x="60" y="280"/>
                    </a:lnTo>
                    <a:lnTo>
                      <a:pt x="0" y="28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5" name="Line 137"/>
              <p:cNvSpPr>
                <a:spLocks noChangeShapeType="1"/>
              </p:cNvSpPr>
              <p:nvPr/>
            </p:nvSpPr>
            <p:spPr bwMode="auto">
              <a:xfrm>
                <a:off x="580" y="540"/>
                <a:ext cx="1" cy="21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8" name="Group 138"/>
            <p:cNvGrpSpPr>
              <a:grpSpLocks/>
            </p:cNvGrpSpPr>
            <p:nvPr/>
          </p:nvGrpSpPr>
          <p:grpSpPr bwMode="auto">
            <a:xfrm>
              <a:off x="254" y="1831"/>
              <a:ext cx="2762" cy="56"/>
              <a:chOff x="480" y="2460"/>
              <a:chExt cx="6905" cy="140"/>
            </a:xfrm>
          </p:grpSpPr>
          <p:sp>
            <p:nvSpPr>
              <p:cNvPr id="112" name="Freeform 139"/>
              <p:cNvSpPr>
                <a:spLocks/>
              </p:cNvSpPr>
              <p:nvPr/>
            </p:nvSpPr>
            <p:spPr bwMode="auto">
              <a:xfrm>
                <a:off x="7105" y="246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3" name="Line 140"/>
              <p:cNvSpPr>
                <a:spLocks noChangeShapeType="1"/>
              </p:cNvSpPr>
              <p:nvPr/>
            </p:nvSpPr>
            <p:spPr bwMode="auto">
              <a:xfrm>
                <a:off x="480" y="2540"/>
                <a:ext cx="662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" name="Group 141"/>
            <p:cNvGrpSpPr>
              <a:grpSpLocks/>
            </p:cNvGrpSpPr>
            <p:nvPr/>
          </p:nvGrpSpPr>
          <p:grpSpPr bwMode="auto">
            <a:xfrm>
              <a:off x="254" y="1407"/>
              <a:ext cx="2658" cy="1"/>
              <a:chOff x="480" y="1400"/>
              <a:chExt cx="6645" cy="1"/>
            </a:xfrm>
          </p:grpSpPr>
          <p:sp>
            <p:nvSpPr>
              <p:cNvPr id="93" name="Line 142"/>
              <p:cNvSpPr>
                <a:spLocks noChangeShapeType="1"/>
              </p:cNvSpPr>
              <p:nvPr/>
            </p:nvSpPr>
            <p:spPr bwMode="auto">
              <a:xfrm>
                <a:off x="4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4" name="Line 143"/>
              <p:cNvSpPr>
                <a:spLocks noChangeShapeType="1"/>
              </p:cNvSpPr>
              <p:nvPr/>
            </p:nvSpPr>
            <p:spPr bwMode="auto">
              <a:xfrm>
                <a:off x="841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5" name="Line 144"/>
              <p:cNvSpPr>
                <a:spLocks noChangeShapeType="1"/>
              </p:cNvSpPr>
              <p:nvPr/>
            </p:nvSpPr>
            <p:spPr bwMode="auto">
              <a:xfrm>
                <a:off x="1201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" name="Line 145"/>
              <p:cNvSpPr>
                <a:spLocks noChangeShapeType="1"/>
              </p:cNvSpPr>
              <p:nvPr/>
            </p:nvSpPr>
            <p:spPr bwMode="auto">
              <a:xfrm>
                <a:off x="1561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7" name="Line 146"/>
              <p:cNvSpPr>
                <a:spLocks noChangeShapeType="1"/>
              </p:cNvSpPr>
              <p:nvPr/>
            </p:nvSpPr>
            <p:spPr bwMode="auto">
              <a:xfrm>
                <a:off x="1921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8" name="Line 147"/>
              <p:cNvSpPr>
                <a:spLocks noChangeShapeType="1"/>
              </p:cNvSpPr>
              <p:nvPr/>
            </p:nvSpPr>
            <p:spPr bwMode="auto">
              <a:xfrm>
                <a:off x="2282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9" name="Line 148"/>
              <p:cNvSpPr>
                <a:spLocks noChangeShapeType="1"/>
              </p:cNvSpPr>
              <p:nvPr/>
            </p:nvSpPr>
            <p:spPr bwMode="auto">
              <a:xfrm>
                <a:off x="2642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0" name="Line 149"/>
              <p:cNvSpPr>
                <a:spLocks noChangeShapeType="1"/>
              </p:cNvSpPr>
              <p:nvPr/>
            </p:nvSpPr>
            <p:spPr bwMode="auto">
              <a:xfrm>
                <a:off x="3002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1" name="Line 150"/>
              <p:cNvSpPr>
                <a:spLocks noChangeShapeType="1"/>
              </p:cNvSpPr>
              <p:nvPr/>
            </p:nvSpPr>
            <p:spPr bwMode="auto">
              <a:xfrm>
                <a:off x="3362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" name="Line 151"/>
              <p:cNvSpPr>
                <a:spLocks noChangeShapeType="1"/>
              </p:cNvSpPr>
              <p:nvPr/>
            </p:nvSpPr>
            <p:spPr bwMode="auto">
              <a:xfrm>
                <a:off x="3723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3" name="Line 152"/>
              <p:cNvSpPr>
                <a:spLocks noChangeShapeType="1"/>
              </p:cNvSpPr>
              <p:nvPr/>
            </p:nvSpPr>
            <p:spPr bwMode="auto">
              <a:xfrm>
                <a:off x="4083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" name="Line 153"/>
              <p:cNvSpPr>
                <a:spLocks noChangeShapeType="1"/>
              </p:cNvSpPr>
              <p:nvPr/>
            </p:nvSpPr>
            <p:spPr bwMode="auto">
              <a:xfrm>
                <a:off x="4443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" name="Line 154"/>
              <p:cNvSpPr>
                <a:spLocks noChangeShapeType="1"/>
              </p:cNvSpPr>
              <p:nvPr/>
            </p:nvSpPr>
            <p:spPr bwMode="auto">
              <a:xfrm>
                <a:off x="4803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6" name="Line 155"/>
              <p:cNvSpPr>
                <a:spLocks noChangeShapeType="1"/>
              </p:cNvSpPr>
              <p:nvPr/>
            </p:nvSpPr>
            <p:spPr bwMode="auto">
              <a:xfrm>
                <a:off x="5163" y="140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7" name="Line 156"/>
              <p:cNvSpPr>
                <a:spLocks noChangeShapeType="1"/>
              </p:cNvSpPr>
              <p:nvPr/>
            </p:nvSpPr>
            <p:spPr bwMode="auto">
              <a:xfrm>
                <a:off x="5524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8" name="Line 157"/>
              <p:cNvSpPr>
                <a:spLocks noChangeShapeType="1"/>
              </p:cNvSpPr>
              <p:nvPr/>
            </p:nvSpPr>
            <p:spPr bwMode="auto">
              <a:xfrm>
                <a:off x="5884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9" name="Line 158"/>
              <p:cNvSpPr>
                <a:spLocks noChangeShapeType="1"/>
              </p:cNvSpPr>
              <p:nvPr/>
            </p:nvSpPr>
            <p:spPr bwMode="auto">
              <a:xfrm>
                <a:off x="6244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0" name="Line 159"/>
              <p:cNvSpPr>
                <a:spLocks noChangeShapeType="1"/>
              </p:cNvSpPr>
              <p:nvPr/>
            </p:nvSpPr>
            <p:spPr bwMode="auto">
              <a:xfrm>
                <a:off x="6604" y="140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1" name="Line 160"/>
              <p:cNvSpPr>
                <a:spLocks noChangeShapeType="1"/>
              </p:cNvSpPr>
              <p:nvPr/>
            </p:nvSpPr>
            <p:spPr bwMode="auto">
              <a:xfrm>
                <a:off x="6965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2" name="Group 161"/>
            <p:cNvGrpSpPr>
              <a:grpSpLocks/>
            </p:cNvGrpSpPr>
            <p:nvPr/>
          </p:nvGrpSpPr>
          <p:grpSpPr bwMode="auto">
            <a:xfrm>
              <a:off x="294" y="1183"/>
              <a:ext cx="2546" cy="681"/>
              <a:chOff x="580" y="840"/>
              <a:chExt cx="6365" cy="1701"/>
            </a:xfrm>
          </p:grpSpPr>
          <p:sp>
            <p:nvSpPr>
              <p:cNvPr id="86" name="Line 162"/>
              <p:cNvSpPr>
                <a:spLocks noChangeShapeType="1"/>
              </p:cNvSpPr>
              <p:nvPr/>
            </p:nvSpPr>
            <p:spPr bwMode="auto">
              <a:xfrm>
                <a:off x="580" y="2540"/>
                <a:ext cx="2282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7" name="Line 163"/>
              <p:cNvSpPr>
                <a:spLocks noChangeShapeType="1"/>
              </p:cNvSpPr>
              <p:nvPr/>
            </p:nvSpPr>
            <p:spPr bwMode="auto">
              <a:xfrm flipV="1">
                <a:off x="2862" y="840"/>
                <a:ext cx="1" cy="17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8" name="Line 164"/>
              <p:cNvSpPr>
                <a:spLocks noChangeShapeType="1"/>
              </p:cNvSpPr>
              <p:nvPr/>
            </p:nvSpPr>
            <p:spPr bwMode="auto">
              <a:xfrm>
                <a:off x="2862" y="840"/>
                <a:ext cx="112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9" name="Line 165"/>
              <p:cNvSpPr>
                <a:spLocks noChangeShapeType="1"/>
              </p:cNvSpPr>
              <p:nvPr/>
            </p:nvSpPr>
            <p:spPr bwMode="auto">
              <a:xfrm>
                <a:off x="3983" y="840"/>
                <a:ext cx="1" cy="17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0" name="Line 166"/>
              <p:cNvSpPr>
                <a:spLocks noChangeShapeType="1"/>
              </p:cNvSpPr>
              <p:nvPr/>
            </p:nvSpPr>
            <p:spPr bwMode="auto">
              <a:xfrm>
                <a:off x="3983" y="2540"/>
                <a:ext cx="228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Line 167"/>
              <p:cNvSpPr>
                <a:spLocks noChangeShapeType="1"/>
              </p:cNvSpPr>
              <p:nvPr/>
            </p:nvSpPr>
            <p:spPr bwMode="auto">
              <a:xfrm flipV="1">
                <a:off x="6264" y="840"/>
                <a:ext cx="1" cy="17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Line 168"/>
              <p:cNvSpPr>
                <a:spLocks noChangeShapeType="1"/>
              </p:cNvSpPr>
              <p:nvPr/>
            </p:nvSpPr>
            <p:spPr bwMode="auto">
              <a:xfrm>
                <a:off x="6264" y="840"/>
                <a:ext cx="68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3" name="Rectangle 169"/>
            <p:cNvSpPr>
              <a:spLocks noChangeArrowheads="1"/>
            </p:cNvSpPr>
            <p:nvPr/>
          </p:nvSpPr>
          <p:spPr bwMode="auto">
            <a:xfrm>
              <a:off x="2968" y="1655"/>
              <a:ext cx="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70"/>
            <p:cNvSpPr>
              <a:spLocks noChangeArrowheads="1"/>
            </p:cNvSpPr>
            <p:nvPr/>
          </p:nvSpPr>
          <p:spPr bwMode="auto">
            <a:xfrm>
              <a:off x="1599" y="1911"/>
              <a:ext cx="83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5" name="Group 171"/>
            <p:cNvGrpSpPr>
              <a:grpSpLocks/>
            </p:cNvGrpSpPr>
            <p:nvPr/>
          </p:nvGrpSpPr>
          <p:grpSpPr bwMode="auto">
            <a:xfrm>
              <a:off x="1127" y="1879"/>
              <a:ext cx="246" cy="147"/>
              <a:chOff x="2662" y="2580"/>
              <a:chExt cx="333" cy="245"/>
            </a:xfrm>
          </p:grpSpPr>
          <p:sp>
            <p:nvSpPr>
              <p:cNvPr id="84" name="Rectangle 172"/>
              <p:cNvSpPr>
                <a:spLocks noChangeArrowheads="1"/>
              </p:cNvSpPr>
              <p:nvPr/>
            </p:nvSpPr>
            <p:spPr bwMode="auto">
              <a:xfrm>
                <a:off x="2841" y="2580"/>
                <a:ext cx="154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fr-FR" sz="1400" b="1">
                    <a:solidFill>
                      <a:srgbClr val="000000"/>
                    </a:solidFill>
                    <a:latin typeface="Times" panose="02020603050405020304" pitchFamily="18" charset="0"/>
                  </a:rPr>
                  <a:t>.T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Rectangle 173"/>
              <p:cNvSpPr>
                <a:spLocks noChangeArrowheads="1"/>
              </p:cNvSpPr>
              <p:nvPr/>
            </p:nvSpPr>
            <p:spPr bwMode="auto">
              <a:xfrm>
                <a:off x="2662" y="2580"/>
                <a:ext cx="106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fr-FR" sz="1400" b="1">
                    <a:solidFill>
                      <a:srgbClr val="000000"/>
                    </a:solidFill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174"/>
            <p:cNvGrpSpPr>
              <a:grpSpLocks/>
            </p:cNvGrpSpPr>
            <p:nvPr/>
          </p:nvGrpSpPr>
          <p:grpSpPr bwMode="auto">
            <a:xfrm>
              <a:off x="270" y="1954"/>
              <a:ext cx="44" cy="659"/>
              <a:chOff x="520" y="3500"/>
              <a:chExt cx="140" cy="2380"/>
            </a:xfrm>
          </p:grpSpPr>
          <p:sp>
            <p:nvSpPr>
              <p:cNvPr id="82" name="Freeform 175"/>
              <p:cNvSpPr>
                <a:spLocks/>
              </p:cNvSpPr>
              <p:nvPr/>
            </p:nvSpPr>
            <p:spPr bwMode="auto">
              <a:xfrm>
                <a:off x="520" y="3500"/>
                <a:ext cx="140" cy="280"/>
              </a:xfrm>
              <a:custGeom>
                <a:avLst/>
                <a:gdLst>
                  <a:gd name="T0" fmla="*/ 60 w 140"/>
                  <a:gd name="T1" fmla="*/ 0 h 280"/>
                  <a:gd name="T2" fmla="*/ 140 w 140"/>
                  <a:gd name="T3" fmla="*/ 280 h 280"/>
                  <a:gd name="T4" fmla="*/ 60 w 140"/>
                  <a:gd name="T5" fmla="*/ 280 h 280"/>
                  <a:gd name="T6" fmla="*/ 0 w 140"/>
                  <a:gd name="T7" fmla="*/ 280 h 280"/>
                  <a:gd name="T8" fmla="*/ 60 w 140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280">
                    <a:moveTo>
                      <a:pt x="60" y="0"/>
                    </a:moveTo>
                    <a:lnTo>
                      <a:pt x="140" y="280"/>
                    </a:lnTo>
                    <a:lnTo>
                      <a:pt x="60" y="280"/>
                    </a:lnTo>
                    <a:lnTo>
                      <a:pt x="0" y="28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3" name="Line 176"/>
              <p:cNvSpPr>
                <a:spLocks noChangeShapeType="1"/>
              </p:cNvSpPr>
              <p:nvPr/>
            </p:nvSpPr>
            <p:spPr bwMode="auto">
              <a:xfrm>
                <a:off x="580" y="3780"/>
                <a:ext cx="1" cy="21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7" name="Group 177"/>
            <p:cNvGrpSpPr>
              <a:grpSpLocks/>
            </p:cNvGrpSpPr>
            <p:nvPr/>
          </p:nvGrpSpPr>
          <p:grpSpPr bwMode="auto">
            <a:xfrm>
              <a:off x="230" y="2517"/>
              <a:ext cx="2770" cy="56"/>
              <a:chOff x="420" y="5640"/>
              <a:chExt cx="6925" cy="140"/>
            </a:xfrm>
          </p:grpSpPr>
          <p:sp>
            <p:nvSpPr>
              <p:cNvPr id="80" name="Freeform 178"/>
              <p:cNvSpPr>
                <a:spLocks/>
              </p:cNvSpPr>
              <p:nvPr/>
            </p:nvSpPr>
            <p:spPr bwMode="auto">
              <a:xfrm>
                <a:off x="706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1" name="Line 179"/>
              <p:cNvSpPr>
                <a:spLocks noChangeShapeType="1"/>
              </p:cNvSpPr>
              <p:nvPr/>
            </p:nvSpPr>
            <p:spPr bwMode="auto">
              <a:xfrm>
                <a:off x="42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" name="Rectangle 180"/>
            <p:cNvSpPr>
              <a:spLocks noChangeArrowheads="1"/>
            </p:cNvSpPr>
            <p:nvPr/>
          </p:nvSpPr>
          <p:spPr bwMode="auto">
            <a:xfrm>
              <a:off x="2960" y="2341"/>
              <a:ext cx="3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9" name="Line 204"/>
            <p:cNvSpPr>
              <a:spLocks noChangeShapeType="1"/>
            </p:cNvSpPr>
            <p:nvPr/>
          </p:nvSpPr>
          <p:spPr bwMode="auto">
            <a:xfrm flipV="1">
              <a:off x="294" y="2275"/>
              <a:ext cx="913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205"/>
            <p:cNvSpPr>
              <a:spLocks noChangeShapeType="1"/>
            </p:cNvSpPr>
            <p:nvPr/>
          </p:nvSpPr>
          <p:spPr bwMode="auto">
            <a:xfrm>
              <a:off x="1207" y="2275"/>
              <a:ext cx="448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Line 206"/>
            <p:cNvSpPr>
              <a:spLocks noChangeShapeType="1"/>
            </p:cNvSpPr>
            <p:nvPr/>
          </p:nvSpPr>
          <p:spPr bwMode="auto">
            <a:xfrm flipV="1">
              <a:off x="1655" y="2275"/>
              <a:ext cx="913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Line 207"/>
            <p:cNvSpPr>
              <a:spLocks noChangeShapeType="1"/>
            </p:cNvSpPr>
            <p:nvPr/>
          </p:nvSpPr>
          <p:spPr bwMode="auto">
            <a:xfrm>
              <a:off x="2568" y="2275"/>
              <a:ext cx="312" cy="1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3" name="Group 208"/>
            <p:cNvGrpSpPr>
              <a:grpSpLocks/>
            </p:cNvGrpSpPr>
            <p:nvPr/>
          </p:nvGrpSpPr>
          <p:grpSpPr bwMode="auto">
            <a:xfrm>
              <a:off x="1207" y="1773"/>
              <a:ext cx="0" cy="808"/>
              <a:chOff x="2862" y="3780"/>
              <a:chExt cx="1" cy="2020"/>
            </a:xfrm>
          </p:grpSpPr>
          <p:sp>
            <p:nvSpPr>
              <p:cNvPr id="68" name="Line 209"/>
              <p:cNvSpPr>
                <a:spLocks noChangeShapeType="1"/>
              </p:cNvSpPr>
              <p:nvPr/>
            </p:nvSpPr>
            <p:spPr bwMode="auto">
              <a:xfrm>
                <a:off x="2862" y="37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Line 210"/>
              <p:cNvSpPr>
                <a:spLocks noChangeShapeType="1"/>
              </p:cNvSpPr>
              <p:nvPr/>
            </p:nvSpPr>
            <p:spPr bwMode="auto">
              <a:xfrm>
                <a:off x="2862" y="39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0" name="Line 211"/>
              <p:cNvSpPr>
                <a:spLocks noChangeShapeType="1"/>
              </p:cNvSpPr>
              <p:nvPr/>
            </p:nvSpPr>
            <p:spPr bwMode="auto">
              <a:xfrm>
                <a:off x="2862" y="41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1" name="Line 212"/>
              <p:cNvSpPr>
                <a:spLocks noChangeShapeType="1"/>
              </p:cNvSpPr>
              <p:nvPr/>
            </p:nvSpPr>
            <p:spPr bwMode="auto">
              <a:xfrm>
                <a:off x="2862" y="43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2" name="Line 213"/>
              <p:cNvSpPr>
                <a:spLocks noChangeShapeType="1"/>
              </p:cNvSpPr>
              <p:nvPr/>
            </p:nvSpPr>
            <p:spPr bwMode="auto">
              <a:xfrm>
                <a:off x="2862" y="45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3" name="Line 214"/>
              <p:cNvSpPr>
                <a:spLocks noChangeShapeType="1"/>
              </p:cNvSpPr>
              <p:nvPr/>
            </p:nvSpPr>
            <p:spPr bwMode="auto">
              <a:xfrm>
                <a:off x="2862" y="46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Line 215"/>
              <p:cNvSpPr>
                <a:spLocks noChangeShapeType="1"/>
              </p:cNvSpPr>
              <p:nvPr/>
            </p:nvSpPr>
            <p:spPr bwMode="auto">
              <a:xfrm>
                <a:off x="2862" y="48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Line 216"/>
              <p:cNvSpPr>
                <a:spLocks noChangeShapeType="1"/>
              </p:cNvSpPr>
              <p:nvPr/>
            </p:nvSpPr>
            <p:spPr bwMode="auto">
              <a:xfrm>
                <a:off x="2862" y="50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6" name="Line 217"/>
              <p:cNvSpPr>
                <a:spLocks noChangeShapeType="1"/>
              </p:cNvSpPr>
              <p:nvPr/>
            </p:nvSpPr>
            <p:spPr bwMode="auto">
              <a:xfrm>
                <a:off x="2862" y="52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7" name="Line 218"/>
              <p:cNvSpPr>
                <a:spLocks noChangeShapeType="1"/>
              </p:cNvSpPr>
              <p:nvPr/>
            </p:nvSpPr>
            <p:spPr bwMode="auto">
              <a:xfrm>
                <a:off x="2862" y="54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" name="Line 219"/>
              <p:cNvSpPr>
                <a:spLocks noChangeShapeType="1"/>
              </p:cNvSpPr>
              <p:nvPr/>
            </p:nvSpPr>
            <p:spPr bwMode="auto">
              <a:xfrm>
                <a:off x="2862" y="55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" name="Line 220"/>
              <p:cNvSpPr>
                <a:spLocks noChangeShapeType="1"/>
              </p:cNvSpPr>
              <p:nvPr/>
            </p:nvSpPr>
            <p:spPr bwMode="auto">
              <a:xfrm>
                <a:off x="2862" y="5760"/>
                <a:ext cx="1" cy="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4" name="Group 221"/>
            <p:cNvGrpSpPr>
              <a:grpSpLocks/>
            </p:cNvGrpSpPr>
            <p:nvPr/>
          </p:nvGrpSpPr>
          <p:grpSpPr bwMode="auto">
            <a:xfrm>
              <a:off x="1655" y="1773"/>
              <a:ext cx="1" cy="808"/>
              <a:chOff x="3983" y="3780"/>
              <a:chExt cx="1" cy="2020"/>
            </a:xfrm>
          </p:grpSpPr>
          <p:sp>
            <p:nvSpPr>
              <p:cNvPr id="56" name="Line 222"/>
              <p:cNvSpPr>
                <a:spLocks noChangeShapeType="1"/>
              </p:cNvSpPr>
              <p:nvPr/>
            </p:nvSpPr>
            <p:spPr bwMode="auto">
              <a:xfrm>
                <a:off x="3983" y="37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7" name="Line 223"/>
              <p:cNvSpPr>
                <a:spLocks noChangeShapeType="1"/>
              </p:cNvSpPr>
              <p:nvPr/>
            </p:nvSpPr>
            <p:spPr bwMode="auto">
              <a:xfrm>
                <a:off x="3983" y="39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" name="Line 224"/>
              <p:cNvSpPr>
                <a:spLocks noChangeShapeType="1"/>
              </p:cNvSpPr>
              <p:nvPr/>
            </p:nvSpPr>
            <p:spPr bwMode="auto">
              <a:xfrm>
                <a:off x="3983" y="41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9" name="Line 225"/>
              <p:cNvSpPr>
                <a:spLocks noChangeShapeType="1"/>
              </p:cNvSpPr>
              <p:nvPr/>
            </p:nvSpPr>
            <p:spPr bwMode="auto">
              <a:xfrm>
                <a:off x="3983" y="43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Line 226"/>
              <p:cNvSpPr>
                <a:spLocks noChangeShapeType="1"/>
              </p:cNvSpPr>
              <p:nvPr/>
            </p:nvSpPr>
            <p:spPr bwMode="auto">
              <a:xfrm>
                <a:off x="3983" y="45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Line 227"/>
              <p:cNvSpPr>
                <a:spLocks noChangeShapeType="1"/>
              </p:cNvSpPr>
              <p:nvPr/>
            </p:nvSpPr>
            <p:spPr bwMode="auto">
              <a:xfrm>
                <a:off x="3983" y="46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2" name="Line 228"/>
              <p:cNvSpPr>
                <a:spLocks noChangeShapeType="1"/>
              </p:cNvSpPr>
              <p:nvPr/>
            </p:nvSpPr>
            <p:spPr bwMode="auto">
              <a:xfrm>
                <a:off x="3983" y="48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3" name="Line 229"/>
              <p:cNvSpPr>
                <a:spLocks noChangeShapeType="1"/>
              </p:cNvSpPr>
              <p:nvPr/>
            </p:nvSpPr>
            <p:spPr bwMode="auto">
              <a:xfrm>
                <a:off x="3983" y="50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4" name="Line 230"/>
              <p:cNvSpPr>
                <a:spLocks noChangeShapeType="1"/>
              </p:cNvSpPr>
              <p:nvPr/>
            </p:nvSpPr>
            <p:spPr bwMode="auto">
              <a:xfrm>
                <a:off x="3983" y="52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5" name="Line 231"/>
              <p:cNvSpPr>
                <a:spLocks noChangeShapeType="1"/>
              </p:cNvSpPr>
              <p:nvPr/>
            </p:nvSpPr>
            <p:spPr bwMode="auto">
              <a:xfrm>
                <a:off x="3983" y="54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6" name="Line 232"/>
              <p:cNvSpPr>
                <a:spLocks noChangeShapeType="1"/>
              </p:cNvSpPr>
              <p:nvPr/>
            </p:nvSpPr>
            <p:spPr bwMode="auto">
              <a:xfrm>
                <a:off x="3983" y="55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" name="Line 233"/>
              <p:cNvSpPr>
                <a:spLocks noChangeShapeType="1"/>
              </p:cNvSpPr>
              <p:nvPr/>
            </p:nvSpPr>
            <p:spPr bwMode="auto">
              <a:xfrm>
                <a:off x="3983" y="5760"/>
                <a:ext cx="1" cy="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5" name="Group 234"/>
            <p:cNvGrpSpPr>
              <a:grpSpLocks/>
            </p:cNvGrpSpPr>
            <p:nvPr/>
          </p:nvGrpSpPr>
          <p:grpSpPr bwMode="auto">
            <a:xfrm>
              <a:off x="254" y="1183"/>
              <a:ext cx="945" cy="1"/>
              <a:chOff x="480" y="840"/>
              <a:chExt cx="2362" cy="1"/>
            </a:xfrm>
          </p:grpSpPr>
          <p:sp>
            <p:nvSpPr>
              <p:cNvPr id="42" name="Line 235"/>
              <p:cNvSpPr>
                <a:spLocks noChangeShapeType="1"/>
              </p:cNvSpPr>
              <p:nvPr/>
            </p:nvSpPr>
            <p:spPr bwMode="auto">
              <a:xfrm flipH="1">
                <a:off x="2762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Line 236"/>
              <p:cNvSpPr>
                <a:spLocks noChangeShapeType="1"/>
              </p:cNvSpPr>
              <p:nvPr/>
            </p:nvSpPr>
            <p:spPr bwMode="auto">
              <a:xfrm flipH="1">
                <a:off x="2582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Line 237"/>
              <p:cNvSpPr>
                <a:spLocks noChangeShapeType="1"/>
              </p:cNvSpPr>
              <p:nvPr/>
            </p:nvSpPr>
            <p:spPr bwMode="auto">
              <a:xfrm flipH="1">
                <a:off x="2402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Line 238"/>
              <p:cNvSpPr>
                <a:spLocks noChangeShapeType="1"/>
              </p:cNvSpPr>
              <p:nvPr/>
            </p:nvSpPr>
            <p:spPr bwMode="auto">
              <a:xfrm flipH="1">
                <a:off x="2221" y="840"/>
                <a:ext cx="81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Line 239"/>
              <p:cNvSpPr>
                <a:spLocks noChangeShapeType="1"/>
              </p:cNvSpPr>
              <p:nvPr/>
            </p:nvSpPr>
            <p:spPr bwMode="auto">
              <a:xfrm flipH="1">
                <a:off x="2041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Line 240"/>
              <p:cNvSpPr>
                <a:spLocks noChangeShapeType="1"/>
              </p:cNvSpPr>
              <p:nvPr/>
            </p:nvSpPr>
            <p:spPr bwMode="auto">
              <a:xfrm flipH="1">
                <a:off x="1861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8" name="Line 241"/>
              <p:cNvSpPr>
                <a:spLocks noChangeShapeType="1"/>
              </p:cNvSpPr>
              <p:nvPr/>
            </p:nvSpPr>
            <p:spPr bwMode="auto">
              <a:xfrm flipH="1">
                <a:off x="1681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9" name="Line 242"/>
              <p:cNvSpPr>
                <a:spLocks noChangeShapeType="1"/>
              </p:cNvSpPr>
              <p:nvPr/>
            </p:nvSpPr>
            <p:spPr bwMode="auto">
              <a:xfrm flipH="1">
                <a:off x="1501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" name="Line 243"/>
              <p:cNvSpPr>
                <a:spLocks noChangeShapeType="1"/>
              </p:cNvSpPr>
              <p:nvPr/>
            </p:nvSpPr>
            <p:spPr bwMode="auto">
              <a:xfrm flipH="1">
                <a:off x="1321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Line 244"/>
              <p:cNvSpPr>
                <a:spLocks noChangeShapeType="1"/>
              </p:cNvSpPr>
              <p:nvPr/>
            </p:nvSpPr>
            <p:spPr bwMode="auto">
              <a:xfrm flipH="1">
                <a:off x="1141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Line 245"/>
              <p:cNvSpPr>
                <a:spLocks noChangeShapeType="1"/>
              </p:cNvSpPr>
              <p:nvPr/>
            </p:nvSpPr>
            <p:spPr bwMode="auto">
              <a:xfrm flipH="1">
                <a:off x="961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" name="Line 246"/>
              <p:cNvSpPr>
                <a:spLocks noChangeShapeType="1"/>
              </p:cNvSpPr>
              <p:nvPr/>
            </p:nvSpPr>
            <p:spPr bwMode="auto">
              <a:xfrm flipH="1">
                <a:off x="781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Line 247"/>
              <p:cNvSpPr>
                <a:spLocks noChangeShapeType="1"/>
              </p:cNvSpPr>
              <p:nvPr/>
            </p:nvSpPr>
            <p:spPr bwMode="auto">
              <a:xfrm flipH="1">
                <a:off x="600" y="840"/>
                <a:ext cx="8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Line 248"/>
              <p:cNvSpPr>
                <a:spLocks noChangeShapeType="1"/>
              </p:cNvSpPr>
              <p:nvPr/>
            </p:nvSpPr>
            <p:spPr bwMode="auto">
              <a:xfrm flipH="1">
                <a:off x="480" y="840"/>
                <a:ext cx="2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6" name="Text Box 249"/>
            <p:cNvSpPr txBox="1">
              <a:spLocks noChangeArrowheads="1"/>
            </p:cNvSpPr>
            <p:nvPr/>
          </p:nvSpPr>
          <p:spPr bwMode="auto">
            <a:xfrm>
              <a:off x="67" y="1868"/>
              <a:ext cx="237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7" name="Rectangle 250"/>
            <p:cNvSpPr>
              <a:spLocks noChangeArrowheads="1"/>
            </p:cNvSpPr>
            <p:nvPr/>
          </p:nvSpPr>
          <p:spPr bwMode="auto">
            <a:xfrm>
              <a:off x="384" y="956"/>
              <a:ext cx="53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v</a:t>
              </a:r>
              <a:endParaRPr lang="fr-FR" altLang="fr-FR" sz="1800" b="1">
                <a:latin typeface="Times New Roman" panose="02020603050405020304" pitchFamily="18" charset="0"/>
              </a:endParaRPr>
            </a:p>
          </p:txBody>
        </p:sp>
        <p:grpSp>
          <p:nvGrpSpPr>
            <p:cNvPr id="28" name="Group 251"/>
            <p:cNvGrpSpPr>
              <a:grpSpLocks/>
            </p:cNvGrpSpPr>
            <p:nvPr/>
          </p:nvGrpSpPr>
          <p:grpSpPr bwMode="auto">
            <a:xfrm>
              <a:off x="267" y="2635"/>
              <a:ext cx="44" cy="659"/>
              <a:chOff x="520" y="3500"/>
              <a:chExt cx="140" cy="2380"/>
            </a:xfrm>
          </p:grpSpPr>
          <p:sp>
            <p:nvSpPr>
              <p:cNvPr id="40" name="Freeform 252"/>
              <p:cNvSpPr>
                <a:spLocks/>
              </p:cNvSpPr>
              <p:nvPr/>
            </p:nvSpPr>
            <p:spPr bwMode="auto">
              <a:xfrm>
                <a:off x="520" y="3500"/>
                <a:ext cx="140" cy="280"/>
              </a:xfrm>
              <a:custGeom>
                <a:avLst/>
                <a:gdLst>
                  <a:gd name="T0" fmla="*/ 60 w 140"/>
                  <a:gd name="T1" fmla="*/ 0 h 280"/>
                  <a:gd name="T2" fmla="*/ 140 w 140"/>
                  <a:gd name="T3" fmla="*/ 280 h 280"/>
                  <a:gd name="T4" fmla="*/ 60 w 140"/>
                  <a:gd name="T5" fmla="*/ 280 h 280"/>
                  <a:gd name="T6" fmla="*/ 0 w 140"/>
                  <a:gd name="T7" fmla="*/ 280 h 280"/>
                  <a:gd name="T8" fmla="*/ 60 w 140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280">
                    <a:moveTo>
                      <a:pt x="60" y="0"/>
                    </a:moveTo>
                    <a:lnTo>
                      <a:pt x="140" y="280"/>
                    </a:lnTo>
                    <a:lnTo>
                      <a:pt x="60" y="280"/>
                    </a:lnTo>
                    <a:lnTo>
                      <a:pt x="0" y="28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Line 253"/>
              <p:cNvSpPr>
                <a:spLocks noChangeShapeType="1"/>
              </p:cNvSpPr>
              <p:nvPr/>
            </p:nvSpPr>
            <p:spPr bwMode="auto">
              <a:xfrm>
                <a:off x="580" y="3780"/>
                <a:ext cx="1" cy="21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9" name="Group 254"/>
            <p:cNvGrpSpPr>
              <a:grpSpLocks/>
            </p:cNvGrpSpPr>
            <p:nvPr/>
          </p:nvGrpSpPr>
          <p:grpSpPr bwMode="auto">
            <a:xfrm>
              <a:off x="227" y="3198"/>
              <a:ext cx="2770" cy="56"/>
              <a:chOff x="420" y="5640"/>
              <a:chExt cx="6925" cy="140"/>
            </a:xfrm>
          </p:grpSpPr>
          <p:sp>
            <p:nvSpPr>
              <p:cNvPr id="38" name="Freeform 255"/>
              <p:cNvSpPr>
                <a:spLocks/>
              </p:cNvSpPr>
              <p:nvPr/>
            </p:nvSpPr>
            <p:spPr bwMode="auto">
              <a:xfrm>
                <a:off x="706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9" name="Line 256"/>
              <p:cNvSpPr>
                <a:spLocks noChangeShapeType="1"/>
              </p:cNvSpPr>
              <p:nvPr/>
            </p:nvSpPr>
            <p:spPr bwMode="auto">
              <a:xfrm>
                <a:off x="42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0" name="Rectangle 257"/>
            <p:cNvSpPr>
              <a:spLocks noChangeArrowheads="1"/>
            </p:cNvSpPr>
            <p:nvPr/>
          </p:nvSpPr>
          <p:spPr bwMode="auto">
            <a:xfrm>
              <a:off x="2957" y="3021"/>
              <a:ext cx="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1" name="Line 258"/>
            <p:cNvSpPr>
              <a:spLocks noChangeShapeType="1"/>
            </p:cNvSpPr>
            <p:nvPr/>
          </p:nvSpPr>
          <p:spPr bwMode="auto">
            <a:xfrm flipV="1">
              <a:off x="291" y="3224"/>
              <a:ext cx="910" cy="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59"/>
            <p:cNvSpPr>
              <a:spLocks noChangeShapeType="1"/>
            </p:cNvSpPr>
            <p:nvPr/>
          </p:nvSpPr>
          <p:spPr bwMode="auto">
            <a:xfrm>
              <a:off x="1204" y="2956"/>
              <a:ext cx="448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60"/>
            <p:cNvSpPr>
              <a:spLocks noChangeShapeType="1"/>
            </p:cNvSpPr>
            <p:nvPr/>
          </p:nvSpPr>
          <p:spPr bwMode="auto">
            <a:xfrm flipV="1">
              <a:off x="1652" y="3224"/>
              <a:ext cx="910" cy="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61"/>
            <p:cNvSpPr>
              <a:spLocks noChangeShapeType="1"/>
            </p:cNvSpPr>
            <p:nvPr/>
          </p:nvSpPr>
          <p:spPr bwMode="auto">
            <a:xfrm>
              <a:off x="2565" y="2956"/>
              <a:ext cx="312" cy="1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262"/>
            <p:cNvSpPr>
              <a:spLocks noChangeShapeType="1"/>
            </p:cNvSpPr>
            <p:nvPr/>
          </p:nvSpPr>
          <p:spPr bwMode="auto">
            <a:xfrm flipV="1">
              <a:off x="2562" y="2952"/>
              <a:ext cx="0" cy="2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263"/>
            <p:cNvSpPr>
              <a:spLocks noChangeShapeType="1"/>
            </p:cNvSpPr>
            <p:nvPr/>
          </p:nvSpPr>
          <p:spPr bwMode="auto">
            <a:xfrm flipV="1">
              <a:off x="1201" y="2952"/>
              <a:ext cx="0" cy="2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 Box 264"/>
            <p:cNvSpPr txBox="1">
              <a:spLocks noChangeArrowheads="1"/>
            </p:cNvSpPr>
            <p:nvPr/>
          </p:nvSpPr>
          <p:spPr bwMode="auto">
            <a:xfrm>
              <a:off x="67" y="2525"/>
              <a:ext cx="248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D</a:t>
              </a:r>
            </a:p>
          </p:txBody>
        </p:sp>
      </p:grpSp>
      <p:pic>
        <p:nvPicPr>
          <p:cNvPr id="117" name="Picture 26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579" y="3415146"/>
            <a:ext cx="4248150" cy="63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9" name="Picture 26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579" y="4135871"/>
            <a:ext cx="1008063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0" name="Picture 27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742" y="4999471"/>
            <a:ext cx="2684462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1" name="Connecteur droit 120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ZoneTexte 122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A6F7E67-B67C-2656-439F-A751A7C38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5"/>
          <a:stretch>
            <a:fillRect/>
          </a:stretch>
        </p:blipFill>
        <p:spPr>
          <a:xfrm>
            <a:off x="6459790" y="332753"/>
            <a:ext cx="5355602" cy="195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3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4534257" y="3388879"/>
            <a:ext cx="5113337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4750157" y="1731529"/>
            <a:ext cx="0" cy="187166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9719032" y="3531754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" name="Rectangle 6" descr="noir)"/>
          <p:cNvSpPr>
            <a:spLocks noChangeArrowheads="1"/>
          </p:cNvSpPr>
          <p:nvPr/>
        </p:nvSpPr>
        <p:spPr bwMode="auto">
          <a:xfrm>
            <a:off x="4751744" y="2452254"/>
            <a:ext cx="1295400" cy="9350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T</a:t>
            </a:r>
            <a:r>
              <a:rPr lang="fr-FR" altLang="fr-FR" sz="1800" baseline="-25000" dirty="0">
                <a:latin typeface="Calibri (Corps)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“</a:t>
            </a:r>
            <a:r>
              <a:rPr lang="fr-FR" altLang="fr-FR" sz="1800" dirty="0" err="1">
                <a:latin typeface="Calibri (Corps)"/>
              </a:rPr>
              <a:t>Closed</a:t>
            </a:r>
            <a:r>
              <a:rPr lang="fr-FR" altLang="fr-FR" sz="1800" dirty="0">
                <a:latin typeface="Calibri (Corps)"/>
              </a:rPr>
              <a:t>”</a:t>
            </a:r>
          </a:p>
        </p:txBody>
      </p:sp>
      <p:sp>
        <p:nvSpPr>
          <p:cNvPr id="12" name="Rectangle 7" descr="noir)"/>
          <p:cNvSpPr>
            <a:spLocks noChangeArrowheads="1"/>
          </p:cNvSpPr>
          <p:nvPr/>
        </p:nvSpPr>
        <p:spPr bwMode="auto">
          <a:xfrm>
            <a:off x="6047144" y="2452254"/>
            <a:ext cx="2636838" cy="9350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T</a:t>
            </a:r>
            <a:r>
              <a:rPr lang="fr-FR" altLang="fr-FR" sz="1800" baseline="-25000" dirty="0">
                <a:latin typeface="Calibri (Corps)"/>
              </a:rPr>
              <a:t>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“</a:t>
            </a:r>
            <a:r>
              <a:rPr lang="fr-FR" altLang="fr-FR" sz="1800" dirty="0" err="1">
                <a:latin typeface="Calibri (Corps)"/>
              </a:rPr>
              <a:t>Opened</a:t>
            </a:r>
            <a:r>
              <a:rPr lang="fr-FR" altLang="fr-FR" sz="1800" dirty="0">
                <a:latin typeface="Calibri (Corps)"/>
              </a:rPr>
              <a:t>”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605694" y="3552392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5758219" y="3546042"/>
            <a:ext cx="644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Symbol" panose="05050102010706020507" pitchFamily="18" charset="2"/>
              </a:rPr>
              <a:t>a</a:t>
            </a:r>
            <a:r>
              <a:rPr lang="fr-FR" altLang="fr-FR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8479194" y="3552392"/>
            <a:ext cx="420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4750157" y="4252479"/>
            <a:ext cx="1268412" cy="6350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4723169" y="4396942"/>
            <a:ext cx="13308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D</a:t>
            </a:r>
            <a:r>
              <a:rPr lang="fr-FR" altLang="fr-FR" sz="1800" b="1" i="1" baseline="-25000" dirty="0">
                <a:solidFill>
                  <a:srgbClr val="0033CC"/>
                </a:solidFill>
                <a:latin typeface="Calibri (Corps)"/>
              </a:rPr>
              <a:t>p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reverse</a:t>
            </a: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6018569" y="4258829"/>
            <a:ext cx="1728788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6307494" y="4403292"/>
            <a:ext cx="13564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FF9900"/>
                </a:solidFill>
                <a:latin typeface="Calibri (Corps)"/>
              </a:rPr>
              <a:t>D</a:t>
            </a:r>
            <a:r>
              <a:rPr lang="fr-FR" altLang="fr-FR" sz="1800" b="1" i="1" baseline="-25000" dirty="0">
                <a:solidFill>
                  <a:srgbClr val="FF9900"/>
                </a:solidFill>
                <a:latin typeface="Calibri (Corps)"/>
              </a:rPr>
              <a:t>p</a:t>
            </a:r>
            <a:r>
              <a:rPr lang="fr-FR" altLang="fr-FR" sz="1800" b="1" i="1" dirty="0">
                <a:solidFill>
                  <a:srgbClr val="FF9900"/>
                </a:solidFill>
                <a:latin typeface="Calibri (Corps)"/>
              </a:rPr>
              <a:t> </a:t>
            </a:r>
            <a:r>
              <a:rPr lang="fr-FR" altLang="fr-FR" sz="1800" b="1" i="1" dirty="0" err="1">
                <a:solidFill>
                  <a:srgbClr val="FF9900"/>
                </a:solidFill>
                <a:latin typeface="Calibri (Corps)"/>
              </a:rPr>
              <a:t>forward</a:t>
            </a:r>
            <a:endParaRPr lang="fr-FR" altLang="fr-FR" sz="1800" b="1" i="1" dirty="0">
              <a:solidFill>
                <a:srgbClr val="FF9900"/>
              </a:solidFill>
              <a:latin typeface="Calibri (Corps)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7774344" y="4258829"/>
            <a:ext cx="909638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7747357" y="4403292"/>
            <a:ext cx="1330814" cy="369332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9900"/>
                </a:solidFill>
                <a:latin typeface="Calibri (Corps)"/>
              </a:rPr>
              <a:t>D</a:t>
            </a:r>
            <a:r>
              <a:rPr lang="fr-FR" altLang="fr-FR" sz="1800" b="1" i="1" baseline="-25000" dirty="0">
                <a:solidFill>
                  <a:srgbClr val="009900"/>
                </a:solidFill>
                <a:latin typeface="Calibri (Corps)"/>
              </a:rPr>
              <a:t>p</a:t>
            </a:r>
            <a:r>
              <a:rPr lang="fr-FR" altLang="fr-FR" sz="1800" b="1" i="1" dirty="0">
                <a:solidFill>
                  <a:srgbClr val="009900"/>
                </a:solidFill>
                <a:latin typeface="Calibri (Corps)"/>
              </a:rPr>
              <a:t> reverse</a:t>
            </a: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 flipV="1">
            <a:off x="7747357" y="1955367"/>
            <a:ext cx="0" cy="2376487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7458432" y="3538104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fr-FR" altLang="fr-FR" sz="24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3970584" y="5238824"/>
            <a:ext cx="67899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 dirty="0">
                <a:solidFill>
                  <a:srgbClr val="FF3300"/>
                </a:solidFill>
                <a:latin typeface="Calibri (Corps)"/>
              </a:rPr>
              <a:t>At t</a:t>
            </a:r>
            <a:r>
              <a:rPr lang="fr-FR" altLang="fr-FR" sz="2400" b="1" i="1" baseline="-25000" dirty="0">
                <a:solidFill>
                  <a:srgbClr val="FF3300"/>
                </a:solidFill>
                <a:latin typeface="Calibri (Corps)"/>
              </a:rPr>
              <a:t>0</a:t>
            </a:r>
            <a:r>
              <a:rPr lang="fr-FR" altLang="fr-FR" sz="2400" b="1" i="1" dirty="0">
                <a:solidFill>
                  <a:srgbClr val="FF3300"/>
                </a:solidFill>
                <a:latin typeface="Calibri (Corps)"/>
              </a:rPr>
              <a:t> = </a:t>
            </a:r>
            <a:r>
              <a:rPr lang="fr-FR" altLang="fr-FR" sz="2400" b="1" i="1" dirty="0" err="1">
                <a:solidFill>
                  <a:srgbClr val="FF3300"/>
                </a:solidFill>
                <a:latin typeface="Calibri (Corps)"/>
              </a:rPr>
              <a:t>a’.T</a:t>
            </a:r>
            <a:r>
              <a:rPr lang="fr-FR" altLang="fr-FR" sz="2400" b="1" i="1" dirty="0">
                <a:solidFill>
                  <a:srgbClr val="FF3300"/>
                </a:solidFill>
                <a:latin typeface="Calibri (Corps)"/>
              </a:rPr>
              <a:t> : diode switches to reverse mode</a:t>
            </a:r>
          </a:p>
        </p:txBody>
      </p:sp>
      <p:cxnSp>
        <p:nvCxnSpPr>
          <p:cNvPr id="25" name="Connecteur droit 2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62954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71718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mode: Chronograms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26" y="1227989"/>
            <a:ext cx="6408737" cy="524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11"/>
          <p:cNvGrpSpPr>
            <a:grpSpLocks/>
          </p:cNvGrpSpPr>
          <p:nvPr/>
        </p:nvGrpSpPr>
        <p:grpSpPr bwMode="auto">
          <a:xfrm>
            <a:off x="4364763" y="4231539"/>
            <a:ext cx="2935288" cy="784225"/>
            <a:chOff x="1292" y="2568"/>
            <a:chExt cx="1849" cy="494"/>
          </a:xfrm>
        </p:grpSpPr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3" y="2659"/>
              <a:ext cx="197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AutoShape 7"/>
            <p:cNvSpPr>
              <a:spLocks/>
            </p:cNvSpPr>
            <p:nvPr/>
          </p:nvSpPr>
          <p:spPr bwMode="auto">
            <a:xfrm>
              <a:off x="2565" y="2587"/>
              <a:ext cx="576" cy="384"/>
            </a:xfrm>
            <a:prstGeom prst="borderCallout1">
              <a:avLst>
                <a:gd name="adj1" fmla="val 18750"/>
                <a:gd name="adj2" fmla="val -8333"/>
                <a:gd name="adj3" fmla="val 125000"/>
                <a:gd name="adj4" fmla="val -3975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" y="2568"/>
              <a:ext cx="453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AutoShape 8"/>
            <p:cNvSpPr>
              <a:spLocks/>
            </p:cNvSpPr>
            <p:nvPr/>
          </p:nvSpPr>
          <p:spPr bwMode="auto">
            <a:xfrm>
              <a:off x="1292" y="2678"/>
              <a:ext cx="361" cy="384"/>
            </a:xfrm>
            <a:prstGeom prst="borderCallout1">
              <a:avLst>
                <a:gd name="adj1" fmla="val 18750"/>
                <a:gd name="adj2" fmla="val 113296"/>
                <a:gd name="adj3" fmla="val 101301"/>
                <a:gd name="adj4" fmla="val 13822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47343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731034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mode: calculation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756" y="1765994"/>
            <a:ext cx="2219325" cy="59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718" y="1694557"/>
            <a:ext cx="143510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AutoShape 13"/>
          <p:cNvSpPr>
            <a:spLocks noChangeArrowheads="1"/>
          </p:cNvSpPr>
          <p:nvPr/>
        </p:nvSpPr>
        <p:spPr bwMode="auto">
          <a:xfrm>
            <a:off x="6947118" y="1910457"/>
            <a:ext cx="504825" cy="360362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10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033" y="3094087"/>
            <a:ext cx="4752975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6"/>
          <p:cNvGrpSpPr>
            <a:grpSpLocks/>
          </p:cNvGrpSpPr>
          <p:nvPr/>
        </p:nvGrpSpPr>
        <p:grpSpPr bwMode="auto">
          <a:xfrm>
            <a:off x="4679234" y="4540204"/>
            <a:ext cx="4111625" cy="1204912"/>
            <a:chOff x="657" y="2341"/>
            <a:chExt cx="2590" cy="759"/>
          </a:xfrm>
        </p:grpSpPr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>
              <a:off x="657" y="2614"/>
              <a:ext cx="499" cy="3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6 w 21600"/>
                <a:gd name="T13" fmla="*/ 5383 h 21600"/>
                <a:gd name="T14" fmla="*/ 18916 w 21600"/>
                <a:gd name="T15" fmla="*/ 162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14" name="Picture 1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2341"/>
              <a:ext cx="1637" cy="7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5" name="Connecteur droit 1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55797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54845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Discontinuous mode: output characteristics</a:t>
            </a:r>
          </a:p>
        </p:txBody>
      </p:sp>
      <p:sp>
        <p:nvSpPr>
          <p:cNvPr id="6" name="AutoShape 14"/>
          <p:cNvSpPr>
            <a:spLocks/>
          </p:cNvSpPr>
          <p:nvPr/>
        </p:nvSpPr>
        <p:spPr bwMode="auto">
          <a:xfrm>
            <a:off x="7107309" y="1125973"/>
            <a:ext cx="2587625" cy="782637"/>
          </a:xfrm>
          <a:prstGeom prst="borderCallout2">
            <a:avLst>
              <a:gd name="adj1" fmla="val 14606"/>
              <a:gd name="adj2" fmla="val -2944"/>
              <a:gd name="adj3" fmla="val 14606"/>
              <a:gd name="adj4" fmla="val -7056"/>
              <a:gd name="adj5" fmla="val 101014"/>
              <a:gd name="adj6" fmla="val -11352"/>
            </a:avLst>
          </a:prstGeom>
          <a:solidFill>
            <a:schemeClr val="bg1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" name="AutoShape 16"/>
          <p:cNvSpPr>
            <a:spLocks/>
          </p:cNvSpPr>
          <p:nvPr/>
        </p:nvSpPr>
        <p:spPr bwMode="auto">
          <a:xfrm>
            <a:off x="10274371" y="2019735"/>
            <a:ext cx="1220788" cy="609600"/>
          </a:xfrm>
          <a:prstGeom prst="borderCallout2">
            <a:avLst>
              <a:gd name="adj1" fmla="val 18750"/>
              <a:gd name="adj2" fmla="val -6241"/>
              <a:gd name="adj3" fmla="val 18750"/>
              <a:gd name="adj4" fmla="val -16644"/>
              <a:gd name="adj5" fmla="val 148440"/>
              <a:gd name="adj6" fmla="val -47463"/>
            </a:avLst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734" y="1197410"/>
            <a:ext cx="7621587" cy="514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7966146" y="2205473"/>
            <a:ext cx="0" cy="3671887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4186838" y="2802373"/>
            <a:ext cx="28030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 dirty="0" err="1">
                <a:solidFill>
                  <a:srgbClr val="FF3300"/>
                </a:solidFill>
                <a:latin typeface="Calibri (Corps)"/>
              </a:rPr>
              <a:t>Discontinuous</a:t>
            </a:r>
            <a:endParaRPr lang="fr-FR" altLang="fr-FR" sz="2400" b="1" i="1" dirty="0">
              <a:solidFill>
                <a:srgbClr val="FF3300"/>
              </a:solidFill>
              <a:latin typeface="Calibri (Corps)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 dirty="0">
                <a:solidFill>
                  <a:srgbClr val="FF3300"/>
                </a:solidFill>
                <a:latin typeface="Calibri (Corps)"/>
              </a:rPr>
              <a:t>mode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8245764" y="3111935"/>
            <a:ext cx="22859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>
                <a:solidFill>
                  <a:srgbClr val="0033CC"/>
                </a:solidFill>
                <a:latin typeface="Calibri (Corps)"/>
              </a:rPr>
              <a:t>Continuous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>
                <a:solidFill>
                  <a:srgbClr val="0033CC"/>
                </a:solidFill>
                <a:latin typeface="Calibri (Corps)"/>
              </a:rPr>
              <a:t>mode</a:t>
            </a:r>
          </a:p>
        </p:txBody>
      </p:sp>
      <p:sp>
        <p:nvSpPr>
          <p:cNvPr id="14" name="AutoShape 8"/>
          <p:cNvSpPr>
            <a:spLocks/>
          </p:cNvSpPr>
          <p:nvPr/>
        </p:nvSpPr>
        <p:spPr bwMode="auto">
          <a:xfrm>
            <a:off x="4941959" y="5877360"/>
            <a:ext cx="1392580" cy="609600"/>
          </a:xfrm>
          <a:prstGeom prst="accentCallout1">
            <a:avLst>
              <a:gd name="adj1" fmla="val 18750"/>
              <a:gd name="adj2" fmla="val -8333"/>
              <a:gd name="adj3" fmla="val -202083"/>
              <a:gd name="adj4" fmla="val -46875"/>
            </a:avLst>
          </a:prstGeom>
          <a:noFill/>
          <a:ln w="158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9900"/>
                </a:solidFill>
                <a:latin typeface="Calibri (Corps)"/>
              </a:rPr>
              <a:t>Boundary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9900"/>
                </a:solidFill>
                <a:latin typeface="Calibri (Corps)"/>
              </a:rPr>
              <a:t>mode</a:t>
            </a:r>
          </a:p>
        </p:txBody>
      </p: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984" y="1114860"/>
            <a:ext cx="230505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859" y="2005448"/>
            <a:ext cx="914400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AutoShape 18"/>
          <p:cNvSpPr>
            <a:spLocks/>
          </p:cNvSpPr>
          <p:nvPr/>
        </p:nvSpPr>
        <p:spPr bwMode="auto">
          <a:xfrm>
            <a:off x="4654621" y="1341873"/>
            <a:ext cx="1943100" cy="752475"/>
          </a:xfrm>
          <a:prstGeom prst="borderCallout2">
            <a:avLst>
              <a:gd name="adj1" fmla="val 15190"/>
              <a:gd name="adj2" fmla="val -3921"/>
              <a:gd name="adj3" fmla="val 15190"/>
              <a:gd name="adj4" fmla="val -9315"/>
              <a:gd name="adj5" fmla="val 105273"/>
              <a:gd name="adj6" fmla="val -14870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924226"/>
              </p:ext>
            </p:extLst>
          </p:nvPr>
        </p:nvGraphicFramePr>
        <p:xfrm>
          <a:off x="4786384" y="1352985"/>
          <a:ext cx="1693862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614" imgH="406224" progId="Equation.3">
                  <p:embed/>
                </p:oleObj>
              </mc:Choice>
              <mc:Fallback>
                <p:oleObj name="Equation" r:id="rId5" imgW="888614" imgH="406224" progId="Equation.3">
                  <p:embed/>
                  <p:pic>
                    <p:nvPicPr>
                      <p:cNvPr id="1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84" y="1352985"/>
                        <a:ext cx="1693862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7587946" y="5878705"/>
                <a:ext cx="2288896" cy="6916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946" y="5878705"/>
                <a:ext cx="2288896" cy="691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eur droit 1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2295052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54845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TPS61170</a:t>
            </a:r>
          </a:p>
        </p:txBody>
      </p:sp>
      <p:cxnSp>
        <p:nvCxnSpPr>
          <p:cNvPr id="20" name="Connecteur droit 1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598" y="1371807"/>
            <a:ext cx="7269287" cy="395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242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54845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Example : TPS61170</a:t>
            </a:r>
          </a:p>
        </p:txBody>
      </p:sp>
      <p:cxnSp>
        <p:nvCxnSpPr>
          <p:cNvPr id="20" name="Connecteur droit 1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870" y="1260387"/>
            <a:ext cx="6467475" cy="5143500"/>
          </a:xfrm>
          <a:prstGeom prst="rect">
            <a:avLst/>
          </a:prstGeom>
        </p:spPr>
      </p:pic>
      <p:sp>
        <p:nvSpPr>
          <p:cNvPr id="10" name="Rectangle à coins arrondis 9"/>
          <p:cNvSpPr/>
          <p:nvPr/>
        </p:nvSpPr>
        <p:spPr>
          <a:xfrm>
            <a:off x="6909670" y="4549766"/>
            <a:ext cx="2168813" cy="1014967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8867269" y="4549767"/>
            <a:ext cx="1774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Current Mode Control</a:t>
            </a:r>
          </a:p>
        </p:txBody>
      </p:sp>
      <p:cxnSp>
        <p:nvCxnSpPr>
          <p:cNvPr id="6" name="Connecteur droit avec flèche 5"/>
          <p:cNvCxnSpPr/>
          <p:nvPr/>
        </p:nvCxnSpPr>
        <p:spPr>
          <a:xfrm flipV="1">
            <a:off x="4134678" y="5141843"/>
            <a:ext cx="1020418" cy="7288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2682901" y="5870713"/>
            <a:ext cx="2899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Compensation slope (for stabilization)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875410" y="2785617"/>
            <a:ext cx="2052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Voltage control</a:t>
            </a:r>
          </a:p>
        </p:txBody>
      </p:sp>
      <p:sp>
        <p:nvSpPr>
          <p:cNvPr id="17" name="Forme libre 16"/>
          <p:cNvSpPr/>
          <p:nvPr/>
        </p:nvSpPr>
        <p:spPr>
          <a:xfrm>
            <a:off x="3248025" y="1209675"/>
            <a:ext cx="3381375" cy="4286250"/>
          </a:xfrm>
          <a:custGeom>
            <a:avLst/>
            <a:gdLst>
              <a:gd name="connsiteX0" fmla="*/ 3381375 w 3381375"/>
              <a:gd name="connsiteY0" fmla="*/ 9525 h 4286250"/>
              <a:gd name="connsiteX1" fmla="*/ 3381375 w 3381375"/>
              <a:gd name="connsiteY1" fmla="*/ 2543175 h 4286250"/>
              <a:gd name="connsiteX2" fmla="*/ 866775 w 3381375"/>
              <a:gd name="connsiteY2" fmla="*/ 2543175 h 4286250"/>
              <a:gd name="connsiteX3" fmla="*/ 866775 w 3381375"/>
              <a:gd name="connsiteY3" fmla="*/ 4286250 h 4286250"/>
              <a:gd name="connsiteX4" fmla="*/ 0 w 3381375"/>
              <a:gd name="connsiteY4" fmla="*/ 4286250 h 4286250"/>
              <a:gd name="connsiteX5" fmla="*/ 0 w 3381375"/>
              <a:gd name="connsiteY5" fmla="*/ 0 h 4286250"/>
              <a:gd name="connsiteX6" fmla="*/ 3381375 w 3381375"/>
              <a:gd name="connsiteY6" fmla="*/ 9525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1375" h="4286250">
                <a:moveTo>
                  <a:pt x="3381375" y="9525"/>
                </a:moveTo>
                <a:lnTo>
                  <a:pt x="3381375" y="2543175"/>
                </a:lnTo>
                <a:lnTo>
                  <a:pt x="866775" y="2543175"/>
                </a:lnTo>
                <a:lnTo>
                  <a:pt x="866775" y="4286250"/>
                </a:lnTo>
                <a:lnTo>
                  <a:pt x="0" y="4286250"/>
                </a:lnTo>
                <a:lnTo>
                  <a:pt x="0" y="0"/>
                </a:lnTo>
                <a:lnTo>
                  <a:pt x="3381375" y="9525"/>
                </a:lnTo>
                <a:close/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6353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Reminder : buck chopper</a:t>
            </a:r>
          </a:p>
        </p:txBody>
      </p:sp>
      <p:sp>
        <p:nvSpPr>
          <p:cNvPr id="87" name="Oval 82"/>
          <p:cNvSpPr>
            <a:spLocks noChangeArrowheads="1"/>
          </p:cNvSpPr>
          <p:nvPr/>
        </p:nvSpPr>
        <p:spPr bwMode="auto">
          <a:xfrm>
            <a:off x="2392880" y="1760461"/>
            <a:ext cx="2204562" cy="3280403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8" name="Oval 83"/>
          <p:cNvSpPr>
            <a:spLocks noChangeArrowheads="1"/>
          </p:cNvSpPr>
          <p:nvPr/>
        </p:nvSpPr>
        <p:spPr bwMode="auto">
          <a:xfrm>
            <a:off x="7204376" y="1166578"/>
            <a:ext cx="3449247" cy="3826336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9" name="AutoShape 84"/>
          <p:cNvSpPr>
            <a:spLocks noChangeArrowheads="1"/>
          </p:cNvSpPr>
          <p:nvPr/>
        </p:nvSpPr>
        <p:spPr bwMode="auto">
          <a:xfrm flipV="1">
            <a:off x="3209798" y="4167422"/>
            <a:ext cx="5741793" cy="1524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564" y="6322"/>
                </a:moveTo>
                <a:cubicBezTo>
                  <a:pt x="14328" y="5007"/>
                  <a:pt x="12604" y="4262"/>
                  <a:pt x="10800" y="4262"/>
                </a:cubicBezTo>
                <a:cubicBezTo>
                  <a:pt x="9238" y="4261"/>
                  <a:pt x="7729" y="4820"/>
                  <a:pt x="6544" y="5836"/>
                </a:cubicBezTo>
                <a:lnTo>
                  <a:pt x="3769" y="2601"/>
                </a:lnTo>
                <a:cubicBezTo>
                  <a:pt x="5727" y="922"/>
                  <a:pt x="8221" y="-1"/>
                  <a:pt x="10800" y="0"/>
                </a:cubicBezTo>
                <a:cubicBezTo>
                  <a:pt x="13780" y="0"/>
                  <a:pt x="16628" y="1231"/>
                  <a:pt x="18670" y="3403"/>
                </a:cubicBezTo>
                <a:lnTo>
                  <a:pt x="20637" y="1554"/>
                </a:lnTo>
                <a:lnTo>
                  <a:pt x="20425" y="8384"/>
                </a:lnTo>
                <a:lnTo>
                  <a:pt x="13596" y="8171"/>
                </a:lnTo>
                <a:lnTo>
                  <a:pt x="15564" y="6322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cxnSp>
        <p:nvCxnSpPr>
          <p:cNvPr id="90" name="Connecteur droit 8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ZoneTexte 91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065DEF-A34E-1190-2151-8E0940C68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373" y="1577050"/>
            <a:ext cx="8770964" cy="284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7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Reminder : boost chopper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 flipV="1">
            <a:off x="3800065" y="4332472"/>
            <a:ext cx="6111208" cy="189552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564" y="6322"/>
                </a:moveTo>
                <a:cubicBezTo>
                  <a:pt x="14328" y="5007"/>
                  <a:pt x="12604" y="4262"/>
                  <a:pt x="10800" y="4262"/>
                </a:cubicBezTo>
                <a:cubicBezTo>
                  <a:pt x="9238" y="4261"/>
                  <a:pt x="7729" y="4820"/>
                  <a:pt x="6544" y="5836"/>
                </a:cubicBezTo>
                <a:lnTo>
                  <a:pt x="3769" y="2601"/>
                </a:lnTo>
                <a:cubicBezTo>
                  <a:pt x="5727" y="922"/>
                  <a:pt x="8221" y="-1"/>
                  <a:pt x="10800" y="0"/>
                </a:cubicBezTo>
                <a:cubicBezTo>
                  <a:pt x="13780" y="0"/>
                  <a:pt x="16628" y="1231"/>
                  <a:pt x="18670" y="3403"/>
                </a:cubicBezTo>
                <a:lnTo>
                  <a:pt x="20637" y="1554"/>
                </a:lnTo>
                <a:lnTo>
                  <a:pt x="20425" y="8384"/>
                </a:lnTo>
                <a:lnTo>
                  <a:pt x="13596" y="8171"/>
                </a:lnTo>
                <a:lnTo>
                  <a:pt x="15564" y="6322"/>
                </a:lnTo>
                <a:close/>
              </a:path>
            </a:pathLst>
          </a:custGeom>
          <a:solidFill>
            <a:srgbClr val="339966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cxnSp>
        <p:nvCxnSpPr>
          <p:cNvPr id="12" name="Connecteur droit 1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9644429" y="1667014"/>
            <a:ext cx="2019300" cy="3909634"/>
          </a:xfrm>
          <a:prstGeom prst="ellips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2542168" y="1364762"/>
            <a:ext cx="3826073" cy="4213103"/>
          </a:xfrm>
          <a:prstGeom prst="ellips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D605A7E-CF44-9AD7-CA1B-8DB9B0AAF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6"/>
          <a:stretch>
            <a:fillRect/>
          </a:stretch>
        </p:blipFill>
        <p:spPr>
          <a:xfrm>
            <a:off x="2542168" y="1773540"/>
            <a:ext cx="8854716" cy="32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1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Linked sources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9706841" y="2505219"/>
            <a:ext cx="433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336829" y="1430481"/>
            <a:ext cx="357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5488854" y="2028969"/>
            <a:ext cx="1368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5488854" y="3468831"/>
            <a:ext cx="1368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5128491" y="2676669"/>
            <a:ext cx="720725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flipV="1">
            <a:off x="5488854" y="2028969"/>
            <a:ext cx="0" cy="6477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>
            <a:off x="5344391" y="2821131"/>
            <a:ext cx="288925" cy="0"/>
          </a:xfrm>
          <a:prstGeom prst="line">
            <a:avLst/>
          </a:prstGeom>
          <a:noFill/>
          <a:ln w="444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5488854" y="2821131"/>
            <a:ext cx="0" cy="6477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6857279" y="1813069"/>
            <a:ext cx="1295400" cy="1871662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H="1">
            <a:off x="6857279" y="1813069"/>
            <a:ext cx="1295400" cy="1871662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7720879" y="3108469"/>
            <a:ext cx="488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3600" b="1">
                <a:solidFill>
                  <a:srgbClr val="FF99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6857279" y="1740044"/>
            <a:ext cx="488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3600" b="1">
                <a:solidFill>
                  <a:srgbClr val="FF99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>
            <a:off x="8152679" y="2028969"/>
            <a:ext cx="503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>
            <a:off x="8152679" y="3468831"/>
            <a:ext cx="1425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3922440" y="3181494"/>
            <a:ext cx="13516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 err="1">
                <a:solidFill>
                  <a:srgbClr val="009900"/>
                </a:solidFill>
                <a:latin typeface="Calibri (Corps)"/>
              </a:rPr>
              <a:t>Reversible</a:t>
            </a:r>
            <a:endParaRPr lang="fr-FR" altLang="fr-FR" sz="1800" b="1" i="1" dirty="0">
              <a:solidFill>
                <a:srgbClr val="009900"/>
              </a:solidFill>
              <a:latin typeface="Calibri (Corps)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9900"/>
                </a:solidFill>
                <a:latin typeface="Calibri (Corps)"/>
              </a:rPr>
              <a:t>source</a:t>
            </a: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6845314" y="4045094"/>
            <a:ext cx="16209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 b="1" i="1" dirty="0">
                <a:solidFill>
                  <a:srgbClr val="FF9900"/>
                </a:solidFill>
                <a:latin typeface="Calibri (Corps)"/>
              </a:rPr>
              <a:t>Reversible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 b="1" i="1" dirty="0">
                <a:solidFill>
                  <a:srgbClr val="FF9900"/>
                </a:solidFill>
                <a:latin typeface="Calibri (Corps)"/>
              </a:rPr>
              <a:t>Chopper ???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9149629" y="3827606"/>
            <a:ext cx="18902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 i="1" dirty="0">
                <a:latin typeface="Calibri (Corps)"/>
              </a:rPr>
              <a:t>Reversible load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 i="1" dirty="0">
                <a:latin typeface="Calibri (Corps)"/>
              </a:rPr>
              <a:t>Ex: DC motor</a:t>
            </a:r>
          </a:p>
        </p:txBody>
      </p: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8584479" y="1913081"/>
            <a:ext cx="1033462" cy="233363"/>
            <a:chOff x="5396" y="401"/>
            <a:chExt cx="1699" cy="380"/>
          </a:xfrm>
        </p:grpSpPr>
        <p:grpSp>
          <p:nvGrpSpPr>
            <p:cNvPr id="26" name="Group 20"/>
            <p:cNvGrpSpPr>
              <a:grpSpLocks/>
            </p:cNvGrpSpPr>
            <p:nvPr/>
          </p:nvGrpSpPr>
          <p:grpSpPr bwMode="auto">
            <a:xfrm>
              <a:off x="5696" y="401"/>
              <a:ext cx="200" cy="380"/>
              <a:chOff x="5696" y="401"/>
              <a:chExt cx="200" cy="380"/>
            </a:xfrm>
          </p:grpSpPr>
          <p:grpSp>
            <p:nvGrpSpPr>
              <p:cNvPr id="66" name="Group 21"/>
              <p:cNvGrpSpPr>
                <a:grpSpLocks/>
              </p:cNvGrpSpPr>
              <p:nvPr/>
            </p:nvGrpSpPr>
            <p:grpSpPr bwMode="auto">
              <a:xfrm>
                <a:off x="5736" y="401"/>
                <a:ext cx="160" cy="380"/>
                <a:chOff x="5736" y="401"/>
                <a:chExt cx="160" cy="380"/>
              </a:xfrm>
            </p:grpSpPr>
            <p:sp>
              <p:nvSpPr>
                <p:cNvPr id="70" name="Freeform 22"/>
                <p:cNvSpPr>
                  <a:spLocks/>
                </p:cNvSpPr>
                <p:nvPr/>
              </p:nvSpPr>
              <p:spPr bwMode="auto">
                <a:xfrm>
                  <a:off x="5736" y="401"/>
                  <a:ext cx="160" cy="200"/>
                </a:xfrm>
                <a:custGeom>
                  <a:avLst/>
                  <a:gdLst>
                    <a:gd name="T0" fmla="*/ 0 w 160"/>
                    <a:gd name="T1" fmla="*/ 200 h 200"/>
                    <a:gd name="T2" fmla="*/ 0 w 160"/>
                    <a:gd name="T3" fmla="*/ 160 h 200"/>
                    <a:gd name="T4" fmla="*/ 20 w 160"/>
                    <a:gd name="T5" fmla="*/ 100 h 200"/>
                    <a:gd name="T6" fmla="*/ 40 w 160"/>
                    <a:gd name="T7" fmla="*/ 60 h 200"/>
                    <a:gd name="T8" fmla="*/ 60 w 160"/>
                    <a:gd name="T9" fmla="*/ 40 h 200"/>
                    <a:gd name="T10" fmla="*/ 100 w 160"/>
                    <a:gd name="T11" fmla="*/ 20 h 200"/>
                    <a:gd name="T12" fmla="*/ 120 w 160"/>
                    <a:gd name="T13" fmla="*/ 0 h 200"/>
                    <a:gd name="T14" fmla="*/ 140 w 160"/>
                    <a:gd name="T15" fmla="*/ 0 h 200"/>
                    <a:gd name="T16" fmla="*/ 160 w 160"/>
                    <a:gd name="T17" fmla="*/ 0 h 2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200">
                      <a:moveTo>
                        <a:pt x="0" y="200"/>
                      </a:moveTo>
                      <a:lnTo>
                        <a:pt x="0" y="160"/>
                      </a:lnTo>
                      <a:lnTo>
                        <a:pt x="20" y="100"/>
                      </a:lnTo>
                      <a:lnTo>
                        <a:pt x="40" y="60"/>
                      </a:lnTo>
                      <a:lnTo>
                        <a:pt x="60" y="40"/>
                      </a:lnTo>
                      <a:lnTo>
                        <a:pt x="100" y="20"/>
                      </a:lnTo>
                      <a:lnTo>
                        <a:pt x="120" y="0"/>
                      </a:lnTo>
                      <a:lnTo>
                        <a:pt x="140" y="0"/>
                      </a:lnTo>
                      <a:lnTo>
                        <a:pt x="16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1" name="Freeform 23"/>
                <p:cNvSpPr>
                  <a:spLocks/>
                </p:cNvSpPr>
                <p:nvPr/>
              </p:nvSpPr>
              <p:spPr bwMode="auto">
                <a:xfrm>
                  <a:off x="5736" y="601"/>
                  <a:ext cx="60" cy="180"/>
                </a:xfrm>
                <a:custGeom>
                  <a:avLst/>
                  <a:gdLst>
                    <a:gd name="T0" fmla="*/ 60 w 60"/>
                    <a:gd name="T1" fmla="*/ 180 h 180"/>
                    <a:gd name="T2" fmla="*/ 60 w 60"/>
                    <a:gd name="T3" fmla="*/ 180 h 180"/>
                    <a:gd name="T4" fmla="*/ 60 w 60"/>
                    <a:gd name="T5" fmla="*/ 180 h 180"/>
                    <a:gd name="T6" fmla="*/ 40 w 60"/>
                    <a:gd name="T7" fmla="*/ 160 h 180"/>
                    <a:gd name="T8" fmla="*/ 20 w 60"/>
                    <a:gd name="T9" fmla="*/ 120 h 180"/>
                    <a:gd name="T10" fmla="*/ 20 w 60"/>
                    <a:gd name="T11" fmla="*/ 120 h 180"/>
                    <a:gd name="T12" fmla="*/ 20 w 60"/>
                    <a:gd name="T13" fmla="*/ 100 h 180"/>
                    <a:gd name="T14" fmla="*/ 0 w 60"/>
                    <a:gd name="T15" fmla="*/ 40 h 180"/>
                    <a:gd name="T16" fmla="*/ 0 w 60"/>
                    <a:gd name="T17" fmla="*/ 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0" h="180">
                      <a:moveTo>
                        <a:pt x="60" y="180"/>
                      </a:moveTo>
                      <a:lnTo>
                        <a:pt x="60" y="180"/>
                      </a:lnTo>
                      <a:lnTo>
                        <a:pt x="40" y="160"/>
                      </a:lnTo>
                      <a:lnTo>
                        <a:pt x="20" y="120"/>
                      </a:lnTo>
                      <a:lnTo>
                        <a:pt x="20" y="100"/>
                      </a:lnTo>
                      <a:lnTo>
                        <a:pt x="0" y="4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7" name="Group 24"/>
              <p:cNvGrpSpPr>
                <a:grpSpLocks/>
              </p:cNvGrpSpPr>
              <p:nvPr/>
            </p:nvGrpSpPr>
            <p:grpSpPr bwMode="auto">
              <a:xfrm>
                <a:off x="5696" y="401"/>
                <a:ext cx="160" cy="380"/>
                <a:chOff x="5696" y="401"/>
                <a:chExt cx="160" cy="380"/>
              </a:xfrm>
            </p:grpSpPr>
            <p:sp>
              <p:nvSpPr>
                <p:cNvPr id="68" name="Freeform 25"/>
                <p:cNvSpPr>
                  <a:spLocks/>
                </p:cNvSpPr>
                <p:nvPr/>
              </p:nvSpPr>
              <p:spPr bwMode="auto">
                <a:xfrm>
                  <a:off x="5696" y="401"/>
                  <a:ext cx="160" cy="200"/>
                </a:xfrm>
                <a:custGeom>
                  <a:avLst/>
                  <a:gdLst>
                    <a:gd name="T0" fmla="*/ 0 w 160"/>
                    <a:gd name="T1" fmla="*/ 0 h 200"/>
                    <a:gd name="T2" fmla="*/ 20 w 160"/>
                    <a:gd name="T3" fmla="*/ 0 h 200"/>
                    <a:gd name="T4" fmla="*/ 40 w 160"/>
                    <a:gd name="T5" fmla="*/ 0 h 200"/>
                    <a:gd name="T6" fmla="*/ 60 w 160"/>
                    <a:gd name="T7" fmla="*/ 20 h 200"/>
                    <a:gd name="T8" fmla="*/ 100 w 160"/>
                    <a:gd name="T9" fmla="*/ 40 h 200"/>
                    <a:gd name="T10" fmla="*/ 120 w 160"/>
                    <a:gd name="T11" fmla="*/ 60 h 200"/>
                    <a:gd name="T12" fmla="*/ 140 w 160"/>
                    <a:gd name="T13" fmla="*/ 100 h 200"/>
                    <a:gd name="T14" fmla="*/ 160 w 160"/>
                    <a:gd name="T15" fmla="*/ 160 h 200"/>
                    <a:gd name="T16" fmla="*/ 160 w 160"/>
                    <a:gd name="T17" fmla="*/ 200 h 2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200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40" y="0"/>
                      </a:lnTo>
                      <a:lnTo>
                        <a:pt x="60" y="20"/>
                      </a:lnTo>
                      <a:lnTo>
                        <a:pt x="100" y="40"/>
                      </a:lnTo>
                      <a:lnTo>
                        <a:pt x="120" y="60"/>
                      </a:lnTo>
                      <a:lnTo>
                        <a:pt x="140" y="100"/>
                      </a:lnTo>
                      <a:lnTo>
                        <a:pt x="160" y="160"/>
                      </a:lnTo>
                      <a:lnTo>
                        <a:pt x="160" y="20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" name="Freeform 26"/>
                <p:cNvSpPr>
                  <a:spLocks/>
                </p:cNvSpPr>
                <p:nvPr/>
              </p:nvSpPr>
              <p:spPr bwMode="auto">
                <a:xfrm>
                  <a:off x="5796" y="601"/>
                  <a:ext cx="60" cy="180"/>
                </a:xfrm>
                <a:custGeom>
                  <a:avLst/>
                  <a:gdLst>
                    <a:gd name="T0" fmla="*/ 60 w 60"/>
                    <a:gd name="T1" fmla="*/ 0 h 180"/>
                    <a:gd name="T2" fmla="*/ 60 w 60"/>
                    <a:gd name="T3" fmla="*/ 40 h 180"/>
                    <a:gd name="T4" fmla="*/ 60 w 60"/>
                    <a:gd name="T5" fmla="*/ 100 h 180"/>
                    <a:gd name="T6" fmla="*/ 40 w 60"/>
                    <a:gd name="T7" fmla="*/ 120 h 180"/>
                    <a:gd name="T8" fmla="*/ 40 w 60"/>
                    <a:gd name="T9" fmla="*/ 120 h 180"/>
                    <a:gd name="T10" fmla="*/ 20 w 60"/>
                    <a:gd name="T11" fmla="*/ 160 h 180"/>
                    <a:gd name="T12" fmla="*/ 20 w 60"/>
                    <a:gd name="T13" fmla="*/ 160 h 180"/>
                    <a:gd name="T14" fmla="*/ 0 w 60"/>
                    <a:gd name="T15" fmla="*/ 180 h 180"/>
                    <a:gd name="T16" fmla="*/ 0 w 60"/>
                    <a:gd name="T17" fmla="*/ 18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0" h="180">
                      <a:moveTo>
                        <a:pt x="60" y="0"/>
                      </a:moveTo>
                      <a:lnTo>
                        <a:pt x="60" y="40"/>
                      </a:lnTo>
                      <a:lnTo>
                        <a:pt x="60" y="100"/>
                      </a:lnTo>
                      <a:lnTo>
                        <a:pt x="40" y="120"/>
                      </a:lnTo>
                      <a:lnTo>
                        <a:pt x="20" y="160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5876" y="401"/>
              <a:ext cx="200" cy="380"/>
              <a:chOff x="5876" y="401"/>
              <a:chExt cx="200" cy="380"/>
            </a:xfrm>
          </p:grpSpPr>
          <p:grpSp>
            <p:nvGrpSpPr>
              <p:cNvPr id="60" name="Group 28"/>
              <p:cNvGrpSpPr>
                <a:grpSpLocks/>
              </p:cNvGrpSpPr>
              <p:nvPr/>
            </p:nvGrpSpPr>
            <p:grpSpPr bwMode="auto">
              <a:xfrm>
                <a:off x="5916" y="401"/>
                <a:ext cx="160" cy="380"/>
                <a:chOff x="5916" y="401"/>
                <a:chExt cx="160" cy="380"/>
              </a:xfrm>
            </p:grpSpPr>
            <p:sp>
              <p:nvSpPr>
                <p:cNvPr id="64" name="Freeform 29"/>
                <p:cNvSpPr>
                  <a:spLocks/>
                </p:cNvSpPr>
                <p:nvPr/>
              </p:nvSpPr>
              <p:spPr bwMode="auto">
                <a:xfrm>
                  <a:off x="5916" y="401"/>
                  <a:ext cx="160" cy="200"/>
                </a:xfrm>
                <a:custGeom>
                  <a:avLst/>
                  <a:gdLst>
                    <a:gd name="T0" fmla="*/ 0 w 160"/>
                    <a:gd name="T1" fmla="*/ 200 h 200"/>
                    <a:gd name="T2" fmla="*/ 0 w 160"/>
                    <a:gd name="T3" fmla="*/ 160 h 200"/>
                    <a:gd name="T4" fmla="*/ 20 w 160"/>
                    <a:gd name="T5" fmla="*/ 100 h 200"/>
                    <a:gd name="T6" fmla="*/ 40 w 160"/>
                    <a:gd name="T7" fmla="*/ 60 h 200"/>
                    <a:gd name="T8" fmla="*/ 60 w 160"/>
                    <a:gd name="T9" fmla="*/ 40 h 200"/>
                    <a:gd name="T10" fmla="*/ 100 w 160"/>
                    <a:gd name="T11" fmla="*/ 20 h 200"/>
                    <a:gd name="T12" fmla="*/ 120 w 160"/>
                    <a:gd name="T13" fmla="*/ 0 h 200"/>
                    <a:gd name="T14" fmla="*/ 140 w 160"/>
                    <a:gd name="T15" fmla="*/ 0 h 200"/>
                    <a:gd name="T16" fmla="*/ 160 w 160"/>
                    <a:gd name="T17" fmla="*/ 0 h 2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200">
                      <a:moveTo>
                        <a:pt x="0" y="200"/>
                      </a:moveTo>
                      <a:lnTo>
                        <a:pt x="0" y="160"/>
                      </a:lnTo>
                      <a:lnTo>
                        <a:pt x="20" y="100"/>
                      </a:lnTo>
                      <a:lnTo>
                        <a:pt x="40" y="60"/>
                      </a:lnTo>
                      <a:lnTo>
                        <a:pt x="60" y="40"/>
                      </a:lnTo>
                      <a:lnTo>
                        <a:pt x="100" y="20"/>
                      </a:lnTo>
                      <a:lnTo>
                        <a:pt x="120" y="0"/>
                      </a:lnTo>
                      <a:lnTo>
                        <a:pt x="140" y="0"/>
                      </a:lnTo>
                      <a:lnTo>
                        <a:pt x="16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5" name="Freeform 30"/>
                <p:cNvSpPr>
                  <a:spLocks/>
                </p:cNvSpPr>
                <p:nvPr/>
              </p:nvSpPr>
              <p:spPr bwMode="auto">
                <a:xfrm>
                  <a:off x="5916" y="601"/>
                  <a:ext cx="60" cy="180"/>
                </a:xfrm>
                <a:custGeom>
                  <a:avLst/>
                  <a:gdLst>
                    <a:gd name="T0" fmla="*/ 60 w 60"/>
                    <a:gd name="T1" fmla="*/ 180 h 180"/>
                    <a:gd name="T2" fmla="*/ 60 w 60"/>
                    <a:gd name="T3" fmla="*/ 180 h 180"/>
                    <a:gd name="T4" fmla="*/ 60 w 60"/>
                    <a:gd name="T5" fmla="*/ 180 h 180"/>
                    <a:gd name="T6" fmla="*/ 40 w 60"/>
                    <a:gd name="T7" fmla="*/ 160 h 180"/>
                    <a:gd name="T8" fmla="*/ 20 w 60"/>
                    <a:gd name="T9" fmla="*/ 120 h 180"/>
                    <a:gd name="T10" fmla="*/ 20 w 60"/>
                    <a:gd name="T11" fmla="*/ 120 h 180"/>
                    <a:gd name="T12" fmla="*/ 20 w 60"/>
                    <a:gd name="T13" fmla="*/ 100 h 180"/>
                    <a:gd name="T14" fmla="*/ 0 w 60"/>
                    <a:gd name="T15" fmla="*/ 40 h 180"/>
                    <a:gd name="T16" fmla="*/ 0 w 60"/>
                    <a:gd name="T17" fmla="*/ 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0" h="180">
                      <a:moveTo>
                        <a:pt x="60" y="180"/>
                      </a:moveTo>
                      <a:lnTo>
                        <a:pt x="60" y="180"/>
                      </a:lnTo>
                      <a:lnTo>
                        <a:pt x="40" y="160"/>
                      </a:lnTo>
                      <a:lnTo>
                        <a:pt x="20" y="120"/>
                      </a:lnTo>
                      <a:lnTo>
                        <a:pt x="20" y="100"/>
                      </a:lnTo>
                      <a:lnTo>
                        <a:pt x="0" y="4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1" name="Group 31"/>
              <p:cNvGrpSpPr>
                <a:grpSpLocks/>
              </p:cNvGrpSpPr>
              <p:nvPr/>
            </p:nvGrpSpPr>
            <p:grpSpPr bwMode="auto">
              <a:xfrm>
                <a:off x="5876" y="401"/>
                <a:ext cx="160" cy="380"/>
                <a:chOff x="5876" y="401"/>
                <a:chExt cx="160" cy="380"/>
              </a:xfrm>
            </p:grpSpPr>
            <p:sp>
              <p:nvSpPr>
                <p:cNvPr id="62" name="Freeform 32"/>
                <p:cNvSpPr>
                  <a:spLocks/>
                </p:cNvSpPr>
                <p:nvPr/>
              </p:nvSpPr>
              <p:spPr bwMode="auto">
                <a:xfrm>
                  <a:off x="5876" y="401"/>
                  <a:ext cx="160" cy="200"/>
                </a:xfrm>
                <a:custGeom>
                  <a:avLst/>
                  <a:gdLst>
                    <a:gd name="T0" fmla="*/ 0 w 160"/>
                    <a:gd name="T1" fmla="*/ 0 h 200"/>
                    <a:gd name="T2" fmla="*/ 20 w 160"/>
                    <a:gd name="T3" fmla="*/ 0 h 200"/>
                    <a:gd name="T4" fmla="*/ 40 w 160"/>
                    <a:gd name="T5" fmla="*/ 0 h 200"/>
                    <a:gd name="T6" fmla="*/ 80 w 160"/>
                    <a:gd name="T7" fmla="*/ 20 h 200"/>
                    <a:gd name="T8" fmla="*/ 100 w 160"/>
                    <a:gd name="T9" fmla="*/ 40 h 200"/>
                    <a:gd name="T10" fmla="*/ 120 w 160"/>
                    <a:gd name="T11" fmla="*/ 60 h 200"/>
                    <a:gd name="T12" fmla="*/ 140 w 160"/>
                    <a:gd name="T13" fmla="*/ 100 h 200"/>
                    <a:gd name="T14" fmla="*/ 160 w 160"/>
                    <a:gd name="T15" fmla="*/ 160 h 200"/>
                    <a:gd name="T16" fmla="*/ 160 w 160"/>
                    <a:gd name="T17" fmla="*/ 200 h 2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200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40" y="0"/>
                      </a:lnTo>
                      <a:lnTo>
                        <a:pt x="80" y="20"/>
                      </a:lnTo>
                      <a:lnTo>
                        <a:pt x="100" y="40"/>
                      </a:lnTo>
                      <a:lnTo>
                        <a:pt x="120" y="60"/>
                      </a:lnTo>
                      <a:lnTo>
                        <a:pt x="140" y="100"/>
                      </a:lnTo>
                      <a:lnTo>
                        <a:pt x="160" y="160"/>
                      </a:lnTo>
                      <a:lnTo>
                        <a:pt x="160" y="20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3" name="Freeform 33"/>
                <p:cNvSpPr>
                  <a:spLocks/>
                </p:cNvSpPr>
                <p:nvPr/>
              </p:nvSpPr>
              <p:spPr bwMode="auto">
                <a:xfrm>
                  <a:off x="5976" y="601"/>
                  <a:ext cx="60" cy="180"/>
                </a:xfrm>
                <a:custGeom>
                  <a:avLst/>
                  <a:gdLst>
                    <a:gd name="T0" fmla="*/ 60 w 60"/>
                    <a:gd name="T1" fmla="*/ 0 h 180"/>
                    <a:gd name="T2" fmla="*/ 60 w 60"/>
                    <a:gd name="T3" fmla="*/ 40 h 180"/>
                    <a:gd name="T4" fmla="*/ 60 w 60"/>
                    <a:gd name="T5" fmla="*/ 100 h 180"/>
                    <a:gd name="T6" fmla="*/ 40 w 60"/>
                    <a:gd name="T7" fmla="*/ 120 h 180"/>
                    <a:gd name="T8" fmla="*/ 40 w 60"/>
                    <a:gd name="T9" fmla="*/ 120 h 180"/>
                    <a:gd name="T10" fmla="*/ 20 w 60"/>
                    <a:gd name="T11" fmla="*/ 160 h 180"/>
                    <a:gd name="T12" fmla="*/ 20 w 60"/>
                    <a:gd name="T13" fmla="*/ 160 h 180"/>
                    <a:gd name="T14" fmla="*/ 0 w 60"/>
                    <a:gd name="T15" fmla="*/ 180 h 180"/>
                    <a:gd name="T16" fmla="*/ 0 w 60"/>
                    <a:gd name="T17" fmla="*/ 18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0" h="180">
                      <a:moveTo>
                        <a:pt x="60" y="0"/>
                      </a:moveTo>
                      <a:lnTo>
                        <a:pt x="60" y="40"/>
                      </a:lnTo>
                      <a:lnTo>
                        <a:pt x="60" y="100"/>
                      </a:lnTo>
                      <a:lnTo>
                        <a:pt x="40" y="120"/>
                      </a:lnTo>
                      <a:lnTo>
                        <a:pt x="20" y="160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28" name="Group 34"/>
            <p:cNvGrpSpPr>
              <a:grpSpLocks/>
            </p:cNvGrpSpPr>
            <p:nvPr/>
          </p:nvGrpSpPr>
          <p:grpSpPr bwMode="auto">
            <a:xfrm>
              <a:off x="6056" y="401"/>
              <a:ext cx="200" cy="380"/>
              <a:chOff x="6056" y="401"/>
              <a:chExt cx="200" cy="380"/>
            </a:xfrm>
          </p:grpSpPr>
          <p:grpSp>
            <p:nvGrpSpPr>
              <p:cNvPr id="54" name="Group 35"/>
              <p:cNvGrpSpPr>
                <a:grpSpLocks/>
              </p:cNvGrpSpPr>
              <p:nvPr/>
            </p:nvGrpSpPr>
            <p:grpSpPr bwMode="auto">
              <a:xfrm>
                <a:off x="6096" y="401"/>
                <a:ext cx="160" cy="380"/>
                <a:chOff x="6096" y="401"/>
                <a:chExt cx="160" cy="380"/>
              </a:xfrm>
            </p:grpSpPr>
            <p:sp>
              <p:nvSpPr>
                <p:cNvPr id="58" name="Freeform 36"/>
                <p:cNvSpPr>
                  <a:spLocks/>
                </p:cNvSpPr>
                <p:nvPr/>
              </p:nvSpPr>
              <p:spPr bwMode="auto">
                <a:xfrm>
                  <a:off x="6096" y="401"/>
                  <a:ext cx="160" cy="200"/>
                </a:xfrm>
                <a:custGeom>
                  <a:avLst/>
                  <a:gdLst>
                    <a:gd name="T0" fmla="*/ 0 w 160"/>
                    <a:gd name="T1" fmla="*/ 200 h 200"/>
                    <a:gd name="T2" fmla="*/ 0 w 160"/>
                    <a:gd name="T3" fmla="*/ 160 h 200"/>
                    <a:gd name="T4" fmla="*/ 20 w 160"/>
                    <a:gd name="T5" fmla="*/ 100 h 200"/>
                    <a:gd name="T6" fmla="*/ 40 w 160"/>
                    <a:gd name="T7" fmla="*/ 60 h 200"/>
                    <a:gd name="T8" fmla="*/ 60 w 160"/>
                    <a:gd name="T9" fmla="*/ 40 h 200"/>
                    <a:gd name="T10" fmla="*/ 100 w 160"/>
                    <a:gd name="T11" fmla="*/ 20 h 200"/>
                    <a:gd name="T12" fmla="*/ 120 w 160"/>
                    <a:gd name="T13" fmla="*/ 0 h 200"/>
                    <a:gd name="T14" fmla="*/ 140 w 160"/>
                    <a:gd name="T15" fmla="*/ 0 h 200"/>
                    <a:gd name="T16" fmla="*/ 160 w 160"/>
                    <a:gd name="T17" fmla="*/ 0 h 2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200">
                      <a:moveTo>
                        <a:pt x="0" y="200"/>
                      </a:moveTo>
                      <a:lnTo>
                        <a:pt x="0" y="160"/>
                      </a:lnTo>
                      <a:lnTo>
                        <a:pt x="20" y="100"/>
                      </a:lnTo>
                      <a:lnTo>
                        <a:pt x="40" y="60"/>
                      </a:lnTo>
                      <a:lnTo>
                        <a:pt x="60" y="40"/>
                      </a:lnTo>
                      <a:lnTo>
                        <a:pt x="100" y="20"/>
                      </a:lnTo>
                      <a:lnTo>
                        <a:pt x="120" y="0"/>
                      </a:lnTo>
                      <a:lnTo>
                        <a:pt x="140" y="0"/>
                      </a:lnTo>
                      <a:lnTo>
                        <a:pt x="16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9" name="Freeform 37"/>
                <p:cNvSpPr>
                  <a:spLocks/>
                </p:cNvSpPr>
                <p:nvPr/>
              </p:nvSpPr>
              <p:spPr bwMode="auto">
                <a:xfrm>
                  <a:off x="6096" y="601"/>
                  <a:ext cx="80" cy="180"/>
                </a:xfrm>
                <a:custGeom>
                  <a:avLst/>
                  <a:gdLst>
                    <a:gd name="T0" fmla="*/ 80 w 80"/>
                    <a:gd name="T1" fmla="*/ 180 h 180"/>
                    <a:gd name="T2" fmla="*/ 80 w 80"/>
                    <a:gd name="T3" fmla="*/ 180 h 180"/>
                    <a:gd name="T4" fmla="*/ 60 w 80"/>
                    <a:gd name="T5" fmla="*/ 180 h 180"/>
                    <a:gd name="T6" fmla="*/ 40 w 80"/>
                    <a:gd name="T7" fmla="*/ 160 h 180"/>
                    <a:gd name="T8" fmla="*/ 20 w 80"/>
                    <a:gd name="T9" fmla="*/ 120 h 180"/>
                    <a:gd name="T10" fmla="*/ 20 w 80"/>
                    <a:gd name="T11" fmla="*/ 120 h 180"/>
                    <a:gd name="T12" fmla="*/ 20 w 80"/>
                    <a:gd name="T13" fmla="*/ 100 h 180"/>
                    <a:gd name="T14" fmla="*/ 0 w 80"/>
                    <a:gd name="T15" fmla="*/ 40 h 180"/>
                    <a:gd name="T16" fmla="*/ 0 w 80"/>
                    <a:gd name="T17" fmla="*/ 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0" h="180">
                      <a:moveTo>
                        <a:pt x="80" y="180"/>
                      </a:moveTo>
                      <a:lnTo>
                        <a:pt x="80" y="180"/>
                      </a:lnTo>
                      <a:lnTo>
                        <a:pt x="60" y="180"/>
                      </a:lnTo>
                      <a:lnTo>
                        <a:pt x="40" y="160"/>
                      </a:lnTo>
                      <a:lnTo>
                        <a:pt x="20" y="120"/>
                      </a:lnTo>
                      <a:lnTo>
                        <a:pt x="20" y="100"/>
                      </a:lnTo>
                      <a:lnTo>
                        <a:pt x="0" y="4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55" name="Group 38"/>
              <p:cNvGrpSpPr>
                <a:grpSpLocks/>
              </p:cNvGrpSpPr>
              <p:nvPr/>
            </p:nvGrpSpPr>
            <p:grpSpPr bwMode="auto">
              <a:xfrm>
                <a:off x="6056" y="401"/>
                <a:ext cx="180" cy="380"/>
                <a:chOff x="6056" y="401"/>
                <a:chExt cx="180" cy="380"/>
              </a:xfrm>
            </p:grpSpPr>
            <p:sp>
              <p:nvSpPr>
                <p:cNvPr id="56" name="Freeform 39"/>
                <p:cNvSpPr>
                  <a:spLocks/>
                </p:cNvSpPr>
                <p:nvPr/>
              </p:nvSpPr>
              <p:spPr bwMode="auto">
                <a:xfrm>
                  <a:off x="6056" y="401"/>
                  <a:ext cx="180" cy="200"/>
                </a:xfrm>
                <a:custGeom>
                  <a:avLst/>
                  <a:gdLst>
                    <a:gd name="T0" fmla="*/ 0 w 180"/>
                    <a:gd name="T1" fmla="*/ 0 h 200"/>
                    <a:gd name="T2" fmla="*/ 20 w 180"/>
                    <a:gd name="T3" fmla="*/ 0 h 200"/>
                    <a:gd name="T4" fmla="*/ 40 w 180"/>
                    <a:gd name="T5" fmla="*/ 0 h 200"/>
                    <a:gd name="T6" fmla="*/ 80 w 180"/>
                    <a:gd name="T7" fmla="*/ 20 h 200"/>
                    <a:gd name="T8" fmla="*/ 100 w 180"/>
                    <a:gd name="T9" fmla="*/ 40 h 200"/>
                    <a:gd name="T10" fmla="*/ 120 w 180"/>
                    <a:gd name="T11" fmla="*/ 60 h 200"/>
                    <a:gd name="T12" fmla="*/ 140 w 180"/>
                    <a:gd name="T13" fmla="*/ 80 h 200"/>
                    <a:gd name="T14" fmla="*/ 160 w 180"/>
                    <a:gd name="T15" fmla="*/ 120 h 200"/>
                    <a:gd name="T16" fmla="*/ 180 w 180"/>
                    <a:gd name="T17" fmla="*/ 160 h 200"/>
                    <a:gd name="T18" fmla="*/ 180 w 180"/>
                    <a:gd name="T19" fmla="*/ 180 h 200"/>
                    <a:gd name="T20" fmla="*/ 180 w 180"/>
                    <a:gd name="T21" fmla="*/ 200 h 2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80" h="200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40" y="0"/>
                      </a:lnTo>
                      <a:lnTo>
                        <a:pt x="80" y="20"/>
                      </a:lnTo>
                      <a:lnTo>
                        <a:pt x="100" y="40"/>
                      </a:lnTo>
                      <a:lnTo>
                        <a:pt x="120" y="60"/>
                      </a:lnTo>
                      <a:lnTo>
                        <a:pt x="140" y="80"/>
                      </a:lnTo>
                      <a:lnTo>
                        <a:pt x="160" y="120"/>
                      </a:lnTo>
                      <a:lnTo>
                        <a:pt x="180" y="160"/>
                      </a:lnTo>
                      <a:lnTo>
                        <a:pt x="180" y="180"/>
                      </a:lnTo>
                      <a:lnTo>
                        <a:pt x="180" y="20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7" name="Freeform 40"/>
                <p:cNvSpPr>
                  <a:spLocks/>
                </p:cNvSpPr>
                <p:nvPr/>
              </p:nvSpPr>
              <p:spPr bwMode="auto">
                <a:xfrm>
                  <a:off x="6156" y="601"/>
                  <a:ext cx="80" cy="180"/>
                </a:xfrm>
                <a:custGeom>
                  <a:avLst/>
                  <a:gdLst>
                    <a:gd name="T0" fmla="*/ 80 w 80"/>
                    <a:gd name="T1" fmla="*/ 0 h 180"/>
                    <a:gd name="T2" fmla="*/ 80 w 80"/>
                    <a:gd name="T3" fmla="*/ 40 h 180"/>
                    <a:gd name="T4" fmla="*/ 80 w 80"/>
                    <a:gd name="T5" fmla="*/ 100 h 180"/>
                    <a:gd name="T6" fmla="*/ 60 w 80"/>
                    <a:gd name="T7" fmla="*/ 120 h 180"/>
                    <a:gd name="T8" fmla="*/ 60 w 80"/>
                    <a:gd name="T9" fmla="*/ 120 h 180"/>
                    <a:gd name="T10" fmla="*/ 40 w 80"/>
                    <a:gd name="T11" fmla="*/ 160 h 180"/>
                    <a:gd name="T12" fmla="*/ 20 w 80"/>
                    <a:gd name="T13" fmla="*/ 180 h 180"/>
                    <a:gd name="T14" fmla="*/ 20 w 80"/>
                    <a:gd name="T15" fmla="*/ 180 h 180"/>
                    <a:gd name="T16" fmla="*/ 0 w 80"/>
                    <a:gd name="T17" fmla="*/ 18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0" h="180">
                      <a:moveTo>
                        <a:pt x="80" y="0"/>
                      </a:moveTo>
                      <a:lnTo>
                        <a:pt x="80" y="40"/>
                      </a:lnTo>
                      <a:lnTo>
                        <a:pt x="80" y="100"/>
                      </a:lnTo>
                      <a:lnTo>
                        <a:pt x="60" y="120"/>
                      </a:lnTo>
                      <a:lnTo>
                        <a:pt x="40" y="160"/>
                      </a:lnTo>
                      <a:lnTo>
                        <a:pt x="20" y="180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29" name="Group 41"/>
            <p:cNvGrpSpPr>
              <a:grpSpLocks/>
            </p:cNvGrpSpPr>
            <p:nvPr/>
          </p:nvGrpSpPr>
          <p:grpSpPr bwMode="auto">
            <a:xfrm>
              <a:off x="6236" y="401"/>
              <a:ext cx="200" cy="380"/>
              <a:chOff x="6236" y="401"/>
              <a:chExt cx="200" cy="380"/>
            </a:xfrm>
          </p:grpSpPr>
          <p:grpSp>
            <p:nvGrpSpPr>
              <p:cNvPr id="48" name="Group 42"/>
              <p:cNvGrpSpPr>
                <a:grpSpLocks/>
              </p:cNvGrpSpPr>
              <p:nvPr/>
            </p:nvGrpSpPr>
            <p:grpSpPr bwMode="auto">
              <a:xfrm>
                <a:off x="6276" y="401"/>
                <a:ext cx="160" cy="380"/>
                <a:chOff x="6276" y="401"/>
                <a:chExt cx="160" cy="380"/>
              </a:xfrm>
            </p:grpSpPr>
            <p:sp>
              <p:nvSpPr>
                <p:cNvPr id="52" name="Freeform 43"/>
                <p:cNvSpPr>
                  <a:spLocks/>
                </p:cNvSpPr>
                <p:nvPr/>
              </p:nvSpPr>
              <p:spPr bwMode="auto">
                <a:xfrm>
                  <a:off x="6276" y="401"/>
                  <a:ext cx="160" cy="200"/>
                </a:xfrm>
                <a:custGeom>
                  <a:avLst/>
                  <a:gdLst>
                    <a:gd name="T0" fmla="*/ 0 w 160"/>
                    <a:gd name="T1" fmla="*/ 200 h 200"/>
                    <a:gd name="T2" fmla="*/ 0 w 160"/>
                    <a:gd name="T3" fmla="*/ 180 h 200"/>
                    <a:gd name="T4" fmla="*/ 0 w 160"/>
                    <a:gd name="T5" fmla="*/ 160 h 200"/>
                    <a:gd name="T6" fmla="*/ 20 w 160"/>
                    <a:gd name="T7" fmla="*/ 120 h 200"/>
                    <a:gd name="T8" fmla="*/ 40 w 160"/>
                    <a:gd name="T9" fmla="*/ 80 h 200"/>
                    <a:gd name="T10" fmla="*/ 60 w 160"/>
                    <a:gd name="T11" fmla="*/ 60 h 200"/>
                    <a:gd name="T12" fmla="*/ 80 w 160"/>
                    <a:gd name="T13" fmla="*/ 40 h 200"/>
                    <a:gd name="T14" fmla="*/ 100 w 160"/>
                    <a:gd name="T15" fmla="*/ 20 h 200"/>
                    <a:gd name="T16" fmla="*/ 120 w 160"/>
                    <a:gd name="T17" fmla="*/ 0 h 200"/>
                    <a:gd name="T18" fmla="*/ 140 w 160"/>
                    <a:gd name="T19" fmla="*/ 0 h 200"/>
                    <a:gd name="T20" fmla="*/ 160 w 160"/>
                    <a:gd name="T21" fmla="*/ 0 h 2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60" h="200">
                      <a:moveTo>
                        <a:pt x="0" y="200"/>
                      </a:moveTo>
                      <a:lnTo>
                        <a:pt x="0" y="180"/>
                      </a:lnTo>
                      <a:lnTo>
                        <a:pt x="0" y="160"/>
                      </a:lnTo>
                      <a:lnTo>
                        <a:pt x="20" y="120"/>
                      </a:lnTo>
                      <a:lnTo>
                        <a:pt x="40" y="80"/>
                      </a:lnTo>
                      <a:lnTo>
                        <a:pt x="60" y="60"/>
                      </a:lnTo>
                      <a:lnTo>
                        <a:pt x="80" y="40"/>
                      </a:lnTo>
                      <a:lnTo>
                        <a:pt x="100" y="20"/>
                      </a:lnTo>
                      <a:lnTo>
                        <a:pt x="120" y="0"/>
                      </a:lnTo>
                      <a:lnTo>
                        <a:pt x="140" y="0"/>
                      </a:lnTo>
                      <a:lnTo>
                        <a:pt x="16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3" name="Freeform 44"/>
                <p:cNvSpPr>
                  <a:spLocks/>
                </p:cNvSpPr>
                <p:nvPr/>
              </p:nvSpPr>
              <p:spPr bwMode="auto">
                <a:xfrm>
                  <a:off x="6276" y="601"/>
                  <a:ext cx="80" cy="180"/>
                </a:xfrm>
                <a:custGeom>
                  <a:avLst/>
                  <a:gdLst>
                    <a:gd name="T0" fmla="*/ 80 w 80"/>
                    <a:gd name="T1" fmla="*/ 180 h 180"/>
                    <a:gd name="T2" fmla="*/ 80 w 80"/>
                    <a:gd name="T3" fmla="*/ 180 h 180"/>
                    <a:gd name="T4" fmla="*/ 60 w 80"/>
                    <a:gd name="T5" fmla="*/ 180 h 180"/>
                    <a:gd name="T6" fmla="*/ 40 w 80"/>
                    <a:gd name="T7" fmla="*/ 160 h 180"/>
                    <a:gd name="T8" fmla="*/ 20 w 80"/>
                    <a:gd name="T9" fmla="*/ 120 h 180"/>
                    <a:gd name="T10" fmla="*/ 20 w 80"/>
                    <a:gd name="T11" fmla="*/ 120 h 180"/>
                    <a:gd name="T12" fmla="*/ 20 w 80"/>
                    <a:gd name="T13" fmla="*/ 100 h 180"/>
                    <a:gd name="T14" fmla="*/ 0 w 80"/>
                    <a:gd name="T15" fmla="*/ 40 h 180"/>
                    <a:gd name="T16" fmla="*/ 0 w 80"/>
                    <a:gd name="T17" fmla="*/ 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0" h="180">
                      <a:moveTo>
                        <a:pt x="80" y="180"/>
                      </a:moveTo>
                      <a:lnTo>
                        <a:pt x="80" y="180"/>
                      </a:lnTo>
                      <a:lnTo>
                        <a:pt x="60" y="180"/>
                      </a:lnTo>
                      <a:lnTo>
                        <a:pt x="40" y="160"/>
                      </a:lnTo>
                      <a:lnTo>
                        <a:pt x="20" y="120"/>
                      </a:lnTo>
                      <a:lnTo>
                        <a:pt x="20" y="100"/>
                      </a:lnTo>
                      <a:lnTo>
                        <a:pt x="0" y="4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49" name="Group 45"/>
              <p:cNvGrpSpPr>
                <a:grpSpLocks/>
              </p:cNvGrpSpPr>
              <p:nvPr/>
            </p:nvGrpSpPr>
            <p:grpSpPr bwMode="auto">
              <a:xfrm>
                <a:off x="6236" y="401"/>
                <a:ext cx="180" cy="380"/>
                <a:chOff x="6236" y="401"/>
                <a:chExt cx="180" cy="380"/>
              </a:xfrm>
            </p:grpSpPr>
            <p:sp>
              <p:nvSpPr>
                <p:cNvPr id="50" name="Freeform 46"/>
                <p:cNvSpPr>
                  <a:spLocks/>
                </p:cNvSpPr>
                <p:nvPr/>
              </p:nvSpPr>
              <p:spPr bwMode="auto">
                <a:xfrm>
                  <a:off x="6236" y="401"/>
                  <a:ext cx="180" cy="200"/>
                </a:xfrm>
                <a:custGeom>
                  <a:avLst/>
                  <a:gdLst>
                    <a:gd name="T0" fmla="*/ 0 w 180"/>
                    <a:gd name="T1" fmla="*/ 0 h 200"/>
                    <a:gd name="T2" fmla="*/ 20 w 180"/>
                    <a:gd name="T3" fmla="*/ 0 h 200"/>
                    <a:gd name="T4" fmla="*/ 40 w 180"/>
                    <a:gd name="T5" fmla="*/ 0 h 200"/>
                    <a:gd name="T6" fmla="*/ 80 w 180"/>
                    <a:gd name="T7" fmla="*/ 20 h 200"/>
                    <a:gd name="T8" fmla="*/ 100 w 180"/>
                    <a:gd name="T9" fmla="*/ 40 h 200"/>
                    <a:gd name="T10" fmla="*/ 120 w 180"/>
                    <a:gd name="T11" fmla="*/ 60 h 200"/>
                    <a:gd name="T12" fmla="*/ 140 w 180"/>
                    <a:gd name="T13" fmla="*/ 80 h 200"/>
                    <a:gd name="T14" fmla="*/ 160 w 180"/>
                    <a:gd name="T15" fmla="*/ 120 h 200"/>
                    <a:gd name="T16" fmla="*/ 180 w 180"/>
                    <a:gd name="T17" fmla="*/ 160 h 200"/>
                    <a:gd name="T18" fmla="*/ 180 w 180"/>
                    <a:gd name="T19" fmla="*/ 180 h 200"/>
                    <a:gd name="T20" fmla="*/ 180 w 180"/>
                    <a:gd name="T21" fmla="*/ 200 h 2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80" h="200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40" y="0"/>
                      </a:lnTo>
                      <a:lnTo>
                        <a:pt x="80" y="20"/>
                      </a:lnTo>
                      <a:lnTo>
                        <a:pt x="100" y="40"/>
                      </a:lnTo>
                      <a:lnTo>
                        <a:pt x="120" y="60"/>
                      </a:lnTo>
                      <a:lnTo>
                        <a:pt x="140" y="80"/>
                      </a:lnTo>
                      <a:lnTo>
                        <a:pt x="160" y="120"/>
                      </a:lnTo>
                      <a:lnTo>
                        <a:pt x="180" y="160"/>
                      </a:lnTo>
                      <a:lnTo>
                        <a:pt x="180" y="180"/>
                      </a:lnTo>
                      <a:lnTo>
                        <a:pt x="180" y="20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" name="Freeform 47"/>
                <p:cNvSpPr>
                  <a:spLocks/>
                </p:cNvSpPr>
                <p:nvPr/>
              </p:nvSpPr>
              <p:spPr bwMode="auto">
                <a:xfrm>
                  <a:off x="6336" y="601"/>
                  <a:ext cx="80" cy="180"/>
                </a:xfrm>
                <a:custGeom>
                  <a:avLst/>
                  <a:gdLst>
                    <a:gd name="T0" fmla="*/ 80 w 80"/>
                    <a:gd name="T1" fmla="*/ 0 h 180"/>
                    <a:gd name="T2" fmla="*/ 80 w 80"/>
                    <a:gd name="T3" fmla="*/ 40 h 180"/>
                    <a:gd name="T4" fmla="*/ 80 w 80"/>
                    <a:gd name="T5" fmla="*/ 100 h 180"/>
                    <a:gd name="T6" fmla="*/ 60 w 80"/>
                    <a:gd name="T7" fmla="*/ 120 h 180"/>
                    <a:gd name="T8" fmla="*/ 60 w 80"/>
                    <a:gd name="T9" fmla="*/ 120 h 180"/>
                    <a:gd name="T10" fmla="*/ 40 w 80"/>
                    <a:gd name="T11" fmla="*/ 160 h 180"/>
                    <a:gd name="T12" fmla="*/ 20 w 80"/>
                    <a:gd name="T13" fmla="*/ 180 h 180"/>
                    <a:gd name="T14" fmla="*/ 20 w 80"/>
                    <a:gd name="T15" fmla="*/ 180 h 180"/>
                    <a:gd name="T16" fmla="*/ 0 w 80"/>
                    <a:gd name="T17" fmla="*/ 18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0" h="180">
                      <a:moveTo>
                        <a:pt x="80" y="0"/>
                      </a:moveTo>
                      <a:lnTo>
                        <a:pt x="80" y="40"/>
                      </a:lnTo>
                      <a:lnTo>
                        <a:pt x="80" y="100"/>
                      </a:lnTo>
                      <a:lnTo>
                        <a:pt x="60" y="120"/>
                      </a:lnTo>
                      <a:lnTo>
                        <a:pt x="40" y="160"/>
                      </a:lnTo>
                      <a:lnTo>
                        <a:pt x="20" y="180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30" name="Group 48"/>
            <p:cNvGrpSpPr>
              <a:grpSpLocks/>
            </p:cNvGrpSpPr>
            <p:nvPr/>
          </p:nvGrpSpPr>
          <p:grpSpPr bwMode="auto">
            <a:xfrm>
              <a:off x="6436" y="401"/>
              <a:ext cx="200" cy="380"/>
              <a:chOff x="6436" y="401"/>
              <a:chExt cx="200" cy="380"/>
            </a:xfrm>
          </p:grpSpPr>
          <p:grpSp>
            <p:nvGrpSpPr>
              <p:cNvPr id="42" name="Group 49"/>
              <p:cNvGrpSpPr>
                <a:grpSpLocks/>
              </p:cNvGrpSpPr>
              <p:nvPr/>
            </p:nvGrpSpPr>
            <p:grpSpPr bwMode="auto">
              <a:xfrm>
                <a:off x="6456" y="401"/>
                <a:ext cx="180" cy="380"/>
                <a:chOff x="6456" y="401"/>
                <a:chExt cx="180" cy="380"/>
              </a:xfrm>
            </p:grpSpPr>
            <p:sp>
              <p:nvSpPr>
                <p:cNvPr id="46" name="Freeform 50"/>
                <p:cNvSpPr>
                  <a:spLocks/>
                </p:cNvSpPr>
                <p:nvPr/>
              </p:nvSpPr>
              <p:spPr bwMode="auto">
                <a:xfrm>
                  <a:off x="6456" y="401"/>
                  <a:ext cx="180" cy="200"/>
                </a:xfrm>
                <a:custGeom>
                  <a:avLst/>
                  <a:gdLst>
                    <a:gd name="T0" fmla="*/ 0 w 180"/>
                    <a:gd name="T1" fmla="*/ 200 h 200"/>
                    <a:gd name="T2" fmla="*/ 0 w 180"/>
                    <a:gd name="T3" fmla="*/ 180 h 200"/>
                    <a:gd name="T4" fmla="*/ 0 w 180"/>
                    <a:gd name="T5" fmla="*/ 160 h 200"/>
                    <a:gd name="T6" fmla="*/ 20 w 180"/>
                    <a:gd name="T7" fmla="*/ 120 h 200"/>
                    <a:gd name="T8" fmla="*/ 40 w 180"/>
                    <a:gd name="T9" fmla="*/ 80 h 200"/>
                    <a:gd name="T10" fmla="*/ 60 w 180"/>
                    <a:gd name="T11" fmla="*/ 60 h 200"/>
                    <a:gd name="T12" fmla="*/ 80 w 180"/>
                    <a:gd name="T13" fmla="*/ 40 h 200"/>
                    <a:gd name="T14" fmla="*/ 100 w 180"/>
                    <a:gd name="T15" fmla="*/ 20 h 200"/>
                    <a:gd name="T16" fmla="*/ 140 w 180"/>
                    <a:gd name="T17" fmla="*/ 0 h 200"/>
                    <a:gd name="T18" fmla="*/ 160 w 180"/>
                    <a:gd name="T19" fmla="*/ 0 h 200"/>
                    <a:gd name="T20" fmla="*/ 180 w 180"/>
                    <a:gd name="T21" fmla="*/ 0 h 2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80" h="200">
                      <a:moveTo>
                        <a:pt x="0" y="200"/>
                      </a:moveTo>
                      <a:lnTo>
                        <a:pt x="0" y="180"/>
                      </a:lnTo>
                      <a:lnTo>
                        <a:pt x="0" y="160"/>
                      </a:lnTo>
                      <a:lnTo>
                        <a:pt x="20" y="120"/>
                      </a:lnTo>
                      <a:lnTo>
                        <a:pt x="40" y="80"/>
                      </a:lnTo>
                      <a:lnTo>
                        <a:pt x="60" y="60"/>
                      </a:lnTo>
                      <a:lnTo>
                        <a:pt x="80" y="40"/>
                      </a:lnTo>
                      <a:lnTo>
                        <a:pt x="100" y="20"/>
                      </a:lnTo>
                      <a:lnTo>
                        <a:pt x="140" y="0"/>
                      </a:lnTo>
                      <a:lnTo>
                        <a:pt x="160" y="0"/>
                      </a:lnTo>
                      <a:lnTo>
                        <a:pt x="18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" name="Freeform 51"/>
                <p:cNvSpPr>
                  <a:spLocks/>
                </p:cNvSpPr>
                <p:nvPr/>
              </p:nvSpPr>
              <p:spPr bwMode="auto">
                <a:xfrm>
                  <a:off x="6456" y="601"/>
                  <a:ext cx="80" cy="180"/>
                </a:xfrm>
                <a:custGeom>
                  <a:avLst/>
                  <a:gdLst>
                    <a:gd name="T0" fmla="*/ 80 w 80"/>
                    <a:gd name="T1" fmla="*/ 180 h 180"/>
                    <a:gd name="T2" fmla="*/ 80 w 80"/>
                    <a:gd name="T3" fmla="*/ 180 h 180"/>
                    <a:gd name="T4" fmla="*/ 60 w 80"/>
                    <a:gd name="T5" fmla="*/ 180 h 180"/>
                    <a:gd name="T6" fmla="*/ 40 w 80"/>
                    <a:gd name="T7" fmla="*/ 160 h 180"/>
                    <a:gd name="T8" fmla="*/ 20 w 80"/>
                    <a:gd name="T9" fmla="*/ 120 h 180"/>
                    <a:gd name="T10" fmla="*/ 20 w 80"/>
                    <a:gd name="T11" fmla="*/ 120 h 180"/>
                    <a:gd name="T12" fmla="*/ 20 w 80"/>
                    <a:gd name="T13" fmla="*/ 100 h 180"/>
                    <a:gd name="T14" fmla="*/ 0 w 80"/>
                    <a:gd name="T15" fmla="*/ 40 h 180"/>
                    <a:gd name="T16" fmla="*/ 0 w 80"/>
                    <a:gd name="T17" fmla="*/ 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0" h="180">
                      <a:moveTo>
                        <a:pt x="80" y="180"/>
                      </a:moveTo>
                      <a:lnTo>
                        <a:pt x="80" y="180"/>
                      </a:lnTo>
                      <a:lnTo>
                        <a:pt x="60" y="180"/>
                      </a:lnTo>
                      <a:lnTo>
                        <a:pt x="40" y="160"/>
                      </a:lnTo>
                      <a:lnTo>
                        <a:pt x="20" y="120"/>
                      </a:lnTo>
                      <a:lnTo>
                        <a:pt x="20" y="100"/>
                      </a:lnTo>
                      <a:lnTo>
                        <a:pt x="0" y="4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43" name="Group 52"/>
              <p:cNvGrpSpPr>
                <a:grpSpLocks/>
              </p:cNvGrpSpPr>
              <p:nvPr/>
            </p:nvGrpSpPr>
            <p:grpSpPr bwMode="auto">
              <a:xfrm>
                <a:off x="6436" y="401"/>
                <a:ext cx="160" cy="380"/>
                <a:chOff x="6436" y="401"/>
                <a:chExt cx="160" cy="380"/>
              </a:xfrm>
            </p:grpSpPr>
            <p:sp>
              <p:nvSpPr>
                <p:cNvPr id="44" name="Freeform 53"/>
                <p:cNvSpPr>
                  <a:spLocks/>
                </p:cNvSpPr>
                <p:nvPr/>
              </p:nvSpPr>
              <p:spPr bwMode="auto">
                <a:xfrm>
                  <a:off x="6436" y="401"/>
                  <a:ext cx="160" cy="200"/>
                </a:xfrm>
                <a:custGeom>
                  <a:avLst/>
                  <a:gdLst>
                    <a:gd name="T0" fmla="*/ 0 w 160"/>
                    <a:gd name="T1" fmla="*/ 0 h 200"/>
                    <a:gd name="T2" fmla="*/ 20 w 160"/>
                    <a:gd name="T3" fmla="*/ 0 h 200"/>
                    <a:gd name="T4" fmla="*/ 40 w 160"/>
                    <a:gd name="T5" fmla="*/ 0 h 200"/>
                    <a:gd name="T6" fmla="*/ 60 w 160"/>
                    <a:gd name="T7" fmla="*/ 20 h 200"/>
                    <a:gd name="T8" fmla="*/ 80 w 160"/>
                    <a:gd name="T9" fmla="*/ 40 h 200"/>
                    <a:gd name="T10" fmla="*/ 100 w 160"/>
                    <a:gd name="T11" fmla="*/ 60 h 200"/>
                    <a:gd name="T12" fmla="*/ 120 w 160"/>
                    <a:gd name="T13" fmla="*/ 80 h 200"/>
                    <a:gd name="T14" fmla="*/ 140 w 160"/>
                    <a:gd name="T15" fmla="*/ 120 h 200"/>
                    <a:gd name="T16" fmla="*/ 160 w 160"/>
                    <a:gd name="T17" fmla="*/ 160 h 200"/>
                    <a:gd name="T18" fmla="*/ 160 w 160"/>
                    <a:gd name="T19" fmla="*/ 180 h 200"/>
                    <a:gd name="T20" fmla="*/ 160 w 160"/>
                    <a:gd name="T21" fmla="*/ 200 h 2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60" h="200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40" y="0"/>
                      </a:lnTo>
                      <a:lnTo>
                        <a:pt x="60" y="20"/>
                      </a:lnTo>
                      <a:lnTo>
                        <a:pt x="80" y="40"/>
                      </a:lnTo>
                      <a:lnTo>
                        <a:pt x="100" y="60"/>
                      </a:lnTo>
                      <a:lnTo>
                        <a:pt x="120" y="80"/>
                      </a:lnTo>
                      <a:lnTo>
                        <a:pt x="140" y="120"/>
                      </a:lnTo>
                      <a:lnTo>
                        <a:pt x="160" y="160"/>
                      </a:lnTo>
                      <a:lnTo>
                        <a:pt x="160" y="180"/>
                      </a:lnTo>
                      <a:lnTo>
                        <a:pt x="160" y="20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5" name="Freeform 54"/>
                <p:cNvSpPr>
                  <a:spLocks/>
                </p:cNvSpPr>
                <p:nvPr/>
              </p:nvSpPr>
              <p:spPr bwMode="auto">
                <a:xfrm>
                  <a:off x="6516" y="601"/>
                  <a:ext cx="80" cy="180"/>
                </a:xfrm>
                <a:custGeom>
                  <a:avLst/>
                  <a:gdLst>
                    <a:gd name="T0" fmla="*/ 80 w 80"/>
                    <a:gd name="T1" fmla="*/ 0 h 180"/>
                    <a:gd name="T2" fmla="*/ 80 w 80"/>
                    <a:gd name="T3" fmla="*/ 40 h 180"/>
                    <a:gd name="T4" fmla="*/ 80 w 80"/>
                    <a:gd name="T5" fmla="*/ 100 h 180"/>
                    <a:gd name="T6" fmla="*/ 60 w 80"/>
                    <a:gd name="T7" fmla="*/ 120 h 180"/>
                    <a:gd name="T8" fmla="*/ 60 w 80"/>
                    <a:gd name="T9" fmla="*/ 120 h 180"/>
                    <a:gd name="T10" fmla="*/ 40 w 80"/>
                    <a:gd name="T11" fmla="*/ 160 h 180"/>
                    <a:gd name="T12" fmla="*/ 20 w 80"/>
                    <a:gd name="T13" fmla="*/ 180 h 180"/>
                    <a:gd name="T14" fmla="*/ 20 w 80"/>
                    <a:gd name="T15" fmla="*/ 180 h 180"/>
                    <a:gd name="T16" fmla="*/ 0 w 80"/>
                    <a:gd name="T17" fmla="*/ 18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0" h="180">
                      <a:moveTo>
                        <a:pt x="80" y="0"/>
                      </a:moveTo>
                      <a:lnTo>
                        <a:pt x="80" y="40"/>
                      </a:lnTo>
                      <a:lnTo>
                        <a:pt x="80" y="100"/>
                      </a:lnTo>
                      <a:lnTo>
                        <a:pt x="60" y="120"/>
                      </a:lnTo>
                      <a:lnTo>
                        <a:pt x="40" y="160"/>
                      </a:lnTo>
                      <a:lnTo>
                        <a:pt x="20" y="180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31" name="Group 55"/>
            <p:cNvGrpSpPr>
              <a:grpSpLocks/>
            </p:cNvGrpSpPr>
            <p:nvPr/>
          </p:nvGrpSpPr>
          <p:grpSpPr bwMode="auto">
            <a:xfrm>
              <a:off x="6616" y="401"/>
              <a:ext cx="200" cy="380"/>
              <a:chOff x="6616" y="401"/>
              <a:chExt cx="200" cy="380"/>
            </a:xfrm>
          </p:grpSpPr>
          <p:grpSp>
            <p:nvGrpSpPr>
              <p:cNvPr id="36" name="Group 56"/>
              <p:cNvGrpSpPr>
                <a:grpSpLocks/>
              </p:cNvGrpSpPr>
              <p:nvPr/>
            </p:nvGrpSpPr>
            <p:grpSpPr bwMode="auto">
              <a:xfrm>
                <a:off x="6636" y="401"/>
                <a:ext cx="180" cy="380"/>
                <a:chOff x="6636" y="401"/>
                <a:chExt cx="180" cy="380"/>
              </a:xfrm>
            </p:grpSpPr>
            <p:sp>
              <p:nvSpPr>
                <p:cNvPr id="40" name="Freeform 57"/>
                <p:cNvSpPr>
                  <a:spLocks/>
                </p:cNvSpPr>
                <p:nvPr/>
              </p:nvSpPr>
              <p:spPr bwMode="auto">
                <a:xfrm>
                  <a:off x="6636" y="401"/>
                  <a:ext cx="180" cy="200"/>
                </a:xfrm>
                <a:custGeom>
                  <a:avLst/>
                  <a:gdLst>
                    <a:gd name="T0" fmla="*/ 0 w 180"/>
                    <a:gd name="T1" fmla="*/ 200 h 200"/>
                    <a:gd name="T2" fmla="*/ 0 w 180"/>
                    <a:gd name="T3" fmla="*/ 180 h 200"/>
                    <a:gd name="T4" fmla="*/ 0 w 180"/>
                    <a:gd name="T5" fmla="*/ 160 h 200"/>
                    <a:gd name="T6" fmla="*/ 20 w 180"/>
                    <a:gd name="T7" fmla="*/ 120 h 200"/>
                    <a:gd name="T8" fmla="*/ 40 w 180"/>
                    <a:gd name="T9" fmla="*/ 80 h 200"/>
                    <a:gd name="T10" fmla="*/ 60 w 180"/>
                    <a:gd name="T11" fmla="*/ 60 h 200"/>
                    <a:gd name="T12" fmla="*/ 80 w 180"/>
                    <a:gd name="T13" fmla="*/ 40 h 200"/>
                    <a:gd name="T14" fmla="*/ 100 w 180"/>
                    <a:gd name="T15" fmla="*/ 20 h 200"/>
                    <a:gd name="T16" fmla="*/ 140 w 180"/>
                    <a:gd name="T17" fmla="*/ 0 h 200"/>
                    <a:gd name="T18" fmla="*/ 160 w 180"/>
                    <a:gd name="T19" fmla="*/ 0 h 200"/>
                    <a:gd name="T20" fmla="*/ 180 w 180"/>
                    <a:gd name="T21" fmla="*/ 0 h 2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80" h="200">
                      <a:moveTo>
                        <a:pt x="0" y="200"/>
                      </a:moveTo>
                      <a:lnTo>
                        <a:pt x="0" y="180"/>
                      </a:lnTo>
                      <a:lnTo>
                        <a:pt x="0" y="160"/>
                      </a:lnTo>
                      <a:lnTo>
                        <a:pt x="20" y="120"/>
                      </a:lnTo>
                      <a:lnTo>
                        <a:pt x="40" y="80"/>
                      </a:lnTo>
                      <a:lnTo>
                        <a:pt x="60" y="60"/>
                      </a:lnTo>
                      <a:lnTo>
                        <a:pt x="80" y="40"/>
                      </a:lnTo>
                      <a:lnTo>
                        <a:pt x="100" y="20"/>
                      </a:lnTo>
                      <a:lnTo>
                        <a:pt x="140" y="0"/>
                      </a:lnTo>
                      <a:lnTo>
                        <a:pt x="160" y="0"/>
                      </a:lnTo>
                      <a:lnTo>
                        <a:pt x="18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1" name="Freeform 58"/>
                <p:cNvSpPr>
                  <a:spLocks/>
                </p:cNvSpPr>
                <p:nvPr/>
              </p:nvSpPr>
              <p:spPr bwMode="auto">
                <a:xfrm>
                  <a:off x="6636" y="601"/>
                  <a:ext cx="80" cy="180"/>
                </a:xfrm>
                <a:custGeom>
                  <a:avLst/>
                  <a:gdLst>
                    <a:gd name="T0" fmla="*/ 80 w 80"/>
                    <a:gd name="T1" fmla="*/ 180 h 180"/>
                    <a:gd name="T2" fmla="*/ 80 w 80"/>
                    <a:gd name="T3" fmla="*/ 180 h 180"/>
                    <a:gd name="T4" fmla="*/ 60 w 80"/>
                    <a:gd name="T5" fmla="*/ 180 h 180"/>
                    <a:gd name="T6" fmla="*/ 40 w 80"/>
                    <a:gd name="T7" fmla="*/ 160 h 180"/>
                    <a:gd name="T8" fmla="*/ 20 w 80"/>
                    <a:gd name="T9" fmla="*/ 120 h 180"/>
                    <a:gd name="T10" fmla="*/ 20 w 80"/>
                    <a:gd name="T11" fmla="*/ 120 h 180"/>
                    <a:gd name="T12" fmla="*/ 20 w 80"/>
                    <a:gd name="T13" fmla="*/ 100 h 180"/>
                    <a:gd name="T14" fmla="*/ 0 w 80"/>
                    <a:gd name="T15" fmla="*/ 40 h 180"/>
                    <a:gd name="T16" fmla="*/ 0 w 80"/>
                    <a:gd name="T17" fmla="*/ 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0" h="180">
                      <a:moveTo>
                        <a:pt x="80" y="180"/>
                      </a:moveTo>
                      <a:lnTo>
                        <a:pt x="80" y="180"/>
                      </a:lnTo>
                      <a:lnTo>
                        <a:pt x="60" y="180"/>
                      </a:lnTo>
                      <a:lnTo>
                        <a:pt x="40" y="160"/>
                      </a:lnTo>
                      <a:lnTo>
                        <a:pt x="20" y="120"/>
                      </a:lnTo>
                      <a:lnTo>
                        <a:pt x="20" y="100"/>
                      </a:lnTo>
                      <a:lnTo>
                        <a:pt x="0" y="4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37" name="Group 59"/>
              <p:cNvGrpSpPr>
                <a:grpSpLocks/>
              </p:cNvGrpSpPr>
              <p:nvPr/>
            </p:nvGrpSpPr>
            <p:grpSpPr bwMode="auto">
              <a:xfrm>
                <a:off x="6616" y="401"/>
                <a:ext cx="160" cy="380"/>
                <a:chOff x="6616" y="401"/>
                <a:chExt cx="160" cy="380"/>
              </a:xfrm>
            </p:grpSpPr>
            <p:sp>
              <p:nvSpPr>
                <p:cNvPr id="38" name="Freeform 60"/>
                <p:cNvSpPr>
                  <a:spLocks/>
                </p:cNvSpPr>
                <p:nvPr/>
              </p:nvSpPr>
              <p:spPr bwMode="auto">
                <a:xfrm>
                  <a:off x="6616" y="401"/>
                  <a:ext cx="160" cy="200"/>
                </a:xfrm>
                <a:custGeom>
                  <a:avLst/>
                  <a:gdLst>
                    <a:gd name="T0" fmla="*/ 0 w 160"/>
                    <a:gd name="T1" fmla="*/ 0 h 200"/>
                    <a:gd name="T2" fmla="*/ 20 w 160"/>
                    <a:gd name="T3" fmla="*/ 0 h 200"/>
                    <a:gd name="T4" fmla="*/ 40 w 160"/>
                    <a:gd name="T5" fmla="*/ 0 h 200"/>
                    <a:gd name="T6" fmla="*/ 60 w 160"/>
                    <a:gd name="T7" fmla="*/ 20 h 200"/>
                    <a:gd name="T8" fmla="*/ 100 w 160"/>
                    <a:gd name="T9" fmla="*/ 40 h 200"/>
                    <a:gd name="T10" fmla="*/ 120 w 160"/>
                    <a:gd name="T11" fmla="*/ 60 h 200"/>
                    <a:gd name="T12" fmla="*/ 140 w 160"/>
                    <a:gd name="T13" fmla="*/ 100 h 200"/>
                    <a:gd name="T14" fmla="*/ 160 w 160"/>
                    <a:gd name="T15" fmla="*/ 160 h 200"/>
                    <a:gd name="T16" fmla="*/ 160 w 160"/>
                    <a:gd name="T17" fmla="*/ 200 h 2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60" h="200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40" y="0"/>
                      </a:lnTo>
                      <a:lnTo>
                        <a:pt x="60" y="20"/>
                      </a:lnTo>
                      <a:lnTo>
                        <a:pt x="100" y="40"/>
                      </a:lnTo>
                      <a:lnTo>
                        <a:pt x="120" y="60"/>
                      </a:lnTo>
                      <a:lnTo>
                        <a:pt x="140" y="100"/>
                      </a:lnTo>
                      <a:lnTo>
                        <a:pt x="160" y="160"/>
                      </a:lnTo>
                      <a:lnTo>
                        <a:pt x="160" y="20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9" name="Freeform 61"/>
                <p:cNvSpPr>
                  <a:spLocks/>
                </p:cNvSpPr>
                <p:nvPr/>
              </p:nvSpPr>
              <p:spPr bwMode="auto">
                <a:xfrm>
                  <a:off x="6696" y="601"/>
                  <a:ext cx="80" cy="180"/>
                </a:xfrm>
                <a:custGeom>
                  <a:avLst/>
                  <a:gdLst>
                    <a:gd name="T0" fmla="*/ 80 w 80"/>
                    <a:gd name="T1" fmla="*/ 0 h 180"/>
                    <a:gd name="T2" fmla="*/ 80 w 80"/>
                    <a:gd name="T3" fmla="*/ 40 h 180"/>
                    <a:gd name="T4" fmla="*/ 80 w 80"/>
                    <a:gd name="T5" fmla="*/ 100 h 180"/>
                    <a:gd name="T6" fmla="*/ 60 w 80"/>
                    <a:gd name="T7" fmla="*/ 120 h 180"/>
                    <a:gd name="T8" fmla="*/ 60 w 80"/>
                    <a:gd name="T9" fmla="*/ 120 h 180"/>
                    <a:gd name="T10" fmla="*/ 40 w 80"/>
                    <a:gd name="T11" fmla="*/ 160 h 180"/>
                    <a:gd name="T12" fmla="*/ 20 w 80"/>
                    <a:gd name="T13" fmla="*/ 180 h 180"/>
                    <a:gd name="T14" fmla="*/ 20 w 80"/>
                    <a:gd name="T15" fmla="*/ 180 h 180"/>
                    <a:gd name="T16" fmla="*/ 0 w 80"/>
                    <a:gd name="T17" fmla="*/ 180 h 1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0" h="180">
                      <a:moveTo>
                        <a:pt x="80" y="0"/>
                      </a:moveTo>
                      <a:lnTo>
                        <a:pt x="80" y="40"/>
                      </a:lnTo>
                      <a:lnTo>
                        <a:pt x="80" y="100"/>
                      </a:lnTo>
                      <a:lnTo>
                        <a:pt x="60" y="120"/>
                      </a:lnTo>
                      <a:lnTo>
                        <a:pt x="40" y="160"/>
                      </a:lnTo>
                      <a:lnTo>
                        <a:pt x="20" y="180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32" name="Freeform 62"/>
            <p:cNvSpPr>
              <a:spLocks/>
            </p:cNvSpPr>
            <p:nvPr/>
          </p:nvSpPr>
          <p:spPr bwMode="auto">
            <a:xfrm>
              <a:off x="6796" y="401"/>
              <a:ext cx="159" cy="180"/>
            </a:xfrm>
            <a:custGeom>
              <a:avLst/>
              <a:gdLst>
                <a:gd name="T0" fmla="*/ 0 w 159"/>
                <a:gd name="T1" fmla="*/ 0 h 180"/>
                <a:gd name="T2" fmla="*/ 20 w 159"/>
                <a:gd name="T3" fmla="*/ 0 h 180"/>
                <a:gd name="T4" fmla="*/ 40 w 159"/>
                <a:gd name="T5" fmla="*/ 0 h 180"/>
                <a:gd name="T6" fmla="*/ 60 w 159"/>
                <a:gd name="T7" fmla="*/ 20 h 180"/>
                <a:gd name="T8" fmla="*/ 99 w 159"/>
                <a:gd name="T9" fmla="*/ 40 h 180"/>
                <a:gd name="T10" fmla="*/ 119 w 159"/>
                <a:gd name="T11" fmla="*/ 60 h 180"/>
                <a:gd name="T12" fmla="*/ 139 w 159"/>
                <a:gd name="T13" fmla="*/ 100 h 180"/>
                <a:gd name="T14" fmla="*/ 159 w 159"/>
                <a:gd name="T15" fmla="*/ 160 h 180"/>
                <a:gd name="T16" fmla="*/ 159 w 159"/>
                <a:gd name="T17" fmla="*/ 180 h 1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9" h="180">
                  <a:moveTo>
                    <a:pt x="0" y="0"/>
                  </a:moveTo>
                  <a:lnTo>
                    <a:pt x="20" y="0"/>
                  </a:lnTo>
                  <a:lnTo>
                    <a:pt x="40" y="0"/>
                  </a:lnTo>
                  <a:lnTo>
                    <a:pt x="60" y="20"/>
                  </a:lnTo>
                  <a:lnTo>
                    <a:pt x="99" y="40"/>
                  </a:lnTo>
                  <a:lnTo>
                    <a:pt x="119" y="60"/>
                  </a:lnTo>
                  <a:lnTo>
                    <a:pt x="139" y="100"/>
                  </a:lnTo>
                  <a:lnTo>
                    <a:pt x="159" y="160"/>
                  </a:lnTo>
                  <a:lnTo>
                    <a:pt x="159" y="18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63"/>
            <p:cNvSpPr>
              <a:spLocks/>
            </p:cNvSpPr>
            <p:nvPr/>
          </p:nvSpPr>
          <p:spPr bwMode="auto">
            <a:xfrm>
              <a:off x="5556" y="401"/>
              <a:ext cx="160" cy="200"/>
            </a:xfrm>
            <a:custGeom>
              <a:avLst/>
              <a:gdLst>
                <a:gd name="T0" fmla="*/ 0 w 160"/>
                <a:gd name="T1" fmla="*/ 200 h 200"/>
                <a:gd name="T2" fmla="*/ 0 w 160"/>
                <a:gd name="T3" fmla="*/ 160 h 200"/>
                <a:gd name="T4" fmla="*/ 20 w 160"/>
                <a:gd name="T5" fmla="*/ 100 h 200"/>
                <a:gd name="T6" fmla="*/ 40 w 160"/>
                <a:gd name="T7" fmla="*/ 60 h 200"/>
                <a:gd name="T8" fmla="*/ 60 w 160"/>
                <a:gd name="T9" fmla="*/ 40 h 200"/>
                <a:gd name="T10" fmla="*/ 80 w 160"/>
                <a:gd name="T11" fmla="*/ 20 h 200"/>
                <a:gd name="T12" fmla="*/ 120 w 160"/>
                <a:gd name="T13" fmla="*/ 0 h 200"/>
                <a:gd name="T14" fmla="*/ 140 w 160"/>
                <a:gd name="T15" fmla="*/ 0 h 200"/>
                <a:gd name="T16" fmla="*/ 160 w 160"/>
                <a:gd name="T17" fmla="*/ 0 h 2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0" h="200">
                  <a:moveTo>
                    <a:pt x="0" y="200"/>
                  </a:moveTo>
                  <a:lnTo>
                    <a:pt x="0" y="160"/>
                  </a:lnTo>
                  <a:lnTo>
                    <a:pt x="20" y="100"/>
                  </a:lnTo>
                  <a:lnTo>
                    <a:pt x="40" y="60"/>
                  </a:lnTo>
                  <a:lnTo>
                    <a:pt x="60" y="40"/>
                  </a:lnTo>
                  <a:lnTo>
                    <a:pt x="80" y="20"/>
                  </a:lnTo>
                  <a:lnTo>
                    <a:pt x="120" y="0"/>
                  </a:lnTo>
                  <a:lnTo>
                    <a:pt x="140" y="0"/>
                  </a:lnTo>
                  <a:lnTo>
                    <a:pt x="160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64"/>
            <p:cNvSpPr>
              <a:spLocks noChangeShapeType="1"/>
            </p:cNvSpPr>
            <p:nvPr/>
          </p:nvSpPr>
          <p:spPr bwMode="auto">
            <a:xfrm>
              <a:off x="6955" y="601"/>
              <a:ext cx="14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65"/>
            <p:cNvSpPr>
              <a:spLocks noChangeShapeType="1"/>
            </p:cNvSpPr>
            <p:nvPr/>
          </p:nvSpPr>
          <p:spPr bwMode="auto">
            <a:xfrm>
              <a:off x="5396" y="601"/>
              <a:ext cx="14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2" name="Line 66"/>
          <p:cNvSpPr>
            <a:spLocks noChangeShapeType="1"/>
          </p:cNvSpPr>
          <p:nvPr/>
        </p:nvSpPr>
        <p:spPr bwMode="auto">
          <a:xfrm flipV="1">
            <a:off x="9621116" y="2135331"/>
            <a:ext cx="0" cy="1247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3" name="Text Box 67"/>
          <p:cNvSpPr txBox="1">
            <a:spLocks noChangeArrowheads="1"/>
          </p:cNvSpPr>
          <p:nvPr/>
        </p:nvSpPr>
        <p:spPr bwMode="auto">
          <a:xfrm>
            <a:off x="4512541" y="2482994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0099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74" name="AutoShape 69"/>
          <p:cNvSpPr>
            <a:spLocks noChangeArrowheads="1"/>
          </p:cNvSpPr>
          <p:nvPr/>
        </p:nvSpPr>
        <p:spPr bwMode="auto">
          <a:xfrm>
            <a:off x="6173066" y="4659456"/>
            <a:ext cx="2981325" cy="1123950"/>
          </a:xfrm>
          <a:prstGeom prst="leftRightArrow">
            <a:avLst>
              <a:gd name="adj1" fmla="val 50000"/>
              <a:gd name="adj2" fmla="val 53051"/>
            </a:avLst>
          </a:prstGeom>
          <a:solidFill>
            <a:srgbClr val="FF9900"/>
          </a:solidFill>
          <a:ln w="9525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cxnSp>
        <p:nvCxnSpPr>
          <p:cNvPr id="75" name="Connecteur droit 7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ZoneTexte 76"/>
          <p:cNvSpPr txBox="1"/>
          <p:nvPr/>
        </p:nvSpPr>
        <p:spPr>
          <a:xfrm>
            <a:off x="0" y="0"/>
            <a:ext cx="24799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Direct conversion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Boost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67489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Reversible Chopper</a:t>
            </a:r>
          </a:p>
        </p:txBody>
      </p:sp>
      <p:cxnSp>
        <p:nvCxnSpPr>
          <p:cNvPr id="4" name="Connecteur droit 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4050880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Reversible choppers: quadrants</a:t>
            </a: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7223846" y="2167081"/>
            <a:ext cx="0" cy="3384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sz="280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5423621" y="3822844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sz="280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366721" y="1949594"/>
            <a:ext cx="5774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 dirty="0">
                <a:latin typeface="Times New Roman" panose="02020603050405020304" pitchFamily="18" charset="0"/>
              </a:rPr>
              <a:t>V</a:t>
            </a:r>
            <a:r>
              <a:rPr lang="fr-FR" altLang="fr-FR" sz="2800" b="1" baseline="-25000" dirty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9095508" y="3606944"/>
            <a:ext cx="4571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>
                <a:latin typeface="Times New Roman" panose="02020603050405020304" pitchFamily="18" charset="0"/>
              </a:rPr>
              <a:t>I</a:t>
            </a:r>
            <a:r>
              <a:rPr lang="fr-FR" altLang="fr-FR" sz="2800" b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7835033" y="2833831"/>
            <a:ext cx="3642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3600" b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6198321" y="2860819"/>
            <a:ext cx="5437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3600" b="1">
                <a:solidFill>
                  <a:srgbClr val="FF3300"/>
                </a:solidFill>
                <a:latin typeface="Times New Roman" panose="02020603050405020304" pitchFamily="18" charset="0"/>
              </a:rPr>
              <a:t>II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6198321" y="4326081"/>
            <a:ext cx="7232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3600" b="1">
                <a:solidFill>
                  <a:srgbClr val="FF3300"/>
                </a:solidFill>
                <a:latin typeface="Times New Roman" panose="02020603050405020304" pitchFamily="18" charset="0"/>
              </a:rPr>
              <a:t>III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7782646" y="4326081"/>
            <a:ext cx="6976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3600" b="1">
                <a:solidFill>
                  <a:srgbClr val="FF3300"/>
                </a:solidFill>
                <a:latin typeface="Times New Roman" panose="02020603050405020304" pitchFamily="18" charset="0"/>
              </a:rPr>
              <a:t>IV</a:t>
            </a:r>
          </a:p>
        </p:txBody>
      </p:sp>
      <p:cxnSp>
        <p:nvCxnSpPr>
          <p:cNvPr id="16" name="Connecteur droit 15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8280748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980416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Two quadrants reversible chopper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493476" y="4831923"/>
            <a:ext cx="3455988" cy="431800"/>
          </a:xfrm>
          <a:prstGeom prst="chevron">
            <a:avLst>
              <a:gd name="adj" fmla="val 200092"/>
            </a:avLst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70C0"/>
                </a:solidFill>
                <a:latin typeface="Calibri (Corps)"/>
              </a:rPr>
              <a:t>Buck chopper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flipH="1">
            <a:off x="5350601" y="5624086"/>
            <a:ext cx="3527425" cy="431800"/>
          </a:xfrm>
          <a:prstGeom prst="chevron">
            <a:avLst>
              <a:gd name="adj" fmla="val 204228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FF0000"/>
                </a:solidFill>
                <a:latin typeface="Calibri (Corps)"/>
              </a:rPr>
              <a:t>Boost chopper</a:t>
            </a:r>
          </a:p>
        </p:txBody>
      </p:sp>
      <p:cxnSp>
        <p:nvCxnSpPr>
          <p:cNvPr id="133" name="Connecteur droit 13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ZoneTexte 135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rgbClr val="FF0000"/>
                </a:solidFill>
              </a:rPr>
              <a:t>2 quadrants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7B4CF44-8EA7-F06C-4DBB-99336CB40338}"/>
              </a:ext>
            </a:extLst>
          </p:cNvPr>
          <p:cNvCxnSpPr/>
          <p:nvPr/>
        </p:nvCxnSpPr>
        <p:spPr>
          <a:xfrm>
            <a:off x="9608313" y="2299493"/>
            <a:ext cx="10696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240ACA7-0352-159F-C4F9-6ED93BE193A3}"/>
              </a:ext>
            </a:extLst>
          </p:cNvPr>
          <p:cNvCxnSpPr/>
          <p:nvPr/>
        </p:nvCxnSpPr>
        <p:spPr>
          <a:xfrm>
            <a:off x="9608312" y="4451716"/>
            <a:ext cx="10696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B1E513E-7D79-925B-E467-2493465FDA44}"/>
              </a:ext>
            </a:extLst>
          </p:cNvPr>
          <p:cNvCxnSpPr>
            <a:cxnSpLocks/>
          </p:cNvCxnSpPr>
          <p:nvPr/>
        </p:nvCxnSpPr>
        <p:spPr>
          <a:xfrm>
            <a:off x="10256013" y="2299493"/>
            <a:ext cx="0" cy="8750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C9B2059-4B08-3632-1266-99396BD07C60}"/>
              </a:ext>
            </a:extLst>
          </p:cNvPr>
          <p:cNvCxnSpPr>
            <a:cxnSpLocks/>
          </p:cNvCxnSpPr>
          <p:nvPr/>
        </p:nvCxnSpPr>
        <p:spPr>
          <a:xfrm>
            <a:off x="10256013" y="3295173"/>
            <a:ext cx="0" cy="11517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A85CCEA-E376-7669-1051-BB28EBBDB13E}"/>
              </a:ext>
            </a:extLst>
          </p:cNvPr>
          <p:cNvCxnSpPr>
            <a:cxnSpLocks/>
          </p:cNvCxnSpPr>
          <p:nvPr/>
        </p:nvCxnSpPr>
        <p:spPr>
          <a:xfrm>
            <a:off x="9935662" y="3174523"/>
            <a:ext cx="6688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2DC55B3-350A-C7D2-63C6-7C0EE6EB723D}"/>
              </a:ext>
            </a:extLst>
          </p:cNvPr>
          <p:cNvCxnSpPr>
            <a:cxnSpLocks/>
          </p:cNvCxnSpPr>
          <p:nvPr/>
        </p:nvCxnSpPr>
        <p:spPr>
          <a:xfrm>
            <a:off x="9935662" y="3295173"/>
            <a:ext cx="6688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FF58C4F-6307-7B88-D1EE-91117BA9F1D8}"/>
              </a:ext>
            </a:extLst>
          </p:cNvPr>
          <p:cNvGrpSpPr/>
          <p:nvPr/>
        </p:nvGrpSpPr>
        <p:grpSpPr>
          <a:xfrm>
            <a:off x="3463017" y="1309260"/>
            <a:ext cx="6572250" cy="3162300"/>
            <a:chOff x="3463017" y="1309260"/>
            <a:chExt cx="6572250" cy="3162300"/>
          </a:xfrm>
        </p:grpSpPr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16B9D6A3-1B22-8F2E-77A3-FF3C413DE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3017" y="1309260"/>
              <a:ext cx="6572250" cy="3162300"/>
            </a:xfrm>
            <a:prstGeom prst="rect">
              <a:avLst/>
            </a:prstGeom>
          </p:spPr>
        </p:pic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AEE87930-91BE-CC49-2B16-C38CF5329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744" r="57487" b="91996"/>
            <a:stretch>
              <a:fillRect/>
            </a:stretch>
          </p:blipFill>
          <p:spPr>
            <a:xfrm>
              <a:off x="7165817" y="2963190"/>
              <a:ext cx="313427" cy="253101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7E64C7DD-45EC-B598-4896-0FA1C3F81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252" t="52613" r="38979" b="39383"/>
            <a:stretch>
              <a:fillRect/>
            </a:stretch>
          </p:blipFill>
          <p:spPr>
            <a:xfrm>
              <a:off x="5953926" y="1317996"/>
              <a:ext cx="313427" cy="253101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120986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Two quadrants chopper: control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130550" y="2855648"/>
            <a:ext cx="8229600" cy="13255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en-US" altLang="fr-FR" sz="2800" i="1" dirty="0">
                <a:latin typeface="Calibri (Corps)"/>
              </a:rPr>
              <a:t>2 switches =&gt; 2 duty cycles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fr-FR" sz="2800" i="1" dirty="0">
                <a:latin typeface="Calibri (Corps)"/>
              </a:rPr>
              <a:t>Complementary control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fr-FR" altLang="fr-FR" sz="2800" b="1" i="1" dirty="0">
                <a:solidFill>
                  <a:srgbClr val="FF3300"/>
                </a:solidFill>
                <a:latin typeface="Calibri (Corps)"/>
              </a:rPr>
              <a:t>a</a:t>
            </a:r>
            <a:r>
              <a:rPr lang="fr-FR" altLang="fr-FR" sz="2800" b="1" i="1" baseline="-25000" dirty="0">
                <a:solidFill>
                  <a:srgbClr val="FF3300"/>
                </a:solidFill>
                <a:latin typeface="Calibri (Corps)"/>
              </a:rPr>
              <a:t>1</a:t>
            </a:r>
            <a:r>
              <a:rPr lang="fr-FR" altLang="fr-FR" sz="2800" b="1" i="1" dirty="0">
                <a:solidFill>
                  <a:srgbClr val="FF3300"/>
                </a:solidFill>
                <a:latin typeface="Calibri (Corps)"/>
              </a:rPr>
              <a:t> + a</a:t>
            </a:r>
            <a:r>
              <a:rPr lang="fr-FR" altLang="fr-FR" sz="2800" b="1" i="1" baseline="-25000" dirty="0">
                <a:solidFill>
                  <a:srgbClr val="FF3300"/>
                </a:solidFill>
                <a:latin typeface="Calibri (Corps)"/>
              </a:rPr>
              <a:t>2</a:t>
            </a:r>
            <a:r>
              <a:rPr lang="fr-FR" altLang="fr-FR" sz="2800" b="1" i="1" dirty="0">
                <a:solidFill>
                  <a:srgbClr val="FF3300"/>
                </a:solidFill>
                <a:latin typeface="Calibri (Corps)"/>
              </a:rPr>
              <a:t> = 1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fr-FR" altLang="fr-FR" sz="2800" b="1" i="1" dirty="0">
              <a:latin typeface="Calibri (Corps)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633788" y="4020420"/>
            <a:ext cx="3956050" cy="2266950"/>
            <a:chOff x="1201" y="1887"/>
            <a:chExt cx="3481" cy="1999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1201" y="2931"/>
              <a:ext cx="322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V="1">
              <a:off x="1337" y="1887"/>
              <a:ext cx="0" cy="117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4464" y="3021"/>
              <a:ext cx="218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" name="Rectangle 8" descr="noir)"/>
            <p:cNvSpPr>
              <a:spLocks noChangeArrowheads="1"/>
            </p:cNvSpPr>
            <p:nvPr/>
          </p:nvSpPr>
          <p:spPr bwMode="auto">
            <a:xfrm>
              <a:off x="1338" y="2341"/>
              <a:ext cx="1014" cy="589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800" dirty="0">
                  <a:latin typeface="Calibri (Corps)"/>
                </a:rPr>
                <a:t>T</a:t>
              </a:r>
              <a:r>
                <a:rPr lang="en-US" altLang="fr-FR" sz="1800" baseline="-25000" dirty="0">
                  <a:latin typeface="Calibri (Corps)"/>
                </a:rPr>
                <a:t>1</a:t>
              </a:r>
              <a:r>
                <a:rPr lang="en-US" altLang="fr-FR" sz="1800" dirty="0">
                  <a:latin typeface="Calibri (Corps)"/>
                </a:rPr>
                <a:t> closed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800" dirty="0">
                  <a:latin typeface="Calibri (Corps)"/>
                </a:rPr>
                <a:t>T</a:t>
              </a:r>
              <a:r>
                <a:rPr lang="en-US" altLang="fr-FR" sz="1800" baseline="-25000" dirty="0">
                  <a:latin typeface="Calibri (Corps)"/>
                </a:rPr>
                <a:t>2</a:t>
              </a:r>
              <a:r>
                <a:rPr lang="en-US" altLang="fr-FR" sz="1800" dirty="0">
                  <a:latin typeface="Calibri (Corps)"/>
                </a:rPr>
                <a:t> opened</a:t>
              </a:r>
              <a:endParaRPr lang="fr-FR" altLang="fr-FR" sz="1800" dirty="0">
                <a:latin typeface="Calibri (Corps)"/>
              </a:endParaRPr>
            </a:p>
          </p:txBody>
        </p:sp>
        <p:sp>
          <p:nvSpPr>
            <p:cNvPr id="14" name="Rectangle 9" descr="noir)"/>
            <p:cNvSpPr>
              <a:spLocks noChangeArrowheads="1"/>
            </p:cNvSpPr>
            <p:nvPr/>
          </p:nvSpPr>
          <p:spPr bwMode="auto">
            <a:xfrm>
              <a:off x="2352" y="2341"/>
              <a:ext cx="1463" cy="589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800" dirty="0">
                  <a:latin typeface="Calibri (Corps)"/>
                </a:rPr>
                <a:t>T</a:t>
              </a:r>
              <a:r>
                <a:rPr lang="en-US" altLang="fr-FR" sz="1800" baseline="-25000" dirty="0">
                  <a:latin typeface="Calibri (Corps)"/>
                </a:rPr>
                <a:t>2</a:t>
              </a:r>
              <a:r>
                <a:rPr lang="en-US" altLang="fr-FR" sz="1800" dirty="0">
                  <a:latin typeface="Calibri (Corps)"/>
                </a:rPr>
                <a:t> closed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800" dirty="0">
                  <a:latin typeface="Calibri (Corps)"/>
                </a:rPr>
                <a:t>T</a:t>
              </a:r>
              <a:r>
                <a:rPr lang="en-US" altLang="fr-FR" sz="1800" baseline="-25000" dirty="0">
                  <a:latin typeface="Calibri (Corps)"/>
                </a:rPr>
                <a:t>1</a:t>
              </a:r>
              <a:r>
                <a:rPr lang="en-US" altLang="fr-FR" sz="1800" dirty="0">
                  <a:latin typeface="Calibri (Corps)"/>
                </a:rPr>
                <a:t> opened</a:t>
              </a:r>
              <a:endParaRPr lang="fr-FR" altLang="fr-FR" sz="1800" dirty="0">
                <a:latin typeface="Calibri (Corps)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1246" y="3033"/>
              <a:ext cx="318" cy="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1972" y="3031"/>
              <a:ext cx="656" cy="4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Symbol" panose="05050102010706020507" pitchFamily="18" charset="2"/>
                </a:rPr>
                <a:t>a</a:t>
              </a:r>
              <a:r>
                <a:rPr lang="fr-FR" altLang="fr-FR" sz="2800" baseline="-25000">
                  <a:latin typeface="Symbol" panose="05050102010706020507" pitchFamily="18" charset="2"/>
                </a:rPr>
                <a:t>1</a:t>
              </a:r>
              <a:r>
                <a:rPr lang="fr-FR" altLang="fr-FR" sz="28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3686" y="3033"/>
              <a:ext cx="353" cy="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337" y="3475"/>
              <a:ext cx="799" cy="4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1566" y="3563"/>
              <a:ext cx="518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i="1">
                  <a:solidFill>
                    <a:srgbClr val="0033CC"/>
                  </a:solidFill>
                  <a:latin typeface="Symbol" panose="05050102010706020507" pitchFamily="18" charset="2"/>
                </a:rPr>
                <a:t>a</a:t>
              </a:r>
              <a:r>
                <a:rPr lang="fr-FR" altLang="fr-FR" sz="1800" i="1" baseline="-25000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  <a:r>
                <a:rPr lang="fr-FR" altLang="fr-FR" sz="1800" i="1">
                  <a:solidFill>
                    <a:srgbClr val="0033CC"/>
                  </a:solidFill>
                  <a:latin typeface="Times New Roman" panose="02020603050405020304" pitchFamily="18" charset="0"/>
                </a:rPr>
                <a:t>.T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2136" y="3479"/>
              <a:ext cx="1679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2589" y="3563"/>
              <a:ext cx="51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i="1">
                  <a:solidFill>
                    <a:srgbClr val="FF9900"/>
                  </a:solidFill>
                  <a:latin typeface="Symbol" panose="05050102010706020507" pitchFamily="18" charset="2"/>
                </a:rPr>
                <a:t>a</a:t>
              </a:r>
              <a:r>
                <a:rPr lang="fr-FR" altLang="fr-FR" sz="1800" i="1" baseline="-25000">
                  <a:solidFill>
                    <a:srgbClr val="FF9900"/>
                  </a:solidFill>
                  <a:latin typeface="Times New Roman" panose="02020603050405020304" pitchFamily="18" charset="0"/>
                </a:rPr>
                <a:t>2</a:t>
              </a:r>
              <a:r>
                <a:rPr lang="fr-FR" altLang="fr-FR" sz="1800" i="1">
                  <a:solidFill>
                    <a:srgbClr val="FF9900"/>
                  </a:solidFill>
                  <a:latin typeface="Times New Roman" panose="02020603050405020304" pitchFamily="18" charset="0"/>
                </a:rPr>
                <a:t>.T</a:t>
              </a:r>
            </a:p>
          </p:txBody>
        </p:sp>
      </p:grpSp>
      <p:cxnSp>
        <p:nvCxnSpPr>
          <p:cNvPr id="23" name="Connecteur droit 2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rgbClr val="FF0000"/>
                </a:solidFill>
              </a:rPr>
              <a:t>2 quadrants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C3A0B73E-E36A-7195-1772-A79CF8DE7DA6}"/>
              </a:ext>
            </a:extLst>
          </p:cNvPr>
          <p:cNvGrpSpPr/>
          <p:nvPr/>
        </p:nvGrpSpPr>
        <p:grpSpPr>
          <a:xfrm>
            <a:off x="6658501" y="247760"/>
            <a:ext cx="4799558" cy="2253824"/>
            <a:chOff x="6658501" y="247760"/>
            <a:chExt cx="4799558" cy="2253824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D81EBC72-C9B3-7F05-FA66-ACFCE283D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8501" y="247760"/>
              <a:ext cx="4799558" cy="2253824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C0FE9844-A8C0-0A16-9F92-2D1C56D60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04" t="-362" r="57541" b="91275"/>
            <a:stretch>
              <a:fillRect/>
            </a:stretch>
          </p:blipFill>
          <p:spPr>
            <a:xfrm>
              <a:off x="9266208" y="1415033"/>
              <a:ext cx="276226" cy="204788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A9661824-101D-F589-5867-743D60442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25" t="52258" r="40220" b="38655"/>
            <a:stretch>
              <a:fillRect/>
            </a:stretch>
          </p:blipFill>
          <p:spPr>
            <a:xfrm>
              <a:off x="8409627" y="247760"/>
              <a:ext cx="276226" cy="204788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282389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e 54">
            <a:extLst>
              <a:ext uri="{FF2B5EF4-FFF2-40B4-BE49-F238E27FC236}">
                <a16:creationId xmlns:a16="http://schemas.microsoft.com/office/drawing/2014/main" id="{CF88B0B4-9E64-C533-E272-7279D256585F}"/>
              </a:ext>
            </a:extLst>
          </p:cNvPr>
          <p:cNvGrpSpPr/>
          <p:nvPr/>
        </p:nvGrpSpPr>
        <p:grpSpPr>
          <a:xfrm>
            <a:off x="4267633" y="1117750"/>
            <a:ext cx="5664692" cy="2684847"/>
            <a:chOff x="4267633" y="1117750"/>
            <a:chExt cx="5664692" cy="2684847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0921D982-FF4D-AA29-C66F-C40E09B80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7633" y="1142515"/>
              <a:ext cx="5664692" cy="2660082"/>
            </a:xfrm>
            <a:prstGeom prst="rect">
              <a:avLst/>
            </a:prstGeom>
          </p:spPr>
        </p:pic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837BBC59-84DD-3608-C2D1-7B5A48E74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65" r="57426" b="90541"/>
            <a:stretch>
              <a:fillRect/>
            </a:stretch>
          </p:blipFill>
          <p:spPr>
            <a:xfrm>
              <a:off x="7341033" y="2507397"/>
              <a:ext cx="329045" cy="251600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EB1FBC6E-07FD-2D6D-441A-AD26E001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493" t="52275" r="39698" b="38266"/>
            <a:stretch>
              <a:fillRect/>
            </a:stretch>
          </p:blipFill>
          <p:spPr>
            <a:xfrm>
              <a:off x="6357556" y="1117750"/>
              <a:ext cx="329045" cy="251600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897289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Two quadrants chopper: output voltage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3835833" y="3930073"/>
            <a:ext cx="4597400" cy="1935163"/>
            <a:chOff x="1345" y="2432"/>
            <a:chExt cx="2896" cy="1219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1489" y="2544"/>
              <a:ext cx="56" cy="952"/>
              <a:chOff x="500" y="260"/>
              <a:chExt cx="140" cy="2380"/>
            </a:xfrm>
          </p:grpSpPr>
          <p:sp>
            <p:nvSpPr>
              <p:cNvPr id="50" name="Freeform 5"/>
              <p:cNvSpPr>
                <a:spLocks/>
              </p:cNvSpPr>
              <p:nvPr/>
            </p:nvSpPr>
            <p:spPr bwMode="auto">
              <a:xfrm>
                <a:off x="500" y="260"/>
                <a:ext cx="140" cy="280"/>
              </a:xfrm>
              <a:custGeom>
                <a:avLst/>
                <a:gdLst>
                  <a:gd name="T0" fmla="*/ 80 w 140"/>
                  <a:gd name="T1" fmla="*/ 0 h 280"/>
                  <a:gd name="T2" fmla="*/ 140 w 140"/>
                  <a:gd name="T3" fmla="*/ 280 h 280"/>
                  <a:gd name="T4" fmla="*/ 80 w 140"/>
                  <a:gd name="T5" fmla="*/ 280 h 280"/>
                  <a:gd name="T6" fmla="*/ 0 w 140"/>
                  <a:gd name="T7" fmla="*/ 280 h 280"/>
                  <a:gd name="T8" fmla="*/ 80 w 140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280">
                    <a:moveTo>
                      <a:pt x="80" y="0"/>
                    </a:moveTo>
                    <a:lnTo>
                      <a:pt x="140" y="280"/>
                    </a:lnTo>
                    <a:lnTo>
                      <a:pt x="80" y="280"/>
                    </a:lnTo>
                    <a:lnTo>
                      <a:pt x="0" y="28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Line 6"/>
              <p:cNvSpPr>
                <a:spLocks noChangeShapeType="1"/>
              </p:cNvSpPr>
              <p:nvPr/>
            </p:nvSpPr>
            <p:spPr bwMode="auto">
              <a:xfrm>
                <a:off x="580" y="540"/>
                <a:ext cx="1" cy="21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1473" y="3424"/>
              <a:ext cx="2768" cy="56"/>
              <a:chOff x="460" y="2460"/>
              <a:chExt cx="6920" cy="140"/>
            </a:xfrm>
          </p:grpSpPr>
          <p:sp>
            <p:nvSpPr>
              <p:cNvPr id="48" name="Freeform 8"/>
              <p:cNvSpPr>
                <a:spLocks/>
              </p:cNvSpPr>
              <p:nvPr/>
            </p:nvSpPr>
            <p:spPr bwMode="auto">
              <a:xfrm>
                <a:off x="7100" y="246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>
                <a:off x="460" y="2540"/>
                <a:ext cx="664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" name="Group 10"/>
            <p:cNvGrpSpPr>
              <a:grpSpLocks/>
            </p:cNvGrpSpPr>
            <p:nvPr/>
          </p:nvGrpSpPr>
          <p:grpSpPr bwMode="auto">
            <a:xfrm>
              <a:off x="1473" y="3000"/>
              <a:ext cx="2656" cy="0"/>
              <a:chOff x="460" y="1400"/>
              <a:chExt cx="6640" cy="1"/>
            </a:xfrm>
          </p:grpSpPr>
          <p:sp>
            <p:nvSpPr>
              <p:cNvPr id="29" name="Line 11"/>
              <p:cNvSpPr>
                <a:spLocks noChangeShapeType="1"/>
              </p:cNvSpPr>
              <p:nvPr/>
            </p:nvSpPr>
            <p:spPr bwMode="auto">
              <a:xfrm>
                <a:off x="46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Line 12"/>
              <p:cNvSpPr>
                <a:spLocks noChangeShapeType="1"/>
              </p:cNvSpPr>
              <p:nvPr/>
            </p:nvSpPr>
            <p:spPr bwMode="auto">
              <a:xfrm>
                <a:off x="82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" name="Line 13"/>
              <p:cNvSpPr>
                <a:spLocks noChangeShapeType="1"/>
              </p:cNvSpPr>
              <p:nvPr/>
            </p:nvSpPr>
            <p:spPr bwMode="auto">
              <a:xfrm>
                <a:off x="11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Line 14"/>
              <p:cNvSpPr>
                <a:spLocks noChangeShapeType="1"/>
              </p:cNvSpPr>
              <p:nvPr/>
            </p:nvSpPr>
            <p:spPr bwMode="auto">
              <a:xfrm>
                <a:off x="154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Line 15"/>
              <p:cNvSpPr>
                <a:spLocks noChangeShapeType="1"/>
              </p:cNvSpPr>
              <p:nvPr/>
            </p:nvSpPr>
            <p:spPr bwMode="auto">
              <a:xfrm>
                <a:off x="190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Line 16"/>
              <p:cNvSpPr>
                <a:spLocks noChangeShapeType="1"/>
              </p:cNvSpPr>
              <p:nvPr/>
            </p:nvSpPr>
            <p:spPr bwMode="auto">
              <a:xfrm>
                <a:off x="226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5" name="Line 17"/>
              <p:cNvSpPr>
                <a:spLocks noChangeShapeType="1"/>
              </p:cNvSpPr>
              <p:nvPr/>
            </p:nvSpPr>
            <p:spPr bwMode="auto">
              <a:xfrm>
                <a:off x="262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6" name="Line 18"/>
              <p:cNvSpPr>
                <a:spLocks noChangeShapeType="1"/>
              </p:cNvSpPr>
              <p:nvPr/>
            </p:nvSpPr>
            <p:spPr bwMode="auto">
              <a:xfrm>
                <a:off x="29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7" name="Line 19"/>
              <p:cNvSpPr>
                <a:spLocks noChangeShapeType="1"/>
              </p:cNvSpPr>
              <p:nvPr/>
            </p:nvSpPr>
            <p:spPr bwMode="auto">
              <a:xfrm>
                <a:off x="334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Line 20"/>
              <p:cNvSpPr>
                <a:spLocks noChangeShapeType="1"/>
              </p:cNvSpPr>
              <p:nvPr/>
            </p:nvSpPr>
            <p:spPr bwMode="auto">
              <a:xfrm>
                <a:off x="370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9" name="Line 21"/>
              <p:cNvSpPr>
                <a:spLocks noChangeShapeType="1"/>
              </p:cNvSpPr>
              <p:nvPr/>
            </p:nvSpPr>
            <p:spPr bwMode="auto">
              <a:xfrm>
                <a:off x="406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Line 22"/>
              <p:cNvSpPr>
                <a:spLocks noChangeShapeType="1"/>
              </p:cNvSpPr>
              <p:nvPr/>
            </p:nvSpPr>
            <p:spPr bwMode="auto">
              <a:xfrm>
                <a:off x="442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Line 23"/>
              <p:cNvSpPr>
                <a:spLocks noChangeShapeType="1"/>
              </p:cNvSpPr>
              <p:nvPr/>
            </p:nvSpPr>
            <p:spPr bwMode="auto">
              <a:xfrm>
                <a:off x="47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Line 24"/>
              <p:cNvSpPr>
                <a:spLocks noChangeShapeType="1"/>
              </p:cNvSpPr>
              <p:nvPr/>
            </p:nvSpPr>
            <p:spPr bwMode="auto">
              <a:xfrm>
                <a:off x="514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Line 25"/>
              <p:cNvSpPr>
                <a:spLocks noChangeShapeType="1"/>
              </p:cNvSpPr>
              <p:nvPr/>
            </p:nvSpPr>
            <p:spPr bwMode="auto">
              <a:xfrm>
                <a:off x="550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Line 26"/>
              <p:cNvSpPr>
                <a:spLocks noChangeShapeType="1"/>
              </p:cNvSpPr>
              <p:nvPr/>
            </p:nvSpPr>
            <p:spPr bwMode="auto">
              <a:xfrm>
                <a:off x="586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Line 27"/>
              <p:cNvSpPr>
                <a:spLocks noChangeShapeType="1"/>
              </p:cNvSpPr>
              <p:nvPr/>
            </p:nvSpPr>
            <p:spPr bwMode="auto">
              <a:xfrm>
                <a:off x="622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Line 28"/>
              <p:cNvSpPr>
                <a:spLocks noChangeShapeType="1"/>
              </p:cNvSpPr>
              <p:nvPr/>
            </p:nvSpPr>
            <p:spPr bwMode="auto">
              <a:xfrm>
                <a:off x="65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Line 29"/>
              <p:cNvSpPr>
                <a:spLocks noChangeShapeType="1"/>
              </p:cNvSpPr>
              <p:nvPr/>
            </p:nvSpPr>
            <p:spPr bwMode="auto">
              <a:xfrm>
                <a:off x="694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2" name="Line 30"/>
            <p:cNvSpPr>
              <a:spLocks noChangeShapeType="1"/>
            </p:cNvSpPr>
            <p:nvPr/>
          </p:nvSpPr>
          <p:spPr bwMode="auto">
            <a:xfrm>
              <a:off x="1529" y="2776"/>
              <a:ext cx="90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Line 31"/>
            <p:cNvSpPr>
              <a:spLocks noChangeShapeType="1"/>
            </p:cNvSpPr>
            <p:nvPr/>
          </p:nvSpPr>
          <p:spPr bwMode="auto">
            <a:xfrm>
              <a:off x="2425" y="2776"/>
              <a:ext cx="1" cy="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>
              <a:off x="2425" y="3456"/>
              <a:ext cx="4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33"/>
            <p:cNvSpPr>
              <a:spLocks noChangeShapeType="1"/>
            </p:cNvSpPr>
            <p:nvPr/>
          </p:nvSpPr>
          <p:spPr bwMode="auto">
            <a:xfrm flipV="1">
              <a:off x="2881" y="2776"/>
              <a:ext cx="1" cy="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34"/>
            <p:cNvSpPr>
              <a:spLocks noChangeShapeType="1"/>
            </p:cNvSpPr>
            <p:nvPr/>
          </p:nvSpPr>
          <p:spPr bwMode="auto">
            <a:xfrm>
              <a:off x="2881" y="2776"/>
              <a:ext cx="90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>
              <a:off x="3785" y="2776"/>
              <a:ext cx="1" cy="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36"/>
            <p:cNvSpPr>
              <a:spLocks noChangeShapeType="1"/>
            </p:cNvSpPr>
            <p:nvPr/>
          </p:nvSpPr>
          <p:spPr bwMode="auto">
            <a:xfrm>
              <a:off x="3785" y="3456"/>
              <a:ext cx="2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Rectangle 37"/>
            <p:cNvSpPr>
              <a:spLocks noChangeArrowheads="1"/>
            </p:cNvSpPr>
            <p:nvPr/>
          </p:nvSpPr>
          <p:spPr bwMode="auto">
            <a:xfrm>
              <a:off x="1449" y="2432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v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38"/>
            <p:cNvSpPr>
              <a:spLocks noChangeArrowheads="1"/>
            </p:cNvSpPr>
            <p:nvPr/>
          </p:nvSpPr>
          <p:spPr bwMode="auto">
            <a:xfrm>
              <a:off x="1409" y="333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39"/>
            <p:cNvSpPr>
              <a:spLocks noChangeArrowheads="1"/>
            </p:cNvSpPr>
            <p:nvPr/>
          </p:nvSpPr>
          <p:spPr bwMode="auto">
            <a:xfrm>
              <a:off x="1345" y="2888"/>
              <a:ext cx="8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V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40"/>
            <p:cNvSpPr>
              <a:spLocks noChangeArrowheads="1"/>
            </p:cNvSpPr>
            <p:nvPr/>
          </p:nvSpPr>
          <p:spPr bwMode="auto">
            <a:xfrm>
              <a:off x="1417" y="2944"/>
              <a:ext cx="3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s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41"/>
            <p:cNvSpPr>
              <a:spLocks noChangeArrowheads="1"/>
            </p:cNvSpPr>
            <p:nvPr/>
          </p:nvSpPr>
          <p:spPr bwMode="auto">
            <a:xfrm>
              <a:off x="1369" y="2688"/>
              <a:ext cx="7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E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2825" y="3504"/>
              <a:ext cx="7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43"/>
            <p:cNvSpPr>
              <a:spLocks noChangeArrowheads="1"/>
            </p:cNvSpPr>
            <p:nvPr/>
          </p:nvSpPr>
          <p:spPr bwMode="auto">
            <a:xfrm>
              <a:off x="2425" y="3472"/>
              <a:ext cx="10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.T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2305" y="3472"/>
              <a:ext cx="7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2377" y="353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3929" y="3152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65DE039-35D7-51E2-428B-84E8D85DA9D5}"/>
              </a:ext>
            </a:extLst>
          </p:cNvPr>
          <p:cNvSpPr/>
          <p:nvPr/>
        </p:nvSpPr>
        <p:spPr>
          <a:xfrm>
            <a:off x="7951268" y="2166062"/>
            <a:ext cx="331493" cy="15255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7" name="Group 62"/>
          <p:cNvGrpSpPr>
            <a:grpSpLocks/>
          </p:cNvGrpSpPr>
          <p:nvPr/>
        </p:nvGrpSpPr>
        <p:grpSpPr bwMode="auto">
          <a:xfrm>
            <a:off x="7966508" y="2181302"/>
            <a:ext cx="85725" cy="1525588"/>
            <a:chOff x="5716" y="941"/>
            <a:chExt cx="140" cy="2484"/>
          </a:xfrm>
        </p:grpSpPr>
        <p:sp>
          <p:nvSpPr>
            <p:cNvPr id="68" name="Freeform 63"/>
            <p:cNvSpPr>
              <a:spLocks/>
            </p:cNvSpPr>
            <p:nvPr/>
          </p:nvSpPr>
          <p:spPr bwMode="auto">
            <a:xfrm>
              <a:off x="5716" y="941"/>
              <a:ext cx="140" cy="281"/>
            </a:xfrm>
            <a:custGeom>
              <a:avLst/>
              <a:gdLst>
                <a:gd name="T0" fmla="*/ 80 w 140"/>
                <a:gd name="T1" fmla="*/ 0 h 281"/>
                <a:gd name="T2" fmla="*/ 140 w 140"/>
                <a:gd name="T3" fmla="*/ 281 h 281"/>
                <a:gd name="T4" fmla="*/ 80 w 140"/>
                <a:gd name="T5" fmla="*/ 281 h 281"/>
                <a:gd name="T6" fmla="*/ 0 w 140"/>
                <a:gd name="T7" fmla="*/ 281 h 281"/>
                <a:gd name="T8" fmla="*/ 80 w 140"/>
                <a:gd name="T9" fmla="*/ 0 h 2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281">
                  <a:moveTo>
                    <a:pt x="80" y="0"/>
                  </a:moveTo>
                  <a:lnTo>
                    <a:pt x="140" y="281"/>
                  </a:lnTo>
                  <a:lnTo>
                    <a:pt x="80" y="281"/>
                  </a:lnTo>
                  <a:lnTo>
                    <a:pt x="0" y="281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0000"/>
            </a:solidFill>
            <a:ln w="412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>
              <a:off x="5796" y="1222"/>
              <a:ext cx="1" cy="220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3" name="Rectangle 128"/>
          <p:cNvSpPr>
            <a:spLocks noChangeArrowheads="1"/>
          </p:cNvSpPr>
          <p:nvPr/>
        </p:nvSpPr>
        <p:spPr bwMode="auto">
          <a:xfrm>
            <a:off x="8121448" y="2675967"/>
            <a:ext cx="1619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endParaRPr lang="fr-FR" altLang="fr-FR" sz="24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9" name="Text Box 154"/>
          <p:cNvSpPr txBox="1">
            <a:spLocks noChangeArrowheads="1"/>
          </p:cNvSpPr>
          <p:nvPr/>
        </p:nvSpPr>
        <p:spPr bwMode="auto">
          <a:xfrm>
            <a:off x="9309533" y="4793673"/>
            <a:ext cx="1649412" cy="541338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fr-FR" altLang="fr-FR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fr-FR" altLang="fr-FR" sz="2800" b="1" dirty="0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lang="fr-FR" altLang="fr-FR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.E</a:t>
            </a:r>
          </a:p>
        </p:txBody>
      </p:sp>
      <p:cxnSp>
        <p:nvCxnSpPr>
          <p:cNvPr id="161" name="Connecteur droit 160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ZoneTexte 162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rgbClr val="FF0000"/>
                </a:solidFill>
              </a:rPr>
              <a:t>2 quadrants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418216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5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86958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Two quadrants chopper: output current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7266138" y="1517939"/>
            <a:ext cx="88900" cy="1727200"/>
            <a:chOff x="500" y="3500"/>
            <a:chExt cx="140" cy="2720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500" y="3500"/>
              <a:ext cx="140" cy="280"/>
            </a:xfrm>
            <a:custGeom>
              <a:avLst/>
              <a:gdLst>
                <a:gd name="T0" fmla="*/ 80 w 140"/>
                <a:gd name="T1" fmla="*/ 0 h 280"/>
                <a:gd name="T2" fmla="*/ 140 w 140"/>
                <a:gd name="T3" fmla="*/ 280 h 280"/>
                <a:gd name="T4" fmla="*/ 80 w 140"/>
                <a:gd name="T5" fmla="*/ 280 h 280"/>
                <a:gd name="T6" fmla="*/ 0 w 140"/>
                <a:gd name="T7" fmla="*/ 280 h 280"/>
                <a:gd name="T8" fmla="*/ 80 w 140"/>
                <a:gd name="T9" fmla="*/ 0 h 2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280">
                  <a:moveTo>
                    <a:pt x="80" y="0"/>
                  </a:moveTo>
                  <a:lnTo>
                    <a:pt x="140" y="280"/>
                  </a:lnTo>
                  <a:lnTo>
                    <a:pt x="80" y="280"/>
                  </a:lnTo>
                  <a:lnTo>
                    <a:pt x="0" y="28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580" y="3780"/>
              <a:ext cx="1" cy="24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7"/>
          <p:cNvGrpSpPr>
            <a:grpSpLocks/>
          </p:cNvGrpSpPr>
          <p:nvPr/>
        </p:nvGrpSpPr>
        <p:grpSpPr bwMode="auto">
          <a:xfrm>
            <a:off x="7202638" y="3097502"/>
            <a:ext cx="4394200" cy="88900"/>
            <a:chOff x="400" y="4960"/>
            <a:chExt cx="6920" cy="140"/>
          </a:xfrm>
        </p:grpSpPr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7040" y="4960"/>
              <a:ext cx="280" cy="140"/>
            </a:xfrm>
            <a:custGeom>
              <a:avLst/>
              <a:gdLst>
                <a:gd name="T0" fmla="*/ 280 w 280"/>
                <a:gd name="T1" fmla="*/ 60 h 140"/>
                <a:gd name="T2" fmla="*/ 0 w 280"/>
                <a:gd name="T3" fmla="*/ 140 h 140"/>
                <a:gd name="T4" fmla="*/ 0 w 280"/>
                <a:gd name="T5" fmla="*/ 60 h 140"/>
                <a:gd name="T6" fmla="*/ 0 w 280"/>
                <a:gd name="T7" fmla="*/ 0 h 140"/>
                <a:gd name="T8" fmla="*/ 280 w 280"/>
                <a:gd name="T9" fmla="*/ 60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0" h="140">
                  <a:moveTo>
                    <a:pt x="280" y="60"/>
                  </a:moveTo>
                  <a:lnTo>
                    <a:pt x="0" y="140"/>
                  </a:lnTo>
                  <a:lnTo>
                    <a:pt x="0" y="60"/>
                  </a:lnTo>
                  <a:lnTo>
                    <a:pt x="0" y="0"/>
                  </a:lnTo>
                  <a:lnTo>
                    <a:pt x="280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400" y="5020"/>
              <a:ext cx="66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1609538" y="2957802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7139138" y="2991139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7" name="Group 12"/>
          <p:cNvGrpSpPr>
            <a:grpSpLocks/>
          </p:cNvGrpSpPr>
          <p:nvPr/>
        </p:nvGrpSpPr>
        <p:grpSpPr bwMode="auto">
          <a:xfrm>
            <a:off x="7240738" y="2343439"/>
            <a:ext cx="4216400" cy="0"/>
            <a:chOff x="460" y="4800"/>
            <a:chExt cx="6640" cy="1"/>
          </a:xfrm>
        </p:grpSpPr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46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82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18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54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90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226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262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298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334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370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406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442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478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514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550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586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622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>
              <a:off x="658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6940" y="4800"/>
              <a:ext cx="160" cy="1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7" name="Line 32"/>
          <p:cNvSpPr>
            <a:spLocks noChangeShapeType="1"/>
          </p:cNvSpPr>
          <p:nvPr/>
        </p:nvSpPr>
        <p:spPr bwMode="auto">
          <a:xfrm flipV="1">
            <a:off x="7316938" y="1911639"/>
            <a:ext cx="1435100" cy="93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Line 33"/>
          <p:cNvSpPr>
            <a:spLocks noChangeShapeType="1"/>
          </p:cNvSpPr>
          <p:nvPr/>
        </p:nvSpPr>
        <p:spPr bwMode="auto">
          <a:xfrm>
            <a:off x="8752038" y="1911639"/>
            <a:ext cx="723900" cy="93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Line 34"/>
          <p:cNvSpPr>
            <a:spLocks noChangeShapeType="1"/>
          </p:cNvSpPr>
          <p:nvPr/>
        </p:nvSpPr>
        <p:spPr bwMode="auto">
          <a:xfrm flipV="1">
            <a:off x="9475938" y="1911639"/>
            <a:ext cx="1435100" cy="93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Line 35"/>
          <p:cNvSpPr>
            <a:spLocks noChangeShapeType="1"/>
          </p:cNvSpPr>
          <p:nvPr/>
        </p:nvSpPr>
        <p:spPr bwMode="auto">
          <a:xfrm>
            <a:off x="10911038" y="1911639"/>
            <a:ext cx="292100" cy="3556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41" name="Group 36"/>
          <p:cNvGrpSpPr>
            <a:grpSpLocks/>
          </p:cNvGrpSpPr>
          <p:nvPr/>
        </p:nvGrpSpPr>
        <p:grpSpPr bwMode="auto">
          <a:xfrm>
            <a:off x="8752038" y="1695739"/>
            <a:ext cx="1588" cy="1536700"/>
            <a:chOff x="2840" y="3780"/>
            <a:chExt cx="1" cy="2420"/>
          </a:xfrm>
        </p:grpSpPr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2840" y="378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>
              <a:off x="2840" y="396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>
              <a:off x="2840" y="414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2840" y="432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2840" y="450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2840" y="468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2840" y="486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2840" y="504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2840" y="522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2840" y="540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>
              <a:off x="2840" y="558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2840" y="576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2840" y="594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2840" y="612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6" name="Group 51"/>
          <p:cNvGrpSpPr>
            <a:grpSpLocks/>
          </p:cNvGrpSpPr>
          <p:nvPr/>
        </p:nvGrpSpPr>
        <p:grpSpPr bwMode="auto">
          <a:xfrm>
            <a:off x="9475938" y="1695739"/>
            <a:ext cx="1588" cy="1536700"/>
            <a:chOff x="3980" y="3780"/>
            <a:chExt cx="1" cy="2420"/>
          </a:xfrm>
        </p:grpSpPr>
        <p:sp>
          <p:nvSpPr>
            <p:cNvPr id="57" name="Line 52"/>
            <p:cNvSpPr>
              <a:spLocks noChangeShapeType="1"/>
            </p:cNvSpPr>
            <p:nvPr/>
          </p:nvSpPr>
          <p:spPr bwMode="auto">
            <a:xfrm>
              <a:off x="3980" y="378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>
              <a:off x="3980" y="396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>
              <a:off x="3980" y="414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>
              <a:off x="3980" y="432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>
              <a:off x="3980" y="450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Line 57"/>
            <p:cNvSpPr>
              <a:spLocks noChangeShapeType="1"/>
            </p:cNvSpPr>
            <p:nvPr/>
          </p:nvSpPr>
          <p:spPr bwMode="auto">
            <a:xfrm>
              <a:off x="3980" y="468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Line 58"/>
            <p:cNvSpPr>
              <a:spLocks noChangeShapeType="1"/>
            </p:cNvSpPr>
            <p:nvPr/>
          </p:nvSpPr>
          <p:spPr bwMode="auto">
            <a:xfrm>
              <a:off x="3980" y="486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>
              <a:off x="3980" y="504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>
              <a:off x="3980" y="522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3980" y="540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>
              <a:off x="3980" y="558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>
              <a:off x="3980" y="576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>
              <a:off x="3980" y="594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>
              <a:off x="3980" y="6120"/>
              <a:ext cx="1" cy="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1" name="Text Box 66"/>
          <p:cNvSpPr txBox="1">
            <a:spLocks noChangeArrowheads="1"/>
          </p:cNvSpPr>
          <p:nvPr/>
        </p:nvSpPr>
        <p:spPr bwMode="auto">
          <a:xfrm>
            <a:off x="6873590" y="2094202"/>
            <a:ext cx="319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72" name="Text Box 67"/>
          <p:cNvSpPr txBox="1">
            <a:spLocks noChangeArrowheads="1"/>
          </p:cNvSpPr>
          <p:nvPr/>
        </p:nvSpPr>
        <p:spPr bwMode="auto">
          <a:xfrm>
            <a:off x="7331226" y="1446502"/>
            <a:ext cx="3413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Times New Roman" panose="02020603050405020304" pitchFamily="18" charset="0"/>
              </a:rPr>
              <a:t>i</a:t>
            </a:r>
            <a:r>
              <a:rPr lang="fr-FR" altLang="fr-FR" sz="1800" baseline="-25000" dirty="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73" name="Line 68"/>
          <p:cNvSpPr>
            <a:spLocks noChangeShapeType="1"/>
          </p:cNvSpPr>
          <p:nvPr/>
        </p:nvSpPr>
        <p:spPr bwMode="auto">
          <a:xfrm>
            <a:off x="7331226" y="1878302"/>
            <a:ext cx="1441450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4" name="Text Box 69"/>
          <p:cNvSpPr txBox="1">
            <a:spLocks noChangeArrowheads="1"/>
          </p:cNvSpPr>
          <p:nvPr/>
        </p:nvSpPr>
        <p:spPr bwMode="auto">
          <a:xfrm>
            <a:off x="7836051" y="1446502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0033CC"/>
                </a:solidFill>
                <a:latin typeface="Calibri (Corps)"/>
              </a:rPr>
              <a:t>T</a:t>
            </a:r>
            <a:r>
              <a:rPr lang="fr-FR" altLang="fr-FR" sz="1800" b="1" baseline="-25000" dirty="0">
                <a:solidFill>
                  <a:srgbClr val="0033CC"/>
                </a:solidFill>
                <a:latin typeface="Calibri (Corps)"/>
              </a:rPr>
              <a:t>1</a:t>
            </a:r>
          </a:p>
        </p:txBody>
      </p:sp>
      <p:sp>
        <p:nvSpPr>
          <p:cNvPr id="75" name="Text Box 70"/>
          <p:cNvSpPr txBox="1">
            <a:spLocks noChangeArrowheads="1"/>
          </p:cNvSpPr>
          <p:nvPr/>
        </p:nvSpPr>
        <p:spPr bwMode="auto">
          <a:xfrm>
            <a:off x="8915551" y="1302039"/>
            <a:ext cx="4363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33CC"/>
                </a:solidFill>
                <a:latin typeface="Calibri (Corps)"/>
              </a:rPr>
              <a:t>D</a:t>
            </a:r>
            <a:r>
              <a:rPr lang="fr-FR" altLang="fr-FR" sz="1800" b="1" baseline="-25000">
                <a:solidFill>
                  <a:srgbClr val="0033CC"/>
                </a:solidFill>
                <a:latin typeface="Calibri (Corps)"/>
              </a:rPr>
              <a:t>1</a:t>
            </a:r>
          </a:p>
        </p:txBody>
      </p:sp>
      <p:sp>
        <p:nvSpPr>
          <p:cNvPr id="76" name="Line 71"/>
          <p:cNvSpPr>
            <a:spLocks noChangeShapeType="1"/>
          </p:cNvSpPr>
          <p:nvPr/>
        </p:nvSpPr>
        <p:spPr bwMode="auto">
          <a:xfrm>
            <a:off x="8772676" y="1733839"/>
            <a:ext cx="719137" cy="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" name="Arc 72"/>
          <p:cNvSpPr>
            <a:spLocks/>
          </p:cNvSpPr>
          <p:nvPr/>
        </p:nvSpPr>
        <p:spPr bwMode="auto">
          <a:xfrm rot="5850661">
            <a:off x="5407231" y="2072682"/>
            <a:ext cx="1205299" cy="1166360"/>
          </a:xfrm>
          <a:custGeom>
            <a:avLst/>
            <a:gdLst>
              <a:gd name="T0" fmla="*/ 2147483646 w 43200"/>
              <a:gd name="T1" fmla="*/ 2147483646 h 43200"/>
              <a:gd name="T2" fmla="*/ 2147483646 w 43200"/>
              <a:gd name="T3" fmla="*/ 2147483646 h 43200"/>
              <a:gd name="T4" fmla="*/ 2147483646 w 43200"/>
              <a:gd name="T5" fmla="*/ 2147483646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12485" y="2017"/>
                </a:moveTo>
                <a:cubicBezTo>
                  <a:pt x="15340" y="688"/>
                  <a:pt x="18450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8485"/>
                  <a:pt x="673" y="15408"/>
                  <a:pt x="1973" y="12578"/>
                </a:cubicBezTo>
              </a:path>
              <a:path w="43200" h="43200" stroke="0" extrusionOk="0">
                <a:moveTo>
                  <a:pt x="12485" y="2017"/>
                </a:moveTo>
                <a:cubicBezTo>
                  <a:pt x="15340" y="688"/>
                  <a:pt x="18450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8485"/>
                  <a:pt x="673" y="15408"/>
                  <a:pt x="1973" y="12578"/>
                </a:cubicBezTo>
                <a:lnTo>
                  <a:pt x="21600" y="21600"/>
                </a:lnTo>
                <a:lnTo>
                  <a:pt x="12485" y="2017"/>
                </a:lnTo>
                <a:close/>
              </a:path>
            </a:pathLst>
          </a:custGeom>
          <a:noFill/>
          <a:ln w="38100">
            <a:solidFill>
              <a:srgbClr val="3366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" name="Line 73"/>
          <p:cNvSpPr>
            <a:spLocks noChangeShapeType="1"/>
          </p:cNvSpPr>
          <p:nvPr/>
        </p:nvSpPr>
        <p:spPr bwMode="auto">
          <a:xfrm>
            <a:off x="3299490" y="1911639"/>
            <a:ext cx="1152525" cy="0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Text Box 74"/>
          <p:cNvSpPr txBox="1">
            <a:spLocks noChangeArrowheads="1"/>
          </p:cNvSpPr>
          <p:nvPr/>
        </p:nvSpPr>
        <p:spPr bwMode="auto">
          <a:xfrm>
            <a:off x="10499876" y="2526002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400" b="1" dirty="0">
                <a:solidFill>
                  <a:srgbClr val="0033CC"/>
                </a:solidFill>
                <a:latin typeface="Calibri (Corps)"/>
              </a:rPr>
              <a:t>i</a:t>
            </a:r>
            <a:r>
              <a:rPr lang="fr-FR" altLang="fr-FR" sz="2400" b="1" baseline="-25000" dirty="0">
                <a:solidFill>
                  <a:srgbClr val="0033CC"/>
                </a:solidFill>
                <a:latin typeface="Calibri (Corps)"/>
              </a:rPr>
              <a:t>L</a:t>
            </a:r>
            <a:r>
              <a:rPr lang="fr-FR" altLang="fr-FR" sz="2400" b="1" dirty="0">
                <a:solidFill>
                  <a:srgbClr val="0033CC"/>
                </a:solidFill>
                <a:latin typeface="Calibri (Corps)"/>
              </a:rPr>
              <a:t>&gt; 0</a:t>
            </a:r>
          </a:p>
        </p:txBody>
      </p:sp>
      <p:sp>
        <p:nvSpPr>
          <p:cNvPr id="80" name="Rectangle 148"/>
          <p:cNvSpPr>
            <a:spLocks noChangeArrowheads="1"/>
          </p:cNvSpPr>
          <p:nvPr/>
        </p:nvSpPr>
        <p:spPr bwMode="auto">
          <a:xfrm>
            <a:off x="7331226" y="3318164"/>
            <a:ext cx="1368425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400" b="1" i="1" dirty="0">
                <a:solidFill>
                  <a:schemeClr val="bg1"/>
                </a:solidFill>
                <a:latin typeface="Calibri (Corps)"/>
              </a:rPr>
              <a:t>T</a:t>
            </a:r>
            <a:r>
              <a:rPr lang="fr-FR" altLang="fr-FR" sz="1400" b="1" i="1" baseline="-25000" dirty="0">
                <a:solidFill>
                  <a:schemeClr val="bg1"/>
                </a:solidFill>
                <a:latin typeface="Calibri (Corps)"/>
              </a:rPr>
              <a:t>1</a:t>
            </a:r>
            <a:r>
              <a:rPr lang="fr-FR" altLang="fr-FR" sz="1400" b="1" i="1" dirty="0">
                <a:solidFill>
                  <a:schemeClr val="bg1"/>
                </a:solidFill>
                <a:latin typeface="Calibri (Corps)"/>
              </a:rPr>
              <a:t> </a:t>
            </a:r>
            <a:r>
              <a:rPr lang="fr-FR" altLang="fr-FR" sz="1400" b="1" i="1" dirty="0" err="1">
                <a:solidFill>
                  <a:schemeClr val="bg1"/>
                </a:solidFill>
                <a:latin typeface="Calibri (Corps)"/>
              </a:rPr>
              <a:t>controlled</a:t>
            </a:r>
            <a:endParaRPr lang="fr-FR" altLang="fr-FR" sz="1400" b="1" i="1" dirty="0">
              <a:solidFill>
                <a:schemeClr val="bg1"/>
              </a:solidFill>
              <a:latin typeface="Calibri (Corps)"/>
            </a:endParaRPr>
          </a:p>
        </p:txBody>
      </p:sp>
      <p:sp>
        <p:nvSpPr>
          <p:cNvPr id="81" name="Rectangle 149"/>
          <p:cNvSpPr>
            <a:spLocks noChangeArrowheads="1"/>
          </p:cNvSpPr>
          <p:nvPr/>
        </p:nvSpPr>
        <p:spPr bwMode="auto">
          <a:xfrm>
            <a:off x="8772676" y="3318164"/>
            <a:ext cx="647700" cy="287338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400" b="1" i="1" dirty="0">
                <a:latin typeface="Calibri (Corps)"/>
              </a:rPr>
              <a:t>T</a:t>
            </a:r>
            <a:r>
              <a:rPr lang="fr-FR" altLang="fr-FR" sz="1400" b="1" i="1" baseline="-25000" dirty="0">
                <a:latin typeface="Calibri (Corps)"/>
              </a:rPr>
              <a:t>2</a:t>
            </a:r>
            <a:r>
              <a:rPr lang="fr-FR" altLang="fr-FR" sz="1400" b="1" i="1" dirty="0">
                <a:latin typeface="Calibri (Corps)"/>
              </a:rPr>
              <a:t> ctrl.</a:t>
            </a:r>
          </a:p>
        </p:txBody>
      </p:sp>
      <p:grpSp>
        <p:nvGrpSpPr>
          <p:cNvPr id="3" name="Groupe 2"/>
          <p:cNvGrpSpPr/>
          <p:nvPr/>
        </p:nvGrpSpPr>
        <p:grpSpPr>
          <a:xfrm>
            <a:off x="6999000" y="3832930"/>
            <a:ext cx="4648200" cy="2160588"/>
            <a:chOff x="6721188" y="3749964"/>
            <a:chExt cx="4648200" cy="2160588"/>
          </a:xfrm>
        </p:grpSpPr>
        <p:grpSp>
          <p:nvGrpSpPr>
            <p:cNvPr id="190" name="Group 75"/>
            <p:cNvGrpSpPr>
              <a:grpSpLocks/>
            </p:cNvGrpSpPr>
            <p:nvPr/>
          </p:nvGrpSpPr>
          <p:grpSpPr bwMode="auto">
            <a:xfrm>
              <a:off x="6721188" y="3749964"/>
              <a:ext cx="4648200" cy="2160588"/>
              <a:chOff x="2724" y="2341"/>
              <a:chExt cx="2928" cy="1361"/>
            </a:xfrm>
          </p:grpSpPr>
          <p:grpSp>
            <p:nvGrpSpPr>
              <p:cNvPr id="302" name="Group 76"/>
              <p:cNvGrpSpPr>
                <a:grpSpLocks/>
              </p:cNvGrpSpPr>
              <p:nvPr/>
            </p:nvGrpSpPr>
            <p:grpSpPr bwMode="auto">
              <a:xfrm>
                <a:off x="2880" y="2341"/>
                <a:ext cx="60" cy="1361"/>
                <a:chOff x="500" y="3500"/>
                <a:chExt cx="140" cy="2720"/>
              </a:xfrm>
            </p:grpSpPr>
            <p:sp>
              <p:nvSpPr>
                <p:cNvPr id="368" name="Freeform 77"/>
                <p:cNvSpPr>
                  <a:spLocks/>
                </p:cNvSpPr>
                <p:nvPr/>
              </p:nvSpPr>
              <p:spPr bwMode="auto">
                <a:xfrm>
                  <a:off x="500" y="3500"/>
                  <a:ext cx="140" cy="280"/>
                </a:xfrm>
                <a:custGeom>
                  <a:avLst/>
                  <a:gdLst>
                    <a:gd name="T0" fmla="*/ 80 w 140"/>
                    <a:gd name="T1" fmla="*/ 0 h 280"/>
                    <a:gd name="T2" fmla="*/ 140 w 140"/>
                    <a:gd name="T3" fmla="*/ 280 h 280"/>
                    <a:gd name="T4" fmla="*/ 80 w 140"/>
                    <a:gd name="T5" fmla="*/ 280 h 280"/>
                    <a:gd name="T6" fmla="*/ 0 w 140"/>
                    <a:gd name="T7" fmla="*/ 280 h 280"/>
                    <a:gd name="T8" fmla="*/ 80 w 140"/>
                    <a:gd name="T9" fmla="*/ 0 h 28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40" h="280">
                      <a:moveTo>
                        <a:pt x="80" y="0"/>
                      </a:moveTo>
                      <a:lnTo>
                        <a:pt x="140" y="280"/>
                      </a:lnTo>
                      <a:lnTo>
                        <a:pt x="80" y="280"/>
                      </a:lnTo>
                      <a:lnTo>
                        <a:pt x="0" y="280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69" name="Line 78"/>
                <p:cNvSpPr>
                  <a:spLocks noChangeShapeType="1"/>
                </p:cNvSpPr>
                <p:nvPr/>
              </p:nvSpPr>
              <p:spPr bwMode="auto">
                <a:xfrm>
                  <a:off x="580" y="3780"/>
                  <a:ext cx="1" cy="244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grpSp>
            <p:nvGrpSpPr>
              <p:cNvPr id="303" name="Group 79"/>
              <p:cNvGrpSpPr>
                <a:grpSpLocks/>
              </p:cNvGrpSpPr>
              <p:nvPr/>
            </p:nvGrpSpPr>
            <p:grpSpPr bwMode="auto">
              <a:xfrm>
                <a:off x="2844" y="2747"/>
                <a:ext cx="2768" cy="56"/>
                <a:chOff x="400" y="4960"/>
                <a:chExt cx="6920" cy="140"/>
              </a:xfrm>
            </p:grpSpPr>
            <p:sp>
              <p:nvSpPr>
                <p:cNvPr id="366" name="Freeform 80"/>
                <p:cNvSpPr>
                  <a:spLocks/>
                </p:cNvSpPr>
                <p:nvPr/>
              </p:nvSpPr>
              <p:spPr bwMode="auto">
                <a:xfrm>
                  <a:off x="7040" y="4960"/>
                  <a:ext cx="280" cy="140"/>
                </a:xfrm>
                <a:custGeom>
                  <a:avLst/>
                  <a:gdLst>
                    <a:gd name="T0" fmla="*/ 280 w 280"/>
                    <a:gd name="T1" fmla="*/ 60 h 140"/>
                    <a:gd name="T2" fmla="*/ 0 w 280"/>
                    <a:gd name="T3" fmla="*/ 140 h 140"/>
                    <a:gd name="T4" fmla="*/ 0 w 280"/>
                    <a:gd name="T5" fmla="*/ 60 h 140"/>
                    <a:gd name="T6" fmla="*/ 0 w 280"/>
                    <a:gd name="T7" fmla="*/ 0 h 140"/>
                    <a:gd name="T8" fmla="*/ 280 w 280"/>
                    <a:gd name="T9" fmla="*/ 6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0" h="140">
                      <a:moveTo>
                        <a:pt x="280" y="60"/>
                      </a:moveTo>
                      <a:lnTo>
                        <a:pt x="0" y="140"/>
                      </a:lnTo>
                      <a:lnTo>
                        <a:pt x="0" y="60"/>
                      </a:lnTo>
                      <a:lnTo>
                        <a:pt x="0" y="0"/>
                      </a:lnTo>
                      <a:lnTo>
                        <a:pt x="280" y="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67" name="Line 81"/>
                <p:cNvSpPr>
                  <a:spLocks noChangeShapeType="1"/>
                </p:cNvSpPr>
                <p:nvPr/>
              </p:nvSpPr>
              <p:spPr bwMode="auto">
                <a:xfrm>
                  <a:off x="400" y="5020"/>
                  <a:ext cx="6640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304" name="Rectangle 82"/>
              <p:cNvSpPr>
                <a:spLocks noChangeArrowheads="1"/>
              </p:cNvSpPr>
              <p:nvPr/>
            </p:nvSpPr>
            <p:spPr bwMode="auto">
              <a:xfrm>
                <a:off x="5620" y="2659"/>
                <a:ext cx="32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fr-FR" sz="1200" b="1">
                    <a:solidFill>
                      <a:srgbClr val="000000"/>
                    </a:solidFill>
                    <a:latin typeface="Calibri (Corps)"/>
                  </a:rPr>
                  <a:t>t</a:t>
                </a:r>
                <a:endParaRPr lang="fr-FR" altLang="fr-FR" sz="1800" b="1">
                  <a:latin typeface="Calibri (Corps)"/>
                </a:endParaRPr>
              </a:p>
            </p:txBody>
          </p:sp>
          <p:sp>
            <p:nvSpPr>
              <p:cNvPr id="305" name="Rectangle 83"/>
              <p:cNvSpPr>
                <a:spLocks noChangeArrowheads="1"/>
              </p:cNvSpPr>
              <p:nvPr/>
            </p:nvSpPr>
            <p:spPr bwMode="auto">
              <a:xfrm>
                <a:off x="2804" y="2680"/>
                <a:ext cx="5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fr-FR" sz="1200" b="1">
                    <a:solidFill>
                      <a:srgbClr val="000000"/>
                    </a:solidFill>
                    <a:latin typeface="Calibri (Corps)"/>
                  </a:rPr>
                  <a:t>0</a:t>
                </a:r>
                <a:endParaRPr lang="fr-FR" altLang="fr-FR" sz="1800" b="1">
                  <a:latin typeface="Calibri (Corps)"/>
                </a:endParaRPr>
              </a:p>
            </p:txBody>
          </p:sp>
          <p:grpSp>
            <p:nvGrpSpPr>
              <p:cNvPr id="306" name="Group 84"/>
              <p:cNvGrpSpPr>
                <a:grpSpLocks/>
              </p:cNvGrpSpPr>
              <p:nvPr/>
            </p:nvGrpSpPr>
            <p:grpSpPr bwMode="auto">
              <a:xfrm>
                <a:off x="2868" y="3134"/>
                <a:ext cx="2656" cy="0"/>
                <a:chOff x="460" y="4800"/>
                <a:chExt cx="6640" cy="1"/>
              </a:xfrm>
            </p:grpSpPr>
            <p:sp>
              <p:nvSpPr>
                <p:cNvPr id="347" name="Line 85"/>
                <p:cNvSpPr>
                  <a:spLocks noChangeShapeType="1"/>
                </p:cNvSpPr>
                <p:nvPr/>
              </p:nvSpPr>
              <p:spPr bwMode="auto">
                <a:xfrm>
                  <a:off x="46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8" name="Line 86"/>
                <p:cNvSpPr>
                  <a:spLocks noChangeShapeType="1"/>
                </p:cNvSpPr>
                <p:nvPr/>
              </p:nvSpPr>
              <p:spPr bwMode="auto">
                <a:xfrm>
                  <a:off x="82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9" name="Line 87"/>
                <p:cNvSpPr>
                  <a:spLocks noChangeShapeType="1"/>
                </p:cNvSpPr>
                <p:nvPr/>
              </p:nvSpPr>
              <p:spPr bwMode="auto">
                <a:xfrm>
                  <a:off x="118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0" name="Line 88"/>
                <p:cNvSpPr>
                  <a:spLocks noChangeShapeType="1"/>
                </p:cNvSpPr>
                <p:nvPr/>
              </p:nvSpPr>
              <p:spPr bwMode="auto">
                <a:xfrm>
                  <a:off x="154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1" name="Line 89"/>
                <p:cNvSpPr>
                  <a:spLocks noChangeShapeType="1"/>
                </p:cNvSpPr>
                <p:nvPr/>
              </p:nvSpPr>
              <p:spPr bwMode="auto">
                <a:xfrm>
                  <a:off x="190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2" name="Line 90"/>
                <p:cNvSpPr>
                  <a:spLocks noChangeShapeType="1"/>
                </p:cNvSpPr>
                <p:nvPr/>
              </p:nvSpPr>
              <p:spPr bwMode="auto">
                <a:xfrm>
                  <a:off x="226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3" name="Line 91"/>
                <p:cNvSpPr>
                  <a:spLocks noChangeShapeType="1"/>
                </p:cNvSpPr>
                <p:nvPr/>
              </p:nvSpPr>
              <p:spPr bwMode="auto">
                <a:xfrm>
                  <a:off x="262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4" name="Line 92"/>
                <p:cNvSpPr>
                  <a:spLocks noChangeShapeType="1"/>
                </p:cNvSpPr>
                <p:nvPr/>
              </p:nvSpPr>
              <p:spPr bwMode="auto">
                <a:xfrm>
                  <a:off x="298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5" name="Line 93"/>
                <p:cNvSpPr>
                  <a:spLocks noChangeShapeType="1"/>
                </p:cNvSpPr>
                <p:nvPr/>
              </p:nvSpPr>
              <p:spPr bwMode="auto">
                <a:xfrm>
                  <a:off x="334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6" name="Line 94"/>
                <p:cNvSpPr>
                  <a:spLocks noChangeShapeType="1"/>
                </p:cNvSpPr>
                <p:nvPr/>
              </p:nvSpPr>
              <p:spPr bwMode="auto">
                <a:xfrm>
                  <a:off x="370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7" name="Line 95"/>
                <p:cNvSpPr>
                  <a:spLocks noChangeShapeType="1"/>
                </p:cNvSpPr>
                <p:nvPr/>
              </p:nvSpPr>
              <p:spPr bwMode="auto">
                <a:xfrm>
                  <a:off x="406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8" name="Line 96"/>
                <p:cNvSpPr>
                  <a:spLocks noChangeShapeType="1"/>
                </p:cNvSpPr>
                <p:nvPr/>
              </p:nvSpPr>
              <p:spPr bwMode="auto">
                <a:xfrm>
                  <a:off x="442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59" name="Line 97"/>
                <p:cNvSpPr>
                  <a:spLocks noChangeShapeType="1"/>
                </p:cNvSpPr>
                <p:nvPr/>
              </p:nvSpPr>
              <p:spPr bwMode="auto">
                <a:xfrm>
                  <a:off x="478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60" name="Line 98"/>
                <p:cNvSpPr>
                  <a:spLocks noChangeShapeType="1"/>
                </p:cNvSpPr>
                <p:nvPr/>
              </p:nvSpPr>
              <p:spPr bwMode="auto">
                <a:xfrm>
                  <a:off x="514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61" name="Line 99"/>
                <p:cNvSpPr>
                  <a:spLocks noChangeShapeType="1"/>
                </p:cNvSpPr>
                <p:nvPr/>
              </p:nvSpPr>
              <p:spPr bwMode="auto">
                <a:xfrm>
                  <a:off x="550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62" name="Line 100"/>
                <p:cNvSpPr>
                  <a:spLocks noChangeShapeType="1"/>
                </p:cNvSpPr>
                <p:nvPr/>
              </p:nvSpPr>
              <p:spPr bwMode="auto">
                <a:xfrm>
                  <a:off x="586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63" name="Line 101"/>
                <p:cNvSpPr>
                  <a:spLocks noChangeShapeType="1"/>
                </p:cNvSpPr>
                <p:nvPr/>
              </p:nvSpPr>
              <p:spPr bwMode="auto">
                <a:xfrm>
                  <a:off x="622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64" name="Line 102"/>
                <p:cNvSpPr>
                  <a:spLocks noChangeShapeType="1"/>
                </p:cNvSpPr>
                <p:nvPr/>
              </p:nvSpPr>
              <p:spPr bwMode="auto">
                <a:xfrm>
                  <a:off x="658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65" name="Line 103"/>
                <p:cNvSpPr>
                  <a:spLocks noChangeShapeType="1"/>
                </p:cNvSpPr>
                <p:nvPr/>
              </p:nvSpPr>
              <p:spPr bwMode="auto">
                <a:xfrm>
                  <a:off x="6940" y="4800"/>
                  <a:ext cx="160" cy="1"/>
                </a:xfrm>
                <a:prstGeom prst="line">
                  <a:avLst/>
                </a:prstGeom>
                <a:noFill/>
                <a:ln w="25400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307" name="Line 104"/>
              <p:cNvSpPr>
                <a:spLocks noChangeShapeType="1"/>
              </p:cNvSpPr>
              <p:nvPr/>
            </p:nvSpPr>
            <p:spPr bwMode="auto">
              <a:xfrm flipV="1">
                <a:off x="2916" y="2862"/>
                <a:ext cx="904" cy="5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08" name="Line 105"/>
              <p:cNvSpPr>
                <a:spLocks noChangeShapeType="1"/>
              </p:cNvSpPr>
              <p:nvPr/>
            </p:nvSpPr>
            <p:spPr bwMode="auto">
              <a:xfrm>
                <a:off x="3820" y="2862"/>
                <a:ext cx="456" cy="5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09" name="Line 106"/>
              <p:cNvSpPr>
                <a:spLocks noChangeShapeType="1"/>
              </p:cNvSpPr>
              <p:nvPr/>
            </p:nvSpPr>
            <p:spPr bwMode="auto">
              <a:xfrm flipV="1">
                <a:off x="4276" y="2862"/>
                <a:ext cx="904" cy="5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10" name="Line 107"/>
              <p:cNvSpPr>
                <a:spLocks noChangeShapeType="1"/>
              </p:cNvSpPr>
              <p:nvPr/>
            </p:nvSpPr>
            <p:spPr bwMode="auto">
              <a:xfrm>
                <a:off x="5180" y="2862"/>
                <a:ext cx="184" cy="22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311" name="Group 108"/>
              <p:cNvGrpSpPr>
                <a:grpSpLocks/>
              </p:cNvGrpSpPr>
              <p:nvPr/>
            </p:nvGrpSpPr>
            <p:grpSpPr bwMode="auto">
              <a:xfrm>
                <a:off x="3820" y="2726"/>
                <a:ext cx="1" cy="968"/>
                <a:chOff x="2840" y="3780"/>
                <a:chExt cx="1" cy="2420"/>
              </a:xfrm>
            </p:grpSpPr>
            <p:sp>
              <p:nvSpPr>
                <p:cNvPr id="333" name="Line 109"/>
                <p:cNvSpPr>
                  <a:spLocks noChangeShapeType="1"/>
                </p:cNvSpPr>
                <p:nvPr/>
              </p:nvSpPr>
              <p:spPr bwMode="auto">
                <a:xfrm>
                  <a:off x="2840" y="378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4" name="Line 110"/>
                <p:cNvSpPr>
                  <a:spLocks noChangeShapeType="1"/>
                </p:cNvSpPr>
                <p:nvPr/>
              </p:nvSpPr>
              <p:spPr bwMode="auto">
                <a:xfrm>
                  <a:off x="2840" y="396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5" name="Line 111"/>
                <p:cNvSpPr>
                  <a:spLocks noChangeShapeType="1"/>
                </p:cNvSpPr>
                <p:nvPr/>
              </p:nvSpPr>
              <p:spPr bwMode="auto">
                <a:xfrm>
                  <a:off x="2840" y="414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6" name="Line 112"/>
                <p:cNvSpPr>
                  <a:spLocks noChangeShapeType="1"/>
                </p:cNvSpPr>
                <p:nvPr/>
              </p:nvSpPr>
              <p:spPr bwMode="auto">
                <a:xfrm>
                  <a:off x="2840" y="432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7" name="Line 113"/>
                <p:cNvSpPr>
                  <a:spLocks noChangeShapeType="1"/>
                </p:cNvSpPr>
                <p:nvPr/>
              </p:nvSpPr>
              <p:spPr bwMode="auto">
                <a:xfrm>
                  <a:off x="2840" y="450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8" name="Line 114"/>
                <p:cNvSpPr>
                  <a:spLocks noChangeShapeType="1"/>
                </p:cNvSpPr>
                <p:nvPr/>
              </p:nvSpPr>
              <p:spPr bwMode="auto">
                <a:xfrm>
                  <a:off x="2840" y="468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9" name="Line 115"/>
                <p:cNvSpPr>
                  <a:spLocks noChangeShapeType="1"/>
                </p:cNvSpPr>
                <p:nvPr/>
              </p:nvSpPr>
              <p:spPr bwMode="auto">
                <a:xfrm>
                  <a:off x="2840" y="486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0" name="Line 116"/>
                <p:cNvSpPr>
                  <a:spLocks noChangeShapeType="1"/>
                </p:cNvSpPr>
                <p:nvPr/>
              </p:nvSpPr>
              <p:spPr bwMode="auto">
                <a:xfrm>
                  <a:off x="2840" y="504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1" name="Line 117"/>
                <p:cNvSpPr>
                  <a:spLocks noChangeShapeType="1"/>
                </p:cNvSpPr>
                <p:nvPr/>
              </p:nvSpPr>
              <p:spPr bwMode="auto">
                <a:xfrm>
                  <a:off x="2840" y="522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2" name="Line 118"/>
                <p:cNvSpPr>
                  <a:spLocks noChangeShapeType="1"/>
                </p:cNvSpPr>
                <p:nvPr/>
              </p:nvSpPr>
              <p:spPr bwMode="auto">
                <a:xfrm>
                  <a:off x="2840" y="540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3" name="Line 119"/>
                <p:cNvSpPr>
                  <a:spLocks noChangeShapeType="1"/>
                </p:cNvSpPr>
                <p:nvPr/>
              </p:nvSpPr>
              <p:spPr bwMode="auto">
                <a:xfrm>
                  <a:off x="2840" y="558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4" name="Line 120"/>
                <p:cNvSpPr>
                  <a:spLocks noChangeShapeType="1"/>
                </p:cNvSpPr>
                <p:nvPr/>
              </p:nvSpPr>
              <p:spPr bwMode="auto">
                <a:xfrm>
                  <a:off x="2840" y="576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5" name="Line 121"/>
                <p:cNvSpPr>
                  <a:spLocks noChangeShapeType="1"/>
                </p:cNvSpPr>
                <p:nvPr/>
              </p:nvSpPr>
              <p:spPr bwMode="auto">
                <a:xfrm>
                  <a:off x="2840" y="594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46" name="Line 122"/>
                <p:cNvSpPr>
                  <a:spLocks noChangeShapeType="1"/>
                </p:cNvSpPr>
                <p:nvPr/>
              </p:nvSpPr>
              <p:spPr bwMode="auto">
                <a:xfrm>
                  <a:off x="2840" y="612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grpSp>
            <p:nvGrpSpPr>
              <p:cNvPr id="312" name="Group 123"/>
              <p:cNvGrpSpPr>
                <a:grpSpLocks/>
              </p:cNvGrpSpPr>
              <p:nvPr/>
            </p:nvGrpSpPr>
            <p:grpSpPr bwMode="auto">
              <a:xfrm>
                <a:off x="4276" y="2726"/>
                <a:ext cx="1" cy="968"/>
                <a:chOff x="3980" y="3780"/>
                <a:chExt cx="1" cy="2420"/>
              </a:xfrm>
            </p:grpSpPr>
            <p:sp>
              <p:nvSpPr>
                <p:cNvPr id="319" name="Line 124"/>
                <p:cNvSpPr>
                  <a:spLocks noChangeShapeType="1"/>
                </p:cNvSpPr>
                <p:nvPr/>
              </p:nvSpPr>
              <p:spPr bwMode="auto">
                <a:xfrm>
                  <a:off x="3980" y="378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0" name="Line 125"/>
                <p:cNvSpPr>
                  <a:spLocks noChangeShapeType="1"/>
                </p:cNvSpPr>
                <p:nvPr/>
              </p:nvSpPr>
              <p:spPr bwMode="auto">
                <a:xfrm>
                  <a:off x="3980" y="396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1" name="Line 126"/>
                <p:cNvSpPr>
                  <a:spLocks noChangeShapeType="1"/>
                </p:cNvSpPr>
                <p:nvPr/>
              </p:nvSpPr>
              <p:spPr bwMode="auto">
                <a:xfrm>
                  <a:off x="3980" y="414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2" name="Line 127"/>
                <p:cNvSpPr>
                  <a:spLocks noChangeShapeType="1"/>
                </p:cNvSpPr>
                <p:nvPr/>
              </p:nvSpPr>
              <p:spPr bwMode="auto">
                <a:xfrm>
                  <a:off x="3980" y="432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3" name="Line 128"/>
                <p:cNvSpPr>
                  <a:spLocks noChangeShapeType="1"/>
                </p:cNvSpPr>
                <p:nvPr/>
              </p:nvSpPr>
              <p:spPr bwMode="auto">
                <a:xfrm>
                  <a:off x="3980" y="450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4" name="Line 129"/>
                <p:cNvSpPr>
                  <a:spLocks noChangeShapeType="1"/>
                </p:cNvSpPr>
                <p:nvPr/>
              </p:nvSpPr>
              <p:spPr bwMode="auto">
                <a:xfrm>
                  <a:off x="3980" y="468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5" name="Line 130"/>
                <p:cNvSpPr>
                  <a:spLocks noChangeShapeType="1"/>
                </p:cNvSpPr>
                <p:nvPr/>
              </p:nvSpPr>
              <p:spPr bwMode="auto">
                <a:xfrm>
                  <a:off x="3980" y="486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6" name="Line 131"/>
                <p:cNvSpPr>
                  <a:spLocks noChangeShapeType="1"/>
                </p:cNvSpPr>
                <p:nvPr/>
              </p:nvSpPr>
              <p:spPr bwMode="auto">
                <a:xfrm>
                  <a:off x="3980" y="504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7" name="Line 132"/>
                <p:cNvSpPr>
                  <a:spLocks noChangeShapeType="1"/>
                </p:cNvSpPr>
                <p:nvPr/>
              </p:nvSpPr>
              <p:spPr bwMode="auto">
                <a:xfrm>
                  <a:off x="3980" y="522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8" name="Line 133"/>
                <p:cNvSpPr>
                  <a:spLocks noChangeShapeType="1"/>
                </p:cNvSpPr>
                <p:nvPr/>
              </p:nvSpPr>
              <p:spPr bwMode="auto">
                <a:xfrm>
                  <a:off x="3980" y="540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29" name="Line 134"/>
                <p:cNvSpPr>
                  <a:spLocks noChangeShapeType="1"/>
                </p:cNvSpPr>
                <p:nvPr/>
              </p:nvSpPr>
              <p:spPr bwMode="auto">
                <a:xfrm>
                  <a:off x="3980" y="558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0" name="Line 135"/>
                <p:cNvSpPr>
                  <a:spLocks noChangeShapeType="1"/>
                </p:cNvSpPr>
                <p:nvPr/>
              </p:nvSpPr>
              <p:spPr bwMode="auto">
                <a:xfrm>
                  <a:off x="3980" y="576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1" name="Line 136"/>
                <p:cNvSpPr>
                  <a:spLocks noChangeShapeType="1"/>
                </p:cNvSpPr>
                <p:nvPr/>
              </p:nvSpPr>
              <p:spPr bwMode="auto">
                <a:xfrm>
                  <a:off x="3980" y="594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332" name="Line 137"/>
                <p:cNvSpPr>
                  <a:spLocks noChangeShapeType="1"/>
                </p:cNvSpPr>
                <p:nvPr/>
              </p:nvSpPr>
              <p:spPr bwMode="auto">
                <a:xfrm>
                  <a:off x="3980" y="6120"/>
                  <a:ext cx="1" cy="8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313" name="Text Box 138"/>
              <p:cNvSpPr txBox="1">
                <a:spLocks noChangeArrowheads="1"/>
              </p:cNvSpPr>
              <p:nvPr/>
            </p:nvSpPr>
            <p:spPr bwMode="auto">
              <a:xfrm>
                <a:off x="2724" y="2977"/>
                <a:ext cx="20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33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009900"/>
                    </a:solidFill>
                    <a:latin typeface="Calibri (Corps)"/>
                  </a:rPr>
                  <a:t>I</a:t>
                </a:r>
                <a:r>
                  <a:rPr lang="fr-FR" altLang="fr-FR" sz="1800" b="1" baseline="-25000">
                    <a:solidFill>
                      <a:srgbClr val="009900"/>
                    </a:solidFill>
                    <a:latin typeface="Calibri (Corps)"/>
                  </a:rPr>
                  <a:t>s</a:t>
                </a:r>
              </a:p>
            </p:txBody>
          </p:sp>
          <p:sp>
            <p:nvSpPr>
              <p:cNvPr id="314" name="Text Box 139"/>
              <p:cNvSpPr txBox="1">
                <a:spLocks noChangeArrowheads="1"/>
              </p:cNvSpPr>
              <p:nvPr/>
            </p:nvSpPr>
            <p:spPr bwMode="auto">
              <a:xfrm>
                <a:off x="2925" y="2341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dirty="0">
                    <a:latin typeface="Calibri (Corps)"/>
                  </a:rPr>
                  <a:t>i</a:t>
                </a:r>
                <a:r>
                  <a:rPr lang="fr-FR" altLang="fr-FR" sz="1800" b="1" baseline="-25000" dirty="0">
                    <a:latin typeface="Calibri (Corps)"/>
                  </a:rPr>
                  <a:t>L</a:t>
                </a:r>
              </a:p>
            </p:txBody>
          </p:sp>
          <p:sp>
            <p:nvSpPr>
              <p:cNvPr id="315" name="Line 140"/>
              <p:cNvSpPr>
                <a:spLocks noChangeShapeType="1"/>
              </p:cNvSpPr>
              <p:nvPr/>
            </p:nvSpPr>
            <p:spPr bwMode="auto">
              <a:xfrm>
                <a:off x="2925" y="3702"/>
                <a:ext cx="908" cy="0"/>
              </a:xfrm>
              <a:prstGeom prst="line">
                <a:avLst/>
              </a:prstGeom>
              <a:noFill/>
              <a:ln w="22225">
                <a:solidFill>
                  <a:srgbClr val="FF3300"/>
                </a:solidFill>
                <a:round/>
                <a:headEnd type="stealth" w="lg" len="lg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16" name="Text Box 141"/>
              <p:cNvSpPr txBox="1">
                <a:spLocks noChangeArrowheads="1"/>
              </p:cNvSpPr>
              <p:nvPr/>
            </p:nvSpPr>
            <p:spPr bwMode="auto">
              <a:xfrm>
                <a:off x="3243" y="3430"/>
                <a:ext cx="275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FF3300"/>
                    </a:solidFill>
                    <a:latin typeface="Calibri (Corps)"/>
                  </a:rPr>
                  <a:t>D</a:t>
                </a:r>
                <a:r>
                  <a:rPr lang="fr-FR" altLang="fr-FR" sz="1800" b="1" baseline="-25000">
                    <a:solidFill>
                      <a:srgbClr val="FF3300"/>
                    </a:solidFill>
                    <a:latin typeface="Calibri (Corps)"/>
                  </a:rPr>
                  <a:t>2</a:t>
                </a:r>
              </a:p>
            </p:txBody>
          </p:sp>
          <p:sp>
            <p:nvSpPr>
              <p:cNvPr id="317" name="Text Box 142"/>
              <p:cNvSpPr txBox="1">
                <a:spLocks noChangeArrowheads="1"/>
              </p:cNvSpPr>
              <p:nvPr/>
            </p:nvSpPr>
            <p:spPr bwMode="auto">
              <a:xfrm>
                <a:off x="3923" y="3339"/>
                <a:ext cx="2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FF3300"/>
                    </a:solidFill>
                    <a:latin typeface="Calibri (Corps)"/>
                  </a:rPr>
                  <a:t>T</a:t>
                </a:r>
                <a:r>
                  <a:rPr lang="fr-FR" altLang="fr-FR" sz="1800" b="1" baseline="-25000">
                    <a:solidFill>
                      <a:srgbClr val="FF3300"/>
                    </a:solidFill>
                    <a:latin typeface="Calibri (Corps)"/>
                  </a:rPr>
                  <a:t>2</a:t>
                </a:r>
              </a:p>
            </p:txBody>
          </p:sp>
          <p:sp>
            <p:nvSpPr>
              <p:cNvPr id="318" name="Line 143"/>
              <p:cNvSpPr>
                <a:spLocks noChangeShapeType="1"/>
              </p:cNvSpPr>
              <p:nvPr/>
            </p:nvSpPr>
            <p:spPr bwMode="auto">
              <a:xfrm>
                <a:off x="3833" y="3611"/>
                <a:ext cx="453" cy="0"/>
              </a:xfrm>
              <a:prstGeom prst="line">
                <a:avLst/>
              </a:prstGeom>
              <a:noFill/>
              <a:ln w="22225">
                <a:solidFill>
                  <a:srgbClr val="FF3300"/>
                </a:solidFill>
                <a:round/>
                <a:headEnd type="stealth" w="lg" len="lg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194" name="Text Box 147"/>
            <p:cNvSpPr txBox="1">
              <a:spLocks noChangeArrowheads="1"/>
            </p:cNvSpPr>
            <p:nvPr/>
          </p:nvSpPr>
          <p:spPr bwMode="auto">
            <a:xfrm>
              <a:off x="10064463" y="5262852"/>
              <a:ext cx="863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2400" b="1" dirty="0">
                  <a:solidFill>
                    <a:srgbClr val="FF3300"/>
                  </a:solidFill>
                  <a:latin typeface="Calibri (Corps)"/>
                </a:rPr>
                <a:t>i</a:t>
              </a:r>
              <a:r>
                <a:rPr lang="fr-FR" altLang="fr-FR" sz="2400" b="1" baseline="-25000" dirty="0">
                  <a:solidFill>
                    <a:srgbClr val="FF3300"/>
                  </a:solidFill>
                  <a:latin typeface="Calibri (Corps)"/>
                </a:rPr>
                <a:t>L</a:t>
              </a:r>
              <a:r>
                <a:rPr lang="fr-FR" altLang="fr-FR" sz="2400" b="1" dirty="0">
                  <a:solidFill>
                    <a:srgbClr val="FF3300"/>
                  </a:solidFill>
                  <a:latin typeface="Calibri (Corps)"/>
                </a:rPr>
                <a:t>&lt; 0</a:t>
              </a:r>
            </a:p>
          </p:txBody>
        </p:sp>
      </p:grpSp>
      <p:cxnSp>
        <p:nvCxnSpPr>
          <p:cNvPr id="370" name="Connecteur droit 36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ZoneTexte 371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rgbClr val="FF0000"/>
                </a:solidFill>
              </a:rPr>
              <a:t>2 quadrants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378" name="Line 144"/>
          <p:cNvSpPr>
            <a:spLocks noChangeShapeType="1"/>
          </p:cNvSpPr>
          <p:nvPr/>
        </p:nvSpPr>
        <p:spPr bwMode="auto">
          <a:xfrm flipH="1">
            <a:off x="3512103" y="4146660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0" name="Line 146"/>
          <p:cNvSpPr>
            <a:spLocks noChangeShapeType="1"/>
          </p:cNvSpPr>
          <p:nvPr/>
        </p:nvSpPr>
        <p:spPr bwMode="auto">
          <a:xfrm>
            <a:off x="4159804" y="4146659"/>
            <a:ext cx="365124" cy="390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79" name="Arc 145"/>
          <p:cNvSpPr>
            <a:spLocks/>
          </p:cNvSpPr>
          <p:nvPr/>
        </p:nvSpPr>
        <p:spPr bwMode="auto">
          <a:xfrm rot="16896794">
            <a:off x="5024436" y="4196455"/>
            <a:ext cx="1011238" cy="1706748"/>
          </a:xfrm>
          <a:custGeom>
            <a:avLst/>
            <a:gdLst>
              <a:gd name="T0" fmla="*/ 0 w 32454"/>
              <a:gd name="T1" fmla="*/ 0 h 43200"/>
              <a:gd name="T2" fmla="*/ 0 w 32454"/>
              <a:gd name="T3" fmla="*/ 0 h 43200"/>
              <a:gd name="T4" fmla="*/ 0 w 32454"/>
              <a:gd name="T5" fmla="*/ 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454" h="43200" fill="none" extrusionOk="0">
                <a:moveTo>
                  <a:pt x="1739" y="2017"/>
                </a:moveTo>
                <a:cubicBezTo>
                  <a:pt x="4594" y="688"/>
                  <a:pt x="7704" y="-1"/>
                  <a:pt x="10854" y="0"/>
                </a:cubicBezTo>
                <a:cubicBezTo>
                  <a:pt x="22783" y="0"/>
                  <a:pt x="32454" y="9670"/>
                  <a:pt x="32454" y="21600"/>
                </a:cubicBezTo>
                <a:cubicBezTo>
                  <a:pt x="32454" y="33529"/>
                  <a:pt x="22783" y="43200"/>
                  <a:pt x="10854" y="43200"/>
                </a:cubicBezTo>
                <a:cubicBezTo>
                  <a:pt x="7041" y="43200"/>
                  <a:pt x="3296" y="42190"/>
                  <a:pt x="0" y="40274"/>
                </a:cubicBezTo>
              </a:path>
              <a:path w="32454" h="43200" stroke="0" extrusionOk="0">
                <a:moveTo>
                  <a:pt x="1739" y="2017"/>
                </a:moveTo>
                <a:cubicBezTo>
                  <a:pt x="4594" y="688"/>
                  <a:pt x="7704" y="-1"/>
                  <a:pt x="10854" y="0"/>
                </a:cubicBezTo>
                <a:cubicBezTo>
                  <a:pt x="22783" y="0"/>
                  <a:pt x="32454" y="9670"/>
                  <a:pt x="32454" y="21600"/>
                </a:cubicBezTo>
                <a:cubicBezTo>
                  <a:pt x="32454" y="33529"/>
                  <a:pt x="22783" y="43200"/>
                  <a:pt x="10854" y="43200"/>
                </a:cubicBezTo>
                <a:cubicBezTo>
                  <a:pt x="7041" y="43200"/>
                  <a:pt x="3296" y="42190"/>
                  <a:pt x="0" y="40274"/>
                </a:cubicBezTo>
                <a:lnTo>
                  <a:pt x="10854" y="21600"/>
                </a:lnTo>
                <a:lnTo>
                  <a:pt x="1739" y="2017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5113EC9E-7D7E-0EEC-9084-B7CD68C9438C}"/>
              </a:ext>
            </a:extLst>
          </p:cNvPr>
          <p:cNvGrpSpPr/>
          <p:nvPr/>
        </p:nvGrpSpPr>
        <p:grpSpPr>
          <a:xfrm>
            <a:off x="2209845" y="1065760"/>
            <a:ext cx="4799558" cy="2263812"/>
            <a:chOff x="2209845" y="1065760"/>
            <a:chExt cx="4799558" cy="2263812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BA84C268-D8D3-3C1E-BEE1-204171523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45" y="1075748"/>
              <a:ext cx="4799558" cy="2253824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581FCC26-75BE-F7C3-48C5-622AAEBD1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362" r="57511" b="90890"/>
            <a:stretch>
              <a:fillRect/>
            </a:stretch>
          </p:blipFill>
          <p:spPr>
            <a:xfrm>
              <a:off x="4830064" y="2243700"/>
              <a:ext cx="246064" cy="20533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EDF9D226-7853-DC69-B04C-6F9F34671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24" t="51946" r="40249" b="38944"/>
            <a:stretch>
              <a:fillRect/>
            </a:stretch>
          </p:blipFill>
          <p:spPr>
            <a:xfrm>
              <a:off x="3979136" y="1065760"/>
              <a:ext cx="246064" cy="205337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9356BBD4-A3A0-0E84-6628-95DFAD7296FE}"/>
              </a:ext>
            </a:extLst>
          </p:cNvPr>
          <p:cNvGrpSpPr/>
          <p:nvPr/>
        </p:nvGrpSpPr>
        <p:grpSpPr>
          <a:xfrm>
            <a:off x="2217852" y="3749070"/>
            <a:ext cx="4799558" cy="2277030"/>
            <a:chOff x="2217852" y="3749070"/>
            <a:chExt cx="4799558" cy="2277030"/>
          </a:xfrm>
        </p:grpSpPr>
        <p:pic>
          <p:nvPicPr>
            <p:cNvPr id="82" name="Image 81">
              <a:extLst>
                <a:ext uri="{FF2B5EF4-FFF2-40B4-BE49-F238E27FC236}">
                  <a16:creationId xmlns:a16="http://schemas.microsoft.com/office/drawing/2014/main" id="{435AF6C6-A115-1458-3D2B-7FDA29844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7852" y="3772276"/>
              <a:ext cx="4799558" cy="2253824"/>
            </a:xfrm>
            <a:prstGeom prst="rect">
              <a:avLst/>
            </a:prstGeom>
          </p:spPr>
        </p:pic>
        <p:pic>
          <p:nvPicPr>
            <p:cNvPr id="87" name="Image 86">
              <a:extLst>
                <a:ext uri="{FF2B5EF4-FFF2-40B4-BE49-F238E27FC236}">
                  <a16:creationId xmlns:a16="http://schemas.microsoft.com/office/drawing/2014/main" id="{7E87A726-AFF1-B168-58A9-0AAB32F4C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362" r="57511" b="90890"/>
            <a:stretch>
              <a:fillRect/>
            </a:stretch>
          </p:blipFill>
          <p:spPr>
            <a:xfrm>
              <a:off x="4861080" y="4927010"/>
              <a:ext cx="246064" cy="20533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89" name="Image 88">
              <a:extLst>
                <a:ext uri="{FF2B5EF4-FFF2-40B4-BE49-F238E27FC236}">
                  <a16:creationId xmlns:a16="http://schemas.microsoft.com/office/drawing/2014/main" id="{C3711CE7-A825-C3C3-0773-F66C360D1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24" t="51946" r="40249" b="38944"/>
            <a:stretch>
              <a:fillRect/>
            </a:stretch>
          </p:blipFill>
          <p:spPr>
            <a:xfrm>
              <a:off x="4010152" y="3749070"/>
              <a:ext cx="246064" cy="205337"/>
            </a:xfrm>
            <a:prstGeom prst="rect">
              <a:avLst/>
            </a:prstGeom>
            <a:solidFill>
              <a:schemeClr val="bg1"/>
            </a:solidFill>
          </p:spPr>
        </p:pic>
      </p:grpSp>
    </p:spTree>
    <p:extLst>
      <p:ext uri="{BB962C8B-B14F-4D97-AF65-F5344CB8AC3E}">
        <p14:creationId xmlns:p14="http://schemas.microsoft.com/office/powerpoint/2010/main" val="15514977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797834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Two quadrants chopper: Arbitrary output current</a:t>
            </a:r>
          </a:p>
        </p:txBody>
      </p:sp>
      <p:grpSp>
        <p:nvGrpSpPr>
          <p:cNvPr id="6" name="Group 3"/>
          <p:cNvGrpSpPr>
            <a:grpSpLocks noChangeAspect="1"/>
          </p:cNvGrpSpPr>
          <p:nvPr/>
        </p:nvGrpSpPr>
        <p:grpSpPr bwMode="auto">
          <a:xfrm>
            <a:off x="4291157" y="1148082"/>
            <a:ext cx="5759450" cy="5014912"/>
            <a:chOff x="0" y="-20"/>
            <a:chExt cx="7968" cy="6940"/>
          </a:xfrm>
        </p:grpSpPr>
        <p:sp>
          <p:nvSpPr>
            <p:cNvPr id="7" name="AutoShape 4"/>
            <p:cNvSpPr>
              <a:spLocks noChangeAspect="1" noChangeArrowheads="1"/>
            </p:cNvSpPr>
            <p:nvPr/>
          </p:nvSpPr>
          <p:spPr bwMode="auto">
            <a:xfrm>
              <a:off x="0" y="-20"/>
              <a:ext cx="7968" cy="6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500" y="260"/>
              <a:ext cx="140" cy="2380"/>
              <a:chOff x="500" y="260"/>
              <a:chExt cx="140" cy="2380"/>
            </a:xfrm>
          </p:grpSpPr>
          <p:sp>
            <p:nvSpPr>
              <p:cNvPr id="142" name="Freeform 6"/>
              <p:cNvSpPr>
                <a:spLocks/>
              </p:cNvSpPr>
              <p:nvPr/>
            </p:nvSpPr>
            <p:spPr bwMode="auto">
              <a:xfrm>
                <a:off x="500" y="260"/>
                <a:ext cx="140" cy="280"/>
              </a:xfrm>
              <a:custGeom>
                <a:avLst/>
                <a:gdLst>
                  <a:gd name="T0" fmla="*/ 80 w 140"/>
                  <a:gd name="T1" fmla="*/ 0 h 280"/>
                  <a:gd name="T2" fmla="*/ 140 w 140"/>
                  <a:gd name="T3" fmla="*/ 280 h 280"/>
                  <a:gd name="T4" fmla="*/ 80 w 140"/>
                  <a:gd name="T5" fmla="*/ 280 h 280"/>
                  <a:gd name="T6" fmla="*/ 0 w 140"/>
                  <a:gd name="T7" fmla="*/ 280 h 280"/>
                  <a:gd name="T8" fmla="*/ 80 w 140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280">
                    <a:moveTo>
                      <a:pt x="80" y="0"/>
                    </a:moveTo>
                    <a:lnTo>
                      <a:pt x="140" y="280"/>
                    </a:lnTo>
                    <a:lnTo>
                      <a:pt x="80" y="280"/>
                    </a:lnTo>
                    <a:lnTo>
                      <a:pt x="0" y="28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3" name="Line 7"/>
              <p:cNvSpPr>
                <a:spLocks noChangeShapeType="1"/>
              </p:cNvSpPr>
              <p:nvPr/>
            </p:nvSpPr>
            <p:spPr bwMode="auto">
              <a:xfrm>
                <a:off x="580" y="540"/>
                <a:ext cx="1" cy="21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" name="Group 8"/>
            <p:cNvGrpSpPr>
              <a:grpSpLocks/>
            </p:cNvGrpSpPr>
            <p:nvPr/>
          </p:nvGrpSpPr>
          <p:grpSpPr bwMode="auto">
            <a:xfrm>
              <a:off x="460" y="2460"/>
              <a:ext cx="6920" cy="140"/>
              <a:chOff x="460" y="2460"/>
              <a:chExt cx="6920" cy="140"/>
            </a:xfrm>
          </p:grpSpPr>
          <p:sp>
            <p:nvSpPr>
              <p:cNvPr id="140" name="Freeform 9"/>
              <p:cNvSpPr>
                <a:spLocks/>
              </p:cNvSpPr>
              <p:nvPr/>
            </p:nvSpPr>
            <p:spPr bwMode="auto">
              <a:xfrm>
                <a:off x="7100" y="246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1" name="Line 10"/>
              <p:cNvSpPr>
                <a:spLocks noChangeShapeType="1"/>
              </p:cNvSpPr>
              <p:nvPr/>
            </p:nvSpPr>
            <p:spPr bwMode="auto">
              <a:xfrm>
                <a:off x="460" y="2540"/>
                <a:ext cx="664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460" y="1400"/>
              <a:ext cx="6640" cy="1"/>
              <a:chOff x="460" y="1400"/>
              <a:chExt cx="6640" cy="1"/>
            </a:xfrm>
          </p:grpSpPr>
          <p:sp>
            <p:nvSpPr>
              <p:cNvPr id="121" name="Line 12"/>
              <p:cNvSpPr>
                <a:spLocks noChangeShapeType="1"/>
              </p:cNvSpPr>
              <p:nvPr/>
            </p:nvSpPr>
            <p:spPr bwMode="auto">
              <a:xfrm>
                <a:off x="46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2" name="Line 13"/>
              <p:cNvSpPr>
                <a:spLocks noChangeShapeType="1"/>
              </p:cNvSpPr>
              <p:nvPr/>
            </p:nvSpPr>
            <p:spPr bwMode="auto">
              <a:xfrm>
                <a:off x="82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3" name="Line 14"/>
              <p:cNvSpPr>
                <a:spLocks noChangeShapeType="1"/>
              </p:cNvSpPr>
              <p:nvPr/>
            </p:nvSpPr>
            <p:spPr bwMode="auto">
              <a:xfrm>
                <a:off x="11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4" name="Line 15"/>
              <p:cNvSpPr>
                <a:spLocks noChangeShapeType="1"/>
              </p:cNvSpPr>
              <p:nvPr/>
            </p:nvSpPr>
            <p:spPr bwMode="auto">
              <a:xfrm>
                <a:off x="154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5" name="Line 16"/>
              <p:cNvSpPr>
                <a:spLocks noChangeShapeType="1"/>
              </p:cNvSpPr>
              <p:nvPr/>
            </p:nvSpPr>
            <p:spPr bwMode="auto">
              <a:xfrm>
                <a:off x="190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6" name="Line 17"/>
              <p:cNvSpPr>
                <a:spLocks noChangeShapeType="1"/>
              </p:cNvSpPr>
              <p:nvPr/>
            </p:nvSpPr>
            <p:spPr bwMode="auto">
              <a:xfrm>
                <a:off x="226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7" name="Line 18"/>
              <p:cNvSpPr>
                <a:spLocks noChangeShapeType="1"/>
              </p:cNvSpPr>
              <p:nvPr/>
            </p:nvSpPr>
            <p:spPr bwMode="auto">
              <a:xfrm>
                <a:off x="262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8" name="Line 19"/>
              <p:cNvSpPr>
                <a:spLocks noChangeShapeType="1"/>
              </p:cNvSpPr>
              <p:nvPr/>
            </p:nvSpPr>
            <p:spPr bwMode="auto">
              <a:xfrm>
                <a:off x="29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" name="Line 20"/>
              <p:cNvSpPr>
                <a:spLocks noChangeShapeType="1"/>
              </p:cNvSpPr>
              <p:nvPr/>
            </p:nvSpPr>
            <p:spPr bwMode="auto">
              <a:xfrm>
                <a:off x="334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0" name="Line 21"/>
              <p:cNvSpPr>
                <a:spLocks noChangeShapeType="1"/>
              </p:cNvSpPr>
              <p:nvPr/>
            </p:nvSpPr>
            <p:spPr bwMode="auto">
              <a:xfrm>
                <a:off x="370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1" name="Line 22"/>
              <p:cNvSpPr>
                <a:spLocks noChangeShapeType="1"/>
              </p:cNvSpPr>
              <p:nvPr/>
            </p:nvSpPr>
            <p:spPr bwMode="auto">
              <a:xfrm>
                <a:off x="406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2" name="Line 23"/>
              <p:cNvSpPr>
                <a:spLocks noChangeShapeType="1"/>
              </p:cNvSpPr>
              <p:nvPr/>
            </p:nvSpPr>
            <p:spPr bwMode="auto">
              <a:xfrm>
                <a:off x="442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Line 24"/>
              <p:cNvSpPr>
                <a:spLocks noChangeShapeType="1"/>
              </p:cNvSpPr>
              <p:nvPr/>
            </p:nvSpPr>
            <p:spPr bwMode="auto">
              <a:xfrm>
                <a:off x="47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4" name="Line 25"/>
              <p:cNvSpPr>
                <a:spLocks noChangeShapeType="1"/>
              </p:cNvSpPr>
              <p:nvPr/>
            </p:nvSpPr>
            <p:spPr bwMode="auto">
              <a:xfrm>
                <a:off x="514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Line 26"/>
              <p:cNvSpPr>
                <a:spLocks noChangeShapeType="1"/>
              </p:cNvSpPr>
              <p:nvPr/>
            </p:nvSpPr>
            <p:spPr bwMode="auto">
              <a:xfrm>
                <a:off x="550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6" name="Line 27"/>
              <p:cNvSpPr>
                <a:spLocks noChangeShapeType="1"/>
              </p:cNvSpPr>
              <p:nvPr/>
            </p:nvSpPr>
            <p:spPr bwMode="auto">
              <a:xfrm>
                <a:off x="586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Line 28"/>
              <p:cNvSpPr>
                <a:spLocks noChangeShapeType="1"/>
              </p:cNvSpPr>
              <p:nvPr/>
            </p:nvSpPr>
            <p:spPr bwMode="auto">
              <a:xfrm>
                <a:off x="622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Line 29"/>
              <p:cNvSpPr>
                <a:spLocks noChangeShapeType="1"/>
              </p:cNvSpPr>
              <p:nvPr/>
            </p:nvSpPr>
            <p:spPr bwMode="auto">
              <a:xfrm>
                <a:off x="658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Line 30"/>
              <p:cNvSpPr>
                <a:spLocks noChangeShapeType="1"/>
              </p:cNvSpPr>
              <p:nvPr/>
            </p:nvSpPr>
            <p:spPr bwMode="auto">
              <a:xfrm>
                <a:off x="6940" y="14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3" name="Line 31"/>
            <p:cNvSpPr>
              <a:spLocks noChangeShapeType="1"/>
            </p:cNvSpPr>
            <p:nvPr/>
          </p:nvSpPr>
          <p:spPr bwMode="auto">
            <a:xfrm>
              <a:off x="580" y="840"/>
              <a:ext cx="226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>
              <a:off x="2840" y="840"/>
              <a:ext cx="1" cy="1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33"/>
            <p:cNvSpPr>
              <a:spLocks noChangeShapeType="1"/>
            </p:cNvSpPr>
            <p:nvPr/>
          </p:nvSpPr>
          <p:spPr bwMode="auto">
            <a:xfrm>
              <a:off x="2840" y="2540"/>
              <a:ext cx="114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34"/>
            <p:cNvSpPr>
              <a:spLocks noChangeShapeType="1"/>
            </p:cNvSpPr>
            <p:nvPr/>
          </p:nvSpPr>
          <p:spPr bwMode="auto">
            <a:xfrm flipV="1">
              <a:off x="3980" y="840"/>
              <a:ext cx="1" cy="1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>
              <a:off x="3980" y="840"/>
              <a:ext cx="226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36"/>
            <p:cNvSpPr>
              <a:spLocks noChangeShapeType="1"/>
            </p:cNvSpPr>
            <p:nvPr/>
          </p:nvSpPr>
          <p:spPr bwMode="auto">
            <a:xfrm>
              <a:off x="6240" y="840"/>
              <a:ext cx="1" cy="1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37"/>
            <p:cNvSpPr>
              <a:spLocks noChangeShapeType="1"/>
            </p:cNvSpPr>
            <p:nvPr/>
          </p:nvSpPr>
          <p:spPr bwMode="auto">
            <a:xfrm>
              <a:off x="6240" y="2540"/>
              <a:ext cx="68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Rectangle 38"/>
            <p:cNvSpPr>
              <a:spLocks noChangeArrowheads="1"/>
            </p:cNvSpPr>
            <p:nvPr/>
          </p:nvSpPr>
          <p:spPr bwMode="auto">
            <a:xfrm>
              <a:off x="402" y="-20"/>
              <a:ext cx="123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v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39"/>
            <p:cNvSpPr>
              <a:spLocks noChangeArrowheads="1"/>
            </p:cNvSpPr>
            <p:nvPr/>
          </p:nvSpPr>
          <p:spPr bwMode="auto">
            <a:xfrm>
              <a:off x="7241" y="2021"/>
              <a:ext cx="59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40"/>
            <p:cNvSpPr>
              <a:spLocks noChangeArrowheads="1"/>
            </p:cNvSpPr>
            <p:nvPr/>
          </p:nvSpPr>
          <p:spPr bwMode="auto">
            <a:xfrm>
              <a:off x="299" y="2241"/>
              <a:ext cx="1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41"/>
            <p:cNvSpPr>
              <a:spLocks noChangeArrowheads="1"/>
            </p:cNvSpPr>
            <p:nvPr/>
          </p:nvSpPr>
          <p:spPr bwMode="auto">
            <a:xfrm>
              <a:off x="141" y="1120"/>
              <a:ext cx="175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V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321" y="1261"/>
              <a:ext cx="8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s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43"/>
            <p:cNvSpPr>
              <a:spLocks noChangeArrowheads="1"/>
            </p:cNvSpPr>
            <p:nvPr/>
          </p:nvSpPr>
          <p:spPr bwMode="auto">
            <a:xfrm>
              <a:off x="3839" y="2660"/>
              <a:ext cx="165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2840" y="2579"/>
              <a:ext cx="226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.T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2539" y="2579"/>
              <a:ext cx="156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28" name="Group 46"/>
            <p:cNvGrpSpPr>
              <a:grpSpLocks/>
            </p:cNvGrpSpPr>
            <p:nvPr/>
          </p:nvGrpSpPr>
          <p:grpSpPr bwMode="auto">
            <a:xfrm>
              <a:off x="500" y="3500"/>
              <a:ext cx="140" cy="2720"/>
              <a:chOff x="500" y="3500"/>
              <a:chExt cx="140" cy="2720"/>
            </a:xfrm>
          </p:grpSpPr>
          <p:sp>
            <p:nvSpPr>
              <p:cNvPr id="119" name="Freeform 47"/>
              <p:cNvSpPr>
                <a:spLocks/>
              </p:cNvSpPr>
              <p:nvPr/>
            </p:nvSpPr>
            <p:spPr bwMode="auto">
              <a:xfrm>
                <a:off x="500" y="3500"/>
                <a:ext cx="140" cy="280"/>
              </a:xfrm>
              <a:custGeom>
                <a:avLst/>
                <a:gdLst>
                  <a:gd name="T0" fmla="*/ 80 w 140"/>
                  <a:gd name="T1" fmla="*/ 0 h 280"/>
                  <a:gd name="T2" fmla="*/ 140 w 140"/>
                  <a:gd name="T3" fmla="*/ 280 h 280"/>
                  <a:gd name="T4" fmla="*/ 80 w 140"/>
                  <a:gd name="T5" fmla="*/ 280 h 280"/>
                  <a:gd name="T6" fmla="*/ 0 w 140"/>
                  <a:gd name="T7" fmla="*/ 280 h 280"/>
                  <a:gd name="T8" fmla="*/ 80 w 140"/>
                  <a:gd name="T9" fmla="*/ 0 h 2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" h="280">
                    <a:moveTo>
                      <a:pt x="80" y="0"/>
                    </a:moveTo>
                    <a:lnTo>
                      <a:pt x="140" y="280"/>
                    </a:lnTo>
                    <a:lnTo>
                      <a:pt x="80" y="280"/>
                    </a:lnTo>
                    <a:lnTo>
                      <a:pt x="0" y="28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0" name="Line 48"/>
              <p:cNvSpPr>
                <a:spLocks noChangeShapeType="1"/>
              </p:cNvSpPr>
              <p:nvPr/>
            </p:nvSpPr>
            <p:spPr bwMode="auto">
              <a:xfrm>
                <a:off x="580" y="3780"/>
                <a:ext cx="1" cy="24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9" name="Group 49"/>
            <p:cNvGrpSpPr>
              <a:grpSpLocks/>
            </p:cNvGrpSpPr>
            <p:nvPr/>
          </p:nvGrpSpPr>
          <p:grpSpPr bwMode="auto">
            <a:xfrm>
              <a:off x="400" y="4960"/>
              <a:ext cx="6920" cy="140"/>
              <a:chOff x="400" y="4960"/>
              <a:chExt cx="6920" cy="140"/>
            </a:xfrm>
          </p:grpSpPr>
          <p:sp>
            <p:nvSpPr>
              <p:cNvPr id="117" name="Freeform 50"/>
              <p:cNvSpPr>
                <a:spLocks/>
              </p:cNvSpPr>
              <p:nvPr/>
            </p:nvSpPr>
            <p:spPr bwMode="auto">
              <a:xfrm>
                <a:off x="7040" y="4960"/>
                <a:ext cx="280" cy="140"/>
              </a:xfrm>
              <a:custGeom>
                <a:avLst/>
                <a:gdLst>
                  <a:gd name="T0" fmla="*/ 280 w 280"/>
                  <a:gd name="T1" fmla="*/ 60 h 140"/>
                  <a:gd name="T2" fmla="*/ 0 w 280"/>
                  <a:gd name="T3" fmla="*/ 140 h 140"/>
                  <a:gd name="T4" fmla="*/ 0 w 280"/>
                  <a:gd name="T5" fmla="*/ 60 h 140"/>
                  <a:gd name="T6" fmla="*/ 0 w 280"/>
                  <a:gd name="T7" fmla="*/ 0 h 140"/>
                  <a:gd name="T8" fmla="*/ 280 w 280"/>
                  <a:gd name="T9" fmla="*/ 6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60"/>
                    </a:moveTo>
                    <a:lnTo>
                      <a:pt x="0" y="140"/>
                    </a:lnTo>
                    <a:lnTo>
                      <a:pt x="0" y="60"/>
                    </a:lnTo>
                    <a:lnTo>
                      <a:pt x="0" y="0"/>
                    </a:lnTo>
                    <a:lnTo>
                      <a:pt x="280" y="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8" name="Line 51"/>
              <p:cNvSpPr>
                <a:spLocks noChangeShapeType="1"/>
              </p:cNvSpPr>
              <p:nvPr/>
            </p:nvSpPr>
            <p:spPr bwMode="auto">
              <a:xfrm>
                <a:off x="400" y="5020"/>
                <a:ext cx="664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0" name="Rectangle 52"/>
            <p:cNvSpPr>
              <a:spLocks noChangeArrowheads="1"/>
            </p:cNvSpPr>
            <p:nvPr/>
          </p:nvSpPr>
          <p:spPr bwMode="auto">
            <a:xfrm>
              <a:off x="7342" y="4738"/>
              <a:ext cx="59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53"/>
            <p:cNvSpPr>
              <a:spLocks noChangeArrowheads="1"/>
            </p:cNvSpPr>
            <p:nvPr/>
          </p:nvSpPr>
          <p:spPr bwMode="auto">
            <a:xfrm>
              <a:off x="299" y="5079"/>
              <a:ext cx="105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32" name="Group 54"/>
            <p:cNvGrpSpPr>
              <a:grpSpLocks/>
            </p:cNvGrpSpPr>
            <p:nvPr/>
          </p:nvGrpSpPr>
          <p:grpSpPr bwMode="auto">
            <a:xfrm>
              <a:off x="460" y="4800"/>
              <a:ext cx="6640" cy="1"/>
              <a:chOff x="460" y="4800"/>
              <a:chExt cx="6640" cy="1"/>
            </a:xfrm>
          </p:grpSpPr>
          <p:sp>
            <p:nvSpPr>
              <p:cNvPr id="98" name="Line 55"/>
              <p:cNvSpPr>
                <a:spLocks noChangeShapeType="1"/>
              </p:cNvSpPr>
              <p:nvPr/>
            </p:nvSpPr>
            <p:spPr bwMode="auto">
              <a:xfrm>
                <a:off x="46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9" name="Line 56"/>
              <p:cNvSpPr>
                <a:spLocks noChangeShapeType="1"/>
              </p:cNvSpPr>
              <p:nvPr/>
            </p:nvSpPr>
            <p:spPr bwMode="auto">
              <a:xfrm>
                <a:off x="82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0" name="Line 57"/>
              <p:cNvSpPr>
                <a:spLocks noChangeShapeType="1"/>
              </p:cNvSpPr>
              <p:nvPr/>
            </p:nvSpPr>
            <p:spPr bwMode="auto">
              <a:xfrm>
                <a:off x="118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1" name="Line 58"/>
              <p:cNvSpPr>
                <a:spLocks noChangeShapeType="1"/>
              </p:cNvSpPr>
              <p:nvPr/>
            </p:nvSpPr>
            <p:spPr bwMode="auto">
              <a:xfrm>
                <a:off x="154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" name="Line 59"/>
              <p:cNvSpPr>
                <a:spLocks noChangeShapeType="1"/>
              </p:cNvSpPr>
              <p:nvPr/>
            </p:nvSpPr>
            <p:spPr bwMode="auto">
              <a:xfrm>
                <a:off x="190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3" name="Line 60"/>
              <p:cNvSpPr>
                <a:spLocks noChangeShapeType="1"/>
              </p:cNvSpPr>
              <p:nvPr/>
            </p:nvSpPr>
            <p:spPr bwMode="auto">
              <a:xfrm>
                <a:off x="226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" name="Line 61"/>
              <p:cNvSpPr>
                <a:spLocks noChangeShapeType="1"/>
              </p:cNvSpPr>
              <p:nvPr/>
            </p:nvSpPr>
            <p:spPr bwMode="auto">
              <a:xfrm>
                <a:off x="262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" name="Line 62"/>
              <p:cNvSpPr>
                <a:spLocks noChangeShapeType="1"/>
              </p:cNvSpPr>
              <p:nvPr/>
            </p:nvSpPr>
            <p:spPr bwMode="auto">
              <a:xfrm>
                <a:off x="298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6" name="Line 63"/>
              <p:cNvSpPr>
                <a:spLocks noChangeShapeType="1"/>
              </p:cNvSpPr>
              <p:nvPr/>
            </p:nvSpPr>
            <p:spPr bwMode="auto">
              <a:xfrm>
                <a:off x="334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7" name="Line 64"/>
              <p:cNvSpPr>
                <a:spLocks noChangeShapeType="1"/>
              </p:cNvSpPr>
              <p:nvPr/>
            </p:nvSpPr>
            <p:spPr bwMode="auto">
              <a:xfrm>
                <a:off x="370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8" name="Line 65"/>
              <p:cNvSpPr>
                <a:spLocks noChangeShapeType="1"/>
              </p:cNvSpPr>
              <p:nvPr/>
            </p:nvSpPr>
            <p:spPr bwMode="auto">
              <a:xfrm>
                <a:off x="406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9" name="Line 66"/>
              <p:cNvSpPr>
                <a:spLocks noChangeShapeType="1"/>
              </p:cNvSpPr>
              <p:nvPr/>
            </p:nvSpPr>
            <p:spPr bwMode="auto">
              <a:xfrm>
                <a:off x="442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0" name="Line 67"/>
              <p:cNvSpPr>
                <a:spLocks noChangeShapeType="1"/>
              </p:cNvSpPr>
              <p:nvPr/>
            </p:nvSpPr>
            <p:spPr bwMode="auto">
              <a:xfrm>
                <a:off x="478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1" name="Line 68"/>
              <p:cNvSpPr>
                <a:spLocks noChangeShapeType="1"/>
              </p:cNvSpPr>
              <p:nvPr/>
            </p:nvSpPr>
            <p:spPr bwMode="auto">
              <a:xfrm>
                <a:off x="514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" name="Line 69"/>
              <p:cNvSpPr>
                <a:spLocks noChangeShapeType="1"/>
              </p:cNvSpPr>
              <p:nvPr/>
            </p:nvSpPr>
            <p:spPr bwMode="auto">
              <a:xfrm>
                <a:off x="550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3" name="Line 70"/>
              <p:cNvSpPr>
                <a:spLocks noChangeShapeType="1"/>
              </p:cNvSpPr>
              <p:nvPr/>
            </p:nvSpPr>
            <p:spPr bwMode="auto">
              <a:xfrm>
                <a:off x="586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4" name="Line 71"/>
              <p:cNvSpPr>
                <a:spLocks noChangeShapeType="1"/>
              </p:cNvSpPr>
              <p:nvPr/>
            </p:nvSpPr>
            <p:spPr bwMode="auto">
              <a:xfrm>
                <a:off x="622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5" name="Line 72"/>
              <p:cNvSpPr>
                <a:spLocks noChangeShapeType="1"/>
              </p:cNvSpPr>
              <p:nvPr/>
            </p:nvSpPr>
            <p:spPr bwMode="auto">
              <a:xfrm>
                <a:off x="658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6" name="Line 73"/>
              <p:cNvSpPr>
                <a:spLocks noChangeShapeType="1"/>
              </p:cNvSpPr>
              <p:nvPr/>
            </p:nvSpPr>
            <p:spPr bwMode="auto">
              <a:xfrm>
                <a:off x="6940" y="480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3" name="Line 74"/>
            <p:cNvSpPr>
              <a:spLocks noChangeShapeType="1"/>
            </p:cNvSpPr>
            <p:nvPr/>
          </p:nvSpPr>
          <p:spPr bwMode="auto">
            <a:xfrm flipV="1">
              <a:off x="580" y="4120"/>
              <a:ext cx="2260" cy="14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75"/>
            <p:cNvSpPr>
              <a:spLocks noChangeShapeType="1"/>
            </p:cNvSpPr>
            <p:nvPr/>
          </p:nvSpPr>
          <p:spPr bwMode="auto">
            <a:xfrm>
              <a:off x="2840" y="4120"/>
              <a:ext cx="1140" cy="14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Rectangle 76"/>
            <p:cNvSpPr>
              <a:spLocks noChangeArrowheads="1"/>
            </p:cNvSpPr>
            <p:nvPr/>
          </p:nvSpPr>
          <p:spPr bwMode="auto">
            <a:xfrm>
              <a:off x="2719" y="2742"/>
              <a:ext cx="10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6" name="Line 77"/>
            <p:cNvSpPr>
              <a:spLocks noChangeShapeType="1"/>
            </p:cNvSpPr>
            <p:nvPr/>
          </p:nvSpPr>
          <p:spPr bwMode="auto">
            <a:xfrm flipV="1">
              <a:off x="3980" y="4120"/>
              <a:ext cx="2260" cy="14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78"/>
            <p:cNvSpPr>
              <a:spLocks noChangeShapeType="1"/>
            </p:cNvSpPr>
            <p:nvPr/>
          </p:nvSpPr>
          <p:spPr bwMode="auto">
            <a:xfrm>
              <a:off x="6240" y="4120"/>
              <a:ext cx="460" cy="5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38" name="Group 79"/>
            <p:cNvGrpSpPr>
              <a:grpSpLocks/>
            </p:cNvGrpSpPr>
            <p:nvPr/>
          </p:nvGrpSpPr>
          <p:grpSpPr bwMode="auto">
            <a:xfrm>
              <a:off x="2840" y="3780"/>
              <a:ext cx="1" cy="2420"/>
              <a:chOff x="2840" y="3780"/>
              <a:chExt cx="1" cy="2420"/>
            </a:xfrm>
          </p:grpSpPr>
          <p:sp>
            <p:nvSpPr>
              <p:cNvPr id="84" name="Line 80"/>
              <p:cNvSpPr>
                <a:spLocks noChangeShapeType="1"/>
              </p:cNvSpPr>
              <p:nvPr/>
            </p:nvSpPr>
            <p:spPr bwMode="auto">
              <a:xfrm>
                <a:off x="2840" y="37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5" name="Line 81"/>
              <p:cNvSpPr>
                <a:spLocks noChangeShapeType="1"/>
              </p:cNvSpPr>
              <p:nvPr/>
            </p:nvSpPr>
            <p:spPr bwMode="auto">
              <a:xfrm>
                <a:off x="2840" y="39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6" name="Line 82"/>
              <p:cNvSpPr>
                <a:spLocks noChangeShapeType="1"/>
              </p:cNvSpPr>
              <p:nvPr/>
            </p:nvSpPr>
            <p:spPr bwMode="auto">
              <a:xfrm>
                <a:off x="2840" y="41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7" name="Line 83"/>
              <p:cNvSpPr>
                <a:spLocks noChangeShapeType="1"/>
              </p:cNvSpPr>
              <p:nvPr/>
            </p:nvSpPr>
            <p:spPr bwMode="auto">
              <a:xfrm>
                <a:off x="2840" y="43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8" name="Line 84"/>
              <p:cNvSpPr>
                <a:spLocks noChangeShapeType="1"/>
              </p:cNvSpPr>
              <p:nvPr/>
            </p:nvSpPr>
            <p:spPr bwMode="auto">
              <a:xfrm>
                <a:off x="2840" y="45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9" name="Line 85"/>
              <p:cNvSpPr>
                <a:spLocks noChangeShapeType="1"/>
              </p:cNvSpPr>
              <p:nvPr/>
            </p:nvSpPr>
            <p:spPr bwMode="auto">
              <a:xfrm>
                <a:off x="2840" y="46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0" name="Line 86"/>
              <p:cNvSpPr>
                <a:spLocks noChangeShapeType="1"/>
              </p:cNvSpPr>
              <p:nvPr/>
            </p:nvSpPr>
            <p:spPr bwMode="auto">
              <a:xfrm>
                <a:off x="2840" y="48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Line 87"/>
              <p:cNvSpPr>
                <a:spLocks noChangeShapeType="1"/>
              </p:cNvSpPr>
              <p:nvPr/>
            </p:nvSpPr>
            <p:spPr bwMode="auto">
              <a:xfrm>
                <a:off x="2840" y="50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Line 88"/>
              <p:cNvSpPr>
                <a:spLocks noChangeShapeType="1"/>
              </p:cNvSpPr>
              <p:nvPr/>
            </p:nvSpPr>
            <p:spPr bwMode="auto">
              <a:xfrm>
                <a:off x="2840" y="52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3" name="Line 89"/>
              <p:cNvSpPr>
                <a:spLocks noChangeShapeType="1"/>
              </p:cNvSpPr>
              <p:nvPr/>
            </p:nvSpPr>
            <p:spPr bwMode="auto">
              <a:xfrm>
                <a:off x="2840" y="54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4" name="Line 90"/>
              <p:cNvSpPr>
                <a:spLocks noChangeShapeType="1"/>
              </p:cNvSpPr>
              <p:nvPr/>
            </p:nvSpPr>
            <p:spPr bwMode="auto">
              <a:xfrm>
                <a:off x="2840" y="55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5" name="Line 91"/>
              <p:cNvSpPr>
                <a:spLocks noChangeShapeType="1"/>
              </p:cNvSpPr>
              <p:nvPr/>
            </p:nvSpPr>
            <p:spPr bwMode="auto">
              <a:xfrm>
                <a:off x="2840" y="57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" name="Line 92"/>
              <p:cNvSpPr>
                <a:spLocks noChangeShapeType="1"/>
              </p:cNvSpPr>
              <p:nvPr/>
            </p:nvSpPr>
            <p:spPr bwMode="auto">
              <a:xfrm>
                <a:off x="2840" y="59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7" name="Line 93"/>
              <p:cNvSpPr>
                <a:spLocks noChangeShapeType="1"/>
              </p:cNvSpPr>
              <p:nvPr/>
            </p:nvSpPr>
            <p:spPr bwMode="auto">
              <a:xfrm>
                <a:off x="2840" y="61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9" name="Group 94"/>
            <p:cNvGrpSpPr>
              <a:grpSpLocks/>
            </p:cNvGrpSpPr>
            <p:nvPr/>
          </p:nvGrpSpPr>
          <p:grpSpPr bwMode="auto">
            <a:xfrm>
              <a:off x="3980" y="3780"/>
              <a:ext cx="1" cy="2420"/>
              <a:chOff x="3980" y="3780"/>
              <a:chExt cx="1" cy="2420"/>
            </a:xfrm>
          </p:grpSpPr>
          <p:sp>
            <p:nvSpPr>
              <p:cNvPr id="70" name="Line 95"/>
              <p:cNvSpPr>
                <a:spLocks noChangeShapeType="1"/>
              </p:cNvSpPr>
              <p:nvPr/>
            </p:nvSpPr>
            <p:spPr bwMode="auto">
              <a:xfrm>
                <a:off x="3980" y="37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1" name="Line 96"/>
              <p:cNvSpPr>
                <a:spLocks noChangeShapeType="1"/>
              </p:cNvSpPr>
              <p:nvPr/>
            </p:nvSpPr>
            <p:spPr bwMode="auto">
              <a:xfrm>
                <a:off x="3980" y="39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2" name="Line 97"/>
              <p:cNvSpPr>
                <a:spLocks noChangeShapeType="1"/>
              </p:cNvSpPr>
              <p:nvPr/>
            </p:nvSpPr>
            <p:spPr bwMode="auto">
              <a:xfrm>
                <a:off x="3980" y="41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3" name="Line 98"/>
              <p:cNvSpPr>
                <a:spLocks noChangeShapeType="1"/>
              </p:cNvSpPr>
              <p:nvPr/>
            </p:nvSpPr>
            <p:spPr bwMode="auto">
              <a:xfrm>
                <a:off x="3980" y="43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Line 99"/>
              <p:cNvSpPr>
                <a:spLocks noChangeShapeType="1"/>
              </p:cNvSpPr>
              <p:nvPr/>
            </p:nvSpPr>
            <p:spPr bwMode="auto">
              <a:xfrm>
                <a:off x="3980" y="45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Line 100"/>
              <p:cNvSpPr>
                <a:spLocks noChangeShapeType="1"/>
              </p:cNvSpPr>
              <p:nvPr/>
            </p:nvSpPr>
            <p:spPr bwMode="auto">
              <a:xfrm>
                <a:off x="3980" y="46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6" name="Line 101"/>
              <p:cNvSpPr>
                <a:spLocks noChangeShapeType="1"/>
              </p:cNvSpPr>
              <p:nvPr/>
            </p:nvSpPr>
            <p:spPr bwMode="auto">
              <a:xfrm>
                <a:off x="3980" y="48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7" name="Line 102"/>
              <p:cNvSpPr>
                <a:spLocks noChangeShapeType="1"/>
              </p:cNvSpPr>
              <p:nvPr/>
            </p:nvSpPr>
            <p:spPr bwMode="auto">
              <a:xfrm>
                <a:off x="3980" y="50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" name="Line 103"/>
              <p:cNvSpPr>
                <a:spLocks noChangeShapeType="1"/>
              </p:cNvSpPr>
              <p:nvPr/>
            </p:nvSpPr>
            <p:spPr bwMode="auto">
              <a:xfrm>
                <a:off x="3980" y="52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" name="Line 104"/>
              <p:cNvSpPr>
                <a:spLocks noChangeShapeType="1"/>
              </p:cNvSpPr>
              <p:nvPr/>
            </p:nvSpPr>
            <p:spPr bwMode="auto">
              <a:xfrm>
                <a:off x="3980" y="54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0" name="Line 105"/>
              <p:cNvSpPr>
                <a:spLocks noChangeShapeType="1"/>
              </p:cNvSpPr>
              <p:nvPr/>
            </p:nvSpPr>
            <p:spPr bwMode="auto">
              <a:xfrm>
                <a:off x="3980" y="55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1" name="Line 106"/>
              <p:cNvSpPr>
                <a:spLocks noChangeShapeType="1"/>
              </p:cNvSpPr>
              <p:nvPr/>
            </p:nvSpPr>
            <p:spPr bwMode="auto">
              <a:xfrm>
                <a:off x="3980" y="57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" name="Line 107"/>
              <p:cNvSpPr>
                <a:spLocks noChangeShapeType="1"/>
              </p:cNvSpPr>
              <p:nvPr/>
            </p:nvSpPr>
            <p:spPr bwMode="auto">
              <a:xfrm>
                <a:off x="3980" y="59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3" name="Line 108"/>
              <p:cNvSpPr>
                <a:spLocks noChangeShapeType="1"/>
              </p:cNvSpPr>
              <p:nvPr/>
            </p:nvSpPr>
            <p:spPr bwMode="auto">
              <a:xfrm>
                <a:off x="3980" y="61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0" name="Group 109"/>
            <p:cNvGrpSpPr>
              <a:grpSpLocks/>
            </p:cNvGrpSpPr>
            <p:nvPr/>
          </p:nvGrpSpPr>
          <p:grpSpPr bwMode="auto">
            <a:xfrm>
              <a:off x="1480" y="3780"/>
              <a:ext cx="1" cy="2420"/>
              <a:chOff x="1480" y="3780"/>
              <a:chExt cx="1" cy="2420"/>
            </a:xfrm>
          </p:grpSpPr>
          <p:sp>
            <p:nvSpPr>
              <p:cNvPr id="56" name="Line 110"/>
              <p:cNvSpPr>
                <a:spLocks noChangeShapeType="1"/>
              </p:cNvSpPr>
              <p:nvPr/>
            </p:nvSpPr>
            <p:spPr bwMode="auto">
              <a:xfrm>
                <a:off x="1480" y="37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7" name="Line 111"/>
              <p:cNvSpPr>
                <a:spLocks noChangeShapeType="1"/>
              </p:cNvSpPr>
              <p:nvPr/>
            </p:nvSpPr>
            <p:spPr bwMode="auto">
              <a:xfrm>
                <a:off x="1480" y="39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" name="Line 112"/>
              <p:cNvSpPr>
                <a:spLocks noChangeShapeType="1"/>
              </p:cNvSpPr>
              <p:nvPr/>
            </p:nvSpPr>
            <p:spPr bwMode="auto">
              <a:xfrm>
                <a:off x="1480" y="41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9" name="Line 113"/>
              <p:cNvSpPr>
                <a:spLocks noChangeShapeType="1"/>
              </p:cNvSpPr>
              <p:nvPr/>
            </p:nvSpPr>
            <p:spPr bwMode="auto">
              <a:xfrm>
                <a:off x="1480" y="43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Line 114"/>
              <p:cNvSpPr>
                <a:spLocks noChangeShapeType="1"/>
              </p:cNvSpPr>
              <p:nvPr/>
            </p:nvSpPr>
            <p:spPr bwMode="auto">
              <a:xfrm>
                <a:off x="1480" y="45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Line 115"/>
              <p:cNvSpPr>
                <a:spLocks noChangeShapeType="1"/>
              </p:cNvSpPr>
              <p:nvPr/>
            </p:nvSpPr>
            <p:spPr bwMode="auto">
              <a:xfrm>
                <a:off x="1480" y="46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2" name="Line 116"/>
              <p:cNvSpPr>
                <a:spLocks noChangeShapeType="1"/>
              </p:cNvSpPr>
              <p:nvPr/>
            </p:nvSpPr>
            <p:spPr bwMode="auto">
              <a:xfrm>
                <a:off x="1480" y="48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3" name="Line 117"/>
              <p:cNvSpPr>
                <a:spLocks noChangeShapeType="1"/>
              </p:cNvSpPr>
              <p:nvPr/>
            </p:nvSpPr>
            <p:spPr bwMode="auto">
              <a:xfrm>
                <a:off x="1480" y="50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4" name="Line 118"/>
              <p:cNvSpPr>
                <a:spLocks noChangeShapeType="1"/>
              </p:cNvSpPr>
              <p:nvPr/>
            </p:nvSpPr>
            <p:spPr bwMode="auto">
              <a:xfrm>
                <a:off x="1480" y="52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5" name="Line 119"/>
              <p:cNvSpPr>
                <a:spLocks noChangeShapeType="1"/>
              </p:cNvSpPr>
              <p:nvPr/>
            </p:nvSpPr>
            <p:spPr bwMode="auto">
              <a:xfrm>
                <a:off x="1480" y="54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6" name="Line 120"/>
              <p:cNvSpPr>
                <a:spLocks noChangeShapeType="1"/>
              </p:cNvSpPr>
              <p:nvPr/>
            </p:nvSpPr>
            <p:spPr bwMode="auto">
              <a:xfrm>
                <a:off x="1480" y="55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" name="Line 121"/>
              <p:cNvSpPr>
                <a:spLocks noChangeShapeType="1"/>
              </p:cNvSpPr>
              <p:nvPr/>
            </p:nvSpPr>
            <p:spPr bwMode="auto">
              <a:xfrm>
                <a:off x="1480" y="57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Line 122"/>
              <p:cNvSpPr>
                <a:spLocks noChangeShapeType="1"/>
              </p:cNvSpPr>
              <p:nvPr/>
            </p:nvSpPr>
            <p:spPr bwMode="auto">
              <a:xfrm>
                <a:off x="1480" y="59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Line 123"/>
              <p:cNvSpPr>
                <a:spLocks noChangeShapeType="1"/>
              </p:cNvSpPr>
              <p:nvPr/>
            </p:nvSpPr>
            <p:spPr bwMode="auto">
              <a:xfrm>
                <a:off x="1480" y="61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1" name="Group 124"/>
            <p:cNvGrpSpPr>
              <a:grpSpLocks/>
            </p:cNvGrpSpPr>
            <p:nvPr/>
          </p:nvGrpSpPr>
          <p:grpSpPr bwMode="auto">
            <a:xfrm>
              <a:off x="3520" y="3780"/>
              <a:ext cx="1" cy="2420"/>
              <a:chOff x="3520" y="3780"/>
              <a:chExt cx="1" cy="2420"/>
            </a:xfrm>
          </p:grpSpPr>
          <p:sp>
            <p:nvSpPr>
              <p:cNvPr id="42" name="Line 125"/>
              <p:cNvSpPr>
                <a:spLocks noChangeShapeType="1"/>
              </p:cNvSpPr>
              <p:nvPr/>
            </p:nvSpPr>
            <p:spPr bwMode="auto">
              <a:xfrm>
                <a:off x="3520" y="37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Line 126"/>
              <p:cNvSpPr>
                <a:spLocks noChangeShapeType="1"/>
              </p:cNvSpPr>
              <p:nvPr/>
            </p:nvSpPr>
            <p:spPr bwMode="auto">
              <a:xfrm>
                <a:off x="3520" y="39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Line 127"/>
              <p:cNvSpPr>
                <a:spLocks noChangeShapeType="1"/>
              </p:cNvSpPr>
              <p:nvPr/>
            </p:nvSpPr>
            <p:spPr bwMode="auto">
              <a:xfrm>
                <a:off x="3520" y="41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Line 128"/>
              <p:cNvSpPr>
                <a:spLocks noChangeShapeType="1"/>
              </p:cNvSpPr>
              <p:nvPr/>
            </p:nvSpPr>
            <p:spPr bwMode="auto">
              <a:xfrm>
                <a:off x="3520" y="43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Line 129"/>
              <p:cNvSpPr>
                <a:spLocks noChangeShapeType="1"/>
              </p:cNvSpPr>
              <p:nvPr/>
            </p:nvSpPr>
            <p:spPr bwMode="auto">
              <a:xfrm>
                <a:off x="3520" y="45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Line 130"/>
              <p:cNvSpPr>
                <a:spLocks noChangeShapeType="1"/>
              </p:cNvSpPr>
              <p:nvPr/>
            </p:nvSpPr>
            <p:spPr bwMode="auto">
              <a:xfrm>
                <a:off x="3520" y="46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8" name="Line 131"/>
              <p:cNvSpPr>
                <a:spLocks noChangeShapeType="1"/>
              </p:cNvSpPr>
              <p:nvPr/>
            </p:nvSpPr>
            <p:spPr bwMode="auto">
              <a:xfrm>
                <a:off x="3520" y="48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9" name="Line 132"/>
              <p:cNvSpPr>
                <a:spLocks noChangeShapeType="1"/>
              </p:cNvSpPr>
              <p:nvPr/>
            </p:nvSpPr>
            <p:spPr bwMode="auto">
              <a:xfrm>
                <a:off x="3520" y="50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" name="Line 133"/>
              <p:cNvSpPr>
                <a:spLocks noChangeShapeType="1"/>
              </p:cNvSpPr>
              <p:nvPr/>
            </p:nvSpPr>
            <p:spPr bwMode="auto">
              <a:xfrm>
                <a:off x="3520" y="52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Line 134"/>
              <p:cNvSpPr>
                <a:spLocks noChangeShapeType="1"/>
              </p:cNvSpPr>
              <p:nvPr/>
            </p:nvSpPr>
            <p:spPr bwMode="auto">
              <a:xfrm>
                <a:off x="3520" y="540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Line 135"/>
              <p:cNvSpPr>
                <a:spLocks noChangeShapeType="1"/>
              </p:cNvSpPr>
              <p:nvPr/>
            </p:nvSpPr>
            <p:spPr bwMode="auto">
              <a:xfrm>
                <a:off x="3520" y="558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" name="Line 136"/>
              <p:cNvSpPr>
                <a:spLocks noChangeShapeType="1"/>
              </p:cNvSpPr>
              <p:nvPr/>
            </p:nvSpPr>
            <p:spPr bwMode="auto">
              <a:xfrm>
                <a:off x="3520" y="576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Line 137"/>
              <p:cNvSpPr>
                <a:spLocks noChangeShapeType="1"/>
              </p:cNvSpPr>
              <p:nvPr/>
            </p:nvSpPr>
            <p:spPr bwMode="auto">
              <a:xfrm>
                <a:off x="3520" y="594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Line 138"/>
              <p:cNvSpPr>
                <a:spLocks noChangeShapeType="1"/>
              </p:cNvSpPr>
              <p:nvPr/>
            </p:nvSpPr>
            <p:spPr bwMode="auto">
              <a:xfrm>
                <a:off x="3520" y="6120"/>
                <a:ext cx="1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44" name="Group 150"/>
          <p:cNvGrpSpPr>
            <a:grpSpLocks/>
          </p:cNvGrpSpPr>
          <p:nvPr/>
        </p:nvGrpSpPr>
        <p:grpSpPr bwMode="auto">
          <a:xfrm>
            <a:off x="4294332" y="3811907"/>
            <a:ext cx="2928938" cy="2097087"/>
            <a:chOff x="1204" y="2387"/>
            <a:chExt cx="1845" cy="1321"/>
          </a:xfrm>
        </p:grpSpPr>
        <p:sp>
          <p:nvSpPr>
            <p:cNvPr id="145" name="Line 139"/>
            <p:cNvSpPr>
              <a:spLocks noChangeShapeType="1"/>
            </p:cNvSpPr>
            <p:nvPr/>
          </p:nvSpPr>
          <p:spPr bwMode="auto">
            <a:xfrm>
              <a:off x="1882" y="2387"/>
              <a:ext cx="590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6" name="Text Box 140"/>
            <p:cNvSpPr txBox="1">
              <a:spLocks noChangeArrowheads="1"/>
            </p:cNvSpPr>
            <p:nvPr/>
          </p:nvSpPr>
          <p:spPr bwMode="auto">
            <a:xfrm>
              <a:off x="1973" y="2387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Calibri (Corps)"/>
                </a:rPr>
                <a:t>T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Calibri (Corps)"/>
                </a:rPr>
                <a:t>1</a:t>
              </a:r>
            </a:p>
          </p:txBody>
        </p:sp>
        <p:sp>
          <p:nvSpPr>
            <p:cNvPr id="147" name="Text Box 141"/>
            <p:cNvSpPr txBox="1">
              <a:spLocks noChangeArrowheads="1"/>
            </p:cNvSpPr>
            <p:nvPr/>
          </p:nvSpPr>
          <p:spPr bwMode="auto">
            <a:xfrm>
              <a:off x="2608" y="2478"/>
              <a:ext cx="2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33CC"/>
                  </a:solidFill>
                  <a:latin typeface="Calibri (Corps)"/>
                </a:rPr>
                <a:t>D</a:t>
              </a:r>
              <a:r>
                <a:rPr lang="fr-FR" altLang="fr-FR" sz="1800" b="1" baseline="-25000">
                  <a:solidFill>
                    <a:srgbClr val="0033CC"/>
                  </a:solidFill>
                  <a:latin typeface="Calibri (Corps)"/>
                </a:rPr>
                <a:t>1</a:t>
              </a:r>
            </a:p>
          </p:txBody>
        </p:sp>
        <p:sp>
          <p:nvSpPr>
            <p:cNvPr id="148" name="Line 142"/>
            <p:cNvSpPr>
              <a:spLocks noChangeShapeType="1"/>
            </p:cNvSpPr>
            <p:nvPr/>
          </p:nvSpPr>
          <p:spPr bwMode="auto">
            <a:xfrm>
              <a:off x="2517" y="2478"/>
              <a:ext cx="272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9" name="Line 143"/>
            <p:cNvSpPr>
              <a:spLocks noChangeShapeType="1"/>
            </p:cNvSpPr>
            <p:nvPr/>
          </p:nvSpPr>
          <p:spPr bwMode="auto">
            <a:xfrm>
              <a:off x="1474" y="3430"/>
              <a:ext cx="363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0" name="Text Box 144"/>
            <p:cNvSpPr txBox="1">
              <a:spLocks noChangeArrowheads="1"/>
            </p:cNvSpPr>
            <p:nvPr/>
          </p:nvSpPr>
          <p:spPr bwMode="auto">
            <a:xfrm>
              <a:off x="1519" y="3475"/>
              <a:ext cx="2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Calibri (Corps)"/>
                </a:rPr>
                <a:t>D</a:t>
              </a:r>
              <a:r>
                <a:rPr lang="fr-FR" altLang="fr-FR" sz="1800" b="1" baseline="-25000">
                  <a:solidFill>
                    <a:srgbClr val="FF3300"/>
                  </a:solidFill>
                  <a:latin typeface="Calibri (Corps)"/>
                </a:rPr>
                <a:t>2</a:t>
              </a:r>
            </a:p>
          </p:txBody>
        </p:sp>
        <p:sp>
          <p:nvSpPr>
            <p:cNvPr id="151" name="Text Box 145"/>
            <p:cNvSpPr txBox="1">
              <a:spLocks noChangeArrowheads="1"/>
            </p:cNvSpPr>
            <p:nvPr/>
          </p:nvSpPr>
          <p:spPr bwMode="auto">
            <a:xfrm>
              <a:off x="2789" y="3430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Calibri (Corps)"/>
                </a:rPr>
                <a:t>T</a:t>
              </a:r>
              <a:r>
                <a:rPr lang="fr-FR" altLang="fr-FR" sz="1800" b="1" baseline="-25000">
                  <a:solidFill>
                    <a:srgbClr val="FF3300"/>
                  </a:solidFill>
                  <a:latin typeface="Calibri (Corps)"/>
                </a:rPr>
                <a:t>2</a:t>
              </a:r>
            </a:p>
          </p:txBody>
        </p:sp>
        <p:sp>
          <p:nvSpPr>
            <p:cNvPr id="152" name="Line 146"/>
            <p:cNvSpPr>
              <a:spLocks noChangeShapeType="1"/>
            </p:cNvSpPr>
            <p:nvPr/>
          </p:nvSpPr>
          <p:spPr bwMode="auto">
            <a:xfrm>
              <a:off x="2789" y="3430"/>
              <a:ext cx="227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" name="Text Box 147"/>
            <p:cNvSpPr txBox="1">
              <a:spLocks noChangeArrowheads="1"/>
            </p:cNvSpPr>
            <p:nvPr/>
          </p:nvSpPr>
          <p:spPr bwMode="auto">
            <a:xfrm>
              <a:off x="1204" y="2750"/>
              <a:ext cx="22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>
                  <a:latin typeface="Times New Roman" panose="02020603050405020304" pitchFamily="18" charset="0"/>
                </a:rPr>
                <a:t>S</a:t>
              </a:r>
            </a:p>
          </p:txBody>
        </p:sp>
      </p:grpSp>
      <p:sp>
        <p:nvSpPr>
          <p:cNvPr id="154" name="Rectangle 148"/>
          <p:cNvSpPr>
            <a:spLocks noChangeArrowheads="1"/>
          </p:cNvSpPr>
          <p:nvPr/>
        </p:nvSpPr>
        <p:spPr bwMode="auto">
          <a:xfrm>
            <a:off x="4722957" y="3307082"/>
            <a:ext cx="1584325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400" b="1" i="1" dirty="0">
                <a:solidFill>
                  <a:schemeClr val="bg1"/>
                </a:solidFill>
                <a:latin typeface="Calibri (Corps)"/>
              </a:rPr>
              <a:t>T</a:t>
            </a:r>
            <a:r>
              <a:rPr lang="fr-FR" altLang="fr-FR" sz="1400" b="1" i="1" baseline="-25000" dirty="0">
                <a:solidFill>
                  <a:schemeClr val="bg1"/>
                </a:solidFill>
                <a:latin typeface="Calibri (Corps)"/>
              </a:rPr>
              <a:t>1</a:t>
            </a:r>
            <a:r>
              <a:rPr lang="fr-FR" altLang="fr-FR" sz="1400" b="1" i="1" dirty="0">
                <a:solidFill>
                  <a:schemeClr val="bg1"/>
                </a:solidFill>
                <a:latin typeface="Calibri (Corps)"/>
              </a:rPr>
              <a:t> </a:t>
            </a:r>
            <a:r>
              <a:rPr lang="fr-FR" altLang="fr-FR" sz="1400" b="1" i="1" dirty="0" err="1">
                <a:solidFill>
                  <a:schemeClr val="bg1"/>
                </a:solidFill>
                <a:latin typeface="Calibri (Corps)"/>
              </a:rPr>
              <a:t>controlled</a:t>
            </a:r>
            <a:endParaRPr lang="fr-FR" altLang="fr-FR" sz="1400" b="1" i="1" dirty="0">
              <a:solidFill>
                <a:schemeClr val="bg1"/>
              </a:solidFill>
              <a:latin typeface="Calibri (Corps)"/>
            </a:endParaRPr>
          </a:p>
        </p:txBody>
      </p:sp>
      <p:sp>
        <p:nvSpPr>
          <p:cNvPr id="155" name="Rectangle 149"/>
          <p:cNvSpPr>
            <a:spLocks noChangeArrowheads="1"/>
          </p:cNvSpPr>
          <p:nvPr/>
        </p:nvSpPr>
        <p:spPr bwMode="auto">
          <a:xfrm>
            <a:off x="6380307" y="3307082"/>
            <a:ext cx="720725" cy="28733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400" b="1" i="1">
                <a:latin typeface="Calibri (Corps)"/>
              </a:rPr>
              <a:t>T</a:t>
            </a:r>
            <a:r>
              <a:rPr lang="fr-FR" altLang="fr-FR" sz="1400" b="1" i="1" baseline="-25000">
                <a:latin typeface="Calibri (Corps)"/>
              </a:rPr>
              <a:t>2</a:t>
            </a:r>
            <a:r>
              <a:rPr lang="fr-FR" altLang="fr-FR" sz="1400" b="1" i="1">
                <a:latin typeface="Calibri (Corps)"/>
              </a:rPr>
              <a:t> ctrl.</a:t>
            </a:r>
          </a:p>
        </p:txBody>
      </p:sp>
      <p:cxnSp>
        <p:nvCxnSpPr>
          <p:cNvPr id="156" name="Connecteur droit 155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ZoneTexte 157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rgbClr val="FF0000"/>
                </a:solidFill>
              </a:rPr>
              <a:t>2 quadrants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9349435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644517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Two quadrants chopper: Output characteristics grid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457" y="1935740"/>
            <a:ext cx="6727825" cy="359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776057" y="1589665"/>
            <a:ext cx="99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2400" b="1" i="1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fr-FR" altLang="fr-FR" sz="2400" b="1" i="1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2400" b="1" i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rgbClr val="FF0000"/>
                </a:solidFill>
              </a:rPr>
              <a:t>2 quadrants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92648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558809" y="3554124"/>
            <a:ext cx="823913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latin typeface="Times New Roman" panose="02020603050405020304" pitchFamily="18" charset="0"/>
              </a:rPr>
              <a:t>Receiver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17" name="Groupe 16"/>
          <p:cNvGrpSpPr/>
          <p:nvPr/>
        </p:nvGrpSpPr>
        <p:grpSpPr>
          <a:xfrm>
            <a:off x="3455122" y="1452274"/>
            <a:ext cx="5546003" cy="4475162"/>
            <a:chOff x="3455122" y="1452274"/>
            <a:chExt cx="5546003" cy="4475162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405"/>
            <a:stretch/>
          </p:blipFill>
          <p:spPr bwMode="auto">
            <a:xfrm>
              <a:off x="3455122" y="1452274"/>
              <a:ext cx="5546003" cy="447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5204542" y="2294304"/>
              <a:ext cx="611048" cy="565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14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5204542" y="4626024"/>
              <a:ext cx="611048" cy="565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4" name="Rectangle 3"/>
            <p:cNvSpPr/>
            <p:nvPr/>
          </p:nvSpPr>
          <p:spPr>
            <a:xfrm>
              <a:off x="5815590" y="2345668"/>
              <a:ext cx="364230" cy="593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815590" y="4611950"/>
              <a:ext cx="364230" cy="593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8686222" y="1395665"/>
            <a:ext cx="1851901" cy="4675692"/>
            <a:chOff x="10340099" y="1270000"/>
            <a:chExt cx="1851901" cy="4675692"/>
          </a:xfrm>
        </p:grpSpPr>
        <p:grpSp>
          <p:nvGrpSpPr>
            <p:cNvPr id="3" name="Groupe 2"/>
            <p:cNvGrpSpPr/>
            <p:nvPr/>
          </p:nvGrpSpPr>
          <p:grpSpPr>
            <a:xfrm>
              <a:off x="10591506" y="1270000"/>
              <a:ext cx="1600494" cy="4675692"/>
              <a:chOff x="10591506" y="1270000"/>
              <a:chExt cx="1600494" cy="4675692"/>
            </a:xfrm>
          </p:grpSpPr>
          <p:pic>
            <p:nvPicPr>
              <p:cNvPr id="13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361" t="-1288" r="-944" b="-3193"/>
              <a:stretch/>
            </p:blipFill>
            <p:spPr bwMode="auto">
              <a:xfrm>
                <a:off x="10598439" y="1270000"/>
                <a:ext cx="1593561" cy="46756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" name="Rectangle 1"/>
              <p:cNvSpPr/>
              <p:nvPr/>
            </p:nvSpPr>
            <p:spPr>
              <a:xfrm>
                <a:off x="10591506" y="3862099"/>
                <a:ext cx="359641" cy="989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18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10340099" y="2176692"/>
              <a:ext cx="611048" cy="565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19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10340099" y="4508412"/>
              <a:ext cx="611048" cy="565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0" name="Rectangle 19"/>
            <p:cNvSpPr/>
            <p:nvPr/>
          </p:nvSpPr>
          <p:spPr>
            <a:xfrm>
              <a:off x="10951147" y="2228056"/>
              <a:ext cx="364230" cy="593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951147" y="4494338"/>
              <a:ext cx="364230" cy="5935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13964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566637" cy="806809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</a:t>
            </a:r>
          </a:p>
          <a:p>
            <a:pPr>
              <a:defRPr/>
            </a:pPr>
            <a:r>
              <a:rPr lang="en-US" sz="2000" u="sng" dirty="0">
                <a:solidFill>
                  <a:srgbClr val="9E003B"/>
                </a:solidFill>
                <a:latin typeface="Myriad Pro"/>
                <a:cs typeface="Myriad Pro"/>
              </a:rPr>
              <a:t>Synchronous complementary control</a:t>
            </a:r>
          </a:p>
        </p:txBody>
      </p:sp>
      <p:sp>
        <p:nvSpPr>
          <p:cNvPr id="6" name="Rectangle 5"/>
          <p:cNvSpPr/>
          <p:nvPr/>
        </p:nvSpPr>
        <p:spPr>
          <a:xfrm flipV="1">
            <a:off x="9444476" y="6424195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092036" y="2493633"/>
            <a:ext cx="8229600" cy="23336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endParaRPr lang="fr-FR" altLang="fr-FR" sz="2800" b="1" i="1" dirty="0">
              <a:latin typeface="Symbol" panose="05050102010706020507" pitchFamily="18" charset="2"/>
            </a:endParaRPr>
          </a:p>
          <a:p>
            <a:pPr algn="ctr">
              <a:buFontTx/>
              <a:buNone/>
            </a:pPr>
            <a:r>
              <a:rPr lang="fr-FR" altLang="fr-FR" sz="2800" b="1" i="1" dirty="0">
                <a:latin typeface="Symbol" panose="05050102010706020507" pitchFamily="18" charset="2"/>
              </a:rPr>
              <a:t>a</a:t>
            </a:r>
            <a:r>
              <a:rPr lang="fr-FR" altLang="fr-FR" sz="2800" b="1" i="1" baseline="-25000" dirty="0">
                <a:latin typeface="Times New Roman" panose="02020603050405020304" pitchFamily="18" charset="0"/>
              </a:rPr>
              <a:t>1</a:t>
            </a:r>
            <a:r>
              <a:rPr lang="fr-FR" altLang="fr-FR" sz="2800" b="1" i="1" dirty="0">
                <a:latin typeface="Times New Roman" panose="02020603050405020304" pitchFamily="18" charset="0"/>
              </a:rPr>
              <a:t> = </a:t>
            </a:r>
            <a:r>
              <a:rPr lang="fr-FR" altLang="fr-FR" sz="2800" b="1" i="1" dirty="0">
                <a:latin typeface="Symbol" panose="05050102010706020507" pitchFamily="18" charset="2"/>
              </a:rPr>
              <a:t>a</a:t>
            </a:r>
            <a:r>
              <a:rPr lang="fr-FR" altLang="fr-FR" sz="2800" b="1" i="1" baseline="-25000" dirty="0">
                <a:latin typeface="Times New Roman" panose="02020603050405020304" pitchFamily="18" charset="0"/>
              </a:rPr>
              <a:t>4	</a:t>
            </a:r>
            <a:r>
              <a:rPr lang="fr-FR" altLang="fr-FR" sz="2800" b="1" i="1" dirty="0">
                <a:latin typeface="Times New Roman" panose="02020603050405020304" pitchFamily="18" charset="0"/>
              </a:rPr>
              <a:t>et	 </a:t>
            </a:r>
            <a:r>
              <a:rPr lang="fr-FR" altLang="fr-FR" sz="2800" b="1" i="1" dirty="0">
                <a:latin typeface="Symbol" panose="05050102010706020507" pitchFamily="18" charset="2"/>
              </a:rPr>
              <a:t>a</a:t>
            </a:r>
            <a:r>
              <a:rPr lang="fr-FR" altLang="fr-FR" sz="2800" b="1" i="1" baseline="-25000" dirty="0">
                <a:latin typeface="Times New Roman" panose="02020603050405020304" pitchFamily="18" charset="0"/>
              </a:rPr>
              <a:t>2</a:t>
            </a:r>
            <a:r>
              <a:rPr lang="fr-FR" altLang="fr-FR" sz="2800" b="1" i="1" dirty="0">
                <a:latin typeface="Times New Roman" panose="02020603050405020304" pitchFamily="18" charset="0"/>
              </a:rPr>
              <a:t> = </a:t>
            </a:r>
            <a:r>
              <a:rPr lang="fr-FR" altLang="fr-FR" sz="2800" b="1" i="1" dirty="0">
                <a:latin typeface="Symbol" panose="05050102010706020507" pitchFamily="18" charset="2"/>
              </a:rPr>
              <a:t>a</a:t>
            </a:r>
            <a:r>
              <a:rPr lang="fr-FR" altLang="fr-FR" sz="2800" b="1" i="1" baseline="-25000" dirty="0">
                <a:latin typeface="Times New Roman" panose="02020603050405020304" pitchFamily="18" charset="0"/>
              </a:rPr>
              <a:t>3</a:t>
            </a:r>
          </a:p>
          <a:p>
            <a:pPr algn="ctr">
              <a:buFontTx/>
              <a:buNone/>
            </a:pPr>
            <a:r>
              <a:rPr lang="fr-FR" altLang="fr-FR" sz="2800" b="1" i="1" dirty="0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2800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fr-FR" altLang="fr-FR" sz="28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=  1 - </a:t>
            </a:r>
            <a:r>
              <a:rPr lang="fr-FR" altLang="fr-FR" sz="2800" b="1" i="1" dirty="0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2800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8" name="Group 14"/>
          <p:cNvGrpSpPr>
            <a:grpSpLocks/>
          </p:cNvGrpSpPr>
          <p:nvPr/>
        </p:nvGrpSpPr>
        <p:grpSpPr bwMode="auto">
          <a:xfrm>
            <a:off x="4370099" y="3909683"/>
            <a:ext cx="5432425" cy="2339975"/>
            <a:chOff x="1435" y="2470"/>
            <a:chExt cx="3422" cy="1474"/>
          </a:xfrm>
        </p:grpSpPr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1435" y="3514"/>
              <a:ext cx="322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Line 5"/>
            <p:cNvSpPr>
              <a:spLocks noChangeShapeType="1"/>
            </p:cNvSpPr>
            <p:nvPr/>
          </p:nvSpPr>
          <p:spPr bwMode="auto">
            <a:xfrm flipV="1">
              <a:off x="1571" y="2470"/>
              <a:ext cx="0" cy="117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4701" y="3604"/>
              <a:ext cx="1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4" name="Rectangle 7" descr="noir)"/>
            <p:cNvSpPr>
              <a:spLocks noChangeArrowheads="1"/>
            </p:cNvSpPr>
            <p:nvPr/>
          </p:nvSpPr>
          <p:spPr bwMode="auto">
            <a:xfrm>
              <a:off x="1572" y="2924"/>
              <a:ext cx="816" cy="589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latin typeface="Calibri (Corps)"/>
                </a:rPr>
                <a:t>T</a:t>
              </a:r>
              <a:r>
                <a:rPr lang="fr-FR" altLang="fr-FR" sz="1800" baseline="-25000" dirty="0">
                  <a:latin typeface="Calibri (Corps)"/>
                </a:rPr>
                <a:t>1 </a:t>
              </a:r>
              <a:r>
                <a:rPr lang="fr-FR" altLang="fr-FR" sz="1800" dirty="0">
                  <a:latin typeface="Calibri (Corps)"/>
                </a:rPr>
                <a:t>et T</a:t>
              </a:r>
              <a:r>
                <a:rPr lang="fr-FR" altLang="fr-FR" sz="1800" baseline="-25000" dirty="0">
                  <a:latin typeface="Calibri (Corps)"/>
                </a:rPr>
                <a:t>4</a:t>
              </a:r>
              <a:endParaRPr lang="fr-FR" altLang="fr-FR" sz="1800" dirty="0">
                <a:latin typeface="Calibri (Corps)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 err="1">
                  <a:latin typeface="Calibri (Corps)"/>
                </a:rPr>
                <a:t>controlled</a:t>
              </a:r>
              <a:endParaRPr lang="fr-FR" altLang="fr-FR" sz="1800" dirty="0">
                <a:latin typeface="Calibri (Corps)"/>
              </a:endParaRPr>
            </a:p>
          </p:txBody>
        </p:sp>
        <p:sp>
          <p:nvSpPr>
            <p:cNvPr id="15" name="Rectangle 8" descr="noir)"/>
            <p:cNvSpPr>
              <a:spLocks noChangeArrowheads="1"/>
            </p:cNvSpPr>
            <p:nvPr/>
          </p:nvSpPr>
          <p:spPr bwMode="auto">
            <a:xfrm>
              <a:off x="2388" y="2924"/>
              <a:ext cx="1661" cy="589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1480" y="361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2206" y="3613"/>
              <a:ext cx="4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Symbol" panose="05050102010706020507" pitchFamily="18" charset="2"/>
                </a:rPr>
                <a:t>a</a:t>
              </a:r>
              <a:r>
                <a:rPr lang="fr-FR" altLang="fr-FR" sz="2800" baseline="-25000">
                  <a:latin typeface="Symbol" panose="05050102010706020507" pitchFamily="18" charset="2"/>
                </a:rPr>
                <a:t>1</a:t>
              </a:r>
              <a:r>
                <a:rPr lang="fr-FR" altLang="fr-FR" sz="28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3920" y="3617"/>
              <a:ext cx="2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2936" y="2991"/>
              <a:ext cx="70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T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2</a:t>
              </a:r>
              <a:r>
                <a:rPr lang="fr-FR" altLang="fr-FR" sz="1800">
                  <a:latin typeface="Times New Roman" panose="02020603050405020304" pitchFamily="18" charset="0"/>
                </a:rPr>
                <a:t> et T</a:t>
              </a:r>
              <a:r>
                <a:rPr lang="fr-FR" altLang="fr-FR" sz="1800" baseline="-25000">
                  <a:latin typeface="Times New Roman" panose="02020603050405020304" pitchFamily="18" charset="0"/>
                </a:rPr>
                <a:t>3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Times New Roman" panose="02020603050405020304" pitchFamily="18" charset="0"/>
                </a:rPr>
                <a:t>controlled</a:t>
              </a:r>
            </a:p>
          </p:txBody>
        </p:sp>
      </p:grpSp>
      <p:cxnSp>
        <p:nvCxnSpPr>
          <p:cNvPr id="21" name="Connecteur droit 20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6805066" y="112301"/>
            <a:ext cx="5356741" cy="3047841"/>
            <a:chOff x="3455122" y="1395665"/>
            <a:chExt cx="7083001" cy="4675692"/>
          </a:xfrm>
        </p:grpSpPr>
        <p:grpSp>
          <p:nvGrpSpPr>
            <p:cNvPr id="22" name="Groupe 21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24" name="Picture 3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Picture 5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6" name="Picture 5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7" name="Rectangle 26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9" name="Groupe 28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30" name="Groupe 29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35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6" name="Rectangle 35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31" name="Picture 5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32" name="Picture 5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33" name="Rectangle 32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220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e 135"/>
          <p:cNvGrpSpPr/>
          <p:nvPr/>
        </p:nvGrpSpPr>
        <p:grpSpPr>
          <a:xfrm>
            <a:off x="2343585" y="2316821"/>
            <a:ext cx="4290735" cy="3047841"/>
            <a:chOff x="3455122" y="1395665"/>
            <a:chExt cx="7083001" cy="4675692"/>
          </a:xfrm>
        </p:grpSpPr>
        <p:grpSp>
          <p:nvGrpSpPr>
            <p:cNvPr id="137" name="Groupe 136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150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1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74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80" name="Rectangle 279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1" name="Rectangle 280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8" name="Groupe 137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139" name="Groupe 138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147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9" name="Rectangle 148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141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142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44" name="Rectangle 143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6" name="Rectangle 145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79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58177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</a:t>
            </a:r>
          </a:p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Synchronous complementary control (chronograms)</a:t>
            </a:r>
          </a:p>
        </p:txBody>
      </p:sp>
      <p:sp>
        <p:nvSpPr>
          <p:cNvPr id="143" name="Freeform 7"/>
          <p:cNvSpPr>
            <a:spLocks/>
          </p:cNvSpPr>
          <p:nvPr/>
        </p:nvSpPr>
        <p:spPr bwMode="auto">
          <a:xfrm>
            <a:off x="3129400" y="2394527"/>
            <a:ext cx="3529013" cy="2519363"/>
          </a:xfrm>
          <a:custGeom>
            <a:avLst/>
            <a:gdLst>
              <a:gd name="T0" fmla="*/ 2132 w 2223"/>
              <a:gd name="T1" fmla="*/ 1587 h 1587"/>
              <a:gd name="T2" fmla="*/ 2132 w 2223"/>
              <a:gd name="T3" fmla="*/ 1134 h 1587"/>
              <a:gd name="T4" fmla="*/ 1587 w 2223"/>
              <a:gd name="T5" fmla="*/ 861 h 1587"/>
              <a:gd name="T6" fmla="*/ 952 w 2223"/>
              <a:gd name="T7" fmla="*/ 816 h 1587"/>
              <a:gd name="T8" fmla="*/ 816 w 2223"/>
              <a:gd name="T9" fmla="*/ 453 h 1587"/>
              <a:gd name="T10" fmla="*/ 816 w 2223"/>
              <a:gd name="T11" fmla="*/ 181 h 1587"/>
              <a:gd name="T12" fmla="*/ 635 w 2223"/>
              <a:gd name="T13" fmla="*/ 45 h 1587"/>
              <a:gd name="T14" fmla="*/ 0 w 2223"/>
              <a:gd name="T15" fmla="*/ 0 h 15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223" h="1587">
                <a:moveTo>
                  <a:pt x="2132" y="1587"/>
                </a:moveTo>
                <a:cubicBezTo>
                  <a:pt x="2177" y="1421"/>
                  <a:pt x="2223" y="1255"/>
                  <a:pt x="2132" y="1134"/>
                </a:cubicBezTo>
                <a:cubicBezTo>
                  <a:pt x="2041" y="1013"/>
                  <a:pt x="1784" y="914"/>
                  <a:pt x="1587" y="861"/>
                </a:cubicBezTo>
                <a:cubicBezTo>
                  <a:pt x="1390" y="808"/>
                  <a:pt x="1080" y="884"/>
                  <a:pt x="952" y="816"/>
                </a:cubicBezTo>
                <a:cubicBezTo>
                  <a:pt x="824" y="748"/>
                  <a:pt x="839" y="559"/>
                  <a:pt x="816" y="453"/>
                </a:cubicBezTo>
                <a:cubicBezTo>
                  <a:pt x="793" y="347"/>
                  <a:pt x="846" y="249"/>
                  <a:pt x="816" y="181"/>
                </a:cubicBezTo>
                <a:cubicBezTo>
                  <a:pt x="786" y="113"/>
                  <a:pt x="771" y="75"/>
                  <a:pt x="635" y="45"/>
                </a:cubicBezTo>
                <a:cubicBezTo>
                  <a:pt x="499" y="15"/>
                  <a:pt x="106" y="7"/>
                  <a:pt x="0" y="0"/>
                </a:cubicBezTo>
              </a:path>
            </a:pathLst>
          </a:custGeom>
          <a:noFill/>
          <a:ln w="3175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5" name="Freeform 9"/>
          <p:cNvSpPr>
            <a:spLocks/>
          </p:cNvSpPr>
          <p:nvPr/>
        </p:nvSpPr>
        <p:spPr bwMode="auto">
          <a:xfrm>
            <a:off x="3489763" y="2440565"/>
            <a:ext cx="2579688" cy="2641600"/>
          </a:xfrm>
          <a:custGeom>
            <a:avLst/>
            <a:gdLst>
              <a:gd name="T0" fmla="*/ 0 w 1625"/>
              <a:gd name="T1" fmla="*/ 61 h 1664"/>
              <a:gd name="T2" fmla="*/ 181 w 1625"/>
              <a:gd name="T3" fmla="*/ 61 h 1664"/>
              <a:gd name="T4" fmla="*/ 317 w 1625"/>
              <a:gd name="T5" fmla="*/ 424 h 1664"/>
              <a:gd name="T6" fmla="*/ 589 w 1625"/>
              <a:gd name="T7" fmla="*/ 742 h 1664"/>
              <a:gd name="T8" fmla="*/ 1315 w 1625"/>
              <a:gd name="T9" fmla="*/ 742 h 1664"/>
              <a:gd name="T10" fmla="*/ 1587 w 1625"/>
              <a:gd name="T11" fmla="*/ 1014 h 1664"/>
              <a:gd name="T12" fmla="*/ 1542 w 1625"/>
              <a:gd name="T13" fmla="*/ 1558 h 1664"/>
              <a:gd name="T14" fmla="*/ 1179 w 1625"/>
              <a:gd name="T15" fmla="*/ 1649 h 16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25" h="1664">
                <a:moveTo>
                  <a:pt x="0" y="61"/>
                </a:moveTo>
                <a:cubicBezTo>
                  <a:pt x="64" y="30"/>
                  <a:pt x="128" y="0"/>
                  <a:pt x="181" y="61"/>
                </a:cubicBezTo>
                <a:cubicBezTo>
                  <a:pt x="234" y="122"/>
                  <a:pt x="249" y="310"/>
                  <a:pt x="317" y="424"/>
                </a:cubicBezTo>
                <a:cubicBezTo>
                  <a:pt x="385" y="538"/>
                  <a:pt x="423" y="689"/>
                  <a:pt x="589" y="742"/>
                </a:cubicBezTo>
                <a:cubicBezTo>
                  <a:pt x="755" y="795"/>
                  <a:pt x="1149" y="697"/>
                  <a:pt x="1315" y="742"/>
                </a:cubicBezTo>
                <a:cubicBezTo>
                  <a:pt x="1481" y="787"/>
                  <a:pt x="1549" y="878"/>
                  <a:pt x="1587" y="1014"/>
                </a:cubicBezTo>
                <a:cubicBezTo>
                  <a:pt x="1625" y="1150"/>
                  <a:pt x="1610" y="1452"/>
                  <a:pt x="1542" y="1558"/>
                </a:cubicBezTo>
                <a:cubicBezTo>
                  <a:pt x="1474" y="1664"/>
                  <a:pt x="1239" y="1634"/>
                  <a:pt x="1179" y="1649"/>
                </a:cubicBezTo>
              </a:path>
            </a:pathLst>
          </a:custGeom>
          <a:noFill/>
          <a:ln w="31750">
            <a:solidFill>
              <a:srgbClr val="3366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8" name="Freeform 12"/>
          <p:cNvSpPr>
            <a:spLocks/>
          </p:cNvSpPr>
          <p:nvPr/>
        </p:nvSpPr>
        <p:spPr bwMode="auto">
          <a:xfrm>
            <a:off x="3921563" y="2394527"/>
            <a:ext cx="2616200" cy="2663825"/>
          </a:xfrm>
          <a:custGeom>
            <a:avLst/>
            <a:gdLst>
              <a:gd name="T0" fmla="*/ 0 w 1648"/>
              <a:gd name="T1" fmla="*/ 1678 h 1678"/>
              <a:gd name="T2" fmla="*/ 272 w 1648"/>
              <a:gd name="T3" fmla="*/ 1587 h 1678"/>
              <a:gd name="T4" fmla="*/ 317 w 1648"/>
              <a:gd name="T5" fmla="*/ 1270 h 1678"/>
              <a:gd name="T6" fmla="*/ 453 w 1648"/>
              <a:gd name="T7" fmla="*/ 907 h 1678"/>
              <a:gd name="T8" fmla="*/ 771 w 1648"/>
              <a:gd name="T9" fmla="*/ 861 h 1678"/>
              <a:gd name="T10" fmla="*/ 1497 w 1648"/>
              <a:gd name="T11" fmla="*/ 816 h 1678"/>
              <a:gd name="T12" fmla="*/ 1633 w 1648"/>
              <a:gd name="T13" fmla="*/ 272 h 1678"/>
              <a:gd name="T14" fmla="*/ 1406 w 1648"/>
              <a:gd name="T15" fmla="*/ 45 h 1678"/>
              <a:gd name="T16" fmla="*/ 1043 w 1648"/>
              <a:gd name="T17" fmla="*/ 0 h 16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648" h="1678">
                <a:moveTo>
                  <a:pt x="0" y="1678"/>
                </a:moveTo>
                <a:cubicBezTo>
                  <a:pt x="109" y="1666"/>
                  <a:pt x="219" y="1655"/>
                  <a:pt x="272" y="1587"/>
                </a:cubicBezTo>
                <a:cubicBezTo>
                  <a:pt x="325" y="1519"/>
                  <a:pt x="287" y="1383"/>
                  <a:pt x="317" y="1270"/>
                </a:cubicBezTo>
                <a:cubicBezTo>
                  <a:pt x="347" y="1157"/>
                  <a:pt x="377" y="975"/>
                  <a:pt x="453" y="907"/>
                </a:cubicBezTo>
                <a:cubicBezTo>
                  <a:pt x="529" y="839"/>
                  <a:pt x="597" y="876"/>
                  <a:pt x="771" y="861"/>
                </a:cubicBezTo>
                <a:cubicBezTo>
                  <a:pt x="945" y="846"/>
                  <a:pt x="1353" y="914"/>
                  <a:pt x="1497" y="816"/>
                </a:cubicBezTo>
                <a:cubicBezTo>
                  <a:pt x="1641" y="718"/>
                  <a:pt x="1648" y="400"/>
                  <a:pt x="1633" y="272"/>
                </a:cubicBezTo>
                <a:cubicBezTo>
                  <a:pt x="1618" y="144"/>
                  <a:pt x="1504" y="90"/>
                  <a:pt x="1406" y="45"/>
                </a:cubicBezTo>
                <a:cubicBezTo>
                  <a:pt x="1308" y="0"/>
                  <a:pt x="1103" y="8"/>
                  <a:pt x="1043" y="0"/>
                </a:cubicBezTo>
              </a:path>
            </a:pathLst>
          </a:custGeom>
          <a:noFill/>
          <a:ln w="31750">
            <a:solidFill>
              <a:srgbClr val="FF99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2" name="Freeform 16"/>
          <p:cNvSpPr>
            <a:spLocks/>
          </p:cNvSpPr>
          <p:nvPr/>
        </p:nvSpPr>
        <p:spPr bwMode="auto">
          <a:xfrm>
            <a:off x="3200838" y="2442152"/>
            <a:ext cx="2868612" cy="2724150"/>
          </a:xfrm>
          <a:custGeom>
            <a:avLst/>
            <a:gdLst>
              <a:gd name="T0" fmla="*/ 1316 w 1807"/>
              <a:gd name="T1" fmla="*/ 15 h 1716"/>
              <a:gd name="T2" fmla="*/ 1679 w 1807"/>
              <a:gd name="T3" fmla="*/ 60 h 1716"/>
              <a:gd name="T4" fmla="*/ 1769 w 1807"/>
              <a:gd name="T5" fmla="*/ 378 h 1716"/>
              <a:gd name="T6" fmla="*/ 1679 w 1807"/>
              <a:gd name="T7" fmla="*/ 695 h 1716"/>
              <a:gd name="T8" fmla="*/ 998 w 1807"/>
              <a:gd name="T9" fmla="*/ 741 h 1716"/>
              <a:gd name="T10" fmla="*/ 545 w 1807"/>
              <a:gd name="T11" fmla="*/ 877 h 1716"/>
              <a:gd name="T12" fmla="*/ 499 w 1807"/>
              <a:gd name="T13" fmla="*/ 1285 h 1716"/>
              <a:gd name="T14" fmla="*/ 363 w 1807"/>
              <a:gd name="T15" fmla="*/ 1648 h 1716"/>
              <a:gd name="T16" fmla="*/ 0 w 1807"/>
              <a:gd name="T17" fmla="*/ 1693 h 171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807" h="1716">
                <a:moveTo>
                  <a:pt x="1316" y="15"/>
                </a:moveTo>
                <a:cubicBezTo>
                  <a:pt x="1460" y="7"/>
                  <a:pt x="1604" y="0"/>
                  <a:pt x="1679" y="60"/>
                </a:cubicBezTo>
                <a:cubicBezTo>
                  <a:pt x="1754" y="120"/>
                  <a:pt x="1769" y="272"/>
                  <a:pt x="1769" y="378"/>
                </a:cubicBezTo>
                <a:cubicBezTo>
                  <a:pt x="1769" y="484"/>
                  <a:pt x="1807" y="635"/>
                  <a:pt x="1679" y="695"/>
                </a:cubicBezTo>
                <a:cubicBezTo>
                  <a:pt x="1551" y="755"/>
                  <a:pt x="1187" y="711"/>
                  <a:pt x="998" y="741"/>
                </a:cubicBezTo>
                <a:cubicBezTo>
                  <a:pt x="809" y="771"/>
                  <a:pt x="628" y="786"/>
                  <a:pt x="545" y="877"/>
                </a:cubicBezTo>
                <a:cubicBezTo>
                  <a:pt x="462" y="968"/>
                  <a:pt x="529" y="1156"/>
                  <a:pt x="499" y="1285"/>
                </a:cubicBezTo>
                <a:cubicBezTo>
                  <a:pt x="469" y="1414"/>
                  <a:pt x="446" y="1580"/>
                  <a:pt x="363" y="1648"/>
                </a:cubicBezTo>
                <a:cubicBezTo>
                  <a:pt x="280" y="1716"/>
                  <a:pt x="61" y="1686"/>
                  <a:pt x="0" y="1693"/>
                </a:cubicBezTo>
              </a:path>
            </a:pathLst>
          </a:custGeom>
          <a:noFill/>
          <a:ln w="28575" cmpd="sng">
            <a:solidFill>
              <a:srgbClr val="009900"/>
            </a:solidFill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153" name="Group 39"/>
          <p:cNvGrpSpPr>
            <a:grpSpLocks/>
          </p:cNvGrpSpPr>
          <p:nvPr/>
        </p:nvGrpSpPr>
        <p:grpSpPr bwMode="auto">
          <a:xfrm>
            <a:off x="7379138" y="3899477"/>
            <a:ext cx="88900" cy="2017713"/>
            <a:chOff x="2873" y="2172"/>
            <a:chExt cx="56" cy="1271"/>
          </a:xfrm>
        </p:grpSpPr>
        <p:sp>
          <p:nvSpPr>
            <p:cNvPr id="154" name="Freeform 37"/>
            <p:cNvSpPr>
              <a:spLocks/>
            </p:cNvSpPr>
            <p:nvPr/>
          </p:nvSpPr>
          <p:spPr bwMode="auto">
            <a:xfrm>
              <a:off x="2873" y="2172"/>
              <a:ext cx="56" cy="112"/>
            </a:xfrm>
            <a:custGeom>
              <a:avLst/>
              <a:gdLst>
                <a:gd name="T0" fmla="*/ 32 w 56"/>
                <a:gd name="T1" fmla="*/ 0 h 112"/>
                <a:gd name="T2" fmla="*/ 56 w 56"/>
                <a:gd name="T3" fmla="*/ 112 h 112"/>
                <a:gd name="T4" fmla="*/ 32 w 56"/>
                <a:gd name="T5" fmla="*/ 112 h 112"/>
                <a:gd name="T6" fmla="*/ 0 w 56"/>
                <a:gd name="T7" fmla="*/ 112 h 112"/>
                <a:gd name="T8" fmla="*/ 32 w 56"/>
                <a:gd name="T9" fmla="*/ 0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12">
                  <a:moveTo>
                    <a:pt x="32" y="0"/>
                  </a:moveTo>
                  <a:lnTo>
                    <a:pt x="56" y="112"/>
                  </a:lnTo>
                  <a:lnTo>
                    <a:pt x="32" y="112"/>
                  </a:lnTo>
                  <a:lnTo>
                    <a:pt x="0" y="11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5" name="Line 38"/>
            <p:cNvSpPr>
              <a:spLocks noChangeShapeType="1"/>
            </p:cNvSpPr>
            <p:nvPr/>
          </p:nvSpPr>
          <p:spPr bwMode="auto">
            <a:xfrm>
              <a:off x="2905" y="2284"/>
              <a:ext cx="0" cy="1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6" name="Group 72"/>
          <p:cNvGrpSpPr>
            <a:grpSpLocks/>
          </p:cNvGrpSpPr>
          <p:nvPr/>
        </p:nvGrpSpPr>
        <p:grpSpPr bwMode="auto">
          <a:xfrm>
            <a:off x="8863450" y="3505777"/>
            <a:ext cx="0" cy="2436813"/>
            <a:chOff x="3808" y="1924"/>
            <a:chExt cx="0" cy="1535"/>
          </a:xfrm>
        </p:grpSpPr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808" y="1924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808" y="1996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3808" y="2068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3808" y="2140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3808" y="2212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3808" y="2284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3808" y="2356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3808" y="2428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3808" y="2500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3808" y="2572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3808" y="2644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3808" y="2716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3808" y="2787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3808" y="2859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3808" y="2931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3808" y="3003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3808" y="3075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3808" y="3147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3808" y="3219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3808" y="3291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3808" y="3363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8" name="Line 71"/>
            <p:cNvSpPr>
              <a:spLocks noChangeShapeType="1"/>
            </p:cNvSpPr>
            <p:nvPr/>
          </p:nvSpPr>
          <p:spPr bwMode="auto">
            <a:xfrm>
              <a:off x="3808" y="3435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9" name="Group 106"/>
          <p:cNvGrpSpPr>
            <a:grpSpLocks/>
          </p:cNvGrpSpPr>
          <p:nvPr/>
        </p:nvGrpSpPr>
        <p:grpSpPr bwMode="auto">
          <a:xfrm>
            <a:off x="8001438" y="4875790"/>
            <a:ext cx="0" cy="1066800"/>
            <a:chOff x="3265" y="2787"/>
            <a:chExt cx="0" cy="672"/>
          </a:xfrm>
        </p:grpSpPr>
        <p:sp>
          <p:nvSpPr>
            <p:cNvPr id="180" name="Line 96"/>
            <p:cNvSpPr>
              <a:spLocks noChangeShapeType="1"/>
            </p:cNvSpPr>
            <p:nvPr/>
          </p:nvSpPr>
          <p:spPr bwMode="auto">
            <a:xfrm>
              <a:off x="3265" y="2787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1" name="Line 97"/>
            <p:cNvSpPr>
              <a:spLocks noChangeShapeType="1"/>
            </p:cNvSpPr>
            <p:nvPr/>
          </p:nvSpPr>
          <p:spPr bwMode="auto">
            <a:xfrm>
              <a:off x="3265" y="2859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2" name="Line 98"/>
            <p:cNvSpPr>
              <a:spLocks noChangeShapeType="1"/>
            </p:cNvSpPr>
            <p:nvPr/>
          </p:nvSpPr>
          <p:spPr bwMode="auto">
            <a:xfrm>
              <a:off x="3265" y="2931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3" name="Line 99"/>
            <p:cNvSpPr>
              <a:spLocks noChangeShapeType="1"/>
            </p:cNvSpPr>
            <p:nvPr/>
          </p:nvSpPr>
          <p:spPr bwMode="auto">
            <a:xfrm>
              <a:off x="3265" y="3003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" name="Line 100"/>
            <p:cNvSpPr>
              <a:spLocks noChangeShapeType="1"/>
            </p:cNvSpPr>
            <p:nvPr/>
          </p:nvSpPr>
          <p:spPr bwMode="auto">
            <a:xfrm>
              <a:off x="3265" y="3075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5" name="Line 101"/>
            <p:cNvSpPr>
              <a:spLocks noChangeShapeType="1"/>
            </p:cNvSpPr>
            <p:nvPr/>
          </p:nvSpPr>
          <p:spPr bwMode="auto">
            <a:xfrm>
              <a:off x="3265" y="3147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6" name="Line 102"/>
            <p:cNvSpPr>
              <a:spLocks noChangeShapeType="1"/>
            </p:cNvSpPr>
            <p:nvPr/>
          </p:nvSpPr>
          <p:spPr bwMode="auto">
            <a:xfrm>
              <a:off x="3265" y="3219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7" name="Line 103"/>
            <p:cNvSpPr>
              <a:spLocks noChangeShapeType="1"/>
            </p:cNvSpPr>
            <p:nvPr/>
          </p:nvSpPr>
          <p:spPr bwMode="auto">
            <a:xfrm>
              <a:off x="3265" y="3291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8" name="Line 104"/>
            <p:cNvSpPr>
              <a:spLocks noChangeShapeType="1"/>
            </p:cNvSpPr>
            <p:nvPr/>
          </p:nvSpPr>
          <p:spPr bwMode="auto">
            <a:xfrm>
              <a:off x="3265" y="3363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9" name="Line 105"/>
            <p:cNvSpPr>
              <a:spLocks noChangeShapeType="1"/>
            </p:cNvSpPr>
            <p:nvPr/>
          </p:nvSpPr>
          <p:spPr bwMode="auto">
            <a:xfrm>
              <a:off x="3265" y="3435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90" name="Group 117"/>
          <p:cNvGrpSpPr>
            <a:grpSpLocks/>
          </p:cNvGrpSpPr>
          <p:nvPr/>
        </p:nvGrpSpPr>
        <p:grpSpPr bwMode="auto">
          <a:xfrm>
            <a:off x="9295250" y="4875790"/>
            <a:ext cx="0" cy="1066800"/>
            <a:chOff x="4080" y="2787"/>
            <a:chExt cx="0" cy="672"/>
          </a:xfrm>
        </p:grpSpPr>
        <p:sp>
          <p:nvSpPr>
            <p:cNvPr id="191" name="Line 107"/>
            <p:cNvSpPr>
              <a:spLocks noChangeShapeType="1"/>
            </p:cNvSpPr>
            <p:nvPr/>
          </p:nvSpPr>
          <p:spPr bwMode="auto">
            <a:xfrm>
              <a:off x="4080" y="2787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2" name="Line 108"/>
            <p:cNvSpPr>
              <a:spLocks noChangeShapeType="1"/>
            </p:cNvSpPr>
            <p:nvPr/>
          </p:nvSpPr>
          <p:spPr bwMode="auto">
            <a:xfrm>
              <a:off x="4080" y="2859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3" name="Line 109"/>
            <p:cNvSpPr>
              <a:spLocks noChangeShapeType="1"/>
            </p:cNvSpPr>
            <p:nvPr/>
          </p:nvSpPr>
          <p:spPr bwMode="auto">
            <a:xfrm>
              <a:off x="4080" y="2931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" name="Line 110"/>
            <p:cNvSpPr>
              <a:spLocks noChangeShapeType="1"/>
            </p:cNvSpPr>
            <p:nvPr/>
          </p:nvSpPr>
          <p:spPr bwMode="auto">
            <a:xfrm>
              <a:off x="4080" y="3003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5" name="Line 111"/>
            <p:cNvSpPr>
              <a:spLocks noChangeShapeType="1"/>
            </p:cNvSpPr>
            <p:nvPr/>
          </p:nvSpPr>
          <p:spPr bwMode="auto">
            <a:xfrm>
              <a:off x="4080" y="3075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6" name="Line 112"/>
            <p:cNvSpPr>
              <a:spLocks noChangeShapeType="1"/>
            </p:cNvSpPr>
            <p:nvPr/>
          </p:nvSpPr>
          <p:spPr bwMode="auto">
            <a:xfrm>
              <a:off x="4080" y="3147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7" name="Line 113"/>
            <p:cNvSpPr>
              <a:spLocks noChangeShapeType="1"/>
            </p:cNvSpPr>
            <p:nvPr/>
          </p:nvSpPr>
          <p:spPr bwMode="auto">
            <a:xfrm>
              <a:off x="4080" y="3219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8" name="Line 114"/>
            <p:cNvSpPr>
              <a:spLocks noChangeShapeType="1"/>
            </p:cNvSpPr>
            <p:nvPr/>
          </p:nvSpPr>
          <p:spPr bwMode="auto">
            <a:xfrm>
              <a:off x="4080" y="3291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9" name="Line 115"/>
            <p:cNvSpPr>
              <a:spLocks noChangeShapeType="1"/>
            </p:cNvSpPr>
            <p:nvPr/>
          </p:nvSpPr>
          <p:spPr bwMode="auto">
            <a:xfrm>
              <a:off x="4080" y="3363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" name="Line 116"/>
            <p:cNvSpPr>
              <a:spLocks noChangeShapeType="1"/>
            </p:cNvSpPr>
            <p:nvPr/>
          </p:nvSpPr>
          <p:spPr bwMode="auto">
            <a:xfrm>
              <a:off x="4080" y="3435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1" name="Rectangle 118"/>
          <p:cNvSpPr>
            <a:spLocks noChangeArrowheads="1"/>
          </p:cNvSpPr>
          <p:nvPr/>
        </p:nvSpPr>
        <p:spPr bwMode="auto">
          <a:xfrm>
            <a:off x="8355450" y="5459990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Calibri (Corps)"/>
              </a:rPr>
              <a:t>T</a:t>
            </a:r>
            <a:endParaRPr lang="fr-FR" altLang="fr-FR" sz="1800">
              <a:latin typeface="Calibri (Corps)"/>
            </a:endParaRPr>
          </a:p>
        </p:txBody>
      </p:sp>
      <p:sp>
        <p:nvSpPr>
          <p:cNvPr id="202" name="Rectangle 119"/>
          <p:cNvSpPr>
            <a:spLocks noChangeArrowheads="1"/>
          </p:cNvSpPr>
          <p:nvPr/>
        </p:nvSpPr>
        <p:spPr bwMode="auto">
          <a:xfrm>
            <a:off x="8457050" y="5523490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1</a:t>
            </a:r>
            <a:endParaRPr lang="fr-FR" altLang="fr-FR" sz="1800">
              <a:latin typeface="Calibri (Corps)"/>
            </a:endParaRPr>
          </a:p>
        </p:txBody>
      </p:sp>
      <p:sp>
        <p:nvSpPr>
          <p:cNvPr id="203" name="Rectangle 120"/>
          <p:cNvSpPr>
            <a:spLocks noChangeArrowheads="1"/>
          </p:cNvSpPr>
          <p:nvPr/>
        </p:nvSpPr>
        <p:spPr bwMode="auto">
          <a:xfrm>
            <a:off x="9003150" y="5447290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Calibri (Corps)"/>
              </a:rPr>
              <a:t>D</a:t>
            </a:r>
            <a:endParaRPr lang="fr-FR" altLang="fr-FR" sz="1800">
              <a:latin typeface="Calibri (Corps)"/>
            </a:endParaRPr>
          </a:p>
        </p:txBody>
      </p:sp>
      <p:sp>
        <p:nvSpPr>
          <p:cNvPr id="204" name="Rectangle 121"/>
          <p:cNvSpPr>
            <a:spLocks noChangeArrowheads="1"/>
          </p:cNvSpPr>
          <p:nvPr/>
        </p:nvSpPr>
        <p:spPr bwMode="auto">
          <a:xfrm>
            <a:off x="9104750" y="5536190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2</a:t>
            </a:r>
            <a:endParaRPr lang="fr-FR" altLang="fr-FR" sz="1800">
              <a:latin typeface="Calibri (Corps)"/>
            </a:endParaRPr>
          </a:p>
        </p:txBody>
      </p:sp>
      <p:sp>
        <p:nvSpPr>
          <p:cNvPr id="205" name="Rectangle 122"/>
          <p:cNvSpPr>
            <a:spLocks noChangeArrowheads="1"/>
          </p:cNvSpPr>
          <p:nvPr/>
        </p:nvSpPr>
        <p:spPr bwMode="auto">
          <a:xfrm>
            <a:off x="9371450" y="5459990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Calibri (Corps)"/>
              </a:rPr>
              <a:t>T</a:t>
            </a:r>
            <a:endParaRPr lang="fr-FR" altLang="fr-FR" sz="1800">
              <a:latin typeface="Calibri (Corps)"/>
            </a:endParaRPr>
          </a:p>
        </p:txBody>
      </p:sp>
      <p:sp>
        <p:nvSpPr>
          <p:cNvPr id="206" name="Rectangle 123"/>
          <p:cNvSpPr>
            <a:spLocks noChangeArrowheads="1"/>
          </p:cNvSpPr>
          <p:nvPr/>
        </p:nvSpPr>
        <p:spPr bwMode="auto">
          <a:xfrm>
            <a:off x="9460350" y="5523490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2</a:t>
            </a:r>
            <a:endParaRPr lang="fr-FR" altLang="fr-FR" sz="1800">
              <a:latin typeface="Calibri (Corps)"/>
            </a:endParaRPr>
          </a:p>
        </p:txBody>
      </p:sp>
      <p:sp>
        <p:nvSpPr>
          <p:cNvPr id="207" name="Rectangle 124"/>
          <p:cNvSpPr>
            <a:spLocks noChangeArrowheads="1"/>
          </p:cNvSpPr>
          <p:nvPr/>
        </p:nvSpPr>
        <p:spPr bwMode="auto">
          <a:xfrm>
            <a:off x="7633138" y="5447290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Calibri (Corps)"/>
              </a:rPr>
              <a:t>D</a:t>
            </a:r>
            <a:endParaRPr lang="fr-FR" altLang="fr-FR" sz="1800">
              <a:latin typeface="Calibri (Corps)"/>
            </a:endParaRPr>
          </a:p>
        </p:txBody>
      </p:sp>
      <p:sp>
        <p:nvSpPr>
          <p:cNvPr id="208" name="Rectangle 125"/>
          <p:cNvSpPr>
            <a:spLocks noChangeArrowheads="1"/>
          </p:cNvSpPr>
          <p:nvPr/>
        </p:nvSpPr>
        <p:spPr bwMode="auto">
          <a:xfrm>
            <a:off x="7734738" y="5536190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1</a:t>
            </a:r>
            <a:endParaRPr lang="fr-FR" altLang="fr-FR" sz="1800">
              <a:latin typeface="Calibri (Corps)"/>
            </a:endParaRPr>
          </a:p>
        </p:txBody>
      </p:sp>
      <p:grpSp>
        <p:nvGrpSpPr>
          <p:cNvPr id="209" name="Group 42"/>
          <p:cNvGrpSpPr>
            <a:grpSpLocks/>
          </p:cNvGrpSpPr>
          <p:nvPr/>
        </p:nvGrpSpPr>
        <p:grpSpPr bwMode="auto">
          <a:xfrm>
            <a:off x="7315638" y="4826577"/>
            <a:ext cx="4391025" cy="87313"/>
            <a:chOff x="2833" y="2756"/>
            <a:chExt cx="2766" cy="55"/>
          </a:xfrm>
        </p:grpSpPr>
        <p:sp>
          <p:nvSpPr>
            <p:cNvPr id="210" name="Freeform 40"/>
            <p:cNvSpPr>
              <a:spLocks/>
            </p:cNvSpPr>
            <p:nvPr/>
          </p:nvSpPr>
          <p:spPr bwMode="auto">
            <a:xfrm>
              <a:off x="5487" y="2756"/>
              <a:ext cx="112" cy="55"/>
            </a:xfrm>
            <a:custGeom>
              <a:avLst/>
              <a:gdLst>
                <a:gd name="T0" fmla="*/ 112 w 112"/>
                <a:gd name="T1" fmla="*/ 31 h 55"/>
                <a:gd name="T2" fmla="*/ 0 w 112"/>
                <a:gd name="T3" fmla="*/ 55 h 55"/>
                <a:gd name="T4" fmla="*/ 0 w 112"/>
                <a:gd name="T5" fmla="*/ 31 h 55"/>
                <a:gd name="T6" fmla="*/ 0 w 112"/>
                <a:gd name="T7" fmla="*/ 0 h 55"/>
                <a:gd name="T8" fmla="*/ 112 w 112"/>
                <a:gd name="T9" fmla="*/ 31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55">
                  <a:moveTo>
                    <a:pt x="112" y="31"/>
                  </a:moveTo>
                  <a:lnTo>
                    <a:pt x="0" y="55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12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1" name="Line 41"/>
            <p:cNvSpPr>
              <a:spLocks noChangeShapeType="1"/>
            </p:cNvSpPr>
            <p:nvPr/>
          </p:nvSpPr>
          <p:spPr bwMode="auto">
            <a:xfrm>
              <a:off x="2833" y="2787"/>
              <a:ext cx="26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12" name="Rectangle 43"/>
          <p:cNvSpPr>
            <a:spLocks noChangeArrowheads="1"/>
          </p:cNvSpPr>
          <p:nvPr/>
        </p:nvSpPr>
        <p:spPr bwMode="auto">
          <a:xfrm>
            <a:off x="11719363" y="4686877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3" name="Rectangle 44"/>
          <p:cNvSpPr>
            <a:spLocks noChangeArrowheads="1"/>
          </p:cNvSpPr>
          <p:nvPr/>
        </p:nvSpPr>
        <p:spPr bwMode="auto">
          <a:xfrm>
            <a:off x="7252138" y="4901190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4" name="Rectangle 45"/>
          <p:cNvSpPr>
            <a:spLocks noChangeArrowheads="1"/>
          </p:cNvSpPr>
          <p:nvPr/>
        </p:nvSpPr>
        <p:spPr bwMode="auto">
          <a:xfrm>
            <a:off x="7531538" y="3835977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5" name="Line 46"/>
          <p:cNvSpPr>
            <a:spLocks noChangeShapeType="1"/>
          </p:cNvSpPr>
          <p:nvPr/>
        </p:nvSpPr>
        <p:spPr bwMode="auto">
          <a:xfrm flipV="1">
            <a:off x="7429938" y="4293177"/>
            <a:ext cx="1433512" cy="9382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6" name="Line 47"/>
          <p:cNvSpPr>
            <a:spLocks noChangeShapeType="1"/>
          </p:cNvSpPr>
          <p:nvPr/>
        </p:nvSpPr>
        <p:spPr bwMode="auto">
          <a:xfrm>
            <a:off x="8863450" y="4293177"/>
            <a:ext cx="723900" cy="9382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7" name="Line 48"/>
          <p:cNvSpPr>
            <a:spLocks noChangeShapeType="1"/>
          </p:cNvSpPr>
          <p:nvPr/>
        </p:nvSpPr>
        <p:spPr bwMode="auto">
          <a:xfrm flipV="1">
            <a:off x="9587350" y="4293177"/>
            <a:ext cx="1433513" cy="9382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8" name="Line 49"/>
          <p:cNvSpPr>
            <a:spLocks noChangeShapeType="1"/>
          </p:cNvSpPr>
          <p:nvPr/>
        </p:nvSpPr>
        <p:spPr bwMode="auto">
          <a:xfrm>
            <a:off x="11020863" y="4293177"/>
            <a:ext cx="292100" cy="3683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9" name="AutoShape 17"/>
          <p:cNvSpPr>
            <a:spLocks noChangeAspect="1" noChangeArrowheads="1" noTextEdit="1"/>
          </p:cNvSpPr>
          <p:nvPr/>
        </p:nvSpPr>
        <p:spPr bwMode="auto">
          <a:xfrm>
            <a:off x="7087038" y="1576965"/>
            <a:ext cx="4695825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20" name="Group 21"/>
          <p:cNvGrpSpPr>
            <a:grpSpLocks/>
          </p:cNvGrpSpPr>
          <p:nvPr/>
        </p:nvGrpSpPr>
        <p:grpSpPr bwMode="auto">
          <a:xfrm>
            <a:off x="7366438" y="1653165"/>
            <a:ext cx="88900" cy="1865312"/>
            <a:chOff x="2865" y="757"/>
            <a:chExt cx="56" cy="1175"/>
          </a:xfrm>
        </p:grpSpPr>
        <p:sp>
          <p:nvSpPr>
            <p:cNvPr id="221" name="Freeform 19"/>
            <p:cNvSpPr>
              <a:spLocks/>
            </p:cNvSpPr>
            <p:nvPr/>
          </p:nvSpPr>
          <p:spPr bwMode="auto">
            <a:xfrm>
              <a:off x="2865" y="757"/>
              <a:ext cx="56" cy="112"/>
            </a:xfrm>
            <a:custGeom>
              <a:avLst/>
              <a:gdLst>
                <a:gd name="T0" fmla="*/ 24 w 56"/>
                <a:gd name="T1" fmla="*/ 0 h 112"/>
                <a:gd name="T2" fmla="*/ 56 w 56"/>
                <a:gd name="T3" fmla="*/ 112 h 112"/>
                <a:gd name="T4" fmla="*/ 24 w 56"/>
                <a:gd name="T5" fmla="*/ 112 h 112"/>
                <a:gd name="T6" fmla="*/ 0 w 56"/>
                <a:gd name="T7" fmla="*/ 112 h 112"/>
                <a:gd name="T8" fmla="*/ 24 w 56"/>
                <a:gd name="T9" fmla="*/ 0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12">
                  <a:moveTo>
                    <a:pt x="24" y="0"/>
                  </a:moveTo>
                  <a:lnTo>
                    <a:pt x="56" y="112"/>
                  </a:lnTo>
                  <a:lnTo>
                    <a:pt x="24" y="112"/>
                  </a:lnTo>
                  <a:lnTo>
                    <a:pt x="0" y="11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2" name="Line 20"/>
            <p:cNvSpPr>
              <a:spLocks noChangeShapeType="1"/>
            </p:cNvSpPr>
            <p:nvPr/>
          </p:nvSpPr>
          <p:spPr bwMode="auto">
            <a:xfrm>
              <a:off x="2889" y="869"/>
              <a:ext cx="0" cy="10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3" name="Group 24"/>
          <p:cNvGrpSpPr>
            <a:grpSpLocks/>
          </p:cNvGrpSpPr>
          <p:nvPr/>
        </p:nvGrpSpPr>
        <p:grpSpPr bwMode="auto">
          <a:xfrm>
            <a:off x="7302938" y="2643765"/>
            <a:ext cx="4391025" cy="87312"/>
            <a:chOff x="2825" y="1381"/>
            <a:chExt cx="2766" cy="55"/>
          </a:xfrm>
        </p:grpSpPr>
        <p:sp>
          <p:nvSpPr>
            <p:cNvPr id="224" name="Freeform 22"/>
            <p:cNvSpPr>
              <a:spLocks/>
            </p:cNvSpPr>
            <p:nvPr/>
          </p:nvSpPr>
          <p:spPr bwMode="auto">
            <a:xfrm>
              <a:off x="5479" y="1381"/>
              <a:ext cx="112" cy="55"/>
            </a:xfrm>
            <a:custGeom>
              <a:avLst/>
              <a:gdLst>
                <a:gd name="T0" fmla="*/ 112 w 112"/>
                <a:gd name="T1" fmla="*/ 31 h 55"/>
                <a:gd name="T2" fmla="*/ 0 w 112"/>
                <a:gd name="T3" fmla="*/ 55 h 55"/>
                <a:gd name="T4" fmla="*/ 0 w 112"/>
                <a:gd name="T5" fmla="*/ 31 h 55"/>
                <a:gd name="T6" fmla="*/ 0 w 112"/>
                <a:gd name="T7" fmla="*/ 0 h 55"/>
                <a:gd name="T8" fmla="*/ 112 w 112"/>
                <a:gd name="T9" fmla="*/ 31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55">
                  <a:moveTo>
                    <a:pt x="112" y="31"/>
                  </a:moveTo>
                  <a:lnTo>
                    <a:pt x="0" y="55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12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5" name="Line 23"/>
            <p:cNvSpPr>
              <a:spLocks noChangeShapeType="1"/>
            </p:cNvSpPr>
            <p:nvPr/>
          </p:nvSpPr>
          <p:spPr bwMode="auto">
            <a:xfrm>
              <a:off x="2825" y="1412"/>
              <a:ext cx="26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26" name="Line 25"/>
          <p:cNvSpPr>
            <a:spLocks noChangeShapeType="1"/>
          </p:cNvSpPr>
          <p:nvPr/>
        </p:nvSpPr>
        <p:spPr bwMode="auto">
          <a:xfrm>
            <a:off x="7404538" y="1970665"/>
            <a:ext cx="1446212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7" name="Line 26"/>
          <p:cNvSpPr>
            <a:spLocks noChangeShapeType="1"/>
          </p:cNvSpPr>
          <p:nvPr/>
        </p:nvSpPr>
        <p:spPr bwMode="auto">
          <a:xfrm flipV="1">
            <a:off x="8850750" y="1970665"/>
            <a:ext cx="0" cy="14462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8" name="Line 27"/>
          <p:cNvSpPr>
            <a:spLocks noChangeShapeType="1"/>
          </p:cNvSpPr>
          <p:nvPr/>
        </p:nvSpPr>
        <p:spPr bwMode="auto">
          <a:xfrm>
            <a:off x="8850750" y="3416877"/>
            <a:ext cx="723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9" name="Line 28"/>
          <p:cNvSpPr>
            <a:spLocks noChangeShapeType="1"/>
          </p:cNvSpPr>
          <p:nvPr/>
        </p:nvSpPr>
        <p:spPr bwMode="auto">
          <a:xfrm>
            <a:off x="11008163" y="3416877"/>
            <a:ext cx="4318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0" name="Rectangle 29"/>
          <p:cNvSpPr>
            <a:spLocks noChangeArrowheads="1"/>
          </p:cNvSpPr>
          <p:nvPr/>
        </p:nvSpPr>
        <p:spPr bwMode="auto">
          <a:xfrm>
            <a:off x="7506138" y="1564265"/>
            <a:ext cx="984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u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1" name="Rectangle 30"/>
          <p:cNvSpPr>
            <a:spLocks noChangeArrowheads="1"/>
          </p:cNvSpPr>
          <p:nvPr/>
        </p:nvSpPr>
        <p:spPr bwMode="auto">
          <a:xfrm>
            <a:off x="11630463" y="2440565"/>
            <a:ext cx="428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2" name="Rectangle 31"/>
          <p:cNvSpPr>
            <a:spLocks noChangeArrowheads="1"/>
          </p:cNvSpPr>
          <p:nvPr/>
        </p:nvSpPr>
        <p:spPr bwMode="auto">
          <a:xfrm>
            <a:off x="7302938" y="2718377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3" name="Rectangle 32"/>
          <p:cNvSpPr>
            <a:spLocks noChangeArrowheads="1"/>
          </p:cNvSpPr>
          <p:nvPr/>
        </p:nvSpPr>
        <p:spPr bwMode="auto">
          <a:xfrm>
            <a:off x="7137838" y="1856365"/>
            <a:ext cx="1190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4" name="Rectangle 33"/>
          <p:cNvSpPr>
            <a:spLocks noChangeArrowheads="1"/>
          </p:cNvSpPr>
          <p:nvPr/>
        </p:nvSpPr>
        <p:spPr bwMode="auto">
          <a:xfrm>
            <a:off x="9434950" y="2718377"/>
            <a:ext cx="1190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235" name="Group 36"/>
          <p:cNvGrpSpPr>
            <a:grpSpLocks/>
          </p:cNvGrpSpPr>
          <p:nvPr/>
        </p:nvGrpSpPr>
        <p:grpSpPr bwMode="auto">
          <a:xfrm>
            <a:off x="8507850" y="2718377"/>
            <a:ext cx="290513" cy="212725"/>
            <a:chOff x="3584" y="1428"/>
            <a:chExt cx="183" cy="134"/>
          </a:xfrm>
        </p:grpSpPr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3664" y="1428"/>
              <a:ext cx="10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.T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37" name="Rectangle 35"/>
            <p:cNvSpPr>
              <a:spLocks noChangeArrowheads="1"/>
            </p:cNvSpPr>
            <p:nvPr/>
          </p:nvSpPr>
          <p:spPr bwMode="auto">
            <a:xfrm>
              <a:off x="3584" y="1428"/>
              <a:ext cx="7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8" name="Group 95"/>
          <p:cNvGrpSpPr>
            <a:grpSpLocks/>
          </p:cNvGrpSpPr>
          <p:nvPr/>
        </p:nvGrpSpPr>
        <p:grpSpPr bwMode="auto">
          <a:xfrm>
            <a:off x="9587350" y="3505777"/>
            <a:ext cx="0" cy="2436813"/>
            <a:chOff x="4264" y="1924"/>
            <a:chExt cx="0" cy="1535"/>
          </a:xfrm>
        </p:grpSpPr>
        <p:sp>
          <p:nvSpPr>
            <p:cNvPr id="239" name="Line 73"/>
            <p:cNvSpPr>
              <a:spLocks noChangeShapeType="1"/>
            </p:cNvSpPr>
            <p:nvPr/>
          </p:nvSpPr>
          <p:spPr bwMode="auto">
            <a:xfrm>
              <a:off x="4264" y="1924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0" name="Line 74"/>
            <p:cNvSpPr>
              <a:spLocks noChangeShapeType="1"/>
            </p:cNvSpPr>
            <p:nvPr/>
          </p:nvSpPr>
          <p:spPr bwMode="auto">
            <a:xfrm>
              <a:off x="4264" y="1996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1" name="Line 75"/>
            <p:cNvSpPr>
              <a:spLocks noChangeShapeType="1"/>
            </p:cNvSpPr>
            <p:nvPr/>
          </p:nvSpPr>
          <p:spPr bwMode="auto">
            <a:xfrm>
              <a:off x="4264" y="2068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2" name="Line 76"/>
            <p:cNvSpPr>
              <a:spLocks noChangeShapeType="1"/>
            </p:cNvSpPr>
            <p:nvPr/>
          </p:nvSpPr>
          <p:spPr bwMode="auto">
            <a:xfrm>
              <a:off x="4264" y="2140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3" name="Line 77"/>
            <p:cNvSpPr>
              <a:spLocks noChangeShapeType="1"/>
            </p:cNvSpPr>
            <p:nvPr/>
          </p:nvSpPr>
          <p:spPr bwMode="auto">
            <a:xfrm>
              <a:off x="4264" y="2212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4" name="Line 78"/>
            <p:cNvSpPr>
              <a:spLocks noChangeShapeType="1"/>
            </p:cNvSpPr>
            <p:nvPr/>
          </p:nvSpPr>
          <p:spPr bwMode="auto">
            <a:xfrm>
              <a:off x="4264" y="2284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" name="Line 79"/>
            <p:cNvSpPr>
              <a:spLocks noChangeShapeType="1"/>
            </p:cNvSpPr>
            <p:nvPr/>
          </p:nvSpPr>
          <p:spPr bwMode="auto">
            <a:xfrm>
              <a:off x="4264" y="2356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6" name="Line 80"/>
            <p:cNvSpPr>
              <a:spLocks noChangeShapeType="1"/>
            </p:cNvSpPr>
            <p:nvPr/>
          </p:nvSpPr>
          <p:spPr bwMode="auto">
            <a:xfrm>
              <a:off x="4264" y="2428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7" name="Line 81"/>
            <p:cNvSpPr>
              <a:spLocks noChangeShapeType="1"/>
            </p:cNvSpPr>
            <p:nvPr/>
          </p:nvSpPr>
          <p:spPr bwMode="auto">
            <a:xfrm>
              <a:off x="4264" y="2500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8" name="Line 82"/>
            <p:cNvSpPr>
              <a:spLocks noChangeShapeType="1"/>
            </p:cNvSpPr>
            <p:nvPr/>
          </p:nvSpPr>
          <p:spPr bwMode="auto">
            <a:xfrm>
              <a:off x="4264" y="2572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9" name="Line 83"/>
            <p:cNvSpPr>
              <a:spLocks noChangeShapeType="1"/>
            </p:cNvSpPr>
            <p:nvPr/>
          </p:nvSpPr>
          <p:spPr bwMode="auto">
            <a:xfrm>
              <a:off x="4264" y="2644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0" name="Line 84"/>
            <p:cNvSpPr>
              <a:spLocks noChangeShapeType="1"/>
            </p:cNvSpPr>
            <p:nvPr/>
          </p:nvSpPr>
          <p:spPr bwMode="auto">
            <a:xfrm>
              <a:off x="4264" y="2716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1" name="Line 85"/>
            <p:cNvSpPr>
              <a:spLocks noChangeShapeType="1"/>
            </p:cNvSpPr>
            <p:nvPr/>
          </p:nvSpPr>
          <p:spPr bwMode="auto">
            <a:xfrm>
              <a:off x="4264" y="2787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2" name="Line 86"/>
            <p:cNvSpPr>
              <a:spLocks noChangeShapeType="1"/>
            </p:cNvSpPr>
            <p:nvPr/>
          </p:nvSpPr>
          <p:spPr bwMode="auto">
            <a:xfrm>
              <a:off x="4264" y="2859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3" name="Line 87"/>
            <p:cNvSpPr>
              <a:spLocks noChangeShapeType="1"/>
            </p:cNvSpPr>
            <p:nvPr/>
          </p:nvSpPr>
          <p:spPr bwMode="auto">
            <a:xfrm>
              <a:off x="4264" y="2931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4" name="Line 88"/>
            <p:cNvSpPr>
              <a:spLocks noChangeShapeType="1"/>
            </p:cNvSpPr>
            <p:nvPr/>
          </p:nvSpPr>
          <p:spPr bwMode="auto">
            <a:xfrm>
              <a:off x="4264" y="3003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5" name="Line 89"/>
            <p:cNvSpPr>
              <a:spLocks noChangeShapeType="1"/>
            </p:cNvSpPr>
            <p:nvPr/>
          </p:nvSpPr>
          <p:spPr bwMode="auto">
            <a:xfrm>
              <a:off x="4264" y="3075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6" name="Line 90"/>
            <p:cNvSpPr>
              <a:spLocks noChangeShapeType="1"/>
            </p:cNvSpPr>
            <p:nvPr/>
          </p:nvSpPr>
          <p:spPr bwMode="auto">
            <a:xfrm>
              <a:off x="4264" y="3147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7" name="Line 91"/>
            <p:cNvSpPr>
              <a:spLocks noChangeShapeType="1"/>
            </p:cNvSpPr>
            <p:nvPr/>
          </p:nvSpPr>
          <p:spPr bwMode="auto">
            <a:xfrm>
              <a:off x="4264" y="3219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8" name="Line 92"/>
            <p:cNvSpPr>
              <a:spLocks noChangeShapeType="1"/>
            </p:cNvSpPr>
            <p:nvPr/>
          </p:nvSpPr>
          <p:spPr bwMode="auto">
            <a:xfrm>
              <a:off x="4264" y="3291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9" name="Line 93"/>
            <p:cNvSpPr>
              <a:spLocks noChangeShapeType="1"/>
            </p:cNvSpPr>
            <p:nvPr/>
          </p:nvSpPr>
          <p:spPr bwMode="auto">
            <a:xfrm>
              <a:off x="4264" y="3363"/>
              <a:ext cx="0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0" name="Line 94"/>
            <p:cNvSpPr>
              <a:spLocks noChangeShapeType="1"/>
            </p:cNvSpPr>
            <p:nvPr/>
          </p:nvSpPr>
          <p:spPr bwMode="auto">
            <a:xfrm>
              <a:off x="4264" y="3435"/>
              <a:ext cx="0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61" name="Line 126"/>
          <p:cNvSpPr>
            <a:spLocks noChangeShapeType="1"/>
          </p:cNvSpPr>
          <p:nvPr/>
        </p:nvSpPr>
        <p:spPr bwMode="auto">
          <a:xfrm flipV="1">
            <a:off x="9574650" y="1970665"/>
            <a:ext cx="0" cy="14462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2" name="Line 127"/>
          <p:cNvSpPr>
            <a:spLocks noChangeShapeType="1"/>
          </p:cNvSpPr>
          <p:nvPr/>
        </p:nvSpPr>
        <p:spPr bwMode="auto">
          <a:xfrm>
            <a:off x="9574650" y="1970665"/>
            <a:ext cx="143351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3" name="Line 128"/>
          <p:cNvSpPr>
            <a:spLocks noChangeShapeType="1"/>
          </p:cNvSpPr>
          <p:nvPr/>
        </p:nvSpPr>
        <p:spPr bwMode="auto">
          <a:xfrm flipV="1">
            <a:off x="11008163" y="1970665"/>
            <a:ext cx="0" cy="144621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4" name="Rectangle 129"/>
          <p:cNvSpPr>
            <a:spLocks noChangeArrowheads="1"/>
          </p:cNvSpPr>
          <p:nvPr/>
        </p:nvSpPr>
        <p:spPr bwMode="auto">
          <a:xfrm>
            <a:off x="7112438" y="3213677"/>
            <a:ext cx="177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-E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65" name="Rectangle 130"/>
          <p:cNvSpPr>
            <a:spLocks noChangeArrowheads="1"/>
          </p:cNvSpPr>
          <p:nvPr/>
        </p:nvSpPr>
        <p:spPr bwMode="auto">
          <a:xfrm>
            <a:off x="8355450" y="5675890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Calibri (Corps)"/>
              </a:rPr>
              <a:t>T</a:t>
            </a:r>
            <a:endParaRPr lang="fr-FR" altLang="fr-FR" sz="1800">
              <a:latin typeface="Calibri (Corps)"/>
            </a:endParaRPr>
          </a:p>
        </p:txBody>
      </p:sp>
      <p:sp>
        <p:nvSpPr>
          <p:cNvPr id="266" name="Rectangle 131"/>
          <p:cNvSpPr>
            <a:spLocks noChangeArrowheads="1"/>
          </p:cNvSpPr>
          <p:nvPr/>
        </p:nvSpPr>
        <p:spPr bwMode="auto">
          <a:xfrm>
            <a:off x="8457050" y="5739390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4</a:t>
            </a:r>
            <a:endParaRPr lang="fr-FR" altLang="fr-FR" sz="1800">
              <a:latin typeface="Calibri (Corps)"/>
            </a:endParaRPr>
          </a:p>
        </p:txBody>
      </p:sp>
      <p:sp>
        <p:nvSpPr>
          <p:cNvPr id="267" name="Rectangle 132"/>
          <p:cNvSpPr>
            <a:spLocks noChangeArrowheads="1"/>
          </p:cNvSpPr>
          <p:nvPr/>
        </p:nvSpPr>
        <p:spPr bwMode="auto">
          <a:xfrm>
            <a:off x="9003150" y="5663190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Calibri (Corps)"/>
              </a:rPr>
              <a:t>D</a:t>
            </a:r>
            <a:endParaRPr lang="fr-FR" altLang="fr-FR" sz="1800">
              <a:latin typeface="Calibri (Corps)"/>
            </a:endParaRPr>
          </a:p>
        </p:txBody>
      </p:sp>
      <p:sp>
        <p:nvSpPr>
          <p:cNvPr id="268" name="Rectangle 133"/>
          <p:cNvSpPr>
            <a:spLocks noChangeArrowheads="1"/>
          </p:cNvSpPr>
          <p:nvPr/>
        </p:nvSpPr>
        <p:spPr bwMode="auto">
          <a:xfrm>
            <a:off x="9104750" y="5752090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3</a:t>
            </a:r>
            <a:endParaRPr lang="fr-FR" altLang="fr-FR" sz="1800">
              <a:latin typeface="Calibri (Corps)"/>
            </a:endParaRPr>
          </a:p>
        </p:txBody>
      </p:sp>
      <p:sp>
        <p:nvSpPr>
          <p:cNvPr id="269" name="Rectangle 134"/>
          <p:cNvSpPr>
            <a:spLocks noChangeArrowheads="1"/>
          </p:cNvSpPr>
          <p:nvPr/>
        </p:nvSpPr>
        <p:spPr bwMode="auto">
          <a:xfrm>
            <a:off x="9371450" y="5675890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Calibri (Corps)"/>
              </a:rPr>
              <a:t>T</a:t>
            </a:r>
            <a:endParaRPr lang="fr-FR" altLang="fr-FR" sz="1800">
              <a:latin typeface="Calibri (Corps)"/>
            </a:endParaRPr>
          </a:p>
        </p:txBody>
      </p:sp>
      <p:sp>
        <p:nvSpPr>
          <p:cNvPr id="270" name="Rectangle 135"/>
          <p:cNvSpPr>
            <a:spLocks noChangeArrowheads="1"/>
          </p:cNvSpPr>
          <p:nvPr/>
        </p:nvSpPr>
        <p:spPr bwMode="auto">
          <a:xfrm>
            <a:off x="9460350" y="5739390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3</a:t>
            </a:r>
            <a:endParaRPr lang="fr-FR" altLang="fr-FR" sz="1800">
              <a:latin typeface="Calibri (Corps)"/>
            </a:endParaRPr>
          </a:p>
        </p:txBody>
      </p:sp>
      <p:sp>
        <p:nvSpPr>
          <p:cNvPr id="271" name="Rectangle 136"/>
          <p:cNvSpPr>
            <a:spLocks noChangeArrowheads="1"/>
          </p:cNvSpPr>
          <p:nvPr/>
        </p:nvSpPr>
        <p:spPr bwMode="auto">
          <a:xfrm>
            <a:off x="7633138" y="5663190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Calibri (Corps)"/>
              </a:rPr>
              <a:t>D</a:t>
            </a:r>
            <a:endParaRPr lang="fr-FR" altLang="fr-FR" sz="1800">
              <a:latin typeface="Calibri (Corps)"/>
            </a:endParaRPr>
          </a:p>
        </p:txBody>
      </p:sp>
      <p:sp>
        <p:nvSpPr>
          <p:cNvPr id="272" name="Rectangle 137"/>
          <p:cNvSpPr>
            <a:spLocks noChangeArrowheads="1"/>
          </p:cNvSpPr>
          <p:nvPr/>
        </p:nvSpPr>
        <p:spPr bwMode="auto">
          <a:xfrm>
            <a:off x="7734738" y="5752090"/>
            <a:ext cx="70532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4</a:t>
            </a:r>
            <a:endParaRPr lang="fr-FR" altLang="fr-FR" sz="1800">
              <a:latin typeface="Calibri (Corps)"/>
            </a:endParaRPr>
          </a:p>
        </p:txBody>
      </p:sp>
      <p:cxnSp>
        <p:nvCxnSpPr>
          <p:cNvPr id="273" name="Connecteur droit 27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Oval 10"/>
          <p:cNvSpPr>
            <a:spLocks noChangeArrowheads="1"/>
          </p:cNvSpPr>
          <p:nvPr/>
        </p:nvSpPr>
        <p:spPr bwMode="auto">
          <a:xfrm>
            <a:off x="8253851" y="5320290"/>
            <a:ext cx="360363" cy="720725"/>
          </a:xfrm>
          <a:prstGeom prst="ellips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Calibri (Corps)"/>
            </a:endParaRPr>
          </a:p>
        </p:txBody>
      </p:sp>
      <p:sp>
        <p:nvSpPr>
          <p:cNvPr id="276" name="Oval 6"/>
          <p:cNvSpPr>
            <a:spLocks noChangeArrowheads="1"/>
          </p:cNvSpPr>
          <p:nvPr/>
        </p:nvSpPr>
        <p:spPr bwMode="auto">
          <a:xfrm>
            <a:off x="7534713" y="5320290"/>
            <a:ext cx="360363" cy="72072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Calibri (Corps)"/>
            </a:endParaRPr>
          </a:p>
        </p:txBody>
      </p:sp>
      <p:sp>
        <p:nvSpPr>
          <p:cNvPr id="277" name="Oval 13"/>
          <p:cNvSpPr>
            <a:spLocks noChangeArrowheads="1"/>
          </p:cNvSpPr>
          <p:nvPr/>
        </p:nvSpPr>
        <p:spPr bwMode="auto">
          <a:xfrm>
            <a:off x="8903138" y="5320290"/>
            <a:ext cx="358775" cy="720725"/>
          </a:xfrm>
          <a:prstGeom prst="ellips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Calibri (Corps)"/>
            </a:endParaRPr>
          </a:p>
        </p:txBody>
      </p:sp>
      <p:sp>
        <p:nvSpPr>
          <p:cNvPr id="278" name="Oval 15"/>
          <p:cNvSpPr>
            <a:spLocks noChangeArrowheads="1"/>
          </p:cNvSpPr>
          <p:nvPr/>
        </p:nvSpPr>
        <p:spPr bwMode="auto">
          <a:xfrm>
            <a:off x="9334938" y="5320290"/>
            <a:ext cx="287337" cy="720725"/>
          </a:xfrm>
          <a:prstGeom prst="ellips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Calibri (Corps)"/>
            </a:endParaRPr>
          </a:p>
        </p:txBody>
      </p:sp>
      <p:sp>
        <p:nvSpPr>
          <p:cNvPr id="279" name="ZoneTexte 278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4731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/>
      <p:bldP spid="143" grpId="1" animBg="1"/>
      <p:bldP spid="145" grpId="0" animBg="1"/>
      <p:bldP spid="145" grpId="1" animBg="1"/>
      <p:bldP spid="148" grpId="0" animBg="1"/>
      <p:bldP spid="148" grpId="1" animBg="1"/>
      <p:bldP spid="152" grpId="0" animBg="1"/>
      <p:bldP spid="152" grpId="1" animBg="1"/>
      <p:bldP spid="275" grpId="0" animBg="1"/>
      <p:bldP spid="275" grpId="1" animBg="1"/>
      <p:bldP spid="276" grpId="0" animBg="1"/>
      <p:bldP spid="276" grpId="1" animBg="1"/>
      <p:bldP spid="277" grpId="0" animBg="1"/>
      <p:bldP spid="277" grpId="1" animBg="1"/>
      <p:bldP spid="278" grpId="0" animBg="1"/>
      <p:bldP spid="278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34075" y="620209"/>
            <a:ext cx="8305507" cy="9730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</a:t>
            </a:r>
          </a:p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Synchronous complementary control (Average output voltage)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229822" y="4977823"/>
            <a:ext cx="4773613" cy="1368425"/>
            <a:chOff x="1202" y="2069"/>
            <a:chExt cx="3007" cy="862"/>
          </a:xfrm>
        </p:grpSpPr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1202" y="2069"/>
              <a:ext cx="363" cy="8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92 w 21600"/>
                <a:gd name="T13" fmla="*/ 5413 h 21600"/>
                <a:gd name="T14" fmla="*/ 18922 w 21600"/>
                <a:gd name="T15" fmla="*/ 162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1779" y="2218"/>
              <a:ext cx="243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400" b="1" i="1" dirty="0">
                  <a:latin typeface="Calibri (Corps)"/>
                </a:rPr>
                <a:t>High voltage ripple: 2.E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400" b="1" i="1" dirty="0">
                  <a:latin typeface="Calibri (Corps)"/>
                </a:rPr>
                <a:t>Low switching frequency</a:t>
              </a:r>
              <a:endParaRPr lang="fr-FR" altLang="fr-FR" sz="2400" b="1" i="1" dirty="0">
                <a:latin typeface="Calibri (Corps)"/>
              </a:endParaRPr>
            </a:p>
          </p:txBody>
        </p:sp>
      </p:grp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522" y="1593273"/>
            <a:ext cx="4592637" cy="1973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5511632" y="4188256"/>
                <a:ext cx="3284561" cy="4308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&gt; =</m:t>
                      </m:r>
                      <m:d>
                        <m:d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m:oMathPara>
                </a14:m>
                <a:endParaRPr lang="fr-FR" sz="2800" b="1" dirty="0">
                  <a:latin typeface="Verdana" panose="020B0604030504040204" pitchFamily="34" charset="0"/>
                  <a:ea typeface="Verdana" panose="020B060403050404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632" y="4188256"/>
                <a:ext cx="328456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eur droit 1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83893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34075" y="620209"/>
            <a:ext cx="547918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Output characteristics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7035404" y="1620693"/>
            <a:ext cx="0" cy="4392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H="1">
            <a:off x="4369991" y="3781281"/>
            <a:ext cx="5400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4514454" y="2052493"/>
            <a:ext cx="4895850" cy="0"/>
          </a:xfrm>
          <a:prstGeom prst="line">
            <a:avLst/>
          </a:prstGeom>
          <a:noFill/>
          <a:ln w="2222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4514454" y="2916093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4514454" y="3781281"/>
            <a:ext cx="4895850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514454" y="4644881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4514454" y="5508481"/>
            <a:ext cx="4895850" cy="0"/>
          </a:xfrm>
          <a:prstGeom prst="line">
            <a:avLst/>
          </a:prstGeom>
          <a:noFill/>
          <a:ln w="2222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4514454" y="2484293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4514454" y="3349481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4514454" y="4213081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4514454" y="5076681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8724504" y="1692131"/>
            <a:ext cx="685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9900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1800" b="1">
                <a:solidFill>
                  <a:srgbClr val="009900"/>
                </a:solidFill>
                <a:latin typeface="Times New Roman" panose="02020603050405020304" pitchFamily="18" charset="0"/>
              </a:rPr>
              <a:t> = 1</a:t>
            </a: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8724504" y="3420918"/>
            <a:ext cx="857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 = 0,5</a:t>
            </a: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8724504" y="5141768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33CC"/>
                </a:solidFill>
                <a:latin typeface="Symbol" panose="05050102010706020507" pitchFamily="18" charset="2"/>
              </a:rPr>
              <a:t>a</a:t>
            </a:r>
            <a:r>
              <a:rPr lang="fr-FR" altLang="fr-FR" sz="1800" b="1">
                <a:solidFill>
                  <a:srgbClr val="0033CC"/>
                </a:solidFill>
                <a:latin typeface="Times New Roman" panose="02020603050405020304" pitchFamily="18" charset="0"/>
              </a:rPr>
              <a:t> = 0</a:t>
            </a: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6654404" y="1569893"/>
            <a:ext cx="4333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9770666" y="3557443"/>
            <a:ext cx="357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24" name="Connecteur droit 2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25040501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742416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control of a DC motor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4614150" y="1713490"/>
            <a:ext cx="1368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4614150" y="3153352"/>
            <a:ext cx="1368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4253788" y="2361190"/>
            <a:ext cx="720725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V="1">
            <a:off x="4614150" y="1713490"/>
            <a:ext cx="0" cy="6477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4469688" y="2505652"/>
            <a:ext cx="288925" cy="0"/>
          </a:xfrm>
          <a:prstGeom prst="line">
            <a:avLst/>
          </a:prstGeom>
          <a:noFill/>
          <a:ln w="444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614150" y="2505652"/>
            <a:ext cx="0" cy="6477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5982575" y="1497590"/>
            <a:ext cx="1295400" cy="1871662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 flipH="1">
            <a:off x="5982575" y="1497590"/>
            <a:ext cx="1295400" cy="1871662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6846175" y="2792990"/>
            <a:ext cx="488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3600" b="1">
                <a:solidFill>
                  <a:srgbClr val="FF99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5982575" y="1424565"/>
            <a:ext cx="488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3600" b="1">
                <a:solidFill>
                  <a:srgbClr val="FF99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</a:t>
            </a: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7277975" y="1713490"/>
            <a:ext cx="1368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7277975" y="3153352"/>
            <a:ext cx="1368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Oval 15"/>
          <p:cNvSpPr>
            <a:spLocks noChangeArrowheads="1"/>
          </p:cNvSpPr>
          <p:nvPr/>
        </p:nvSpPr>
        <p:spPr bwMode="auto">
          <a:xfrm>
            <a:off x="8214600" y="2073852"/>
            <a:ext cx="863600" cy="8636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8574963" y="2000827"/>
            <a:ext cx="144462" cy="73025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8574963" y="2937452"/>
            <a:ext cx="144462" cy="73025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V="1">
            <a:off x="8646400" y="1713490"/>
            <a:ext cx="0" cy="360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 flipV="1">
            <a:off x="8646400" y="2937452"/>
            <a:ext cx="0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Text Box 20"/>
          <p:cNvSpPr txBox="1">
            <a:spLocks noChangeArrowheads="1"/>
          </p:cNvSpPr>
          <p:nvPr/>
        </p:nvSpPr>
        <p:spPr bwMode="auto">
          <a:xfrm>
            <a:off x="3047736" y="2866015"/>
            <a:ext cx="13516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009900"/>
                </a:solidFill>
                <a:latin typeface="Calibri (Corps)"/>
              </a:rPr>
              <a:t>Reversible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009900"/>
                </a:solidFill>
                <a:latin typeface="Calibri (Corps)"/>
              </a:rPr>
              <a:t>source</a:t>
            </a: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6034730" y="3729615"/>
            <a:ext cx="14927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F9900"/>
                </a:solidFill>
                <a:latin typeface="Calibri (Corps)"/>
              </a:rPr>
              <a:t>4 quadrants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F9900"/>
                </a:solidFill>
                <a:latin typeface="Calibri (Corps)"/>
              </a:rPr>
              <a:t>chopper</a:t>
            </a:r>
          </a:p>
        </p:txBody>
      </p:sp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8274925" y="3512127"/>
            <a:ext cx="12234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Calibri (Corps)"/>
              </a:rPr>
              <a:t>DC Motor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8719425" y="4018540"/>
            <a:ext cx="2069797" cy="64633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 dirty="0">
                <a:latin typeface="Calibri (Corps)"/>
              </a:rPr>
              <a:t>V</a:t>
            </a:r>
            <a:r>
              <a:rPr lang="en-US" altLang="fr-FR" sz="1800" b="1" baseline="-25000" dirty="0">
                <a:latin typeface="Calibri (Corps)"/>
              </a:rPr>
              <a:t>S</a:t>
            </a:r>
            <a:r>
              <a:rPr lang="en-US" altLang="fr-FR" sz="1800" b="1" dirty="0">
                <a:latin typeface="Calibri (Corps)"/>
              </a:rPr>
              <a:t> : e.m.f.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 dirty="0">
                <a:latin typeface="Calibri (Corps)"/>
              </a:rPr>
              <a:t>I</a:t>
            </a:r>
            <a:r>
              <a:rPr lang="en-US" altLang="fr-FR" sz="1800" b="1" baseline="-25000" dirty="0">
                <a:latin typeface="Calibri (Corps)"/>
              </a:rPr>
              <a:t>S</a:t>
            </a:r>
            <a:r>
              <a:rPr lang="en-US" altLang="fr-FR" sz="1800" b="1" dirty="0">
                <a:latin typeface="Calibri (Corps)"/>
              </a:rPr>
              <a:t> : motor current</a:t>
            </a:r>
          </a:p>
        </p:txBody>
      </p:sp>
      <p:sp>
        <p:nvSpPr>
          <p:cNvPr id="29" name="AutoShape 24"/>
          <p:cNvSpPr>
            <a:spLocks noChangeArrowheads="1"/>
          </p:cNvSpPr>
          <p:nvPr/>
        </p:nvSpPr>
        <p:spPr bwMode="auto">
          <a:xfrm>
            <a:off x="5106275" y="4736090"/>
            <a:ext cx="3384550" cy="649287"/>
          </a:xfrm>
          <a:prstGeom prst="rightArrow">
            <a:avLst>
              <a:gd name="adj1" fmla="val 50000"/>
              <a:gd name="adj2" fmla="val 130318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Calibri (Corps)"/>
              </a:rPr>
              <a:t>Motor</a:t>
            </a:r>
          </a:p>
        </p:txBody>
      </p:sp>
      <p:sp>
        <p:nvSpPr>
          <p:cNvPr id="30" name="AutoShape 25"/>
          <p:cNvSpPr>
            <a:spLocks noChangeArrowheads="1"/>
          </p:cNvSpPr>
          <p:nvPr/>
        </p:nvSpPr>
        <p:spPr bwMode="auto">
          <a:xfrm flipH="1">
            <a:off x="5034838" y="5528252"/>
            <a:ext cx="3384550" cy="649288"/>
          </a:xfrm>
          <a:prstGeom prst="rightArrow">
            <a:avLst>
              <a:gd name="adj1" fmla="val 50000"/>
              <a:gd name="adj2" fmla="val 130318"/>
            </a:avLst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Calibri (Corps)"/>
              </a:rPr>
              <a:t>Generator</a:t>
            </a: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3482263" y="5154396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 dirty="0">
                <a:latin typeface="Calibri (Corps)"/>
              </a:rPr>
              <a:t>Power</a:t>
            </a:r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 flipV="1">
            <a:off x="8706725" y="2072265"/>
            <a:ext cx="129698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Oval 28"/>
          <p:cNvSpPr>
            <a:spLocks noChangeArrowheads="1"/>
          </p:cNvSpPr>
          <p:nvPr/>
        </p:nvSpPr>
        <p:spPr bwMode="auto">
          <a:xfrm>
            <a:off x="9714788" y="1783340"/>
            <a:ext cx="576262" cy="5762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9714788" y="2359602"/>
            <a:ext cx="7360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Calibri (Corps)"/>
              </a:rPr>
              <a:t>Load</a:t>
            </a:r>
          </a:p>
        </p:txBody>
      </p:sp>
      <p:cxnSp>
        <p:nvCxnSpPr>
          <p:cNvPr id="35" name="Connecteur droit 3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406096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17438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working cycle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5323611" y="2904302"/>
            <a:ext cx="5627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848111" y="2564577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5468074" y="1104077"/>
            <a:ext cx="11112" cy="302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V="1">
            <a:off x="5468074" y="1896240"/>
            <a:ext cx="504825" cy="10080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5972899" y="1896240"/>
            <a:ext cx="15113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7484199" y="1896240"/>
            <a:ext cx="360362" cy="100806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7844561" y="2904302"/>
            <a:ext cx="4318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8276360" y="2904302"/>
            <a:ext cx="437439" cy="888029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V="1">
            <a:off x="9788059" y="2904302"/>
            <a:ext cx="504428" cy="888029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5508770" y="904052"/>
            <a:ext cx="360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Symbol" panose="05050102010706020507" pitchFamily="18" charset="2"/>
              </a:rPr>
              <a:t>W</a:t>
            </a: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5972899" y="1607315"/>
            <a:ext cx="0" cy="43227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7484199" y="1607315"/>
            <a:ext cx="0" cy="43227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6342786" y="2329627"/>
            <a:ext cx="719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 &gt; 0</a:t>
            </a: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7855674" y="1608902"/>
            <a:ext cx="0" cy="43227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21"/>
          <p:cNvSpPr>
            <a:spLocks noChangeShapeType="1"/>
          </p:cNvSpPr>
          <p:nvPr/>
        </p:nvSpPr>
        <p:spPr bwMode="auto">
          <a:xfrm>
            <a:off x="8287474" y="1610490"/>
            <a:ext cx="0" cy="43227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AutoShape 23"/>
          <p:cNvSpPr>
            <a:spLocks/>
          </p:cNvSpPr>
          <p:nvPr/>
        </p:nvSpPr>
        <p:spPr bwMode="auto">
          <a:xfrm>
            <a:off x="6445393" y="1227901"/>
            <a:ext cx="1789112" cy="360363"/>
          </a:xfrm>
          <a:prstGeom prst="borderCallout1">
            <a:avLst>
              <a:gd name="adj1" fmla="val 58150"/>
              <a:gd name="adj2" fmla="val -1287"/>
              <a:gd name="adj3" fmla="val 184581"/>
              <a:gd name="adj4" fmla="val -14950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Constant speed</a:t>
            </a:r>
          </a:p>
        </p:txBody>
      </p:sp>
      <p:sp>
        <p:nvSpPr>
          <p:cNvPr id="32" name="AutoShape 27"/>
          <p:cNvSpPr>
            <a:spLocks/>
          </p:cNvSpPr>
          <p:nvPr/>
        </p:nvSpPr>
        <p:spPr bwMode="auto">
          <a:xfrm>
            <a:off x="8514851" y="1285050"/>
            <a:ext cx="1222375" cy="360363"/>
          </a:xfrm>
          <a:prstGeom prst="borderCallout1">
            <a:avLst>
              <a:gd name="adj1" fmla="val 55507"/>
              <a:gd name="adj2" fmla="val -3164"/>
              <a:gd name="adj3" fmla="val 290749"/>
              <a:gd name="adj4" fmla="val -71339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 err="1">
                <a:latin typeface="Calibri (Corps)"/>
              </a:rPr>
              <a:t>Breaking</a:t>
            </a:r>
            <a:endParaRPr lang="fr-FR" altLang="fr-FR" sz="1800" dirty="0">
              <a:latin typeface="Calibri (Corps)"/>
            </a:endParaRPr>
          </a:p>
        </p:txBody>
      </p:sp>
      <p:sp>
        <p:nvSpPr>
          <p:cNvPr id="36" name="AutoShape 31"/>
          <p:cNvSpPr>
            <a:spLocks/>
          </p:cNvSpPr>
          <p:nvPr/>
        </p:nvSpPr>
        <p:spPr bwMode="auto">
          <a:xfrm>
            <a:off x="8683555" y="2052668"/>
            <a:ext cx="1152525" cy="360362"/>
          </a:xfrm>
          <a:prstGeom prst="borderCallout1">
            <a:avLst>
              <a:gd name="adj1" fmla="val 55507"/>
              <a:gd name="adj2" fmla="val 827"/>
              <a:gd name="adj3" fmla="val 240970"/>
              <a:gd name="adj4" fmla="val -55276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Calibri (Corps)"/>
              </a:rPr>
              <a:t>Stop</a:t>
            </a:r>
          </a:p>
        </p:txBody>
      </p:sp>
      <p:sp>
        <p:nvSpPr>
          <p:cNvPr id="40" name="AutoShape 35"/>
          <p:cNvSpPr>
            <a:spLocks/>
          </p:cNvSpPr>
          <p:nvPr/>
        </p:nvSpPr>
        <p:spPr bwMode="auto">
          <a:xfrm>
            <a:off x="3607524" y="1897830"/>
            <a:ext cx="1497013" cy="360363"/>
          </a:xfrm>
          <a:prstGeom prst="borderCallout1">
            <a:avLst>
              <a:gd name="adj1" fmla="val 31718"/>
              <a:gd name="adj2" fmla="val 105088"/>
              <a:gd name="adj3" fmla="val 199120"/>
              <a:gd name="adj4" fmla="val 133935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 err="1">
                <a:latin typeface="Calibri (Corps)"/>
              </a:rPr>
              <a:t>Acceleration</a:t>
            </a:r>
            <a:endParaRPr lang="fr-FR" altLang="fr-FR" sz="1800" dirty="0">
              <a:latin typeface="Calibri (Corps)"/>
            </a:endParaRPr>
          </a:p>
        </p:txBody>
      </p:sp>
      <p:sp>
        <p:nvSpPr>
          <p:cNvPr id="44" name="Line 39"/>
          <p:cNvSpPr>
            <a:spLocks noChangeShapeType="1"/>
          </p:cNvSpPr>
          <p:nvPr/>
        </p:nvSpPr>
        <p:spPr bwMode="auto">
          <a:xfrm>
            <a:off x="8719274" y="1608902"/>
            <a:ext cx="0" cy="43227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Line 40"/>
          <p:cNvSpPr>
            <a:spLocks noChangeShapeType="1"/>
          </p:cNvSpPr>
          <p:nvPr/>
        </p:nvSpPr>
        <p:spPr bwMode="auto">
          <a:xfrm>
            <a:off x="9800361" y="1607315"/>
            <a:ext cx="0" cy="43227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Line 41"/>
          <p:cNvSpPr>
            <a:spLocks noChangeShapeType="1"/>
          </p:cNvSpPr>
          <p:nvPr/>
        </p:nvSpPr>
        <p:spPr bwMode="auto">
          <a:xfrm>
            <a:off x="10303599" y="1605727"/>
            <a:ext cx="0" cy="43227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Line 51"/>
          <p:cNvSpPr>
            <a:spLocks noChangeShapeType="1"/>
          </p:cNvSpPr>
          <p:nvPr/>
        </p:nvSpPr>
        <p:spPr bwMode="auto">
          <a:xfrm>
            <a:off x="10303599" y="2904302"/>
            <a:ext cx="4318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089807"/>
              </p:ext>
            </p:extLst>
          </p:nvPr>
        </p:nvGraphicFramePr>
        <p:xfrm>
          <a:off x="3304927" y="3188302"/>
          <a:ext cx="194468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614" imgH="342751" progId="Equation.3">
                  <p:embed/>
                </p:oleObj>
              </mc:Choice>
              <mc:Fallback>
                <p:oleObj name="Equation" r:id="rId2" imgW="888614" imgH="342751" progId="Equation.3">
                  <p:embed/>
                  <p:pic>
                    <p:nvPicPr>
                      <p:cNvPr id="57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4927" y="3188302"/>
                        <a:ext cx="194468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54"/>
          <p:cNvSpPr txBox="1">
            <a:spLocks noChangeArrowheads="1"/>
          </p:cNvSpPr>
          <p:nvPr/>
        </p:nvSpPr>
        <p:spPr bwMode="auto">
          <a:xfrm>
            <a:off x="3661937" y="3953477"/>
            <a:ext cx="11528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Calibri (Corps)"/>
              </a:rPr>
              <a:t>Friction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Calibri (Corps)"/>
              </a:rPr>
              <a:t>C</a:t>
            </a:r>
            <a:r>
              <a:rPr lang="fr-FR" altLang="fr-FR" sz="1800" b="1" baseline="-25000">
                <a:latin typeface="Calibri (Corps)"/>
              </a:rPr>
              <a:t>ch</a:t>
            </a:r>
            <a:r>
              <a:rPr lang="fr-FR" altLang="fr-FR" sz="1800" b="1">
                <a:latin typeface="Calibri (Corps)"/>
              </a:rPr>
              <a:t> = f.W</a:t>
            </a:r>
          </a:p>
        </p:txBody>
      </p:sp>
      <p:cxnSp>
        <p:nvCxnSpPr>
          <p:cNvPr id="59" name="Connecteur droit 5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67" name="Line 18">
            <a:extLst>
              <a:ext uri="{FF2B5EF4-FFF2-40B4-BE49-F238E27FC236}">
                <a16:creationId xmlns:a16="http://schemas.microsoft.com/office/drawing/2014/main" id="{F231C9F2-2952-9A8C-1516-9BAADB12B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5060" y="4938185"/>
            <a:ext cx="0" cy="176256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8" name="Line 19">
            <a:extLst>
              <a:ext uri="{FF2B5EF4-FFF2-40B4-BE49-F238E27FC236}">
                <a16:creationId xmlns:a16="http://schemas.microsoft.com/office/drawing/2014/main" id="{7AD42900-5308-45D6-E31C-4DD48F4440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5835" y="5946247"/>
            <a:ext cx="55451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8706970" y="3792335"/>
            <a:ext cx="108108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8933983" y="3165272"/>
            <a:ext cx="719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fr-FR" altLang="fr-FR" sz="1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&lt; 0</a:t>
            </a: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5483949" y="3302533"/>
            <a:ext cx="6350" cy="1873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 flipH="1">
            <a:off x="5334724" y="4310595"/>
            <a:ext cx="55451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47" name="Group 42"/>
          <p:cNvGrpSpPr>
            <a:grpSpLocks/>
          </p:cNvGrpSpPr>
          <p:nvPr/>
        </p:nvGrpSpPr>
        <p:grpSpPr bwMode="auto">
          <a:xfrm>
            <a:off x="8287474" y="3734333"/>
            <a:ext cx="2447925" cy="1439862"/>
            <a:chOff x="3379" y="2931"/>
            <a:chExt cx="1542" cy="907"/>
          </a:xfrm>
        </p:grpSpPr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3379" y="3838"/>
              <a:ext cx="272" cy="0"/>
            </a:xfrm>
            <a:prstGeom prst="line">
              <a:avLst/>
            </a:prstGeom>
            <a:noFill/>
            <a:ln w="222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3651" y="3385"/>
              <a:ext cx="0" cy="453"/>
            </a:xfrm>
            <a:prstGeom prst="line">
              <a:avLst/>
            </a:prstGeom>
            <a:noFill/>
            <a:ln w="222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3651" y="3385"/>
              <a:ext cx="681" cy="0"/>
            </a:xfrm>
            <a:prstGeom prst="line">
              <a:avLst/>
            </a:prstGeom>
            <a:noFill/>
            <a:ln w="222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>
              <a:off x="4332" y="2931"/>
              <a:ext cx="0" cy="453"/>
            </a:xfrm>
            <a:prstGeom prst="line">
              <a:avLst/>
            </a:prstGeom>
            <a:noFill/>
            <a:ln w="222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4332" y="2931"/>
              <a:ext cx="317" cy="0"/>
            </a:xfrm>
            <a:prstGeom prst="line">
              <a:avLst/>
            </a:prstGeom>
            <a:noFill/>
            <a:ln w="222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4649" y="2931"/>
              <a:ext cx="0" cy="362"/>
            </a:xfrm>
            <a:prstGeom prst="line">
              <a:avLst/>
            </a:prstGeom>
            <a:noFill/>
            <a:ln w="222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4649" y="3294"/>
              <a:ext cx="272" cy="0"/>
            </a:xfrm>
            <a:prstGeom prst="line">
              <a:avLst/>
            </a:prstGeom>
            <a:noFill/>
            <a:ln w="2222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Line 24"/>
          <p:cNvSpPr>
            <a:spLocks noChangeShapeType="1"/>
          </p:cNvSpPr>
          <p:nvPr/>
        </p:nvSpPr>
        <p:spPr bwMode="auto">
          <a:xfrm>
            <a:off x="5982424" y="4166133"/>
            <a:ext cx="1512887" cy="0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dirty="0">
              <a:latin typeface="Calibri (Corps)"/>
            </a:endParaRPr>
          </a:p>
        </p:txBody>
      </p:sp>
      <p:sp>
        <p:nvSpPr>
          <p:cNvPr id="3" name="Line 25"/>
          <p:cNvSpPr>
            <a:spLocks noChangeShapeType="1"/>
          </p:cNvSpPr>
          <p:nvPr/>
        </p:nvSpPr>
        <p:spPr bwMode="auto">
          <a:xfrm>
            <a:off x="5982424" y="3446996"/>
            <a:ext cx="0" cy="719138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4" name="Line 28"/>
          <p:cNvSpPr>
            <a:spLocks noChangeShapeType="1"/>
          </p:cNvSpPr>
          <p:nvPr/>
        </p:nvSpPr>
        <p:spPr bwMode="auto">
          <a:xfrm>
            <a:off x="7495311" y="4166133"/>
            <a:ext cx="0" cy="719138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60" name="Line 29"/>
          <p:cNvSpPr>
            <a:spLocks noChangeShapeType="1"/>
          </p:cNvSpPr>
          <p:nvPr/>
        </p:nvSpPr>
        <p:spPr bwMode="auto">
          <a:xfrm>
            <a:off x="7495311" y="4886858"/>
            <a:ext cx="360363" cy="0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62" name="Line 32"/>
          <p:cNvSpPr>
            <a:spLocks noChangeShapeType="1"/>
          </p:cNvSpPr>
          <p:nvPr/>
        </p:nvSpPr>
        <p:spPr bwMode="auto">
          <a:xfrm>
            <a:off x="7855674" y="4310595"/>
            <a:ext cx="0" cy="574675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63" name="Line 33"/>
          <p:cNvSpPr>
            <a:spLocks noChangeShapeType="1"/>
          </p:cNvSpPr>
          <p:nvPr/>
        </p:nvSpPr>
        <p:spPr bwMode="auto">
          <a:xfrm>
            <a:off x="7855674" y="4310595"/>
            <a:ext cx="431800" cy="0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64" name="Line 43"/>
          <p:cNvSpPr>
            <a:spLocks noChangeShapeType="1"/>
          </p:cNvSpPr>
          <p:nvPr/>
        </p:nvSpPr>
        <p:spPr bwMode="auto">
          <a:xfrm>
            <a:off x="8287474" y="4310595"/>
            <a:ext cx="0" cy="863600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Line 37"/>
          <p:cNvSpPr>
            <a:spLocks noChangeShapeType="1"/>
          </p:cNvSpPr>
          <p:nvPr/>
        </p:nvSpPr>
        <p:spPr bwMode="auto">
          <a:xfrm>
            <a:off x="5479187" y="3446995"/>
            <a:ext cx="503238" cy="0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66" name="Line 38"/>
          <p:cNvSpPr>
            <a:spLocks noChangeShapeType="1"/>
          </p:cNvSpPr>
          <p:nvPr/>
        </p:nvSpPr>
        <p:spPr bwMode="auto">
          <a:xfrm>
            <a:off x="5479187" y="3446995"/>
            <a:ext cx="0" cy="863600"/>
          </a:xfrm>
          <a:prstGeom prst="line">
            <a:avLst/>
          </a:prstGeom>
          <a:noFill/>
          <a:ln w="22225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69" name="Text Box 13">
            <a:extLst>
              <a:ext uri="{FF2B5EF4-FFF2-40B4-BE49-F238E27FC236}">
                <a16:creationId xmlns:a16="http://schemas.microsoft.com/office/drawing/2014/main" id="{E9ED3045-66F7-E12A-A153-A389B739A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0298" y="3079488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+mn-lt"/>
              </a:rPr>
              <a:t>C</a:t>
            </a:r>
          </a:p>
        </p:txBody>
      </p:sp>
      <p:sp>
        <p:nvSpPr>
          <p:cNvPr id="70" name="Text Box 13">
            <a:extLst>
              <a:ext uri="{FF2B5EF4-FFF2-40B4-BE49-F238E27FC236}">
                <a16:creationId xmlns:a16="http://schemas.microsoft.com/office/drawing/2014/main" id="{F6ED52BD-330B-E21F-1278-B7A158E0C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591" y="4821033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+mn-lt"/>
              </a:rPr>
              <a:t>P</a:t>
            </a:r>
          </a:p>
        </p:txBody>
      </p:sp>
      <p:sp>
        <p:nvSpPr>
          <p:cNvPr id="71" name="Line 6">
            <a:extLst>
              <a:ext uri="{FF2B5EF4-FFF2-40B4-BE49-F238E27FC236}">
                <a16:creationId xmlns:a16="http://schemas.microsoft.com/office/drawing/2014/main" id="{C4150C63-F7DD-A8EA-AE90-93F5A89A47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7600" y="5198294"/>
            <a:ext cx="493714" cy="740619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2" name="Line 7">
            <a:extLst>
              <a:ext uri="{FF2B5EF4-FFF2-40B4-BE49-F238E27FC236}">
                <a16:creationId xmlns:a16="http://schemas.microsoft.com/office/drawing/2014/main" id="{03148F8C-C60B-2D1D-F9B7-C538FED76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899" y="5785672"/>
            <a:ext cx="15113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3" name="Line 6">
            <a:extLst>
              <a:ext uri="{FF2B5EF4-FFF2-40B4-BE49-F238E27FC236}">
                <a16:creationId xmlns:a16="http://schemas.microsoft.com/office/drawing/2014/main" id="{DCBFC2C3-CED7-D7B6-5867-725EF20735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81024" y="5946246"/>
            <a:ext cx="383780" cy="80168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4" name="Line 9">
            <a:extLst>
              <a:ext uri="{FF2B5EF4-FFF2-40B4-BE49-F238E27FC236}">
                <a16:creationId xmlns:a16="http://schemas.microsoft.com/office/drawing/2014/main" id="{C963F785-01DE-0F95-C57E-01B31241B6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3932" y="5946247"/>
            <a:ext cx="402429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5" name="Line 7">
            <a:extLst>
              <a:ext uri="{FF2B5EF4-FFF2-40B4-BE49-F238E27FC236}">
                <a16:creationId xmlns:a16="http://schemas.microsoft.com/office/drawing/2014/main" id="{089A3104-2738-B45F-4462-736F5A88BF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75279" y="5198293"/>
            <a:ext cx="796" cy="58004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6" name="Line 7">
            <a:extLst>
              <a:ext uri="{FF2B5EF4-FFF2-40B4-BE49-F238E27FC236}">
                <a16:creationId xmlns:a16="http://schemas.microsoft.com/office/drawing/2014/main" id="{BD216A2B-1F99-9A62-D36C-CD859CF1F3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78642" y="5778333"/>
            <a:ext cx="0" cy="969594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" name="Line 6">
            <a:extLst>
              <a:ext uri="{FF2B5EF4-FFF2-40B4-BE49-F238E27FC236}">
                <a16:creationId xmlns:a16="http://schemas.microsoft.com/office/drawing/2014/main" id="{4DF4491F-C049-A9EA-0F41-2F0C6680B1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0948" y="5233458"/>
            <a:ext cx="431799" cy="7127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Line 7">
            <a:extLst>
              <a:ext uri="{FF2B5EF4-FFF2-40B4-BE49-F238E27FC236}">
                <a16:creationId xmlns:a16="http://schemas.microsoft.com/office/drawing/2014/main" id="{2712AE84-2615-ABFC-CD4D-F305B97FD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8877" y="5815494"/>
            <a:ext cx="107553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0" name="Line 7">
            <a:extLst>
              <a:ext uri="{FF2B5EF4-FFF2-40B4-BE49-F238E27FC236}">
                <a16:creationId xmlns:a16="http://schemas.microsoft.com/office/drawing/2014/main" id="{E0929FC3-227D-5D60-3B1F-ADC02A1D36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721257" y="5228115"/>
            <a:ext cx="796" cy="58004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1" name="Line 6">
            <a:extLst>
              <a:ext uri="{FF2B5EF4-FFF2-40B4-BE49-F238E27FC236}">
                <a16:creationId xmlns:a16="http://schemas.microsoft.com/office/drawing/2014/main" id="{591E8DA7-8091-DEE0-8227-CB84DECA7B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08215" y="5953582"/>
            <a:ext cx="506497" cy="807546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" name="Line 7">
            <a:extLst>
              <a:ext uri="{FF2B5EF4-FFF2-40B4-BE49-F238E27FC236}">
                <a16:creationId xmlns:a16="http://schemas.microsoft.com/office/drawing/2014/main" id="{E0EA680C-76AD-F08D-8498-3092092859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805834" y="5791534"/>
            <a:ext cx="0" cy="969594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3" name="Line 9">
            <a:extLst>
              <a:ext uri="{FF2B5EF4-FFF2-40B4-BE49-F238E27FC236}">
                <a16:creationId xmlns:a16="http://schemas.microsoft.com/office/drawing/2014/main" id="{B584BCC1-72E4-4734-1F70-5ED421E44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03599" y="5938913"/>
            <a:ext cx="402429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2086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68947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Operating point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7166408" y="1559244"/>
            <a:ext cx="0" cy="4392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H="1">
            <a:off x="4500995" y="3719832"/>
            <a:ext cx="5400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4645458" y="1991044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4645458" y="2854644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4645458" y="3719832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645458" y="4583432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4645458" y="5447032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4645458" y="2422844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4645458" y="3288032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4645458" y="4151632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6785408" y="1508444"/>
            <a:ext cx="4333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9901670" y="3640457"/>
            <a:ext cx="357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6517120" y="1343344"/>
            <a:ext cx="360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9857220" y="3359469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fr-FR" sz="1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7937933" y="1148082"/>
            <a:ext cx="7360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 err="1">
                <a:solidFill>
                  <a:srgbClr val="009900"/>
                </a:solidFill>
                <a:latin typeface="Calibri (Corps)"/>
              </a:rPr>
              <a:t>Load</a:t>
            </a:r>
            <a:endParaRPr lang="fr-FR" altLang="fr-FR" sz="1800" b="1" i="1" dirty="0">
              <a:solidFill>
                <a:srgbClr val="009900"/>
              </a:solidFill>
              <a:latin typeface="Calibri (Corps)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H="1">
            <a:off x="6445683" y="1632269"/>
            <a:ext cx="1295400" cy="4535488"/>
          </a:xfrm>
          <a:prstGeom prst="line">
            <a:avLst/>
          </a:prstGeom>
          <a:noFill/>
          <a:ln w="22225">
            <a:solidFill>
              <a:srgbClr val="3399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>
            <a:off x="4645458" y="5015232"/>
            <a:ext cx="48958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7164820" y="2422844"/>
            <a:ext cx="4143376" cy="1296988"/>
            <a:chOff x="2698" y="1434"/>
            <a:chExt cx="2610" cy="817"/>
          </a:xfrm>
        </p:grpSpPr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2698" y="2251"/>
              <a:ext cx="1452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4150" y="1434"/>
              <a:ext cx="0" cy="81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4150" y="1661"/>
              <a:ext cx="0" cy="27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4319" y="1674"/>
              <a:ext cx="9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Calibri (Corps)"/>
                </a:rPr>
                <a:t>Accelération</a:t>
              </a: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H="1" flipV="1">
              <a:off x="3334" y="2251"/>
              <a:ext cx="27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31" name="Group 26"/>
          <p:cNvGrpSpPr>
            <a:grpSpLocks/>
          </p:cNvGrpSpPr>
          <p:nvPr/>
        </p:nvGrpSpPr>
        <p:grpSpPr bwMode="auto">
          <a:xfrm>
            <a:off x="4861358" y="4870769"/>
            <a:ext cx="2087562" cy="287338"/>
            <a:chOff x="1247" y="2976"/>
            <a:chExt cx="1315" cy="181"/>
          </a:xfrm>
        </p:grpSpPr>
        <p:sp>
          <p:nvSpPr>
            <p:cNvPr id="32" name="Oval 27"/>
            <p:cNvSpPr>
              <a:spLocks noChangeArrowheads="1"/>
            </p:cNvSpPr>
            <p:nvPr/>
          </p:nvSpPr>
          <p:spPr bwMode="auto">
            <a:xfrm>
              <a:off x="2381" y="2976"/>
              <a:ext cx="181" cy="181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H="1" flipV="1">
              <a:off x="1247" y="3067"/>
              <a:ext cx="1225" cy="1"/>
            </a:xfrm>
            <a:prstGeom prst="line">
              <a:avLst/>
            </a:prstGeom>
            <a:noFill/>
            <a:ln w="57150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 flipH="1">
              <a:off x="1610" y="3067"/>
              <a:ext cx="136" cy="0"/>
            </a:xfrm>
            <a:prstGeom prst="line">
              <a:avLst/>
            </a:prstGeom>
            <a:noFill/>
            <a:ln w="57150">
              <a:solidFill>
                <a:srgbClr val="0033CC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5" name="Group 30"/>
          <p:cNvGrpSpPr>
            <a:grpSpLocks/>
          </p:cNvGrpSpPr>
          <p:nvPr/>
        </p:nvGrpSpPr>
        <p:grpSpPr bwMode="auto">
          <a:xfrm>
            <a:off x="7382307" y="1991044"/>
            <a:ext cx="2308224" cy="576263"/>
            <a:chOff x="2835" y="1162"/>
            <a:chExt cx="1454" cy="363"/>
          </a:xfrm>
        </p:grpSpPr>
        <p:sp>
          <p:nvSpPr>
            <p:cNvPr id="36" name="Line 31"/>
            <p:cNvSpPr>
              <a:spLocks noChangeShapeType="1"/>
            </p:cNvSpPr>
            <p:nvPr/>
          </p:nvSpPr>
          <p:spPr bwMode="auto">
            <a:xfrm flipH="1" flipV="1">
              <a:off x="2925" y="1434"/>
              <a:ext cx="1225" cy="1"/>
            </a:xfrm>
            <a:prstGeom prst="line">
              <a:avLst/>
            </a:prstGeom>
            <a:noFill/>
            <a:ln w="57150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3424" y="1434"/>
              <a:ext cx="363" cy="0"/>
            </a:xfrm>
            <a:prstGeom prst="line">
              <a:avLst/>
            </a:prstGeom>
            <a:noFill/>
            <a:ln w="57150">
              <a:solidFill>
                <a:srgbClr val="0033CC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8" name="Oval 33"/>
            <p:cNvSpPr>
              <a:spLocks noChangeArrowheads="1"/>
            </p:cNvSpPr>
            <p:nvPr/>
          </p:nvSpPr>
          <p:spPr bwMode="auto">
            <a:xfrm>
              <a:off x="2835" y="1344"/>
              <a:ext cx="181" cy="181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39" name="Text Box 34"/>
            <p:cNvSpPr txBox="1">
              <a:spLocks noChangeArrowheads="1"/>
            </p:cNvSpPr>
            <p:nvPr/>
          </p:nvSpPr>
          <p:spPr bwMode="auto">
            <a:xfrm>
              <a:off x="3082" y="1162"/>
              <a:ext cx="12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33CC"/>
                  </a:solidFill>
                  <a:latin typeface="Calibri (Corps)"/>
                </a:rPr>
                <a:t>Constant speed</a:t>
              </a:r>
            </a:p>
          </p:txBody>
        </p:sp>
      </p:grpSp>
      <p:grpSp>
        <p:nvGrpSpPr>
          <p:cNvPr id="40" name="Group 35"/>
          <p:cNvGrpSpPr>
            <a:grpSpLocks/>
          </p:cNvGrpSpPr>
          <p:nvPr/>
        </p:nvGrpSpPr>
        <p:grpSpPr bwMode="auto">
          <a:xfrm>
            <a:off x="6806046" y="3719832"/>
            <a:ext cx="3579813" cy="1296987"/>
            <a:chOff x="2472" y="2341"/>
            <a:chExt cx="2255" cy="817"/>
          </a:xfrm>
        </p:grpSpPr>
        <p:grpSp>
          <p:nvGrpSpPr>
            <p:cNvPr id="41" name="Group 36"/>
            <p:cNvGrpSpPr>
              <a:grpSpLocks/>
            </p:cNvGrpSpPr>
            <p:nvPr/>
          </p:nvGrpSpPr>
          <p:grpSpPr bwMode="auto">
            <a:xfrm>
              <a:off x="2472" y="2341"/>
              <a:ext cx="2255" cy="817"/>
              <a:chOff x="2472" y="2251"/>
              <a:chExt cx="2255" cy="817"/>
            </a:xfrm>
          </p:grpSpPr>
          <p:sp>
            <p:nvSpPr>
              <p:cNvPr id="43" name="Line 37"/>
              <p:cNvSpPr>
                <a:spLocks noChangeShapeType="1"/>
              </p:cNvSpPr>
              <p:nvPr/>
            </p:nvSpPr>
            <p:spPr bwMode="auto">
              <a:xfrm>
                <a:off x="2472" y="3067"/>
                <a:ext cx="145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44" name="Line 38"/>
              <p:cNvSpPr>
                <a:spLocks noChangeShapeType="1"/>
              </p:cNvSpPr>
              <p:nvPr/>
            </p:nvSpPr>
            <p:spPr bwMode="auto">
              <a:xfrm flipV="1">
                <a:off x="3923" y="2251"/>
                <a:ext cx="0" cy="81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45" name="Line 39"/>
              <p:cNvSpPr>
                <a:spLocks noChangeShapeType="1"/>
              </p:cNvSpPr>
              <p:nvPr/>
            </p:nvSpPr>
            <p:spPr bwMode="auto">
              <a:xfrm flipH="1" flipV="1">
                <a:off x="3152" y="3067"/>
                <a:ext cx="226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prstDash val="sysDot"/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46" name="Line 40"/>
              <p:cNvSpPr>
                <a:spLocks noChangeShapeType="1"/>
              </p:cNvSpPr>
              <p:nvPr/>
            </p:nvSpPr>
            <p:spPr bwMode="auto">
              <a:xfrm>
                <a:off x="3923" y="2568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3989" y="2568"/>
                <a:ext cx="73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FF9900"/>
                    </a:solidFill>
                    <a:latin typeface="Calibri (Corps)"/>
                  </a:rPr>
                  <a:t>Breaking</a:t>
                </a:r>
              </a:p>
            </p:txBody>
          </p:sp>
        </p:grp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 flipH="1">
              <a:off x="2699" y="2341"/>
              <a:ext cx="1224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48" name="Group 43"/>
          <p:cNvGrpSpPr>
            <a:grpSpLocks/>
          </p:cNvGrpSpPr>
          <p:nvPr/>
        </p:nvGrpSpPr>
        <p:grpSpPr bwMode="auto">
          <a:xfrm>
            <a:off x="4029508" y="2422844"/>
            <a:ext cx="3495675" cy="1296988"/>
            <a:chOff x="723" y="1344"/>
            <a:chExt cx="2202" cy="817"/>
          </a:xfrm>
        </p:grpSpPr>
        <p:grpSp>
          <p:nvGrpSpPr>
            <p:cNvPr id="49" name="Group 44"/>
            <p:cNvGrpSpPr>
              <a:grpSpLocks/>
            </p:cNvGrpSpPr>
            <p:nvPr/>
          </p:nvGrpSpPr>
          <p:grpSpPr bwMode="auto">
            <a:xfrm>
              <a:off x="723" y="1344"/>
              <a:ext cx="2202" cy="817"/>
              <a:chOff x="723" y="1434"/>
              <a:chExt cx="2202" cy="817"/>
            </a:xfrm>
          </p:grpSpPr>
          <p:sp>
            <p:nvSpPr>
              <p:cNvPr id="51" name="Line 45"/>
              <p:cNvSpPr>
                <a:spLocks noChangeShapeType="1"/>
              </p:cNvSpPr>
              <p:nvPr/>
            </p:nvSpPr>
            <p:spPr bwMode="auto">
              <a:xfrm>
                <a:off x="1473" y="1434"/>
                <a:ext cx="145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52" name="Line 46"/>
              <p:cNvSpPr>
                <a:spLocks noChangeShapeType="1"/>
              </p:cNvSpPr>
              <p:nvPr/>
            </p:nvSpPr>
            <p:spPr bwMode="auto">
              <a:xfrm flipV="1">
                <a:off x="1474" y="1434"/>
                <a:ext cx="0" cy="81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53" name="Line 47"/>
              <p:cNvSpPr>
                <a:spLocks noChangeShapeType="1"/>
              </p:cNvSpPr>
              <p:nvPr/>
            </p:nvSpPr>
            <p:spPr bwMode="auto">
              <a:xfrm flipV="1">
                <a:off x="1474" y="1752"/>
                <a:ext cx="0" cy="18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54" name="Text Box 48"/>
              <p:cNvSpPr txBox="1">
                <a:spLocks noChangeArrowheads="1"/>
              </p:cNvSpPr>
              <p:nvPr/>
            </p:nvSpPr>
            <p:spPr bwMode="auto">
              <a:xfrm>
                <a:off x="723" y="1706"/>
                <a:ext cx="73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FF9900"/>
                    </a:solidFill>
                    <a:latin typeface="Calibri (Corps)"/>
                  </a:rPr>
                  <a:t>Breaking</a:t>
                </a:r>
              </a:p>
            </p:txBody>
          </p:sp>
          <p:sp>
            <p:nvSpPr>
              <p:cNvPr id="55" name="Line 49"/>
              <p:cNvSpPr>
                <a:spLocks noChangeShapeType="1"/>
              </p:cNvSpPr>
              <p:nvPr/>
            </p:nvSpPr>
            <p:spPr bwMode="auto">
              <a:xfrm flipV="1">
                <a:off x="1882" y="1434"/>
                <a:ext cx="318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prstDash val="sysDot"/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1474" y="2160"/>
              <a:ext cx="1225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56" name="Group 51"/>
          <p:cNvGrpSpPr>
            <a:grpSpLocks/>
          </p:cNvGrpSpPr>
          <p:nvPr/>
        </p:nvGrpSpPr>
        <p:grpSpPr bwMode="auto">
          <a:xfrm>
            <a:off x="3421495" y="3719832"/>
            <a:ext cx="3744913" cy="1304925"/>
            <a:chOff x="340" y="2251"/>
            <a:chExt cx="2359" cy="822"/>
          </a:xfrm>
        </p:grpSpPr>
        <p:sp>
          <p:nvSpPr>
            <p:cNvPr id="57" name="Line 52"/>
            <p:cNvSpPr>
              <a:spLocks noChangeShapeType="1"/>
            </p:cNvSpPr>
            <p:nvPr/>
          </p:nvSpPr>
          <p:spPr bwMode="auto">
            <a:xfrm>
              <a:off x="1247" y="2251"/>
              <a:ext cx="1452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 flipV="1">
              <a:off x="2336" y="2251"/>
              <a:ext cx="227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 flipV="1">
              <a:off x="1247" y="2251"/>
              <a:ext cx="0" cy="81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 flipV="1">
              <a:off x="1247" y="2614"/>
              <a:ext cx="0" cy="13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1" name="Text Box 56"/>
            <p:cNvSpPr txBox="1">
              <a:spLocks noChangeArrowheads="1"/>
            </p:cNvSpPr>
            <p:nvPr/>
          </p:nvSpPr>
          <p:spPr bwMode="auto">
            <a:xfrm>
              <a:off x="340" y="2840"/>
              <a:ext cx="98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Calibri (Corps)"/>
                </a:rPr>
                <a:t>Accelération</a:t>
              </a:r>
            </a:p>
          </p:txBody>
        </p:sp>
      </p:grpSp>
      <p:cxnSp>
        <p:nvCxnSpPr>
          <p:cNvPr id="62" name="Connecteur droit 6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39806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661761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</a:t>
            </a:r>
            <a:r>
              <a:rPr lang="en-US" sz="2000" u="sng" dirty="0">
                <a:solidFill>
                  <a:srgbClr val="9E003B"/>
                </a:solidFill>
                <a:latin typeface="Myriad Pro"/>
                <a:cs typeface="Myriad Pro"/>
              </a:rPr>
              <a:t>additional control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704414" y="1775839"/>
            <a:ext cx="14414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F9900"/>
                </a:solidFill>
                <a:latin typeface="Calibri (Corps)"/>
              </a:rPr>
              <a:t>Sign of &lt;u&gt;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5435752" y="1601214"/>
            <a:ext cx="13131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&lt;u&gt; value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9115577" y="4474589"/>
            <a:ext cx="150233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FF9900"/>
                </a:solidFill>
                <a:latin typeface="Calibri (Corps)"/>
              </a:rPr>
              <a:t>U &gt; 0 : T</a:t>
            </a:r>
            <a:r>
              <a:rPr lang="fr-FR" altLang="fr-FR" sz="2400" b="1" baseline="-25000" dirty="0">
                <a:solidFill>
                  <a:srgbClr val="FF9900"/>
                </a:solidFill>
                <a:latin typeface="Calibri (Corps)"/>
              </a:rPr>
              <a:t>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FF9900"/>
                </a:solidFill>
                <a:latin typeface="Calibri (Corps)"/>
              </a:rPr>
              <a:t>U &lt; 0 : T</a:t>
            </a:r>
            <a:r>
              <a:rPr lang="fr-FR" altLang="fr-FR" sz="2400" b="1" baseline="-25000" dirty="0">
                <a:solidFill>
                  <a:srgbClr val="FF9900"/>
                </a:solidFill>
                <a:latin typeface="Calibri (Corps)"/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400" b="1" baseline="-25000" dirty="0">
              <a:solidFill>
                <a:srgbClr val="FF9900"/>
              </a:solidFill>
              <a:latin typeface="Calibri (Corps)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097614" y="5209601"/>
            <a:ext cx="21242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0033CC"/>
                </a:solidFill>
                <a:latin typeface="Calibri (Corps)"/>
              </a:rPr>
              <a:t>Switch on T</a:t>
            </a:r>
            <a:r>
              <a:rPr lang="fr-FR" altLang="fr-FR" sz="1800" b="1" i="1" baseline="-25000">
                <a:solidFill>
                  <a:srgbClr val="0033CC"/>
                </a:solidFill>
                <a:latin typeface="Calibri (Corps)"/>
              </a:rPr>
              <a:t>1</a:t>
            </a:r>
            <a:r>
              <a:rPr lang="fr-FR" altLang="fr-FR" sz="1800" b="1" i="1">
                <a:solidFill>
                  <a:srgbClr val="0033CC"/>
                </a:solidFill>
                <a:latin typeface="Calibri (Corps)"/>
              </a:rPr>
              <a:t> et T</a:t>
            </a:r>
            <a:r>
              <a:rPr lang="fr-FR" altLang="fr-FR" sz="1800" b="1" i="1" baseline="-25000">
                <a:solidFill>
                  <a:srgbClr val="0033CC"/>
                </a:solidFill>
                <a:latin typeface="Calibri (Corps)"/>
              </a:rPr>
              <a:t>3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15" name="Groupe 14"/>
          <p:cNvGrpSpPr/>
          <p:nvPr/>
        </p:nvGrpSpPr>
        <p:grpSpPr>
          <a:xfrm>
            <a:off x="4448131" y="1960414"/>
            <a:ext cx="4724768" cy="3352310"/>
            <a:chOff x="3455122" y="1395665"/>
            <a:chExt cx="7083001" cy="4675692"/>
          </a:xfrm>
        </p:grpSpPr>
        <p:grpSp>
          <p:nvGrpSpPr>
            <p:cNvPr id="17" name="Groupe 16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26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8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9" name="Rectangle 28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8" name="Groupe 17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24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" name="Rectangle 24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20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1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2" name="Rectangle 21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83401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e 88"/>
          <p:cNvGrpSpPr/>
          <p:nvPr/>
        </p:nvGrpSpPr>
        <p:grpSpPr>
          <a:xfrm>
            <a:off x="2409845" y="2383081"/>
            <a:ext cx="4290735" cy="3047841"/>
            <a:chOff x="3455122" y="1395665"/>
            <a:chExt cx="7083001" cy="4675692"/>
          </a:xfrm>
        </p:grpSpPr>
        <p:grpSp>
          <p:nvGrpSpPr>
            <p:cNvPr id="91" name="Groupe 90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100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1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102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103" name="Rectangle 102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2" name="Groupe 91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93" name="Groupe 92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98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9" name="Rectangle 98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94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95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96" name="Rectangle 95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16052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additional control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7105221" y="1310452"/>
            <a:ext cx="0" cy="287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H="1">
            <a:off x="6889321" y="3039239"/>
            <a:ext cx="4679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105221" y="2031177"/>
            <a:ext cx="936625" cy="1008062"/>
            <a:chOff x="1111" y="1616"/>
            <a:chExt cx="590" cy="635"/>
          </a:xfrm>
        </p:grpSpPr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V="1">
              <a:off x="1111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111" y="1616"/>
              <a:ext cx="4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156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156" y="2251"/>
              <a:ext cx="1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V="1">
              <a:off x="1292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292" y="1616"/>
              <a:ext cx="9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1383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383" y="2251"/>
              <a:ext cx="1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1519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519" y="1616"/>
              <a:ext cx="18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701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8041846" y="3039239"/>
            <a:ext cx="1008062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3" name="Group 18"/>
          <p:cNvGrpSpPr>
            <a:grpSpLocks/>
          </p:cNvGrpSpPr>
          <p:nvPr/>
        </p:nvGrpSpPr>
        <p:grpSpPr bwMode="auto">
          <a:xfrm flipV="1">
            <a:off x="9049908" y="3039239"/>
            <a:ext cx="936625" cy="1008063"/>
            <a:chOff x="1111" y="1616"/>
            <a:chExt cx="590" cy="635"/>
          </a:xfrm>
        </p:grpSpPr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V="1">
              <a:off x="1111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111" y="1616"/>
              <a:ext cx="4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156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156" y="2251"/>
              <a:ext cx="1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V="1">
              <a:off x="1292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292" y="1616"/>
              <a:ext cx="9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1383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1383" y="2251"/>
              <a:ext cx="1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 flipV="1">
              <a:off x="1519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1519" y="1616"/>
              <a:ext cx="18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1701" y="1616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9984946" y="3039239"/>
            <a:ext cx="1008062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6673421" y="174225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37" name="Line 32"/>
          <p:cNvSpPr>
            <a:spLocks noChangeShapeType="1"/>
          </p:cNvSpPr>
          <p:nvPr/>
        </p:nvSpPr>
        <p:spPr bwMode="auto">
          <a:xfrm>
            <a:off x="7033783" y="2031177"/>
            <a:ext cx="16557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Line 33"/>
          <p:cNvSpPr>
            <a:spLocks noChangeShapeType="1"/>
          </p:cNvSpPr>
          <p:nvPr/>
        </p:nvSpPr>
        <p:spPr bwMode="auto">
          <a:xfrm>
            <a:off x="7033783" y="4047302"/>
            <a:ext cx="31670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Text Box 34"/>
          <p:cNvSpPr txBox="1">
            <a:spLocks noChangeArrowheads="1"/>
          </p:cNvSpPr>
          <p:nvPr/>
        </p:nvSpPr>
        <p:spPr bwMode="auto">
          <a:xfrm>
            <a:off x="6600396" y="3831402"/>
            <a:ext cx="45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- E</a:t>
            </a:r>
          </a:p>
        </p:txBody>
      </p:sp>
      <p:sp>
        <p:nvSpPr>
          <p:cNvPr id="40" name="Text Box 35"/>
          <p:cNvSpPr txBox="1">
            <a:spLocks noChangeArrowheads="1"/>
          </p:cNvSpPr>
          <p:nvPr/>
        </p:nvSpPr>
        <p:spPr bwMode="auto">
          <a:xfrm>
            <a:off x="6806771" y="1094552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41" name="Text Box 36"/>
          <p:cNvSpPr txBox="1">
            <a:spLocks noChangeArrowheads="1"/>
          </p:cNvSpPr>
          <p:nvPr/>
        </p:nvSpPr>
        <p:spPr bwMode="auto">
          <a:xfrm>
            <a:off x="11208908" y="2607439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2" name="Line 37"/>
          <p:cNvSpPr>
            <a:spLocks noChangeShapeType="1"/>
          </p:cNvSpPr>
          <p:nvPr/>
        </p:nvSpPr>
        <p:spPr bwMode="auto">
          <a:xfrm flipH="1">
            <a:off x="6816296" y="3039239"/>
            <a:ext cx="576262" cy="2376488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Line 38"/>
          <p:cNvSpPr>
            <a:spLocks noChangeShapeType="1"/>
          </p:cNvSpPr>
          <p:nvPr/>
        </p:nvSpPr>
        <p:spPr bwMode="auto">
          <a:xfrm>
            <a:off x="7751333" y="3039239"/>
            <a:ext cx="504825" cy="2376488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Line 39"/>
          <p:cNvSpPr>
            <a:spLocks noChangeShapeType="1"/>
          </p:cNvSpPr>
          <p:nvPr/>
        </p:nvSpPr>
        <p:spPr bwMode="auto">
          <a:xfrm flipV="1">
            <a:off x="7105221" y="2318514"/>
            <a:ext cx="71437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Line 40"/>
          <p:cNvSpPr>
            <a:spLocks noChangeShapeType="1"/>
          </p:cNvSpPr>
          <p:nvPr/>
        </p:nvSpPr>
        <p:spPr bwMode="auto">
          <a:xfrm>
            <a:off x="7176658" y="2318514"/>
            <a:ext cx="215900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Line 41"/>
          <p:cNvSpPr>
            <a:spLocks noChangeShapeType="1"/>
          </p:cNvSpPr>
          <p:nvPr/>
        </p:nvSpPr>
        <p:spPr bwMode="auto">
          <a:xfrm flipV="1">
            <a:off x="7392558" y="2247077"/>
            <a:ext cx="144463" cy="144462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" name="Line 42"/>
          <p:cNvSpPr>
            <a:spLocks noChangeShapeType="1"/>
          </p:cNvSpPr>
          <p:nvPr/>
        </p:nvSpPr>
        <p:spPr bwMode="auto">
          <a:xfrm>
            <a:off x="7537021" y="2247077"/>
            <a:ext cx="215900" cy="7143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 flipV="1">
            <a:off x="7752921" y="2031177"/>
            <a:ext cx="287337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Line 44"/>
          <p:cNvSpPr>
            <a:spLocks noChangeShapeType="1"/>
          </p:cNvSpPr>
          <p:nvPr/>
        </p:nvSpPr>
        <p:spPr bwMode="auto">
          <a:xfrm>
            <a:off x="8040258" y="2031177"/>
            <a:ext cx="73025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Text Box 45"/>
          <p:cNvSpPr txBox="1">
            <a:spLocks noChangeArrowheads="1"/>
          </p:cNvSpPr>
          <p:nvPr/>
        </p:nvSpPr>
        <p:spPr bwMode="auto">
          <a:xfrm>
            <a:off x="7144908" y="1232664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33CC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51" name="Line 46"/>
          <p:cNvSpPr>
            <a:spLocks noChangeShapeType="1"/>
          </p:cNvSpPr>
          <p:nvPr/>
        </p:nvSpPr>
        <p:spPr bwMode="auto">
          <a:xfrm flipH="1">
            <a:off x="8976883" y="4040952"/>
            <a:ext cx="360363" cy="13684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Line 47"/>
          <p:cNvSpPr>
            <a:spLocks noChangeShapeType="1"/>
          </p:cNvSpPr>
          <p:nvPr/>
        </p:nvSpPr>
        <p:spPr bwMode="auto">
          <a:xfrm>
            <a:off x="9696021" y="4040952"/>
            <a:ext cx="793750" cy="136842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Line 48"/>
          <p:cNvSpPr>
            <a:spLocks noChangeShapeType="1"/>
          </p:cNvSpPr>
          <p:nvPr/>
        </p:nvSpPr>
        <p:spPr bwMode="auto">
          <a:xfrm>
            <a:off x="9049908" y="3464689"/>
            <a:ext cx="71438" cy="7143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Line 49"/>
          <p:cNvSpPr>
            <a:spLocks noChangeShapeType="1"/>
          </p:cNvSpPr>
          <p:nvPr/>
        </p:nvSpPr>
        <p:spPr bwMode="auto">
          <a:xfrm flipV="1">
            <a:off x="9121346" y="3393252"/>
            <a:ext cx="215900" cy="14287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Line 50"/>
          <p:cNvSpPr>
            <a:spLocks noChangeShapeType="1"/>
          </p:cNvSpPr>
          <p:nvPr/>
        </p:nvSpPr>
        <p:spPr bwMode="auto">
          <a:xfrm>
            <a:off x="9337246" y="3393252"/>
            <a:ext cx="144462" cy="14287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Line 51"/>
          <p:cNvSpPr>
            <a:spLocks noChangeShapeType="1"/>
          </p:cNvSpPr>
          <p:nvPr/>
        </p:nvSpPr>
        <p:spPr bwMode="auto">
          <a:xfrm flipV="1">
            <a:off x="9481708" y="3320227"/>
            <a:ext cx="215900" cy="2159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7" name="Line 52"/>
          <p:cNvSpPr>
            <a:spLocks noChangeShapeType="1"/>
          </p:cNvSpPr>
          <p:nvPr/>
        </p:nvSpPr>
        <p:spPr bwMode="auto">
          <a:xfrm>
            <a:off x="9697608" y="3320227"/>
            <a:ext cx="287338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" name="Line 53"/>
          <p:cNvSpPr>
            <a:spLocks noChangeShapeType="1"/>
          </p:cNvSpPr>
          <p:nvPr/>
        </p:nvSpPr>
        <p:spPr bwMode="auto">
          <a:xfrm flipV="1">
            <a:off x="9984946" y="3464689"/>
            <a:ext cx="144462" cy="14446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60" name="Group 55"/>
          <p:cNvGrpSpPr>
            <a:grpSpLocks/>
          </p:cNvGrpSpPr>
          <p:nvPr/>
        </p:nvGrpSpPr>
        <p:grpSpPr bwMode="auto">
          <a:xfrm>
            <a:off x="3901992" y="2959864"/>
            <a:ext cx="4175125" cy="3032125"/>
            <a:chOff x="884" y="1842"/>
            <a:chExt cx="2630" cy="1910"/>
          </a:xfrm>
        </p:grpSpPr>
        <p:grpSp>
          <p:nvGrpSpPr>
            <p:cNvPr id="61" name="Group 56"/>
            <p:cNvGrpSpPr>
              <a:grpSpLocks/>
            </p:cNvGrpSpPr>
            <p:nvPr/>
          </p:nvGrpSpPr>
          <p:grpSpPr bwMode="auto">
            <a:xfrm>
              <a:off x="2764" y="3162"/>
              <a:ext cx="750" cy="590"/>
              <a:chOff x="2764" y="3162"/>
              <a:chExt cx="750" cy="590"/>
            </a:xfrm>
          </p:grpSpPr>
          <p:sp>
            <p:nvSpPr>
              <p:cNvPr id="66" name="Line 57"/>
              <p:cNvSpPr>
                <a:spLocks noChangeShapeType="1"/>
              </p:cNvSpPr>
              <p:nvPr/>
            </p:nvSpPr>
            <p:spPr bwMode="auto">
              <a:xfrm flipV="1">
                <a:off x="2789" y="3162"/>
                <a:ext cx="0" cy="59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7" name="Line 58"/>
              <p:cNvSpPr>
                <a:spLocks noChangeShapeType="1"/>
              </p:cNvSpPr>
              <p:nvPr/>
            </p:nvSpPr>
            <p:spPr bwMode="auto">
              <a:xfrm>
                <a:off x="2789" y="3162"/>
                <a:ext cx="226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8" name="Line 59"/>
              <p:cNvSpPr>
                <a:spLocks noChangeShapeType="1"/>
              </p:cNvSpPr>
              <p:nvPr/>
            </p:nvSpPr>
            <p:spPr bwMode="auto">
              <a:xfrm>
                <a:off x="3015" y="3162"/>
                <a:ext cx="0" cy="59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9" name="Line 60"/>
              <p:cNvSpPr>
                <a:spLocks noChangeShapeType="1"/>
              </p:cNvSpPr>
              <p:nvPr/>
            </p:nvSpPr>
            <p:spPr bwMode="auto">
              <a:xfrm>
                <a:off x="3015" y="3752"/>
                <a:ext cx="499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0" name="Text Box 61"/>
              <p:cNvSpPr txBox="1">
                <a:spLocks noChangeArrowheads="1"/>
              </p:cNvSpPr>
              <p:nvPr/>
            </p:nvSpPr>
            <p:spPr bwMode="auto">
              <a:xfrm>
                <a:off x="2764" y="3339"/>
                <a:ext cx="259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 dirty="0">
                    <a:latin typeface="Calibri (Corps)"/>
                  </a:rPr>
                  <a:t>T</a:t>
                </a:r>
                <a:r>
                  <a:rPr lang="fr-FR" altLang="fr-FR" sz="1800" b="1" i="1" baseline="-25000" dirty="0">
                    <a:latin typeface="Calibri (Corps)"/>
                  </a:rPr>
                  <a:t>1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 dirty="0">
                    <a:latin typeface="Calibri (Corps)"/>
                  </a:rPr>
                  <a:t>T</a:t>
                </a:r>
                <a:r>
                  <a:rPr lang="fr-FR" altLang="fr-FR" sz="1800" b="1" i="1" baseline="-25000" dirty="0">
                    <a:latin typeface="Calibri (Corps)"/>
                  </a:rPr>
                  <a:t>4</a:t>
                </a:r>
              </a:p>
            </p:txBody>
          </p:sp>
          <p:sp>
            <p:nvSpPr>
              <p:cNvPr id="71" name="Text Box 62"/>
              <p:cNvSpPr txBox="1">
                <a:spLocks noChangeArrowheads="1"/>
              </p:cNvSpPr>
              <p:nvPr/>
            </p:nvSpPr>
            <p:spPr bwMode="auto">
              <a:xfrm>
                <a:off x="3107" y="3344"/>
                <a:ext cx="275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>
                    <a:latin typeface="Calibri (Corps)"/>
                  </a:rPr>
                  <a:t>D</a:t>
                </a:r>
                <a:r>
                  <a:rPr lang="fr-FR" altLang="fr-FR" sz="1800" b="1" i="1" baseline="-25000">
                    <a:latin typeface="Calibri (Corps)"/>
                  </a:rPr>
                  <a:t>3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>
                    <a:latin typeface="Calibri (Corps)"/>
                  </a:rPr>
                  <a:t>T</a:t>
                </a:r>
                <a:r>
                  <a:rPr lang="fr-FR" altLang="fr-FR" sz="1800" b="1" i="1" baseline="-25000">
                    <a:latin typeface="Calibri (Corps)"/>
                  </a:rPr>
                  <a:t>4</a:t>
                </a:r>
              </a:p>
            </p:txBody>
          </p:sp>
        </p:grpSp>
        <p:sp>
          <p:nvSpPr>
            <p:cNvPr id="62" name="Line 63"/>
            <p:cNvSpPr>
              <a:spLocks noChangeShapeType="1"/>
            </p:cNvSpPr>
            <p:nvPr/>
          </p:nvSpPr>
          <p:spPr bwMode="auto">
            <a:xfrm>
              <a:off x="884" y="1842"/>
              <a:ext cx="0" cy="3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2187" y="2795"/>
              <a:ext cx="0" cy="3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>
              <a:off x="1474" y="2205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 flipV="1">
              <a:off x="1338" y="2726"/>
              <a:ext cx="0" cy="3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72" name="Group 84"/>
          <p:cNvGrpSpPr>
            <a:grpSpLocks/>
          </p:cNvGrpSpPr>
          <p:nvPr/>
        </p:nvGrpSpPr>
        <p:grpSpPr bwMode="auto">
          <a:xfrm>
            <a:off x="4027058" y="2743964"/>
            <a:ext cx="6246813" cy="3457575"/>
            <a:chOff x="896" y="1706"/>
            <a:chExt cx="3935" cy="2178"/>
          </a:xfrm>
        </p:grpSpPr>
        <p:grpSp>
          <p:nvGrpSpPr>
            <p:cNvPr id="73" name="Group 68"/>
            <p:cNvGrpSpPr>
              <a:grpSpLocks/>
            </p:cNvGrpSpPr>
            <p:nvPr/>
          </p:nvGrpSpPr>
          <p:grpSpPr bwMode="auto">
            <a:xfrm>
              <a:off x="4105" y="3293"/>
              <a:ext cx="726" cy="591"/>
              <a:chOff x="4105" y="3293"/>
              <a:chExt cx="726" cy="591"/>
            </a:xfrm>
          </p:grpSpPr>
          <p:sp>
            <p:nvSpPr>
              <p:cNvPr id="78" name="Line 69"/>
              <p:cNvSpPr>
                <a:spLocks noChangeShapeType="1"/>
              </p:cNvSpPr>
              <p:nvPr/>
            </p:nvSpPr>
            <p:spPr bwMode="auto">
              <a:xfrm flipV="1">
                <a:off x="4106" y="3293"/>
                <a:ext cx="0" cy="59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9" name="Line 70"/>
              <p:cNvSpPr>
                <a:spLocks noChangeShapeType="1"/>
              </p:cNvSpPr>
              <p:nvPr/>
            </p:nvSpPr>
            <p:spPr bwMode="auto">
              <a:xfrm>
                <a:off x="4105" y="3884"/>
                <a:ext cx="317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80" name="Line 71"/>
              <p:cNvSpPr>
                <a:spLocks noChangeShapeType="1"/>
              </p:cNvSpPr>
              <p:nvPr/>
            </p:nvSpPr>
            <p:spPr bwMode="auto">
              <a:xfrm>
                <a:off x="4422" y="3293"/>
                <a:ext cx="0" cy="59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81" name="Line 72"/>
              <p:cNvSpPr>
                <a:spLocks noChangeShapeType="1"/>
              </p:cNvSpPr>
              <p:nvPr/>
            </p:nvSpPr>
            <p:spPr bwMode="auto">
              <a:xfrm>
                <a:off x="4422" y="3294"/>
                <a:ext cx="409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82" name="Text Box 73"/>
              <p:cNvSpPr txBox="1">
                <a:spLocks noChangeArrowheads="1"/>
              </p:cNvSpPr>
              <p:nvPr/>
            </p:nvSpPr>
            <p:spPr bwMode="auto">
              <a:xfrm>
                <a:off x="4125" y="3430"/>
                <a:ext cx="259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 dirty="0">
                    <a:latin typeface="Calibri (Corps)"/>
                  </a:rPr>
                  <a:t>T</a:t>
                </a:r>
                <a:r>
                  <a:rPr lang="fr-FR" altLang="fr-FR" sz="1800" b="1" i="1" baseline="-25000" dirty="0">
                    <a:latin typeface="Calibri (Corps)"/>
                  </a:rPr>
                  <a:t>3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 dirty="0">
                    <a:latin typeface="Calibri (Corps)"/>
                  </a:rPr>
                  <a:t>T</a:t>
                </a:r>
                <a:r>
                  <a:rPr lang="fr-FR" altLang="fr-FR" sz="1800" b="1" i="1" baseline="-25000" dirty="0">
                    <a:latin typeface="Calibri (Corps)"/>
                  </a:rPr>
                  <a:t>2</a:t>
                </a:r>
              </a:p>
            </p:txBody>
          </p:sp>
          <p:sp>
            <p:nvSpPr>
              <p:cNvPr id="83" name="Text Box 74"/>
              <p:cNvSpPr txBox="1">
                <a:spLocks noChangeArrowheads="1"/>
              </p:cNvSpPr>
              <p:nvPr/>
            </p:nvSpPr>
            <p:spPr bwMode="auto">
              <a:xfrm>
                <a:off x="4427" y="3434"/>
                <a:ext cx="275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>
                    <a:latin typeface="Calibri (Corps)"/>
                  </a:rPr>
                  <a:t>D</a:t>
                </a:r>
                <a:r>
                  <a:rPr lang="fr-FR" altLang="fr-FR" sz="1800" b="1" i="1" baseline="-25000">
                    <a:latin typeface="Calibri (Corps)"/>
                  </a:rPr>
                  <a:t>1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>
                    <a:latin typeface="Calibri (Corps)"/>
                  </a:rPr>
                  <a:t>T</a:t>
                </a:r>
                <a:r>
                  <a:rPr lang="fr-FR" altLang="fr-FR" sz="1800" b="1" i="1" baseline="-25000">
                    <a:latin typeface="Calibri (Corps)"/>
                  </a:rPr>
                  <a:t>2</a:t>
                </a:r>
              </a:p>
            </p:txBody>
          </p:sp>
        </p:grpSp>
        <p:sp>
          <p:nvSpPr>
            <p:cNvPr id="74" name="Line 76"/>
            <p:cNvSpPr>
              <a:spLocks noChangeShapeType="1"/>
            </p:cNvSpPr>
            <p:nvPr/>
          </p:nvSpPr>
          <p:spPr bwMode="auto">
            <a:xfrm>
              <a:off x="2250" y="1820"/>
              <a:ext cx="0" cy="317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5" name="Line 77"/>
            <p:cNvSpPr>
              <a:spLocks noChangeShapeType="1"/>
            </p:cNvSpPr>
            <p:nvPr/>
          </p:nvSpPr>
          <p:spPr bwMode="auto">
            <a:xfrm>
              <a:off x="896" y="2750"/>
              <a:ext cx="0" cy="317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6" name="Line 78"/>
            <p:cNvSpPr>
              <a:spLocks noChangeShapeType="1"/>
            </p:cNvSpPr>
            <p:nvPr/>
          </p:nvSpPr>
          <p:spPr bwMode="auto">
            <a:xfrm flipH="1">
              <a:off x="1338" y="2160"/>
              <a:ext cx="272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7" name="Line 79"/>
            <p:cNvSpPr>
              <a:spLocks noChangeShapeType="1"/>
            </p:cNvSpPr>
            <p:nvPr/>
          </p:nvSpPr>
          <p:spPr bwMode="auto">
            <a:xfrm flipV="1">
              <a:off x="1338" y="1706"/>
              <a:ext cx="0" cy="317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sysDot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sp>
        <p:nvSpPr>
          <p:cNvPr id="84" name="Text Box 80"/>
          <p:cNvSpPr txBox="1">
            <a:spLocks noChangeArrowheads="1"/>
          </p:cNvSpPr>
          <p:nvPr/>
        </p:nvSpPr>
        <p:spPr bwMode="auto">
          <a:xfrm>
            <a:off x="5716158" y="1829564"/>
            <a:ext cx="6848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F9900"/>
                </a:solidFill>
                <a:latin typeface="Calibri (Corps)"/>
              </a:rPr>
              <a:t>Sign</a:t>
            </a:r>
          </a:p>
        </p:txBody>
      </p:sp>
      <p:sp>
        <p:nvSpPr>
          <p:cNvPr id="85" name="Text Box 81"/>
          <p:cNvSpPr txBox="1">
            <a:spLocks noChangeArrowheads="1"/>
          </p:cNvSpPr>
          <p:nvPr/>
        </p:nvSpPr>
        <p:spPr bwMode="auto">
          <a:xfrm>
            <a:off x="3863546" y="1808927"/>
            <a:ext cx="74090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i="1">
                <a:solidFill>
                  <a:srgbClr val="FF00FF"/>
                </a:solidFill>
                <a:latin typeface="Calibri (Corps)"/>
              </a:rPr>
              <a:t>switch</a:t>
            </a:r>
          </a:p>
        </p:txBody>
      </p:sp>
      <p:sp>
        <p:nvSpPr>
          <p:cNvPr id="86" name="Oval 82"/>
          <p:cNvSpPr>
            <a:spLocks noChangeArrowheads="1"/>
          </p:cNvSpPr>
          <p:nvPr/>
        </p:nvSpPr>
        <p:spPr bwMode="auto">
          <a:xfrm>
            <a:off x="3576208" y="1448564"/>
            <a:ext cx="1512888" cy="4032250"/>
          </a:xfrm>
          <a:prstGeom prst="ellipse">
            <a:avLst/>
          </a:prstGeom>
          <a:noFill/>
          <a:ln w="25400">
            <a:solidFill>
              <a:srgbClr val="FF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7" name="Oval 83"/>
          <p:cNvSpPr>
            <a:spLocks noChangeArrowheads="1"/>
          </p:cNvSpPr>
          <p:nvPr/>
        </p:nvSpPr>
        <p:spPr bwMode="auto">
          <a:xfrm>
            <a:off x="5304996" y="1448564"/>
            <a:ext cx="1512887" cy="4032250"/>
          </a:xfrm>
          <a:prstGeom prst="ellipse">
            <a:avLst/>
          </a:prstGeom>
          <a:noFill/>
          <a:ln w="25400">
            <a:solidFill>
              <a:srgbClr val="FF66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cxnSp>
        <p:nvCxnSpPr>
          <p:cNvPr id="88" name="Connecteur droit 8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89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5275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93885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additional control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3722976" y="4591447"/>
            <a:ext cx="6942137" cy="1368425"/>
            <a:chOff x="1760" y="2931"/>
            <a:chExt cx="4373" cy="862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1760" y="2931"/>
              <a:ext cx="363" cy="8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92 w 21600"/>
                <a:gd name="T13" fmla="*/ 5413 h 21600"/>
                <a:gd name="T14" fmla="*/ 18922 w 21600"/>
                <a:gd name="T15" fmla="*/ 162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292" y="2989"/>
              <a:ext cx="3841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400" b="1" i="1">
                  <a:latin typeface="Calibri (Corps)"/>
                </a:rPr>
                <a:t>Voltage ripple reduced: 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400" b="1" i="1">
                  <a:latin typeface="Calibri (Corps)"/>
                </a:rPr>
                <a:t>Switching only on T</a:t>
              </a:r>
              <a:r>
                <a:rPr lang="en-US" altLang="fr-FR" sz="2400" b="1" i="1" baseline="-25000">
                  <a:latin typeface="Calibri (Corps)"/>
                </a:rPr>
                <a:t>1</a:t>
              </a:r>
              <a:r>
                <a:rPr lang="en-US" altLang="fr-FR" sz="2400" b="1" i="1">
                  <a:latin typeface="Calibri (Corps)"/>
                </a:rPr>
                <a:t>/T</a:t>
              </a:r>
              <a:r>
                <a:rPr lang="en-US" altLang="fr-FR" sz="2400" b="1" i="1" baseline="-25000">
                  <a:latin typeface="Calibri (Corps)"/>
                </a:rPr>
                <a:t>3</a:t>
              </a:r>
              <a:r>
                <a:rPr lang="en-US" altLang="fr-FR" sz="2400" b="1" i="1">
                  <a:latin typeface="Calibri (Corps)"/>
                </a:rPr>
                <a:t> : losses reduced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400" b="1" i="1">
                  <a:latin typeface="Calibri (Corps)"/>
                </a:rPr>
                <a:t>Instabilities around 0V ! !</a:t>
              </a:r>
            </a:p>
          </p:txBody>
        </p:sp>
      </p:grp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8187026" y="2072084"/>
            <a:ext cx="33023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latin typeface="Calibri (Corps)"/>
              </a:rPr>
              <a:t>U = +/- </a:t>
            </a:r>
            <a:r>
              <a:rPr lang="fr-FR" altLang="fr-FR" sz="2400" b="1" dirty="0" err="1">
                <a:latin typeface="Calibri (Corps)"/>
              </a:rPr>
              <a:t>a.E</a:t>
            </a:r>
            <a:endParaRPr lang="fr-FR" altLang="fr-FR" sz="2400" b="1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dirty="0">
                <a:latin typeface="Calibri (Corps)"/>
              </a:rPr>
              <a:t>Average value during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dirty="0">
                <a:latin typeface="Calibri (Corps)"/>
              </a:rPr>
              <a:t>a switching time T</a:t>
            </a:r>
            <a:r>
              <a:rPr lang="en-US" altLang="fr-FR" sz="2400" b="1" baseline="-25000" dirty="0">
                <a:latin typeface="Calibri (Corps)"/>
              </a:rPr>
              <a:t>d</a:t>
            </a:r>
            <a:endParaRPr lang="fr-FR" altLang="fr-FR" sz="2400" b="1" baseline="-25000" dirty="0">
              <a:latin typeface="Calibri (Corps)"/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14" name="Groupe 13"/>
          <p:cNvGrpSpPr/>
          <p:nvPr/>
        </p:nvGrpSpPr>
        <p:grpSpPr>
          <a:xfrm>
            <a:off x="2923947" y="1311054"/>
            <a:ext cx="4290735" cy="3047841"/>
            <a:chOff x="3455122" y="1395665"/>
            <a:chExt cx="7083001" cy="4675692"/>
          </a:xfrm>
        </p:grpSpPr>
        <p:grpSp>
          <p:nvGrpSpPr>
            <p:cNvPr id="16" name="Groupe 15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25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7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8" name="Rectangle 27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" name="Groupe 16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18" name="Groupe 17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23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" name="Rectangle 23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19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0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1" name="Rectangle 20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64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352016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</a:t>
            </a:r>
            <a:r>
              <a:rPr lang="en-US" sz="2000" u="sng" dirty="0">
                <a:solidFill>
                  <a:srgbClr val="9E003B"/>
                </a:solidFill>
                <a:latin typeface="Myriad Pro"/>
                <a:cs typeface="Myriad Pro"/>
              </a:rPr>
              <a:t>Shifted complementary control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011167" y="5022851"/>
            <a:ext cx="39528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 err="1">
                <a:solidFill>
                  <a:srgbClr val="009900"/>
                </a:solidFill>
                <a:latin typeface="Calibri (Corps)"/>
              </a:rPr>
              <a:t>Switching</a:t>
            </a:r>
            <a:r>
              <a:rPr lang="fr-FR" altLang="fr-FR" sz="1800" b="1" i="1" dirty="0">
                <a:solidFill>
                  <a:srgbClr val="009900"/>
                </a:solidFill>
                <a:latin typeface="Calibri (Corps)"/>
              </a:rPr>
              <a:t> on T</a:t>
            </a:r>
            <a:r>
              <a:rPr lang="fr-FR" altLang="fr-FR" sz="1800" b="1" i="1" baseline="-25000" dirty="0">
                <a:solidFill>
                  <a:srgbClr val="009900"/>
                </a:solidFill>
                <a:latin typeface="Calibri (Corps)"/>
              </a:rPr>
              <a:t>1</a:t>
            </a:r>
            <a:r>
              <a:rPr lang="fr-FR" altLang="fr-FR" sz="1800" b="1" i="1" dirty="0">
                <a:solidFill>
                  <a:srgbClr val="009900"/>
                </a:solidFill>
                <a:latin typeface="Calibri (Corps)"/>
              </a:rPr>
              <a:t> and T</a:t>
            </a:r>
            <a:r>
              <a:rPr lang="fr-FR" altLang="fr-FR" sz="1800" b="1" i="1" baseline="-25000" dirty="0">
                <a:solidFill>
                  <a:srgbClr val="009900"/>
                </a:solidFill>
                <a:latin typeface="Calibri (Corps)"/>
              </a:rPr>
              <a:t>3 </a:t>
            </a:r>
            <a:r>
              <a:rPr lang="fr-FR" altLang="fr-FR" sz="1800" b="1" i="1" dirty="0">
                <a:solidFill>
                  <a:srgbClr val="009900"/>
                </a:solidFill>
                <a:latin typeface="Calibri (Corps)"/>
              </a:rPr>
              <a:t>at t = 0 </a:t>
            </a:r>
            <a:endParaRPr lang="fr-FR" altLang="fr-FR" sz="1800" dirty="0">
              <a:solidFill>
                <a:srgbClr val="009900"/>
              </a:solidFill>
              <a:latin typeface="Calibri (Corps)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7418067" y="5046664"/>
            <a:ext cx="39528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solidFill>
                  <a:srgbClr val="FF3300"/>
                </a:solidFill>
                <a:latin typeface="Calibri (Corps)"/>
              </a:rPr>
              <a:t>Switching on T</a:t>
            </a:r>
            <a:r>
              <a:rPr lang="fr-FR" altLang="fr-FR" sz="1800" b="1" i="1" baseline="-25000">
                <a:solidFill>
                  <a:srgbClr val="FF3300"/>
                </a:solidFill>
                <a:latin typeface="Calibri (Corps)"/>
              </a:rPr>
              <a:t>2</a:t>
            </a:r>
            <a:r>
              <a:rPr lang="fr-FR" altLang="fr-FR" sz="1800" b="1" i="1">
                <a:solidFill>
                  <a:srgbClr val="FF3300"/>
                </a:solidFill>
                <a:latin typeface="Calibri (Corps)"/>
              </a:rPr>
              <a:t> and T</a:t>
            </a:r>
            <a:r>
              <a:rPr lang="fr-FR" altLang="fr-FR" sz="1800" b="1" i="1" baseline="-25000">
                <a:solidFill>
                  <a:srgbClr val="FF3300"/>
                </a:solidFill>
                <a:latin typeface="Calibri (Corps)"/>
              </a:rPr>
              <a:t>4 </a:t>
            </a:r>
            <a:r>
              <a:rPr lang="fr-FR" altLang="fr-FR" sz="1800" b="1" i="1">
                <a:solidFill>
                  <a:srgbClr val="FF3300"/>
                </a:solidFill>
                <a:latin typeface="Calibri (Corps)"/>
              </a:rPr>
              <a:t>at t = T/2 </a:t>
            </a:r>
            <a:endParaRPr lang="fr-FR" altLang="fr-FR" sz="1800">
              <a:solidFill>
                <a:srgbClr val="FF3300"/>
              </a:solidFill>
              <a:latin typeface="Calibri (Corps)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9586592" y="1700214"/>
            <a:ext cx="9937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Symbol" panose="05050102010706020507" pitchFamily="18" charset="2"/>
              </a:rPr>
              <a:t>a</a:t>
            </a:r>
            <a:r>
              <a:rPr lang="fr-FR" altLang="fr-FR" sz="1800" b="1" i="1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 b="1" i="1">
                <a:latin typeface="Times New Roman" panose="02020603050405020304" pitchFamily="18" charset="0"/>
              </a:rPr>
              <a:t> = </a:t>
            </a:r>
            <a:r>
              <a:rPr lang="fr-FR" altLang="fr-FR" sz="1800" b="1" i="1">
                <a:latin typeface="Symbol" panose="05050102010706020507" pitchFamily="18" charset="2"/>
              </a:rPr>
              <a:t>a</a:t>
            </a:r>
            <a:r>
              <a:rPr lang="fr-FR" altLang="fr-FR" sz="1800" b="1" i="1" baseline="-25000">
                <a:latin typeface="Times New Roman" panose="02020603050405020304" pitchFamily="18" charset="0"/>
              </a:rPr>
              <a:t>4</a:t>
            </a:r>
            <a:r>
              <a:rPr lang="fr-FR" altLang="fr-FR" sz="1800" b="1" i="1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Symbol" panose="05050102010706020507" pitchFamily="18" charset="2"/>
              </a:rPr>
              <a:t>a</a:t>
            </a:r>
            <a:r>
              <a:rPr lang="fr-FR" altLang="fr-FR" sz="1800" b="1" i="1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 b="1" i="1">
                <a:latin typeface="Times New Roman" panose="02020603050405020304" pitchFamily="18" charset="0"/>
              </a:rPr>
              <a:t> = </a:t>
            </a:r>
            <a:r>
              <a:rPr lang="fr-FR" altLang="fr-FR" sz="1800" b="1" i="1">
                <a:latin typeface="Symbol" panose="05050102010706020507" pitchFamily="18" charset="2"/>
              </a:rPr>
              <a:t>a</a:t>
            </a:r>
            <a:r>
              <a:rPr lang="fr-FR" altLang="fr-FR" sz="1800" b="1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9473880" y="2800351"/>
            <a:ext cx="134937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Symbol" panose="05050102010706020507" pitchFamily="18" charset="2"/>
              </a:rPr>
              <a:t>a</a:t>
            </a:r>
            <a:r>
              <a:rPr lang="fr-FR" altLang="fr-FR" sz="1800" b="1" i="1" baseline="-25000">
                <a:latin typeface="Times New Roman" panose="02020603050405020304" pitchFamily="18" charset="0"/>
              </a:rPr>
              <a:t>3</a:t>
            </a:r>
            <a:r>
              <a:rPr lang="fr-FR" altLang="fr-FR" sz="1800" b="1" i="1">
                <a:latin typeface="Times New Roman" panose="02020603050405020304" pitchFamily="18" charset="0"/>
              </a:rPr>
              <a:t> = 1 – </a:t>
            </a:r>
            <a:r>
              <a:rPr lang="fr-FR" altLang="fr-FR" sz="1800" b="1" i="1">
                <a:latin typeface="Symbol" panose="05050102010706020507" pitchFamily="18" charset="2"/>
              </a:rPr>
              <a:t>a</a:t>
            </a:r>
            <a:r>
              <a:rPr lang="fr-FR" altLang="fr-FR" sz="1800" b="1" i="1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 b="1" i="1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>
                <a:latin typeface="Symbol" panose="05050102010706020507" pitchFamily="18" charset="2"/>
              </a:rPr>
              <a:t>a</a:t>
            </a:r>
            <a:r>
              <a:rPr lang="fr-FR" altLang="fr-FR" sz="1800" b="1" i="1" baseline="-25000">
                <a:latin typeface="Times New Roman" panose="02020603050405020304" pitchFamily="18" charset="0"/>
              </a:rPr>
              <a:t>4</a:t>
            </a:r>
            <a:r>
              <a:rPr lang="fr-FR" altLang="fr-FR" sz="1800" b="1" i="1">
                <a:latin typeface="Times New Roman" panose="02020603050405020304" pitchFamily="18" charset="0"/>
              </a:rPr>
              <a:t> = 1 – </a:t>
            </a:r>
            <a:r>
              <a:rPr lang="fr-FR" altLang="fr-FR" sz="1800" b="1" i="1">
                <a:latin typeface="Symbol" panose="05050102010706020507" pitchFamily="18" charset="2"/>
              </a:rPr>
              <a:t>a</a:t>
            </a:r>
            <a:r>
              <a:rPr lang="fr-FR" altLang="fr-FR" sz="1800" b="1" i="1" baseline="-25000"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15" name="Groupe 14"/>
          <p:cNvGrpSpPr/>
          <p:nvPr/>
        </p:nvGrpSpPr>
        <p:grpSpPr>
          <a:xfrm>
            <a:off x="3887910" y="1276430"/>
            <a:ext cx="4909731" cy="3414840"/>
            <a:chOff x="3455122" y="1395665"/>
            <a:chExt cx="7083001" cy="4675692"/>
          </a:xfrm>
        </p:grpSpPr>
        <p:grpSp>
          <p:nvGrpSpPr>
            <p:cNvPr id="17" name="Groupe 16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26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8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9" name="Rectangle 28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8" name="Groupe 17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24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" name="Rectangle 24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20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1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2" name="Rectangle 21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93255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89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116489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Shifted complementary control</a:t>
            </a:r>
          </a:p>
        </p:txBody>
      </p:sp>
      <p:grpSp>
        <p:nvGrpSpPr>
          <p:cNvPr id="7" name="Groupe 1"/>
          <p:cNvGrpSpPr>
            <a:grpSpLocks/>
          </p:cNvGrpSpPr>
          <p:nvPr/>
        </p:nvGrpSpPr>
        <p:grpSpPr bwMode="auto">
          <a:xfrm>
            <a:off x="2621458" y="2939360"/>
            <a:ext cx="8784143" cy="2734414"/>
            <a:chOff x="457273" y="3457351"/>
            <a:chExt cx="8785226" cy="2733675"/>
          </a:xfrm>
        </p:grpSpPr>
        <p:sp>
          <p:nvSpPr>
            <p:cNvPr id="8" name="Rectangle 17"/>
            <p:cNvSpPr>
              <a:spLocks noChangeArrowheads="1"/>
            </p:cNvSpPr>
            <p:nvPr/>
          </p:nvSpPr>
          <p:spPr bwMode="auto">
            <a:xfrm>
              <a:off x="668411" y="3647673"/>
              <a:ext cx="2109824" cy="93503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2</a:t>
              </a:r>
              <a:endParaRPr lang="fr-FR" altLang="fr-FR" sz="1800">
                <a:latin typeface="Calibri (Corps)"/>
              </a:endParaRPr>
            </a:p>
          </p:txBody>
        </p:sp>
        <p:sp>
          <p:nvSpPr>
            <p:cNvPr id="10" name="Rectangle 16"/>
            <p:cNvSpPr>
              <a:spLocks noChangeArrowheads="1"/>
            </p:cNvSpPr>
            <p:nvPr/>
          </p:nvSpPr>
          <p:spPr bwMode="auto">
            <a:xfrm>
              <a:off x="5655806" y="4582194"/>
              <a:ext cx="3381375" cy="93503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3</a:t>
              </a:r>
              <a:endParaRPr lang="fr-FR" altLang="fr-FR" sz="1800">
                <a:latin typeface="Calibri (Corps)"/>
              </a:endParaRPr>
            </a:p>
          </p:txBody>
        </p:sp>
        <p:grpSp>
          <p:nvGrpSpPr>
            <p:cNvPr id="12" name="Group 20"/>
            <p:cNvGrpSpPr>
              <a:grpSpLocks/>
            </p:cNvGrpSpPr>
            <p:nvPr/>
          </p:nvGrpSpPr>
          <p:grpSpPr bwMode="auto">
            <a:xfrm>
              <a:off x="457273" y="3457351"/>
              <a:ext cx="8785226" cy="2733675"/>
              <a:chOff x="1156" y="1823"/>
              <a:chExt cx="5534" cy="1722"/>
            </a:xfrm>
          </p:grpSpPr>
          <p:sp>
            <p:nvSpPr>
              <p:cNvPr id="17" name="Line 5"/>
              <p:cNvSpPr>
                <a:spLocks noChangeShapeType="1"/>
              </p:cNvSpPr>
              <p:nvPr/>
            </p:nvSpPr>
            <p:spPr bwMode="auto">
              <a:xfrm>
                <a:off x="1156" y="3113"/>
                <a:ext cx="550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19" name="Text Box 10"/>
              <p:cNvSpPr txBox="1">
                <a:spLocks noChangeArrowheads="1"/>
              </p:cNvSpPr>
              <p:nvPr/>
            </p:nvSpPr>
            <p:spPr bwMode="auto">
              <a:xfrm>
                <a:off x="1201" y="3216"/>
                <a:ext cx="243" cy="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800">
                    <a:latin typeface="Calibri (Corps)"/>
                  </a:rPr>
                  <a:t>0</a:t>
                </a:r>
              </a:p>
            </p:txBody>
          </p:sp>
          <p:sp>
            <p:nvSpPr>
              <p:cNvPr id="20" name="Text Box 11"/>
              <p:cNvSpPr txBox="1">
                <a:spLocks noChangeArrowheads="1"/>
              </p:cNvSpPr>
              <p:nvPr/>
            </p:nvSpPr>
            <p:spPr bwMode="auto">
              <a:xfrm>
                <a:off x="1609" y="3165"/>
                <a:ext cx="47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800">
                    <a:latin typeface="Calibri (Corps)"/>
                  </a:rPr>
                  <a:t>a</a:t>
                </a:r>
                <a:r>
                  <a:rPr lang="fr-FR" altLang="fr-FR" sz="2800" baseline="-25000">
                    <a:latin typeface="Calibri (Corps)"/>
                  </a:rPr>
                  <a:t>1</a:t>
                </a:r>
                <a:r>
                  <a:rPr lang="fr-FR" altLang="fr-FR" sz="2800">
                    <a:latin typeface="Calibri (Corps)"/>
                  </a:rPr>
                  <a:t>T</a:t>
                </a:r>
              </a:p>
            </p:txBody>
          </p:sp>
          <p:sp>
            <p:nvSpPr>
              <p:cNvPr id="21" name="Text Box 12"/>
              <p:cNvSpPr txBox="1">
                <a:spLocks noChangeArrowheads="1"/>
              </p:cNvSpPr>
              <p:nvPr/>
            </p:nvSpPr>
            <p:spPr bwMode="auto">
              <a:xfrm>
                <a:off x="3786" y="3165"/>
                <a:ext cx="2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800">
                    <a:latin typeface="Calibri (Corps)"/>
                  </a:rPr>
                  <a:t>T</a:t>
                </a:r>
              </a:p>
            </p:txBody>
          </p:sp>
          <p:sp>
            <p:nvSpPr>
              <p:cNvPr id="22" name="Rectangle 15"/>
              <p:cNvSpPr>
                <a:spLocks noChangeArrowheads="1"/>
              </p:cNvSpPr>
              <p:nvPr/>
            </p:nvSpPr>
            <p:spPr bwMode="auto">
              <a:xfrm>
                <a:off x="2607" y="1941"/>
                <a:ext cx="498" cy="589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Calibri (Corps)"/>
                  </a:rPr>
                  <a:t>T</a:t>
                </a:r>
                <a:r>
                  <a:rPr lang="fr-FR" altLang="fr-FR" sz="1800" baseline="-25000">
                    <a:latin typeface="Calibri (Corps)"/>
                  </a:rPr>
                  <a:t>4</a:t>
                </a: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23" name="Rectangle 16"/>
              <p:cNvSpPr>
                <a:spLocks noChangeArrowheads="1"/>
              </p:cNvSpPr>
              <p:nvPr/>
            </p:nvSpPr>
            <p:spPr bwMode="auto">
              <a:xfrm>
                <a:off x="1791" y="2522"/>
                <a:ext cx="2130" cy="589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Calibri (Corps)"/>
                  </a:rPr>
                  <a:t>T</a:t>
                </a:r>
                <a:r>
                  <a:rPr lang="fr-FR" altLang="fr-FR" sz="1800" baseline="-25000">
                    <a:latin typeface="Calibri (Corps)"/>
                  </a:rPr>
                  <a:t>3</a:t>
                </a: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24" name="Rectangle 17"/>
              <p:cNvSpPr>
                <a:spLocks noChangeArrowheads="1"/>
              </p:cNvSpPr>
              <p:nvPr/>
            </p:nvSpPr>
            <p:spPr bwMode="auto">
              <a:xfrm>
                <a:off x="3108" y="1939"/>
                <a:ext cx="2142" cy="589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Calibri (Corps)"/>
                  </a:rPr>
                  <a:t>T</a:t>
                </a:r>
                <a:r>
                  <a:rPr lang="fr-FR" altLang="fr-FR" sz="1800" baseline="-25000">
                    <a:latin typeface="Calibri (Corps)"/>
                  </a:rPr>
                  <a:t>2</a:t>
                </a: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25" name="Text Box 18"/>
              <p:cNvSpPr txBox="1">
                <a:spLocks noChangeArrowheads="1"/>
              </p:cNvSpPr>
              <p:nvPr/>
            </p:nvSpPr>
            <p:spPr bwMode="auto">
              <a:xfrm>
                <a:off x="2380" y="3157"/>
                <a:ext cx="444" cy="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800">
                    <a:latin typeface="Calibri (Corps)"/>
                  </a:rPr>
                  <a:t>T/2</a:t>
                </a:r>
              </a:p>
            </p:txBody>
          </p:sp>
          <p:sp>
            <p:nvSpPr>
              <p:cNvPr id="26" name="Rectangle 19"/>
              <p:cNvSpPr>
                <a:spLocks noChangeArrowheads="1"/>
              </p:cNvSpPr>
              <p:nvPr/>
            </p:nvSpPr>
            <p:spPr bwMode="auto">
              <a:xfrm>
                <a:off x="1292" y="2522"/>
                <a:ext cx="498" cy="589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Calibri (Corps)"/>
                  </a:rPr>
                  <a:t>T</a:t>
                </a:r>
                <a:r>
                  <a:rPr lang="fr-FR" altLang="fr-FR" sz="1800" baseline="-25000">
                    <a:latin typeface="Calibri (Corps)"/>
                  </a:rPr>
                  <a:t>1</a:t>
                </a: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27" name="Text Box 7"/>
              <p:cNvSpPr txBox="1">
                <a:spLocks noChangeArrowheads="1"/>
              </p:cNvSpPr>
              <p:nvPr/>
            </p:nvSpPr>
            <p:spPr bwMode="auto">
              <a:xfrm>
                <a:off x="6534" y="2847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dirty="0">
                    <a:latin typeface="Calibri (Corps)"/>
                  </a:rPr>
                  <a:t>t</a:t>
                </a:r>
              </a:p>
            </p:txBody>
          </p:sp>
          <p:sp>
            <p:nvSpPr>
              <p:cNvPr id="18" name="Line 6"/>
              <p:cNvSpPr>
                <a:spLocks noChangeShapeType="1"/>
              </p:cNvSpPr>
              <p:nvPr/>
            </p:nvSpPr>
            <p:spPr bwMode="auto">
              <a:xfrm flipV="1">
                <a:off x="1289" y="1823"/>
                <a:ext cx="0" cy="142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5433556" y="5561472"/>
              <a:ext cx="116730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Calibri (Corps)"/>
                </a:rPr>
                <a:t>T+a</a:t>
              </a:r>
              <a:r>
                <a:rPr lang="fr-FR" altLang="fr-FR" sz="2800" baseline="-25000">
                  <a:latin typeface="Calibri (Corps)"/>
                </a:rPr>
                <a:t>1</a:t>
              </a:r>
              <a:r>
                <a:rPr lang="fr-FR" altLang="fr-FR" sz="2800">
                  <a:latin typeface="Calibri (Corps)"/>
                </a:rPr>
                <a:t>T</a:t>
              </a:r>
            </a:p>
          </p:txBody>
        </p:sp>
        <p:sp>
          <p:nvSpPr>
            <p:cNvPr id="14" name="Rectangle 19"/>
            <p:cNvSpPr>
              <a:spLocks noChangeArrowheads="1"/>
            </p:cNvSpPr>
            <p:nvPr/>
          </p:nvSpPr>
          <p:spPr bwMode="auto">
            <a:xfrm>
              <a:off x="4866252" y="4569056"/>
              <a:ext cx="790575" cy="935038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1</a:t>
              </a:r>
              <a:endParaRPr lang="fr-FR" altLang="fr-FR" sz="1800">
                <a:latin typeface="Calibri (Corps)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6953815" y="3635950"/>
              <a:ext cx="817561" cy="935038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4</a:t>
              </a:r>
              <a:endParaRPr lang="fr-FR" altLang="fr-FR" sz="1800">
                <a:latin typeface="Calibri (Corps)"/>
              </a:endParaRP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7771376" y="3641153"/>
              <a:ext cx="1265805" cy="93503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2</a:t>
              </a:r>
              <a:endParaRPr lang="fr-FR" altLang="fr-FR" sz="1800">
                <a:latin typeface="Calibri (Corps)"/>
              </a:endParaRPr>
            </a:p>
          </p:txBody>
        </p:sp>
      </p:grpSp>
      <p:cxnSp>
        <p:nvCxnSpPr>
          <p:cNvPr id="28" name="Connecteur droit 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29" name="Groupe 28"/>
          <p:cNvGrpSpPr/>
          <p:nvPr/>
        </p:nvGrpSpPr>
        <p:grpSpPr>
          <a:xfrm>
            <a:off x="8054789" y="297987"/>
            <a:ext cx="4043082" cy="2607173"/>
            <a:chOff x="3455122" y="1395665"/>
            <a:chExt cx="7083001" cy="4675692"/>
          </a:xfrm>
        </p:grpSpPr>
        <p:grpSp>
          <p:nvGrpSpPr>
            <p:cNvPr id="32" name="Groupe 31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41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43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44" name="Rectangle 43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33" name="Groupe 32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34" name="Groupe 33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39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" name="Rectangle 39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35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36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37" name="Rectangle 36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37609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ous-titre 2"/>
          <p:cNvSpPr txBox="1">
            <a:spLocks/>
          </p:cNvSpPr>
          <p:nvPr/>
        </p:nvSpPr>
        <p:spPr>
          <a:xfrm>
            <a:off x="2445625" y="620209"/>
            <a:ext cx="6116489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Shifted complementary control</a:t>
            </a:r>
          </a:p>
        </p:txBody>
      </p:sp>
      <p:grpSp>
        <p:nvGrpSpPr>
          <p:cNvPr id="30" name="Groupe 1"/>
          <p:cNvGrpSpPr>
            <a:grpSpLocks/>
          </p:cNvGrpSpPr>
          <p:nvPr/>
        </p:nvGrpSpPr>
        <p:grpSpPr bwMode="auto">
          <a:xfrm>
            <a:off x="2621458" y="1402660"/>
            <a:ext cx="8784143" cy="2734414"/>
            <a:chOff x="457273" y="3457351"/>
            <a:chExt cx="8785226" cy="2733675"/>
          </a:xfrm>
        </p:grpSpPr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668411" y="3647673"/>
              <a:ext cx="2109824" cy="93503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2</a:t>
              </a:r>
              <a:endParaRPr lang="fr-FR" altLang="fr-FR" sz="1800">
                <a:latin typeface="Calibri (Corps)"/>
              </a:endParaRPr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5655806" y="4582194"/>
              <a:ext cx="3381375" cy="93503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3</a:t>
              </a:r>
              <a:endParaRPr lang="fr-FR" altLang="fr-FR" sz="1800">
                <a:latin typeface="Calibri (Corps)"/>
              </a:endParaRPr>
            </a:p>
          </p:txBody>
        </p:sp>
        <p:grpSp>
          <p:nvGrpSpPr>
            <p:cNvPr id="33" name="Group 20"/>
            <p:cNvGrpSpPr>
              <a:grpSpLocks/>
            </p:cNvGrpSpPr>
            <p:nvPr/>
          </p:nvGrpSpPr>
          <p:grpSpPr bwMode="auto">
            <a:xfrm>
              <a:off x="457273" y="3457351"/>
              <a:ext cx="8785226" cy="2733675"/>
              <a:chOff x="1156" y="1823"/>
              <a:chExt cx="5534" cy="1722"/>
            </a:xfrm>
          </p:grpSpPr>
          <p:sp>
            <p:nvSpPr>
              <p:cNvPr id="38" name="Line 5"/>
              <p:cNvSpPr>
                <a:spLocks noChangeShapeType="1"/>
              </p:cNvSpPr>
              <p:nvPr/>
            </p:nvSpPr>
            <p:spPr bwMode="auto">
              <a:xfrm>
                <a:off x="1156" y="3113"/>
                <a:ext cx="550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9" name="Text Box 10"/>
              <p:cNvSpPr txBox="1">
                <a:spLocks noChangeArrowheads="1"/>
              </p:cNvSpPr>
              <p:nvPr/>
            </p:nvSpPr>
            <p:spPr bwMode="auto">
              <a:xfrm>
                <a:off x="1201" y="3216"/>
                <a:ext cx="243" cy="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800">
                    <a:latin typeface="Calibri (Corps)"/>
                  </a:rPr>
                  <a:t>0</a:t>
                </a:r>
              </a:p>
            </p:txBody>
          </p:sp>
          <p:sp>
            <p:nvSpPr>
              <p:cNvPr id="40" name="Text Box 11"/>
              <p:cNvSpPr txBox="1">
                <a:spLocks noChangeArrowheads="1"/>
              </p:cNvSpPr>
              <p:nvPr/>
            </p:nvSpPr>
            <p:spPr bwMode="auto">
              <a:xfrm>
                <a:off x="1609" y="3165"/>
                <a:ext cx="47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800">
                    <a:latin typeface="Calibri (Corps)"/>
                  </a:rPr>
                  <a:t>a</a:t>
                </a:r>
                <a:r>
                  <a:rPr lang="fr-FR" altLang="fr-FR" sz="2800" baseline="-25000">
                    <a:latin typeface="Calibri (Corps)"/>
                  </a:rPr>
                  <a:t>1</a:t>
                </a:r>
                <a:r>
                  <a:rPr lang="fr-FR" altLang="fr-FR" sz="2800">
                    <a:latin typeface="Calibri (Corps)"/>
                  </a:rPr>
                  <a:t>T</a:t>
                </a:r>
              </a:p>
            </p:txBody>
          </p:sp>
          <p:sp>
            <p:nvSpPr>
              <p:cNvPr id="41" name="Text Box 12"/>
              <p:cNvSpPr txBox="1">
                <a:spLocks noChangeArrowheads="1"/>
              </p:cNvSpPr>
              <p:nvPr/>
            </p:nvSpPr>
            <p:spPr bwMode="auto">
              <a:xfrm>
                <a:off x="3786" y="3165"/>
                <a:ext cx="2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800">
                    <a:latin typeface="Calibri (Corps)"/>
                  </a:rPr>
                  <a:t>T</a:t>
                </a:r>
              </a:p>
            </p:txBody>
          </p:sp>
          <p:sp>
            <p:nvSpPr>
              <p:cNvPr id="42" name="Rectangle 15"/>
              <p:cNvSpPr>
                <a:spLocks noChangeArrowheads="1"/>
              </p:cNvSpPr>
              <p:nvPr/>
            </p:nvSpPr>
            <p:spPr bwMode="auto">
              <a:xfrm>
                <a:off x="2607" y="1941"/>
                <a:ext cx="498" cy="589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Calibri (Corps)"/>
                  </a:rPr>
                  <a:t>T</a:t>
                </a:r>
                <a:r>
                  <a:rPr lang="fr-FR" altLang="fr-FR" sz="1800" baseline="-25000">
                    <a:latin typeface="Calibri (Corps)"/>
                  </a:rPr>
                  <a:t>4</a:t>
                </a: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43" name="Rectangle 16"/>
              <p:cNvSpPr>
                <a:spLocks noChangeArrowheads="1"/>
              </p:cNvSpPr>
              <p:nvPr/>
            </p:nvSpPr>
            <p:spPr bwMode="auto">
              <a:xfrm>
                <a:off x="1791" y="2522"/>
                <a:ext cx="2130" cy="589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Calibri (Corps)"/>
                  </a:rPr>
                  <a:t>T</a:t>
                </a:r>
                <a:r>
                  <a:rPr lang="fr-FR" altLang="fr-FR" sz="1800" baseline="-25000">
                    <a:latin typeface="Calibri (Corps)"/>
                  </a:rPr>
                  <a:t>3</a:t>
                </a: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44" name="Rectangle 17"/>
              <p:cNvSpPr>
                <a:spLocks noChangeArrowheads="1"/>
              </p:cNvSpPr>
              <p:nvPr/>
            </p:nvSpPr>
            <p:spPr bwMode="auto">
              <a:xfrm>
                <a:off x="3108" y="1939"/>
                <a:ext cx="2142" cy="589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Calibri (Corps)"/>
                  </a:rPr>
                  <a:t>T</a:t>
                </a:r>
                <a:r>
                  <a:rPr lang="fr-FR" altLang="fr-FR" sz="1800" baseline="-25000">
                    <a:latin typeface="Calibri (Corps)"/>
                  </a:rPr>
                  <a:t>2</a:t>
                </a: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45" name="Text Box 18"/>
              <p:cNvSpPr txBox="1">
                <a:spLocks noChangeArrowheads="1"/>
              </p:cNvSpPr>
              <p:nvPr/>
            </p:nvSpPr>
            <p:spPr bwMode="auto">
              <a:xfrm>
                <a:off x="2380" y="3157"/>
                <a:ext cx="444" cy="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800">
                    <a:latin typeface="Calibri (Corps)"/>
                  </a:rPr>
                  <a:t>T/2</a:t>
                </a:r>
              </a:p>
            </p:txBody>
          </p:sp>
          <p:sp>
            <p:nvSpPr>
              <p:cNvPr id="46" name="Rectangle 19"/>
              <p:cNvSpPr>
                <a:spLocks noChangeArrowheads="1"/>
              </p:cNvSpPr>
              <p:nvPr/>
            </p:nvSpPr>
            <p:spPr bwMode="auto">
              <a:xfrm>
                <a:off x="1292" y="2522"/>
                <a:ext cx="498" cy="589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Calibri (Corps)"/>
                  </a:rPr>
                  <a:t>T</a:t>
                </a:r>
                <a:r>
                  <a:rPr lang="fr-FR" altLang="fr-FR" sz="1800" baseline="-25000">
                    <a:latin typeface="Calibri (Corps)"/>
                  </a:rPr>
                  <a:t>1</a:t>
                </a: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47" name="Text Box 7"/>
              <p:cNvSpPr txBox="1">
                <a:spLocks noChangeArrowheads="1"/>
              </p:cNvSpPr>
              <p:nvPr/>
            </p:nvSpPr>
            <p:spPr bwMode="auto">
              <a:xfrm>
                <a:off x="6534" y="2847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dirty="0">
                    <a:latin typeface="Calibri (Corps)"/>
                  </a:rPr>
                  <a:t>t</a:t>
                </a:r>
              </a:p>
            </p:txBody>
          </p:sp>
          <p:sp>
            <p:nvSpPr>
              <p:cNvPr id="48" name="Line 6"/>
              <p:cNvSpPr>
                <a:spLocks noChangeShapeType="1"/>
              </p:cNvSpPr>
              <p:nvPr/>
            </p:nvSpPr>
            <p:spPr bwMode="auto">
              <a:xfrm flipV="1">
                <a:off x="1289" y="1823"/>
                <a:ext cx="0" cy="142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34" name="Text Box 11"/>
            <p:cNvSpPr txBox="1">
              <a:spLocks noChangeArrowheads="1"/>
            </p:cNvSpPr>
            <p:nvPr/>
          </p:nvSpPr>
          <p:spPr bwMode="auto">
            <a:xfrm>
              <a:off x="5433556" y="5561472"/>
              <a:ext cx="116730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800">
                  <a:latin typeface="Calibri (Corps)"/>
                </a:rPr>
                <a:t>T+a</a:t>
              </a:r>
              <a:r>
                <a:rPr lang="fr-FR" altLang="fr-FR" sz="2800" baseline="-25000">
                  <a:latin typeface="Calibri (Corps)"/>
                </a:rPr>
                <a:t>1</a:t>
              </a:r>
              <a:r>
                <a:rPr lang="fr-FR" altLang="fr-FR" sz="2800">
                  <a:latin typeface="Calibri (Corps)"/>
                </a:rPr>
                <a:t>T</a:t>
              </a:r>
            </a:p>
          </p:txBody>
        </p:sp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4866252" y="4569056"/>
              <a:ext cx="790575" cy="935038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1</a:t>
              </a:r>
              <a:endParaRPr lang="fr-FR" altLang="fr-FR" sz="1800">
                <a:latin typeface="Calibri (Corps)"/>
              </a:endParaRPr>
            </a:p>
          </p:txBody>
        </p:sp>
        <p:sp>
          <p:nvSpPr>
            <p:cNvPr id="36" name="Rectangle 15"/>
            <p:cNvSpPr>
              <a:spLocks noChangeArrowheads="1"/>
            </p:cNvSpPr>
            <p:nvPr/>
          </p:nvSpPr>
          <p:spPr bwMode="auto">
            <a:xfrm>
              <a:off x="6953815" y="3635950"/>
              <a:ext cx="817561" cy="935038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4</a:t>
              </a:r>
              <a:endParaRPr lang="fr-FR" altLang="fr-FR" sz="1800">
                <a:latin typeface="Calibri (Corps)"/>
              </a:endParaRPr>
            </a:p>
          </p:txBody>
        </p:sp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7771376" y="3641153"/>
              <a:ext cx="1265805" cy="93503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T</a:t>
              </a:r>
              <a:r>
                <a:rPr lang="fr-FR" altLang="fr-FR" sz="1800" baseline="-25000">
                  <a:latin typeface="Calibri (Corps)"/>
                </a:rPr>
                <a:t>2</a:t>
              </a:r>
              <a:endParaRPr lang="fr-FR" altLang="fr-FR" sz="1800">
                <a:latin typeface="Calibri (Corps)"/>
              </a:endParaRPr>
            </a:p>
          </p:txBody>
        </p:sp>
      </p:grpSp>
      <p:cxnSp>
        <p:nvCxnSpPr>
          <p:cNvPr id="49" name="Connecteur droit 4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0" y="0"/>
            <a:ext cx="247996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C06D8F73-B4EF-48F5-84C5-30E814F6B2A9}" type="slidenum">
              <a:rPr lang="it-IT" sz="900" smtClean="0">
                <a:solidFill>
                  <a:srgbClr val="777877"/>
                </a:solidFill>
                <a:latin typeface="Myriad Pro"/>
                <a:cs typeface="Myriad Pro"/>
              </a:rPr>
              <a:t>90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2621457" y="5074059"/>
            <a:ext cx="8742873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Line 6"/>
          <p:cNvSpPr>
            <a:spLocks noChangeShapeType="1"/>
          </p:cNvSpPr>
          <p:nvPr/>
        </p:nvSpPr>
        <p:spPr bwMode="auto">
          <a:xfrm flipV="1">
            <a:off x="2832568" y="3993460"/>
            <a:ext cx="0" cy="226279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cxnSp>
        <p:nvCxnSpPr>
          <p:cNvPr id="57" name="Connecteur droit 56"/>
          <p:cNvCxnSpPr/>
          <p:nvPr/>
        </p:nvCxnSpPr>
        <p:spPr>
          <a:xfrm>
            <a:off x="2832568" y="5074059"/>
            <a:ext cx="79524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 flipV="1">
            <a:off x="3626399" y="5074059"/>
            <a:ext cx="0" cy="7303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3626399" y="5785808"/>
            <a:ext cx="12768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 flipV="1">
            <a:off x="4865108" y="5074059"/>
            <a:ext cx="0" cy="7303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4844477" y="5068118"/>
            <a:ext cx="79524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5639718" y="5786357"/>
            <a:ext cx="12768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V="1">
            <a:off x="5640726" y="5055418"/>
            <a:ext cx="0" cy="7303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6900173" y="5055967"/>
            <a:ext cx="0" cy="7303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6879542" y="5050026"/>
            <a:ext cx="894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9022187" y="5097990"/>
            <a:ext cx="79524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>
            <a:off x="9817428" y="5816229"/>
            <a:ext cx="12768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 flipV="1">
            <a:off x="9818436" y="5085290"/>
            <a:ext cx="0" cy="7303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7774475" y="5789091"/>
            <a:ext cx="12768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 flipV="1">
            <a:off x="7775483" y="5058152"/>
            <a:ext cx="0" cy="7303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 flipV="1">
            <a:off x="9053610" y="5076244"/>
            <a:ext cx="0" cy="7303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/>
          <p:cNvSpPr txBox="1"/>
          <p:nvPr/>
        </p:nvSpPr>
        <p:spPr>
          <a:xfrm>
            <a:off x="2332583" y="3996094"/>
            <a:ext cx="574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U(t)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ZoneTexte 82"/>
              <p:cNvSpPr txBox="1"/>
              <p:nvPr/>
            </p:nvSpPr>
            <p:spPr>
              <a:xfrm>
                <a:off x="5640801" y="4185458"/>
                <a:ext cx="1864569" cy="52322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fr-FR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ZoneTexte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801" y="4185458"/>
                <a:ext cx="186456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e 52"/>
          <p:cNvGrpSpPr/>
          <p:nvPr/>
        </p:nvGrpSpPr>
        <p:grpSpPr>
          <a:xfrm>
            <a:off x="9695329" y="123176"/>
            <a:ext cx="2402542" cy="1400885"/>
            <a:chOff x="3455122" y="1395665"/>
            <a:chExt cx="7083001" cy="4675692"/>
          </a:xfrm>
        </p:grpSpPr>
        <p:grpSp>
          <p:nvGrpSpPr>
            <p:cNvPr id="56" name="Groupe 55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80" name="Picture 3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1" name="Picture 5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84" name="Picture 5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85" name="Rectangle 84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59" name="Groupe 58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60" name="Groupe 59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78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9" name="Rectangle 78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62" name="Picture 5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69" name="Picture 5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70" name="Rectangle 69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95374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32892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Shifted complementary control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5191995" y="4660329"/>
            <a:ext cx="4770438" cy="1368425"/>
            <a:chOff x="1760" y="2931"/>
            <a:chExt cx="3005" cy="862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1760" y="2931"/>
              <a:ext cx="363" cy="8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92 w 21600"/>
                <a:gd name="T13" fmla="*/ 5413 h 21600"/>
                <a:gd name="T14" fmla="*/ 18922 w 21600"/>
                <a:gd name="T15" fmla="*/ 1621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292" y="2989"/>
              <a:ext cx="2473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400" b="1" i="1" dirty="0">
                  <a:latin typeface="Calibri (Corps)"/>
                </a:rPr>
                <a:t>Voltage ripple reduced: 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400" b="1" i="1" dirty="0">
                  <a:latin typeface="Calibri (Corps)"/>
                </a:rPr>
                <a:t>High switching frequency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400" b="1" i="1" dirty="0">
                  <a:latin typeface="Calibri (Corps)"/>
                </a:rPr>
                <a:t>=&gt; PWM</a:t>
              </a:r>
              <a:endParaRPr lang="fr-FR" altLang="fr-FR" sz="2400" b="1" i="1" dirty="0">
                <a:latin typeface="Calibri (Corps)"/>
              </a:endParaRPr>
            </a:p>
          </p:txBody>
        </p:sp>
      </p:grp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8409858" y="2140966"/>
            <a:ext cx="18938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latin typeface="Calibri (Corps)"/>
              </a:rPr>
              <a:t>U = (2a-1).E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0"/>
            <a:ext cx="247996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13" name="Groupe 12"/>
          <p:cNvGrpSpPr/>
          <p:nvPr/>
        </p:nvGrpSpPr>
        <p:grpSpPr>
          <a:xfrm>
            <a:off x="2988524" y="1196947"/>
            <a:ext cx="4912773" cy="3360987"/>
            <a:chOff x="3455122" y="1395665"/>
            <a:chExt cx="7083001" cy="4675692"/>
          </a:xfrm>
        </p:grpSpPr>
        <p:grpSp>
          <p:nvGrpSpPr>
            <p:cNvPr id="16" name="Groupe 15"/>
            <p:cNvGrpSpPr/>
            <p:nvPr/>
          </p:nvGrpSpPr>
          <p:grpSpPr>
            <a:xfrm>
              <a:off x="3455122" y="1452274"/>
              <a:ext cx="5546003" cy="4475162"/>
              <a:chOff x="3455122" y="1452274"/>
              <a:chExt cx="5546003" cy="4475162"/>
            </a:xfrm>
          </p:grpSpPr>
          <p:pic>
            <p:nvPicPr>
              <p:cNvPr id="25" name="Picture 3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1405"/>
              <a:stretch/>
            </p:blipFill>
            <p:spPr bwMode="auto">
              <a:xfrm>
                <a:off x="3455122" y="1452274"/>
                <a:ext cx="5546003" cy="44751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229430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7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5204542" y="4626024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8" name="Rectangle 27"/>
              <p:cNvSpPr/>
              <p:nvPr/>
            </p:nvSpPr>
            <p:spPr>
              <a:xfrm>
                <a:off x="5815590" y="234566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5815590" y="4611950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" name="Groupe 16"/>
            <p:cNvGrpSpPr/>
            <p:nvPr/>
          </p:nvGrpSpPr>
          <p:grpSpPr>
            <a:xfrm>
              <a:off x="8686222" y="1395665"/>
              <a:ext cx="1851901" cy="4675692"/>
              <a:chOff x="10340099" y="1270000"/>
              <a:chExt cx="1851901" cy="4675692"/>
            </a:xfrm>
          </p:grpSpPr>
          <p:grpSp>
            <p:nvGrpSpPr>
              <p:cNvPr id="18" name="Groupe 17"/>
              <p:cNvGrpSpPr/>
              <p:nvPr/>
            </p:nvGrpSpPr>
            <p:grpSpPr>
              <a:xfrm>
                <a:off x="10591506" y="1270000"/>
                <a:ext cx="1600494" cy="4675692"/>
                <a:chOff x="10591506" y="1270000"/>
                <a:chExt cx="1600494" cy="4675692"/>
              </a:xfrm>
            </p:grpSpPr>
            <p:pic>
              <p:nvPicPr>
                <p:cNvPr id="23" name="Picture 3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8361" t="-1288" r="-944" b="-3193"/>
                <a:stretch/>
              </p:blipFill>
              <p:spPr bwMode="auto">
                <a:xfrm>
                  <a:off x="10598439" y="1270000"/>
                  <a:ext cx="1593561" cy="46756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4" name="Rectangle 23"/>
                <p:cNvSpPr/>
                <p:nvPr/>
              </p:nvSpPr>
              <p:spPr>
                <a:xfrm>
                  <a:off x="10591506" y="3862099"/>
                  <a:ext cx="359641" cy="989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pic>
            <p:nvPicPr>
              <p:cNvPr id="19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217669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pic>
            <p:nvPicPr>
              <p:cNvPr id="20" name="Picture 5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23" t="29340" r="15003" b="22493"/>
              <a:stretch/>
            </p:blipFill>
            <p:spPr bwMode="auto">
              <a:xfrm>
                <a:off x="10340099" y="4508412"/>
                <a:ext cx="611048" cy="5654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21" name="Rectangle 20"/>
              <p:cNvSpPr/>
              <p:nvPr/>
            </p:nvSpPr>
            <p:spPr>
              <a:xfrm>
                <a:off x="10951147" y="2228056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0951147" y="4494338"/>
                <a:ext cx="364230" cy="5935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088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32892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Stepper motor control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0"/>
            <a:ext cx="247996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30" name="Group 18"/>
          <p:cNvGrpSpPr>
            <a:grpSpLocks/>
          </p:cNvGrpSpPr>
          <p:nvPr/>
        </p:nvGrpSpPr>
        <p:grpSpPr bwMode="auto">
          <a:xfrm>
            <a:off x="6354417" y="1606099"/>
            <a:ext cx="4315193" cy="4210878"/>
            <a:chOff x="2759" y="456"/>
            <a:chExt cx="2149" cy="2177"/>
          </a:xfrm>
        </p:grpSpPr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2759" y="1193"/>
              <a:ext cx="1584" cy="1440"/>
            </a:xfrm>
            <a:custGeom>
              <a:avLst/>
              <a:gdLst>
                <a:gd name="T0" fmla="*/ 1122 w 1584"/>
                <a:gd name="T1" fmla="*/ 0 h 1440"/>
                <a:gd name="T2" fmla="*/ 1584 w 1584"/>
                <a:gd name="T3" fmla="*/ 0 h 1440"/>
                <a:gd name="T4" fmla="*/ 1584 w 1584"/>
                <a:gd name="T5" fmla="*/ 1440 h 1440"/>
                <a:gd name="T6" fmla="*/ 0 w 1584"/>
                <a:gd name="T7" fmla="*/ 1440 h 1440"/>
                <a:gd name="T8" fmla="*/ 0 w 1584"/>
                <a:gd name="T9" fmla="*/ 0 h 1440"/>
                <a:gd name="T10" fmla="*/ 456 w 1584"/>
                <a:gd name="T11" fmla="*/ 0 h 1440"/>
                <a:gd name="T12" fmla="*/ 456 w 1584"/>
                <a:gd name="T13" fmla="*/ 140 h 1440"/>
                <a:gd name="T14" fmla="*/ 175 w 1584"/>
                <a:gd name="T15" fmla="*/ 139 h 1440"/>
                <a:gd name="T16" fmla="*/ 175 w 1584"/>
                <a:gd name="T17" fmla="*/ 1279 h 1440"/>
                <a:gd name="T18" fmla="*/ 1392 w 1584"/>
                <a:gd name="T19" fmla="*/ 1282 h 1440"/>
                <a:gd name="T20" fmla="*/ 1392 w 1584"/>
                <a:gd name="T21" fmla="*/ 136 h 1440"/>
                <a:gd name="T22" fmla="*/ 1122 w 1584"/>
                <a:gd name="T23" fmla="*/ 136 h 1440"/>
                <a:gd name="T24" fmla="*/ 1122 w 1584"/>
                <a:gd name="T25" fmla="*/ 0 h 14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84" h="1440">
                  <a:moveTo>
                    <a:pt x="1122" y="0"/>
                  </a:moveTo>
                  <a:lnTo>
                    <a:pt x="1584" y="0"/>
                  </a:lnTo>
                  <a:lnTo>
                    <a:pt x="1584" y="1440"/>
                  </a:lnTo>
                  <a:lnTo>
                    <a:pt x="0" y="1440"/>
                  </a:lnTo>
                  <a:lnTo>
                    <a:pt x="0" y="0"/>
                  </a:lnTo>
                  <a:lnTo>
                    <a:pt x="456" y="0"/>
                  </a:lnTo>
                  <a:lnTo>
                    <a:pt x="456" y="140"/>
                  </a:lnTo>
                  <a:lnTo>
                    <a:pt x="175" y="139"/>
                  </a:lnTo>
                  <a:lnTo>
                    <a:pt x="175" y="1279"/>
                  </a:lnTo>
                  <a:lnTo>
                    <a:pt x="1392" y="1282"/>
                  </a:lnTo>
                  <a:lnTo>
                    <a:pt x="1392" y="136"/>
                  </a:lnTo>
                  <a:lnTo>
                    <a:pt x="1122" y="136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32" name="Freeform 20"/>
            <p:cNvSpPr>
              <a:spLocks/>
            </p:cNvSpPr>
            <p:nvPr/>
          </p:nvSpPr>
          <p:spPr bwMode="auto">
            <a:xfrm>
              <a:off x="3468" y="456"/>
              <a:ext cx="1440" cy="1584"/>
            </a:xfrm>
            <a:custGeom>
              <a:avLst/>
              <a:gdLst>
                <a:gd name="T0" fmla="*/ 0 w 1440"/>
                <a:gd name="T1" fmla="*/ 462 h 1584"/>
                <a:gd name="T2" fmla="*/ 0 w 1440"/>
                <a:gd name="T3" fmla="*/ 0 h 1584"/>
                <a:gd name="T4" fmla="*/ 1440 w 1440"/>
                <a:gd name="T5" fmla="*/ 0 h 1584"/>
                <a:gd name="T6" fmla="*/ 1440 w 1440"/>
                <a:gd name="T7" fmla="*/ 1584 h 1584"/>
                <a:gd name="T8" fmla="*/ 0 w 1440"/>
                <a:gd name="T9" fmla="*/ 1584 h 1584"/>
                <a:gd name="T10" fmla="*/ 0 w 1440"/>
                <a:gd name="T11" fmla="*/ 1128 h 1584"/>
                <a:gd name="T12" fmla="*/ 140 w 1440"/>
                <a:gd name="T13" fmla="*/ 1128 h 1584"/>
                <a:gd name="T14" fmla="*/ 138 w 1440"/>
                <a:gd name="T15" fmla="*/ 1440 h 1584"/>
                <a:gd name="T16" fmla="*/ 1284 w 1440"/>
                <a:gd name="T17" fmla="*/ 1440 h 1584"/>
                <a:gd name="T18" fmla="*/ 1284 w 1440"/>
                <a:gd name="T19" fmla="*/ 132 h 1584"/>
                <a:gd name="T20" fmla="*/ 138 w 1440"/>
                <a:gd name="T21" fmla="*/ 132 h 1584"/>
                <a:gd name="T22" fmla="*/ 136 w 1440"/>
                <a:gd name="T23" fmla="*/ 462 h 1584"/>
                <a:gd name="T24" fmla="*/ 0 w 1440"/>
                <a:gd name="T25" fmla="*/ 462 h 15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40" h="1584">
                  <a:moveTo>
                    <a:pt x="0" y="462"/>
                  </a:moveTo>
                  <a:lnTo>
                    <a:pt x="0" y="0"/>
                  </a:lnTo>
                  <a:lnTo>
                    <a:pt x="1440" y="0"/>
                  </a:lnTo>
                  <a:lnTo>
                    <a:pt x="1440" y="1584"/>
                  </a:lnTo>
                  <a:lnTo>
                    <a:pt x="0" y="1584"/>
                  </a:lnTo>
                  <a:lnTo>
                    <a:pt x="0" y="1128"/>
                  </a:lnTo>
                  <a:lnTo>
                    <a:pt x="140" y="1128"/>
                  </a:lnTo>
                  <a:lnTo>
                    <a:pt x="138" y="1440"/>
                  </a:lnTo>
                  <a:lnTo>
                    <a:pt x="1284" y="1440"/>
                  </a:lnTo>
                  <a:lnTo>
                    <a:pt x="1284" y="132"/>
                  </a:lnTo>
                  <a:lnTo>
                    <a:pt x="138" y="132"/>
                  </a:lnTo>
                  <a:lnTo>
                    <a:pt x="136" y="462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</p:grpSp>
      <p:grpSp>
        <p:nvGrpSpPr>
          <p:cNvPr id="33" name="Group 228"/>
          <p:cNvGrpSpPr>
            <a:grpSpLocks/>
          </p:cNvGrpSpPr>
          <p:nvPr/>
        </p:nvGrpSpPr>
        <p:grpSpPr bwMode="auto">
          <a:xfrm>
            <a:off x="7089526" y="5268697"/>
            <a:ext cx="1008017" cy="1203108"/>
            <a:chOff x="3431" y="2976"/>
            <a:chExt cx="502" cy="622"/>
          </a:xfrm>
        </p:grpSpPr>
        <p:sp>
          <p:nvSpPr>
            <p:cNvPr id="34" name="Text Box 134"/>
            <p:cNvSpPr txBox="1">
              <a:spLocks noChangeArrowheads="1"/>
            </p:cNvSpPr>
            <p:nvPr/>
          </p:nvSpPr>
          <p:spPr bwMode="auto">
            <a:xfrm>
              <a:off x="3431" y="3359"/>
              <a:ext cx="28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7145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2860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43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004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57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14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Calibri (Corps)"/>
                </a:rPr>
                <a:t>B2</a:t>
              </a:r>
            </a:p>
          </p:txBody>
        </p:sp>
        <p:grpSp>
          <p:nvGrpSpPr>
            <p:cNvPr id="35" name="Group 56"/>
            <p:cNvGrpSpPr>
              <a:grpSpLocks/>
            </p:cNvGrpSpPr>
            <p:nvPr/>
          </p:nvGrpSpPr>
          <p:grpSpPr bwMode="auto">
            <a:xfrm rot="5400000" flipV="1">
              <a:off x="3588" y="3132"/>
              <a:ext cx="502" cy="189"/>
              <a:chOff x="0" y="0"/>
              <a:chExt cx="20000" cy="19998"/>
            </a:xfrm>
          </p:grpSpPr>
          <p:sp>
            <p:nvSpPr>
              <p:cNvPr id="36" name="Arc 57"/>
              <p:cNvSpPr>
                <a:spLocks/>
              </p:cNvSpPr>
              <p:nvPr/>
            </p:nvSpPr>
            <p:spPr bwMode="auto">
              <a:xfrm flipH="1">
                <a:off x="6" y="1055"/>
                <a:ext cx="1817" cy="316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37" name="Group 58"/>
              <p:cNvGrpSpPr>
                <a:grpSpLocks/>
              </p:cNvGrpSpPr>
              <p:nvPr/>
            </p:nvGrpSpPr>
            <p:grpSpPr bwMode="auto">
              <a:xfrm>
                <a:off x="0" y="4219"/>
                <a:ext cx="14658" cy="4219"/>
                <a:chOff x="0" y="0"/>
                <a:chExt cx="20001" cy="20000"/>
              </a:xfrm>
            </p:grpSpPr>
            <p:sp>
              <p:nvSpPr>
                <p:cNvPr id="59" name="Arc 59"/>
                <p:cNvSpPr>
                  <a:spLocks/>
                </p:cNvSpPr>
                <p:nvPr/>
              </p:nvSpPr>
              <p:spPr bwMode="auto">
                <a:xfrm flipH="1" flipV="1">
                  <a:off x="0" y="0"/>
                  <a:ext cx="10017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7356 h 21600"/>
                    <a:gd name="T4" fmla="*/ 0 w 21600"/>
                    <a:gd name="T5" fmla="*/ 73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60" name="Arc 60"/>
                <p:cNvSpPr>
                  <a:spLocks/>
                </p:cNvSpPr>
                <p:nvPr/>
              </p:nvSpPr>
              <p:spPr bwMode="auto">
                <a:xfrm flipV="1">
                  <a:off x="9992" y="0"/>
                  <a:ext cx="10009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7356 h 21600"/>
                    <a:gd name="T4" fmla="*/ 0 w 21600"/>
                    <a:gd name="T5" fmla="*/ 73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38" name="Arc 61"/>
              <p:cNvSpPr>
                <a:spLocks/>
              </p:cNvSpPr>
              <p:nvPr/>
            </p:nvSpPr>
            <p:spPr bwMode="auto">
              <a:xfrm>
                <a:off x="13366" y="2194"/>
                <a:ext cx="1340" cy="2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39" name="Group 62"/>
              <p:cNvGrpSpPr>
                <a:grpSpLocks/>
              </p:cNvGrpSpPr>
              <p:nvPr/>
            </p:nvGrpSpPr>
            <p:grpSpPr bwMode="auto">
              <a:xfrm>
                <a:off x="6" y="0"/>
                <a:ext cx="19994" cy="19998"/>
                <a:chOff x="-1" y="0"/>
                <a:chExt cx="20001" cy="19998"/>
              </a:xfrm>
            </p:grpSpPr>
            <p:sp>
              <p:nvSpPr>
                <p:cNvPr id="40" name="Line 63"/>
                <p:cNvSpPr>
                  <a:spLocks noChangeShapeType="1"/>
                </p:cNvSpPr>
                <p:nvPr/>
              </p:nvSpPr>
              <p:spPr bwMode="auto">
                <a:xfrm>
                  <a:off x="13333" y="0"/>
                  <a:ext cx="5792" cy="4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grpSp>
              <p:nvGrpSpPr>
                <p:cNvPr id="41" name="Group 64"/>
                <p:cNvGrpSpPr>
                  <a:grpSpLocks/>
                </p:cNvGrpSpPr>
                <p:nvPr/>
              </p:nvGrpSpPr>
              <p:grpSpPr bwMode="auto">
                <a:xfrm>
                  <a:off x="-1" y="4219"/>
                  <a:ext cx="20001" cy="15779"/>
                  <a:chOff x="0" y="0"/>
                  <a:chExt cx="20001" cy="19998"/>
                </a:xfrm>
              </p:grpSpPr>
              <p:grpSp>
                <p:nvGrpSpPr>
                  <p:cNvPr id="42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14705" cy="10694"/>
                    <a:chOff x="0" y="0"/>
                    <a:chExt cx="20003" cy="19998"/>
                  </a:xfrm>
                </p:grpSpPr>
                <p:sp>
                  <p:nvSpPr>
                    <p:cNvPr id="54" name="Arc 66"/>
                    <p:cNvSpPr>
                      <a:spLocks/>
                    </p:cNvSpPr>
                    <p:nvPr/>
                  </p:nvSpPr>
                  <p:spPr bwMode="auto">
                    <a:xfrm flipH="1">
                      <a:off x="0" y="2401"/>
                      <a:ext cx="2473" cy="749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>
                        <a:latin typeface="Calibri (Corps)"/>
                      </a:endParaRPr>
                    </a:p>
                  </p:txBody>
                </p:sp>
                <p:sp>
                  <p:nvSpPr>
                    <p:cNvPr id="55" name="Arc 67"/>
                    <p:cNvSpPr>
                      <a:spLocks/>
                    </p:cNvSpPr>
                    <p:nvPr/>
                  </p:nvSpPr>
                  <p:spPr bwMode="auto">
                    <a:xfrm>
                      <a:off x="18180" y="0"/>
                      <a:ext cx="1823" cy="999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>
                        <a:latin typeface="Calibri (Corps)"/>
                      </a:endParaRPr>
                    </a:p>
                  </p:txBody>
                </p:sp>
                <p:grpSp>
                  <p:nvGrpSpPr>
                    <p:cNvPr id="56" name="Group 6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9999"/>
                      <a:ext cx="19938" cy="9999"/>
                      <a:chOff x="0" y="0"/>
                      <a:chExt cx="20000" cy="20000"/>
                    </a:xfrm>
                  </p:grpSpPr>
                  <p:sp>
                    <p:nvSpPr>
                      <p:cNvPr id="57" name="Arc 69"/>
                      <p:cNvSpPr>
                        <a:spLocks/>
                      </p:cNvSpPr>
                      <p:nvPr/>
                    </p:nvSpPr>
                    <p:spPr bwMode="auto">
                      <a:xfrm flipH="1" flipV="1">
                        <a:off x="0" y="0"/>
                        <a:ext cx="10013" cy="2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7356 h 21600"/>
                          <a:gd name="T4" fmla="*/ 0 w 21600"/>
                          <a:gd name="T5" fmla="*/ 7356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58" name="Arc 70"/>
                      <p:cNvSpPr>
                        <a:spLocks/>
                      </p:cNvSpPr>
                      <p:nvPr/>
                    </p:nvSpPr>
                    <p:spPr bwMode="auto">
                      <a:xfrm flipV="1">
                        <a:off x="9988" y="0"/>
                        <a:ext cx="10012" cy="2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7356 h 21600"/>
                          <a:gd name="T4" fmla="*/ 0 w 21600"/>
                          <a:gd name="T5" fmla="*/ 7356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</p:grpSp>
              <p:grpSp>
                <p:nvGrpSpPr>
                  <p:cNvPr id="43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0" y="5347"/>
                    <a:ext cx="20001" cy="14651"/>
                    <a:chOff x="0" y="0"/>
                    <a:chExt cx="20001" cy="20000"/>
                  </a:xfrm>
                </p:grpSpPr>
                <p:grpSp>
                  <p:nvGrpSpPr>
                    <p:cNvPr id="44" name="Group 7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14705" cy="14598"/>
                      <a:chOff x="0" y="0"/>
                      <a:chExt cx="20003" cy="20000"/>
                    </a:xfrm>
                  </p:grpSpPr>
                  <p:sp>
                    <p:nvSpPr>
                      <p:cNvPr id="49" name="Arc 73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0" y="2500"/>
                        <a:ext cx="2473" cy="75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50" name="Arc 7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180" y="0"/>
                        <a:ext cx="1823" cy="1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grpSp>
                    <p:nvGrpSpPr>
                      <p:cNvPr id="51" name="Group 7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10000"/>
                        <a:ext cx="19938" cy="10000"/>
                        <a:chOff x="0" y="0"/>
                        <a:chExt cx="20000" cy="20000"/>
                      </a:xfrm>
                    </p:grpSpPr>
                    <p:sp>
                      <p:nvSpPr>
                        <p:cNvPr id="52" name="Arc 76"/>
                        <p:cNvSpPr>
                          <a:spLocks/>
                        </p:cNvSpPr>
                        <p:nvPr/>
                      </p:nvSpPr>
                      <p:spPr bwMode="auto">
                        <a:xfrm flipH="1" flipV="1">
                          <a:off x="0" y="0"/>
                          <a:ext cx="10013" cy="20000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7356 h 21600"/>
                            <a:gd name="T4" fmla="*/ 0 w 21600"/>
                            <a:gd name="T5" fmla="*/ 7356 h 21600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21600" h="21600" fill="none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</a:path>
                            <a:path w="21600" h="21600" stroke="0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  <a:lnTo>
                                <a:pt x="0" y="216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54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  <p:sp>
                      <p:nvSpPr>
                        <p:cNvPr id="53" name="Arc 77"/>
                        <p:cNvSpPr>
                          <a:spLocks/>
                        </p:cNvSpPr>
                        <p:nvPr/>
                      </p:nvSpPr>
                      <p:spPr bwMode="auto">
                        <a:xfrm flipV="1">
                          <a:off x="9988" y="0"/>
                          <a:ext cx="10012" cy="20000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7356 h 21600"/>
                            <a:gd name="T4" fmla="*/ 0 w 21600"/>
                            <a:gd name="T5" fmla="*/ 7356 h 21600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21600" h="21600" fill="none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</a:path>
                            <a:path w="21600" h="21600" stroke="0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  <a:lnTo>
                                <a:pt x="0" y="216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54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5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7299"/>
                      <a:ext cx="20001" cy="12701"/>
                      <a:chOff x="0" y="0"/>
                      <a:chExt cx="20001" cy="20000"/>
                    </a:xfrm>
                  </p:grpSpPr>
                  <p:sp>
                    <p:nvSpPr>
                      <p:cNvPr id="46" name="Arc 79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0" y="0"/>
                        <a:ext cx="1818" cy="862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47" name="Arc 80"/>
                      <p:cNvSpPr>
                        <a:spLocks/>
                      </p:cNvSpPr>
                      <p:nvPr/>
                    </p:nvSpPr>
                    <p:spPr bwMode="auto">
                      <a:xfrm flipH="1" flipV="1">
                        <a:off x="0" y="8507"/>
                        <a:ext cx="7338" cy="1149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3 h 21600"/>
                          <a:gd name="T4" fmla="*/ 0 w 21600"/>
                          <a:gd name="T5" fmla="*/ 3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48" name="Line 8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084" y="19887"/>
                        <a:ext cx="12917" cy="113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</p:grpSp>
            </p:grpSp>
          </p:grpSp>
        </p:grpSp>
      </p:grpSp>
      <p:grpSp>
        <p:nvGrpSpPr>
          <p:cNvPr id="61" name="Group 227"/>
          <p:cNvGrpSpPr>
            <a:grpSpLocks/>
          </p:cNvGrpSpPr>
          <p:nvPr/>
        </p:nvGrpSpPr>
        <p:grpSpPr bwMode="auto">
          <a:xfrm>
            <a:off x="10257970" y="2253264"/>
            <a:ext cx="1341344" cy="1059974"/>
            <a:chOff x="4896" y="1417"/>
            <a:chExt cx="668" cy="548"/>
          </a:xfrm>
        </p:grpSpPr>
        <p:grpSp>
          <p:nvGrpSpPr>
            <p:cNvPr id="62" name="Group 30"/>
            <p:cNvGrpSpPr>
              <a:grpSpLocks/>
            </p:cNvGrpSpPr>
            <p:nvPr/>
          </p:nvGrpSpPr>
          <p:grpSpPr bwMode="auto">
            <a:xfrm>
              <a:off x="4896" y="1776"/>
              <a:ext cx="502" cy="189"/>
              <a:chOff x="0" y="0"/>
              <a:chExt cx="20000" cy="19998"/>
            </a:xfrm>
          </p:grpSpPr>
          <p:sp>
            <p:nvSpPr>
              <p:cNvPr id="64" name="Arc 31"/>
              <p:cNvSpPr>
                <a:spLocks/>
              </p:cNvSpPr>
              <p:nvPr/>
            </p:nvSpPr>
            <p:spPr bwMode="auto">
              <a:xfrm flipH="1">
                <a:off x="6" y="1055"/>
                <a:ext cx="1817" cy="316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65" name="Group 32"/>
              <p:cNvGrpSpPr>
                <a:grpSpLocks/>
              </p:cNvGrpSpPr>
              <p:nvPr/>
            </p:nvGrpSpPr>
            <p:grpSpPr bwMode="auto">
              <a:xfrm>
                <a:off x="0" y="4219"/>
                <a:ext cx="14658" cy="4219"/>
                <a:chOff x="0" y="0"/>
                <a:chExt cx="20001" cy="20000"/>
              </a:xfrm>
            </p:grpSpPr>
            <p:sp>
              <p:nvSpPr>
                <p:cNvPr id="87" name="Arc 33"/>
                <p:cNvSpPr>
                  <a:spLocks/>
                </p:cNvSpPr>
                <p:nvPr/>
              </p:nvSpPr>
              <p:spPr bwMode="auto">
                <a:xfrm flipH="1" flipV="1">
                  <a:off x="0" y="0"/>
                  <a:ext cx="10017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7356 h 21600"/>
                    <a:gd name="T4" fmla="*/ 0 w 21600"/>
                    <a:gd name="T5" fmla="*/ 73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88" name="Arc 34"/>
                <p:cNvSpPr>
                  <a:spLocks/>
                </p:cNvSpPr>
                <p:nvPr/>
              </p:nvSpPr>
              <p:spPr bwMode="auto">
                <a:xfrm flipV="1">
                  <a:off x="9992" y="0"/>
                  <a:ext cx="10009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7356 h 21600"/>
                    <a:gd name="T4" fmla="*/ 0 w 21600"/>
                    <a:gd name="T5" fmla="*/ 73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66" name="Arc 35"/>
              <p:cNvSpPr>
                <a:spLocks/>
              </p:cNvSpPr>
              <p:nvPr/>
            </p:nvSpPr>
            <p:spPr bwMode="auto">
              <a:xfrm>
                <a:off x="13366" y="2194"/>
                <a:ext cx="1340" cy="2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67" name="Group 36"/>
              <p:cNvGrpSpPr>
                <a:grpSpLocks/>
              </p:cNvGrpSpPr>
              <p:nvPr/>
            </p:nvGrpSpPr>
            <p:grpSpPr bwMode="auto">
              <a:xfrm>
                <a:off x="6" y="0"/>
                <a:ext cx="19994" cy="19998"/>
                <a:chOff x="-1" y="0"/>
                <a:chExt cx="20001" cy="19998"/>
              </a:xfrm>
            </p:grpSpPr>
            <p:sp>
              <p:nvSpPr>
                <p:cNvPr id="68" name="Line 37"/>
                <p:cNvSpPr>
                  <a:spLocks noChangeShapeType="1"/>
                </p:cNvSpPr>
                <p:nvPr/>
              </p:nvSpPr>
              <p:spPr bwMode="auto">
                <a:xfrm>
                  <a:off x="13333" y="0"/>
                  <a:ext cx="5792" cy="4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grpSp>
              <p:nvGrpSpPr>
                <p:cNvPr id="69" name="Group 38"/>
                <p:cNvGrpSpPr>
                  <a:grpSpLocks/>
                </p:cNvGrpSpPr>
                <p:nvPr/>
              </p:nvGrpSpPr>
              <p:grpSpPr bwMode="auto">
                <a:xfrm>
                  <a:off x="-1" y="4219"/>
                  <a:ext cx="20001" cy="15779"/>
                  <a:chOff x="0" y="0"/>
                  <a:chExt cx="20001" cy="19998"/>
                </a:xfrm>
              </p:grpSpPr>
              <p:grpSp>
                <p:nvGrpSpPr>
                  <p:cNvPr id="70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14705" cy="10694"/>
                    <a:chOff x="0" y="0"/>
                    <a:chExt cx="20003" cy="19998"/>
                  </a:xfrm>
                </p:grpSpPr>
                <p:sp>
                  <p:nvSpPr>
                    <p:cNvPr id="82" name="Arc 40"/>
                    <p:cNvSpPr>
                      <a:spLocks/>
                    </p:cNvSpPr>
                    <p:nvPr/>
                  </p:nvSpPr>
                  <p:spPr bwMode="auto">
                    <a:xfrm flipH="1">
                      <a:off x="0" y="2401"/>
                      <a:ext cx="2473" cy="749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>
                        <a:latin typeface="Calibri (Corps)"/>
                      </a:endParaRPr>
                    </a:p>
                  </p:txBody>
                </p:sp>
                <p:sp>
                  <p:nvSpPr>
                    <p:cNvPr id="83" name="Arc 41"/>
                    <p:cNvSpPr>
                      <a:spLocks/>
                    </p:cNvSpPr>
                    <p:nvPr/>
                  </p:nvSpPr>
                  <p:spPr bwMode="auto">
                    <a:xfrm>
                      <a:off x="18180" y="0"/>
                      <a:ext cx="1823" cy="999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>
                        <a:latin typeface="Calibri (Corps)"/>
                      </a:endParaRPr>
                    </a:p>
                  </p:txBody>
                </p:sp>
                <p:grpSp>
                  <p:nvGrpSpPr>
                    <p:cNvPr id="84" name="Group 4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9999"/>
                      <a:ext cx="19938" cy="9999"/>
                      <a:chOff x="0" y="0"/>
                      <a:chExt cx="20000" cy="20000"/>
                    </a:xfrm>
                  </p:grpSpPr>
                  <p:sp>
                    <p:nvSpPr>
                      <p:cNvPr id="85" name="Arc 43"/>
                      <p:cNvSpPr>
                        <a:spLocks/>
                      </p:cNvSpPr>
                      <p:nvPr/>
                    </p:nvSpPr>
                    <p:spPr bwMode="auto">
                      <a:xfrm flipH="1" flipV="1">
                        <a:off x="0" y="0"/>
                        <a:ext cx="10013" cy="2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7356 h 21600"/>
                          <a:gd name="T4" fmla="*/ 0 w 21600"/>
                          <a:gd name="T5" fmla="*/ 7356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86" name="Arc 44"/>
                      <p:cNvSpPr>
                        <a:spLocks/>
                      </p:cNvSpPr>
                      <p:nvPr/>
                    </p:nvSpPr>
                    <p:spPr bwMode="auto">
                      <a:xfrm flipV="1">
                        <a:off x="9988" y="0"/>
                        <a:ext cx="10012" cy="2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7356 h 21600"/>
                          <a:gd name="T4" fmla="*/ 0 w 21600"/>
                          <a:gd name="T5" fmla="*/ 7356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</p:grpSp>
              <p:grpSp>
                <p:nvGrpSpPr>
                  <p:cNvPr id="71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0" y="5347"/>
                    <a:ext cx="20001" cy="14651"/>
                    <a:chOff x="0" y="0"/>
                    <a:chExt cx="20001" cy="20000"/>
                  </a:xfrm>
                </p:grpSpPr>
                <p:grpSp>
                  <p:nvGrpSpPr>
                    <p:cNvPr id="72" name="Group 4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14705" cy="14598"/>
                      <a:chOff x="0" y="0"/>
                      <a:chExt cx="20003" cy="20000"/>
                    </a:xfrm>
                  </p:grpSpPr>
                  <p:sp>
                    <p:nvSpPr>
                      <p:cNvPr id="77" name="Arc 47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0" y="2500"/>
                        <a:ext cx="2473" cy="75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78" name="Arc 4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180" y="0"/>
                        <a:ext cx="1823" cy="1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grpSp>
                    <p:nvGrpSpPr>
                      <p:cNvPr id="79" name="Group 4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10000"/>
                        <a:ext cx="19938" cy="10000"/>
                        <a:chOff x="0" y="0"/>
                        <a:chExt cx="20000" cy="20000"/>
                      </a:xfrm>
                    </p:grpSpPr>
                    <p:sp>
                      <p:nvSpPr>
                        <p:cNvPr id="80" name="Arc 50"/>
                        <p:cNvSpPr>
                          <a:spLocks/>
                        </p:cNvSpPr>
                        <p:nvPr/>
                      </p:nvSpPr>
                      <p:spPr bwMode="auto">
                        <a:xfrm flipH="1" flipV="1">
                          <a:off x="0" y="0"/>
                          <a:ext cx="10013" cy="20000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7356 h 21600"/>
                            <a:gd name="T4" fmla="*/ 0 w 21600"/>
                            <a:gd name="T5" fmla="*/ 7356 h 21600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21600" h="21600" fill="none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</a:path>
                            <a:path w="21600" h="21600" stroke="0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  <a:lnTo>
                                <a:pt x="0" y="216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54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  <p:sp>
                      <p:nvSpPr>
                        <p:cNvPr id="81" name="Arc 51"/>
                        <p:cNvSpPr>
                          <a:spLocks/>
                        </p:cNvSpPr>
                        <p:nvPr/>
                      </p:nvSpPr>
                      <p:spPr bwMode="auto">
                        <a:xfrm flipV="1">
                          <a:off x="9988" y="0"/>
                          <a:ext cx="10012" cy="20000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7356 h 21600"/>
                            <a:gd name="T4" fmla="*/ 0 w 21600"/>
                            <a:gd name="T5" fmla="*/ 7356 h 21600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21600" h="21600" fill="none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</a:path>
                            <a:path w="21600" h="21600" stroke="0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  <a:lnTo>
                                <a:pt x="0" y="216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54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3" name="Group 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7299"/>
                      <a:ext cx="20001" cy="12701"/>
                      <a:chOff x="0" y="0"/>
                      <a:chExt cx="20001" cy="20000"/>
                    </a:xfrm>
                  </p:grpSpPr>
                  <p:sp>
                    <p:nvSpPr>
                      <p:cNvPr id="74" name="Arc 53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0" y="0"/>
                        <a:ext cx="1818" cy="862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75" name="Arc 54"/>
                      <p:cNvSpPr>
                        <a:spLocks/>
                      </p:cNvSpPr>
                      <p:nvPr/>
                    </p:nvSpPr>
                    <p:spPr bwMode="auto">
                      <a:xfrm flipH="1" flipV="1">
                        <a:off x="0" y="8507"/>
                        <a:ext cx="7338" cy="1149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3 h 21600"/>
                          <a:gd name="T4" fmla="*/ 0 w 21600"/>
                          <a:gd name="T5" fmla="*/ 3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76" name="Line 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084" y="19887"/>
                        <a:ext cx="12917" cy="113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63" name="Text Box 133"/>
            <p:cNvSpPr txBox="1">
              <a:spLocks noChangeArrowheads="1"/>
            </p:cNvSpPr>
            <p:nvPr/>
          </p:nvSpPr>
          <p:spPr bwMode="auto">
            <a:xfrm>
              <a:off x="5284" y="1417"/>
              <a:ext cx="28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7145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2860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43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004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57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14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Calibri (Corps)"/>
                </a:rPr>
                <a:t>B1</a:t>
              </a:r>
            </a:p>
          </p:txBody>
        </p:sp>
      </p:grpSp>
      <p:grpSp>
        <p:nvGrpSpPr>
          <p:cNvPr id="90" name="Group 230"/>
          <p:cNvGrpSpPr>
            <a:grpSpLocks/>
          </p:cNvGrpSpPr>
          <p:nvPr/>
        </p:nvGrpSpPr>
        <p:grpSpPr bwMode="auto">
          <a:xfrm rot="16200000">
            <a:off x="7434961" y="2985495"/>
            <a:ext cx="928443" cy="385536"/>
            <a:chOff x="2592" y="780"/>
            <a:chExt cx="480" cy="192"/>
          </a:xfrm>
        </p:grpSpPr>
        <p:sp>
          <p:nvSpPr>
            <p:cNvPr id="95" name="Rectangle 231"/>
            <p:cNvSpPr>
              <a:spLocks noChangeArrowheads="1"/>
            </p:cNvSpPr>
            <p:nvPr/>
          </p:nvSpPr>
          <p:spPr bwMode="auto">
            <a:xfrm>
              <a:off x="2592" y="816"/>
              <a:ext cx="240" cy="144"/>
            </a:xfrm>
            <a:prstGeom prst="rect">
              <a:avLst/>
            </a:prstGeom>
            <a:solidFill>
              <a:srgbClr val="FFCC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  <a:contourClr>
                <a:srgbClr val="FFCC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fr-FR" sz="1800"/>
            </a:p>
          </p:txBody>
        </p:sp>
        <p:sp>
          <p:nvSpPr>
            <p:cNvPr id="96" name="Rectangle 232"/>
            <p:cNvSpPr>
              <a:spLocks noChangeArrowheads="1"/>
            </p:cNvSpPr>
            <p:nvPr/>
          </p:nvSpPr>
          <p:spPr bwMode="auto">
            <a:xfrm>
              <a:off x="2832" y="816"/>
              <a:ext cx="240" cy="144"/>
            </a:xfrm>
            <a:prstGeom prst="rect">
              <a:avLst/>
            </a:prstGeom>
            <a:solidFill>
              <a:srgbClr val="00CCFF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FF"/>
              </a:extrusionClr>
              <a:contourClr>
                <a:srgbClr val="00CC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fr-FR" sz="1800"/>
            </a:p>
          </p:txBody>
        </p:sp>
        <p:sp>
          <p:nvSpPr>
            <p:cNvPr id="97" name="Text Box 233"/>
            <p:cNvSpPr txBox="1">
              <a:spLocks noChangeArrowheads="1"/>
            </p:cNvSpPr>
            <p:nvPr/>
          </p:nvSpPr>
          <p:spPr bwMode="auto">
            <a:xfrm>
              <a:off x="2850" y="780"/>
              <a:ext cx="1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7145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2860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43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004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57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14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8" name="Text Box 234"/>
            <p:cNvSpPr txBox="1">
              <a:spLocks noChangeArrowheads="1"/>
            </p:cNvSpPr>
            <p:nvPr/>
          </p:nvSpPr>
          <p:spPr bwMode="auto">
            <a:xfrm>
              <a:off x="2628" y="780"/>
              <a:ext cx="1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7145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2860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43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004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57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14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S</a:t>
              </a:r>
            </a:p>
          </p:txBody>
        </p:sp>
      </p:grpSp>
      <p:sp>
        <p:nvSpPr>
          <p:cNvPr id="92" name="Line 236"/>
          <p:cNvSpPr>
            <a:spLocks noChangeShapeType="1"/>
          </p:cNvSpPr>
          <p:nvPr/>
        </p:nvSpPr>
        <p:spPr bwMode="auto">
          <a:xfrm rot="5400000" flipH="1" flipV="1">
            <a:off x="11458187" y="3172952"/>
            <a:ext cx="0" cy="28915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3" name="Line 237"/>
          <p:cNvSpPr>
            <a:spLocks noChangeShapeType="1"/>
          </p:cNvSpPr>
          <p:nvPr/>
        </p:nvSpPr>
        <p:spPr bwMode="auto">
          <a:xfrm rot="5400000">
            <a:off x="11458187" y="2801575"/>
            <a:ext cx="0" cy="28915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4" name="Text Box 238"/>
          <p:cNvSpPr txBox="1">
            <a:spLocks noChangeArrowheads="1"/>
          </p:cNvSpPr>
          <p:nvPr/>
        </p:nvSpPr>
        <p:spPr bwMode="auto">
          <a:xfrm>
            <a:off x="7711589" y="2108194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860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43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00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57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114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99" name="Text Box 135">
            <a:extLst>
              <a:ext uri="{FF2B5EF4-FFF2-40B4-BE49-F238E27FC236}">
                <a16:creationId xmlns:a16="http://schemas.microsoft.com/office/drawing/2014/main" id="{9261A863-0F57-4E6E-ACC4-4FB34CBF9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5319" y="1980204"/>
            <a:ext cx="40457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defRPr/>
            </a:pPr>
            <a:r>
              <a:rPr lang="en-US" altLang="en-US" sz="1800" dirty="0">
                <a:latin typeface="+mn-lt"/>
              </a:rPr>
              <a:t>For a clockwise rotation, the sequence is:</a:t>
            </a:r>
          </a:p>
          <a:p>
            <a:pPr algn="just">
              <a:defRPr/>
            </a:pPr>
            <a:endParaRPr lang="en-US" altLang="en-US" sz="1800" b="1" dirty="0">
              <a:latin typeface="+mn-lt"/>
            </a:endParaRPr>
          </a:p>
          <a:p>
            <a:pPr algn="just">
              <a:defRPr/>
            </a:pPr>
            <a:r>
              <a:rPr lang="en-US" altLang="en-US" sz="1800" dirty="0">
                <a:latin typeface="+mn-lt"/>
              </a:rPr>
              <a:t>B1	B2 </a:t>
            </a:r>
          </a:p>
          <a:p>
            <a:pPr algn="just">
              <a:defRPr/>
            </a:pPr>
            <a:r>
              <a:rPr lang="en-US" altLang="en-US" sz="1800" dirty="0">
                <a:latin typeface="+mn-lt"/>
              </a:rPr>
              <a:t>+I	0</a:t>
            </a:r>
          </a:p>
          <a:p>
            <a:pPr algn="just">
              <a:defRPr/>
            </a:pPr>
            <a:r>
              <a:rPr lang="en-US" altLang="en-US" sz="1800" dirty="0">
                <a:latin typeface="+mn-lt"/>
              </a:rPr>
              <a:t>0	+I</a:t>
            </a:r>
          </a:p>
          <a:p>
            <a:pPr algn="just">
              <a:defRPr/>
            </a:pPr>
            <a:r>
              <a:rPr lang="en-US" altLang="en-US" sz="1800" dirty="0">
                <a:latin typeface="+mn-lt"/>
              </a:rPr>
              <a:t>-I	0</a:t>
            </a:r>
          </a:p>
          <a:p>
            <a:pPr algn="just">
              <a:defRPr/>
            </a:pPr>
            <a:r>
              <a:rPr lang="en-US" altLang="en-US" sz="1800" dirty="0">
                <a:latin typeface="+mn-lt"/>
              </a:rPr>
              <a:t>0	-I</a:t>
            </a:r>
          </a:p>
        </p:txBody>
      </p:sp>
      <p:sp>
        <p:nvSpPr>
          <p:cNvPr id="2" name="Rectangle 1"/>
          <p:cNvSpPr/>
          <p:nvPr/>
        </p:nvSpPr>
        <p:spPr>
          <a:xfrm>
            <a:off x="7739056" y="3789063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2" name="Line 189"/>
          <p:cNvSpPr>
            <a:spLocks noChangeShapeType="1"/>
          </p:cNvSpPr>
          <p:nvPr/>
        </p:nvSpPr>
        <p:spPr bwMode="auto">
          <a:xfrm flipV="1">
            <a:off x="8109629" y="6275217"/>
            <a:ext cx="0" cy="34401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3" name="Line 190"/>
          <p:cNvSpPr>
            <a:spLocks noChangeShapeType="1"/>
          </p:cNvSpPr>
          <p:nvPr/>
        </p:nvSpPr>
        <p:spPr bwMode="auto">
          <a:xfrm flipH="1">
            <a:off x="7739056" y="6279979"/>
            <a:ext cx="0" cy="33925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4" name="Text Box 4">
            <a:extLst>
              <a:ext uri="{FF2B5EF4-FFF2-40B4-BE49-F238E27FC236}">
                <a16:creationId xmlns:a16="http://schemas.microsoft.com/office/drawing/2014/main" id="{A706CAC5-A60C-4D3F-AC36-92E7D9EF5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122" y="1380439"/>
            <a:ext cx="3044423" cy="369332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fr-FR" dirty="0">
                <a:latin typeface="Calibri (Corps)"/>
              </a:rPr>
              <a:t>Operation principle: full step</a:t>
            </a:r>
          </a:p>
        </p:txBody>
      </p:sp>
    </p:spTree>
    <p:extLst>
      <p:ext uri="{BB962C8B-B14F-4D97-AF65-F5344CB8AC3E}">
        <p14:creationId xmlns:p14="http://schemas.microsoft.com/office/powerpoint/2010/main" val="120521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11111E-6 L -0.06237 -0.13403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-6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22222E-6 L 0.07396 0.11412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0" y="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2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3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4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237 -0.13403 L -0.00429 -0.24514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4" y="-539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96 0.11412 L 0.00429 0.24514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5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29 0.24514 L -0.05808 0.11111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-6551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29 -0.24514 L 0.06966 -0.13102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0" y="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8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2" grpId="1" animBg="1"/>
      <p:bldP spid="92" grpId="2" animBg="1"/>
      <p:bldP spid="92" grpId="3" animBg="1"/>
      <p:bldP spid="93" grpId="0" animBg="1"/>
      <p:bldP spid="93" grpId="1" animBg="1"/>
      <p:bldP spid="93" grpId="2" animBg="1"/>
      <p:bldP spid="93" grpId="3" animBg="1"/>
      <p:bldP spid="94" grpId="0"/>
      <p:bldP spid="94" grpId="1"/>
      <p:bldP spid="94" grpId="2"/>
      <p:bldP spid="2" grpId="0"/>
      <p:bldP spid="2" grpId="1"/>
      <p:bldP spid="2" grpId="2"/>
      <p:bldP spid="102" grpId="0" animBg="1"/>
      <p:bldP spid="102" grpId="1" animBg="1"/>
      <p:bldP spid="102" grpId="2" animBg="1"/>
      <p:bldP spid="102" grpId="3" animBg="1"/>
      <p:bldP spid="103" grpId="0" animBg="1"/>
      <p:bldP spid="103" grpId="1" animBg="1"/>
      <p:bldP spid="103" grpId="2" animBg="1"/>
      <p:bldP spid="103" grpId="3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32892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Stepper motor control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0"/>
            <a:ext cx="247996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sp>
        <p:nvSpPr>
          <p:cNvPr id="104" name="Text Box 4">
            <a:extLst>
              <a:ext uri="{FF2B5EF4-FFF2-40B4-BE49-F238E27FC236}">
                <a16:creationId xmlns:a16="http://schemas.microsoft.com/office/drawing/2014/main" id="{A706CAC5-A60C-4D3F-AC36-92E7D9EF5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122" y="1380439"/>
            <a:ext cx="3121025" cy="369887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fr-FR" dirty="0">
                <a:latin typeface="Calibri (Corps)"/>
              </a:rPr>
              <a:t>Operation principle: half step</a:t>
            </a:r>
          </a:p>
        </p:txBody>
      </p:sp>
      <p:sp>
        <p:nvSpPr>
          <p:cNvPr id="89" name="Text Box 135">
            <a:extLst>
              <a:ext uri="{FF2B5EF4-FFF2-40B4-BE49-F238E27FC236}">
                <a16:creationId xmlns:a16="http://schemas.microsoft.com/office/drawing/2014/main" id="{CED0693A-CEAF-4FC9-BFE5-4C4894EAC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395" y="2167736"/>
            <a:ext cx="26725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defRPr/>
            </a:pPr>
            <a:r>
              <a:rPr lang="en-US" altLang="en-US" sz="1800" dirty="0">
                <a:latin typeface="Calibri (Corps)"/>
              </a:rPr>
              <a:t>For a clockwise rotation:</a:t>
            </a:r>
            <a:endParaRPr lang="en-US" altLang="en-US" sz="1800" b="1" dirty="0">
              <a:latin typeface="Calibri (Corps)"/>
            </a:endParaRPr>
          </a:p>
          <a:p>
            <a:pPr algn="just">
              <a:defRPr/>
            </a:pPr>
            <a:r>
              <a:rPr lang="en-US" altLang="en-US" sz="1800" dirty="0">
                <a:latin typeface="Calibri (Corps)"/>
              </a:rPr>
              <a:t>B1	  B2 </a:t>
            </a:r>
          </a:p>
          <a:p>
            <a:pPr algn="just">
              <a:defRPr/>
            </a:pPr>
            <a:r>
              <a:rPr lang="en-US" altLang="en-US" sz="1800" dirty="0">
                <a:latin typeface="Calibri (Corps)"/>
              </a:rPr>
              <a:t>I+	  0</a:t>
            </a:r>
          </a:p>
          <a:p>
            <a:pPr algn="just">
              <a:defRPr/>
            </a:pPr>
            <a:r>
              <a:rPr lang="en-US" altLang="en-US" sz="1800" dirty="0">
                <a:latin typeface="Calibri (Corps)"/>
              </a:rPr>
              <a:t>I+</a:t>
            </a:r>
            <a:r>
              <a:rPr lang="en-US" altLang="en-US" sz="1800" dirty="0">
                <a:solidFill>
                  <a:prstClr val="black"/>
                </a:solidFill>
                <a:latin typeface="Calibri (Corps)"/>
              </a:rPr>
              <a:t>	  </a:t>
            </a:r>
            <a:r>
              <a:rPr lang="en-US" altLang="en-US" sz="1800" dirty="0">
                <a:latin typeface="Calibri (Corps)"/>
              </a:rPr>
              <a:t>I+</a:t>
            </a:r>
          </a:p>
          <a:p>
            <a:pPr lvl="0" algn="just" defTabSz="914400"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(Corps)"/>
              </a:rPr>
              <a:t>0	I+</a:t>
            </a:r>
          </a:p>
          <a:p>
            <a:pPr lvl="0" algn="just" defTabSz="914400"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(Corps)"/>
              </a:rPr>
              <a:t>I-	I+</a:t>
            </a:r>
          </a:p>
          <a:p>
            <a:pPr lvl="0" algn="just" defTabSz="914400"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(Corps)"/>
              </a:rPr>
              <a:t>I-	0</a:t>
            </a:r>
          </a:p>
          <a:p>
            <a:pPr lvl="0" algn="just" defTabSz="914400"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(Corps)"/>
              </a:rPr>
              <a:t>I-	I-</a:t>
            </a:r>
          </a:p>
          <a:p>
            <a:pPr lvl="0" algn="just" defTabSz="914400"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(Corps)"/>
              </a:rPr>
              <a:t>0	I-</a:t>
            </a:r>
          </a:p>
          <a:p>
            <a:pPr lvl="0" algn="just" defTabSz="914400"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 (Corps)"/>
              </a:rPr>
              <a:t>I+	I-</a:t>
            </a:r>
          </a:p>
          <a:p>
            <a:pPr algn="just">
              <a:defRPr/>
            </a:pPr>
            <a:endParaRPr lang="en-US" altLang="en-US" sz="1800" dirty="0">
              <a:latin typeface="Calibri (Corps)"/>
            </a:endParaRPr>
          </a:p>
          <a:p>
            <a:pPr algn="just">
              <a:defRPr/>
            </a:pPr>
            <a:endParaRPr lang="en-US" altLang="en-US" sz="1800" dirty="0">
              <a:latin typeface="Calibri (Corps)"/>
            </a:endParaRPr>
          </a:p>
        </p:txBody>
      </p:sp>
      <p:grpSp>
        <p:nvGrpSpPr>
          <p:cNvPr id="101" name="Group 18"/>
          <p:cNvGrpSpPr>
            <a:grpSpLocks/>
          </p:cNvGrpSpPr>
          <p:nvPr/>
        </p:nvGrpSpPr>
        <p:grpSpPr bwMode="auto">
          <a:xfrm>
            <a:off x="6354417" y="1606099"/>
            <a:ext cx="4315193" cy="4210878"/>
            <a:chOff x="2759" y="456"/>
            <a:chExt cx="2149" cy="2177"/>
          </a:xfrm>
        </p:grpSpPr>
        <p:sp>
          <p:nvSpPr>
            <p:cNvPr id="105" name="Freeform 19"/>
            <p:cNvSpPr>
              <a:spLocks/>
            </p:cNvSpPr>
            <p:nvPr/>
          </p:nvSpPr>
          <p:spPr bwMode="auto">
            <a:xfrm>
              <a:off x="2759" y="1193"/>
              <a:ext cx="1584" cy="1440"/>
            </a:xfrm>
            <a:custGeom>
              <a:avLst/>
              <a:gdLst>
                <a:gd name="T0" fmla="*/ 1122 w 1584"/>
                <a:gd name="T1" fmla="*/ 0 h 1440"/>
                <a:gd name="T2" fmla="*/ 1584 w 1584"/>
                <a:gd name="T3" fmla="*/ 0 h 1440"/>
                <a:gd name="T4" fmla="*/ 1584 w 1584"/>
                <a:gd name="T5" fmla="*/ 1440 h 1440"/>
                <a:gd name="T6" fmla="*/ 0 w 1584"/>
                <a:gd name="T7" fmla="*/ 1440 h 1440"/>
                <a:gd name="T8" fmla="*/ 0 w 1584"/>
                <a:gd name="T9" fmla="*/ 0 h 1440"/>
                <a:gd name="T10" fmla="*/ 456 w 1584"/>
                <a:gd name="T11" fmla="*/ 0 h 1440"/>
                <a:gd name="T12" fmla="*/ 456 w 1584"/>
                <a:gd name="T13" fmla="*/ 140 h 1440"/>
                <a:gd name="T14" fmla="*/ 175 w 1584"/>
                <a:gd name="T15" fmla="*/ 139 h 1440"/>
                <a:gd name="T16" fmla="*/ 175 w 1584"/>
                <a:gd name="T17" fmla="*/ 1279 h 1440"/>
                <a:gd name="T18" fmla="*/ 1392 w 1584"/>
                <a:gd name="T19" fmla="*/ 1282 h 1440"/>
                <a:gd name="T20" fmla="*/ 1392 w 1584"/>
                <a:gd name="T21" fmla="*/ 136 h 1440"/>
                <a:gd name="T22" fmla="*/ 1122 w 1584"/>
                <a:gd name="T23" fmla="*/ 136 h 1440"/>
                <a:gd name="T24" fmla="*/ 1122 w 1584"/>
                <a:gd name="T25" fmla="*/ 0 h 14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84" h="1440">
                  <a:moveTo>
                    <a:pt x="1122" y="0"/>
                  </a:moveTo>
                  <a:lnTo>
                    <a:pt x="1584" y="0"/>
                  </a:lnTo>
                  <a:lnTo>
                    <a:pt x="1584" y="1440"/>
                  </a:lnTo>
                  <a:lnTo>
                    <a:pt x="0" y="1440"/>
                  </a:lnTo>
                  <a:lnTo>
                    <a:pt x="0" y="0"/>
                  </a:lnTo>
                  <a:lnTo>
                    <a:pt x="456" y="0"/>
                  </a:lnTo>
                  <a:lnTo>
                    <a:pt x="456" y="140"/>
                  </a:lnTo>
                  <a:lnTo>
                    <a:pt x="175" y="139"/>
                  </a:lnTo>
                  <a:lnTo>
                    <a:pt x="175" y="1279"/>
                  </a:lnTo>
                  <a:lnTo>
                    <a:pt x="1392" y="1282"/>
                  </a:lnTo>
                  <a:lnTo>
                    <a:pt x="1392" y="136"/>
                  </a:lnTo>
                  <a:lnTo>
                    <a:pt x="1122" y="136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106" name="Freeform 20"/>
            <p:cNvSpPr>
              <a:spLocks/>
            </p:cNvSpPr>
            <p:nvPr/>
          </p:nvSpPr>
          <p:spPr bwMode="auto">
            <a:xfrm>
              <a:off x="3468" y="456"/>
              <a:ext cx="1440" cy="1584"/>
            </a:xfrm>
            <a:custGeom>
              <a:avLst/>
              <a:gdLst>
                <a:gd name="T0" fmla="*/ 0 w 1440"/>
                <a:gd name="T1" fmla="*/ 462 h 1584"/>
                <a:gd name="T2" fmla="*/ 0 w 1440"/>
                <a:gd name="T3" fmla="*/ 0 h 1584"/>
                <a:gd name="T4" fmla="*/ 1440 w 1440"/>
                <a:gd name="T5" fmla="*/ 0 h 1584"/>
                <a:gd name="T6" fmla="*/ 1440 w 1440"/>
                <a:gd name="T7" fmla="*/ 1584 h 1584"/>
                <a:gd name="T8" fmla="*/ 0 w 1440"/>
                <a:gd name="T9" fmla="*/ 1584 h 1584"/>
                <a:gd name="T10" fmla="*/ 0 w 1440"/>
                <a:gd name="T11" fmla="*/ 1128 h 1584"/>
                <a:gd name="T12" fmla="*/ 140 w 1440"/>
                <a:gd name="T13" fmla="*/ 1128 h 1584"/>
                <a:gd name="T14" fmla="*/ 138 w 1440"/>
                <a:gd name="T15" fmla="*/ 1440 h 1584"/>
                <a:gd name="T16" fmla="*/ 1284 w 1440"/>
                <a:gd name="T17" fmla="*/ 1440 h 1584"/>
                <a:gd name="T18" fmla="*/ 1284 w 1440"/>
                <a:gd name="T19" fmla="*/ 132 h 1584"/>
                <a:gd name="T20" fmla="*/ 138 w 1440"/>
                <a:gd name="T21" fmla="*/ 132 h 1584"/>
                <a:gd name="T22" fmla="*/ 136 w 1440"/>
                <a:gd name="T23" fmla="*/ 462 h 1584"/>
                <a:gd name="T24" fmla="*/ 0 w 1440"/>
                <a:gd name="T25" fmla="*/ 462 h 15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40" h="1584">
                  <a:moveTo>
                    <a:pt x="0" y="462"/>
                  </a:moveTo>
                  <a:lnTo>
                    <a:pt x="0" y="0"/>
                  </a:lnTo>
                  <a:lnTo>
                    <a:pt x="1440" y="0"/>
                  </a:lnTo>
                  <a:lnTo>
                    <a:pt x="1440" y="1584"/>
                  </a:lnTo>
                  <a:lnTo>
                    <a:pt x="0" y="1584"/>
                  </a:lnTo>
                  <a:lnTo>
                    <a:pt x="0" y="1128"/>
                  </a:lnTo>
                  <a:lnTo>
                    <a:pt x="140" y="1128"/>
                  </a:lnTo>
                  <a:lnTo>
                    <a:pt x="138" y="1440"/>
                  </a:lnTo>
                  <a:lnTo>
                    <a:pt x="1284" y="1440"/>
                  </a:lnTo>
                  <a:lnTo>
                    <a:pt x="1284" y="132"/>
                  </a:lnTo>
                  <a:lnTo>
                    <a:pt x="138" y="132"/>
                  </a:lnTo>
                  <a:lnTo>
                    <a:pt x="136" y="462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</p:grpSp>
      <p:grpSp>
        <p:nvGrpSpPr>
          <p:cNvPr id="107" name="Group 228"/>
          <p:cNvGrpSpPr>
            <a:grpSpLocks/>
          </p:cNvGrpSpPr>
          <p:nvPr/>
        </p:nvGrpSpPr>
        <p:grpSpPr bwMode="auto">
          <a:xfrm>
            <a:off x="7089526" y="5268697"/>
            <a:ext cx="1008017" cy="1203108"/>
            <a:chOff x="3431" y="2976"/>
            <a:chExt cx="502" cy="622"/>
          </a:xfrm>
        </p:grpSpPr>
        <p:sp>
          <p:nvSpPr>
            <p:cNvPr id="108" name="Text Box 134"/>
            <p:cNvSpPr txBox="1">
              <a:spLocks noChangeArrowheads="1"/>
            </p:cNvSpPr>
            <p:nvPr/>
          </p:nvSpPr>
          <p:spPr bwMode="auto">
            <a:xfrm>
              <a:off x="3431" y="3359"/>
              <a:ext cx="28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7145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2860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43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004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57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14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Calibri (Corps)"/>
                </a:rPr>
                <a:t>B2</a:t>
              </a:r>
            </a:p>
          </p:txBody>
        </p:sp>
        <p:grpSp>
          <p:nvGrpSpPr>
            <p:cNvPr id="109" name="Group 56"/>
            <p:cNvGrpSpPr>
              <a:grpSpLocks/>
            </p:cNvGrpSpPr>
            <p:nvPr/>
          </p:nvGrpSpPr>
          <p:grpSpPr bwMode="auto">
            <a:xfrm rot="5400000" flipV="1">
              <a:off x="3588" y="3132"/>
              <a:ext cx="502" cy="189"/>
              <a:chOff x="0" y="0"/>
              <a:chExt cx="20000" cy="19998"/>
            </a:xfrm>
          </p:grpSpPr>
          <p:sp>
            <p:nvSpPr>
              <p:cNvPr id="110" name="Arc 57"/>
              <p:cNvSpPr>
                <a:spLocks/>
              </p:cNvSpPr>
              <p:nvPr/>
            </p:nvSpPr>
            <p:spPr bwMode="auto">
              <a:xfrm flipH="1">
                <a:off x="6" y="1055"/>
                <a:ext cx="1817" cy="316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111" name="Group 58"/>
              <p:cNvGrpSpPr>
                <a:grpSpLocks/>
              </p:cNvGrpSpPr>
              <p:nvPr/>
            </p:nvGrpSpPr>
            <p:grpSpPr bwMode="auto">
              <a:xfrm>
                <a:off x="0" y="4219"/>
                <a:ext cx="14658" cy="4219"/>
                <a:chOff x="0" y="0"/>
                <a:chExt cx="20001" cy="20000"/>
              </a:xfrm>
            </p:grpSpPr>
            <p:sp>
              <p:nvSpPr>
                <p:cNvPr id="133" name="Arc 59"/>
                <p:cNvSpPr>
                  <a:spLocks/>
                </p:cNvSpPr>
                <p:nvPr/>
              </p:nvSpPr>
              <p:spPr bwMode="auto">
                <a:xfrm flipH="1" flipV="1">
                  <a:off x="0" y="0"/>
                  <a:ext cx="10017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7356 h 21600"/>
                    <a:gd name="T4" fmla="*/ 0 w 21600"/>
                    <a:gd name="T5" fmla="*/ 73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134" name="Arc 60"/>
                <p:cNvSpPr>
                  <a:spLocks/>
                </p:cNvSpPr>
                <p:nvPr/>
              </p:nvSpPr>
              <p:spPr bwMode="auto">
                <a:xfrm flipV="1">
                  <a:off x="9992" y="0"/>
                  <a:ext cx="10009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7356 h 21600"/>
                    <a:gd name="T4" fmla="*/ 0 w 21600"/>
                    <a:gd name="T5" fmla="*/ 73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112" name="Arc 61"/>
              <p:cNvSpPr>
                <a:spLocks/>
              </p:cNvSpPr>
              <p:nvPr/>
            </p:nvSpPr>
            <p:spPr bwMode="auto">
              <a:xfrm>
                <a:off x="13366" y="2194"/>
                <a:ext cx="1340" cy="2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113" name="Group 62"/>
              <p:cNvGrpSpPr>
                <a:grpSpLocks/>
              </p:cNvGrpSpPr>
              <p:nvPr/>
            </p:nvGrpSpPr>
            <p:grpSpPr bwMode="auto">
              <a:xfrm>
                <a:off x="6" y="0"/>
                <a:ext cx="19994" cy="19998"/>
                <a:chOff x="-1" y="0"/>
                <a:chExt cx="20001" cy="19998"/>
              </a:xfrm>
            </p:grpSpPr>
            <p:sp>
              <p:nvSpPr>
                <p:cNvPr id="114" name="Line 63"/>
                <p:cNvSpPr>
                  <a:spLocks noChangeShapeType="1"/>
                </p:cNvSpPr>
                <p:nvPr/>
              </p:nvSpPr>
              <p:spPr bwMode="auto">
                <a:xfrm>
                  <a:off x="13333" y="0"/>
                  <a:ext cx="5792" cy="4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grpSp>
              <p:nvGrpSpPr>
                <p:cNvPr id="115" name="Group 64"/>
                <p:cNvGrpSpPr>
                  <a:grpSpLocks/>
                </p:cNvGrpSpPr>
                <p:nvPr/>
              </p:nvGrpSpPr>
              <p:grpSpPr bwMode="auto">
                <a:xfrm>
                  <a:off x="-1" y="4219"/>
                  <a:ext cx="20001" cy="15779"/>
                  <a:chOff x="0" y="0"/>
                  <a:chExt cx="20001" cy="19998"/>
                </a:xfrm>
              </p:grpSpPr>
              <p:grpSp>
                <p:nvGrpSpPr>
                  <p:cNvPr id="116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14705" cy="10694"/>
                    <a:chOff x="0" y="0"/>
                    <a:chExt cx="20003" cy="19998"/>
                  </a:xfrm>
                </p:grpSpPr>
                <p:sp>
                  <p:nvSpPr>
                    <p:cNvPr id="128" name="Arc 66"/>
                    <p:cNvSpPr>
                      <a:spLocks/>
                    </p:cNvSpPr>
                    <p:nvPr/>
                  </p:nvSpPr>
                  <p:spPr bwMode="auto">
                    <a:xfrm flipH="1">
                      <a:off x="0" y="2401"/>
                      <a:ext cx="2473" cy="749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>
                        <a:latin typeface="Calibri (Corps)"/>
                      </a:endParaRPr>
                    </a:p>
                  </p:txBody>
                </p:sp>
                <p:sp>
                  <p:nvSpPr>
                    <p:cNvPr id="129" name="Arc 67"/>
                    <p:cNvSpPr>
                      <a:spLocks/>
                    </p:cNvSpPr>
                    <p:nvPr/>
                  </p:nvSpPr>
                  <p:spPr bwMode="auto">
                    <a:xfrm>
                      <a:off x="18180" y="0"/>
                      <a:ext cx="1823" cy="999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>
                        <a:latin typeface="Calibri (Corps)"/>
                      </a:endParaRPr>
                    </a:p>
                  </p:txBody>
                </p:sp>
                <p:grpSp>
                  <p:nvGrpSpPr>
                    <p:cNvPr id="130" name="Group 6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9999"/>
                      <a:ext cx="19938" cy="9999"/>
                      <a:chOff x="0" y="0"/>
                      <a:chExt cx="20000" cy="20000"/>
                    </a:xfrm>
                  </p:grpSpPr>
                  <p:sp>
                    <p:nvSpPr>
                      <p:cNvPr id="131" name="Arc 69"/>
                      <p:cNvSpPr>
                        <a:spLocks/>
                      </p:cNvSpPr>
                      <p:nvPr/>
                    </p:nvSpPr>
                    <p:spPr bwMode="auto">
                      <a:xfrm flipH="1" flipV="1">
                        <a:off x="0" y="0"/>
                        <a:ext cx="10013" cy="2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7356 h 21600"/>
                          <a:gd name="T4" fmla="*/ 0 w 21600"/>
                          <a:gd name="T5" fmla="*/ 7356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132" name="Arc 70"/>
                      <p:cNvSpPr>
                        <a:spLocks/>
                      </p:cNvSpPr>
                      <p:nvPr/>
                    </p:nvSpPr>
                    <p:spPr bwMode="auto">
                      <a:xfrm flipV="1">
                        <a:off x="9988" y="0"/>
                        <a:ext cx="10012" cy="2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7356 h 21600"/>
                          <a:gd name="T4" fmla="*/ 0 w 21600"/>
                          <a:gd name="T5" fmla="*/ 7356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</p:grpSp>
              <p:grpSp>
                <p:nvGrpSpPr>
                  <p:cNvPr id="117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0" y="5347"/>
                    <a:ext cx="20001" cy="14651"/>
                    <a:chOff x="0" y="0"/>
                    <a:chExt cx="20001" cy="20000"/>
                  </a:xfrm>
                </p:grpSpPr>
                <p:grpSp>
                  <p:nvGrpSpPr>
                    <p:cNvPr id="118" name="Group 7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14705" cy="14598"/>
                      <a:chOff x="0" y="0"/>
                      <a:chExt cx="20003" cy="20000"/>
                    </a:xfrm>
                  </p:grpSpPr>
                  <p:sp>
                    <p:nvSpPr>
                      <p:cNvPr id="123" name="Arc 73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0" y="2500"/>
                        <a:ext cx="2473" cy="75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124" name="Arc 7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180" y="0"/>
                        <a:ext cx="1823" cy="1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grpSp>
                    <p:nvGrpSpPr>
                      <p:cNvPr id="125" name="Group 7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10000"/>
                        <a:ext cx="19938" cy="10000"/>
                        <a:chOff x="0" y="0"/>
                        <a:chExt cx="20000" cy="20000"/>
                      </a:xfrm>
                    </p:grpSpPr>
                    <p:sp>
                      <p:nvSpPr>
                        <p:cNvPr id="126" name="Arc 76"/>
                        <p:cNvSpPr>
                          <a:spLocks/>
                        </p:cNvSpPr>
                        <p:nvPr/>
                      </p:nvSpPr>
                      <p:spPr bwMode="auto">
                        <a:xfrm flipH="1" flipV="1">
                          <a:off x="0" y="0"/>
                          <a:ext cx="10013" cy="20000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7356 h 21600"/>
                            <a:gd name="T4" fmla="*/ 0 w 21600"/>
                            <a:gd name="T5" fmla="*/ 7356 h 21600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21600" h="21600" fill="none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</a:path>
                            <a:path w="21600" h="21600" stroke="0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  <a:lnTo>
                                <a:pt x="0" y="216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54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  <p:sp>
                      <p:nvSpPr>
                        <p:cNvPr id="127" name="Arc 77"/>
                        <p:cNvSpPr>
                          <a:spLocks/>
                        </p:cNvSpPr>
                        <p:nvPr/>
                      </p:nvSpPr>
                      <p:spPr bwMode="auto">
                        <a:xfrm flipV="1">
                          <a:off x="9988" y="0"/>
                          <a:ext cx="10012" cy="20000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7356 h 21600"/>
                            <a:gd name="T4" fmla="*/ 0 w 21600"/>
                            <a:gd name="T5" fmla="*/ 7356 h 21600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21600" h="21600" fill="none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</a:path>
                            <a:path w="21600" h="21600" stroke="0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  <a:lnTo>
                                <a:pt x="0" y="216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54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19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7299"/>
                      <a:ext cx="20001" cy="12701"/>
                      <a:chOff x="0" y="0"/>
                      <a:chExt cx="20001" cy="20000"/>
                    </a:xfrm>
                  </p:grpSpPr>
                  <p:sp>
                    <p:nvSpPr>
                      <p:cNvPr id="120" name="Arc 79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0" y="0"/>
                        <a:ext cx="1818" cy="862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121" name="Arc 80"/>
                      <p:cNvSpPr>
                        <a:spLocks/>
                      </p:cNvSpPr>
                      <p:nvPr/>
                    </p:nvSpPr>
                    <p:spPr bwMode="auto">
                      <a:xfrm flipH="1" flipV="1">
                        <a:off x="0" y="8507"/>
                        <a:ext cx="7338" cy="1149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3 h 21600"/>
                          <a:gd name="T4" fmla="*/ 0 w 21600"/>
                          <a:gd name="T5" fmla="*/ 3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122" name="Line 8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084" y="19887"/>
                        <a:ext cx="12917" cy="113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</p:grpSp>
            </p:grpSp>
          </p:grpSp>
        </p:grpSp>
      </p:grpSp>
      <p:grpSp>
        <p:nvGrpSpPr>
          <p:cNvPr id="135" name="Group 227"/>
          <p:cNvGrpSpPr>
            <a:grpSpLocks/>
          </p:cNvGrpSpPr>
          <p:nvPr/>
        </p:nvGrpSpPr>
        <p:grpSpPr bwMode="auto">
          <a:xfrm>
            <a:off x="10257970" y="2253264"/>
            <a:ext cx="1341344" cy="1059974"/>
            <a:chOff x="4896" y="1417"/>
            <a:chExt cx="668" cy="548"/>
          </a:xfrm>
        </p:grpSpPr>
        <p:grpSp>
          <p:nvGrpSpPr>
            <p:cNvPr id="136" name="Group 30"/>
            <p:cNvGrpSpPr>
              <a:grpSpLocks/>
            </p:cNvGrpSpPr>
            <p:nvPr/>
          </p:nvGrpSpPr>
          <p:grpSpPr bwMode="auto">
            <a:xfrm>
              <a:off x="4896" y="1776"/>
              <a:ext cx="502" cy="189"/>
              <a:chOff x="0" y="0"/>
              <a:chExt cx="20000" cy="19998"/>
            </a:xfrm>
          </p:grpSpPr>
          <p:sp>
            <p:nvSpPr>
              <p:cNvPr id="138" name="Arc 31"/>
              <p:cNvSpPr>
                <a:spLocks/>
              </p:cNvSpPr>
              <p:nvPr/>
            </p:nvSpPr>
            <p:spPr bwMode="auto">
              <a:xfrm flipH="1">
                <a:off x="6" y="1055"/>
                <a:ext cx="1817" cy="316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139" name="Group 32"/>
              <p:cNvGrpSpPr>
                <a:grpSpLocks/>
              </p:cNvGrpSpPr>
              <p:nvPr/>
            </p:nvGrpSpPr>
            <p:grpSpPr bwMode="auto">
              <a:xfrm>
                <a:off x="0" y="4219"/>
                <a:ext cx="14658" cy="4219"/>
                <a:chOff x="0" y="0"/>
                <a:chExt cx="20001" cy="20000"/>
              </a:xfrm>
            </p:grpSpPr>
            <p:sp>
              <p:nvSpPr>
                <p:cNvPr id="161" name="Arc 33"/>
                <p:cNvSpPr>
                  <a:spLocks/>
                </p:cNvSpPr>
                <p:nvPr/>
              </p:nvSpPr>
              <p:spPr bwMode="auto">
                <a:xfrm flipH="1" flipV="1">
                  <a:off x="0" y="0"/>
                  <a:ext cx="10017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7356 h 21600"/>
                    <a:gd name="T4" fmla="*/ 0 w 21600"/>
                    <a:gd name="T5" fmla="*/ 73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162" name="Arc 34"/>
                <p:cNvSpPr>
                  <a:spLocks/>
                </p:cNvSpPr>
                <p:nvPr/>
              </p:nvSpPr>
              <p:spPr bwMode="auto">
                <a:xfrm flipV="1">
                  <a:off x="9992" y="0"/>
                  <a:ext cx="10009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7356 h 21600"/>
                    <a:gd name="T4" fmla="*/ 0 w 21600"/>
                    <a:gd name="T5" fmla="*/ 73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140" name="Arc 35"/>
              <p:cNvSpPr>
                <a:spLocks/>
              </p:cNvSpPr>
              <p:nvPr/>
            </p:nvSpPr>
            <p:spPr bwMode="auto">
              <a:xfrm>
                <a:off x="13366" y="2194"/>
                <a:ext cx="1340" cy="2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grpSp>
            <p:nvGrpSpPr>
              <p:cNvPr id="141" name="Group 36"/>
              <p:cNvGrpSpPr>
                <a:grpSpLocks/>
              </p:cNvGrpSpPr>
              <p:nvPr/>
            </p:nvGrpSpPr>
            <p:grpSpPr bwMode="auto">
              <a:xfrm>
                <a:off x="6" y="0"/>
                <a:ext cx="19994" cy="19998"/>
                <a:chOff x="-1" y="0"/>
                <a:chExt cx="20001" cy="19998"/>
              </a:xfrm>
            </p:grpSpPr>
            <p:sp>
              <p:nvSpPr>
                <p:cNvPr id="142" name="Line 37"/>
                <p:cNvSpPr>
                  <a:spLocks noChangeShapeType="1"/>
                </p:cNvSpPr>
                <p:nvPr/>
              </p:nvSpPr>
              <p:spPr bwMode="auto">
                <a:xfrm>
                  <a:off x="13333" y="0"/>
                  <a:ext cx="5792" cy="42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grpSp>
              <p:nvGrpSpPr>
                <p:cNvPr id="143" name="Group 38"/>
                <p:cNvGrpSpPr>
                  <a:grpSpLocks/>
                </p:cNvGrpSpPr>
                <p:nvPr/>
              </p:nvGrpSpPr>
              <p:grpSpPr bwMode="auto">
                <a:xfrm>
                  <a:off x="-1" y="4219"/>
                  <a:ext cx="20001" cy="15779"/>
                  <a:chOff x="0" y="0"/>
                  <a:chExt cx="20001" cy="19998"/>
                </a:xfrm>
              </p:grpSpPr>
              <p:grpSp>
                <p:nvGrpSpPr>
                  <p:cNvPr id="144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14705" cy="10694"/>
                    <a:chOff x="0" y="0"/>
                    <a:chExt cx="20003" cy="19998"/>
                  </a:xfrm>
                </p:grpSpPr>
                <p:sp>
                  <p:nvSpPr>
                    <p:cNvPr id="156" name="Arc 40"/>
                    <p:cNvSpPr>
                      <a:spLocks/>
                    </p:cNvSpPr>
                    <p:nvPr/>
                  </p:nvSpPr>
                  <p:spPr bwMode="auto">
                    <a:xfrm flipH="1">
                      <a:off x="0" y="2401"/>
                      <a:ext cx="2473" cy="749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>
                        <a:latin typeface="Calibri (Corps)"/>
                      </a:endParaRPr>
                    </a:p>
                  </p:txBody>
                </p:sp>
                <p:sp>
                  <p:nvSpPr>
                    <p:cNvPr id="157" name="Arc 41"/>
                    <p:cNvSpPr>
                      <a:spLocks/>
                    </p:cNvSpPr>
                    <p:nvPr/>
                  </p:nvSpPr>
                  <p:spPr bwMode="auto">
                    <a:xfrm>
                      <a:off x="18180" y="0"/>
                      <a:ext cx="1823" cy="9999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0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fr-FR">
                        <a:latin typeface="Calibri (Corps)"/>
                      </a:endParaRPr>
                    </a:p>
                  </p:txBody>
                </p:sp>
                <p:grpSp>
                  <p:nvGrpSpPr>
                    <p:cNvPr id="158" name="Group 4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9999"/>
                      <a:ext cx="19938" cy="9999"/>
                      <a:chOff x="0" y="0"/>
                      <a:chExt cx="20000" cy="20000"/>
                    </a:xfrm>
                  </p:grpSpPr>
                  <p:sp>
                    <p:nvSpPr>
                      <p:cNvPr id="159" name="Arc 43"/>
                      <p:cNvSpPr>
                        <a:spLocks/>
                      </p:cNvSpPr>
                      <p:nvPr/>
                    </p:nvSpPr>
                    <p:spPr bwMode="auto">
                      <a:xfrm flipH="1" flipV="1">
                        <a:off x="0" y="0"/>
                        <a:ext cx="10013" cy="2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7356 h 21600"/>
                          <a:gd name="T4" fmla="*/ 0 w 21600"/>
                          <a:gd name="T5" fmla="*/ 7356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160" name="Arc 44"/>
                      <p:cNvSpPr>
                        <a:spLocks/>
                      </p:cNvSpPr>
                      <p:nvPr/>
                    </p:nvSpPr>
                    <p:spPr bwMode="auto">
                      <a:xfrm flipV="1">
                        <a:off x="9988" y="0"/>
                        <a:ext cx="10012" cy="2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7356 h 21600"/>
                          <a:gd name="T4" fmla="*/ 0 w 21600"/>
                          <a:gd name="T5" fmla="*/ 7356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</p:grpSp>
              <p:grpSp>
                <p:nvGrpSpPr>
                  <p:cNvPr id="145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0" y="5347"/>
                    <a:ext cx="20001" cy="14651"/>
                    <a:chOff x="0" y="0"/>
                    <a:chExt cx="20001" cy="20000"/>
                  </a:xfrm>
                </p:grpSpPr>
                <p:grpSp>
                  <p:nvGrpSpPr>
                    <p:cNvPr id="146" name="Group 4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14705" cy="14598"/>
                      <a:chOff x="0" y="0"/>
                      <a:chExt cx="20003" cy="20000"/>
                    </a:xfrm>
                  </p:grpSpPr>
                  <p:sp>
                    <p:nvSpPr>
                      <p:cNvPr id="151" name="Arc 47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0" y="2500"/>
                        <a:ext cx="2473" cy="75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152" name="Arc 4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180" y="0"/>
                        <a:ext cx="1823" cy="1000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grpSp>
                    <p:nvGrpSpPr>
                      <p:cNvPr id="153" name="Group 4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10000"/>
                        <a:ext cx="19938" cy="10000"/>
                        <a:chOff x="0" y="0"/>
                        <a:chExt cx="20000" cy="20000"/>
                      </a:xfrm>
                    </p:grpSpPr>
                    <p:sp>
                      <p:nvSpPr>
                        <p:cNvPr id="154" name="Arc 50"/>
                        <p:cNvSpPr>
                          <a:spLocks/>
                        </p:cNvSpPr>
                        <p:nvPr/>
                      </p:nvSpPr>
                      <p:spPr bwMode="auto">
                        <a:xfrm flipH="1" flipV="1">
                          <a:off x="0" y="0"/>
                          <a:ext cx="10013" cy="20000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7356 h 21600"/>
                            <a:gd name="T4" fmla="*/ 0 w 21600"/>
                            <a:gd name="T5" fmla="*/ 7356 h 21600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21600" h="21600" fill="none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</a:path>
                            <a:path w="21600" h="21600" stroke="0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  <a:lnTo>
                                <a:pt x="0" y="216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54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  <p:sp>
                      <p:nvSpPr>
                        <p:cNvPr id="155" name="Arc 51"/>
                        <p:cNvSpPr>
                          <a:spLocks/>
                        </p:cNvSpPr>
                        <p:nvPr/>
                      </p:nvSpPr>
                      <p:spPr bwMode="auto">
                        <a:xfrm flipV="1">
                          <a:off x="9988" y="0"/>
                          <a:ext cx="10012" cy="20000"/>
                        </a:xfrm>
                        <a:custGeom>
                          <a:avLst/>
                          <a:gdLst>
                            <a:gd name="T0" fmla="*/ 0 w 21600"/>
                            <a:gd name="T1" fmla="*/ 0 h 21600"/>
                            <a:gd name="T2" fmla="*/ 0 w 21600"/>
                            <a:gd name="T3" fmla="*/ 7356 h 21600"/>
                            <a:gd name="T4" fmla="*/ 0 w 21600"/>
                            <a:gd name="T5" fmla="*/ 7356 h 21600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21600" h="21600" fill="none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</a:path>
                            <a:path w="21600" h="21600" stroke="0" extrusionOk="0">
                              <a:moveTo>
                                <a:pt x="0" y="0"/>
                              </a:moveTo>
                              <a:cubicBezTo>
                                <a:pt x="11929" y="0"/>
                                <a:pt x="21600" y="9670"/>
                                <a:pt x="21600" y="21600"/>
                              </a:cubicBezTo>
                              <a:lnTo>
                                <a:pt x="0" y="216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noFill/>
                        <a:ln w="254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47" name="Group 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7299"/>
                      <a:ext cx="20001" cy="12701"/>
                      <a:chOff x="0" y="0"/>
                      <a:chExt cx="20001" cy="20000"/>
                    </a:xfrm>
                  </p:grpSpPr>
                  <p:sp>
                    <p:nvSpPr>
                      <p:cNvPr id="148" name="Arc 53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0" y="0"/>
                        <a:ext cx="1818" cy="8620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149" name="Arc 54"/>
                      <p:cNvSpPr>
                        <a:spLocks/>
                      </p:cNvSpPr>
                      <p:nvPr/>
                    </p:nvSpPr>
                    <p:spPr bwMode="auto">
                      <a:xfrm flipH="1" flipV="1">
                        <a:off x="0" y="8507"/>
                        <a:ext cx="7338" cy="11493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3 h 21600"/>
                          <a:gd name="T4" fmla="*/ 0 w 21600"/>
                          <a:gd name="T5" fmla="*/ 3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0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254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150" name="Line 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084" y="19887"/>
                        <a:ext cx="12917" cy="113"/>
                      </a:xfrm>
                      <a:prstGeom prst="line">
                        <a:avLst/>
                      </a:prstGeom>
                      <a:noFill/>
                      <a:ln w="25400">
                        <a:solidFill>
                          <a:srgbClr val="000000"/>
                        </a:solidFill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137" name="Text Box 133"/>
            <p:cNvSpPr txBox="1">
              <a:spLocks noChangeArrowheads="1"/>
            </p:cNvSpPr>
            <p:nvPr/>
          </p:nvSpPr>
          <p:spPr bwMode="auto">
            <a:xfrm>
              <a:off x="5284" y="1417"/>
              <a:ext cx="28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7145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2860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43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004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57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14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Calibri (Corps)"/>
                </a:rPr>
                <a:t>B1</a:t>
              </a:r>
            </a:p>
          </p:txBody>
        </p:sp>
      </p:grpSp>
      <p:grpSp>
        <p:nvGrpSpPr>
          <p:cNvPr id="163" name="Group 230"/>
          <p:cNvGrpSpPr>
            <a:grpSpLocks/>
          </p:cNvGrpSpPr>
          <p:nvPr/>
        </p:nvGrpSpPr>
        <p:grpSpPr bwMode="auto">
          <a:xfrm rot="16200000">
            <a:off x="7434961" y="2985495"/>
            <a:ext cx="928443" cy="385536"/>
            <a:chOff x="2592" y="780"/>
            <a:chExt cx="480" cy="192"/>
          </a:xfrm>
        </p:grpSpPr>
        <p:sp>
          <p:nvSpPr>
            <p:cNvPr id="164" name="Rectangle 231"/>
            <p:cNvSpPr>
              <a:spLocks noChangeArrowheads="1"/>
            </p:cNvSpPr>
            <p:nvPr/>
          </p:nvSpPr>
          <p:spPr bwMode="auto">
            <a:xfrm>
              <a:off x="2592" y="816"/>
              <a:ext cx="240" cy="144"/>
            </a:xfrm>
            <a:prstGeom prst="rect">
              <a:avLst/>
            </a:prstGeom>
            <a:solidFill>
              <a:srgbClr val="FFCC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  <a:contourClr>
                <a:srgbClr val="FFCC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fr-FR" sz="1800"/>
            </a:p>
          </p:txBody>
        </p:sp>
        <p:sp>
          <p:nvSpPr>
            <p:cNvPr id="165" name="Rectangle 232"/>
            <p:cNvSpPr>
              <a:spLocks noChangeArrowheads="1"/>
            </p:cNvSpPr>
            <p:nvPr/>
          </p:nvSpPr>
          <p:spPr bwMode="auto">
            <a:xfrm>
              <a:off x="2832" y="816"/>
              <a:ext cx="240" cy="144"/>
            </a:xfrm>
            <a:prstGeom prst="rect">
              <a:avLst/>
            </a:prstGeom>
            <a:solidFill>
              <a:srgbClr val="00CCFF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CCFF"/>
              </a:extrusionClr>
              <a:contourClr>
                <a:srgbClr val="00CCFF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fr-FR" sz="1800"/>
            </a:p>
          </p:txBody>
        </p:sp>
        <p:sp>
          <p:nvSpPr>
            <p:cNvPr id="166" name="Text Box 233"/>
            <p:cNvSpPr txBox="1">
              <a:spLocks noChangeArrowheads="1"/>
            </p:cNvSpPr>
            <p:nvPr/>
          </p:nvSpPr>
          <p:spPr bwMode="auto">
            <a:xfrm>
              <a:off x="2850" y="780"/>
              <a:ext cx="1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7145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2860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43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004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57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14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67" name="Text Box 234"/>
            <p:cNvSpPr txBox="1">
              <a:spLocks noChangeArrowheads="1"/>
            </p:cNvSpPr>
            <p:nvPr/>
          </p:nvSpPr>
          <p:spPr bwMode="auto">
            <a:xfrm>
              <a:off x="2628" y="780"/>
              <a:ext cx="1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7145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2860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43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004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57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14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S</a:t>
              </a:r>
            </a:p>
          </p:txBody>
        </p:sp>
      </p:grpSp>
      <p:sp>
        <p:nvSpPr>
          <p:cNvPr id="168" name="Line 236"/>
          <p:cNvSpPr>
            <a:spLocks noChangeShapeType="1"/>
          </p:cNvSpPr>
          <p:nvPr/>
        </p:nvSpPr>
        <p:spPr bwMode="auto">
          <a:xfrm rot="5400000" flipH="1" flipV="1">
            <a:off x="11458187" y="3172952"/>
            <a:ext cx="0" cy="28915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69" name="Line 237"/>
          <p:cNvSpPr>
            <a:spLocks noChangeShapeType="1"/>
          </p:cNvSpPr>
          <p:nvPr/>
        </p:nvSpPr>
        <p:spPr bwMode="auto">
          <a:xfrm rot="5400000">
            <a:off x="11458187" y="2801575"/>
            <a:ext cx="0" cy="28915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0" name="Text Box 238"/>
          <p:cNvSpPr txBox="1">
            <a:spLocks noChangeArrowheads="1"/>
          </p:cNvSpPr>
          <p:nvPr/>
        </p:nvSpPr>
        <p:spPr bwMode="auto">
          <a:xfrm>
            <a:off x="7744624" y="2056371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860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43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00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57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114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741011" y="3710535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2" name="Line 189"/>
          <p:cNvSpPr>
            <a:spLocks noChangeShapeType="1"/>
          </p:cNvSpPr>
          <p:nvPr/>
        </p:nvSpPr>
        <p:spPr bwMode="auto">
          <a:xfrm flipV="1">
            <a:off x="8109629" y="6275217"/>
            <a:ext cx="0" cy="34401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3" name="Line 190"/>
          <p:cNvSpPr>
            <a:spLocks noChangeShapeType="1"/>
          </p:cNvSpPr>
          <p:nvPr/>
        </p:nvSpPr>
        <p:spPr bwMode="auto">
          <a:xfrm flipH="1">
            <a:off x="7739056" y="6279979"/>
            <a:ext cx="0" cy="33925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74" name="Rectangle 173"/>
          <p:cNvSpPr/>
          <p:nvPr/>
        </p:nvSpPr>
        <p:spPr>
          <a:xfrm>
            <a:off x="6956589" y="2832653"/>
            <a:ext cx="407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5" name="Text Box 238"/>
          <p:cNvSpPr txBox="1">
            <a:spLocks noChangeArrowheads="1"/>
          </p:cNvSpPr>
          <p:nvPr/>
        </p:nvSpPr>
        <p:spPr bwMode="auto">
          <a:xfrm>
            <a:off x="8609651" y="2850401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860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43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00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57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114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27312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23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44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48" dur="25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50" dur="25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96296E-6 L -0.00429 -0.24514 " pathEditMode="relative" rAng="0" ptsTypes="AA">
                                      <p:cBhvr>
                                        <p:cTn id="52" dur="25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-1226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3.33333E-6 L 0.0043 0.24514 " pathEditMode="relative" rAng="0" ptsTypes="AA">
                                      <p:cBhvr>
                                        <p:cTn id="54" dur="25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1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"/>
                            </p:stCondLst>
                            <p:childTnLst>
                              <p:par>
                                <p:cTn id="56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74" dur="7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95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8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99" dur="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01" dur="25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232 L -0.13346 -0.00278 " pathEditMode="relative" rAng="0" ptsTypes="AA">
                                      <p:cBhvr>
                                        <p:cTn id="103" dur="25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0" y="-116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0.1293 0.00046 " pathEditMode="relative" rAng="0" ptsTypes="AA">
                                      <p:cBhvr>
                                        <p:cTn id="105" dur="2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6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125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146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8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50" dur="25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" presetID="8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52" dur="25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3 0.24514 L 2.08333E-7 -3.33333E-6 " pathEditMode="relative" rAng="0" ptsTypes="AA">
                                      <p:cBhvr>
                                        <p:cTn id="154" dur="25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-1226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29 -0.24514 L -2.5E-6 2.96296E-6 " pathEditMode="relative" rAng="0" ptsTypes="AA">
                                      <p:cBhvr>
                                        <p:cTn id="156" dur="25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1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5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176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168" grpId="1" animBg="1"/>
      <p:bldP spid="168" grpId="2" animBg="1"/>
      <p:bldP spid="168" grpId="3" animBg="1"/>
      <p:bldP spid="168" grpId="4" animBg="1"/>
      <p:bldP spid="168" grpId="5" animBg="1"/>
      <p:bldP spid="169" grpId="0" animBg="1"/>
      <p:bldP spid="169" grpId="1" animBg="1"/>
      <p:bldP spid="169" grpId="2" animBg="1"/>
      <p:bldP spid="169" grpId="3" animBg="1"/>
      <p:bldP spid="169" grpId="4" animBg="1"/>
      <p:bldP spid="169" grpId="5" animBg="1"/>
      <p:bldP spid="170" grpId="0"/>
      <p:bldP spid="170" grpId="1"/>
      <p:bldP spid="170" grpId="2"/>
      <p:bldP spid="170" grpId="3"/>
      <p:bldP spid="170" grpId="4"/>
      <p:bldP spid="170" grpId="5"/>
      <p:bldP spid="171" grpId="0"/>
      <p:bldP spid="171" grpId="1"/>
      <p:bldP spid="171" grpId="2"/>
      <p:bldP spid="171" grpId="3"/>
      <p:bldP spid="171" grpId="4"/>
      <p:bldP spid="171" grpId="5"/>
      <p:bldP spid="172" grpId="0" animBg="1"/>
      <p:bldP spid="172" grpId="1" animBg="1"/>
      <p:bldP spid="172" grpId="2" animBg="1"/>
      <p:bldP spid="172" grpId="3" animBg="1"/>
      <p:bldP spid="173" grpId="0" animBg="1"/>
      <p:bldP spid="173" grpId="1" animBg="1"/>
      <p:bldP spid="173" grpId="2" animBg="1"/>
      <p:bldP spid="173" grpId="3" animBg="1"/>
      <p:bldP spid="174" grpId="0"/>
      <p:bldP spid="174" grpId="1"/>
      <p:bldP spid="174" grpId="2"/>
      <p:bldP spid="174" grpId="3"/>
      <p:bldP spid="175" grpId="0"/>
      <p:bldP spid="175" grpId="1"/>
      <p:bldP spid="175" grpId="2"/>
      <p:bldP spid="175" grpId="3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32892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4 quadrants chopper: Stepper motor control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0" y="0"/>
            <a:ext cx="247996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Reversible choppers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2 quadrants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4 quadrants chopper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30" name="Imag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125" y="2746752"/>
            <a:ext cx="4537075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Imag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125" y="1883152"/>
            <a:ext cx="5373687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867066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Inverter</a:t>
            </a:r>
          </a:p>
        </p:txBody>
      </p:sp>
      <p:cxnSp>
        <p:nvCxnSpPr>
          <p:cNvPr id="4" name="Connecteur droit 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56616491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Single phase inverter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6180502" y="5224318"/>
                <a:ext cx="3076611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</m:sSub>
                      <m:r>
                        <a:rPr lang="fr-FR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𝐬𝐢𝐧</m:t>
                      </m:r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502" y="5224318"/>
                <a:ext cx="3076611" cy="806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Connecteur droit 18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ZoneTexte 187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Inverters</a:t>
            </a:r>
          </a:p>
          <a:p>
            <a:r>
              <a:rPr lang="en-US" b="1" dirty="0">
                <a:solidFill>
                  <a:srgbClr val="FF0000"/>
                </a:solidFill>
              </a:rPr>
              <a:t>Single phase inverter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Three phase inverter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Three phase motor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3" name="Groupe 2"/>
          <p:cNvGrpSpPr/>
          <p:nvPr/>
        </p:nvGrpSpPr>
        <p:grpSpPr>
          <a:xfrm>
            <a:off x="5077226" y="1569893"/>
            <a:ext cx="4968875" cy="3151188"/>
            <a:chOff x="5077226" y="1569893"/>
            <a:chExt cx="4968875" cy="3151188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7226" y="1569893"/>
              <a:ext cx="4968875" cy="3151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5472513" y="1592118"/>
              <a:ext cx="4046538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6777438" y="1976293"/>
              <a:ext cx="84138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6864751" y="2031856"/>
              <a:ext cx="57150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900" b="1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2" name="Group 7"/>
            <p:cNvGrpSpPr>
              <a:grpSpLocks/>
            </p:cNvGrpSpPr>
            <p:nvPr/>
          </p:nvGrpSpPr>
          <p:grpSpPr bwMode="auto">
            <a:xfrm>
              <a:off x="6525026" y="2217593"/>
              <a:ext cx="438150" cy="373063"/>
              <a:chOff x="2023" y="1389"/>
              <a:chExt cx="276" cy="235"/>
            </a:xfrm>
          </p:grpSpPr>
          <p:grpSp>
            <p:nvGrpSpPr>
              <p:cNvPr id="13" name="Group 8"/>
              <p:cNvGrpSpPr>
                <a:grpSpLocks/>
              </p:cNvGrpSpPr>
              <p:nvPr/>
            </p:nvGrpSpPr>
            <p:grpSpPr bwMode="auto">
              <a:xfrm>
                <a:off x="2023" y="1389"/>
                <a:ext cx="235" cy="153"/>
                <a:chOff x="2023" y="1389"/>
                <a:chExt cx="235" cy="153"/>
              </a:xfrm>
            </p:grpSpPr>
            <p:sp>
              <p:nvSpPr>
                <p:cNvPr id="16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023" y="1541"/>
                  <a:ext cx="235" cy="1"/>
                </a:xfrm>
                <a:prstGeom prst="line">
                  <a:avLst/>
                </a:prstGeom>
                <a:noFill/>
                <a:ln w="444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141" y="1389"/>
                  <a:ext cx="117" cy="152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023" y="1389"/>
                  <a:ext cx="235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" name="Line 12"/>
                <p:cNvSpPr>
                  <a:spLocks noChangeShapeType="1"/>
                </p:cNvSpPr>
                <p:nvPr/>
              </p:nvSpPr>
              <p:spPr bwMode="auto">
                <a:xfrm>
                  <a:off x="2023" y="1389"/>
                  <a:ext cx="118" cy="152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2182" y="1541"/>
                <a:ext cx="76" cy="83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2223" y="1541"/>
                <a:ext cx="76" cy="83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7150501" y="2217593"/>
              <a:ext cx="373062" cy="242888"/>
              <a:chOff x="2417" y="1389"/>
              <a:chExt cx="235" cy="153"/>
            </a:xfrm>
          </p:grpSpPr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 flipH="1">
                <a:off x="2417" y="1389"/>
                <a:ext cx="235" cy="1"/>
              </a:xfrm>
              <a:prstGeom prst="line">
                <a:avLst/>
              </a:prstGeom>
              <a:noFill/>
              <a:ln w="444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2534" y="1389"/>
                <a:ext cx="118" cy="15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 flipH="1">
                <a:off x="2417" y="1541"/>
                <a:ext cx="235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4" name="Line 19"/>
              <p:cNvSpPr>
                <a:spLocks noChangeShapeType="1"/>
              </p:cNvSpPr>
              <p:nvPr/>
            </p:nvSpPr>
            <p:spPr bwMode="auto">
              <a:xfrm flipV="1">
                <a:off x="2417" y="1389"/>
                <a:ext cx="117" cy="15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7150501" y="1965181"/>
              <a:ext cx="920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7237813" y="2042968"/>
              <a:ext cx="57150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900" b="1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6712351" y="1844531"/>
              <a:ext cx="623887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V="1">
              <a:off x="6712351" y="1844531"/>
              <a:ext cx="1587" cy="3730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V="1">
              <a:off x="7336238" y="1844531"/>
              <a:ext cx="1588" cy="3730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V="1">
              <a:off x="6712351" y="2458893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V="1">
              <a:off x="7336238" y="2458893"/>
              <a:ext cx="1588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7029851" y="3151043"/>
              <a:ext cx="711200" cy="3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Rectangle 28"/>
            <p:cNvSpPr>
              <a:spLocks noChangeArrowheads="1"/>
            </p:cNvSpPr>
            <p:nvPr/>
          </p:nvSpPr>
          <p:spPr bwMode="auto">
            <a:xfrm>
              <a:off x="9257113" y="1976293"/>
              <a:ext cx="84138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9344426" y="2031856"/>
              <a:ext cx="57150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900" b="1">
                  <a:solidFill>
                    <a:srgbClr val="000000"/>
                  </a:solidFill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35" name="Group 30"/>
            <p:cNvGrpSpPr>
              <a:grpSpLocks/>
            </p:cNvGrpSpPr>
            <p:nvPr/>
          </p:nvGrpSpPr>
          <p:grpSpPr bwMode="auto">
            <a:xfrm>
              <a:off x="9015813" y="2217593"/>
              <a:ext cx="438150" cy="373063"/>
              <a:chOff x="3592" y="1389"/>
              <a:chExt cx="276" cy="235"/>
            </a:xfrm>
          </p:grpSpPr>
          <p:grpSp>
            <p:nvGrpSpPr>
              <p:cNvPr id="36" name="Group 31"/>
              <p:cNvGrpSpPr>
                <a:grpSpLocks/>
              </p:cNvGrpSpPr>
              <p:nvPr/>
            </p:nvGrpSpPr>
            <p:grpSpPr bwMode="auto">
              <a:xfrm>
                <a:off x="3592" y="1389"/>
                <a:ext cx="234" cy="153"/>
                <a:chOff x="3592" y="1389"/>
                <a:chExt cx="234" cy="153"/>
              </a:xfrm>
            </p:grpSpPr>
            <p:sp>
              <p:nvSpPr>
                <p:cNvPr id="39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592" y="1541"/>
                  <a:ext cx="234" cy="1"/>
                </a:xfrm>
                <a:prstGeom prst="line">
                  <a:avLst/>
                </a:prstGeom>
                <a:noFill/>
                <a:ln w="444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0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3709" y="1389"/>
                  <a:ext cx="117" cy="152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1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3592" y="1389"/>
                  <a:ext cx="234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2" name="Line 35"/>
                <p:cNvSpPr>
                  <a:spLocks noChangeShapeType="1"/>
                </p:cNvSpPr>
                <p:nvPr/>
              </p:nvSpPr>
              <p:spPr bwMode="auto">
                <a:xfrm>
                  <a:off x="3592" y="1389"/>
                  <a:ext cx="117" cy="152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37" name="Line 36"/>
              <p:cNvSpPr>
                <a:spLocks noChangeShapeType="1"/>
              </p:cNvSpPr>
              <p:nvPr/>
            </p:nvSpPr>
            <p:spPr bwMode="auto">
              <a:xfrm>
                <a:off x="3750" y="1541"/>
                <a:ext cx="76" cy="83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Line 37"/>
              <p:cNvSpPr>
                <a:spLocks noChangeShapeType="1"/>
              </p:cNvSpPr>
              <p:nvPr/>
            </p:nvSpPr>
            <p:spPr bwMode="auto">
              <a:xfrm>
                <a:off x="3792" y="1541"/>
                <a:ext cx="76" cy="83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3" name="Group 38"/>
            <p:cNvGrpSpPr>
              <a:grpSpLocks/>
            </p:cNvGrpSpPr>
            <p:nvPr/>
          </p:nvGrpSpPr>
          <p:grpSpPr bwMode="auto">
            <a:xfrm>
              <a:off x="9639701" y="2217593"/>
              <a:ext cx="373062" cy="242888"/>
              <a:chOff x="3985" y="1389"/>
              <a:chExt cx="235" cy="153"/>
            </a:xfrm>
          </p:grpSpPr>
          <p:sp>
            <p:nvSpPr>
              <p:cNvPr id="44" name="Line 39"/>
              <p:cNvSpPr>
                <a:spLocks noChangeShapeType="1"/>
              </p:cNvSpPr>
              <p:nvPr/>
            </p:nvSpPr>
            <p:spPr bwMode="auto">
              <a:xfrm flipH="1">
                <a:off x="3985" y="1389"/>
                <a:ext cx="235" cy="1"/>
              </a:xfrm>
              <a:prstGeom prst="line">
                <a:avLst/>
              </a:prstGeom>
              <a:noFill/>
              <a:ln w="444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Line 40"/>
              <p:cNvSpPr>
                <a:spLocks noChangeShapeType="1"/>
              </p:cNvSpPr>
              <p:nvPr/>
            </p:nvSpPr>
            <p:spPr bwMode="auto">
              <a:xfrm>
                <a:off x="4103" y="1389"/>
                <a:ext cx="117" cy="15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Line 41"/>
              <p:cNvSpPr>
                <a:spLocks noChangeShapeType="1"/>
              </p:cNvSpPr>
              <p:nvPr/>
            </p:nvSpPr>
            <p:spPr bwMode="auto">
              <a:xfrm flipH="1">
                <a:off x="3985" y="1541"/>
                <a:ext cx="235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Line 42"/>
              <p:cNvSpPr>
                <a:spLocks noChangeShapeType="1"/>
              </p:cNvSpPr>
              <p:nvPr/>
            </p:nvSpPr>
            <p:spPr bwMode="auto">
              <a:xfrm flipV="1">
                <a:off x="3985" y="1389"/>
                <a:ext cx="118" cy="15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8" name="Rectangle 43"/>
            <p:cNvSpPr>
              <a:spLocks noChangeArrowheads="1"/>
            </p:cNvSpPr>
            <p:nvPr/>
          </p:nvSpPr>
          <p:spPr bwMode="auto">
            <a:xfrm>
              <a:off x="9628588" y="1965181"/>
              <a:ext cx="920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44"/>
            <p:cNvSpPr>
              <a:spLocks noChangeArrowheads="1"/>
            </p:cNvSpPr>
            <p:nvPr/>
          </p:nvSpPr>
          <p:spPr bwMode="auto">
            <a:xfrm>
              <a:off x="9717488" y="2042968"/>
              <a:ext cx="57150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900" b="1">
                  <a:solidFill>
                    <a:srgbClr val="000000"/>
                  </a:solidFill>
                  <a:latin typeface="Times" panose="02020603050405020304" pitchFamily="18" charset="0"/>
                </a:rPr>
                <a:t>2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9201551" y="1844531"/>
              <a:ext cx="62547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 flipV="1">
              <a:off x="9201551" y="1844531"/>
              <a:ext cx="1587" cy="3730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 flipV="1">
              <a:off x="9827026" y="1844531"/>
              <a:ext cx="1587" cy="3730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 flipV="1">
              <a:off x="9201551" y="2458893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 flipV="1">
              <a:off x="9827026" y="2458893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9201551" y="2831956"/>
              <a:ext cx="62547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Rectangle 51"/>
            <p:cNvSpPr>
              <a:spLocks noChangeArrowheads="1"/>
            </p:cNvSpPr>
            <p:nvPr/>
          </p:nvSpPr>
          <p:spPr bwMode="auto">
            <a:xfrm>
              <a:off x="6777438" y="3590781"/>
              <a:ext cx="84138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52"/>
            <p:cNvSpPr>
              <a:spLocks noChangeArrowheads="1"/>
            </p:cNvSpPr>
            <p:nvPr/>
          </p:nvSpPr>
          <p:spPr bwMode="auto">
            <a:xfrm>
              <a:off x="6864751" y="3644756"/>
              <a:ext cx="57150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900" b="1">
                  <a:solidFill>
                    <a:srgbClr val="000000"/>
                  </a:solidFill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58" name="Group 53"/>
            <p:cNvGrpSpPr>
              <a:grpSpLocks/>
            </p:cNvGrpSpPr>
            <p:nvPr/>
          </p:nvGrpSpPr>
          <p:grpSpPr bwMode="auto">
            <a:xfrm>
              <a:off x="6525026" y="3832081"/>
              <a:ext cx="438150" cy="373062"/>
              <a:chOff x="2023" y="2406"/>
              <a:chExt cx="276" cy="235"/>
            </a:xfrm>
          </p:grpSpPr>
          <p:grpSp>
            <p:nvGrpSpPr>
              <p:cNvPr id="59" name="Group 54"/>
              <p:cNvGrpSpPr>
                <a:grpSpLocks/>
              </p:cNvGrpSpPr>
              <p:nvPr/>
            </p:nvGrpSpPr>
            <p:grpSpPr bwMode="auto">
              <a:xfrm>
                <a:off x="2023" y="2406"/>
                <a:ext cx="235" cy="160"/>
                <a:chOff x="2023" y="2406"/>
                <a:chExt cx="235" cy="160"/>
              </a:xfrm>
            </p:grpSpPr>
            <p:sp>
              <p:nvSpPr>
                <p:cNvPr id="62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2023" y="2565"/>
                  <a:ext cx="235" cy="1"/>
                </a:xfrm>
                <a:prstGeom prst="line">
                  <a:avLst/>
                </a:prstGeom>
                <a:noFill/>
                <a:ln w="444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3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141" y="2406"/>
                  <a:ext cx="117" cy="159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4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2023" y="2406"/>
                  <a:ext cx="235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5" name="Line 58"/>
                <p:cNvSpPr>
                  <a:spLocks noChangeShapeType="1"/>
                </p:cNvSpPr>
                <p:nvPr/>
              </p:nvSpPr>
              <p:spPr bwMode="auto">
                <a:xfrm>
                  <a:off x="2023" y="2406"/>
                  <a:ext cx="118" cy="159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60" name="Line 59"/>
              <p:cNvSpPr>
                <a:spLocks noChangeShapeType="1"/>
              </p:cNvSpPr>
              <p:nvPr/>
            </p:nvSpPr>
            <p:spPr bwMode="auto">
              <a:xfrm>
                <a:off x="2182" y="2565"/>
                <a:ext cx="76" cy="7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Line 60"/>
              <p:cNvSpPr>
                <a:spLocks noChangeShapeType="1"/>
              </p:cNvSpPr>
              <p:nvPr/>
            </p:nvSpPr>
            <p:spPr bwMode="auto">
              <a:xfrm>
                <a:off x="2223" y="2565"/>
                <a:ext cx="76" cy="7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6" name="Group 61"/>
            <p:cNvGrpSpPr>
              <a:grpSpLocks/>
            </p:cNvGrpSpPr>
            <p:nvPr/>
          </p:nvGrpSpPr>
          <p:grpSpPr bwMode="auto">
            <a:xfrm>
              <a:off x="7150501" y="3832081"/>
              <a:ext cx="373062" cy="254000"/>
              <a:chOff x="2417" y="2406"/>
              <a:chExt cx="235" cy="160"/>
            </a:xfrm>
          </p:grpSpPr>
          <p:sp>
            <p:nvSpPr>
              <p:cNvPr id="67" name="Line 62"/>
              <p:cNvSpPr>
                <a:spLocks noChangeShapeType="1"/>
              </p:cNvSpPr>
              <p:nvPr/>
            </p:nvSpPr>
            <p:spPr bwMode="auto">
              <a:xfrm flipH="1">
                <a:off x="2417" y="2406"/>
                <a:ext cx="235" cy="1"/>
              </a:xfrm>
              <a:prstGeom prst="line">
                <a:avLst/>
              </a:prstGeom>
              <a:noFill/>
              <a:ln w="444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Line 63"/>
              <p:cNvSpPr>
                <a:spLocks noChangeShapeType="1"/>
              </p:cNvSpPr>
              <p:nvPr/>
            </p:nvSpPr>
            <p:spPr bwMode="auto">
              <a:xfrm>
                <a:off x="2534" y="2406"/>
                <a:ext cx="118" cy="159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Line 64"/>
              <p:cNvSpPr>
                <a:spLocks noChangeShapeType="1"/>
              </p:cNvSpPr>
              <p:nvPr/>
            </p:nvSpPr>
            <p:spPr bwMode="auto">
              <a:xfrm flipH="1">
                <a:off x="2417" y="2565"/>
                <a:ext cx="235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0" name="Line 65"/>
              <p:cNvSpPr>
                <a:spLocks noChangeShapeType="1"/>
              </p:cNvSpPr>
              <p:nvPr/>
            </p:nvSpPr>
            <p:spPr bwMode="auto">
              <a:xfrm flipV="1">
                <a:off x="2417" y="2406"/>
                <a:ext cx="117" cy="159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71" name="Rectangle 66"/>
            <p:cNvSpPr>
              <a:spLocks noChangeArrowheads="1"/>
            </p:cNvSpPr>
            <p:nvPr/>
          </p:nvSpPr>
          <p:spPr bwMode="auto">
            <a:xfrm>
              <a:off x="7150501" y="3579668"/>
              <a:ext cx="920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72" name="Rectangle 67"/>
            <p:cNvSpPr>
              <a:spLocks noChangeArrowheads="1"/>
            </p:cNvSpPr>
            <p:nvPr/>
          </p:nvSpPr>
          <p:spPr bwMode="auto">
            <a:xfrm>
              <a:off x="7237813" y="3655868"/>
              <a:ext cx="57150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900" b="1">
                  <a:solidFill>
                    <a:srgbClr val="000000"/>
                  </a:solidFill>
                  <a:latin typeface="Times" panose="02020603050405020304" pitchFamily="18" charset="0"/>
                </a:rPr>
                <a:t>3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73" name="Line 68"/>
            <p:cNvSpPr>
              <a:spLocks noChangeShapeType="1"/>
            </p:cNvSpPr>
            <p:nvPr/>
          </p:nvSpPr>
          <p:spPr bwMode="auto">
            <a:xfrm>
              <a:off x="6712351" y="3459018"/>
              <a:ext cx="62388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Line 69"/>
            <p:cNvSpPr>
              <a:spLocks noChangeShapeType="1"/>
            </p:cNvSpPr>
            <p:nvPr/>
          </p:nvSpPr>
          <p:spPr bwMode="auto">
            <a:xfrm flipV="1">
              <a:off x="6712351" y="3459018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 flipV="1">
              <a:off x="7336238" y="3459018"/>
              <a:ext cx="1588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 flipV="1">
              <a:off x="6712351" y="4084493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 flipV="1">
              <a:off x="7336238" y="4084493"/>
              <a:ext cx="1588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Line 73"/>
            <p:cNvSpPr>
              <a:spLocks noChangeShapeType="1"/>
            </p:cNvSpPr>
            <p:nvPr/>
          </p:nvSpPr>
          <p:spPr bwMode="auto">
            <a:xfrm>
              <a:off x="6712351" y="4457556"/>
              <a:ext cx="623887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Rectangle 74"/>
            <p:cNvSpPr>
              <a:spLocks noChangeArrowheads="1"/>
            </p:cNvSpPr>
            <p:nvPr/>
          </p:nvSpPr>
          <p:spPr bwMode="auto">
            <a:xfrm>
              <a:off x="9257113" y="3590781"/>
              <a:ext cx="84138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80" name="Rectangle 75"/>
            <p:cNvSpPr>
              <a:spLocks noChangeArrowheads="1"/>
            </p:cNvSpPr>
            <p:nvPr/>
          </p:nvSpPr>
          <p:spPr bwMode="auto">
            <a:xfrm>
              <a:off x="9344426" y="3644756"/>
              <a:ext cx="57150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900" b="1">
                  <a:solidFill>
                    <a:srgbClr val="000000"/>
                  </a:solidFill>
                  <a:latin typeface="Times" panose="02020603050405020304" pitchFamily="18" charset="0"/>
                </a:rPr>
                <a:t>4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81" name="Group 76"/>
            <p:cNvGrpSpPr>
              <a:grpSpLocks/>
            </p:cNvGrpSpPr>
            <p:nvPr/>
          </p:nvGrpSpPr>
          <p:grpSpPr bwMode="auto">
            <a:xfrm>
              <a:off x="9015813" y="3832081"/>
              <a:ext cx="438150" cy="373062"/>
              <a:chOff x="3592" y="2406"/>
              <a:chExt cx="276" cy="235"/>
            </a:xfrm>
          </p:grpSpPr>
          <p:grpSp>
            <p:nvGrpSpPr>
              <p:cNvPr id="82" name="Group 77"/>
              <p:cNvGrpSpPr>
                <a:grpSpLocks/>
              </p:cNvGrpSpPr>
              <p:nvPr/>
            </p:nvGrpSpPr>
            <p:grpSpPr bwMode="auto">
              <a:xfrm>
                <a:off x="3592" y="2406"/>
                <a:ext cx="234" cy="160"/>
                <a:chOff x="3592" y="2406"/>
                <a:chExt cx="234" cy="160"/>
              </a:xfrm>
            </p:grpSpPr>
            <p:sp>
              <p:nvSpPr>
                <p:cNvPr id="85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3592" y="2565"/>
                  <a:ext cx="234" cy="1"/>
                </a:xfrm>
                <a:prstGeom prst="line">
                  <a:avLst/>
                </a:prstGeom>
                <a:noFill/>
                <a:ln w="444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6" name="Line 79"/>
                <p:cNvSpPr>
                  <a:spLocks noChangeShapeType="1"/>
                </p:cNvSpPr>
                <p:nvPr/>
              </p:nvSpPr>
              <p:spPr bwMode="auto">
                <a:xfrm flipV="1">
                  <a:off x="3709" y="2406"/>
                  <a:ext cx="117" cy="159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7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3592" y="2406"/>
                  <a:ext cx="234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8" name="Line 81"/>
                <p:cNvSpPr>
                  <a:spLocks noChangeShapeType="1"/>
                </p:cNvSpPr>
                <p:nvPr/>
              </p:nvSpPr>
              <p:spPr bwMode="auto">
                <a:xfrm>
                  <a:off x="3592" y="2406"/>
                  <a:ext cx="117" cy="159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83" name="Line 82"/>
              <p:cNvSpPr>
                <a:spLocks noChangeShapeType="1"/>
              </p:cNvSpPr>
              <p:nvPr/>
            </p:nvSpPr>
            <p:spPr bwMode="auto">
              <a:xfrm>
                <a:off x="3750" y="2565"/>
                <a:ext cx="76" cy="7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4" name="Line 83"/>
              <p:cNvSpPr>
                <a:spLocks noChangeShapeType="1"/>
              </p:cNvSpPr>
              <p:nvPr/>
            </p:nvSpPr>
            <p:spPr bwMode="auto">
              <a:xfrm>
                <a:off x="3792" y="2565"/>
                <a:ext cx="76" cy="7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89" name="Group 84"/>
            <p:cNvGrpSpPr>
              <a:grpSpLocks/>
            </p:cNvGrpSpPr>
            <p:nvPr/>
          </p:nvGrpSpPr>
          <p:grpSpPr bwMode="auto">
            <a:xfrm>
              <a:off x="9639701" y="3832081"/>
              <a:ext cx="373062" cy="254000"/>
              <a:chOff x="3985" y="2406"/>
              <a:chExt cx="235" cy="160"/>
            </a:xfrm>
          </p:grpSpPr>
          <p:sp>
            <p:nvSpPr>
              <p:cNvPr id="90" name="Line 85"/>
              <p:cNvSpPr>
                <a:spLocks noChangeShapeType="1"/>
              </p:cNvSpPr>
              <p:nvPr/>
            </p:nvSpPr>
            <p:spPr bwMode="auto">
              <a:xfrm flipH="1">
                <a:off x="3985" y="2406"/>
                <a:ext cx="235" cy="1"/>
              </a:xfrm>
              <a:prstGeom prst="line">
                <a:avLst/>
              </a:prstGeom>
              <a:noFill/>
              <a:ln w="444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Line 86"/>
              <p:cNvSpPr>
                <a:spLocks noChangeShapeType="1"/>
              </p:cNvSpPr>
              <p:nvPr/>
            </p:nvSpPr>
            <p:spPr bwMode="auto">
              <a:xfrm>
                <a:off x="4103" y="2406"/>
                <a:ext cx="117" cy="159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Line 87"/>
              <p:cNvSpPr>
                <a:spLocks noChangeShapeType="1"/>
              </p:cNvSpPr>
              <p:nvPr/>
            </p:nvSpPr>
            <p:spPr bwMode="auto">
              <a:xfrm flipH="1">
                <a:off x="3985" y="2565"/>
                <a:ext cx="235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3" name="Line 88"/>
              <p:cNvSpPr>
                <a:spLocks noChangeShapeType="1"/>
              </p:cNvSpPr>
              <p:nvPr/>
            </p:nvSpPr>
            <p:spPr bwMode="auto">
              <a:xfrm flipV="1">
                <a:off x="3985" y="2406"/>
                <a:ext cx="118" cy="159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94" name="Rectangle 89"/>
            <p:cNvSpPr>
              <a:spLocks noChangeArrowheads="1"/>
            </p:cNvSpPr>
            <p:nvPr/>
          </p:nvSpPr>
          <p:spPr bwMode="auto">
            <a:xfrm>
              <a:off x="9628588" y="3579668"/>
              <a:ext cx="9207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5" name="Rectangle 90"/>
            <p:cNvSpPr>
              <a:spLocks noChangeArrowheads="1"/>
            </p:cNvSpPr>
            <p:nvPr/>
          </p:nvSpPr>
          <p:spPr bwMode="auto">
            <a:xfrm>
              <a:off x="9717488" y="3655868"/>
              <a:ext cx="57150" cy="1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900" b="1">
                  <a:solidFill>
                    <a:srgbClr val="000000"/>
                  </a:solidFill>
                  <a:latin typeface="Times" panose="02020603050405020304" pitchFamily="18" charset="0"/>
                </a:rPr>
                <a:t>4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6" name="Line 91"/>
            <p:cNvSpPr>
              <a:spLocks noChangeShapeType="1"/>
            </p:cNvSpPr>
            <p:nvPr/>
          </p:nvSpPr>
          <p:spPr bwMode="auto">
            <a:xfrm>
              <a:off x="9201551" y="3459018"/>
              <a:ext cx="62547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Line 92"/>
            <p:cNvSpPr>
              <a:spLocks noChangeShapeType="1"/>
            </p:cNvSpPr>
            <p:nvPr/>
          </p:nvSpPr>
          <p:spPr bwMode="auto">
            <a:xfrm flipV="1">
              <a:off x="9201551" y="3459018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Line 93"/>
            <p:cNvSpPr>
              <a:spLocks noChangeShapeType="1"/>
            </p:cNvSpPr>
            <p:nvPr/>
          </p:nvSpPr>
          <p:spPr bwMode="auto">
            <a:xfrm flipV="1">
              <a:off x="9827026" y="3459018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Line 94"/>
            <p:cNvSpPr>
              <a:spLocks noChangeShapeType="1"/>
            </p:cNvSpPr>
            <p:nvPr/>
          </p:nvSpPr>
          <p:spPr bwMode="auto">
            <a:xfrm flipV="1">
              <a:off x="9201551" y="4084493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95"/>
            <p:cNvSpPr>
              <a:spLocks noChangeShapeType="1"/>
            </p:cNvSpPr>
            <p:nvPr/>
          </p:nvSpPr>
          <p:spPr bwMode="auto">
            <a:xfrm flipV="1">
              <a:off x="9827026" y="4084493"/>
              <a:ext cx="1587" cy="3730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Line 96"/>
            <p:cNvSpPr>
              <a:spLocks noChangeShapeType="1"/>
            </p:cNvSpPr>
            <p:nvPr/>
          </p:nvSpPr>
          <p:spPr bwMode="auto">
            <a:xfrm>
              <a:off x="9201551" y="4457556"/>
              <a:ext cx="62547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Line 97"/>
            <p:cNvSpPr>
              <a:spLocks noChangeShapeType="1"/>
            </p:cNvSpPr>
            <p:nvPr/>
          </p:nvSpPr>
          <p:spPr bwMode="auto">
            <a:xfrm>
              <a:off x="5472513" y="4698856"/>
              <a:ext cx="4046538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Line 98"/>
            <p:cNvSpPr>
              <a:spLocks noChangeShapeType="1"/>
            </p:cNvSpPr>
            <p:nvPr/>
          </p:nvSpPr>
          <p:spPr bwMode="auto">
            <a:xfrm flipV="1">
              <a:off x="7029851" y="2831956"/>
              <a:ext cx="1587" cy="6270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Line 99"/>
            <p:cNvSpPr>
              <a:spLocks noChangeShapeType="1"/>
            </p:cNvSpPr>
            <p:nvPr/>
          </p:nvSpPr>
          <p:spPr bwMode="auto">
            <a:xfrm flipV="1">
              <a:off x="9519051" y="2831956"/>
              <a:ext cx="1587" cy="6270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Line 100"/>
            <p:cNvSpPr>
              <a:spLocks noChangeShapeType="1"/>
            </p:cNvSpPr>
            <p:nvPr/>
          </p:nvSpPr>
          <p:spPr bwMode="auto">
            <a:xfrm flipV="1">
              <a:off x="9519051" y="1592118"/>
              <a:ext cx="1587" cy="25241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Line 101"/>
            <p:cNvSpPr>
              <a:spLocks noChangeShapeType="1"/>
            </p:cNvSpPr>
            <p:nvPr/>
          </p:nvSpPr>
          <p:spPr bwMode="auto">
            <a:xfrm flipV="1">
              <a:off x="7029851" y="1592118"/>
              <a:ext cx="1587" cy="25241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Line 102"/>
            <p:cNvSpPr>
              <a:spLocks noChangeShapeType="1"/>
            </p:cNvSpPr>
            <p:nvPr/>
          </p:nvSpPr>
          <p:spPr bwMode="auto">
            <a:xfrm flipV="1">
              <a:off x="9519051" y="4457556"/>
              <a:ext cx="1587" cy="241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Line 103"/>
            <p:cNvSpPr>
              <a:spLocks noChangeShapeType="1"/>
            </p:cNvSpPr>
            <p:nvPr/>
          </p:nvSpPr>
          <p:spPr bwMode="auto">
            <a:xfrm flipV="1">
              <a:off x="7029851" y="4457556"/>
              <a:ext cx="1587" cy="241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Line 104"/>
            <p:cNvSpPr>
              <a:spLocks noChangeShapeType="1"/>
            </p:cNvSpPr>
            <p:nvPr/>
          </p:nvSpPr>
          <p:spPr bwMode="auto">
            <a:xfrm flipV="1">
              <a:off x="5472513" y="3151043"/>
              <a:ext cx="1588" cy="154781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105"/>
            <p:cNvSpPr>
              <a:spLocks noChangeShapeType="1"/>
            </p:cNvSpPr>
            <p:nvPr/>
          </p:nvSpPr>
          <p:spPr bwMode="auto">
            <a:xfrm flipV="1">
              <a:off x="5472513" y="1592118"/>
              <a:ext cx="1588" cy="14271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106"/>
            <p:cNvSpPr>
              <a:spLocks noChangeShapeType="1"/>
            </p:cNvSpPr>
            <p:nvPr/>
          </p:nvSpPr>
          <p:spPr bwMode="auto">
            <a:xfrm>
              <a:off x="5099451" y="3019281"/>
              <a:ext cx="7461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Line 107"/>
            <p:cNvSpPr>
              <a:spLocks noChangeShapeType="1"/>
            </p:cNvSpPr>
            <p:nvPr/>
          </p:nvSpPr>
          <p:spPr bwMode="auto">
            <a:xfrm>
              <a:off x="5351863" y="3151043"/>
              <a:ext cx="241300" cy="1588"/>
            </a:xfrm>
            <a:prstGeom prst="line">
              <a:avLst/>
            </a:prstGeom>
            <a:noFill/>
            <a:ln w="650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Line 108"/>
            <p:cNvSpPr>
              <a:spLocks noChangeShapeType="1"/>
            </p:cNvSpPr>
            <p:nvPr/>
          </p:nvSpPr>
          <p:spPr bwMode="auto">
            <a:xfrm>
              <a:off x="6712351" y="2831956"/>
              <a:ext cx="623887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Line 109"/>
            <p:cNvSpPr>
              <a:spLocks noChangeShapeType="1"/>
            </p:cNvSpPr>
            <p:nvPr/>
          </p:nvSpPr>
          <p:spPr bwMode="auto">
            <a:xfrm flipV="1">
              <a:off x="8749113" y="3152631"/>
              <a:ext cx="769938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Rectangle 110"/>
            <p:cNvSpPr>
              <a:spLocks noChangeArrowheads="1"/>
            </p:cNvSpPr>
            <p:nvPr/>
          </p:nvSpPr>
          <p:spPr bwMode="auto">
            <a:xfrm>
              <a:off x="5856688" y="3173268"/>
              <a:ext cx="101600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E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16" name="Group 111"/>
            <p:cNvGrpSpPr>
              <a:grpSpLocks/>
            </p:cNvGrpSpPr>
            <p:nvPr/>
          </p:nvGrpSpPr>
          <p:grpSpPr bwMode="auto">
            <a:xfrm>
              <a:off x="7271151" y="3084368"/>
              <a:ext cx="317500" cy="122238"/>
              <a:chOff x="2493" y="1935"/>
              <a:chExt cx="200" cy="77"/>
            </a:xfrm>
          </p:grpSpPr>
          <p:sp>
            <p:nvSpPr>
              <p:cNvPr id="117" name="Freeform 112"/>
              <p:cNvSpPr>
                <a:spLocks/>
              </p:cNvSpPr>
              <p:nvPr/>
            </p:nvSpPr>
            <p:spPr bwMode="auto">
              <a:xfrm>
                <a:off x="2576" y="1935"/>
                <a:ext cx="117" cy="77"/>
              </a:xfrm>
              <a:custGeom>
                <a:avLst/>
                <a:gdLst>
                  <a:gd name="T0" fmla="*/ 117 w 117"/>
                  <a:gd name="T1" fmla="*/ 42 h 77"/>
                  <a:gd name="T2" fmla="*/ 0 w 117"/>
                  <a:gd name="T3" fmla="*/ 77 h 77"/>
                  <a:gd name="T4" fmla="*/ 41 w 117"/>
                  <a:gd name="T5" fmla="*/ 42 h 77"/>
                  <a:gd name="T6" fmla="*/ 0 w 117"/>
                  <a:gd name="T7" fmla="*/ 0 h 77"/>
                  <a:gd name="T8" fmla="*/ 117 w 117"/>
                  <a:gd name="T9" fmla="*/ 42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" h="77">
                    <a:moveTo>
                      <a:pt x="117" y="42"/>
                    </a:moveTo>
                    <a:lnTo>
                      <a:pt x="0" y="77"/>
                    </a:lnTo>
                    <a:lnTo>
                      <a:pt x="41" y="42"/>
                    </a:lnTo>
                    <a:lnTo>
                      <a:pt x="0" y="0"/>
                    </a:lnTo>
                    <a:lnTo>
                      <a:pt x="117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8" name="Line 113"/>
              <p:cNvSpPr>
                <a:spLocks noChangeShapeType="1"/>
              </p:cNvSpPr>
              <p:nvPr/>
            </p:nvSpPr>
            <p:spPr bwMode="auto">
              <a:xfrm>
                <a:off x="2493" y="1977"/>
                <a:ext cx="124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19" name="Rectangle 114"/>
            <p:cNvSpPr>
              <a:spLocks noChangeArrowheads="1"/>
            </p:cNvSpPr>
            <p:nvPr/>
          </p:nvSpPr>
          <p:spPr bwMode="auto">
            <a:xfrm>
              <a:off x="7566426" y="2876406"/>
              <a:ext cx="42862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200" b="1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20" name="Group 115"/>
            <p:cNvGrpSpPr>
              <a:grpSpLocks/>
            </p:cNvGrpSpPr>
            <p:nvPr/>
          </p:nvGrpSpPr>
          <p:grpSpPr bwMode="auto">
            <a:xfrm flipV="1">
              <a:off x="7669613" y="3009756"/>
              <a:ext cx="1152525" cy="287337"/>
              <a:chOff x="2025" y="3277"/>
              <a:chExt cx="1027" cy="217"/>
            </a:xfrm>
          </p:grpSpPr>
          <p:sp>
            <p:nvSpPr>
              <p:cNvPr id="121" name="Freeform 116"/>
              <p:cNvSpPr>
                <a:spLocks/>
              </p:cNvSpPr>
              <p:nvPr/>
            </p:nvSpPr>
            <p:spPr bwMode="auto">
              <a:xfrm>
                <a:off x="2231" y="3277"/>
                <a:ext cx="96" cy="108"/>
              </a:xfrm>
              <a:custGeom>
                <a:avLst/>
                <a:gdLst>
                  <a:gd name="T0" fmla="*/ 0 w 96"/>
                  <a:gd name="T1" fmla="*/ 108 h 108"/>
                  <a:gd name="T2" fmla="*/ 0 w 96"/>
                  <a:gd name="T3" fmla="*/ 84 h 108"/>
                  <a:gd name="T4" fmla="*/ 12 w 96"/>
                  <a:gd name="T5" fmla="*/ 48 h 108"/>
                  <a:gd name="T6" fmla="*/ 24 w 96"/>
                  <a:gd name="T7" fmla="*/ 24 h 108"/>
                  <a:gd name="T8" fmla="*/ 36 w 96"/>
                  <a:gd name="T9" fmla="*/ 12 h 108"/>
                  <a:gd name="T10" fmla="*/ 72 w 96"/>
                  <a:gd name="T11" fmla="*/ 0 h 108"/>
                  <a:gd name="T12" fmla="*/ 96 w 96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108">
                    <a:moveTo>
                      <a:pt x="0" y="108"/>
                    </a:moveTo>
                    <a:lnTo>
                      <a:pt x="0" y="84"/>
                    </a:lnTo>
                    <a:lnTo>
                      <a:pt x="12" y="48"/>
                    </a:lnTo>
                    <a:lnTo>
                      <a:pt x="24" y="24"/>
                    </a:lnTo>
                    <a:lnTo>
                      <a:pt x="36" y="12"/>
                    </a:lnTo>
                    <a:lnTo>
                      <a:pt x="72" y="0"/>
                    </a:lnTo>
                    <a:lnTo>
                      <a:pt x="96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2" name="Freeform 117"/>
              <p:cNvSpPr>
                <a:spLocks/>
              </p:cNvSpPr>
              <p:nvPr/>
            </p:nvSpPr>
            <p:spPr bwMode="auto">
              <a:xfrm>
                <a:off x="2231" y="3385"/>
                <a:ext cx="36" cy="109"/>
              </a:xfrm>
              <a:custGeom>
                <a:avLst/>
                <a:gdLst>
                  <a:gd name="T0" fmla="*/ 36 w 36"/>
                  <a:gd name="T1" fmla="*/ 109 h 109"/>
                  <a:gd name="T2" fmla="*/ 36 w 36"/>
                  <a:gd name="T3" fmla="*/ 109 h 109"/>
                  <a:gd name="T4" fmla="*/ 24 w 36"/>
                  <a:gd name="T5" fmla="*/ 97 h 109"/>
                  <a:gd name="T6" fmla="*/ 12 w 36"/>
                  <a:gd name="T7" fmla="*/ 85 h 109"/>
                  <a:gd name="T8" fmla="*/ 12 w 36"/>
                  <a:gd name="T9" fmla="*/ 73 h 109"/>
                  <a:gd name="T10" fmla="*/ 0 w 36"/>
                  <a:gd name="T11" fmla="*/ 24 h 109"/>
                  <a:gd name="T12" fmla="*/ 0 w 36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09">
                    <a:moveTo>
                      <a:pt x="36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3" name="Freeform 118"/>
              <p:cNvSpPr>
                <a:spLocks/>
              </p:cNvSpPr>
              <p:nvPr/>
            </p:nvSpPr>
            <p:spPr bwMode="auto">
              <a:xfrm>
                <a:off x="2207" y="3277"/>
                <a:ext cx="96" cy="108"/>
              </a:xfrm>
              <a:custGeom>
                <a:avLst/>
                <a:gdLst>
                  <a:gd name="T0" fmla="*/ 0 w 96"/>
                  <a:gd name="T1" fmla="*/ 0 h 108"/>
                  <a:gd name="T2" fmla="*/ 24 w 96"/>
                  <a:gd name="T3" fmla="*/ 0 h 108"/>
                  <a:gd name="T4" fmla="*/ 60 w 96"/>
                  <a:gd name="T5" fmla="*/ 12 h 108"/>
                  <a:gd name="T6" fmla="*/ 72 w 96"/>
                  <a:gd name="T7" fmla="*/ 24 h 108"/>
                  <a:gd name="T8" fmla="*/ 84 w 96"/>
                  <a:gd name="T9" fmla="*/ 48 h 108"/>
                  <a:gd name="T10" fmla="*/ 96 w 96"/>
                  <a:gd name="T11" fmla="*/ 84 h 108"/>
                  <a:gd name="T12" fmla="*/ 96 w 96"/>
                  <a:gd name="T13" fmla="*/ 108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108">
                    <a:moveTo>
                      <a:pt x="0" y="0"/>
                    </a:moveTo>
                    <a:lnTo>
                      <a:pt x="24" y="0"/>
                    </a:lnTo>
                    <a:lnTo>
                      <a:pt x="60" y="12"/>
                    </a:lnTo>
                    <a:lnTo>
                      <a:pt x="72" y="24"/>
                    </a:lnTo>
                    <a:lnTo>
                      <a:pt x="84" y="48"/>
                    </a:lnTo>
                    <a:lnTo>
                      <a:pt x="96" y="84"/>
                    </a:lnTo>
                    <a:lnTo>
                      <a:pt x="96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4" name="Freeform 119"/>
              <p:cNvSpPr>
                <a:spLocks/>
              </p:cNvSpPr>
              <p:nvPr/>
            </p:nvSpPr>
            <p:spPr bwMode="auto">
              <a:xfrm>
                <a:off x="2267" y="3385"/>
                <a:ext cx="36" cy="109"/>
              </a:xfrm>
              <a:custGeom>
                <a:avLst/>
                <a:gdLst>
                  <a:gd name="T0" fmla="*/ 36 w 36"/>
                  <a:gd name="T1" fmla="*/ 0 h 109"/>
                  <a:gd name="T2" fmla="*/ 36 w 36"/>
                  <a:gd name="T3" fmla="*/ 24 h 109"/>
                  <a:gd name="T4" fmla="*/ 36 w 36"/>
                  <a:gd name="T5" fmla="*/ 61 h 109"/>
                  <a:gd name="T6" fmla="*/ 24 w 36"/>
                  <a:gd name="T7" fmla="*/ 85 h 109"/>
                  <a:gd name="T8" fmla="*/ 24 w 36"/>
                  <a:gd name="T9" fmla="*/ 97 h 109"/>
                  <a:gd name="T10" fmla="*/ 12 w 36"/>
                  <a:gd name="T11" fmla="*/ 109 h 109"/>
                  <a:gd name="T12" fmla="*/ 0 w 36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09">
                    <a:moveTo>
                      <a:pt x="36" y="0"/>
                    </a:moveTo>
                    <a:lnTo>
                      <a:pt x="36" y="24"/>
                    </a:lnTo>
                    <a:lnTo>
                      <a:pt x="36" y="61"/>
                    </a:lnTo>
                    <a:lnTo>
                      <a:pt x="24" y="85"/>
                    </a:lnTo>
                    <a:lnTo>
                      <a:pt x="24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5" name="Freeform 120"/>
              <p:cNvSpPr>
                <a:spLocks/>
              </p:cNvSpPr>
              <p:nvPr/>
            </p:nvSpPr>
            <p:spPr bwMode="auto">
              <a:xfrm>
                <a:off x="2339" y="3277"/>
                <a:ext cx="97" cy="108"/>
              </a:xfrm>
              <a:custGeom>
                <a:avLst/>
                <a:gdLst>
                  <a:gd name="T0" fmla="*/ 0 w 97"/>
                  <a:gd name="T1" fmla="*/ 108 h 108"/>
                  <a:gd name="T2" fmla="*/ 0 w 97"/>
                  <a:gd name="T3" fmla="*/ 84 h 108"/>
                  <a:gd name="T4" fmla="*/ 13 w 97"/>
                  <a:gd name="T5" fmla="*/ 48 h 108"/>
                  <a:gd name="T6" fmla="*/ 25 w 97"/>
                  <a:gd name="T7" fmla="*/ 24 h 108"/>
                  <a:gd name="T8" fmla="*/ 49 w 97"/>
                  <a:gd name="T9" fmla="*/ 12 h 108"/>
                  <a:gd name="T10" fmla="*/ 85 w 97"/>
                  <a:gd name="T11" fmla="*/ 0 h 108"/>
                  <a:gd name="T12" fmla="*/ 97 w 97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108"/>
                    </a:moveTo>
                    <a:lnTo>
                      <a:pt x="0" y="84"/>
                    </a:lnTo>
                    <a:lnTo>
                      <a:pt x="13" y="48"/>
                    </a:lnTo>
                    <a:lnTo>
                      <a:pt x="25" y="24"/>
                    </a:lnTo>
                    <a:lnTo>
                      <a:pt x="49" y="12"/>
                    </a:lnTo>
                    <a:lnTo>
                      <a:pt x="85" y="0"/>
                    </a:lnTo>
                    <a:lnTo>
                      <a:pt x="97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6" name="Freeform 121"/>
              <p:cNvSpPr>
                <a:spLocks/>
              </p:cNvSpPr>
              <p:nvPr/>
            </p:nvSpPr>
            <p:spPr bwMode="auto">
              <a:xfrm>
                <a:off x="2339" y="3385"/>
                <a:ext cx="37" cy="109"/>
              </a:xfrm>
              <a:custGeom>
                <a:avLst/>
                <a:gdLst>
                  <a:gd name="T0" fmla="*/ 37 w 37"/>
                  <a:gd name="T1" fmla="*/ 109 h 109"/>
                  <a:gd name="T2" fmla="*/ 37 w 37"/>
                  <a:gd name="T3" fmla="*/ 109 h 109"/>
                  <a:gd name="T4" fmla="*/ 25 w 37"/>
                  <a:gd name="T5" fmla="*/ 97 h 109"/>
                  <a:gd name="T6" fmla="*/ 13 w 37"/>
                  <a:gd name="T7" fmla="*/ 85 h 109"/>
                  <a:gd name="T8" fmla="*/ 13 w 37"/>
                  <a:gd name="T9" fmla="*/ 73 h 109"/>
                  <a:gd name="T10" fmla="*/ 0 w 37"/>
                  <a:gd name="T11" fmla="*/ 24 h 109"/>
                  <a:gd name="T12" fmla="*/ 0 w 37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109">
                    <a:moveTo>
                      <a:pt x="37" y="109"/>
                    </a:moveTo>
                    <a:lnTo>
                      <a:pt x="37" y="109"/>
                    </a:lnTo>
                    <a:lnTo>
                      <a:pt x="25" y="97"/>
                    </a:lnTo>
                    <a:lnTo>
                      <a:pt x="13" y="85"/>
                    </a:lnTo>
                    <a:lnTo>
                      <a:pt x="13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7" name="Freeform 122"/>
              <p:cNvSpPr>
                <a:spLocks/>
              </p:cNvSpPr>
              <p:nvPr/>
            </p:nvSpPr>
            <p:spPr bwMode="auto">
              <a:xfrm>
                <a:off x="2315" y="3277"/>
                <a:ext cx="97" cy="108"/>
              </a:xfrm>
              <a:custGeom>
                <a:avLst/>
                <a:gdLst>
                  <a:gd name="T0" fmla="*/ 0 w 97"/>
                  <a:gd name="T1" fmla="*/ 0 h 108"/>
                  <a:gd name="T2" fmla="*/ 24 w 97"/>
                  <a:gd name="T3" fmla="*/ 0 h 108"/>
                  <a:gd name="T4" fmla="*/ 61 w 97"/>
                  <a:gd name="T5" fmla="*/ 12 h 108"/>
                  <a:gd name="T6" fmla="*/ 73 w 97"/>
                  <a:gd name="T7" fmla="*/ 24 h 108"/>
                  <a:gd name="T8" fmla="*/ 85 w 97"/>
                  <a:gd name="T9" fmla="*/ 48 h 108"/>
                  <a:gd name="T10" fmla="*/ 97 w 97"/>
                  <a:gd name="T11" fmla="*/ 84 h 108"/>
                  <a:gd name="T12" fmla="*/ 97 w 97"/>
                  <a:gd name="T13" fmla="*/ 108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0"/>
                    </a:moveTo>
                    <a:lnTo>
                      <a:pt x="24" y="0"/>
                    </a:lnTo>
                    <a:lnTo>
                      <a:pt x="61" y="12"/>
                    </a:lnTo>
                    <a:lnTo>
                      <a:pt x="73" y="24"/>
                    </a:lnTo>
                    <a:lnTo>
                      <a:pt x="85" y="48"/>
                    </a:lnTo>
                    <a:lnTo>
                      <a:pt x="97" y="84"/>
                    </a:lnTo>
                    <a:lnTo>
                      <a:pt x="97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8" name="Freeform 123"/>
              <p:cNvSpPr>
                <a:spLocks/>
              </p:cNvSpPr>
              <p:nvPr/>
            </p:nvSpPr>
            <p:spPr bwMode="auto">
              <a:xfrm>
                <a:off x="2376" y="3385"/>
                <a:ext cx="36" cy="109"/>
              </a:xfrm>
              <a:custGeom>
                <a:avLst/>
                <a:gdLst>
                  <a:gd name="T0" fmla="*/ 36 w 36"/>
                  <a:gd name="T1" fmla="*/ 0 h 109"/>
                  <a:gd name="T2" fmla="*/ 36 w 36"/>
                  <a:gd name="T3" fmla="*/ 24 h 109"/>
                  <a:gd name="T4" fmla="*/ 36 w 36"/>
                  <a:gd name="T5" fmla="*/ 61 h 109"/>
                  <a:gd name="T6" fmla="*/ 24 w 36"/>
                  <a:gd name="T7" fmla="*/ 85 h 109"/>
                  <a:gd name="T8" fmla="*/ 24 w 36"/>
                  <a:gd name="T9" fmla="*/ 97 h 109"/>
                  <a:gd name="T10" fmla="*/ 12 w 36"/>
                  <a:gd name="T11" fmla="*/ 109 h 109"/>
                  <a:gd name="T12" fmla="*/ 0 w 36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09">
                    <a:moveTo>
                      <a:pt x="36" y="0"/>
                    </a:moveTo>
                    <a:lnTo>
                      <a:pt x="36" y="24"/>
                    </a:lnTo>
                    <a:lnTo>
                      <a:pt x="36" y="61"/>
                    </a:lnTo>
                    <a:lnTo>
                      <a:pt x="24" y="85"/>
                    </a:lnTo>
                    <a:lnTo>
                      <a:pt x="24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" name="Freeform 124"/>
              <p:cNvSpPr>
                <a:spLocks/>
              </p:cNvSpPr>
              <p:nvPr/>
            </p:nvSpPr>
            <p:spPr bwMode="auto">
              <a:xfrm>
                <a:off x="2448" y="3277"/>
                <a:ext cx="97" cy="108"/>
              </a:xfrm>
              <a:custGeom>
                <a:avLst/>
                <a:gdLst>
                  <a:gd name="T0" fmla="*/ 0 w 97"/>
                  <a:gd name="T1" fmla="*/ 108 h 108"/>
                  <a:gd name="T2" fmla="*/ 0 w 97"/>
                  <a:gd name="T3" fmla="*/ 84 h 108"/>
                  <a:gd name="T4" fmla="*/ 12 w 97"/>
                  <a:gd name="T5" fmla="*/ 48 h 108"/>
                  <a:gd name="T6" fmla="*/ 24 w 97"/>
                  <a:gd name="T7" fmla="*/ 24 h 108"/>
                  <a:gd name="T8" fmla="*/ 48 w 97"/>
                  <a:gd name="T9" fmla="*/ 12 h 108"/>
                  <a:gd name="T10" fmla="*/ 85 w 97"/>
                  <a:gd name="T11" fmla="*/ 0 h 108"/>
                  <a:gd name="T12" fmla="*/ 97 w 97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108"/>
                    </a:moveTo>
                    <a:lnTo>
                      <a:pt x="0" y="84"/>
                    </a:lnTo>
                    <a:lnTo>
                      <a:pt x="12" y="48"/>
                    </a:lnTo>
                    <a:lnTo>
                      <a:pt x="24" y="24"/>
                    </a:lnTo>
                    <a:lnTo>
                      <a:pt x="48" y="12"/>
                    </a:lnTo>
                    <a:lnTo>
                      <a:pt x="85" y="0"/>
                    </a:lnTo>
                    <a:lnTo>
                      <a:pt x="97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0" name="Freeform 125"/>
              <p:cNvSpPr>
                <a:spLocks/>
              </p:cNvSpPr>
              <p:nvPr/>
            </p:nvSpPr>
            <p:spPr bwMode="auto">
              <a:xfrm>
                <a:off x="2448" y="3385"/>
                <a:ext cx="36" cy="109"/>
              </a:xfrm>
              <a:custGeom>
                <a:avLst/>
                <a:gdLst>
                  <a:gd name="T0" fmla="*/ 36 w 36"/>
                  <a:gd name="T1" fmla="*/ 109 h 109"/>
                  <a:gd name="T2" fmla="*/ 36 w 36"/>
                  <a:gd name="T3" fmla="*/ 109 h 109"/>
                  <a:gd name="T4" fmla="*/ 24 w 36"/>
                  <a:gd name="T5" fmla="*/ 97 h 109"/>
                  <a:gd name="T6" fmla="*/ 12 w 36"/>
                  <a:gd name="T7" fmla="*/ 85 h 109"/>
                  <a:gd name="T8" fmla="*/ 12 w 36"/>
                  <a:gd name="T9" fmla="*/ 73 h 109"/>
                  <a:gd name="T10" fmla="*/ 0 w 36"/>
                  <a:gd name="T11" fmla="*/ 24 h 109"/>
                  <a:gd name="T12" fmla="*/ 0 w 36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09">
                    <a:moveTo>
                      <a:pt x="36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1" name="Freeform 126"/>
              <p:cNvSpPr>
                <a:spLocks/>
              </p:cNvSpPr>
              <p:nvPr/>
            </p:nvSpPr>
            <p:spPr bwMode="auto">
              <a:xfrm>
                <a:off x="2424" y="3277"/>
                <a:ext cx="109" cy="108"/>
              </a:xfrm>
              <a:custGeom>
                <a:avLst/>
                <a:gdLst>
                  <a:gd name="T0" fmla="*/ 0 w 109"/>
                  <a:gd name="T1" fmla="*/ 0 h 108"/>
                  <a:gd name="T2" fmla="*/ 24 w 109"/>
                  <a:gd name="T3" fmla="*/ 0 h 108"/>
                  <a:gd name="T4" fmla="*/ 60 w 109"/>
                  <a:gd name="T5" fmla="*/ 12 h 108"/>
                  <a:gd name="T6" fmla="*/ 72 w 109"/>
                  <a:gd name="T7" fmla="*/ 24 h 108"/>
                  <a:gd name="T8" fmla="*/ 85 w 109"/>
                  <a:gd name="T9" fmla="*/ 36 h 108"/>
                  <a:gd name="T10" fmla="*/ 97 w 109"/>
                  <a:gd name="T11" fmla="*/ 60 h 108"/>
                  <a:gd name="T12" fmla="*/ 109 w 109"/>
                  <a:gd name="T13" fmla="*/ 84 h 108"/>
                  <a:gd name="T14" fmla="*/ 109 w 109"/>
                  <a:gd name="T15" fmla="*/ 96 h 108"/>
                  <a:gd name="T16" fmla="*/ 109 w 109"/>
                  <a:gd name="T17" fmla="*/ 108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9" h="108">
                    <a:moveTo>
                      <a:pt x="0" y="0"/>
                    </a:moveTo>
                    <a:lnTo>
                      <a:pt x="24" y="0"/>
                    </a:lnTo>
                    <a:lnTo>
                      <a:pt x="60" y="12"/>
                    </a:lnTo>
                    <a:lnTo>
                      <a:pt x="72" y="24"/>
                    </a:lnTo>
                    <a:lnTo>
                      <a:pt x="85" y="36"/>
                    </a:lnTo>
                    <a:lnTo>
                      <a:pt x="97" y="60"/>
                    </a:lnTo>
                    <a:lnTo>
                      <a:pt x="109" y="84"/>
                    </a:lnTo>
                    <a:lnTo>
                      <a:pt x="109" y="96"/>
                    </a:lnTo>
                    <a:lnTo>
                      <a:pt x="109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2" name="Freeform 127"/>
              <p:cNvSpPr>
                <a:spLocks/>
              </p:cNvSpPr>
              <p:nvPr/>
            </p:nvSpPr>
            <p:spPr bwMode="auto">
              <a:xfrm>
                <a:off x="2484" y="3385"/>
                <a:ext cx="49" cy="109"/>
              </a:xfrm>
              <a:custGeom>
                <a:avLst/>
                <a:gdLst>
                  <a:gd name="T0" fmla="*/ 49 w 49"/>
                  <a:gd name="T1" fmla="*/ 0 h 109"/>
                  <a:gd name="T2" fmla="*/ 49 w 49"/>
                  <a:gd name="T3" fmla="*/ 24 h 109"/>
                  <a:gd name="T4" fmla="*/ 37 w 49"/>
                  <a:gd name="T5" fmla="*/ 73 h 109"/>
                  <a:gd name="T6" fmla="*/ 25 w 49"/>
                  <a:gd name="T7" fmla="*/ 85 h 109"/>
                  <a:gd name="T8" fmla="*/ 25 w 49"/>
                  <a:gd name="T9" fmla="*/ 97 h 109"/>
                  <a:gd name="T10" fmla="*/ 12 w 49"/>
                  <a:gd name="T11" fmla="*/ 109 h 109"/>
                  <a:gd name="T12" fmla="*/ 0 w 49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109">
                    <a:moveTo>
                      <a:pt x="49" y="0"/>
                    </a:moveTo>
                    <a:lnTo>
                      <a:pt x="49" y="24"/>
                    </a:lnTo>
                    <a:lnTo>
                      <a:pt x="37" y="73"/>
                    </a:lnTo>
                    <a:lnTo>
                      <a:pt x="25" y="85"/>
                    </a:lnTo>
                    <a:lnTo>
                      <a:pt x="25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Freeform 128"/>
              <p:cNvSpPr>
                <a:spLocks/>
              </p:cNvSpPr>
              <p:nvPr/>
            </p:nvSpPr>
            <p:spPr bwMode="auto">
              <a:xfrm>
                <a:off x="2557" y="3277"/>
                <a:ext cx="96" cy="108"/>
              </a:xfrm>
              <a:custGeom>
                <a:avLst/>
                <a:gdLst>
                  <a:gd name="T0" fmla="*/ 0 w 96"/>
                  <a:gd name="T1" fmla="*/ 108 h 108"/>
                  <a:gd name="T2" fmla="*/ 0 w 96"/>
                  <a:gd name="T3" fmla="*/ 84 h 108"/>
                  <a:gd name="T4" fmla="*/ 12 w 96"/>
                  <a:gd name="T5" fmla="*/ 48 h 108"/>
                  <a:gd name="T6" fmla="*/ 24 w 96"/>
                  <a:gd name="T7" fmla="*/ 24 h 108"/>
                  <a:gd name="T8" fmla="*/ 48 w 96"/>
                  <a:gd name="T9" fmla="*/ 12 h 108"/>
                  <a:gd name="T10" fmla="*/ 84 w 96"/>
                  <a:gd name="T11" fmla="*/ 0 h 108"/>
                  <a:gd name="T12" fmla="*/ 96 w 96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108">
                    <a:moveTo>
                      <a:pt x="0" y="108"/>
                    </a:moveTo>
                    <a:lnTo>
                      <a:pt x="0" y="84"/>
                    </a:lnTo>
                    <a:lnTo>
                      <a:pt x="12" y="48"/>
                    </a:lnTo>
                    <a:lnTo>
                      <a:pt x="24" y="24"/>
                    </a:lnTo>
                    <a:lnTo>
                      <a:pt x="48" y="12"/>
                    </a:lnTo>
                    <a:lnTo>
                      <a:pt x="84" y="0"/>
                    </a:lnTo>
                    <a:lnTo>
                      <a:pt x="96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4" name="Freeform 129"/>
              <p:cNvSpPr>
                <a:spLocks/>
              </p:cNvSpPr>
              <p:nvPr/>
            </p:nvSpPr>
            <p:spPr bwMode="auto">
              <a:xfrm>
                <a:off x="2557" y="3385"/>
                <a:ext cx="48" cy="109"/>
              </a:xfrm>
              <a:custGeom>
                <a:avLst/>
                <a:gdLst>
                  <a:gd name="T0" fmla="*/ 48 w 48"/>
                  <a:gd name="T1" fmla="*/ 109 h 109"/>
                  <a:gd name="T2" fmla="*/ 36 w 48"/>
                  <a:gd name="T3" fmla="*/ 109 h 109"/>
                  <a:gd name="T4" fmla="*/ 24 w 48"/>
                  <a:gd name="T5" fmla="*/ 97 h 109"/>
                  <a:gd name="T6" fmla="*/ 12 w 48"/>
                  <a:gd name="T7" fmla="*/ 85 h 109"/>
                  <a:gd name="T8" fmla="*/ 12 w 48"/>
                  <a:gd name="T9" fmla="*/ 73 h 109"/>
                  <a:gd name="T10" fmla="*/ 0 w 48"/>
                  <a:gd name="T11" fmla="*/ 24 h 109"/>
                  <a:gd name="T12" fmla="*/ 0 w 48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09">
                    <a:moveTo>
                      <a:pt x="48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Freeform 130"/>
              <p:cNvSpPr>
                <a:spLocks/>
              </p:cNvSpPr>
              <p:nvPr/>
            </p:nvSpPr>
            <p:spPr bwMode="auto">
              <a:xfrm>
                <a:off x="2533" y="3277"/>
                <a:ext cx="108" cy="108"/>
              </a:xfrm>
              <a:custGeom>
                <a:avLst/>
                <a:gdLst>
                  <a:gd name="T0" fmla="*/ 0 w 108"/>
                  <a:gd name="T1" fmla="*/ 0 h 108"/>
                  <a:gd name="T2" fmla="*/ 24 w 108"/>
                  <a:gd name="T3" fmla="*/ 0 h 108"/>
                  <a:gd name="T4" fmla="*/ 60 w 108"/>
                  <a:gd name="T5" fmla="*/ 12 h 108"/>
                  <a:gd name="T6" fmla="*/ 72 w 108"/>
                  <a:gd name="T7" fmla="*/ 24 h 108"/>
                  <a:gd name="T8" fmla="*/ 84 w 108"/>
                  <a:gd name="T9" fmla="*/ 36 h 108"/>
                  <a:gd name="T10" fmla="*/ 96 w 108"/>
                  <a:gd name="T11" fmla="*/ 60 h 108"/>
                  <a:gd name="T12" fmla="*/ 108 w 108"/>
                  <a:gd name="T13" fmla="*/ 84 h 108"/>
                  <a:gd name="T14" fmla="*/ 108 w 108"/>
                  <a:gd name="T15" fmla="*/ 96 h 108"/>
                  <a:gd name="T16" fmla="*/ 108 w 108"/>
                  <a:gd name="T17" fmla="*/ 108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8" h="108">
                    <a:moveTo>
                      <a:pt x="0" y="0"/>
                    </a:moveTo>
                    <a:lnTo>
                      <a:pt x="24" y="0"/>
                    </a:lnTo>
                    <a:lnTo>
                      <a:pt x="60" y="12"/>
                    </a:lnTo>
                    <a:lnTo>
                      <a:pt x="72" y="24"/>
                    </a:lnTo>
                    <a:lnTo>
                      <a:pt x="84" y="36"/>
                    </a:lnTo>
                    <a:lnTo>
                      <a:pt x="96" y="60"/>
                    </a:lnTo>
                    <a:lnTo>
                      <a:pt x="108" y="84"/>
                    </a:lnTo>
                    <a:lnTo>
                      <a:pt x="108" y="96"/>
                    </a:lnTo>
                    <a:lnTo>
                      <a:pt x="108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6" name="Freeform 131"/>
              <p:cNvSpPr>
                <a:spLocks/>
              </p:cNvSpPr>
              <p:nvPr/>
            </p:nvSpPr>
            <p:spPr bwMode="auto">
              <a:xfrm>
                <a:off x="2593" y="3385"/>
                <a:ext cx="48" cy="109"/>
              </a:xfrm>
              <a:custGeom>
                <a:avLst/>
                <a:gdLst>
                  <a:gd name="T0" fmla="*/ 48 w 48"/>
                  <a:gd name="T1" fmla="*/ 0 h 109"/>
                  <a:gd name="T2" fmla="*/ 48 w 48"/>
                  <a:gd name="T3" fmla="*/ 24 h 109"/>
                  <a:gd name="T4" fmla="*/ 48 w 48"/>
                  <a:gd name="T5" fmla="*/ 61 h 109"/>
                  <a:gd name="T6" fmla="*/ 36 w 48"/>
                  <a:gd name="T7" fmla="*/ 85 h 109"/>
                  <a:gd name="T8" fmla="*/ 36 w 48"/>
                  <a:gd name="T9" fmla="*/ 97 h 109"/>
                  <a:gd name="T10" fmla="*/ 12 w 48"/>
                  <a:gd name="T11" fmla="*/ 109 h 109"/>
                  <a:gd name="T12" fmla="*/ 0 w 48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09">
                    <a:moveTo>
                      <a:pt x="48" y="0"/>
                    </a:moveTo>
                    <a:lnTo>
                      <a:pt x="48" y="24"/>
                    </a:lnTo>
                    <a:lnTo>
                      <a:pt x="48" y="61"/>
                    </a:lnTo>
                    <a:lnTo>
                      <a:pt x="36" y="85"/>
                    </a:lnTo>
                    <a:lnTo>
                      <a:pt x="36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Freeform 132"/>
              <p:cNvSpPr>
                <a:spLocks/>
              </p:cNvSpPr>
              <p:nvPr/>
            </p:nvSpPr>
            <p:spPr bwMode="auto">
              <a:xfrm>
                <a:off x="2666" y="3277"/>
                <a:ext cx="96" cy="108"/>
              </a:xfrm>
              <a:custGeom>
                <a:avLst/>
                <a:gdLst>
                  <a:gd name="T0" fmla="*/ 0 w 96"/>
                  <a:gd name="T1" fmla="*/ 108 h 108"/>
                  <a:gd name="T2" fmla="*/ 0 w 96"/>
                  <a:gd name="T3" fmla="*/ 96 h 108"/>
                  <a:gd name="T4" fmla="*/ 0 w 96"/>
                  <a:gd name="T5" fmla="*/ 84 h 108"/>
                  <a:gd name="T6" fmla="*/ 12 w 96"/>
                  <a:gd name="T7" fmla="*/ 60 h 108"/>
                  <a:gd name="T8" fmla="*/ 24 w 96"/>
                  <a:gd name="T9" fmla="*/ 36 h 108"/>
                  <a:gd name="T10" fmla="*/ 36 w 96"/>
                  <a:gd name="T11" fmla="*/ 24 h 108"/>
                  <a:gd name="T12" fmla="*/ 48 w 96"/>
                  <a:gd name="T13" fmla="*/ 12 h 108"/>
                  <a:gd name="T14" fmla="*/ 84 w 96"/>
                  <a:gd name="T15" fmla="*/ 0 h 108"/>
                  <a:gd name="T16" fmla="*/ 96 w 96"/>
                  <a:gd name="T17" fmla="*/ 0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6" h="108">
                    <a:moveTo>
                      <a:pt x="0" y="108"/>
                    </a:moveTo>
                    <a:lnTo>
                      <a:pt x="0" y="96"/>
                    </a:lnTo>
                    <a:lnTo>
                      <a:pt x="0" y="84"/>
                    </a:lnTo>
                    <a:lnTo>
                      <a:pt x="12" y="60"/>
                    </a:lnTo>
                    <a:lnTo>
                      <a:pt x="24" y="36"/>
                    </a:lnTo>
                    <a:lnTo>
                      <a:pt x="36" y="24"/>
                    </a:lnTo>
                    <a:lnTo>
                      <a:pt x="48" y="12"/>
                    </a:lnTo>
                    <a:lnTo>
                      <a:pt x="84" y="0"/>
                    </a:lnTo>
                    <a:lnTo>
                      <a:pt x="96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Freeform 133"/>
              <p:cNvSpPr>
                <a:spLocks/>
              </p:cNvSpPr>
              <p:nvPr/>
            </p:nvSpPr>
            <p:spPr bwMode="auto">
              <a:xfrm>
                <a:off x="2666" y="3385"/>
                <a:ext cx="48" cy="109"/>
              </a:xfrm>
              <a:custGeom>
                <a:avLst/>
                <a:gdLst>
                  <a:gd name="T0" fmla="*/ 48 w 48"/>
                  <a:gd name="T1" fmla="*/ 109 h 109"/>
                  <a:gd name="T2" fmla="*/ 36 w 48"/>
                  <a:gd name="T3" fmla="*/ 109 h 109"/>
                  <a:gd name="T4" fmla="*/ 24 w 48"/>
                  <a:gd name="T5" fmla="*/ 97 h 109"/>
                  <a:gd name="T6" fmla="*/ 12 w 48"/>
                  <a:gd name="T7" fmla="*/ 85 h 109"/>
                  <a:gd name="T8" fmla="*/ 12 w 48"/>
                  <a:gd name="T9" fmla="*/ 73 h 109"/>
                  <a:gd name="T10" fmla="*/ 0 w 48"/>
                  <a:gd name="T11" fmla="*/ 24 h 109"/>
                  <a:gd name="T12" fmla="*/ 0 w 48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09">
                    <a:moveTo>
                      <a:pt x="48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Freeform 134"/>
              <p:cNvSpPr>
                <a:spLocks/>
              </p:cNvSpPr>
              <p:nvPr/>
            </p:nvSpPr>
            <p:spPr bwMode="auto">
              <a:xfrm>
                <a:off x="2641" y="3277"/>
                <a:ext cx="109" cy="108"/>
              </a:xfrm>
              <a:custGeom>
                <a:avLst/>
                <a:gdLst>
                  <a:gd name="T0" fmla="*/ 0 w 109"/>
                  <a:gd name="T1" fmla="*/ 0 h 108"/>
                  <a:gd name="T2" fmla="*/ 25 w 109"/>
                  <a:gd name="T3" fmla="*/ 0 h 108"/>
                  <a:gd name="T4" fmla="*/ 61 w 109"/>
                  <a:gd name="T5" fmla="*/ 12 h 108"/>
                  <a:gd name="T6" fmla="*/ 73 w 109"/>
                  <a:gd name="T7" fmla="*/ 24 h 108"/>
                  <a:gd name="T8" fmla="*/ 85 w 109"/>
                  <a:gd name="T9" fmla="*/ 36 h 108"/>
                  <a:gd name="T10" fmla="*/ 97 w 109"/>
                  <a:gd name="T11" fmla="*/ 60 h 108"/>
                  <a:gd name="T12" fmla="*/ 109 w 109"/>
                  <a:gd name="T13" fmla="*/ 84 h 108"/>
                  <a:gd name="T14" fmla="*/ 109 w 109"/>
                  <a:gd name="T15" fmla="*/ 96 h 108"/>
                  <a:gd name="T16" fmla="*/ 109 w 109"/>
                  <a:gd name="T17" fmla="*/ 108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9" h="108">
                    <a:moveTo>
                      <a:pt x="0" y="0"/>
                    </a:moveTo>
                    <a:lnTo>
                      <a:pt x="25" y="0"/>
                    </a:lnTo>
                    <a:lnTo>
                      <a:pt x="61" y="12"/>
                    </a:lnTo>
                    <a:lnTo>
                      <a:pt x="73" y="24"/>
                    </a:lnTo>
                    <a:lnTo>
                      <a:pt x="85" y="36"/>
                    </a:lnTo>
                    <a:lnTo>
                      <a:pt x="97" y="60"/>
                    </a:lnTo>
                    <a:lnTo>
                      <a:pt x="109" y="84"/>
                    </a:lnTo>
                    <a:lnTo>
                      <a:pt x="109" y="96"/>
                    </a:lnTo>
                    <a:lnTo>
                      <a:pt x="109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0" name="Freeform 135"/>
              <p:cNvSpPr>
                <a:spLocks/>
              </p:cNvSpPr>
              <p:nvPr/>
            </p:nvSpPr>
            <p:spPr bwMode="auto">
              <a:xfrm>
                <a:off x="2702" y="3385"/>
                <a:ext cx="48" cy="109"/>
              </a:xfrm>
              <a:custGeom>
                <a:avLst/>
                <a:gdLst>
                  <a:gd name="T0" fmla="*/ 48 w 48"/>
                  <a:gd name="T1" fmla="*/ 0 h 109"/>
                  <a:gd name="T2" fmla="*/ 48 w 48"/>
                  <a:gd name="T3" fmla="*/ 24 h 109"/>
                  <a:gd name="T4" fmla="*/ 48 w 48"/>
                  <a:gd name="T5" fmla="*/ 61 h 109"/>
                  <a:gd name="T6" fmla="*/ 36 w 48"/>
                  <a:gd name="T7" fmla="*/ 85 h 109"/>
                  <a:gd name="T8" fmla="*/ 36 w 48"/>
                  <a:gd name="T9" fmla="*/ 97 h 109"/>
                  <a:gd name="T10" fmla="*/ 12 w 48"/>
                  <a:gd name="T11" fmla="*/ 109 h 109"/>
                  <a:gd name="T12" fmla="*/ 0 w 48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09">
                    <a:moveTo>
                      <a:pt x="48" y="0"/>
                    </a:moveTo>
                    <a:lnTo>
                      <a:pt x="48" y="24"/>
                    </a:lnTo>
                    <a:lnTo>
                      <a:pt x="48" y="61"/>
                    </a:lnTo>
                    <a:lnTo>
                      <a:pt x="36" y="85"/>
                    </a:lnTo>
                    <a:lnTo>
                      <a:pt x="36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1" name="Freeform 136"/>
              <p:cNvSpPr>
                <a:spLocks/>
              </p:cNvSpPr>
              <p:nvPr/>
            </p:nvSpPr>
            <p:spPr bwMode="auto">
              <a:xfrm>
                <a:off x="2774" y="3277"/>
                <a:ext cx="109" cy="108"/>
              </a:xfrm>
              <a:custGeom>
                <a:avLst/>
                <a:gdLst>
                  <a:gd name="T0" fmla="*/ 0 w 109"/>
                  <a:gd name="T1" fmla="*/ 108 h 108"/>
                  <a:gd name="T2" fmla="*/ 0 w 109"/>
                  <a:gd name="T3" fmla="*/ 96 h 108"/>
                  <a:gd name="T4" fmla="*/ 0 w 109"/>
                  <a:gd name="T5" fmla="*/ 84 h 108"/>
                  <a:gd name="T6" fmla="*/ 12 w 109"/>
                  <a:gd name="T7" fmla="*/ 60 h 108"/>
                  <a:gd name="T8" fmla="*/ 24 w 109"/>
                  <a:gd name="T9" fmla="*/ 36 h 108"/>
                  <a:gd name="T10" fmla="*/ 36 w 109"/>
                  <a:gd name="T11" fmla="*/ 24 h 108"/>
                  <a:gd name="T12" fmla="*/ 49 w 109"/>
                  <a:gd name="T13" fmla="*/ 12 h 108"/>
                  <a:gd name="T14" fmla="*/ 85 w 109"/>
                  <a:gd name="T15" fmla="*/ 0 h 108"/>
                  <a:gd name="T16" fmla="*/ 109 w 109"/>
                  <a:gd name="T17" fmla="*/ 0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9" h="108">
                    <a:moveTo>
                      <a:pt x="0" y="108"/>
                    </a:moveTo>
                    <a:lnTo>
                      <a:pt x="0" y="96"/>
                    </a:lnTo>
                    <a:lnTo>
                      <a:pt x="0" y="84"/>
                    </a:lnTo>
                    <a:lnTo>
                      <a:pt x="12" y="60"/>
                    </a:lnTo>
                    <a:lnTo>
                      <a:pt x="24" y="36"/>
                    </a:lnTo>
                    <a:lnTo>
                      <a:pt x="36" y="24"/>
                    </a:lnTo>
                    <a:lnTo>
                      <a:pt x="49" y="12"/>
                    </a:lnTo>
                    <a:lnTo>
                      <a:pt x="85" y="0"/>
                    </a:lnTo>
                    <a:lnTo>
                      <a:pt x="109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2" name="Freeform 137"/>
              <p:cNvSpPr>
                <a:spLocks/>
              </p:cNvSpPr>
              <p:nvPr/>
            </p:nvSpPr>
            <p:spPr bwMode="auto">
              <a:xfrm>
                <a:off x="2774" y="3385"/>
                <a:ext cx="49" cy="109"/>
              </a:xfrm>
              <a:custGeom>
                <a:avLst/>
                <a:gdLst>
                  <a:gd name="T0" fmla="*/ 49 w 49"/>
                  <a:gd name="T1" fmla="*/ 109 h 109"/>
                  <a:gd name="T2" fmla="*/ 36 w 49"/>
                  <a:gd name="T3" fmla="*/ 109 h 109"/>
                  <a:gd name="T4" fmla="*/ 24 w 49"/>
                  <a:gd name="T5" fmla="*/ 97 h 109"/>
                  <a:gd name="T6" fmla="*/ 12 w 49"/>
                  <a:gd name="T7" fmla="*/ 85 h 109"/>
                  <a:gd name="T8" fmla="*/ 12 w 49"/>
                  <a:gd name="T9" fmla="*/ 73 h 109"/>
                  <a:gd name="T10" fmla="*/ 0 w 49"/>
                  <a:gd name="T11" fmla="*/ 24 h 109"/>
                  <a:gd name="T12" fmla="*/ 0 w 49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109">
                    <a:moveTo>
                      <a:pt x="49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3" name="Freeform 138"/>
              <p:cNvSpPr>
                <a:spLocks/>
              </p:cNvSpPr>
              <p:nvPr/>
            </p:nvSpPr>
            <p:spPr bwMode="auto">
              <a:xfrm>
                <a:off x="2762" y="3277"/>
                <a:ext cx="97" cy="108"/>
              </a:xfrm>
              <a:custGeom>
                <a:avLst/>
                <a:gdLst>
                  <a:gd name="T0" fmla="*/ 0 w 97"/>
                  <a:gd name="T1" fmla="*/ 0 h 108"/>
                  <a:gd name="T2" fmla="*/ 24 w 97"/>
                  <a:gd name="T3" fmla="*/ 0 h 108"/>
                  <a:gd name="T4" fmla="*/ 61 w 97"/>
                  <a:gd name="T5" fmla="*/ 12 h 108"/>
                  <a:gd name="T6" fmla="*/ 73 w 97"/>
                  <a:gd name="T7" fmla="*/ 24 h 108"/>
                  <a:gd name="T8" fmla="*/ 85 w 97"/>
                  <a:gd name="T9" fmla="*/ 48 h 108"/>
                  <a:gd name="T10" fmla="*/ 97 w 97"/>
                  <a:gd name="T11" fmla="*/ 84 h 108"/>
                  <a:gd name="T12" fmla="*/ 97 w 97"/>
                  <a:gd name="T13" fmla="*/ 108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0"/>
                    </a:moveTo>
                    <a:lnTo>
                      <a:pt x="24" y="0"/>
                    </a:lnTo>
                    <a:lnTo>
                      <a:pt x="61" y="12"/>
                    </a:lnTo>
                    <a:lnTo>
                      <a:pt x="73" y="24"/>
                    </a:lnTo>
                    <a:lnTo>
                      <a:pt x="85" y="48"/>
                    </a:lnTo>
                    <a:lnTo>
                      <a:pt x="97" y="84"/>
                    </a:lnTo>
                    <a:lnTo>
                      <a:pt x="97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4" name="Freeform 139"/>
              <p:cNvSpPr>
                <a:spLocks/>
              </p:cNvSpPr>
              <p:nvPr/>
            </p:nvSpPr>
            <p:spPr bwMode="auto">
              <a:xfrm>
                <a:off x="2810" y="3385"/>
                <a:ext cx="49" cy="109"/>
              </a:xfrm>
              <a:custGeom>
                <a:avLst/>
                <a:gdLst>
                  <a:gd name="T0" fmla="*/ 49 w 49"/>
                  <a:gd name="T1" fmla="*/ 0 h 109"/>
                  <a:gd name="T2" fmla="*/ 49 w 49"/>
                  <a:gd name="T3" fmla="*/ 24 h 109"/>
                  <a:gd name="T4" fmla="*/ 49 w 49"/>
                  <a:gd name="T5" fmla="*/ 61 h 109"/>
                  <a:gd name="T6" fmla="*/ 37 w 49"/>
                  <a:gd name="T7" fmla="*/ 85 h 109"/>
                  <a:gd name="T8" fmla="*/ 37 w 49"/>
                  <a:gd name="T9" fmla="*/ 97 h 109"/>
                  <a:gd name="T10" fmla="*/ 13 w 49"/>
                  <a:gd name="T11" fmla="*/ 109 h 109"/>
                  <a:gd name="T12" fmla="*/ 0 w 49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109">
                    <a:moveTo>
                      <a:pt x="49" y="0"/>
                    </a:moveTo>
                    <a:lnTo>
                      <a:pt x="49" y="24"/>
                    </a:lnTo>
                    <a:lnTo>
                      <a:pt x="49" y="61"/>
                    </a:lnTo>
                    <a:lnTo>
                      <a:pt x="37" y="85"/>
                    </a:lnTo>
                    <a:lnTo>
                      <a:pt x="37" y="97"/>
                    </a:lnTo>
                    <a:lnTo>
                      <a:pt x="13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5" name="Freeform 140"/>
              <p:cNvSpPr>
                <a:spLocks/>
              </p:cNvSpPr>
              <p:nvPr/>
            </p:nvSpPr>
            <p:spPr bwMode="auto">
              <a:xfrm>
                <a:off x="2871" y="3277"/>
                <a:ext cx="97" cy="108"/>
              </a:xfrm>
              <a:custGeom>
                <a:avLst/>
                <a:gdLst>
                  <a:gd name="T0" fmla="*/ 0 w 97"/>
                  <a:gd name="T1" fmla="*/ 0 h 108"/>
                  <a:gd name="T2" fmla="*/ 24 w 97"/>
                  <a:gd name="T3" fmla="*/ 0 h 108"/>
                  <a:gd name="T4" fmla="*/ 60 w 97"/>
                  <a:gd name="T5" fmla="*/ 12 h 108"/>
                  <a:gd name="T6" fmla="*/ 72 w 97"/>
                  <a:gd name="T7" fmla="*/ 24 h 108"/>
                  <a:gd name="T8" fmla="*/ 84 w 97"/>
                  <a:gd name="T9" fmla="*/ 48 h 108"/>
                  <a:gd name="T10" fmla="*/ 97 w 97"/>
                  <a:gd name="T11" fmla="*/ 84 h 108"/>
                  <a:gd name="T12" fmla="*/ 97 w 97"/>
                  <a:gd name="T13" fmla="*/ 108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0"/>
                    </a:moveTo>
                    <a:lnTo>
                      <a:pt x="24" y="0"/>
                    </a:lnTo>
                    <a:lnTo>
                      <a:pt x="60" y="12"/>
                    </a:lnTo>
                    <a:lnTo>
                      <a:pt x="72" y="24"/>
                    </a:lnTo>
                    <a:lnTo>
                      <a:pt x="84" y="48"/>
                    </a:lnTo>
                    <a:lnTo>
                      <a:pt x="97" y="84"/>
                    </a:lnTo>
                    <a:lnTo>
                      <a:pt x="97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6" name="Freeform 141"/>
              <p:cNvSpPr>
                <a:spLocks/>
              </p:cNvSpPr>
              <p:nvPr/>
            </p:nvSpPr>
            <p:spPr bwMode="auto">
              <a:xfrm>
                <a:off x="2110" y="3277"/>
                <a:ext cx="109" cy="108"/>
              </a:xfrm>
              <a:custGeom>
                <a:avLst/>
                <a:gdLst>
                  <a:gd name="T0" fmla="*/ 0 w 109"/>
                  <a:gd name="T1" fmla="*/ 108 h 108"/>
                  <a:gd name="T2" fmla="*/ 0 w 109"/>
                  <a:gd name="T3" fmla="*/ 96 h 108"/>
                  <a:gd name="T4" fmla="*/ 0 w 109"/>
                  <a:gd name="T5" fmla="*/ 84 h 108"/>
                  <a:gd name="T6" fmla="*/ 12 w 109"/>
                  <a:gd name="T7" fmla="*/ 60 h 108"/>
                  <a:gd name="T8" fmla="*/ 24 w 109"/>
                  <a:gd name="T9" fmla="*/ 36 h 108"/>
                  <a:gd name="T10" fmla="*/ 36 w 109"/>
                  <a:gd name="T11" fmla="*/ 24 h 108"/>
                  <a:gd name="T12" fmla="*/ 48 w 109"/>
                  <a:gd name="T13" fmla="*/ 12 h 108"/>
                  <a:gd name="T14" fmla="*/ 84 w 109"/>
                  <a:gd name="T15" fmla="*/ 0 h 108"/>
                  <a:gd name="T16" fmla="*/ 109 w 109"/>
                  <a:gd name="T17" fmla="*/ 0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9" h="108">
                    <a:moveTo>
                      <a:pt x="0" y="108"/>
                    </a:moveTo>
                    <a:lnTo>
                      <a:pt x="0" y="96"/>
                    </a:lnTo>
                    <a:lnTo>
                      <a:pt x="0" y="84"/>
                    </a:lnTo>
                    <a:lnTo>
                      <a:pt x="12" y="60"/>
                    </a:lnTo>
                    <a:lnTo>
                      <a:pt x="24" y="36"/>
                    </a:lnTo>
                    <a:lnTo>
                      <a:pt x="36" y="24"/>
                    </a:lnTo>
                    <a:lnTo>
                      <a:pt x="48" y="12"/>
                    </a:lnTo>
                    <a:lnTo>
                      <a:pt x="84" y="0"/>
                    </a:lnTo>
                    <a:lnTo>
                      <a:pt x="109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7" name="Line 142"/>
              <p:cNvSpPr>
                <a:spLocks noChangeShapeType="1"/>
              </p:cNvSpPr>
              <p:nvPr/>
            </p:nvSpPr>
            <p:spPr bwMode="auto">
              <a:xfrm>
                <a:off x="2968" y="3385"/>
                <a:ext cx="84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8" name="Line 143"/>
              <p:cNvSpPr>
                <a:spLocks noChangeShapeType="1"/>
              </p:cNvSpPr>
              <p:nvPr/>
            </p:nvSpPr>
            <p:spPr bwMode="auto">
              <a:xfrm>
                <a:off x="2025" y="3385"/>
                <a:ext cx="85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49" name="Group 144"/>
            <p:cNvGrpSpPr>
              <a:grpSpLocks/>
            </p:cNvGrpSpPr>
            <p:nvPr/>
          </p:nvGrpSpPr>
          <p:grpSpPr bwMode="auto">
            <a:xfrm>
              <a:off x="7669613" y="3514581"/>
              <a:ext cx="1152525" cy="287337"/>
              <a:chOff x="2025" y="3277"/>
              <a:chExt cx="1027" cy="217"/>
            </a:xfrm>
          </p:grpSpPr>
          <p:sp>
            <p:nvSpPr>
              <p:cNvPr id="150" name="Freeform 145"/>
              <p:cNvSpPr>
                <a:spLocks/>
              </p:cNvSpPr>
              <p:nvPr/>
            </p:nvSpPr>
            <p:spPr bwMode="auto">
              <a:xfrm>
                <a:off x="2231" y="3277"/>
                <a:ext cx="96" cy="108"/>
              </a:xfrm>
              <a:custGeom>
                <a:avLst/>
                <a:gdLst>
                  <a:gd name="T0" fmla="*/ 0 w 96"/>
                  <a:gd name="T1" fmla="*/ 108 h 108"/>
                  <a:gd name="T2" fmla="*/ 0 w 96"/>
                  <a:gd name="T3" fmla="*/ 84 h 108"/>
                  <a:gd name="T4" fmla="*/ 12 w 96"/>
                  <a:gd name="T5" fmla="*/ 48 h 108"/>
                  <a:gd name="T6" fmla="*/ 24 w 96"/>
                  <a:gd name="T7" fmla="*/ 24 h 108"/>
                  <a:gd name="T8" fmla="*/ 36 w 96"/>
                  <a:gd name="T9" fmla="*/ 12 h 108"/>
                  <a:gd name="T10" fmla="*/ 72 w 96"/>
                  <a:gd name="T11" fmla="*/ 0 h 108"/>
                  <a:gd name="T12" fmla="*/ 96 w 96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108">
                    <a:moveTo>
                      <a:pt x="0" y="108"/>
                    </a:moveTo>
                    <a:lnTo>
                      <a:pt x="0" y="84"/>
                    </a:lnTo>
                    <a:lnTo>
                      <a:pt x="12" y="48"/>
                    </a:lnTo>
                    <a:lnTo>
                      <a:pt x="24" y="24"/>
                    </a:lnTo>
                    <a:lnTo>
                      <a:pt x="36" y="12"/>
                    </a:lnTo>
                    <a:lnTo>
                      <a:pt x="72" y="0"/>
                    </a:lnTo>
                    <a:lnTo>
                      <a:pt x="96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1" name="Freeform 146"/>
              <p:cNvSpPr>
                <a:spLocks/>
              </p:cNvSpPr>
              <p:nvPr/>
            </p:nvSpPr>
            <p:spPr bwMode="auto">
              <a:xfrm>
                <a:off x="2231" y="3385"/>
                <a:ext cx="36" cy="109"/>
              </a:xfrm>
              <a:custGeom>
                <a:avLst/>
                <a:gdLst>
                  <a:gd name="T0" fmla="*/ 36 w 36"/>
                  <a:gd name="T1" fmla="*/ 109 h 109"/>
                  <a:gd name="T2" fmla="*/ 36 w 36"/>
                  <a:gd name="T3" fmla="*/ 109 h 109"/>
                  <a:gd name="T4" fmla="*/ 24 w 36"/>
                  <a:gd name="T5" fmla="*/ 97 h 109"/>
                  <a:gd name="T6" fmla="*/ 12 w 36"/>
                  <a:gd name="T7" fmla="*/ 85 h 109"/>
                  <a:gd name="T8" fmla="*/ 12 w 36"/>
                  <a:gd name="T9" fmla="*/ 73 h 109"/>
                  <a:gd name="T10" fmla="*/ 0 w 36"/>
                  <a:gd name="T11" fmla="*/ 24 h 109"/>
                  <a:gd name="T12" fmla="*/ 0 w 36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09">
                    <a:moveTo>
                      <a:pt x="36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2" name="Freeform 147"/>
              <p:cNvSpPr>
                <a:spLocks/>
              </p:cNvSpPr>
              <p:nvPr/>
            </p:nvSpPr>
            <p:spPr bwMode="auto">
              <a:xfrm>
                <a:off x="2207" y="3277"/>
                <a:ext cx="96" cy="108"/>
              </a:xfrm>
              <a:custGeom>
                <a:avLst/>
                <a:gdLst>
                  <a:gd name="T0" fmla="*/ 0 w 96"/>
                  <a:gd name="T1" fmla="*/ 0 h 108"/>
                  <a:gd name="T2" fmla="*/ 24 w 96"/>
                  <a:gd name="T3" fmla="*/ 0 h 108"/>
                  <a:gd name="T4" fmla="*/ 60 w 96"/>
                  <a:gd name="T5" fmla="*/ 12 h 108"/>
                  <a:gd name="T6" fmla="*/ 72 w 96"/>
                  <a:gd name="T7" fmla="*/ 24 h 108"/>
                  <a:gd name="T8" fmla="*/ 84 w 96"/>
                  <a:gd name="T9" fmla="*/ 48 h 108"/>
                  <a:gd name="T10" fmla="*/ 96 w 96"/>
                  <a:gd name="T11" fmla="*/ 84 h 108"/>
                  <a:gd name="T12" fmla="*/ 96 w 96"/>
                  <a:gd name="T13" fmla="*/ 108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108">
                    <a:moveTo>
                      <a:pt x="0" y="0"/>
                    </a:moveTo>
                    <a:lnTo>
                      <a:pt x="24" y="0"/>
                    </a:lnTo>
                    <a:lnTo>
                      <a:pt x="60" y="12"/>
                    </a:lnTo>
                    <a:lnTo>
                      <a:pt x="72" y="24"/>
                    </a:lnTo>
                    <a:lnTo>
                      <a:pt x="84" y="48"/>
                    </a:lnTo>
                    <a:lnTo>
                      <a:pt x="96" y="84"/>
                    </a:lnTo>
                    <a:lnTo>
                      <a:pt x="96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" name="Freeform 148"/>
              <p:cNvSpPr>
                <a:spLocks/>
              </p:cNvSpPr>
              <p:nvPr/>
            </p:nvSpPr>
            <p:spPr bwMode="auto">
              <a:xfrm>
                <a:off x="2267" y="3385"/>
                <a:ext cx="36" cy="109"/>
              </a:xfrm>
              <a:custGeom>
                <a:avLst/>
                <a:gdLst>
                  <a:gd name="T0" fmla="*/ 36 w 36"/>
                  <a:gd name="T1" fmla="*/ 0 h 109"/>
                  <a:gd name="T2" fmla="*/ 36 w 36"/>
                  <a:gd name="T3" fmla="*/ 24 h 109"/>
                  <a:gd name="T4" fmla="*/ 36 w 36"/>
                  <a:gd name="T5" fmla="*/ 61 h 109"/>
                  <a:gd name="T6" fmla="*/ 24 w 36"/>
                  <a:gd name="T7" fmla="*/ 85 h 109"/>
                  <a:gd name="T8" fmla="*/ 24 w 36"/>
                  <a:gd name="T9" fmla="*/ 97 h 109"/>
                  <a:gd name="T10" fmla="*/ 12 w 36"/>
                  <a:gd name="T11" fmla="*/ 109 h 109"/>
                  <a:gd name="T12" fmla="*/ 0 w 36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09">
                    <a:moveTo>
                      <a:pt x="36" y="0"/>
                    </a:moveTo>
                    <a:lnTo>
                      <a:pt x="36" y="24"/>
                    </a:lnTo>
                    <a:lnTo>
                      <a:pt x="36" y="61"/>
                    </a:lnTo>
                    <a:lnTo>
                      <a:pt x="24" y="85"/>
                    </a:lnTo>
                    <a:lnTo>
                      <a:pt x="24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4" name="Freeform 149"/>
              <p:cNvSpPr>
                <a:spLocks/>
              </p:cNvSpPr>
              <p:nvPr/>
            </p:nvSpPr>
            <p:spPr bwMode="auto">
              <a:xfrm>
                <a:off x="2339" y="3277"/>
                <a:ext cx="97" cy="108"/>
              </a:xfrm>
              <a:custGeom>
                <a:avLst/>
                <a:gdLst>
                  <a:gd name="T0" fmla="*/ 0 w 97"/>
                  <a:gd name="T1" fmla="*/ 108 h 108"/>
                  <a:gd name="T2" fmla="*/ 0 w 97"/>
                  <a:gd name="T3" fmla="*/ 84 h 108"/>
                  <a:gd name="T4" fmla="*/ 13 w 97"/>
                  <a:gd name="T5" fmla="*/ 48 h 108"/>
                  <a:gd name="T6" fmla="*/ 25 w 97"/>
                  <a:gd name="T7" fmla="*/ 24 h 108"/>
                  <a:gd name="T8" fmla="*/ 49 w 97"/>
                  <a:gd name="T9" fmla="*/ 12 h 108"/>
                  <a:gd name="T10" fmla="*/ 85 w 97"/>
                  <a:gd name="T11" fmla="*/ 0 h 108"/>
                  <a:gd name="T12" fmla="*/ 97 w 97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108"/>
                    </a:moveTo>
                    <a:lnTo>
                      <a:pt x="0" y="84"/>
                    </a:lnTo>
                    <a:lnTo>
                      <a:pt x="13" y="48"/>
                    </a:lnTo>
                    <a:lnTo>
                      <a:pt x="25" y="24"/>
                    </a:lnTo>
                    <a:lnTo>
                      <a:pt x="49" y="12"/>
                    </a:lnTo>
                    <a:lnTo>
                      <a:pt x="85" y="0"/>
                    </a:lnTo>
                    <a:lnTo>
                      <a:pt x="97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5" name="Freeform 150"/>
              <p:cNvSpPr>
                <a:spLocks/>
              </p:cNvSpPr>
              <p:nvPr/>
            </p:nvSpPr>
            <p:spPr bwMode="auto">
              <a:xfrm>
                <a:off x="2339" y="3385"/>
                <a:ext cx="37" cy="109"/>
              </a:xfrm>
              <a:custGeom>
                <a:avLst/>
                <a:gdLst>
                  <a:gd name="T0" fmla="*/ 37 w 37"/>
                  <a:gd name="T1" fmla="*/ 109 h 109"/>
                  <a:gd name="T2" fmla="*/ 37 w 37"/>
                  <a:gd name="T3" fmla="*/ 109 h 109"/>
                  <a:gd name="T4" fmla="*/ 25 w 37"/>
                  <a:gd name="T5" fmla="*/ 97 h 109"/>
                  <a:gd name="T6" fmla="*/ 13 w 37"/>
                  <a:gd name="T7" fmla="*/ 85 h 109"/>
                  <a:gd name="T8" fmla="*/ 13 w 37"/>
                  <a:gd name="T9" fmla="*/ 73 h 109"/>
                  <a:gd name="T10" fmla="*/ 0 w 37"/>
                  <a:gd name="T11" fmla="*/ 24 h 109"/>
                  <a:gd name="T12" fmla="*/ 0 w 37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109">
                    <a:moveTo>
                      <a:pt x="37" y="109"/>
                    </a:moveTo>
                    <a:lnTo>
                      <a:pt x="37" y="109"/>
                    </a:lnTo>
                    <a:lnTo>
                      <a:pt x="25" y="97"/>
                    </a:lnTo>
                    <a:lnTo>
                      <a:pt x="13" y="85"/>
                    </a:lnTo>
                    <a:lnTo>
                      <a:pt x="13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6" name="Freeform 151"/>
              <p:cNvSpPr>
                <a:spLocks/>
              </p:cNvSpPr>
              <p:nvPr/>
            </p:nvSpPr>
            <p:spPr bwMode="auto">
              <a:xfrm>
                <a:off x="2315" y="3277"/>
                <a:ext cx="97" cy="108"/>
              </a:xfrm>
              <a:custGeom>
                <a:avLst/>
                <a:gdLst>
                  <a:gd name="T0" fmla="*/ 0 w 97"/>
                  <a:gd name="T1" fmla="*/ 0 h 108"/>
                  <a:gd name="T2" fmla="*/ 24 w 97"/>
                  <a:gd name="T3" fmla="*/ 0 h 108"/>
                  <a:gd name="T4" fmla="*/ 61 w 97"/>
                  <a:gd name="T5" fmla="*/ 12 h 108"/>
                  <a:gd name="T6" fmla="*/ 73 w 97"/>
                  <a:gd name="T7" fmla="*/ 24 h 108"/>
                  <a:gd name="T8" fmla="*/ 85 w 97"/>
                  <a:gd name="T9" fmla="*/ 48 h 108"/>
                  <a:gd name="T10" fmla="*/ 97 w 97"/>
                  <a:gd name="T11" fmla="*/ 84 h 108"/>
                  <a:gd name="T12" fmla="*/ 97 w 97"/>
                  <a:gd name="T13" fmla="*/ 108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0"/>
                    </a:moveTo>
                    <a:lnTo>
                      <a:pt x="24" y="0"/>
                    </a:lnTo>
                    <a:lnTo>
                      <a:pt x="61" y="12"/>
                    </a:lnTo>
                    <a:lnTo>
                      <a:pt x="73" y="24"/>
                    </a:lnTo>
                    <a:lnTo>
                      <a:pt x="85" y="48"/>
                    </a:lnTo>
                    <a:lnTo>
                      <a:pt x="97" y="84"/>
                    </a:lnTo>
                    <a:lnTo>
                      <a:pt x="97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7" name="Freeform 152"/>
              <p:cNvSpPr>
                <a:spLocks/>
              </p:cNvSpPr>
              <p:nvPr/>
            </p:nvSpPr>
            <p:spPr bwMode="auto">
              <a:xfrm>
                <a:off x="2376" y="3385"/>
                <a:ext cx="36" cy="109"/>
              </a:xfrm>
              <a:custGeom>
                <a:avLst/>
                <a:gdLst>
                  <a:gd name="T0" fmla="*/ 36 w 36"/>
                  <a:gd name="T1" fmla="*/ 0 h 109"/>
                  <a:gd name="T2" fmla="*/ 36 w 36"/>
                  <a:gd name="T3" fmla="*/ 24 h 109"/>
                  <a:gd name="T4" fmla="*/ 36 w 36"/>
                  <a:gd name="T5" fmla="*/ 61 h 109"/>
                  <a:gd name="T6" fmla="*/ 24 w 36"/>
                  <a:gd name="T7" fmla="*/ 85 h 109"/>
                  <a:gd name="T8" fmla="*/ 24 w 36"/>
                  <a:gd name="T9" fmla="*/ 97 h 109"/>
                  <a:gd name="T10" fmla="*/ 12 w 36"/>
                  <a:gd name="T11" fmla="*/ 109 h 109"/>
                  <a:gd name="T12" fmla="*/ 0 w 36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09">
                    <a:moveTo>
                      <a:pt x="36" y="0"/>
                    </a:moveTo>
                    <a:lnTo>
                      <a:pt x="36" y="24"/>
                    </a:lnTo>
                    <a:lnTo>
                      <a:pt x="36" y="61"/>
                    </a:lnTo>
                    <a:lnTo>
                      <a:pt x="24" y="85"/>
                    </a:lnTo>
                    <a:lnTo>
                      <a:pt x="24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8" name="Freeform 153"/>
              <p:cNvSpPr>
                <a:spLocks/>
              </p:cNvSpPr>
              <p:nvPr/>
            </p:nvSpPr>
            <p:spPr bwMode="auto">
              <a:xfrm>
                <a:off x="2448" y="3277"/>
                <a:ext cx="97" cy="108"/>
              </a:xfrm>
              <a:custGeom>
                <a:avLst/>
                <a:gdLst>
                  <a:gd name="T0" fmla="*/ 0 w 97"/>
                  <a:gd name="T1" fmla="*/ 108 h 108"/>
                  <a:gd name="T2" fmla="*/ 0 w 97"/>
                  <a:gd name="T3" fmla="*/ 84 h 108"/>
                  <a:gd name="T4" fmla="*/ 12 w 97"/>
                  <a:gd name="T5" fmla="*/ 48 h 108"/>
                  <a:gd name="T6" fmla="*/ 24 w 97"/>
                  <a:gd name="T7" fmla="*/ 24 h 108"/>
                  <a:gd name="T8" fmla="*/ 48 w 97"/>
                  <a:gd name="T9" fmla="*/ 12 h 108"/>
                  <a:gd name="T10" fmla="*/ 85 w 97"/>
                  <a:gd name="T11" fmla="*/ 0 h 108"/>
                  <a:gd name="T12" fmla="*/ 97 w 97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108"/>
                    </a:moveTo>
                    <a:lnTo>
                      <a:pt x="0" y="84"/>
                    </a:lnTo>
                    <a:lnTo>
                      <a:pt x="12" y="48"/>
                    </a:lnTo>
                    <a:lnTo>
                      <a:pt x="24" y="24"/>
                    </a:lnTo>
                    <a:lnTo>
                      <a:pt x="48" y="12"/>
                    </a:lnTo>
                    <a:lnTo>
                      <a:pt x="85" y="0"/>
                    </a:lnTo>
                    <a:lnTo>
                      <a:pt x="97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" name="Freeform 154"/>
              <p:cNvSpPr>
                <a:spLocks/>
              </p:cNvSpPr>
              <p:nvPr/>
            </p:nvSpPr>
            <p:spPr bwMode="auto">
              <a:xfrm>
                <a:off x="2448" y="3385"/>
                <a:ext cx="36" cy="109"/>
              </a:xfrm>
              <a:custGeom>
                <a:avLst/>
                <a:gdLst>
                  <a:gd name="T0" fmla="*/ 36 w 36"/>
                  <a:gd name="T1" fmla="*/ 109 h 109"/>
                  <a:gd name="T2" fmla="*/ 36 w 36"/>
                  <a:gd name="T3" fmla="*/ 109 h 109"/>
                  <a:gd name="T4" fmla="*/ 24 w 36"/>
                  <a:gd name="T5" fmla="*/ 97 h 109"/>
                  <a:gd name="T6" fmla="*/ 12 w 36"/>
                  <a:gd name="T7" fmla="*/ 85 h 109"/>
                  <a:gd name="T8" fmla="*/ 12 w 36"/>
                  <a:gd name="T9" fmla="*/ 73 h 109"/>
                  <a:gd name="T10" fmla="*/ 0 w 36"/>
                  <a:gd name="T11" fmla="*/ 24 h 109"/>
                  <a:gd name="T12" fmla="*/ 0 w 36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09">
                    <a:moveTo>
                      <a:pt x="36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0" name="Freeform 155"/>
              <p:cNvSpPr>
                <a:spLocks/>
              </p:cNvSpPr>
              <p:nvPr/>
            </p:nvSpPr>
            <p:spPr bwMode="auto">
              <a:xfrm>
                <a:off x="2424" y="3277"/>
                <a:ext cx="109" cy="108"/>
              </a:xfrm>
              <a:custGeom>
                <a:avLst/>
                <a:gdLst>
                  <a:gd name="T0" fmla="*/ 0 w 109"/>
                  <a:gd name="T1" fmla="*/ 0 h 108"/>
                  <a:gd name="T2" fmla="*/ 24 w 109"/>
                  <a:gd name="T3" fmla="*/ 0 h 108"/>
                  <a:gd name="T4" fmla="*/ 60 w 109"/>
                  <a:gd name="T5" fmla="*/ 12 h 108"/>
                  <a:gd name="T6" fmla="*/ 72 w 109"/>
                  <a:gd name="T7" fmla="*/ 24 h 108"/>
                  <a:gd name="T8" fmla="*/ 85 w 109"/>
                  <a:gd name="T9" fmla="*/ 36 h 108"/>
                  <a:gd name="T10" fmla="*/ 97 w 109"/>
                  <a:gd name="T11" fmla="*/ 60 h 108"/>
                  <a:gd name="T12" fmla="*/ 109 w 109"/>
                  <a:gd name="T13" fmla="*/ 84 h 108"/>
                  <a:gd name="T14" fmla="*/ 109 w 109"/>
                  <a:gd name="T15" fmla="*/ 96 h 108"/>
                  <a:gd name="T16" fmla="*/ 109 w 109"/>
                  <a:gd name="T17" fmla="*/ 108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9" h="108">
                    <a:moveTo>
                      <a:pt x="0" y="0"/>
                    </a:moveTo>
                    <a:lnTo>
                      <a:pt x="24" y="0"/>
                    </a:lnTo>
                    <a:lnTo>
                      <a:pt x="60" y="12"/>
                    </a:lnTo>
                    <a:lnTo>
                      <a:pt x="72" y="24"/>
                    </a:lnTo>
                    <a:lnTo>
                      <a:pt x="85" y="36"/>
                    </a:lnTo>
                    <a:lnTo>
                      <a:pt x="97" y="60"/>
                    </a:lnTo>
                    <a:lnTo>
                      <a:pt x="109" y="84"/>
                    </a:lnTo>
                    <a:lnTo>
                      <a:pt x="109" y="96"/>
                    </a:lnTo>
                    <a:lnTo>
                      <a:pt x="109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1" name="Freeform 156"/>
              <p:cNvSpPr>
                <a:spLocks/>
              </p:cNvSpPr>
              <p:nvPr/>
            </p:nvSpPr>
            <p:spPr bwMode="auto">
              <a:xfrm>
                <a:off x="2484" y="3385"/>
                <a:ext cx="49" cy="109"/>
              </a:xfrm>
              <a:custGeom>
                <a:avLst/>
                <a:gdLst>
                  <a:gd name="T0" fmla="*/ 49 w 49"/>
                  <a:gd name="T1" fmla="*/ 0 h 109"/>
                  <a:gd name="T2" fmla="*/ 49 w 49"/>
                  <a:gd name="T3" fmla="*/ 24 h 109"/>
                  <a:gd name="T4" fmla="*/ 37 w 49"/>
                  <a:gd name="T5" fmla="*/ 73 h 109"/>
                  <a:gd name="T6" fmla="*/ 25 w 49"/>
                  <a:gd name="T7" fmla="*/ 85 h 109"/>
                  <a:gd name="T8" fmla="*/ 25 w 49"/>
                  <a:gd name="T9" fmla="*/ 97 h 109"/>
                  <a:gd name="T10" fmla="*/ 12 w 49"/>
                  <a:gd name="T11" fmla="*/ 109 h 109"/>
                  <a:gd name="T12" fmla="*/ 0 w 49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109">
                    <a:moveTo>
                      <a:pt x="49" y="0"/>
                    </a:moveTo>
                    <a:lnTo>
                      <a:pt x="49" y="24"/>
                    </a:lnTo>
                    <a:lnTo>
                      <a:pt x="37" y="73"/>
                    </a:lnTo>
                    <a:lnTo>
                      <a:pt x="25" y="85"/>
                    </a:lnTo>
                    <a:lnTo>
                      <a:pt x="25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2" name="Freeform 157"/>
              <p:cNvSpPr>
                <a:spLocks/>
              </p:cNvSpPr>
              <p:nvPr/>
            </p:nvSpPr>
            <p:spPr bwMode="auto">
              <a:xfrm>
                <a:off x="2557" y="3277"/>
                <a:ext cx="96" cy="108"/>
              </a:xfrm>
              <a:custGeom>
                <a:avLst/>
                <a:gdLst>
                  <a:gd name="T0" fmla="*/ 0 w 96"/>
                  <a:gd name="T1" fmla="*/ 108 h 108"/>
                  <a:gd name="T2" fmla="*/ 0 w 96"/>
                  <a:gd name="T3" fmla="*/ 84 h 108"/>
                  <a:gd name="T4" fmla="*/ 12 w 96"/>
                  <a:gd name="T5" fmla="*/ 48 h 108"/>
                  <a:gd name="T6" fmla="*/ 24 w 96"/>
                  <a:gd name="T7" fmla="*/ 24 h 108"/>
                  <a:gd name="T8" fmla="*/ 48 w 96"/>
                  <a:gd name="T9" fmla="*/ 12 h 108"/>
                  <a:gd name="T10" fmla="*/ 84 w 96"/>
                  <a:gd name="T11" fmla="*/ 0 h 108"/>
                  <a:gd name="T12" fmla="*/ 96 w 96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108">
                    <a:moveTo>
                      <a:pt x="0" y="108"/>
                    </a:moveTo>
                    <a:lnTo>
                      <a:pt x="0" y="84"/>
                    </a:lnTo>
                    <a:lnTo>
                      <a:pt x="12" y="48"/>
                    </a:lnTo>
                    <a:lnTo>
                      <a:pt x="24" y="24"/>
                    </a:lnTo>
                    <a:lnTo>
                      <a:pt x="48" y="12"/>
                    </a:lnTo>
                    <a:lnTo>
                      <a:pt x="84" y="0"/>
                    </a:lnTo>
                    <a:lnTo>
                      <a:pt x="96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3" name="Freeform 158"/>
              <p:cNvSpPr>
                <a:spLocks/>
              </p:cNvSpPr>
              <p:nvPr/>
            </p:nvSpPr>
            <p:spPr bwMode="auto">
              <a:xfrm>
                <a:off x="2557" y="3385"/>
                <a:ext cx="48" cy="109"/>
              </a:xfrm>
              <a:custGeom>
                <a:avLst/>
                <a:gdLst>
                  <a:gd name="T0" fmla="*/ 48 w 48"/>
                  <a:gd name="T1" fmla="*/ 109 h 109"/>
                  <a:gd name="T2" fmla="*/ 36 w 48"/>
                  <a:gd name="T3" fmla="*/ 109 h 109"/>
                  <a:gd name="T4" fmla="*/ 24 w 48"/>
                  <a:gd name="T5" fmla="*/ 97 h 109"/>
                  <a:gd name="T6" fmla="*/ 12 w 48"/>
                  <a:gd name="T7" fmla="*/ 85 h 109"/>
                  <a:gd name="T8" fmla="*/ 12 w 48"/>
                  <a:gd name="T9" fmla="*/ 73 h 109"/>
                  <a:gd name="T10" fmla="*/ 0 w 48"/>
                  <a:gd name="T11" fmla="*/ 24 h 109"/>
                  <a:gd name="T12" fmla="*/ 0 w 48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09">
                    <a:moveTo>
                      <a:pt x="48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4" name="Freeform 159"/>
              <p:cNvSpPr>
                <a:spLocks/>
              </p:cNvSpPr>
              <p:nvPr/>
            </p:nvSpPr>
            <p:spPr bwMode="auto">
              <a:xfrm>
                <a:off x="2533" y="3277"/>
                <a:ext cx="108" cy="108"/>
              </a:xfrm>
              <a:custGeom>
                <a:avLst/>
                <a:gdLst>
                  <a:gd name="T0" fmla="*/ 0 w 108"/>
                  <a:gd name="T1" fmla="*/ 0 h 108"/>
                  <a:gd name="T2" fmla="*/ 24 w 108"/>
                  <a:gd name="T3" fmla="*/ 0 h 108"/>
                  <a:gd name="T4" fmla="*/ 60 w 108"/>
                  <a:gd name="T5" fmla="*/ 12 h 108"/>
                  <a:gd name="T6" fmla="*/ 72 w 108"/>
                  <a:gd name="T7" fmla="*/ 24 h 108"/>
                  <a:gd name="T8" fmla="*/ 84 w 108"/>
                  <a:gd name="T9" fmla="*/ 36 h 108"/>
                  <a:gd name="T10" fmla="*/ 96 w 108"/>
                  <a:gd name="T11" fmla="*/ 60 h 108"/>
                  <a:gd name="T12" fmla="*/ 108 w 108"/>
                  <a:gd name="T13" fmla="*/ 84 h 108"/>
                  <a:gd name="T14" fmla="*/ 108 w 108"/>
                  <a:gd name="T15" fmla="*/ 96 h 108"/>
                  <a:gd name="T16" fmla="*/ 108 w 108"/>
                  <a:gd name="T17" fmla="*/ 108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8" h="108">
                    <a:moveTo>
                      <a:pt x="0" y="0"/>
                    </a:moveTo>
                    <a:lnTo>
                      <a:pt x="24" y="0"/>
                    </a:lnTo>
                    <a:lnTo>
                      <a:pt x="60" y="12"/>
                    </a:lnTo>
                    <a:lnTo>
                      <a:pt x="72" y="24"/>
                    </a:lnTo>
                    <a:lnTo>
                      <a:pt x="84" y="36"/>
                    </a:lnTo>
                    <a:lnTo>
                      <a:pt x="96" y="60"/>
                    </a:lnTo>
                    <a:lnTo>
                      <a:pt x="108" y="84"/>
                    </a:lnTo>
                    <a:lnTo>
                      <a:pt x="108" y="96"/>
                    </a:lnTo>
                    <a:lnTo>
                      <a:pt x="108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5" name="Freeform 160"/>
              <p:cNvSpPr>
                <a:spLocks/>
              </p:cNvSpPr>
              <p:nvPr/>
            </p:nvSpPr>
            <p:spPr bwMode="auto">
              <a:xfrm>
                <a:off x="2593" y="3385"/>
                <a:ext cx="48" cy="109"/>
              </a:xfrm>
              <a:custGeom>
                <a:avLst/>
                <a:gdLst>
                  <a:gd name="T0" fmla="*/ 48 w 48"/>
                  <a:gd name="T1" fmla="*/ 0 h 109"/>
                  <a:gd name="T2" fmla="*/ 48 w 48"/>
                  <a:gd name="T3" fmla="*/ 24 h 109"/>
                  <a:gd name="T4" fmla="*/ 48 w 48"/>
                  <a:gd name="T5" fmla="*/ 61 h 109"/>
                  <a:gd name="T6" fmla="*/ 36 w 48"/>
                  <a:gd name="T7" fmla="*/ 85 h 109"/>
                  <a:gd name="T8" fmla="*/ 36 w 48"/>
                  <a:gd name="T9" fmla="*/ 97 h 109"/>
                  <a:gd name="T10" fmla="*/ 12 w 48"/>
                  <a:gd name="T11" fmla="*/ 109 h 109"/>
                  <a:gd name="T12" fmla="*/ 0 w 48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09">
                    <a:moveTo>
                      <a:pt x="48" y="0"/>
                    </a:moveTo>
                    <a:lnTo>
                      <a:pt x="48" y="24"/>
                    </a:lnTo>
                    <a:lnTo>
                      <a:pt x="48" y="61"/>
                    </a:lnTo>
                    <a:lnTo>
                      <a:pt x="36" y="85"/>
                    </a:lnTo>
                    <a:lnTo>
                      <a:pt x="36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6" name="Freeform 161"/>
              <p:cNvSpPr>
                <a:spLocks/>
              </p:cNvSpPr>
              <p:nvPr/>
            </p:nvSpPr>
            <p:spPr bwMode="auto">
              <a:xfrm>
                <a:off x="2666" y="3277"/>
                <a:ext cx="96" cy="108"/>
              </a:xfrm>
              <a:custGeom>
                <a:avLst/>
                <a:gdLst>
                  <a:gd name="T0" fmla="*/ 0 w 96"/>
                  <a:gd name="T1" fmla="*/ 108 h 108"/>
                  <a:gd name="T2" fmla="*/ 0 w 96"/>
                  <a:gd name="T3" fmla="*/ 96 h 108"/>
                  <a:gd name="T4" fmla="*/ 0 w 96"/>
                  <a:gd name="T5" fmla="*/ 84 h 108"/>
                  <a:gd name="T6" fmla="*/ 12 w 96"/>
                  <a:gd name="T7" fmla="*/ 60 h 108"/>
                  <a:gd name="T8" fmla="*/ 24 w 96"/>
                  <a:gd name="T9" fmla="*/ 36 h 108"/>
                  <a:gd name="T10" fmla="*/ 36 w 96"/>
                  <a:gd name="T11" fmla="*/ 24 h 108"/>
                  <a:gd name="T12" fmla="*/ 48 w 96"/>
                  <a:gd name="T13" fmla="*/ 12 h 108"/>
                  <a:gd name="T14" fmla="*/ 84 w 96"/>
                  <a:gd name="T15" fmla="*/ 0 h 108"/>
                  <a:gd name="T16" fmla="*/ 96 w 96"/>
                  <a:gd name="T17" fmla="*/ 0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6" h="108">
                    <a:moveTo>
                      <a:pt x="0" y="108"/>
                    </a:moveTo>
                    <a:lnTo>
                      <a:pt x="0" y="96"/>
                    </a:lnTo>
                    <a:lnTo>
                      <a:pt x="0" y="84"/>
                    </a:lnTo>
                    <a:lnTo>
                      <a:pt x="12" y="60"/>
                    </a:lnTo>
                    <a:lnTo>
                      <a:pt x="24" y="36"/>
                    </a:lnTo>
                    <a:lnTo>
                      <a:pt x="36" y="24"/>
                    </a:lnTo>
                    <a:lnTo>
                      <a:pt x="48" y="12"/>
                    </a:lnTo>
                    <a:lnTo>
                      <a:pt x="84" y="0"/>
                    </a:lnTo>
                    <a:lnTo>
                      <a:pt x="96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7" name="Freeform 162"/>
              <p:cNvSpPr>
                <a:spLocks/>
              </p:cNvSpPr>
              <p:nvPr/>
            </p:nvSpPr>
            <p:spPr bwMode="auto">
              <a:xfrm>
                <a:off x="2666" y="3385"/>
                <a:ext cx="48" cy="109"/>
              </a:xfrm>
              <a:custGeom>
                <a:avLst/>
                <a:gdLst>
                  <a:gd name="T0" fmla="*/ 48 w 48"/>
                  <a:gd name="T1" fmla="*/ 109 h 109"/>
                  <a:gd name="T2" fmla="*/ 36 w 48"/>
                  <a:gd name="T3" fmla="*/ 109 h 109"/>
                  <a:gd name="T4" fmla="*/ 24 w 48"/>
                  <a:gd name="T5" fmla="*/ 97 h 109"/>
                  <a:gd name="T6" fmla="*/ 12 w 48"/>
                  <a:gd name="T7" fmla="*/ 85 h 109"/>
                  <a:gd name="T8" fmla="*/ 12 w 48"/>
                  <a:gd name="T9" fmla="*/ 73 h 109"/>
                  <a:gd name="T10" fmla="*/ 0 w 48"/>
                  <a:gd name="T11" fmla="*/ 24 h 109"/>
                  <a:gd name="T12" fmla="*/ 0 w 48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09">
                    <a:moveTo>
                      <a:pt x="48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8" name="Freeform 163"/>
              <p:cNvSpPr>
                <a:spLocks/>
              </p:cNvSpPr>
              <p:nvPr/>
            </p:nvSpPr>
            <p:spPr bwMode="auto">
              <a:xfrm>
                <a:off x="2641" y="3277"/>
                <a:ext cx="109" cy="108"/>
              </a:xfrm>
              <a:custGeom>
                <a:avLst/>
                <a:gdLst>
                  <a:gd name="T0" fmla="*/ 0 w 109"/>
                  <a:gd name="T1" fmla="*/ 0 h 108"/>
                  <a:gd name="T2" fmla="*/ 25 w 109"/>
                  <a:gd name="T3" fmla="*/ 0 h 108"/>
                  <a:gd name="T4" fmla="*/ 61 w 109"/>
                  <a:gd name="T5" fmla="*/ 12 h 108"/>
                  <a:gd name="T6" fmla="*/ 73 w 109"/>
                  <a:gd name="T7" fmla="*/ 24 h 108"/>
                  <a:gd name="T8" fmla="*/ 85 w 109"/>
                  <a:gd name="T9" fmla="*/ 36 h 108"/>
                  <a:gd name="T10" fmla="*/ 97 w 109"/>
                  <a:gd name="T11" fmla="*/ 60 h 108"/>
                  <a:gd name="T12" fmla="*/ 109 w 109"/>
                  <a:gd name="T13" fmla="*/ 84 h 108"/>
                  <a:gd name="T14" fmla="*/ 109 w 109"/>
                  <a:gd name="T15" fmla="*/ 96 h 108"/>
                  <a:gd name="T16" fmla="*/ 109 w 109"/>
                  <a:gd name="T17" fmla="*/ 108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9" h="108">
                    <a:moveTo>
                      <a:pt x="0" y="0"/>
                    </a:moveTo>
                    <a:lnTo>
                      <a:pt x="25" y="0"/>
                    </a:lnTo>
                    <a:lnTo>
                      <a:pt x="61" y="12"/>
                    </a:lnTo>
                    <a:lnTo>
                      <a:pt x="73" y="24"/>
                    </a:lnTo>
                    <a:lnTo>
                      <a:pt x="85" y="36"/>
                    </a:lnTo>
                    <a:lnTo>
                      <a:pt x="97" y="60"/>
                    </a:lnTo>
                    <a:lnTo>
                      <a:pt x="109" y="84"/>
                    </a:lnTo>
                    <a:lnTo>
                      <a:pt x="109" y="96"/>
                    </a:lnTo>
                    <a:lnTo>
                      <a:pt x="109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9" name="Freeform 164"/>
              <p:cNvSpPr>
                <a:spLocks/>
              </p:cNvSpPr>
              <p:nvPr/>
            </p:nvSpPr>
            <p:spPr bwMode="auto">
              <a:xfrm>
                <a:off x="2702" y="3385"/>
                <a:ext cx="48" cy="109"/>
              </a:xfrm>
              <a:custGeom>
                <a:avLst/>
                <a:gdLst>
                  <a:gd name="T0" fmla="*/ 48 w 48"/>
                  <a:gd name="T1" fmla="*/ 0 h 109"/>
                  <a:gd name="T2" fmla="*/ 48 w 48"/>
                  <a:gd name="T3" fmla="*/ 24 h 109"/>
                  <a:gd name="T4" fmla="*/ 48 w 48"/>
                  <a:gd name="T5" fmla="*/ 61 h 109"/>
                  <a:gd name="T6" fmla="*/ 36 w 48"/>
                  <a:gd name="T7" fmla="*/ 85 h 109"/>
                  <a:gd name="T8" fmla="*/ 36 w 48"/>
                  <a:gd name="T9" fmla="*/ 97 h 109"/>
                  <a:gd name="T10" fmla="*/ 12 w 48"/>
                  <a:gd name="T11" fmla="*/ 109 h 109"/>
                  <a:gd name="T12" fmla="*/ 0 w 48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09">
                    <a:moveTo>
                      <a:pt x="48" y="0"/>
                    </a:moveTo>
                    <a:lnTo>
                      <a:pt x="48" y="24"/>
                    </a:lnTo>
                    <a:lnTo>
                      <a:pt x="48" y="61"/>
                    </a:lnTo>
                    <a:lnTo>
                      <a:pt x="36" y="85"/>
                    </a:lnTo>
                    <a:lnTo>
                      <a:pt x="36" y="97"/>
                    </a:lnTo>
                    <a:lnTo>
                      <a:pt x="12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0" name="Freeform 165"/>
              <p:cNvSpPr>
                <a:spLocks/>
              </p:cNvSpPr>
              <p:nvPr/>
            </p:nvSpPr>
            <p:spPr bwMode="auto">
              <a:xfrm>
                <a:off x="2774" y="3277"/>
                <a:ext cx="109" cy="108"/>
              </a:xfrm>
              <a:custGeom>
                <a:avLst/>
                <a:gdLst>
                  <a:gd name="T0" fmla="*/ 0 w 109"/>
                  <a:gd name="T1" fmla="*/ 108 h 108"/>
                  <a:gd name="T2" fmla="*/ 0 w 109"/>
                  <a:gd name="T3" fmla="*/ 96 h 108"/>
                  <a:gd name="T4" fmla="*/ 0 w 109"/>
                  <a:gd name="T5" fmla="*/ 84 h 108"/>
                  <a:gd name="T6" fmla="*/ 12 w 109"/>
                  <a:gd name="T7" fmla="*/ 60 h 108"/>
                  <a:gd name="T8" fmla="*/ 24 w 109"/>
                  <a:gd name="T9" fmla="*/ 36 h 108"/>
                  <a:gd name="T10" fmla="*/ 36 w 109"/>
                  <a:gd name="T11" fmla="*/ 24 h 108"/>
                  <a:gd name="T12" fmla="*/ 49 w 109"/>
                  <a:gd name="T13" fmla="*/ 12 h 108"/>
                  <a:gd name="T14" fmla="*/ 85 w 109"/>
                  <a:gd name="T15" fmla="*/ 0 h 108"/>
                  <a:gd name="T16" fmla="*/ 109 w 109"/>
                  <a:gd name="T17" fmla="*/ 0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9" h="108">
                    <a:moveTo>
                      <a:pt x="0" y="108"/>
                    </a:moveTo>
                    <a:lnTo>
                      <a:pt x="0" y="96"/>
                    </a:lnTo>
                    <a:lnTo>
                      <a:pt x="0" y="84"/>
                    </a:lnTo>
                    <a:lnTo>
                      <a:pt x="12" y="60"/>
                    </a:lnTo>
                    <a:lnTo>
                      <a:pt x="24" y="36"/>
                    </a:lnTo>
                    <a:lnTo>
                      <a:pt x="36" y="24"/>
                    </a:lnTo>
                    <a:lnTo>
                      <a:pt x="49" y="12"/>
                    </a:lnTo>
                    <a:lnTo>
                      <a:pt x="85" y="0"/>
                    </a:lnTo>
                    <a:lnTo>
                      <a:pt x="109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1" name="Freeform 166"/>
              <p:cNvSpPr>
                <a:spLocks/>
              </p:cNvSpPr>
              <p:nvPr/>
            </p:nvSpPr>
            <p:spPr bwMode="auto">
              <a:xfrm>
                <a:off x="2774" y="3385"/>
                <a:ext cx="49" cy="109"/>
              </a:xfrm>
              <a:custGeom>
                <a:avLst/>
                <a:gdLst>
                  <a:gd name="T0" fmla="*/ 49 w 49"/>
                  <a:gd name="T1" fmla="*/ 109 h 109"/>
                  <a:gd name="T2" fmla="*/ 36 w 49"/>
                  <a:gd name="T3" fmla="*/ 109 h 109"/>
                  <a:gd name="T4" fmla="*/ 24 w 49"/>
                  <a:gd name="T5" fmla="*/ 97 h 109"/>
                  <a:gd name="T6" fmla="*/ 12 w 49"/>
                  <a:gd name="T7" fmla="*/ 85 h 109"/>
                  <a:gd name="T8" fmla="*/ 12 w 49"/>
                  <a:gd name="T9" fmla="*/ 73 h 109"/>
                  <a:gd name="T10" fmla="*/ 0 w 49"/>
                  <a:gd name="T11" fmla="*/ 24 h 109"/>
                  <a:gd name="T12" fmla="*/ 0 w 49"/>
                  <a:gd name="T13" fmla="*/ 0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109">
                    <a:moveTo>
                      <a:pt x="49" y="109"/>
                    </a:moveTo>
                    <a:lnTo>
                      <a:pt x="36" y="109"/>
                    </a:lnTo>
                    <a:lnTo>
                      <a:pt x="24" y="97"/>
                    </a:lnTo>
                    <a:lnTo>
                      <a:pt x="12" y="85"/>
                    </a:lnTo>
                    <a:lnTo>
                      <a:pt x="12" y="73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2" name="Freeform 167"/>
              <p:cNvSpPr>
                <a:spLocks/>
              </p:cNvSpPr>
              <p:nvPr/>
            </p:nvSpPr>
            <p:spPr bwMode="auto">
              <a:xfrm>
                <a:off x="2762" y="3277"/>
                <a:ext cx="97" cy="108"/>
              </a:xfrm>
              <a:custGeom>
                <a:avLst/>
                <a:gdLst>
                  <a:gd name="T0" fmla="*/ 0 w 97"/>
                  <a:gd name="T1" fmla="*/ 0 h 108"/>
                  <a:gd name="T2" fmla="*/ 24 w 97"/>
                  <a:gd name="T3" fmla="*/ 0 h 108"/>
                  <a:gd name="T4" fmla="*/ 61 w 97"/>
                  <a:gd name="T5" fmla="*/ 12 h 108"/>
                  <a:gd name="T6" fmla="*/ 73 w 97"/>
                  <a:gd name="T7" fmla="*/ 24 h 108"/>
                  <a:gd name="T8" fmla="*/ 85 w 97"/>
                  <a:gd name="T9" fmla="*/ 48 h 108"/>
                  <a:gd name="T10" fmla="*/ 97 w 97"/>
                  <a:gd name="T11" fmla="*/ 84 h 108"/>
                  <a:gd name="T12" fmla="*/ 97 w 97"/>
                  <a:gd name="T13" fmla="*/ 108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0"/>
                    </a:moveTo>
                    <a:lnTo>
                      <a:pt x="24" y="0"/>
                    </a:lnTo>
                    <a:lnTo>
                      <a:pt x="61" y="12"/>
                    </a:lnTo>
                    <a:lnTo>
                      <a:pt x="73" y="24"/>
                    </a:lnTo>
                    <a:lnTo>
                      <a:pt x="85" y="48"/>
                    </a:lnTo>
                    <a:lnTo>
                      <a:pt x="97" y="84"/>
                    </a:lnTo>
                    <a:lnTo>
                      <a:pt x="97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3" name="Freeform 168"/>
              <p:cNvSpPr>
                <a:spLocks/>
              </p:cNvSpPr>
              <p:nvPr/>
            </p:nvSpPr>
            <p:spPr bwMode="auto">
              <a:xfrm>
                <a:off x="2810" y="3385"/>
                <a:ext cx="49" cy="109"/>
              </a:xfrm>
              <a:custGeom>
                <a:avLst/>
                <a:gdLst>
                  <a:gd name="T0" fmla="*/ 49 w 49"/>
                  <a:gd name="T1" fmla="*/ 0 h 109"/>
                  <a:gd name="T2" fmla="*/ 49 w 49"/>
                  <a:gd name="T3" fmla="*/ 24 h 109"/>
                  <a:gd name="T4" fmla="*/ 49 w 49"/>
                  <a:gd name="T5" fmla="*/ 61 h 109"/>
                  <a:gd name="T6" fmla="*/ 37 w 49"/>
                  <a:gd name="T7" fmla="*/ 85 h 109"/>
                  <a:gd name="T8" fmla="*/ 37 w 49"/>
                  <a:gd name="T9" fmla="*/ 97 h 109"/>
                  <a:gd name="T10" fmla="*/ 13 w 49"/>
                  <a:gd name="T11" fmla="*/ 109 h 109"/>
                  <a:gd name="T12" fmla="*/ 0 w 49"/>
                  <a:gd name="T13" fmla="*/ 109 h 1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9" h="109">
                    <a:moveTo>
                      <a:pt x="49" y="0"/>
                    </a:moveTo>
                    <a:lnTo>
                      <a:pt x="49" y="24"/>
                    </a:lnTo>
                    <a:lnTo>
                      <a:pt x="49" y="61"/>
                    </a:lnTo>
                    <a:lnTo>
                      <a:pt x="37" y="85"/>
                    </a:lnTo>
                    <a:lnTo>
                      <a:pt x="37" y="97"/>
                    </a:lnTo>
                    <a:lnTo>
                      <a:pt x="13" y="109"/>
                    </a:lnTo>
                    <a:lnTo>
                      <a:pt x="0" y="10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4" name="Freeform 169"/>
              <p:cNvSpPr>
                <a:spLocks/>
              </p:cNvSpPr>
              <p:nvPr/>
            </p:nvSpPr>
            <p:spPr bwMode="auto">
              <a:xfrm>
                <a:off x="2871" y="3277"/>
                <a:ext cx="97" cy="108"/>
              </a:xfrm>
              <a:custGeom>
                <a:avLst/>
                <a:gdLst>
                  <a:gd name="T0" fmla="*/ 0 w 97"/>
                  <a:gd name="T1" fmla="*/ 0 h 108"/>
                  <a:gd name="T2" fmla="*/ 24 w 97"/>
                  <a:gd name="T3" fmla="*/ 0 h 108"/>
                  <a:gd name="T4" fmla="*/ 60 w 97"/>
                  <a:gd name="T5" fmla="*/ 12 h 108"/>
                  <a:gd name="T6" fmla="*/ 72 w 97"/>
                  <a:gd name="T7" fmla="*/ 24 h 108"/>
                  <a:gd name="T8" fmla="*/ 84 w 97"/>
                  <a:gd name="T9" fmla="*/ 48 h 108"/>
                  <a:gd name="T10" fmla="*/ 97 w 97"/>
                  <a:gd name="T11" fmla="*/ 84 h 108"/>
                  <a:gd name="T12" fmla="*/ 97 w 97"/>
                  <a:gd name="T13" fmla="*/ 108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7" h="108">
                    <a:moveTo>
                      <a:pt x="0" y="0"/>
                    </a:moveTo>
                    <a:lnTo>
                      <a:pt x="24" y="0"/>
                    </a:lnTo>
                    <a:lnTo>
                      <a:pt x="60" y="12"/>
                    </a:lnTo>
                    <a:lnTo>
                      <a:pt x="72" y="24"/>
                    </a:lnTo>
                    <a:lnTo>
                      <a:pt x="84" y="48"/>
                    </a:lnTo>
                    <a:lnTo>
                      <a:pt x="97" y="84"/>
                    </a:lnTo>
                    <a:lnTo>
                      <a:pt x="97" y="10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5" name="Freeform 170"/>
              <p:cNvSpPr>
                <a:spLocks/>
              </p:cNvSpPr>
              <p:nvPr/>
            </p:nvSpPr>
            <p:spPr bwMode="auto">
              <a:xfrm>
                <a:off x="2110" y="3277"/>
                <a:ext cx="109" cy="108"/>
              </a:xfrm>
              <a:custGeom>
                <a:avLst/>
                <a:gdLst>
                  <a:gd name="T0" fmla="*/ 0 w 109"/>
                  <a:gd name="T1" fmla="*/ 108 h 108"/>
                  <a:gd name="T2" fmla="*/ 0 w 109"/>
                  <a:gd name="T3" fmla="*/ 96 h 108"/>
                  <a:gd name="T4" fmla="*/ 0 w 109"/>
                  <a:gd name="T5" fmla="*/ 84 h 108"/>
                  <a:gd name="T6" fmla="*/ 12 w 109"/>
                  <a:gd name="T7" fmla="*/ 60 h 108"/>
                  <a:gd name="T8" fmla="*/ 24 w 109"/>
                  <a:gd name="T9" fmla="*/ 36 h 108"/>
                  <a:gd name="T10" fmla="*/ 36 w 109"/>
                  <a:gd name="T11" fmla="*/ 24 h 108"/>
                  <a:gd name="T12" fmla="*/ 48 w 109"/>
                  <a:gd name="T13" fmla="*/ 12 h 108"/>
                  <a:gd name="T14" fmla="*/ 84 w 109"/>
                  <a:gd name="T15" fmla="*/ 0 h 108"/>
                  <a:gd name="T16" fmla="*/ 109 w 109"/>
                  <a:gd name="T17" fmla="*/ 0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9" h="108">
                    <a:moveTo>
                      <a:pt x="0" y="108"/>
                    </a:moveTo>
                    <a:lnTo>
                      <a:pt x="0" y="96"/>
                    </a:lnTo>
                    <a:lnTo>
                      <a:pt x="0" y="84"/>
                    </a:lnTo>
                    <a:lnTo>
                      <a:pt x="12" y="60"/>
                    </a:lnTo>
                    <a:lnTo>
                      <a:pt x="24" y="36"/>
                    </a:lnTo>
                    <a:lnTo>
                      <a:pt x="36" y="24"/>
                    </a:lnTo>
                    <a:lnTo>
                      <a:pt x="48" y="12"/>
                    </a:lnTo>
                    <a:lnTo>
                      <a:pt x="84" y="0"/>
                    </a:lnTo>
                    <a:lnTo>
                      <a:pt x="109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6" name="Line 171"/>
              <p:cNvSpPr>
                <a:spLocks noChangeShapeType="1"/>
              </p:cNvSpPr>
              <p:nvPr/>
            </p:nvSpPr>
            <p:spPr bwMode="auto">
              <a:xfrm>
                <a:off x="2968" y="3385"/>
                <a:ext cx="84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7" name="Line 172"/>
              <p:cNvSpPr>
                <a:spLocks noChangeShapeType="1"/>
              </p:cNvSpPr>
              <p:nvPr/>
            </p:nvSpPr>
            <p:spPr bwMode="auto">
              <a:xfrm>
                <a:off x="2025" y="3385"/>
                <a:ext cx="85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78" name="Line 173"/>
            <p:cNvSpPr>
              <a:spLocks noChangeShapeType="1"/>
            </p:cNvSpPr>
            <p:nvPr/>
          </p:nvSpPr>
          <p:spPr bwMode="auto">
            <a:xfrm flipV="1">
              <a:off x="7885513" y="3370118"/>
              <a:ext cx="769938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9" name="Line 174"/>
            <p:cNvSpPr>
              <a:spLocks noChangeShapeType="1"/>
            </p:cNvSpPr>
            <p:nvPr/>
          </p:nvSpPr>
          <p:spPr bwMode="auto">
            <a:xfrm flipV="1">
              <a:off x="7885513" y="3441556"/>
              <a:ext cx="769938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" name="Line 175"/>
            <p:cNvSpPr>
              <a:spLocks noChangeShapeType="1"/>
            </p:cNvSpPr>
            <p:nvPr/>
          </p:nvSpPr>
          <p:spPr bwMode="auto">
            <a:xfrm>
              <a:off x="7669613" y="3657456"/>
              <a:ext cx="0" cy="8636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1" name="Line 176"/>
            <p:cNvSpPr>
              <a:spLocks noChangeShapeType="1"/>
            </p:cNvSpPr>
            <p:nvPr/>
          </p:nvSpPr>
          <p:spPr bwMode="auto">
            <a:xfrm>
              <a:off x="8822138" y="3657456"/>
              <a:ext cx="0" cy="8636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2" name="Group 177"/>
            <p:cNvGrpSpPr>
              <a:grpSpLocks/>
            </p:cNvGrpSpPr>
            <p:nvPr/>
          </p:nvGrpSpPr>
          <p:grpSpPr bwMode="auto">
            <a:xfrm>
              <a:off x="7741051" y="4449618"/>
              <a:ext cx="1079500" cy="144463"/>
              <a:chOff x="2493" y="1935"/>
              <a:chExt cx="200" cy="77"/>
            </a:xfrm>
          </p:grpSpPr>
          <p:sp>
            <p:nvSpPr>
              <p:cNvPr id="183" name="Freeform 178"/>
              <p:cNvSpPr>
                <a:spLocks/>
              </p:cNvSpPr>
              <p:nvPr/>
            </p:nvSpPr>
            <p:spPr bwMode="auto">
              <a:xfrm>
                <a:off x="2576" y="1935"/>
                <a:ext cx="117" cy="77"/>
              </a:xfrm>
              <a:custGeom>
                <a:avLst/>
                <a:gdLst>
                  <a:gd name="T0" fmla="*/ 117 w 117"/>
                  <a:gd name="T1" fmla="*/ 42 h 77"/>
                  <a:gd name="T2" fmla="*/ 0 w 117"/>
                  <a:gd name="T3" fmla="*/ 77 h 77"/>
                  <a:gd name="T4" fmla="*/ 41 w 117"/>
                  <a:gd name="T5" fmla="*/ 42 h 77"/>
                  <a:gd name="T6" fmla="*/ 0 w 117"/>
                  <a:gd name="T7" fmla="*/ 0 h 77"/>
                  <a:gd name="T8" fmla="*/ 117 w 117"/>
                  <a:gd name="T9" fmla="*/ 42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7" h="77">
                    <a:moveTo>
                      <a:pt x="117" y="42"/>
                    </a:moveTo>
                    <a:lnTo>
                      <a:pt x="0" y="77"/>
                    </a:lnTo>
                    <a:lnTo>
                      <a:pt x="41" y="42"/>
                    </a:lnTo>
                    <a:lnTo>
                      <a:pt x="0" y="0"/>
                    </a:lnTo>
                    <a:lnTo>
                      <a:pt x="117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" name="Line 179"/>
              <p:cNvSpPr>
                <a:spLocks noChangeShapeType="1"/>
              </p:cNvSpPr>
              <p:nvPr/>
            </p:nvSpPr>
            <p:spPr bwMode="auto">
              <a:xfrm>
                <a:off x="2493" y="1977"/>
                <a:ext cx="124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86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6323363" y="2161999"/>
              <a:ext cx="423823" cy="4064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87" name="Rectangle 186"/>
            <p:cNvSpPr/>
            <p:nvPr/>
          </p:nvSpPr>
          <p:spPr>
            <a:xfrm>
              <a:off x="6747187" y="2198921"/>
              <a:ext cx="252630" cy="4266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89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6316381" y="3773315"/>
              <a:ext cx="423823" cy="4064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90" name="Rectangle 189"/>
            <p:cNvSpPr/>
            <p:nvPr/>
          </p:nvSpPr>
          <p:spPr>
            <a:xfrm>
              <a:off x="6740205" y="3810237"/>
              <a:ext cx="252630" cy="4266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1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8810548" y="2140880"/>
              <a:ext cx="423823" cy="4064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92" name="Rectangle 191"/>
            <p:cNvSpPr/>
            <p:nvPr/>
          </p:nvSpPr>
          <p:spPr>
            <a:xfrm>
              <a:off x="9234372" y="2177802"/>
              <a:ext cx="252630" cy="4266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3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8836261" y="3762521"/>
              <a:ext cx="423823" cy="4064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94" name="Rectangle 193"/>
            <p:cNvSpPr/>
            <p:nvPr/>
          </p:nvSpPr>
          <p:spPr>
            <a:xfrm>
              <a:off x="9260085" y="3799443"/>
              <a:ext cx="252630" cy="4266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18358037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38912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Single phase inverter: PWM control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3500073" y="4549203"/>
            <a:ext cx="7342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284173" y="2317178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3571511" y="2534666"/>
            <a:ext cx="69103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417523" y="1669478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3712798" y="4263453"/>
            <a:ext cx="431800" cy="158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3715973" y="1742503"/>
            <a:ext cx="0" cy="3384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3787411" y="4549203"/>
            <a:ext cx="36036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4290648" y="4549203"/>
            <a:ext cx="2889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37159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41477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45795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50113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431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8749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63067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67385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71703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76021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6" name="Rectangle 21"/>
          <p:cNvSpPr>
            <a:spLocks noChangeArrowheads="1"/>
          </p:cNvSpPr>
          <p:nvPr/>
        </p:nvSpPr>
        <p:spPr bwMode="auto">
          <a:xfrm>
            <a:off x="80339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>
            <a:off x="4795473" y="4549203"/>
            <a:ext cx="2159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Line 23"/>
          <p:cNvSpPr>
            <a:spLocks noChangeShapeType="1"/>
          </p:cNvSpPr>
          <p:nvPr/>
        </p:nvSpPr>
        <p:spPr bwMode="auto">
          <a:xfrm>
            <a:off x="5300298" y="4549203"/>
            <a:ext cx="14128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>
            <a:off x="5803536" y="4549203"/>
            <a:ext cx="6826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Line 25"/>
          <p:cNvSpPr>
            <a:spLocks noChangeShapeType="1"/>
          </p:cNvSpPr>
          <p:nvPr/>
        </p:nvSpPr>
        <p:spPr bwMode="auto">
          <a:xfrm>
            <a:off x="6235336" y="4549203"/>
            <a:ext cx="6667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84657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88975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93293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4" name="Rectangle 29"/>
          <p:cNvSpPr>
            <a:spLocks noChangeArrowheads="1"/>
          </p:cNvSpPr>
          <p:nvPr/>
        </p:nvSpPr>
        <p:spPr bwMode="auto">
          <a:xfrm>
            <a:off x="97611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10192973" y="4622228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>
            <a:off x="7532323" y="4549203"/>
            <a:ext cx="682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7" name="Line 32"/>
          <p:cNvSpPr>
            <a:spLocks noChangeShapeType="1"/>
          </p:cNvSpPr>
          <p:nvPr/>
        </p:nvSpPr>
        <p:spPr bwMode="auto">
          <a:xfrm>
            <a:off x="7964123" y="4549203"/>
            <a:ext cx="6667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Line 33"/>
          <p:cNvSpPr>
            <a:spLocks noChangeShapeType="1"/>
          </p:cNvSpPr>
          <p:nvPr/>
        </p:nvSpPr>
        <p:spPr bwMode="auto">
          <a:xfrm>
            <a:off x="8322898" y="4549203"/>
            <a:ext cx="14128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Line 34"/>
          <p:cNvSpPr>
            <a:spLocks noChangeShapeType="1"/>
          </p:cNvSpPr>
          <p:nvPr/>
        </p:nvSpPr>
        <p:spPr bwMode="auto">
          <a:xfrm>
            <a:off x="8681673" y="4549203"/>
            <a:ext cx="2159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Line 35"/>
          <p:cNvSpPr>
            <a:spLocks noChangeShapeType="1"/>
          </p:cNvSpPr>
          <p:nvPr/>
        </p:nvSpPr>
        <p:spPr bwMode="auto">
          <a:xfrm>
            <a:off x="9042036" y="4549203"/>
            <a:ext cx="2889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Line 36"/>
          <p:cNvSpPr>
            <a:spLocks noChangeShapeType="1"/>
          </p:cNvSpPr>
          <p:nvPr/>
        </p:nvSpPr>
        <p:spPr bwMode="auto">
          <a:xfrm flipV="1">
            <a:off x="37159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Line 37"/>
          <p:cNvSpPr>
            <a:spLocks noChangeShapeType="1"/>
          </p:cNvSpPr>
          <p:nvPr/>
        </p:nvSpPr>
        <p:spPr bwMode="auto">
          <a:xfrm>
            <a:off x="3715973" y="2534666"/>
            <a:ext cx="7143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Line 38"/>
          <p:cNvSpPr>
            <a:spLocks noChangeShapeType="1"/>
          </p:cNvSpPr>
          <p:nvPr/>
        </p:nvSpPr>
        <p:spPr bwMode="auto">
          <a:xfrm>
            <a:off x="3787411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Line 39"/>
          <p:cNvSpPr>
            <a:spLocks noChangeShapeType="1"/>
          </p:cNvSpPr>
          <p:nvPr/>
        </p:nvSpPr>
        <p:spPr bwMode="auto">
          <a:xfrm flipV="1">
            <a:off x="4146186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Line 40"/>
          <p:cNvSpPr>
            <a:spLocks noChangeShapeType="1"/>
          </p:cNvSpPr>
          <p:nvPr/>
        </p:nvSpPr>
        <p:spPr bwMode="auto">
          <a:xfrm>
            <a:off x="4146186" y="2534666"/>
            <a:ext cx="14446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Line 41"/>
          <p:cNvSpPr>
            <a:spLocks noChangeShapeType="1"/>
          </p:cNvSpPr>
          <p:nvPr/>
        </p:nvSpPr>
        <p:spPr bwMode="auto">
          <a:xfrm>
            <a:off x="4290648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" name="Line 42"/>
          <p:cNvSpPr>
            <a:spLocks noChangeShapeType="1"/>
          </p:cNvSpPr>
          <p:nvPr/>
        </p:nvSpPr>
        <p:spPr bwMode="auto">
          <a:xfrm flipV="1">
            <a:off x="4581161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>
            <a:off x="4579573" y="2534666"/>
            <a:ext cx="2159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Line 44"/>
          <p:cNvSpPr>
            <a:spLocks noChangeShapeType="1"/>
          </p:cNvSpPr>
          <p:nvPr/>
        </p:nvSpPr>
        <p:spPr bwMode="auto">
          <a:xfrm>
            <a:off x="47954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Line 45"/>
          <p:cNvSpPr>
            <a:spLocks noChangeShapeType="1"/>
          </p:cNvSpPr>
          <p:nvPr/>
        </p:nvSpPr>
        <p:spPr bwMode="auto">
          <a:xfrm flipV="1">
            <a:off x="50113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Line 46"/>
          <p:cNvSpPr>
            <a:spLocks noChangeShapeType="1"/>
          </p:cNvSpPr>
          <p:nvPr/>
        </p:nvSpPr>
        <p:spPr bwMode="auto">
          <a:xfrm>
            <a:off x="5009786" y="2534666"/>
            <a:ext cx="29051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Line 47"/>
          <p:cNvSpPr>
            <a:spLocks noChangeShapeType="1"/>
          </p:cNvSpPr>
          <p:nvPr/>
        </p:nvSpPr>
        <p:spPr bwMode="auto">
          <a:xfrm>
            <a:off x="5300298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Line 48"/>
          <p:cNvSpPr>
            <a:spLocks noChangeShapeType="1"/>
          </p:cNvSpPr>
          <p:nvPr/>
        </p:nvSpPr>
        <p:spPr bwMode="auto">
          <a:xfrm flipV="1">
            <a:off x="5441586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Line 49"/>
          <p:cNvSpPr>
            <a:spLocks noChangeShapeType="1"/>
          </p:cNvSpPr>
          <p:nvPr/>
        </p:nvSpPr>
        <p:spPr bwMode="auto">
          <a:xfrm>
            <a:off x="5439998" y="2534666"/>
            <a:ext cx="36353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Line 50"/>
          <p:cNvSpPr>
            <a:spLocks noChangeShapeType="1"/>
          </p:cNvSpPr>
          <p:nvPr/>
        </p:nvSpPr>
        <p:spPr bwMode="auto">
          <a:xfrm>
            <a:off x="5803536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Line 51"/>
          <p:cNvSpPr>
            <a:spLocks noChangeShapeType="1"/>
          </p:cNvSpPr>
          <p:nvPr/>
        </p:nvSpPr>
        <p:spPr bwMode="auto">
          <a:xfrm flipV="1">
            <a:off x="5871798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7" name="Line 52"/>
          <p:cNvSpPr>
            <a:spLocks noChangeShapeType="1"/>
          </p:cNvSpPr>
          <p:nvPr/>
        </p:nvSpPr>
        <p:spPr bwMode="auto">
          <a:xfrm>
            <a:off x="5870211" y="2534666"/>
            <a:ext cx="3651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" name="Line 53"/>
          <p:cNvSpPr>
            <a:spLocks noChangeShapeType="1"/>
          </p:cNvSpPr>
          <p:nvPr/>
        </p:nvSpPr>
        <p:spPr bwMode="auto">
          <a:xfrm>
            <a:off x="6235336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" name="Line 54"/>
          <p:cNvSpPr>
            <a:spLocks noChangeShapeType="1"/>
          </p:cNvSpPr>
          <p:nvPr/>
        </p:nvSpPr>
        <p:spPr bwMode="auto">
          <a:xfrm flipV="1">
            <a:off x="6302011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0" name="Line 55"/>
          <p:cNvSpPr>
            <a:spLocks noChangeShapeType="1"/>
          </p:cNvSpPr>
          <p:nvPr/>
        </p:nvSpPr>
        <p:spPr bwMode="auto">
          <a:xfrm>
            <a:off x="6308361" y="2534666"/>
            <a:ext cx="4318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" name="Line 56"/>
          <p:cNvSpPr>
            <a:spLocks noChangeShapeType="1"/>
          </p:cNvSpPr>
          <p:nvPr/>
        </p:nvSpPr>
        <p:spPr bwMode="auto">
          <a:xfrm flipV="1">
            <a:off x="673222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2" name="Line 57"/>
          <p:cNvSpPr>
            <a:spLocks noChangeShapeType="1"/>
          </p:cNvSpPr>
          <p:nvPr/>
        </p:nvSpPr>
        <p:spPr bwMode="auto">
          <a:xfrm>
            <a:off x="6730636" y="2534666"/>
            <a:ext cx="43815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3" name="Line 58"/>
          <p:cNvSpPr>
            <a:spLocks noChangeShapeType="1"/>
          </p:cNvSpPr>
          <p:nvPr/>
        </p:nvSpPr>
        <p:spPr bwMode="auto">
          <a:xfrm flipV="1">
            <a:off x="71703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" name="Line 59"/>
          <p:cNvSpPr>
            <a:spLocks noChangeShapeType="1"/>
          </p:cNvSpPr>
          <p:nvPr/>
        </p:nvSpPr>
        <p:spPr bwMode="auto">
          <a:xfrm>
            <a:off x="7168786" y="2534666"/>
            <a:ext cx="363537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Line 60"/>
          <p:cNvSpPr>
            <a:spLocks noChangeShapeType="1"/>
          </p:cNvSpPr>
          <p:nvPr/>
        </p:nvSpPr>
        <p:spPr bwMode="auto">
          <a:xfrm>
            <a:off x="753232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" name="Line 61"/>
          <p:cNvSpPr>
            <a:spLocks noChangeShapeType="1"/>
          </p:cNvSpPr>
          <p:nvPr/>
        </p:nvSpPr>
        <p:spPr bwMode="auto">
          <a:xfrm flipV="1">
            <a:off x="7600586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7" name="Line 62"/>
          <p:cNvSpPr>
            <a:spLocks noChangeShapeType="1"/>
          </p:cNvSpPr>
          <p:nvPr/>
        </p:nvSpPr>
        <p:spPr bwMode="auto">
          <a:xfrm>
            <a:off x="7598998" y="2534666"/>
            <a:ext cx="3651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8" name="Line 63"/>
          <p:cNvSpPr>
            <a:spLocks noChangeShapeType="1"/>
          </p:cNvSpPr>
          <p:nvPr/>
        </p:nvSpPr>
        <p:spPr bwMode="auto">
          <a:xfrm>
            <a:off x="796412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Line 64"/>
          <p:cNvSpPr>
            <a:spLocks noChangeShapeType="1"/>
          </p:cNvSpPr>
          <p:nvPr/>
        </p:nvSpPr>
        <p:spPr bwMode="auto">
          <a:xfrm flipV="1">
            <a:off x="80339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0" name="Line 65"/>
          <p:cNvSpPr>
            <a:spLocks noChangeShapeType="1"/>
          </p:cNvSpPr>
          <p:nvPr/>
        </p:nvSpPr>
        <p:spPr bwMode="auto">
          <a:xfrm>
            <a:off x="8032386" y="2534666"/>
            <a:ext cx="29051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" name="Line 66"/>
          <p:cNvSpPr>
            <a:spLocks noChangeShapeType="1"/>
          </p:cNvSpPr>
          <p:nvPr/>
        </p:nvSpPr>
        <p:spPr bwMode="auto">
          <a:xfrm>
            <a:off x="8322898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2" name="Line 67"/>
          <p:cNvSpPr>
            <a:spLocks noChangeShapeType="1"/>
          </p:cNvSpPr>
          <p:nvPr/>
        </p:nvSpPr>
        <p:spPr bwMode="auto">
          <a:xfrm flipV="1">
            <a:off x="8464186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3" name="Line 68"/>
          <p:cNvSpPr>
            <a:spLocks noChangeShapeType="1"/>
          </p:cNvSpPr>
          <p:nvPr/>
        </p:nvSpPr>
        <p:spPr bwMode="auto">
          <a:xfrm>
            <a:off x="8465773" y="2534666"/>
            <a:ext cx="2159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4" name="Line 69"/>
          <p:cNvSpPr>
            <a:spLocks noChangeShapeType="1"/>
          </p:cNvSpPr>
          <p:nvPr/>
        </p:nvSpPr>
        <p:spPr bwMode="auto">
          <a:xfrm>
            <a:off x="86816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5" name="Line 70"/>
          <p:cNvSpPr>
            <a:spLocks noChangeShapeType="1"/>
          </p:cNvSpPr>
          <p:nvPr/>
        </p:nvSpPr>
        <p:spPr bwMode="auto">
          <a:xfrm flipV="1">
            <a:off x="88975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6" name="Line 71"/>
          <p:cNvSpPr>
            <a:spLocks noChangeShapeType="1"/>
          </p:cNvSpPr>
          <p:nvPr/>
        </p:nvSpPr>
        <p:spPr bwMode="auto">
          <a:xfrm>
            <a:off x="8897573" y="2534666"/>
            <a:ext cx="1444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" name="Line 72"/>
          <p:cNvSpPr>
            <a:spLocks noChangeShapeType="1"/>
          </p:cNvSpPr>
          <p:nvPr/>
        </p:nvSpPr>
        <p:spPr bwMode="auto">
          <a:xfrm>
            <a:off x="9042036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" name="Line 73"/>
          <p:cNvSpPr>
            <a:spLocks noChangeShapeType="1"/>
          </p:cNvSpPr>
          <p:nvPr/>
        </p:nvSpPr>
        <p:spPr bwMode="auto">
          <a:xfrm flipV="1">
            <a:off x="93293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Line 74"/>
          <p:cNvSpPr>
            <a:spLocks noChangeShapeType="1"/>
          </p:cNvSpPr>
          <p:nvPr/>
        </p:nvSpPr>
        <p:spPr bwMode="auto">
          <a:xfrm>
            <a:off x="9329373" y="2534666"/>
            <a:ext cx="7143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0" name="Line 75"/>
          <p:cNvSpPr>
            <a:spLocks noChangeShapeType="1"/>
          </p:cNvSpPr>
          <p:nvPr/>
        </p:nvSpPr>
        <p:spPr bwMode="auto">
          <a:xfrm>
            <a:off x="9400811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1" name="Line 76"/>
          <p:cNvSpPr>
            <a:spLocks noChangeShapeType="1"/>
          </p:cNvSpPr>
          <p:nvPr/>
        </p:nvSpPr>
        <p:spPr bwMode="auto">
          <a:xfrm>
            <a:off x="9761173" y="2534666"/>
            <a:ext cx="0" cy="20161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" name="Line 77"/>
          <p:cNvSpPr>
            <a:spLocks noChangeShapeType="1"/>
          </p:cNvSpPr>
          <p:nvPr/>
        </p:nvSpPr>
        <p:spPr bwMode="auto">
          <a:xfrm>
            <a:off x="9761173" y="4549203"/>
            <a:ext cx="43338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3" name="Line 78"/>
          <p:cNvSpPr>
            <a:spLocks noChangeShapeType="1"/>
          </p:cNvSpPr>
          <p:nvPr/>
        </p:nvSpPr>
        <p:spPr bwMode="auto">
          <a:xfrm flipV="1">
            <a:off x="4144598" y="3974528"/>
            <a:ext cx="431800" cy="158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4" name="Line 79"/>
          <p:cNvSpPr>
            <a:spLocks noChangeShapeType="1"/>
          </p:cNvSpPr>
          <p:nvPr/>
        </p:nvSpPr>
        <p:spPr bwMode="auto">
          <a:xfrm>
            <a:off x="4144598" y="3974528"/>
            <a:ext cx="0" cy="28733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5" name="Line 80"/>
          <p:cNvSpPr>
            <a:spLocks noChangeShapeType="1"/>
          </p:cNvSpPr>
          <p:nvPr/>
        </p:nvSpPr>
        <p:spPr bwMode="auto">
          <a:xfrm>
            <a:off x="3712798" y="4263453"/>
            <a:ext cx="0" cy="28733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6" name="Line 81"/>
          <p:cNvSpPr>
            <a:spLocks noChangeShapeType="1"/>
          </p:cNvSpPr>
          <p:nvPr/>
        </p:nvSpPr>
        <p:spPr bwMode="auto">
          <a:xfrm flipV="1">
            <a:off x="4576398" y="3542728"/>
            <a:ext cx="431800" cy="158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7" name="Line 82"/>
          <p:cNvSpPr>
            <a:spLocks noChangeShapeType="1"/>
          </p:cNvSpPr>
          <p:nvPr/>
        </p:nvSpPr>
        <p:spPr bwMode="auto">
          <a:xfrm>
            <a:off x="4576398" y="3542728"/>
            <a:ext cx="0" cy="4318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8" name="Line 83"/>
          <p:cNvSpPr>
            <a:spLocks noChangeShapeType="1"/>
          </p:cNvSpPr>
          <p:nvPr/>
        </p:nvSpPr>
        <p:spPr bwMode="auto">
          <a:xfrm flipV="1">
            <a:off x="5009786" y="3110928"/>
            <a:ext cx="431800" cy="158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9" name="Line 84"/>
          <p:cNvSpPr>
            <a:spLocks noChangeShapeType="1"/>
          </p:cNvSpPr>
          <p:nvPr/>
        </p:nvSpPr>
        <p:spPr bwMode="auto">
          <a:xfrm>
            <a:off x="5009786" y="3110928"/>
            <a:ext cx="0" cy="4318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0" name="Line 85"/>
          <p:cNvSpPr>
            <a:spLocks noChangeShapeType="1"/>
          </p:cNvSpPr>
          <p:nvPr/>
        </p:nvSpPr>
        <p:spPr bwMode="auto">
          <a:xfrm flipV="1">
            <a:off x="5443173" y="2748978"/>
            <a:ext cx="431800" cy="158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1" name="Line 86"/>
          <p:cNvSpPr>
            <a:spLocks noChangeShapeType="1"/>
          </p:cNvSpPr>
          <p:nvPr/>
        </p:nvSpPr>
        <p:spPr bwMode="auto">
          <a:xfrm>
            <a:off x="5441586" y="2750566"/>
            <a:ext cx="1587" cy="360362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2" name="Line 87"/>
          <p:cNvSpPr>
            <a:spLocks noChangeShapeType="1"/>
          </p:cNvSpPr>
          <p:nvPr/>
        </p:nvSpPr>
        <p:spPr bwMode="auto">
          <a:xfrm>
            <a:off x="5873386" y="2606103"/>
            <a:ext cx="0" cy="144463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3" name="Line 88"/>
          <p:cNvSpPr>
            <a:spLocks noChangeShapeType="1"/>
          </p:cNvSpPr>
          <p:nvPr/>
        </p:nvSpPr>
        <p:spPr bwMode="auto">
          <a:xfrm flipV="1">
            <a:off x="5873386" y="2606103"/>
            <a:ext cx="431800" cy="1588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4" name="Line 89"/>
          <p:cNvSpPr>
            <a:spLocks noChangeShapeType="1"/>
          </p:cNvSpPr>
          <p:nvPr/>
        </p:nvSpPr>
        <p:spPr bwMode="auto">
          <a:xfrm flipV="1">
            <a:off x="6305186" y="2534666"/>
            <a:ext cx="431800" cy="158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5" name="Line 90"/>
          <p:cNvSpPr>
            <a:spLocks noChangeShapeType="1"/>
          </p:cNvSpPr>
          <p:nvPr/>
        </p:nvSpPr>
        <p:spPr bwMode="auto">
          <a:xfrm flipV="1">
            <a:off x="6736986" y="2534666"/>
            <a:ext cx="431800" cy="158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6" name="Line 91"/>
          <p:cNvSpPr>
            <a:spLocks noChangeShapeType="1"/>
          </p:cNvSpPr>
          <p:nvPr/>
        </p:nvSpPr>
        <p:spPr bwMode="auto">
          <a:xfrm>
            <a:off x="6305186" y="2534666"/>
            <a:ext cx="0" cy="7143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97" name="Group 92"/>
          <p:cNvGrpSpPr>
            <a:grpSpLocks/>
          </p:cNvGrpSpPr>
          <p:nvPr/>
        </p:nvGrpSpPr>
        <p:grpSpPr bwMode="auto">
          <a:xfrm flipH="1">
            <a:off x="7168786" y="2534666"/>
            <a:ext cx="2592387" cy="2016125"/>
            <a:chOff x="748" y="1661"/>
            <a:chExt cx="1633" cy="1270"/>
          </a:xfrm>
        </p:grpSpPr>
        <p:sp>
          <p:nvSpPr>
            <p:cNvPr id="98" name="Line 93"/>
            <p:cNvSpPr>
              <a:spLocks noChangeShapeType="1"/>
            </p:cNvSpPr>
            <p:nvPr/>
          </p:nvSpPr>
          <p:spPr bwMode="auto">
            <a:xfrm flipV="1">
              <a:off x="748" y="2750"/>
              <a:ext cx="272" cy="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Line 94"/>
            <p:cNvSpPr>
              <a:spLocks noChangeShapeType="1"/>
            </p:cNvSpPr>
            <p:nvPr/>
          </p:nvSpPr>
          <p:spPr bwMode="auto">
            <a:xfrm flipV="1">
              <a:off x="1020" y="2568"/>
              <a:ext cx="272" cy="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95"/>
            <p:cNvSpPr>
              <a:spLocks noChangeShapeType="1"/>
            </p:cNvSpPr>
            <p:nvPr/>
          </p:nvSpPr>
          <p:spPr bwMode="auto">
            <a:xfrm>
              <a:off x="1020" y="2568"/>
              <a:ext cx="0" cy="18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Line 96"/>
            <p:cNvSpPr>
              <a:spLocks noChangeShapeType="1"/>
            </p:cNvSpPr>
            <p:nvPr/>
          </p:nvSpPr>
          <p:spPr bwMode="auto">
            <a:xfrm>
              <a:off x="748" y="2750"/>
              <a:ext cx="0" cy="18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Line 97"/>
            <p:cNvSpPr>
              <a:spLocks noChangeShapeType="1"/>
            </p:cNvSpPr>
            <p:nvPr/>
          </p:nvSpPr>
          <p:spPr bwMode="auto">
            <a:xfrm flipV="1">
              <a:off x="1292" y="2296"/>
              <a:ext cx="272" cy="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Line 98"/>
            <p:cNvSpPr>
              <a:spLocks noChangeShapeType="1"/>
            </p:cNvSpPr>
            <p:nvPr/>
          </p:nvSpPr>
          <p:spPr bwMode="auto">
            <a:xfrm>
              <a:off x="1292" y="2296"/>
              <a:ext cx="0" cy="272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Line 99"/>
            <p:cNvSpPr>
              <a:spLocks noChangeShapeType="1"/>
            </p:cNvSpPr>
            <p:nvPr/>
          </p:nvSpPr>
          <p:spPr bwMode="auto">
            <a:xfrm flipV="1">
              <a:off x="1565" y="2024"/>
              <a:ext cx="272" cy="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Line 100"/>
            <p:cNvSpPr>
              <a:spLocks noChangeShapeType="1"/>
            </p:cNvSpPr>
            <p:nvPr/>
          </p:nvSpPr>
          <p:spPr bwMode="auto">
            <a:xfrm>
              <a:off x="1565" y="2024"/>
              <a:ext cx="0" cy="272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Line 101"/>
            <p:cNvSpPr>
              <a:spLocks noChangeShapeType="1"/>
            </p:cNvSpPr>
            <p:nvPr/>
          </p:nvSpPr>
          <p:spPr bwMode="auto">
            <a:xfrm flipV="1">
              <a:off x="1838" y="1796"/>
              <a:ext cx="272" cy="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Line 102"/>
            <p:cNvSpPr>
              <a:spLocks noChangeShapeType="1"/>
            </p:cNvSpPr>
            <p:nvPr/>
          </p:nvSpPr>
          <p:spPr bwMode="auto">
            <a:xfrm>
              <a:off x="1837" y="1797"/>
              <a:ext cx="1" cy="22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Line 103"/>
            <p:cNvSpPr>
              <a:spLocks noChangeShapeType="1"/>
            </p:cNvSpPr>
            <p:nvPr/>
          </p:nvSpPr>
          <p:spPr bwMode="auto">
            <a:xfrm>
              <a:off x="2109" y="1706"/>
              <a:ext cx="0" cy="9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Line 104"/>
            <p:cNvSpPr>
              <a:spLocks noChangeShapeType="1"/>
            </p:cNvSpPr>
            <p:nvPr/>
          </p:nvSpPr>
          <p:spPr bwMode="auto">
            <a:xfrm flipV="1">
              <a:off x="2109" y="1706"/>
              <a:ext cx="272" cy="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105"/>
            <p:cNvSpPr>
              <a:spLocks noChangeShapeType="1"/>
            </p:cNvSpPr>
            <p:nvPr/>
          </p:nvSpPr>
          <p:spPr bwMode="auto">
            <a:xfrm>
              <a:off x="2381" y="1661"/>
              <a:ext cx="0" cy="45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1" name="Line 106"/>
          <p:cNvSpPr>
            <a:spLocks noChangeShapeType="1"/>
          </p:cNvSpPr>
          <p:nvPr/>
        </p:nvSpPr>
        <p:spPr bwMode="auto">
          <a:xfrm flipV="1">
            <a:off x="9761173" y="4550791"/>
            <a:ext cx="431800" cy="1587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2" name="Rectangle 107"/>
          <p:cNvSpPr>
            <a:spLocks noChangeArrowheads="1"/>
          </p:cNvSpPr>
          <p:nvPr/>
        </p:nvSpPr>
        <p:spPr bwMode="auto">
          <a:xfrm>
            <a:off x="4144598" y="5198491"/>
            <a:ext cx="431800" cy="288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  <a:r>
              <a:rPr lang="fr-FR" altLang="fr-FR" sz="1800" baseline="-250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13" name="Text Box 108"/>
          <p:cNvSpPr txBox="1">
            <a:spLocks noChangeArrowheads="1"/>
          </p:cNvSpPr>
          <p:nvPr/>
        </p:nvSpPr>
        <p:spPr bwMode="auto">
          <a:xfrm>
            <a:off x="3857261" y="1958403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0033CC"/>
                </a:solidFill>
                <a:latin typeface="Times New Roman" panose="02020603050405020304" pitchFamily="18" charset="0"/>
              </a:rPr>
              <a:t>&lt;u&gt;</a:t>
            </a:r>
          </a:p>
        </p:txBody>
      </p:sp>
      <p:cxnSp>
        <p:nvCxnSpPr>
          <p:cNvPr id="114" name="Connecteur droit 1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ZoneTexte 115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Inverters</a:t>
            </a:r>
          </a:p>
          <a:p>
            <a:r>
              <a:rPr lang="en-US" b="1" dirty="0">
                <a:solidFill>
                  <a:srgbClr val="FF0000"/>
                </a:solidFill>
              </a:rPr>
              <a:t>Single phase inverter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Three phase inverter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Three phase motor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321701004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Three phase inverter</a:t>
            </a:r>
          </a:p>
        </p:txBody>
      </p:sp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3713632" y="1907128"/>
            <a:ext cx="4968875" cy="315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4108918" y="1929353"/>
            <a:ext cx="4534541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413844" y="2313528"/>
            <a:ext cx="841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501157" y="2369091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20" name="Group 15"/>
          <p:cNvGrpSpPr>
            <a:grpSpLocks/>
          </p:cNvGrpSpPr>
          <p:nvPr/>
        </p:nvGrpSpPr>
        <p:grpSpPr bwMode="auto">
          <a:xfrm>
            <a:off x="5786907" y="2554828"/>
            <a:ext cx="373062" cy="242888"/>
            <a:chOff x="2417" y="1389"/>
            <a:chExt cx="235" cy="153"/>
          </a:xfrm>
        </p:grpSpPr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H="1">
              <a:off x="2417" y="1389"/>
              <a:ext cx="235" cy="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2534" y="1389"/>
              <a:ext cx="118" cy="15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H="1">
              <a:off x="2417" y="1541"/>
              <a:ext cx="235" cy="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V="1">
              <a:off x="2417" y="1389"/>
              <a:ext cx="117" cy="15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5786907" y="2302416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D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6" name="Rectangle 21"/>
          <p:cNvSpPr>
            <a:spLocks noChangeArrowheads="1"/>
          </p:cNvSpPr>
          <p:nvPr/>
        </p:nvSpPr>
        <p:spPr bwMode="auto">
          <a:xfrm>
            <a:off x="5874219" y="2380203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>
            <a:off x="5348757" y="2181766"/>
            <a:ext cx="623887" cy="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Line 23"/>
          <p:cNvSpPr>
            <a:spLocks noChangeShapeType="1"/>
          </p:cNvSpPr>
          <p:nvPr/>
        </p:nvSpPr>
        <p:spPr bwMode="auto">
          <a:xfrm flipH="1" flipV="1">
            <a:off x="5350344" y="2181766"/>
            <a:ext cx="3176" cy="34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 flipV="1">
            <a:off x="5972644" y="2181766"/>
            <a:ext cx="1588" cy="373062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Line 25"/>
          <p:cNvSpPr>
            <a:spLocks noChangeShapeType="1"/>
          </p:cNvSpPr>
          <p:nvPr/>
        </p:nvSpPr>
        <p:spPr bwMode="auto">
          <a:xfrm flipV="1">
            <a:off x="5348758" y="2872141"/>
            <a:ext cx="0" cy="297049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" name="Line 26"/>
          <p:cNvSpPr>
            <a:spLocks noChangeShapeType="1"/>
          </p:cNvSpPr>
          <p:nvPr/>
        </p:nvSpPr>
        <p:spPr bwMode="auto">
          <a:xfrm flipV="1">
            <a:off x="5972644" y="2796128"/>
            <a:ext cx="1588" cy="373063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5666257" y="3290158"/>
            <a:ext cx="711200" cy="317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6963879" y="2313528"/>
            <a:ext cx="841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4" name="Rectangle 29"/>
          <p:cNvSpPr>
            <a:spLocks noChangeArrowheads="1"/>
          </p:cNvSpPr>
          <p:nvPr/>
        </p:nvSpPr>
        <p:spPr bwMode="auto">
          <a:xfrm>
            <a:off x="7051192" y="2369091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43" name="Group 38"/>
          <p:cNvGrpSpPr>
            <a:grpSpLocks/>
          </p:cNvGrpSpPr>
          <p:nvPr/>
        </p:nvGrpSpPr>
        <p:grpSpPr bwMode="auto">
          <a:xfrm>
            <a:off x="7346467" y="2554828"/>
            <a:ext cx="373062" cy="242888"/>
            <a:chOff x="3985" y="1389"/>
            <a:chExt cx="235" cy="153"/>
          </a:xfrm>
        </p:grpSpPr>
        <p:sp>
          <p:nvSpPr>
            <p:cNvPr id="44" name="Line 39"/>
            <p:cNvSpPr>
              <a:spLocks noChangeShapeType="1"/>
            </p:cNvSpPr>
            <p:nvPr/>
          </p:nvSpPr>
          <p:spPr bwMode="auto">
            <a:xfrm flipH="1">
              <a:off x="3985" y="1389"/>
              <a:ext cx="235" cy="1"/>
            </a:xfrm>
            <a:prstGeom prst="line">
              <a:avLst/>
            </a:prstGeom>
            <a:noFill/>
            <a:ln w="444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4103" y="1389"/>
              <a:ext cx="117" cy="152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H="1">
              <a:off x="3985" y="1541"/>
              <a:ext cx="235" cy="1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 flipV="1">
              <a:off x="3985" y="1389"/>
              <a:ext cx="118" cy="152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7335354" y="2302416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D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9" name="Rectangle 44"/>
          <p:cNvSpPr>
            <a:spLocks noChangeArrowheads="1"/>
          </p:cNvSpPr>
          <p:nvPr/>
        </p:nvSpPr>
        <p:spPr bwMode="auto">
          <a:xfrm>
            <a:off x="7424254" y="2380203"/>
            <a:ext cx="57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0" name="Line 45"/>
          <p:cNvSpPr>
            <a:spLocks noChangeShapeType="1"/>
          </p:cNvSpPr>
          <p:nvPr/>
        </p:nvSpPr>
        <p:spPr bwMode="auto">
          <a:xfrm>
            <a:off x="6908317" y="2181766"/>
            <a:ext cx="625475" cy="1587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Line 46"/>
          <p:cNvSpPr>
            <a:spLocks noChangeShapeType="1"/>
          </p:cNvSpPr>
          <p:nvPr/>
        </p:nvSpPr>
        <p:spPr bwMode="auto">
          <a:xfrm flipV="1">
            <a:off x="6909904" y="2181766"/>
            <a:ext cx="0" cy="316302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Line 47"/>
          <p:cNvSpPr>
            <a:spLocks noChangeShapeType="1"/>
          </p:cNvSpPr>
          <p:nvPr/>
        </p:nvSpPr>
        <p:spPr bwMode="auto">
          <a:xfrm flipV="1">
            <a:off x="7533792" y="2181766"/>
            <a:ext cx="1587" cy="373062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Line 48"/>
          <p:cNvSpPr>
            <a:spLocks noChangeShapeType="1"/>
          </p:cNvSpPr>
          <p:nvPr/>
        </p:nvSpPr>
        <p:spPr bwMode="auto">
          <a:xfrm flipV="1">
            <a:off x="6908318" y="2833688"/>
            <a:ext cx="0" cy="335502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Line 49"/>
          <p:cNvSpPr>
            <a:spLocks noChangeShapeType="1"/>
          </p:cNvSpPr>
          <p:nvPr/>
        </p:nvSpPr>
        <p:spPr bwMode="auto">
          <a:xfrm flipV="1">
            <a:off x="7533792" y="2796128"/>
            <a:ext cx="1587" cy="373063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Line 50"/>
          <p:cNvSpPr>
            <a:spLocks noChangeShapeType="1"/>
          </p:cNvSpPr>
          <p:nvPr/>
        </p:nvSpPr>
        <p:spPr bwMode="auto">
          <a:xfrm>
            <a:off x="6908317" y="3169191"/>
            <a:ext cx="625475" cy="1587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Rectangle 51"/>
          <p:cNvSpPr>
            <a:spLocks noChangeArrowheads="1"/>
          </p:cNvSpPr>
          <p:nvPr/>
        </p:nvSpPr>
        <p:spPr bwMode="auto">
          <a:xfrm>
            <a:off x="5413844" y="3928016"/>
            <a:ext cx="8496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57" name="Rectangle 52"/>
          <p:cNvSpPr>
            <a:spLocks noChangeArrowheads="1"/>
          </p:cNvSpPr>
          <p:nvPr/>
        </p:nvSpPr>
        <p:spPr bwMode="auto">
          <a:xfrm>
            <a:off x="5501157" y="3981991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 dirty="0">
                <a:solidFill>
                  <a:srgbClr val="000000"/>
                </a:solidFill>
                <a:latin typeface="Times" panose="02020603050405020304" pitchFamily="18" charset="0"/>
              </a:rPr>
              <a:t>4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grpSp>
        <p:nvGrpSpPr>
          <p:cNvPr id="66" name="Group 61"/>
          <p:cNvGrpSpPr>
            <a:grpSpLocks/>
          </p:cNvGrpSpPr>
          <p:nvPr/>
        </p:nvGrpSpPr>
        <p:grpSpPr bwMode="auto">
          <a:xfrm>
            <a:off x="5786907" y="4169316"/>
            <a:ext cx="373062" cy="254000"/>
            <a:chOff x="2417" y="2406"/>
            <a:chExt cx="235" cy="160"/>
          </a:xfrm>
        </p:grpSpPr>
        <p:sp>
          <p:nvSpPr>
            <p:cNvPr id="67" name="Line 62"/>
            <p:cNvSpPr>
              <a:spLocks noChangeShapeType="1"/>
            </p:cNvSpPr>
            <p:nvPr/>
          </p:nvSpPr>
          <p:spPr bwMode="auto">
            <a:xfrm flipH="1">
              <a:off x="2417" y="2406"/>
              <a:ext cx="235" cy="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>
              <a:off x="2534" y="2406"/>
              <a:ext cx="118" cy="15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H="1">
              <a:off x="2417" y="2565"/>
              <a:ext cx="235" cy="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flipV="1">
              <a:off x="2417" y="2406"/>
              <a:ext cx="117" cy="15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1" name="Rectangle 66"/>
          <p:cNvSpPr>
            <a:spLocks noChangeArrowheads="1"/>
          </p:cNvSpPr>
          <p:nvPr/>
        </p:nvSpPr>
        <p:spPr bwMode="auto">
          <a:xfrm>
            <a:off x="5786907" y="3916903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D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2" name="Rectangle 67"/>
          <p:cNvSpPr>
            <a:spLocks noChangeArrowheads="1"/>
          </p:cNvSpPr>
          <p:nvPr/>
        </p:nvSpPr>
        <p:spPr bwMode="auto">
          <a:xfrm>
            <a:off x="5874219" y="3993103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 dirty="0">
                <a:solidFill>
                  <a:srgbClr val="000000"/>
                </a:solidFill>
                <a:latin typeface="Times" panose="02020603050405020304" pitchFamily="18" charset="0"/>
              </a:rPr>
              <a:t>4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73" name="Line 68"/>
          <p:cNvSpPr>
            <a:spLocks noChangeShapeType="1"/>
          </p:cNvSpPr>
          <p:nvPr/>
        </p:nvSpPr>
        <p:spPr bwMode="auto">
          <a:xfrm>
            <a:off x="5348757" y="3796253"/>
            <a:ext cx="623887" cy="1588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4" name="Line 69"/>
          <p:cNvSpPr>
            <a:spLocks noChangeShapeType="1"/>
          </p:cNvSpPr>
          <p:nvPr/>
        </p:nvSpPr>
        <p:spPr bwMode="auto">
          <a:xfrm flipV="1">
            <a:off x="5350344" y="3796252"/>
            <a:ext cx="0" cy="31996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5" name="Line 70"/>
          <p:cNvSpPr>
            <a:spLocks noChangeShapeType="1"/>
          </p:cNvSpPr>
          <p:nvPr/>
        </p:nvSpPr>
        <p:spPr bwMode="auto">
          <a:xfrm flipV="1">
            <a:off x="5972644" y="3796253"/>
            <a:ext cx="1588" cy="373063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6" name="Line 71"/>
          <p:cNvSpPr>
            <a:spLocks noChangeShapeType="1"/>
          </p:cNvSpPr>
          <p:nvPr/>
        </p:nvSpPr>
        <p:spPr bwMode="auto">
          <a:xfrm flipV="1">
            <a:off x="5348758" y="4507727"/>
            <a:ext cx="0" cy="287063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" name="Line 72"/>
          <p:cNvSpPr>
            <a:spLocks noChangeShapeType="1"/>
          </p:cNvSpPr>
          <p:nvPr/>
        </p:nvSpPr>
        <p:spPr bwMode="auto">
          <a:xfrm flipV="1">
            <a:off x="5972644" y="4421728"/>
            <a:ext cx="1588" cy="373063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" name="Line 73"/>
          <p:cNvSpPr>
            <a:spLocks noChangeShapeType="1"/>
          </p:cNvSpPr>
          <p:nvPr/>
        </p:nvSpPr>
        <p:spPr bwMode="auto">
          <a:xfrm>
            <a:off x="5348757" y="4794791"/>
            <a:ext cx="623887" cy="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Rectangle 74"/>
          <p:cNvSpPr>
            <a:spLocks noChangeArrowheads="1"/>
          </p:cNvSpPr>
          <p:nvPr/>
        </p:nvSpPr>
        <p:spPr bwMode="auto">
          <a:xfrm>
            <a:off x="6963879" y="3928016"/>
            <a:ext cx="841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0" name="Rectangle 75"/>
          <p:cNvSpPr>
            <a:spLocks noChangeArrowheads="1"/>
          </p:cNvSpPr>
          <p:nvPr/>
        </p:nvSpPr>
        <p:spPr bwMode="auto">
          <a:xfrm>
            <a:off x="7051192" y="3981991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 dirty="0">
                <a:solidFill>
                  <a:srgbClr val="000000"/>
                </a:solidFill>
                <a:latin typeface="Times" panose="02020603050405020304" pitchFamily="18" charset="0"/>
              </a:rPr>
              <a:t>5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grpSp>
        <p:nvGrpSpPr>
          <p:cNvPr id="89" name="Group 84"/>
          <p:cNvGrpSpPr>
            <a:grpSpLocks/>
          </p:cNvGrpSpPr>
          <p:nvPr/>
        </p:nvGrpSpPr>
        <p:grpSpPr bwMode="auto">
          <a:xfrm>
            <a:off x="7346467" y="4169316"/>
            <a:ext cx="373062" cy="254000"/>
            <a:chOff x="3985" y="2406"/>
            <a:chExt cx="235" cy="160"/>
          </a:xfrm>
        </p:grpSpPr>
        <p:sp>
          <p:nvSpPr>
            <p:cNvPr id="90" name="Line 85"/>
            <p:cNvSpPr>
              <a:spLocks noChangeShapeType="1"/>
            </p:cNvSpPr>
            <p:nvPr/>
          </p:nvSpPr>
          <p:spPr bwMode="auto">
            <a:xfrm flipH="1">
              <a:off x="3985" y="2406"/>
              <a:ext cx="235" cy="1"/>
            </a:xfrm>
            <a:prstGeom prst="line">
              <a:avLst/>
            </a:prstGeom>
            <a:noFill/>
            <a:ln w="444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Line 86"/>
            <p:cNvSpPr>
              <a:spLocks noChangeShapeType="1"/>
            </p:cNvSpPr>
            <p:nvPr/>
          </p:nvSpPr>
          <p:spPr bwMode="auto">
            <a:xfrm>
              <a:off x="4103" y="2406"/>
              <a:ext cx="117" cy="159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Line 87"/>
            <p:cNvSpPr>
              <a:spLocks noChangeShapeType="1"/>
            </p:cNvSpPr>
            <p:nvPr/>
          </p:nvSpPr>
          <p:spPr bwMode="auto">
            <a:xfrm flipH="1">
              <a:off x="3985" y="2565"/>
              <a:ext cx="235" cy="1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Line 88"/>
            <p:cNvSpPr>
              <a:spLocks noChangeShapeType="1"/>
            </p:cNvSpPr>
            <p:nvPr/>
          </p:nvSpPr>
          <p:spPr bwMode="auto">
            <a:xfrm flipV="1">
              <a:off x="3985" y="2406"/>
              <a:ext cx="118" cy="159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4" name="Rectangle 89"/>
          <p:cNvSpPr>
            <a:spLocks noChangeArrowheads="1"/>
          </p:cNvSpPr>
          <p:nvPr/>
        </p:nvSpPr>
        <p:spPr bwMode="auto">
          <a:xfrm>
            <a:off x="7335354" y="3916903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D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5" name="Rectangle 90"/>
          <p:cNvSpPr>
            <a:spLocks noChangeArrowheads="1"/>
          </p:cNvSpPr>
          <p:nvPr/>
        </p:nvSpPr>
        <p:spPr bwMode="auto">
          <a:xfrm>
            <a:off x="7424254" y="3993103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 dirty="0">
                <a:solidFill>
                  <a:srgbClr val="000000"/>
                </a:solidFill>
                <a:latin typeface="Times" panose="02020603050405020304" pitchFamily="18" charset="0"/>
              </a:rPr>
              <a:t>5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96" name="Line 91"/>
          <p:cNvSpPr>
            <a:spLocks noChangeShapeType="1"/>
          </p:cNvSpPr>
          <p:nvPr/>
        </p:nvSpPr>
        <p:spPr bwMode="auto">
          <a:xfrm>
            <a:off x="6908317" y="3796253"/>
            <a:ext cx="625475" cy="1588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7" name="Line 92"/>
          <p:cNvSpPr>
            <a:spLocks noChangeShapeType="1"/>
          </p:cNvSpPr>
          <p:nvPr/>
        </p:nvSpPr>
        <p:spPr bwMode="auto">
          <a:xfrm flipV="1">
            <a:off x="6909904" y="3796253"/>
            <a:ext cx="0" cy="30584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8" name="Line 93"/>
          <p:cNvSpPr>
            <a:spLocks noChangeShapeType="1"/>
          </p:cNvSpPr>
          <p:nvPr/>
        </p:nvSpPr>
        <p:spPr bwMode="auto">
          <a:xfrm flipV="1">
            <a:off x="7533792" y="3796253"/>
            <a:ext cx="1587" cy="373063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" name="Line 94"/>
          <p:cNvSpPr>
            <a:spLocks noChangeShapeType="1"/>
          </p:cNvSpPr>
          <p:nvPr/>
        </p:nvSpPr>
        <p:spPr bwMode="auto">
          <a:xfrm flipV="1">
            <a:off x="6908318" y="4482053"/>
            <a:ext cx="0" cy="312737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0" name="Line 95"/>
          <p:cNvSpPr>
            <a:spLocks noChangeShapeType="1"/>
          </p:cNvSpPr>
          <p:nvPr/>
        </p:nvSpPr>
        <p:spPr bwMode="auto">
          <a:xfrm flipV="1">
            <a:off x="7533792" y="4421728"/>
            <a:ext cx="1587" cy="373063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1" name="Line 96"/>
          <p:cNvSpPr>
            <a:spLocks noChangeShapeType="1"/>
          </p:cNvSpPr>
          <p:nvPr/>
        </p:nvSpPr>
        <p:spPr bwMode="auto">
          <a:xfrm>
            <a:off x="6908317" y="4794791"/>
            <a:ext cx="625475" cy="1587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2" name="Line 97"/>
          <p:cNvSpPr>
            <a:spLocks noChangeShapeType="1"/>
          </p:cNvSpPr>
          <p:nvPr/>
        </p:nvSpPr>
        <p:spPr bwMode="auto">
          <a:xfrm>
            <a:off x="4108919" y="5036092"/>
            <a:ext cx="453454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3" name="Line 98"/>
          <p:cNvSpPr>
            <a:spLocks noChangeShapeType="1"/>
          </p:cNvSpPr>
          <p:nvPr/>
        </p:nvSpPr>
        <p:spPr bwMode="auto">
          <a:xfrm flipV="1">
            <a:off x="5666257" y="3169191"/>
            <a:ext cx="1587" cy="627062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4" name="Line 99"/>
          <p:cNvSpPr>
            <a:spLocks noChangeShapeType="1"/>
          </p:cNvSpPr>
          <p:nvPr/>
        </p:nvSpPr>
        <p:spPr bwMode="auto">
          <a:xfrm flipV="1">
            <a:off x="7225817" y="3169191"/>
            <a:ext cx="1587" cy="627062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5" name="Line 100"/>
          <p:cNvSpPr>
            <a:spLocks noChangeShapeType="1"/>
          </p:cNvSpPr>
          <p:nvPr/>
        </p:nvSpPr>
        <p:spPr bwMode="auto">
          <a:xfrm flipV="1">
            <a:off x="7225817" y="1929353"/>
            <a:ext cx="1587" cy="252413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6" name="Line 101"/>
          <p:cNvSpPr>
            <a:spLocks noChangeShapeType="1"/>
          </p:cNvSpPr>
          <p:nvPr/>
        </p:nvSpPr>
        <p:spPr bwMode="auto">
          <a:xfrm flipV="1">
            <a:off x="5666257" y="1929353"/>
            <a:ext cx="1587" cy="252413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7" name="Line 102"/>
          <p:cNvSpPr>
            <a:spLocks noChangeShapeType="1"/>
          </p:cNvSpPr>
          <p:nvPr/>
        </p:nvSpPr>
        <p:spPr bwMode="auto">
          <a:xfrm flipV="1">
            <a:off x="7225817" y="4794791"/>
            <a:ext cx="1587" cy="24130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8" name="Line 103"/>
          <p:cNvSpPr>
            <a:spLocks noChangeShapeType="1"/>
          </p:cNvSpPr>
          <p:nvPr/>
        </p:nvSpPr>
        <p:spPr bwMode="auto">
          <a:xfrm flipV="1">
            <a:off x="5666257" y="4794791"/>
            <a:ext cx="1587" cy="2413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9" name="Line 104"/>
          <p:cNvSpPr>
            <a:spLocks noChangeShapeType="1"/>
          </p:cNvSpPr>
          <p:nvPr/>
        </p:nvSpPr>
        <p:spPr bwMode="auto">
          <a:xfrm flipV="1">
            <a:off x="4108919" y="3488278"/>
            <a:ext cx="1588" cy="154781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0" name="Line 105"/>
          <p:cNvSpPr>
            <a:spLocks noChangeShapeType="1"/>
          </p:cNvSpPr>
          <p:nvPr/>
        </p:nvSpPr>
        <p:spPr bwMode="auto">
          <a:xfrm flipV="1">
            <a:off x="4108919" y="1929353"/>
            <a:ext cx="1588" cy="14271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1" name="Line 106"/>
          <p:cNvSpPr>
            <a:spLocks noChangeShapeType="1"/>
          </p:cNvSpPr>
          <p:nvPr/>
        </p:nvSpPr>
        <p:spPr bwMode="auto">
          <a:xfrm>
            <a:off x="3735857" y="3356516"/>
            <a:ext cx="746125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2" name="Line 107"/>
          <p:cNvSpPr>
            <a:spLocks noChangeShapeType="1"/>
          </p:cNvSpPr>
          <p:nvPr/>
        </p:nvSpPr>
        <p:spPr bwMode="auto">
          <a:xfrm>
            <a:off x="3988269" y="3488278"/>
            <a:ext cx="241300" cy="1588"/>
          </a:xfrm>
          <a:prstGeom prst="line">
            <a:avLst/>
          </a:prstGeom>
          <a:noFill/>
          <a:ln w="650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3" name="Line 108"/>
          <p:cNvSpPr>
            <a:spLocks noChangeShapeType="1"/>
          </p:cNvSpPr>
          <p:nvPr/>
        </p:nvSpPr>
        <p:spPr bwMode="auto">
          <a:xfrm>
            <a:off x="5348757" y="3169191"/>
            <a:ext cx="623887" cy="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5" name="Rectangle 110"/>
          <p:cNvSpPr>
            <a:spLocks noChangeArrowheads="1"/>
          </p:cNvSpPr>
          <p:nvPr/>
        </p:nvSpPr>
        <p:spPr bwMode="auto">
          <a:xfrm>
            <a:off x="4493094" y="3510503"/>
            <a:ext cx="101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Times" panose="02020603050405020304" pitchFamily="18" charset="0"/>
              </a:rPr>
              <a:t>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16" name="Group 111"/>
          <p:cNvGrpSpPr>
            <a:grpSpLocks/>
          </p:cNvGrpSpPr>
          <p:nvPr/>
        </p:nvGrpSpPr>
        <p:grpSpPr bwMode="auto">
          <a:xfrm>
            <a:off x="5907557" y="3223483"/>
            <a:ext cx="317500" cy="122238"/>
            <a:chOff x="2493" y="1935"/>
            <a:chExt cx="200" cy="77"/>
          </a:xfrm>
          <a:solidFill>
            <a:srgbClr val="FF0000"/>
          </a:solidFill>
        </p:grpSpPr>
        <p:sp>
          <p:nvSpPr>
            <p:cNvPr id="117" name="Freeform 112"/>
            <p:cNvSpPr>
              <a:spLocks/>
            </p:cNvSpPr>
            <p:nvPr/>
          </p:nvSpPr>
          <p:spPr bwMode="auto">
            <a:xfrm>
              <a:off x="2576" y="1935"/>
              <a:ext cx="117" cy="77"/>
            </a:xfrm>
            <a:custGeom>
              <a:avLst/>
              <a:gdLst>
                <a:gd name="T0" fmla="*/ 117 w 117"/>
                <a:gd name="T1" fmla="*/ 42 h 77"/>
                <a:gd name="T2" fmla="*/ 0 w 117"/>
                <a:gd name="T3" fmla="*/ 77 h 77"/>
                <a:gd name="T4" fmla="*/ 41 w 117"/>
                <a:gd name="T5" fmla="*/ 42 h 77"/>
                <a:gd name="T6" fmla="*/ 0 w 117"/>
                <a:gd name="T7" fmla="*/ 0 h 77"/>
                <a:gd name="T8" fmla="*/ 117 w 117"/>
                <a:gd name="T9" fmla="*/ 42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" h="77">
                  <a:moveTo>
                    <a:pt x="117" y="42"/>
                  </a:moveTo>
                  <a:lnTo>
                    <a:pt x="0" y="77"/>
                  </a:lnTo>
                  <a:lnTo>
                    <a:pt x="41" y="42"/>
                  </a:lnTo>
                  <a:lnTo>
                    <a:pt x="0" y="0"/>
                  </a:lnTo>
                  <a:lnTo>
                    <a:pt x="117" y="42"/>
                  </a:lnTo>
                  <a:close/>
                </a:path>
              </a:pathLst>
            </a:custGeom>
            <a:grp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Line 113"/>
            <p:cNvSpPr>
              <a:spLocks noChangeShapeType="1"/>
            </p:cNvSpPr>
            <p:nvPr/>
          </p:nvSpPr>
          <p:spPr bwMode="auto">
            <a:xfrm>
              <a:off x="2493" y="1977"/>
              <a:ext cx="124" cy="1"/>
            </a:xfrm>
            <a:prstGeom prst="line">
              <a:avLst/>
            </a:prstGeom>
            <a:grp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9" name="Rectangle 114"/>
          <p:cNvSpPr>
            <a:spLocks noChangeArrowheads="1"/>
          </p:cNvSpPr>
          <p:nvPr/>
        </p:nvSpPr>
        <p:spPr bwMode="auto">
          <a:xfrm>
            <a:off x="6202832" y="3015521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 dirty="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r>
              <a:rPr lang="fr-FR" altLang="fr-FR" sz="1200" b="1" baseline="-25000" dirty="0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185" name="Rectangle 28"/>
          <p:cNvSpPr>
            <a:spLocks noChangeArrowheads="1"/>
          </p:cNvSpPr>
          <p:nvPr/>
        </p:nvSpPr>
        <p:spPr bwMode="auto">
          <a:xfrm>
            <a:off x="8381522" y="2313528"/>
            <a:ext cx="841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186" name="Rectangle 29"/>
          <p:cNvSpPr>
            <a:spLocks noChangeArrowheads="1"/>
          </p:cNvSpPr>
          <p:nvPr/>
        </p:nvSpPr>
        <p:spPr bwMode="auto">
          <a:xfrm>
            <a:off x="8468835" y="2369091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 dirty="0">
                <a:solidFill>
                  <a:srgbClr val="000000"/>
                </a:solidFill>
                <a:latin typeface="Times" panose="02020603050405020304" pitchFamily="18" charset="0"/>
              </a:rPr>
              <a:t>3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grpSp>
        <p:nvGrpSpPr>
          <p:cNvPr id="195" name="Group 38"/>
          <p:cNvGrpSpPr>
            <a:grpSpLocks/>
          </p:cNvGrpSpPr>
          <p:nvPr/>
        </p:nvGrpSpPr>
        <p:grpSpPr bwMode="auto">
          <a:xfrm>
            <a:off x="8764110" y="2554828"/>
            <a:ext cx="373062" cy="242888"/>
            <a:chOff x="3985" y="1389"/>
            <a:chExt cx="235" cy="153"/>
          </a:xfrm>
        </p:grpSpPr>
        <p:sp>
          <p:nvSpPr>
            <p:cNvPr id="196" name="Line 39"/>
            <p:cNvSpPr>
              <a:spLocks noChangeShapeType="1"/>
            </p:cNvSpPr>
            <p:nvPr/>
          </p:nvSpPr>
          <p:spPr bwMode="auto">
            <a:xfrm flipH="1">
              <a:off x="3985" y="1389"/>
              <a:ext cx="235" cy="1"/>
            </a:xfrm>
            <a:prstGeom prst="line">
              <a:avLst/>
            </a:prstGeom>
            <a:noFill/>
            <a:ln w="4445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7" name="Line 40"/>
            <p:cNvSpPr>
              <a:spLocks noChangeShapeType="1"/>
            </p:cNvSpPr>
            <p:nvPr/>
          </p:nvSpPr>
          <p:spPr bwMode="auto">
            <a:xfrm>
              <a:off x="4103" y="1389"/>
              <a:ext cx="117" cy="152"/>
            </a:xfrm>
            <a:prstGeom prst="line">
              <a:avLst/>
            </a:prstGeom>
            <a:noFill/>
            <a:ln w="222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8" name="Line 41"/>
            <p:cNvSpPr>
              <a:spLocks noChangeShapeType="1"/>
            </p:cNvSpPr>
            <p:nvPr/>
          </p:nvSpPr>
          <p:spPr bwMode="auto">
            <a:xfrm flipH="1">
              <a:off x="3985" y="1541"/>
              <a:ext cx="235" cy="1"/>
            </a:xfrm>
            <a:prstGeom prst="line">
              <a:avLst/>
            </a:prstGeom>
            <a:noFill/>
            <a:ln w="222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9" name="Line 42"/>
            <p:cNvSpPr>
              <a:spLocks noChangeShapeType="1"/>
            </p:cNvSpPr>
            <p:nvPr/>
          </p:nvSpPr>
          <p:spPr bwMode="auto">
            <a:xfrm flipV="1">
              <a:off x="3985" y="1389"/>
              <a:ext cx="118" cy="152"/>
            </a:xfrm>
            <a:prstGeom prst="line">
              <a:avLst/>
            </a:prstGeom>
            <a:noFill/>
            <a:ln w="222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0" name="Rectangle 43"/>
          <p:cNvSpPr>
            <a:spLocks noChangeArrowheads="1"/>
          </p:cNvSpPr>
          <p:nvPr/>
        </p:nvSpPr>
        <p:spPr bwMode="auto">
          <a:xfrm>
            <a:off x="8752997" y="2302416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D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01" name="Rectangle 44"/>
          <p:cNvSpPr>
            <a:spLocks noChangeArrowheads="1"/>
          </p:cNvSpPr>
          <p:nvPr/>
        </p:nvSpPr>
        <p:spPr bwMode="auto">
          <a:xfrm>
            <a:off x="8841897" y="2380203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 dirty="0">
                <a:solidFill>
                  <a:srgbClr val="000000"/>
                </a:solidFill>
                <a:latin typeface="Times" panose="02020603050405020304" pitchFamily="18" charset="0"/>
              </a:rPr>
              <a:t>3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202" name="Line 45"/>
          <p:cNvSpPr>
            <a:spLocks noChangeShapeType="1"/>
          </p:cNvSpPr>
          <p:nvPr/>
        </p:nvSpPr>
        <p:spPr bwMode="auto">
          <a:xfrm>
            <a:off x="8325960" y="2181766"/>
            <a:ext cx="625475" cy="1587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3" name="Line 46"/>
          <p:cNvSpPr>
            <a:spLocks noChangeShapeType="1"/>
          </p:cNvSpPr>
          <p:nvPr/>
        </p:nvSpPr>
        <p:spPr bwMode="auto">
          <a:xfrm flipV="1">
            <a:off x="8327547" y="2181766"/>
            <a:ext cx="0" cy="314476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4" name="Line 47"/>
          <p:cNvSpPr>
            <a:spLocks noChangeShapeType="1"/>
          </p:cNvSpPr>
          <p:nvPr/>
        </p:nvSpPr>
        <p:spPr bwMode="auto">
          <a:xfrm flipV="1">
            <a:off x="8951435" y="2181766"/>
            <a:ext cx="1587" cy="373062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5" name="Line 48"/>
          <p:cNvSpPr>
            <a:spLocks noChangeShapeType="1"/>
          </p:cNvSpPr>
          <p:nvPr/>
        </p:nvSpPr>
        <p:spPr bwMode="auto">
          <a:xfrm flipV="1">
            <a:off x="8325961" y="2859672"/>
            <a:ext cx="0" cy="309518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6" name="Line 49"/>
          <p:cNvSpPr>
            <a:spLocks noChangeShapeType="1"/>
          </p:cNvSpPr>
          <p:nvPr/>
        </p:nvSpPr>
        <p:spPr bwMode="auto">
          <a:xfrm flipV="1">
            <a:off x="8951435" y="2796128"/>
            <a:ext cx="1587" cy="373063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7" name="Line 50"/>
          <p:cNvSpPr>
            <a:spLocks noChangeShapeType="1"/>
          </p:cNvSpPr>
          <p:nvPr/>
        </p:nvSpPr>
        <p:spPr bwMode="auto">
          <a:xfrm>
            <a:off x="8325960" y="3169191"/>
            <a:ext cx="625475" cy="1587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8" name="Rectangle 74"/>
          <p:cNvSpPr>
            <a:spLocks noChangeArrowheads="1"/>
          </p:cNvSpPr>
          <p:nvPr/>
        </p:nvSpPr>
        <p:spPr bwMode="auto">
          <a:xfrm>
            <a:off x="8381522" y="3928016"/>
            <a:ext cx="841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09" name="Rectangle 75"/>
          <p:cNvSpPr>
            <a:spLocks noChangeArrowheads="1"/>
          </p:cNvSpPr>
          <p:nvPr/>
        </p:nvSpPr>
        <p:spPr bwMode="auto">
          <a:xfrm>
            <a:off x="8468835" y="3981991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 dirty="0">
                <a:solidFill>
                  <a:srgbClr val="000000"/>
                </a:solidFill>
                <a:latin typeface="Times" panose="02020603050405020304" pitchFamily="18" charset="0"/>
              </a:rPr>
              <a:t>6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grpSp>
        <p:nvGrpSpPr>
          <p:cNvPr id="218" name="Group 84"/>
          <p:cNvGrpSpPr>
            <a:grpSpLocks/>
          </p:cNvGrpSpPr>
          <p:nvPr/>
        </p:nvGrpSpPr>
        <p:grpSpPr bwMode="auto">
          <a:xfrm>
            <a:off x="8764110" y="4169316"/>
            <a:ext cx="373062" cy="254000"/>
            <a:chOff x="3985" y="2406"/>
            <a:chExt cx="235" cy="160"/>
          </a:xfrm>
        </p:grpSpPr>
        <p:sp>
          <p:nvSpPr>
            <p:cNvPr id="219" name="Line 85"/>
            <p:cNvSpPr>
              <a:spLocks noChangeShapeType="1"/>
            </p:cNvSpPr>
            <p:nvPr/>
          </p:nvSpPr>
          <p:spPr bwMode="auto">
            <a:xfrm flipH="1">
              <a:off x="3985" y="2406"/>
              <a:ext cx="235" cy="1"/>
            </a:xfrm>
            <a:prstGeom prst="line">
              <a:avLst/>
            </a:prstGeom>
            <a:noFill/>
            <a:ln w="4445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0" name="Line 86"/>
            <p:cNvSpPr>
              <a:spLocks noChangeShapeType="1"/>
            </p:cNvSpPr>
            <p:nvPr/>
          </p:nvSpPr>
          <p:spPr bwMode="auto">
            <a:xfrm>
              <a:off x="4103" y="2406"/>
              <a:ext cx="117" cy="159"/>
            </a:xfrm>
            <a:prstGeom prst="line">
              <a:avLst/>
            </a:prstGeom>
            <a:noFill/>
            <a:ln w="222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1" name="Line 87"/>
            <p:cNvSpPr>
              <a:spLocks noChangeShapeType="1"/>
            </p:cNvSpPr>
            <p:nvPr/>
          </p:nvSpPr>
          <p:spPr bwMode="auto">
            <a:xfrm flipH="1">
              <a:off x="3985" y="2565"/>
              <a:ext cx="235" cy="1"/>
            </a:xfrm>
            <a:prstGeom prst="line">
              <a:avLst/>
            </a:prstGeom>
            <a:noFill/>
            <a:ln w="222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2" name="Line 88"/>
            <p:cNvSpPr>
              <a:spLocks noChangeShapeType="1"/>
            </p:cNvSpPr>
            <p:nvPr/>
          </p:nvSpPr>
          <p:spPr bwMode="auto">
            <a:xfrm flipV="1">
              <a:off x="3985" y="2406"/>
              <a:ext cx="118" cy="159"/>
            </a:xfrm>
            <a:prstGeom prst="line">
              <a:avLst/>
            </a:prstGeom>
            <a:noFill/>
            <a:ln w="222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23" name="Rectangle 89"/>
          <p:cNvSpPr>
            <a:spLocks noChangeArrowheads="1"/>
          </p:cNvSpPr>
          <p:nvPr/>
        </p:nvSpPr>
        <p:spPr bwMode="auto">
          <a:xfrm>
            <a:off x="8752997" y="3916903"/>
            <a:ext cx="92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D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4" name="Rectangle 90"/>
          <p:cNvSpPr>
            <a:spLocks noChangeArrowheads="1"/>
          </p:cNvSpPr>
          <p:nvPr/>
        </p:nvSpPr>
        <p:spPr bwMode="auto">
          <a:xfrm>
            <a:off x="8841897" y="3993103"/>
            <a:ext cx="5770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900" b="1" dirty="0">
                <a:solidFill>
                  <a:srgbClr val="000000"/>
                </a:solidFill>
                <a:latin typeface="Times" panose="02020603050405020304" pitchFamily="18" charset="0"/>
              </a:rPr>
              <a:t>6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225" name="Line 91"/>
          <p:cNvSpPr>
            <a:spLocks noChangeShapeType="1"/>
          </p:cNvSpPr>
          <p:nvPr/>
        </p:nvSpPr>
        <p:spPr bwMode="auto">
          <a:xfrm>
            <a:off x="8325960" y="3796253"/>
            <a:ext cx="625475" cy="1588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6" name="Line 92"/>
          <p:cNvSpPr>
            <a:spLocks noChangeShapeType="1"/>
          </p:cNvSpPr>
          <p:nvPr/>
        </p:nvSpPr>
        <p:spPr bwMode="auto">
          <a:xfrm flipV="1">
            <a:off x="8327547" y="3796252"/>
            <a:ext cx="0" cy="332477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7" name="Line 93"/>
          <p:cNvSpPr>
            <a:spLocks noChangeShapeType="1"/>
          </p:cNvSpPr>
          <p:nvPr/>
        </p:nvSpPr>
        <p:spPr bwMode="auto">
          <a:xfrm flipV="1">
            <a:off x="8951435" y="3796253"/>
            <a:ext cx="1587" cy="373063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8" name="Line 94"/>
          <p:cNvSpPr>
            <a:spLocks noChangeShapeType="1"/>
          </p:cNvSpPr>
          <p:nvPr/>
        </p:nvSpPr>
        <p:spPr bwMode="auto">
          <a:xfrm flipV="1">
            <a:off x="8325961" y="4483660"/>
            <a:ext cx="0" cy="311130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9" name="Line 95"/>
          <p:cNvSpPr>
            <a:spLocks noChangeShapeType="1"/>
          </p:cNvSpPr>
          <p:nvPr/>
        </p:nvSpPr>
        <p:spPr bwMode="auto">
          <a:xfrm flipV="1">
            <a:off x="8951435" y="4421728"/>
            <a:ext cx="1587" cy="373063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0" name="Line 96"/>
          <p:cNvSpPr>
            <a:spLocks noChangeShapeType="1"/>
          </p:cNvSpPr>
          <p:nvPr/>
        </p:nvSpPr>
        <p:spPr bwMode="auto">
          <a:xfrm>
            <a:off x="8325960" y="4794791"/>
            <a:ext cx="625475" cy="1587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1" name="Line 99"/>
          <p:cNvSpPr>
            <a:spLocks noChangeShapeType="1"/>
          </p:cNvSpPr>
          <p:nvPr/>
        </p:nvSpPr>
        <p:spPr bwMode="auto">
          <a:xfrm flipV="1">
            <a:off x="8643460" y="3169191"/>
            <a:ext cx="1587" cy="627062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2" name="Line 100"/>
          <p:cNvSpPr>
            <a:spLocks noChangeShapeType="1"/>
          </p:cNvSpPr>
          <p:nvPr/>
        </p:nvSpPr>
        <p:spPr bwMode="auto">
          <a:xfrm flipV="1">
            <a:off x="8643460" y="1929353"/>
            <a:ext cx="1587" cy="252413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3" name="Line 102"/>
          <p:cNvSpPr>
            <a:spLocks noChangeShapeType="1"/>
          </p:cNvSpPr>
          <p:nvPr/>
        </p:nvSpPr>
        <p:spPr bwMode="auto">
          <a:xfrm flipV="1">
            <a:off x="8643460" y="4794791"/>
            <a:ext cx="1587" cy="241300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4" name="Line 27"/>
          <p:cNvSpPr>
            <a:spLocks noChangeShapeType="1"/>
          </p:cNvSpPr>
          <p:nvPr/>
        </p:nvSpPr>
        <p:spPr bwMode="auto">
          <a:xfrm>
            <a:off x="7222007" y="3488278"/>
            <a:ext cx="711200" cy="3175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35" name="Group 111"/>
          <p:cNvGrpSpPr>
            <a:grpSpLocks/>
          </p:cNvGrpSpPr>
          <p:nvPr/>
        </p:nvGrpSpPr>
        <p:grpSpPr bwMode="auto">
          <a:xfrm>
            <a:off x="7463307" y="3421603"/>
            <a:ext cx="317500" cy="122238"/>
            <a:chOff x="2493" y="1935"/>
            <a:chExt cx="200" cy="77"/>
          </a:xfrm>
          <a:solidFill>
            <a:schemeClr val="accent1"/>
          </a:solidFill>
        </p:grpSpPr>
        <p:sp>
          <p:nvSpPr>
            <p:cNvPr id="236" name="Freeform 112"/>
            <p:cNvSpPr>
              <a:spLocks/>
            </p:cNvSpPr>
            <p:nvPr/>
          </p:nvSpPr>
          <p:spPr bwMode="auto">
            <a:xfrm>
              <a:off x="2576" y="1935"/>
              <a:ext cx="117" cy="77"/>
            </a:xfrm>
            <a:custGeom>
              <a:avLst/>
              <a:gdLst>
                <a:gd name="T0" fmla="*/ 117 w 117"/>
                <a:gd name="T1" fmla="*/ 42 h 77"/>
                <a:gd name="T2" fmla="*/ 0 w 117"/>
                <a:gd name="T3" fmla="*/ 77 h 77"/>
                <a:gd name="T4" fmla="*/ 41 w 117"/>
                <a:gd name="T5" fmla="*/ 42 h 77"/>
                <a:gd name="T6" fmla="*/ 0 w 117"/>
                <a:gd name="T7" fmla="*/ 0 h 77"/>
                <a:gd name="T8" fmla="*/ 117 w 117"/>
                <a:gd name="T9" fmla="*/ 42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" h="77">
                  <a:moveTo>
                    <a:pt x="117" y="42"/>
                  </a:moveTo>
                  <a:lnTo>
                    <a:pt x="0" y="77"/>
                  </a:lnTo>
                  <a:lnTo>
                    <a:pt x="41" y="42"/>
                  </a:lnTo>
                  <a:lnTo>
                    <a:pt x="0" y="0"/>
                  </a:lnTo>
                  <a:lnTo>
                    <a:pt x="117" y="4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7" name="Line 113"/>
            <p:cNvSpPr>
              <a:spLocks noChangeShapeType="1"/>
            </p:cNvSpPr>
            <p:nvPr/>
          </p:nvSpPr>
          <p:spPr bwMode="auto">
            <a:xfrm>
              <a:off x="2493" y="1977"/>
              <a:ext cx="124" cy="1"/>
            </a:xfrm>
            <a:prstGeom prst="line">
              <a:avLst/>
            </a:prstGeom>
            <a:grpFill/>
            <a:ln w="2222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38" name="Rectangle 114"/>
          <p:cNvSpPr>
            <a:spLocks noChangeArrowheads="1"/>
          </p:cNvSpPr>
          <p:nvPr/>
        </p:nvSpPr>
        <p:spPr bwMode="auto">
          <a:xfrm>
            <a:off x="7758582" y="3213641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 dirty="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r>
              <a:rPr lang="fr-FR" altLang="fr-FR" sz="1200" b="1" baseline="-25000" dirty="0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239" name="Line 27"/>
          <p:cNvSpPr>
            <a:spLocks noChangeShapeType="1"/>
          </p:cNvSpPr>
          <p:nvPr/>
        </p:nvSpPr>
        <p:spPr bwMode="auto">
          <a:xfrm>
            <a:off x="8643459" y="3677985"/>
            <a:ext cx="711200" cy="3175"/>
          </a:xfrm>
          <a:prstGeom prst="line">
            <a:avLst/>
          </a:prstGeom>
          <a:noFill/>
          <a:ln w="22225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40" name="Group 111"/>
          <p:cNvGrpSpPr>
            <a:grpSpLocks/>
          </p:cNvGrpSpPr>
          <p:nvPr/>
        </p:nvGrpSpPr>
        <p:grpSpPr bwMode="auto">
          <a:xfrm>
            <a:off x="8884759" y="3611310"/>
            <a:ext cx="317500" cy="122238"/>
            <a:chOff x="2493" y="1935"/>
            <a:chExt cx="200" cy="77"/>
          </a:xfrm>
          <a:solidFill>
            <a:schemeClr val="accent6"/>
          </a:solidFill>
        </p:grpSpPr>
        <p:sp>
          <p:nvSpPr>
            <p:cNvPr id="241" name="Freeform 112"/>
            <p:cNvSpPr>
              <a:spLocks/>
            </p:cNvSpPr>
            <p:nvPr/>
          </p:nvSpPr>
          <p:spPr bwMode="auto">
            <a:xfrm>
              <a:off x="2576" y="1935"/>
              <a:ext cx="117" cy="77"/>
            </a:xfrm>
            <a:custGeom>
              <a:avLst/>
              <a:gdLst>
                <a:gd name="T0" fmla="*/ 117 w 117"/>
                <a:gd name="T1" fmla="*/ 42 h 77"/>
                <a:gd name="T2" fmla="*/ 0 w 117"/>
                <a:gd name="T3" fmla="*/ 77 h 77"/>
                <a:gd name="T4" fmla="*/ 41 w 117"/>
                <a:gd name="T5" fmla="*/ 42 h 77"/>
                <a:gd name="T6" fmla="*/ 0 w 117"/>
                <a:gd name="T7" fmla="*/ 0 h 77"/>
                <a:gd name="T8" fmla="*/ 117 w 117"/>
                <a:gd name="T9" fmla="*/ 42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" h="77">
                  <a:moveTo>
                    <a:pt x="117" y="42"/>
                  </a:moveTo>
                  <a:lnTo>
                    <a:pt x="0" y="77"/>
                  </a:lnTo>
                  <a:lnTo>
                    <a:pt x="41" y="42"/>
                  </a:lnTo>
                  <a:lnTo>
                    <a:pt x="0" y="0"/>
                  </a:lnTo>
                  <a:lnTo>
                    <a:pt x="117" y="42"/>
                  </a:lnTo>
                  <a:close/>
                </a:path>
              </a:pathLst>
            </a:custGeom>
            <a:grpFill/>
            <a:ln w="9525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2" name="Line 113"/>
            <p:cNvSpPr>
              <a:spLocks noChangeShapeType="1"/>
            </p:cNvSpPr>
            <p:nvPr/>
          </p:nvSpPr>
          <p:spPr bwMode="auto">
            <a:xfrm>
              <a:off x="2493" y="1977"/>
              <a:ext cx="124" cy="1"/>
            </a:xfrm>
            <a:prstGeom prst="line">
              <a:avLst/>
            </a:prstGeom>
            <a:grpFill/>
            <a:ln w="22225">
              <a:solidFill>
                <a:schemeClr val="accent6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43" name="Rectangle 114"/>
          <p:cNvSpPr>
            <a:spLocks noChangeArrowheads="1"/>
          </p:cNvSpPr>
          <p:nvPr/>
        </p:nvSpPr>
        <p:spPr bwMode="auto">
          <a:xfrm>
            <a:off x="9180034" y="3403348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 dirty="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r>
              <a:rPr lang="fr-FR" altLang="fr-FR" sz="1200" b="1" baseline="-25000" dirty="0">
                <a:solidFill>
                  <a:srgbClr val="000000"/>
                </a:solidFill>
                <a:latin typeface="Times" panose="02020603050405020304" pitchFamily="18" charset="0"/>
              </a:rPr>
              <a:t>3</a:t>
            </a:r>
            <a:endParaRPr lang="fr-FR" altLang="fr-FR" sz="1800" baseline="-25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ZoneTexte 243"/>
              <p:cNvSpPr txBox="1"/>
              <p:nvPr/>
            </p:nvSpPr>
            <p:spPr>
              <a:xfrm>
                <a:off x="3130647" y="5045299"/>
                <a:ext cx="2785891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</m:sSub>
                      <m:r>
                        <a:rPr lang="fr-FR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𝐬𝐢𝐧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4" name="ZoneTexte 2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647" y="5045299"/>
                <a:ext cx="2785891" cy="6914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ZoneTexte 244"/>
              <p:cNvSpPr txBox="1"/>
              <p:nvPr/>
            </p:nvSpPr>
            <p:spPr>
              <a:xfrm>
                <a:off x="5413844" y="1114860"/>
                <a:ext cx="354789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</m:sSub>
                      <m:r>
                        <a:rPr lang="fr-FR" sz="24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𝐬𝐢𝐧</m:t>
                      </m:r>
                      <m:r>
                        <a:rPr lang="fr-FR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fr-FR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5" name="ZoneTexte 2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844" y="1114860"/>
                <a:ext cx="3547894" cy="693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ZoneTexte 245"/>
              <p:cNvSpPr txBox="1"/>
              <p:nvPr/>
            </p:nvSpPr>
            <p:spPr>
              <a:xfrm>
                <a:off x="8121097" y="4995631"/>
                <a:ext cx="3547894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</m:sSub>
                      <m:r>
                        <a:rPr lang="fr-FR" sz="2400" b="1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𝐬𝐢𝐧</m:t>
                      </m:r>
                      <m:r>
                        <a:rPr lang="fr-FR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fr-FR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fr-FR" sz="24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46" name="ZoneTexte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097" y="4995631"/>
                <a:ext cx="3547894" cy="693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Connecteur droit 246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ZoneTexte 248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Inverters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Single phase inverter</a:t>
            </a:r>
          </a:p>
          <a:p>
            <a:r>
              <a:rPr lang="en-US" b="1" dirty="0">
                <a:solidFill>
                  <a:srgbClr val="FF0000"/>
                </a:solidFill>
              </a:rPr>
              <a:t>Three phase inverter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Three phase motor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4853001" y="2489279"/>
            <a:ext cx="501509" cy="397336"/>
            <a:chOff x="4853001" y="2489279"/>
            <a:chExt cx="501509" cy="397336"/>
          </a:xfrm>
        </p:grpSpPr>
        <p:sp>
          <p:nvSpPr>
            <p:cNvPr id="180" name="Line 278"/>
            <p:cNvSpPr>
              <a:spLocks noChangeShapeType="1"/>
            </p:cNvSpPr>
            <p:nvPr/>
          </p:nvSpPr>
          <p:spPr bwMode="auto">
            <a:xfrm rot="5400000" flipH="1">
              <a:off x="4893324" y="2690718"/>
              <a:ext cx="39179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1" name="Line 279"/>
            <p:cNvSpPr>
              <a:spLocks noChangeShapeType="1"/>
            </p:cNvSpPr>
            <p:nvPr/>
          </p:nvSpPr>
          <p:spPr bwMode="auto">
            <a:xfrm rot="5400000">
              <a:off x="4971111" y="2570386"/>
              <a:ext cx="0" cy="2362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2" name="Line 280"/>
            <p:cNvSpPr>
              <a:spLocks noChangeShapeType="1"/>
            </p:cNvSpPr>
            <p:nvPr/>
          </p:nvSpPr>
          <p:spPr bwMode="auto">
            <a:xfrm rot="5400000" flipV="1">
              <a:off x="4967480" y="2686447"/>
              <a:ext cx="39433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3" name="Line 278"/>
            <p:cNvSpPr>
              <a:spLocks noChangeShapeType="1"/>
            </p:cNvSpPr>
            <p:nvPr/>
          </p:nvSpPr>
          <p:spPr bwMode="auto">
            <a:xfrm rot="5400000" flipH="1" flipV="1">
              <a:off x="5196629" y="2466086"/>
              <a:ext cx="125899" cy="1898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" name="Freeform 83"/>
            <p:cNvSpPr>
              <a:spLocks/>
            </p:cNvSpPr>
            <p:nvPr/>
          </p:nvSpPr>
          <p:spPr bwMode="auto">
            <a:xfrm rot="18577591">
              <a:off x="5249086" y="2779520"/>
              <a:ext cx="101600" cy="105700"/>
            </a:xfrm>
            <a:custGeom>
              <a:avLst/>
              <a:gdLst>
                <a:gd name="T0" fmla="*/ 80 w 160"/>
                <a:gd name="T1" fmla="*/ 341 h 341"/>
                <a:gd name="T2" fmla="*/ 0 w 160"/>
                <a:gd name="T3" fmla="*/ 0 h 341"/>
                <a:gd name="T4" fmla="*/ 80 w 160"/>
                <a:gd name="T5" fmla="*/ 0 h 341"/>
                <a:gd name="T6" fmla="*/ 160 w 160"/>
                <a:gd name="T7" fmla="*/ 0 h 341"/>
                <a:gd name="T8" fmla="*/ 80 w 160"/>
                <a:gd name="T9" fmla="*/ 341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41">
                  <a:moveTo>
                    <a:pt x="80" y="341"/>
                  </a:moveTo>
                  <a:lnTo>
                    <a:pt x="0" y="0"/>
                  </a:lnTo>
                  <a:lnTo>
                    <a:pt x="80" y="0"/>
                  </a:lnTo>
                  <a:lnTo>
                    <a:pt x="160" y="0"/>
                  </a:lnTo>
                  <a:lnTo>
                    <a:pt x="80" y="34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8" name="Line 278"/>
            <p:cNvSpPr>
              <a:spLocks noChangeShapeType="1"/>
            </p:cNvSpPr>
            <p:nvPr/>
          </p:nvSpPr>
          <p:spPr bwMode="auto">
            <a:xfrm rot="5400000" flipV="1">
              <a:off x="5192009" y="2705472"/>
              <a:ext cx="125899" cy="1898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56" name="Groupe 255"/>
          <p:cNvGrpSpPr/>
          <p:nvPr/>
        </p:nvGrpSpPr>
        <p:grpSpPr>
          <a:xfrm>
            <a:off x="4848504" y="4113392"/>
            <a:ext cx="501509" cy="397336"/>
            <a:chOff x="4853001" y="2489279"/>
            <a:chExt cx="501509" cy="397336"/>
          </a:xfrm>
        </p:grpSpPr>
        <p:sp>
          <p:nvSpPr>
            <p:cNvPr id="257" name="Line 278"/>
            <p:cNvSpPr>
              <a:spLocks noChangeShapeType="1"/>
            </p:cNvSpPr>
            <p:nvPr/>
          </p:nvSpPr>
          <p:spPr bwMode="auto">
            <a:xfrm rot="5400000" flipH="1">
              <a:off x="4893324" y="2690718"/>
              <a:ext cx="39179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8" name="Line 279"/>
            <p:cNvSpPr>
              <a:spLocks noChangeShapeType="1"/>
            </p:cNvSpPr>
            <p:nvPr/>
          </p:nvSpPr>
          <p:spPr bwMode="auto">
            <a:xfrm rot="5400000">
              <a:off x="4971111" y="2570386"/>
              <a:ext cx="0" cy="2362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9" name="Line 280"/>
            <p:cNvSpPr>
              <a:spLocks noChangeShapeType="1"/>
            </p:cNvSpPr>
            <p:nvPr/>
          </p:nvSpPr>
          <p:spPr bwMode="auto">
            <a:xfrm rot="5400000" flipV="1">
              <a:off x="4967480" y="2686447"/>
              <a:ext cx="39433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0" name="Line 278"/>
            <p:cNvSpPr>
              <a:spLocks noChangeShapeType="1"/>
            </p:cNvSpPr>
            <p:nvPr/>
          </p:nvSpPr>
          <p:spPr bwMode="auto">
            <a:xfrm rot="5400000" flipH="1" flipV="1">
              <a:off x="5196629" y="2466086"/>
              <a:ext cx="125899" cy="1898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1" name="Freeform 83"/>
            <p:cNvSpPr>
              <a:spLocks/>
            </p:cNvSpPr>
            <p:nvPr/>
          </p:nvSpPr>
          <p:spPr bwMode="auto">
            <a:xfrm rot="18577591">
              <a:off x="5249086" y="2779520"/>
              <a:ext cx="101600" cy="105700"/>
            </a:xfrm>
            <a:custGeom>
              <a:avLst/>
              <a:gdLst>
                <a:gd name="T0" fmla="*/ 80 w 160"/>
                <a:gd name="T1" fmla="*/ 341 h 341"/>
                <a:gd name="T2" fmla="*/ 0 w 160"/>
                <a:gd name="T3" fmla="*/ 0 h 341"/>
                <a:gd name="T4" fmla="*/ 80 w 160"/>
                <a:gd name="T5" fmla="*/ 0 h 341"/>
                <a:gd name="T6" fmla="*/ 160 w 160"/>
                <a:gd name="T7" fmla="*/ 0 h 341"/>
                <a:gd name="T8" fmla="*/ 80 w 160"/>
                <a:gd name="T9" fmla="*/ 341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41">
                  <a:moveTo>
                    <a:pt x="80" y="341"/>
                  </a:moveTo>
                  <a:lnTo>
                    <a:pt x="0" y="0"/>
                  </a:lnTo>
                  <a:lnTo>
                    <a:pt x="80" y="0"/>
                  </a:lnTo>
                  <a:lnTo>
                    <a:pt x="160" y="0"/>
                  </a:lnTo>
                  <a:lnTo>
                    <a:pt x="80" y="34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2" name="Line 278"/>
            <p:cNvSpPr>
              <a:spLocks noChangeShapeType="1"/>
            </p:cNvSpPr>
            <p:nvPr/>
          </p:nvSpPr>
          <p:spPr bwMode="auto">
            <a:xfrm rot="5400000" flipV="1">
              <a:off x="5192009" y="2705472"/>
              <a:ext cx="125899" cy="1898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63" name="Groupe 262"/>
          <p:cNvGrpSpPr/>
          <p:nvPr/>
        </p:nvGrpSpPr>
        <p:grpSpPr>
          <a:xfrm>
            <a:off x="6409661" y="2472184"/>
            <a:ext cx="501509" cy="397336"/>
            <a:chOff x="4853001" y="2489279"/>
            <a:chExt cx="501509" cy="397336"/>
          </a:xfrm>
        </p:grpSpPr>
        <p:sp>
          <p:nvSpPr>
            <p:cNvPr id="264" name="Line 278"/>
            <p:cNvSpPr>
              <a:spLocks noChangeShapeType="1"/>
            </p:cNvSpPr>
            <p:nvPr/>
          </p:nvSpPr>
          <p:spPr bwMode="auto">
            <a:xfrm rot="5400000" flipH="1">
              <a:off x="4893324" y="2690718"/>
              <a:ext cx="39179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5" name="Line 279"/>
            <p:cNvSpPr>
              <a:spLocks noChangeShapeType="1"/>
            </p:cNvSpPr>
            <p:nvPr/>
          </p:nvSpPr>
          <p:spPr bwMode="auto">
            <a:xfrm rot="5400000">
              <a:off x="4971111" y="2570386"/>
              <a:ext cx="0" cy="23622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6" name="Line 280"/>
            <p:cNvSpPr>
              <a:spLocks noChangeShapeType="1"/>
            </p:cNvSpPr>
            <p:nvPr/>
          </p:nvSpPr>
          <p:spPr bwMode="auto">
            <a:xfrm rot="5400000" flipV="1">
              <a:off x="4967480" y="2686447"/>
              <a:ext cx="39433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7" name="Line 278"/>
            <p:cNvSpPr>
              <a:spLocks noChangeShapeType="1"/>
            </p:cNvSpPr>
            <p:nvPr/>
          </p:nvSpPr>
          <p:spPr bwMode="auto">
            <a:xfrm rot="5400000" flipH="1" flipV="1">
              <a:off x="5196629" y="2466086"/>
              <a:ext cx="125899" cy="189863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8" name="Freeform 83"/>
            <p:cNvSpPr>
              <a:spLocks/>
            </p:cNvSpPr>
            <p:nvPr/>
          </p:nvSpPr>
          <p:spPr bwMode="auto">
            <a:xfrm rot="18577591">
              <a:off x="5249086" y="2779520"/>
              <a:ext cx="101600" cy="105700"/>
            </a:xfrm>
            <a:custGeom>
              <a:avLst/>
              <a:gdLst>
                <a:gd name="T0" fmla="*/ 80 w 160"/>
                <a:gd name="T1" fmla="*/ 341 h 341"/>
                <a:gd name="T2" fmla="*/ 0 w 160"/>
                <a:gd name="T3" fmla="*/ 0 h 341"/>
                <a:gd name="T4" fmla="*/ 80 w 160"/>
                <a:gd name="T5" fmla="*/ 0 h 341"/>
                <a:gd name="T6" fmla="*/ 160 w 160"/>
                <a:gd name="T7" fmla="*/ 0 h 341"/>
                <a:gd name="T8" fmla="*/ 80 w 160"/>
                <a:gd name="T9" fmla="*/ 341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41">
                  <a:moveTo>
                    <a:pt x="80" y="341"/>
                  </a:moveTo>
                  <a:lnTo>
                    <a:pt x="0" y="0"/>
                  </a:lnTo>
                  <a:lnTo>
                    <a:pt x="80" y="0"/>
                  </a:lnTo>
                  <a:lnTo>
                    <a:pt x="160" y="0"/>
                  </a:lnTo>
                  <a:lnTo>
                    <a:pt x="80" y="3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9" name="Line 278"/>
            <p:cNvSpPr>
              <a:spLocks noChangeShapeType="1"/>
            </p:cNvSpPr>
            <p:nvPr/>
          </p:nvSpPr>
          <p:spPr bwMode="auto">
            <a:xfrm rot="5400000" flipV="1">
              <a:off x="5192009" y="2705472"/>
              <a:ext cx="125899" cy="189863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0" name="Groupe 269"/>
          <p:cNvGrpSpPr/>
          <p:nvPr/>
        </p:nvGrpSpPr>
        <p:grpSpPr>
          <a:xfrm>
            <a:off x="6418319" y="4101136"/>
            <a:ext cx="501509" cy="397336"/>
            <a:chOff x="4853001" y="2489279"/>
            <a:chExt cx="501509" cy="397336"/>
          </a:xfrm>
        </p:grpSpPr>
        <p:sp>
          <p:nvSpPr>
            <p:cNvPr id="271" name="Line 278"/>
            <p:cNvSpPr>
              <a:spLocks noChangeShapeType="1"/>
            </p:cNvSpPr>
            <p:nvPr/>
          </p:nvSpPr>
          <p:spPr bwMode="auto">
            <a:xfrm rot="5400000" flipH="1">
              <a:off x="4893324" y="2690718"/>
              <a:ext cx="39179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2" name="Line 279"/>
            <p:cNvSpPr>
              <a:spLocks noChangeShapeType="1"/>
            </p:cNvSpPr>
            <p:nvPr/>
          </p:nvSpPr>
          <p:spPr bwMode="auto">
            <a:xfrm rot="5400000">
              <a:off x="4971111" y="2570386"/>
              <a:ext cx="0" cy="23622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3" name="Line 280"/>
            <p:cNvSpPr>
              <a:spLocks noChangeShapeType="1"/>
            </p:cNvSpPr>
            <p:nvPr/>
          </p:nvSpPr>
          <p:spPr bwMode="auto">
            <a:xfrm rot="5400000" flipV="1">
              <a:off x="4967480" y="2686447"/>
              <a:ext cx="39433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4" name="Line 278"/>
            <p:cNvSpPr>
              <a:spLocks noChangeShapeType="1"/>
            </p:cNvSpPr>
            <p:nvPr/>
          </p:nvSpPr>
          <p:spPr bwMode="auto">
            <a:xfrm rot="5400000" flipH="1" flipV="1">
              <a:off x="5196629" y="2466086"/>
              <a:ext cx="125899" cy="189863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5" name="Freeform 83"/>
            <p:cNvSpPr>
              <a:spLocks/>
            </p:cNvSpPr>
            <p:nvPr/>
          </p:nvSpPr>
          <p:spPr bwMode="auto">
            <a:xfrm rot="18577591">
              <a:off x="5249086" y="2779520"/>
              <a:ext cx="101600" cy="105700"/>
            </a:xfrm>
            <a:custGeom>
              <a:avLst/>
              <a:gdLst>
                <a:gd name="T0" fmla="*/ 80 w 160"/>
                <a:gd name="T1" fmla="*/ 341 h 341"/>
                <a:gd name="T2" fmla="*/ 0 w 160"/>
                <a:gd name="T3" fmla="*/ 0 h 341"/>
                <a:gd name="T4" fmla="*/ 80 w 160"/>
                <a:gd name="T5" fmla="*/ 0 h 341"/>
                <a:gd name="T6" fmla="*/ 160 w 160"/>
                <a:gd name="T7" fmla="*/ 0 h 341"/>
                <a:gd name="T8" fmla="*/ 80 w 160"/>
                <a:gd name="T9" fmla="*/ 341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41">
                  <a:moveTo>
                    <a:pt x="80" y="341"/>
                  </a:moveTo>
                  <a:lnTo>
                    <a:pt x="0" y="0"/>
                  </a:lnTo>
                  <a:lnTo>
                    <a:pt x="80" y="0"/>
                  </a:lnTo>
                  <a:lnTo>
                    <a:pt x="160" y="0"/>
                  </a:lnTo>
                  <a:lnTo>
                    <a:pt x="80" y="3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6" name="Line 278"/>
            <p:cNvSpPr>
              <a:spLocks noChangeShapeType="1"/>
            </p:cNvSpPr>
            <p:nvPr/>
          </p:nvSpPr>
          <p:spPr bwMode="auto">
            <a:xfrm rot="5400000" flipV="1">
              <a:off x="5192009" y="2705472"/>
              <a:ext cx="125899" cy="189863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7" name="Groupe 276"/>
          <p:cNvGrpSpPr/>
          <p:nvPr/>
        </p:nvGrpSpPr>
        <p:grpSpPr>
          <a:xfrm>
            <a:off x="7832862" y="2476810"/>
            <a:ext cx="501509" cy="397336"/>
            <a:chOff x="4853001" y="2489279"/>
            <a:chExt cx="501509" cy="397336"/>
          </a:xfrm>
        </p:grpSpPr>
        <p:sp>
          <p:nvSpPr>
            <p:cNvPr id="278" name="Line 278"/>
            <p:cNvSpPr>
              <a:spLocks noChangeShapeType="1"/>
            </p:cNvSpPr>
            <p:nvPr/>
          </p:nvSpPr>
          <p:spPr bwMode="auto">
            <a:xfrm rot="5400000" flipH="1">
              <a:off x="4893324" y="2690718"/>
              <a:ext cx="391795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9" name="Line 279"/>
            <p:cNvSpPr>
              <a:spLocks noChangeShapeType="1"/>
            </p:cNvSpPr>
            <p:nvPr/>
          </p:nvSpPr>
          <p:spPr bwMode="auto">
            <a:xfrm rot="5400000">
              <a:off x="4971111" y="2570386"/>
              <a:ext cx="0" cy="23622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0" name="Line 280"/>
            <p:cNvSpPr>
              <a:spLocks noChangeShapeType="1"/>
            </p:cNvSpPr>
            <p:nvPr/>
          </p:nvSpPr>
          <p:spPr bwMode="auto">
            <a:xfrm rot="5400000" flipV="1">
              <a:off x="4967480" y="2686447"/>
              <a:ext cx="394335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1" name="Line 278"/>
            <p:cNvSpPr>
              <a:spLocks noChangeShapeType="1"/>
            </p:cNvSpPr>
            <p:nvPr/>
          </p:nvSpPr>
          <p:spPr bwMode="auto">
            <a:xfrm rot="5400000" flipH="1" flipV="1">
              <a:off x="5196629" y="2466086"/>
              <a:ext cx="125899" cy="189863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2" name="Freeform 83"/>
            <p:cNvSpPr>
              <a:spLocks/>
            </p:cNvSpPr>
            <p:nvPr/>
          </p:nvSpPr>
          <p:spPr bwMode="auto">
            <a:xfrm rot="18577591">
              <a:off x="5249086" y="2779520"/>
              <a:ext cx="101600" cy="105700"/>
            </a:xfrm>
            <a:custGeom>
              <a:avLst/>
              <a:gdLst>
                <a:gd name="T0" fmla="*/ 80 w 160"/>
                <a:gd name="T1" fmla="*/ 341 h 341"/>
                <a:gd name="T2" fmla="*/ 0 w 160"/>
                <a:gd name="T3" fmla="*/ 0 h 341"/>
                <a:gd name="T4" fmla="*/ 80 w 160"/>
                <a:gd name="T5" fmla="*/ 0 h 341"/>
                <a:gd name="T6" fmla="*/ 160 w 160"/>
                <a:gd name="T7" fmla="*/ 0 h 341"/>
                <a:gd name="T8" fmla="*/ 80 w 160"/>
                <a:gd name="T9" fmla="*/ 341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41">
                  <a:moveTo>
                    <a:pt x="80" y="341"/>
                  </a:moveTo>
                  <a:lnTo>
                    <a:pt x="0" y="0"/>
                  </a:lnTo>
                  <a:lnTo>
                    <a:pt x="80" y="0"/>
                  </a:lnTo>
                  <a:lnTo>
                    <a:pt x="160" y="0"/>
                  </a:lnTo>
                  <a:lnTo>
                    <a:pt x="80" y="3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3" name="Line 278"/>
            <p:cNvSpPr>
              <a:spLocks noChangeShapeType="1"/>
            </p:cNvSpPr>
            <p:nvPr/>
          </p:nvSpPr>
          <p:spPr bwMode="auto">
            <a:xfrm rot="5400000" flipV="1">
              <a:off x="5192009" y="2705472"/>
              <a:ext cx="125899" cy="189863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84" name="Groupe 283"/>
          <p:cNvGrpSpPr/>
          <p:nvPr/>
        </p:nvGrpSpPr>
        <p:grpSpPr>
          <a:xfrm>
            <a:off x="7822864" y="4101137"/>
            <a:ext cx="501509" cy="397336"/>
            <a:chOff x="4853001" y="2489279"/>
            <a:chExt cx="501509" cy="397336"/>
          </a:xfrm>
        </p:grpSpPr>
        <p:sp>
          <p:nvSpPr>
            <p:cNvPr id="285" name="Line 278"/>
            <p:cNvSpPr>
              <a:spLocks noChangeShapeType="1"/>
            </p:cNvSpPr>
            <p:nvPr/>
          </p:nvSpPr>
          <p:spPr bwMode="auto">
            <a:xfrm rot="5400000" flipH="1">
              <a:off x="4893324" y="2690718"/>
              <a:ext cx="391795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6" name="Line 279"/>
            <p:cNvSpPr>
              <a:spLocks noChangeShapeType="1"/>
            </p:cNvSpPr>
            <p:nvPr/>
          </p:nvSpPr>
          <p:spPr bwMode="auto">
            <a:xfrm rot="5400000">
              <a:off x="4971111" y="2570386"/>
              <a:ext cx="0" cy="23622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7" name="Line 280"/>
            <p:cNvSpPr>
              <a:spLocks noChangeShapeType="1"/>
            </p:cNvSpPr>
            <p:nvPr/>
          </p:nvSpPr>
          <p:spPr bwMode="auto">
            <a:xfrm rot="5400000" flipV="1">
              <a:off x="4967480" y="2686447"/>
              <a:ext cx="394335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8" name="Line 278"/>
            <p:cNvSpPr>
              <a:spLocks noChangeShapeType="1"/>
            </p:cNvSpPr>
            <p:nvPr/>
          </p:nvSpPr>
          <p:spPr bwMode="auto">
            <a:xfrm rot="5400000" flipH="1" flipV="1">
              <a:off x="5196629" y="2466086"/>
              <a:ext cx="125899" cy="189863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9" name="Freeform 83"/>
            <p:cNvSpPr>
              <a:spLocks/>
            </p:cNvSpPr>
            <p:nvPr/>
          </p:nvSpPr>
          <p:spPr bwMode="auto">
            <a:xfrm rot="18577591">
              <a:off x="5249086" y="2779520"/>
              <a:ext cx="101600" cy="105700"/>
            </a:xfrm>
            <a:custGeom>
              <a:avLst/>
              <a:gdLst>
                <a:gd name="T0" fmla="*/ 80 w 160"/>
                <a:gd name="T1" fmla="*/ 341 h 341"/>
                <a:gd name="T2" fmla="*/ 0 w 160"/>
                <a:gd name="T3" fmla="*/ 0 h 341"/>
                <a:gd name="T4" fmla="*/ 80 w 160"/>
                <a:gd name="T5" fmla="*/ 0 h 341"/>
                <a:gd name="T6" fmla="*/ 160 w 160"/>
                <a:gd name="T7" fmla="*/ 0 h 341"/>
                <a:gd name="T8" fmla="*/ 80 w 160"/>
                <a:gd name="T9" fmla="*/ 341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341">
                  <a:moveTo>
                    <a:pt x="80" y="341"/>
                  </a:moveTo>
                  <a:lnTo>
                    <a:pt x="0" y="0"/>
                  </a:lnTo>
                  <a:lnTo>
                    <a:pt x="80" y="0"/>
                  </a:lnTo>
                  <a:lnTo>
                    <a:pt x="160" y="0"/>
                  </a:lnTo>
                  <a:lnTo>
                    <a:pt x="80" y="3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0" name="Line 278"/>
            <p:cNvSpPr>
              <a:spLocks noChangeShapeType="1"/>
            </p:cNvSpPr>
            <p:nvPr/>
          </p:nvSpPr>
          <p:spPr bwMode="auto">
            <a:xfrm rot="5400000" flipV="1">
              <a:off x="5192009" y="2705472"/>
              <a:ext cx="125899" cy="189863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1372878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99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27597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3 Phases motor control : BLDC</a:t>
            </a:r>
          </a:p>
        </p:txBody>
      </p:sp>
      <p:cxnSp>
        <p:nvCxnSpPr>
          <p:cNvPr id="247" name="Connecteur droit 246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ZoneTexte 248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Inverters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Single phase inverter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Three phase inverter</a:t>
            </a:r>
          </a:p>
          <a:p>
            <a:r>
              <a:rPr lang="en-US" b="1" dirty="0">
                <a:solidFill>
                  <a:srgbClr val="FF0000"/>
                </a:solidFill>
              </a:rPr>
              <a:t>Three phase motor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612" y="1114860"/>
            <a:ext cx="9047465" cy="4763672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445625" y="6280329"/>
            <a:ext cx="7280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/>
              <a:t>AN899 (Microchip) : </a:t>
            </a:r>
            <a:r>
              <a:rPr lang="en-US" sz="1600" i="1" dirty="0"/>
              <a:t>Brushless DC Motor Control Using PIC18FXX31 MCUs</a:t>
            </a:r>
            <a:endParaRPr lang="fr-FR" sz="1600" i="1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6489700" y="1308100"/>
            <a:ext cx="2895600" cy="28956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ZoneTexte 113"/>
          <p:cNvSpPr txBox="1"/>
          <p:nvPr/>
        </p:nvSpPr>
        <p:spPr>
          <a:xfrm>
            <a:off x="6794500" y="802164"/>
            <a:ext cx="1968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Inverter</a:t>
            </a:r>
          </a:p>
        </p:txBody>
      </p:sp>
      <p:sp>
        <p:nvSpPr>
          <p:cNvPr id="184" name="Rectangle à coins arrondis 183"/>
          <p:cNvSpPr/>
          <p:nvPr/>
        </p:nvSpPr>
        <p:spPr>
          <a:xfrm>
            <a:off x="9601199" y="1651857"/>
            <a:ext cx="2214193" cy="2462943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8" name="ZoneTexte 247"/>
          <p:cNvSpPr txBox="1"/>
          <p:nvPr/>
        </p:nvSpPr>
        <p:spPr>
          <a:xfrm>
            <a:off x="9724045" y="775006"/>
            <a:ext cx="1968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Synchronous motor</a:t>
            </a:r>
          </a:p>
        </p:txBody>
      </p:sp>
      <p:sp>
        <p:nvSpPr>
          <p:cNvPr id="250" name="Rectangle à coins arrondis 249"/>
          <p:cNvSpPr/>
          <p:nvPr/>
        </p:nvSpPr>
        <p:spPr>
          <a:xfrm>
            <a:off x="3721100" y="4247971"/>
            <a:ext cx="5230492" cy="1238429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1" name="ZoneTexte 250"/>
          <p:cNvSpPr txBox="1"/>
          <p:nvPr/>
        </p:nvSpPr>
        <p:spPr>
          <a:xfrm>
            <a:off x="4948456" y="5491003"/>
            <a:ext cx="308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Current protection</a:t>
            </a:r>
          </a:p>
        </p:txBody>
      </p:sp>
    </p:spTree>
    <p:extLst>
      <p:ext uri="{BB962C8B-B14F-4D97-AF65-F5344CB8AC3E}">
        <p14:creationId xmlns:p14="http://schemas.microsoft.com/office/powerpoint/2010/main" val="31710982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036647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3 Phases motor control : BLDC, 6 Step</a:t>
            </a:r>
          </a:p>
        </p:txBody>
      </p:sp>
      <p:cxnSp>
        <p:nvCxnSpPr>
          <p:cNvPr id="247" name="Connecteur droit 246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ZoneTexte 248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Inverters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Single phase inverter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Three phase inverter</a:t>
            </a:r>
          </a:p>
          <a:p>
            <a:r>
              <a:rPr lang="en-US" b="1" dirty="0">
                <a:solidFill>
                  <a:srgbClr val="FF0000"/>
                </a:solidFill>
              </a:rPr>
              <a:t>Three phase motor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160" y="610791"/>
            <a:ext cx="4117477" cy="216793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/>
          <a:srcRect l="3177" t="1" r="1941" b="1722"/>
          <a:stretch/>
        </p:blipFill>
        <p:spPr>
          <a:xfrm>
            <a:off x="2364790" y="1148898"/>
            <a:ext cx="4923672" cy="490743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562" y="3921265"/>
            <a:ext cx="4774674" cy="1274056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2445625" y="6280329"/>
            <a:ext cx="7280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/>
              <a:t>AN899 (Microchip) : </a:t>
            </a:r>
            <a:r>
              <a:rPr lang="en-US" sz="1600" i="1" dirty="0"/>
              <a:t>Brushless DC Motor Control Using PIC18FXX31 MCUs</a:t>
            </a:r>
            <a:endParaRPr lang="fr-FR" sz="1600" i="1" dirty="0"/>
          </a:p>
        </p:txBody>
      </p:sp>
    </p:spTree>
    <p:extLst>
      <p:ext uri="{BB962C8B-B14F-4D97-AF65-F5344CB8AC3E}">
        <p14:creationId xmlns:p14="http://schemas.microsoft.com/office/powerpoint/2010/main" val="5714441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Closed loop chopper control</a:t>
            </a:r>
          </a:p>
        </p:txBody>
      </p:sp>
      <p:cxnSp>
        <p:nvCxnSpPr>
          <p:cNvPr id="4" name="Connecteur droit 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</p:spTree>
    <p:extLst>
      <p:ext uri="{BB962C8B-B14F-4D97-AF65-F5344CB8AC3E}">
        <p14:creationId xmlns:p14="http://schemas.microsoft.com/office/powerpoint/2010/main" val="11487001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Closed loop chopper control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460916"/>
              </p:ext>
            </p:extLst>
          </p:nvPr>
        </p:nvGraphicFramePr>
        <p:xfrm>
          <a:off x="3440402" y="1187378"/>
          <a:ext cx="6272156" cy="3315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051300" imgH="2141220" progId="Word.Picture.8">
                  <p:embed/>
                </p:oleObj>
              </mc:Choice>
              <mc:Fallback>
                <p:oleObj name="Image" r:id="rId2" imgW="4051300" imgH="2141220" progId="Word.Picture.8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402" y="1187378"/>
                        <a:ext cx="6272156" cy="331549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58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906597" y="4719568"/>
            <a:ext cx="4950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 dirty="0">
                <a:solidFill>
                  <a:srgbClr val="0033CC"/>
                </a:solidFill>
                <a:latin typeface="Calibri (Corps)"/>
              </a:rPr>
              <a:t>Possible control : speed / torque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554297" y="5295831"/>
            <a:ext cx="3402663" cy="58477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b="1" i="1">
                <a:solidFill>
                  <a:srgbClr val="FF3300"/>
                </a:solidFill>
                <a:latin typeface="Calibri (Corps)"/>
              </a:rPr>
              <a:t>Voltage / current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rgbClr val="FF0000"/>
                </a:solidFill>
              </a:rPr>
              <a:t>Models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Current control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2" name="Connecteur droit 1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8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DC motor model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896807"/>
              </p:ext>
            </p:extLst>
          </p:nvPr>
        </p:nvGraphicFramePr>
        <p:xfrm>
          <a:off x="2856202" y="3997246"/>
          <a:ext cx="7777162" cy="279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5130800" imgH="1849120" progId="Word.Picture.8">
                  <p:embed/>
                </p:oleObj>
              </mc:Choice>
              <mc:Fallback>
                <p:oleObj name="Image" r:id="rId2" imgW="5130800" imgH="1849120" progId="Word.Picture.8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6202" y="3997246"/>
                        <a:ext cx="7777162" cy="279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1"/>
              <p:cNvSpPr txBox="1">
                <a:spLocks noChangeArrowheads="1"/>
              </p:cNvSpPr>
              <p:nvPr/>
            </p:nvSpPr>
            <p:spPr bwMode="auto">
              <a:xfrm>
                <a:off x="2515104" y="1225299"/>
                <a:ext cx="9095007" cy="19359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fr-FR" sz="2000" dirty="0">
                    <a:latin typeface="Calibri (Corps)"/>
                  </a:rPr>
                  <a:t>Electrical equation		:	</a:t>
                </a:r>
                <a14:m>
                  <m:oMath xmlns:m="http://schemas.openxmlformats.org/officeDocument/2006/math"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fr-FR" sz="20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alt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fr-FR" sz="2000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altLang="fr-FR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altLang="fr-FR" sz="2000" dirty="0">
                  <a:latin typeface="Calibri (Corps)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fr-FR" sz="2000" dirty="0">
                  <a:latin typeface="Calibri (Corps)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fr-FR" sz="2000" dirty="0">
                    <a:latin typeface="Calibri (Corps)"/>
                  </a:rPr>
                  <a:t>Mechanical equation		:	</a:t>
                </a:r>
                <a14:m>
                  <m:oMath xmlns:m="http://schemas.openxmlformats.org/officeDocument/2006/math"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𝐽</m:t>
                    </m:r>
                    <m:f>
                      <m:f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fr-FR" altLang="fr-FR" sz="20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fr-FR" altLang="fr-FR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altLang="fr-FR" sz="2000" dirty="0">
                  <a:latin typeface="Calibri (Corps)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fr-FR" sz="2000" dirty="0">
                  <a:latin typeface="Calibri (Corps)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fr-FR" sz="2000" dirty="0">
                    <a:latin typeface="Calibri (Corps)"/>
                  </a:rPr>
                  <a:t>Coupling equations		:	</a:t>
                </a:r>
                <a14:m>
                  <m:oMath xmlns:m="http://schemas.openxmlformats.org/officeDocument/2006/math"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fr-FR" altLang="fr-FR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fr-FR" sz="2000" dirty="0">
                    <a:latin typeface="Calibri (Corps)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fr-FR" sz="2000" dirty="0">
                  <a:latin typeface="Calibri (Corps)"/>
                </a:endParaRPr>
              </a:p>
            </p:txBody>
          </p:sp>
        </mc:Choice>
        <mc:Fallback xmlns="">
          <p:sp>
            <p:nvSpPr>
              <p:cNvPr id="7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104" y="1225299"/>
                <a:ext cx="9095007" cy="1935979"/>
              </a:xfrm>
              <a:prstGeom prst="rect">
                <a:avLst/>
              </a:prstGeom>
              <a:blipFill>
                <a:blip r:embed="rId5"/>
                <a:stretch>
                  <a:fillRect l="-737" b="-34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115"/>
          <p:cNvGrpSpPr>
            <a:grpSpLocks/>
          </p:cNvGrpSpPr>
          <p:nvPr/>
        </p:nvGrpSpPr>
        <p:grpSpPr bwMode="auto">
          <a:xfrm rot="5400000" flipV="1">
            <a:off x="10793195" y="1781134"/>
            <a:ext cx="1152525" cy="287337"/>
            <a:chOff x="2025" y="3277"/>
            <a:chExt cx="1027" cy="217"/>
          </a:xfrm>
        </p:grpSpPr>
        <p:sp>
          <p:nvSpPr>
            <p:cNvPr id="12" name="Freeform 116"/>
            <p:cNvSpPr>
              <a:spLocks/>
            </p:cNvSpPr>
            <p:nvPr/>
          </p:nvSpPr>
          <p:spPr bwMode="auto">
            <a:xfrm>
              <a:off x="2231" y="3277"/>
              <a:ext cx="96" cy="108"/>
            </a:xfrm>
            <a:custGeom>
              <a:avLst/>
              <a:gdLst>
                <a:gd name="T0" fmla="*/ 0 w 96"/>
                <a:gd name="T1" fmla="*/ 108 h 108"/>
                <a:gd name="T2" fmla="*/ 0 w 96"/>
                <a:gd name="T3" fmla="*/ 84 h 108"/>
                <a:gd name="T4" fmla="*/ 12 w 96"/>
                <a:gd name="T5" fmla="*/ 48 h 108"/>
                <a:gd name="T6" fmla="*/ 24 w 96"/>
                <a:gd name="T7" fmla="*/ 24 h 108"/>
                <a:gd name="T8" fmla="*/ 36 w 96"/>
                <a:gd name="T9" fmla="*/ 12 h 108"/>
                <a:gd name="T10" fmla="*/ 72 w 96"/>
                <a:gd name="T11" fmla="*/ 0 h 108"/>
                <a:gd name="T12" fmla="*/ 96 w 96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08">
                  <a:moveTo>
                    <a:pt x="0" y="108"/>
                  </a:moveTo>
                  <a:lnTo>
                    <a:pt x="0" y="84"/>
                  </a:lnTo>
                  <a:lnTo>
                    <a:pt x="12" y="48"/>
                  </a:lnTo>
                  <a:lnTo>
                    <a:pt x="24" y="24"/>
                  </a:lnTo>
                  <a:lnTo>
                    <a:pt x="36" y="12"/>
                  </a:lnTo>
                  <a:lnTo>
                    <a:pt x="72" y="0"/>
                  </a:lnTo>
                  <a:lnTo>
                    <a:pt x="96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17"/>
            <p:cNvSpPr>
              <a:spLocks/>
            </p:cNvSpPr>
            <p:nvPr/>
          </p:nvSpPr>
          <p:spPr bwMode="auto">
            <a:xfrm>
              <a:off x="2231" y="3385"/>
              <a:ext cx="36" cy="109"/>
            </a:xfrm>
            <a:custGeom>
              <a:avLst/>
              <a:gdLst>
                <a:gd name="T0" fmla="*/ 36 w 36"/>
                <a:gd name="T1" fmla="*/ 109 h 109"/>
                <a:gd name="T2" fmla="*/ 36 w 36"/>
                <a:gd name="T3" fmla="*/ 109 h 109"/>
                <a:gd name="T4" fmla="*/ 24 w 36"/>
                <a:gd name="T5" fmla="*/ 97 h 109"/>
                <a:gd name="T6" fmla="*/ 12 w 36"/>
                <a:gd name="T7" fmla="*/ 85 h 109"/>
                <a:gd name="T8" fmla="*/ 12 w 36"/>
                <a:gd name="T9" fmla="*/ 73 h 109"/>
                <a:gd name="T10" fmla="*/ 0 w 36"/>
                <a:gd name="T11" fmla="*/ 24 h 109"/>
                <a:gd name="T12" fmla="*/ 0 w 36"/>
                <a:gd name="T13" fmla="*/ 0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09">
                  <a:moveTo>
                    <a:pt x="36" y="109"/>
                  </a:moveTo>
                  <a:lnTo>
                    <a:pt x="36" y="109"/>
                  </a:lnTo>
                  <a:lnTo>
                    <a:pt x="24" y="97"/>
                  </a:lnTo>
                  <a:lnTo>
                    <a:pt x="12" y="85"/>
                  </a:lnTo>
                  <a:lnTo>
                    <a:pt x="12" y="73"/>
                  </a:lnTo>
                  <a:lnTo>
                    <a:pt x="0" y="2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18"/>
            <p:cNvSpPr>
              <a:spLocks/>
            </p:cNvSpPr>
            <p:nvPr/>
          </p:nvSpPr>
          <p:spPr bwMode="auto">
            <a:xfrm>
              <a:off x="2207" y="3277"/>
              <a:ext cx="96" cy="108"/>
            </a:xfrm>
            <a:custGeom>
              <a:avLst/>
              <a:gdLst>
                <a:gd name="T0" fmla="*/ 0 w 96"/>
                <a:gd name="T1" fmla="*/ 0 h 108"/>
                <a:gd name="T2" fmla="*/ 24 w 96"/>
                <a:gd name="T3" fmla="*/ 0 h 108"/>
                <a:gd name="T4" fmla="*/ 60 w 96"/>
                <a:gd name="T5" fmla="*/ 12 h 108"/>
                <a:gd name="T6" fmla="*/ 72 w 96"/>
                <a:gd name="T7" fmla="*/ 24 h 108"/>
                <a:gd name="T8" fmla="*/ 84 w 96"/>
                <a:gd name="T9" fmla="*/ 48 h 108"/>
                <a:gd name="T10" fmla="*/ 96 w 96"/>
                <a:gd name="T11" fmla="*/ 84 h 108"/>
                <a:gd name="T12" fmla="*/ 96 w 96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08">
                  <a:moveTo>
                    <a:pt x="0" y="0"/>
                  </a:moveTo>
                  <a:lnTo>
                    <a:pt x="24" y="0"/>
                  </a:lnTo>
                  <a:lnTo>
                    <a:pt x="60" y="12"/>
                  </a:lnTo>
                  <a:lnTo>
                    <a:pt x="72" y="24"/>
                  </a:lnTo>
                  <a:lnTo>
                    <a:pt x="84" y="48"/>
                  </a:lnTo>
                  <a:lnTo>
                    <a:pt x="96" y="84"/>
                  </a:lnTo>
                  <a:lnTo>
                    <a:pt x="96" y="10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19"/>
            <p:cNvSpPr>
              <a:spLocks/>
            </p:cNvSpPr>
            <p:nvPr/>
          </p:nvSpPr>
          <p:spPr bwMode="auto">
            <a:xfrm>
              <a:off x="2267" y="3385"/>
              <a:ext cx="36" cy="109"/>
            </a:xfrm>
            <a:custGeom>
              <a:avLst/>
              <a:gdLst>
                <a:gd name="T0" fmla="*/ 36 w 36"/>
                <a:gd name="T1" fmla="*/ 0 h 109"/>
                <a:gd name="T2" fmla="*/ 36 w 36"/>
                <a:gd name="T3" fmla="*/ 24 h 109"/>
                <a:gd name="T4" fmla="*/ 36 w 36"/>
                <a:gd name="T5" fmla="*/ 61 h 109"/>
                <a:gd name="T6" fmla="*/ 24 w 36"/>
                <a:gd name="T7" fmla="*/ 85 h 109"/>
                <a:gd name="T8" fmla="*/ 24 w 36"/>
                <a:gd name="T9" fmla="*/ 97 h 109"/>
                <a:gd name="T10" fmla="*/ 12 w 36"/>
                <a:gd name="T11" fmla="*/ 109 h 109"/>
                <a:gd name="T12" fmla="*/ 0 w 36"/>
                <a:gd name="T13" fmla="*/ 109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09">
                  <a:moveTo>
                    <a:pt x="36" y="0"/>
                  </a:moveTo>
                  <a:lnTo>
                    <a:pt x="36" y="24"/>
                  </a:lnTo>
                  <a:lnTo>
                    <a:pt x="36" y="61"/>
                  </a:lnTo>
                  <a:lnTo>
                    <a:pt x="24" y="85"/>
                  </a:lnTo>
                  <a:lnTo>
                    <a:pt x="24" y="97"/>
                  </a:lnTo>
                  <a:lnTo>
                    <a:pt x="12" y="109"/>
                  </a:lnTo>
                  <a:lnTo>
                    <a:pt x="0" y="10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20"/>
            <p:cNvSpPr>
              <a:spLocks/>
            </p:cNvSpPr>
            <p:nvPr/>
          </p:nvSpPr>
          <p:spPr bwMode="auto">
            <a:xfrm>
              <a:off x="2339" y="3277"/>
              <a:ext cx="97" cy="108"/>
            </a:xfrm>
            <a:custGeom>
              <a:avLst/>
              <a:gdLst>
                <a:gd name="T0" fmla="*/ 0 w 97"/>
                <a:gd name="T1" fmla="*/ 108 h 108"/>
                <a:gd name="T2" fmla="*/ 0 w 97"/>
                <a:gd name="T3" fmla="*/ 84 h 108"/>
                <a:gd name="T4" fmla="*/ 13 w 97"/>
                <a:gd name="T5" fmla="*/ 48 h 108"/>
                <a:gd name="T6" fmla="*/ 25 w 97"/>
                <a:gd name="T7" fmla="*/ 24 h 108"/>
                <a:gd name="T8" fmla="*/ 49 w 97"/>
                <a:gd name="T9" fmla="*/ 12 h 108"/>
                <a:gd name="T10" fmla="*/ 85 w 97"/>
                <a:gd name="T11" fmla="*/ 0 h 108"/>
                <a:gd name="T12" fmla="*/ 97 w 97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108">
                  <a:moveTo>
                    <a:pt x="0" y="108"/>
                  </a:moveTo>
                  <a:lnTo>
                    <a:pt x="0" y="84"/>
                  </a:lnTo>
                  <a:lnTo>
                    <a:pt x="13" y="48"/>
                  </a:lnTo>
                  <a:lnTo>
                    <a:pt x="25" y="24"/>
                  </a:lnTo>
                  <a:lnTo>
                    <a:pt x="49" y="12"/>
                  </a:lnTo>
                  <a:lnTo>
                    <a:pt x="85" y="0"/>
                  </a:lnTo>
                  <a:lnTo>
                    <a:pt x="97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21"/>
            <p:cNvSpPr>
              <a:spLocks/>
            </p:cNvSpPr>
            <p:nvPr/>
          </p:nvSpPr>
          <p:spPr bwMode="auto">
            <a:xfrm>
              <a:off x="2339" y="3385"/>
              <a:ext cx="37" cy="109"/>
            </a:xfrm>
            <a:custGeom>
              <a:avLst/>
              <a:gdLst>
                <a:gd name="T0" fmla="*/ 37 w 37"/>
                <a:gd name="T1" fmla="*/ 109 h 109"/>
                <a:gd name="T2" fmla="*/ 37 w 37"/>
                <a:gd name="T3" fmla="*/ 109 h 109"/>
                <a:gd name="T4" fmla="*/ 25 w 37"/>
                <a:gd name="T5" fmla="*/ 97 h 109"/>
                <a:gd name="T6" fmla="*/ 13 w 37"/>
                <a:gd name="T7" fmla="*/ 85 h 109"/>
                <a:gd name="T8" fmla="*/ 13 w 37"/>
                <a:gd name="T9" fmla="*/ 73 h 109"/>
                <a:gd name="T10" fmla="*/ 0 w 37"/>
                <a:gd name="T11" fmla="*/ 24 h 109"/>
                <a:gd name="T12" fmla="*/ 0 w 37"/>
                <a:gd name="T13" fmla="*/ 0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109">
                  <a:moveTo>
                    <a:pt x="37" y="109"/>
                  </a:moveTo>
                  <a:lnTo>
                    <a:pt x="37" y="109"/>
                  </a:lnTo>
                  <a:lnTo>
                    <a:pt x="25" y="97"/>
                  </a:lnTo>
                  <a:lnTo>
                    <a:pt x="13" y="85"/>
                  </a:lnTo>
                  <a:lnTo>
                    <a:pt x="13" y="73"/>
                  </a:lnTo>
                  <a:lnTo>
                    <a:pt x="0" y="2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22"/>
            <p:cNvSpPr>
              <a:spLocks/>
            </p:cNvSpPr>
            <p:nvPr/>
          </p:nvSpPr>
          <p:spPr bwMode="auto">
            <a:xfrm>
              <a:off x="2315" y="3277"/>
              <a:ext cx="97" cy="108"/>
            </a:xfrm>
            <a:custGeom>
              <a:avLst/>
              <a:gdLst>
                <a:gd name="T0" fmla="*/ 0 w 97"/>
                <a:gd name="T1" fmla="*/ 0 h 108"/>
                <a:gd name="T2" fmla="*/ 24 w 97"/>
                <a:gd name="T3" fmla="*/ 0 h 108"/>
                <a:gd name="T4" fmla="*/ 61 w 97"/>
                <a:gd name="T5" fmla="*/ 12 h 108"/>
                <a:gd name="T6" fmla="*/ 73 w 97"/>
                <a:gd name="T7" fmla="*/ 24 h 108"/>
                <a:gd name="T8" fmla="*/ 85 w 97"/>
                <a:gd name="T9" fmla="*/ 48 h 108"/>
                <a:gd name="T10" fmla="*/ 97 w 97"/>
                <a:gd name="T11" fmla="*/ 84 h 108"/>
                <a:gd name="T12" fmla="*/ 97 w 97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108">
                  <a:moveTo>
                    <a:pt x="0" y="0"/>
                  </a:moveTo>
                  <a:lnTo>
                    <a:pt x="24" y="0"/>
                  </a:lnTo>
                  <a:lnTo>
                    <a:pt x="61" y="12"/>
                  </a:lnTo>
                  <a:lnTo>
                    <a:pt x="73" y="24"/>
                  </a:lnTo>
                  <a:lnTo>
                    <a:pt x="85" y="48"/>
                  </a:lnTo>
                  <a:lnTo>
                    <a:pt x="97" y="84"/>
                  </a:lnTo>
                  <a:lnTo>
                    <a:pt x="97" y="10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23"/>
            <p:cNvSpPr>
              <a:spLocks/>
            </p:cNvSpPr>
            <p:nvPr/>
          </p:nvSpPr>
          <p:spPr bwMode="auto">
            <a:xfrm>
              <a:off x="2376" y="3385"/>
              <a:ext cx="36" cy="109"/>
            </a:xfrm>
            <a:custGeom>
              <a:avLst/>
              <a:gdLst>
                <a:gd name="T0" fmla="*/ 36 w 36"/>
                <a:gd name="T1" fmla="*/ 0 h 109"/>
                <a:gd name="T2" fmla="*/ 36 w 36"/>
                <a:gd name="T3" fmla="*/ 24 h 109"/>
                <a:gd name="T4" fmla="*/ 36 w 36"/>
                <a:gd name="T5" fmla="*/ 61 h 109"/>
                <a:gd name="T6" fmla="*/ 24 w 36"/>
                <a:gd name="T7" fmla="*/ 85 h 109"/>
                <a:gd name="T8" fmla="*/ 24 w 36"/>
                <a:gd name="T9" fmla="*/ 97 h 109"/>
                <a:gd name="T10" fmla="*/ 12 w 36"/>
                <a:gd name="T11" fmla="*/ 109 h 109"/>
                <a:gd name="T12" fmla="*/ 0 w 36"/>
                <a:gd name="T13" fmla="*/ 109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09">
                  <a:moveTo>
                    <a:pt x="36" y="0"/>
                  </a:moveTo>
                  <a:lnTo>
                    <a:pt x="36" y="24"/>
                  </a:lnTo>
                  <a:lnTo>
                    <a:pt x="36" y="61"/>
                  </a:lnTo>
                  <a:lnTo>
                    <a:pt x="24" y="85"/>
                  </a:lnTo>
                  <a:lnTo>
                    <a:pt x="24" y="97"/>
                  </a:lnTo>
                  <a:lnTo>
                    <a:pt x="12" y="109"/>
                  </a:lnTo>
                  <a:lnTo>
                    <a:pt x="0" y="10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124"/>
            <p:cNvSpPr>
              <a:spLocks/>
            </p:cNvSpPr>
            <p:nvPr/>
          </p:nvSpPr>
          <p:spPr bwMode="auto">
            <a:xfrm>
              <a:off x="2448" y="3277"/>
              <a:ext cx="97" cy="108"/>
            </a:xfrm>
            <a:custGeom>
              <a:avLst/>
              <a:gdLst>
                <a:gd name="T0" fmla="*/ 0 w 97"/>
                <a:gd name="T1" fmla="*/ 108 h 108"/>
                <a:gd name="T2" fmla="*/ 0 w 97"/>
                <a:gd name="T3" fmla="*/ 84 h 108"/>
                <a:gd name="T4" fmla="*/ 12 w 97"/>
                <a:gd name="T5" fmla="*/ 48 h 108"/>
                <a:gd name="T6" fmla="*/ 24 w 97"/>
                <a:gd name="T7" fmla="*/ 24 h 108"/>
                <a:gd name="T8" fmla="*/ 48 w 97"/>
                <a:gd name="T9" fmla="*/ 12 h 108"/>
                <a:gd name="T10" fmla="*/ 85 w 97"/>
                <a:gd name="T11" fmla="*/ 0 h 108"/>
                <a:gd name="T12" fmla="*/ 97 w 97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108">
                  <a:moveTo>
                    <a:pt x="0" y="108"/>
                  </a:moveTo>
                  <a:lnTo>
                    <a:pt x="0" y="84"/>
                  </a:lnTo>
                  <a:lnTo>
                    <a:pt x="12" y="48"/>
                  </a:lnTo>
                  <a:lnTo>
                    <a:pt x="24" y="24"/>
                  </a:lnTo>
                  <a:lnTo>
                    <a:pt x="48" y="12"/>
                  </a:lnTo>
                  <a:lnTo>
                    <a:pt x="85" y="0"/>
                  </a:lnTo>
                  <a:lnTo>
                    <a:pt x="97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125"/>
            <p:cNvSpPr>
              <a:spLocks/>
            </p:cNvSpPr>
            <p:nvPr/>
          </p:nvSpPr>
          <p:spPr bwMode="auto">
            <a:xfrm>
              <a:off x="2448" y="3385"/>
              <a:ext cx="36" cy="109"/>
            </a:xfrm>
            <a:custGeom>
              <a:avLst/>
              <a:gdLst>
                <a:gd name="T0" fmla="*/ 36 w 36"/>
                <a:gd name="T1" fmla="*/ 109 h 109"/>
                <a:gd name="T2" fmla="*/ 36 w 36"/>
                <a:gd name="T3" fmla="*/ 109 h 109"/>
                <a:gd name="T4" fmla="*/ 24 w 36"/>
                <a:gd name="T5" fmla="*/ 97 h 109"/>
                <a:gd name="T6" fmla="*/ 12 w 36"/>
                <a:gd name="T7" fmla="*/ 85 h 109"/>
                <a:gd name="T8" fmla="*/ 12 w 36"/>
                <a:gd name="T9" fmla="*/ 73 h 109"/>
                <a:gd name="T10" fmla="*/ 0 w 36"/>
                <a:gd name="T11" fmla="*/ 24 h 109"/>
                <a:gd name="T12" fmla="*/ 0 w 36"/>
                <a:gd name="T13" fmla="*/ 0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09">
                  <a:moveTo>
                    <a:pt x="36" y="109"/>
                  </a:moveTo>
                  <a:lnTo>
                    <a:pt x="36" y="109"/>
                  </a:lnTo>
                  <a:lnTo>
                    <a:pt x="24" y="97"/>
                  </a:lnTo>
                  <a:lnTo>
                    <a:pt x="12" y="85"/>
                  </a:lnTo>
                  <a:lnTo>
                    <a:pt x="12" y="73"/>
                  </a:lnTo>
                  <a:lnTo>
                    <a:pt x="0" y="2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126"/>
            <p:cNvSpPr>
              <a:spLocks/>
            </p:cNvSpPr>
            <p:nvPr/>
          </p:nvSpPr>
          <p:spPr bwMode="auto">
            <a:xfrm>
              <a:off x="2424" y="3277"/>
              <a:ext cx="109" cy="108"/>
            </a:xfrm>
            <a:custGeom>
              <a:avLst/>
              <a:gdLst>
                <a:gd name="T0" fmla="*/ 0 w 109"/>
                <a:gd name="T1" fmla="*/ 0 h 108"/>
                <a:gd name="T2" fmla="*/ 24 w 109"/>
                <a:gd name="T3" fmla="*/ 0 h 108"/>
                <a:gd name="T4" fmla="*/ 60 w 109"/>
                <a:gd name="T5" fmla="*/ 12 h 108"/>
                <a:gd name="T6" fmla="*/ 72 w 109"/>
                <a:gd name="T7" fmla="*/ 24 h 108"/>
                <a:gd name="T8" fmla="*/ 85 w 109"/>
                <a:gd name="T9" fmla="*/ 36 h 108"/>
                <a:gd name="T10" fmla="*/ 97 w 109"/>
                <a:gd name="T11" fmla="*/ 60 h 108"/>
                <a:gd name="T12" fmla="*/ 109 w 109"/>
                <a:gd name="T13" fmla="*/ 84 h 108"/>
                <a:gd name="T14" fmla="*/ 109 w 109"/>
                <a:gd name="T15" fmla="*/ 96 h 108"/>
                <a:gd name="T16" fmla="*/ 109 w 109"/>
                <a:gd name="T17" fmla="*/ 108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108">
                  <a:moveTo>
                    <a:pt x="0" y="0"/>
                  </a:moveTo>
                  <a:lnTo>
                    <a:pt x="24" y="0"/>
                  </a:lnTo>
                  <a:lnTo>
                    <a:pt x="60" y="12"/>
                  </a:lnTo>
                  <a:lnTo>
                    <a:pt x="72" y="24"/>
                  </a:lnTo>
                  <a:lnTo>
                    <a:pt x="85" y="36"/>
                  </a:lnTo>
                  <a:lnTo>
                    <a:pt x="97" y="60"/>
                  </a:lnTo>
                  <a:lnTo>
                    <a:pt x="109" y="84"/>
                  </a:lnTo>
                  <a:lnTo>
                    <a:pt x="109" y="96"/>
                  </a:lnTo>
                  <a:lnTo>
                    <a:pt x="109" y="10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127"/>
            <p:cNvSpPr>
              <a:spLocks/>
            </p:cNvSpPr>
            <p:nvPr/>
          </p:nvSpPr>
          <p:spPr bwMode="auto">
            <a:xfrm>
              <a:off x="2484" y="3385"/>
              <a:ext cx="49" cy="109"/>
            </a:xfrm>
            <a:custGeom>
              <a:avLst/>
              <a:gdLst>
                <a:gd name="T0" fmla="*/ 49 w 49"/>
                <a:gd name="T1" fmla="*/ 0 h 109"/>
                <a:gd name="T2" fmla="*/ 49 w 49"/>
                <a:gd name="T3" fmla="*/ 24 h 109"/>
                <a:gd name="T4" fmla="*/ 37 w 49"/>
                <a:gd name="T5" fmla="*/ 73 h 109"/>
                <a:gd name="T6" fmla="*/ 25 w 49"/>
                <a:gd name="T7" fmla="*/ 85 h 109"/>
                <a:gd name="T8" fmla="*/ 25 w 49"/>
                <a:gd name="T9" fmla="*/ 97 h 109"/>
                <a:gd name="T10" fmla="*/ 12 w 49"/>
                <a:gd name="T11" fmla="*/ 109 h 109"/>
                <a:gd name="T12" fmla="*/ 0 w 49"/>
                <a:gd name="T13" fmla="*/ 109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09">
                  <a:moveTo>
                    <a:pt x="49" y="0"/>
                  </a:moveTo>
                  <a:lnTo>
                    <a:pt x="49" y="24"/>
                  </a:lnTo>
                  <a:lnTo>
                    <a:pt x="37" y="73"/>
                  </a:lnTo>
                  <a:lnTo>
                    <a:pt x="25" y="85"/>
                  </a:lnTo>
                  <a:lnTo>
                    <a:pt x="25" y="97"/>
                  </a:lnTo>
                  <a:lnTo>
                    <a:pt x="12" y="109"/>
                  </a:lnTo>
                  <a:lnTo>
                    <a:pt x="0" y="10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128"/>
            <p:cNvSpPr>
              <a:spLocks/>
            </p:cNvSpPr>
            <p:nvPr/>
          </p:nvSpPr>
          <p:spPr bwMode="auto">
            <a:xfrm>
              <a:off x="2557" y="3277"/>
              <a:ext cx="96" cy="108"/>
            </a:xfrm>
            <a:custGeom>
              <a:avLst/>
              <a:gdLst>
                <a:gd name="T0" fmla="*/ 0 w 96"/>
                <a:gd name="T1" fmla="*/ 108 h 108"/>
                <a:gd name="T2" fmla="*/ 0 w 96"/>
                <a:gd name="T3" fmla="*/ 84 h 108"/>
                <a:gd name="T4" fmla="*/ 12 w 96"/>
                <a:gd name="T5" fmla="*/ 48 h 108"/>
                <a:gd name="T6" fmla="*/ 24 w 96"/>
                <a:gd name="T7" fmla="*/ 24 h 108"/>
                <a:gd name="T8" fmla="*/ 48 w 96"/>
                <a:gd name="T9" fmla="*/ 12 h 108"/>
                <a:gd name="T10" fmla="*/ 84 w 96"/>
                <a:gd name="T11" fmla="*/ 0 h 108"/>
                <a:gd name="T12" fmla="*/ 96 w 96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08">
                  <a:moveTo>
                    <a:pt x="0" y="108"/>
                  </a:moveTo>
                  <a:lnTo>
                    <a:pt x="0" y="84"/>
                  </a:lnTo>
                  <a:lnTo>
                    <a:pt x="12" y="48"/>
                  </a:lnTo>
                  <a:lnTo>
                    <a:pt x="24" y="24"/>
                  </a:lnTo>
                  <a:lnTo>
                    <a:pt x="48" y="12"/>
                  </a:lnTo>
                  <a:lnTo>
                    <a:pt x="84" y="0"/>
                  </a:lnTo>
                  <a:lnTo>
                    <a:pt x="96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9"/>
            <p:cNvSpPr>
              <a:spLocks/>
            </p:cNvSpPr>
            <p:nvPr/>
          </p:nvSpPr>
          <p:spPr bwMode="auto">
            <a:xfrm>
              <a:off x="2557" y="3385"/>
              <a:ext cx="48" cy="109"/>
            </a:xfrm>
            <a:custGeom>
              <a:avLst/>
              <a:gdLst>
                <a:gd name="T0" fmla="*/ 48 w 48"/>
                <a:gd name="T1" fmla="*/ 109 h 109"/>
                <a:gd name="T2" fmla="*/ 36 w 48"/>
                <a:gd name="T3" fmla="*/ 109 h 109"/>
                <a:gd name="T4" fmla="*/ 24 w 48"/>
                <a:gd name="T5" fmla="*/ 97 h 109"/>
                <a:gd name="T6" fmla="*/ 12 w 48"/>
                <a:gd name="T7" fmla="*/ 85 h 109"/>
                <a:gd name="T8" fmla="*/ 12 w 48"/>
                <a:gd name="T9" fmla="*/ 73 h 109"/>
                <a:gd name="T10" fmla="*/ 0 w 48"/>
                <a:gd name="T11" fmla="*/ 24 h 109"/>
                <a:gd name="T12" fmla="*/ 0 w 48"/>
                <a:gd name="T13" fmla="*/ 0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09">
                  <a:moveTo>
                    <a:pt x="48" y="109"/>
                  </a:moveTo>
                  <a:lnTo>
                    <a:pt x="36" y="109"/>
                  </a:lnTo>
                  <a:lnTo>
                    <a:pt x="24" y="97"/>
                  </a:lnTo>
                  <a:lnTo>
                    <a:pt x="12" y="85"/>
                  </a:lnTo>
                  <a:lnTo>
                    <a:pt x="12" y="73"/>
                  </a:lnTo>
                  <a:lnTo>
                    <a:pt x="0" y="2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0"/>
            <p:cNvSpPr>
              <a:spLocks/>
            </p:cNvSpPr>
            <p:nvPr/>
          </p:nvSpPr>
          <p:spPr bwMode="auto">
            <a:xfrm>
              <a:off x="2533" y="3277"/>
              <a:ext cx="108" cy="108"/>
            </a:xfrm>
            <a:custGeom>
              <a:avLst/>
              <a:gdLst>
                <a:gd name="T0" fmla="*/ 0 w 108"/>
                <a:gd name="T1" fmla="*/ 0 h 108"/>
                <a:gd name="T2" fmla="*/ 24 w 108"/>
                <a:gd name="T3" fmla="*/ 0 h 108"/>
                <a:gd name="T4" fmla="*/ 60 w 108"/>
                <a:gd name="T5" fmla="*/ 12 h 108"/>
                <a:gd name="T6" fmla="*/ 72 w 108"/>
                <a:gd name="T7" fmla="*/ 24 h 108"/>
                <a:gd name="T8" fmla="*/ 84 w 108"/>
                <a:gd name="T9" fmla="*/ 36 h 108"/>
                <a:gd name="T10" fmla="*/ 96 w 108"/>
                <a:gd name="T11" fmla="*/ 60 h 108"/>
                <a:gd name="T12" fmla="*/ 108 w 108"/>
                <a:gd name="T13" fmla="*/ 84 h 108"/>
                <a:gd name="T14" fmla="*/ 108 w 108"/>
                <a:gd name="T15" fmla="*/ 96 h 108"/>
                <a:gd name="T16" fmla="*/ 108 w 108"/>
                <a:gd name="T17" fmla="*/ 108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" h="108">
                  <a:moveTo>
                    <a:pt x="0" y="0"/>
                  </a:moveTo>
                  <a:lnTo>
                    <a:pt x="24" y="0"/>
                  </a:lnTo>
                  <a:lnTo>
                    <a:pt x="60" y="12"/>
                  </a:lnTo>
                  <a:lnTo>
                    <a:pt x="72" y="24"/>
                  </a:lnTo>
                  <a:lnTo>
                    <a:pt x="84" y="36"/>
                  </a:lnTo>
                  <a:lnTo>
                    <a:pt x="96" y="60"/>
                  </a:lnTo>
                  <a:lnTo>
                    <a:pt x="108" y="84"/>
                  </a:lnTo>
                  <a:lnTo>
                    <a:pt x="108" y="96"/>
                  </a:lnTo>
                  <a:lnTo>
                    <a:pt x="108" y="10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31"/>
            <p:cNvSpPr>
              <a:spLocks/>
            </p:cNvSpPr>
            <p:nvPr/>
          </p:nvSpPr>
          <p:spPr bwMode="auto">
            <a:xfrm>
              <a:off x="2593" y="3385"/>
              <a:ext cx="48" cy="109"/>
            </a:xfrm>
            <a:custGeom>
              <a:avLst/>
              <a:gdLst>
                <a:gd name="T0" fmla="*/ 48 w 48"/>
                <a:gd name="T1" fmla="*/ 0 h 109"/>
                <a:gd name="T2" fmla="*/ 48 w 48"/>
                <a:gd name="T3" fmla="*/ 24 h 109"/>
                <a:gd name="T4" fmla="*/ 48 w 48"/>
                <a:gd name="T5" fmla="*/ 61 h 109"/>
                <a:gd name="T6" fmla="*/ 36 w 48"/>
                <a:gd name="T7" fmla="*/ 85 h 109"/>
                <a:gd name="T8" fmla="*/ 36 w 48"/>
                <a:gd name="T9" fmla="*/ 97 h 109"/>
                <a:gd name="T10" fmla="*/ 12 w 48"/>
                <a:gd name="T11" fmla="*/ 109 h 109"/>
                <a:gd name="T12" fmla="*/ 0 w 48"/>
                <a:gd name="T13" fmla="*/ 109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09">
                  <a:moveTo>
                    <a:pt x="48" y="0"/>
                  </a:moveTo>
                  <a:lnTo>
                    <a:pt x="48" y="24"/>
                  </a:lnTo>
                  <a:lnTo>
                    <a:pt x="48" y="61"/>
                  </a:lnTo>
                  <a:lnTo>
                    <a:pt x="36" y="85"/>
                  </a:lnTo>
                  <a:lnTo>
                    <a:pt x="36" y="97"/>
                  </a:lnTo>
                  <a:lnTo>
                    <a:pt x="12" y="109"/>
                  </a:lnTo>
                  <a:lnTo>
                    <a:pt x="0" y="10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32"/>
            <p:cNvSpPr>
              <a:spLocks/>
            </p:cNvSpPr>
            <p:nvPr/>
          </p:nvSpPr>
          <p:spPr bwMode="auto">
            <a:xfrm>
              <a:off x="2666" y="3277"/>
              <a:ext cx="96" cy="108"/>
            </a:xfrm>
            <a:custGeom>
              <a:avLst/>
              <a:gdLst>
                <a:gd name="T0" fmla="*/ 0 w 96"/>
                <a:gd name="T1" fmla="*/ 108 h 108"/>
                <a:gd name="T2" fmla="*/ 0 w 96"/>
                <a:gd name="T3" fmla="*/ 96 h 108"/>
                <a:gd name="T4" fmla="*/ 0 w 96"/>
                <a:gd name="T5" fmla="*/ 84 h 108"/>
                <a:gd name="T6" fmla="*/ 12 w 96"/>
                <a:gd name="T7" fmla="*/ 60 h 108"/>
                <a:gd name="T8" fmla="*/ 24 w 96"/>
                <a:gd name="T9" fmla="*/ 36 h 108"/>
                <a:gd name="T10" fmla="*/ 36 w 96"/>
                <a:gd name="T11" fmla="*/ 24 h 108"/>
                <a:gd name="T12" fmla="*/ 48 w 96"/>
                <a:gd name="T13" fmla="*/ 12 h 108"/>
                <a:gd name="T14" fmla="*/ 84 w 96"/>
                <a:gd name="T15" fmla="*/ 0 h 108"/>
                <a:gd name="T16" fmla="*/ 96 w 96"/>
                <a:gd name="T17" fmla="*/ 0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6" h="108">
                  <a:moveTo>
                    <a:pt x="0" y="108"/>
                  </a:moveTo>
                  <a:lnTo>
                    <a:pt x="0" y="96"/>
                  </a:lnTo>
                  <a:lnTo>
                    <a:pt x="0" y="84"/>
                  </a:lnTo>
                  <a:lnTo>
                    <a:pt x="12" y="60"/>
                  </a:lnTo>
                  <a:lnTo>
                    <a:pt x="24" y="36"/>
                  </a:lnTo>
                  <a:lnTo>
                    <a:pt x="36" y="24"/>
                  </a:lnTo>
                  <a:lnTo>
                    <a:pt x="48" y="12"/>
                  </a:lnTo>
                  <a:lnTo>
                    <a:pt x="84" y="0"/>
                  </a:lnTo>
                  <a:lnTo>
                    <a:pt x="96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33"/>
            <p:cNvSpPr>
              <a:spLocks/>
            </p:cNvSpPr>
            <p:nvPr/>
          </p:nvSpPr>
          <p:spPr bwMode="auto">
            <a:xfrm>
              <a:off x="2666" y="3385"/>
              <a:ext cx="48" cy="109"/>
            </a:xfrm>
            <a:custGeom>
              <a:avLst/>
              <a:gdLst>
                <a:gd name="T0" fmla="*/ 48 w 48"/>
                <a:gd name="T1" fmla="*/ 109 h 109"/>
                <a:gd name="T2" fmla="*/ 36 w 48"/>
                <a:gd name="T3" fmla="*/ 109 h 109"/>
                <a:gd name="T4" fmla="*/ 24 w 48"/>
                <a:gd name="T5" fmla="*/ 97 h 109"/>
                <a:gd name="T6" fmla="*/ 12 w 48"/>
                <a:gd name="T7" fmla="*/ 85 h 109"/>
                <a:gd name="T8" fmla="*/ 12 w 48"/>
                <a:gd name="T9" fmla="*/ 73 h 109"/>
                <a:gd name="T10" fmla="*/ 0 w 48"/>
                <a:gd name="T11" fmla="*/ 24 h 109"/>
                <a:gd name="T12" fmla="*/ 0 w 48"/>
                <a:gd name="T13" fmla="*/ 0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09">
                  <a:moveTo>
                    <a:pt x="48" y="109"/>
                  </a:moveTo>
                  <a:lnTo>
                    <a:pt x="36" y="109"/>
                  </a:lnTo>
                  <a:lnTo>
                    <a:pt x="24" y="97"/>
                  </a:lnTo>
                  <a:lnTo>
                    <a:pt x="12" y="85"/>
                  </a:lnTo>
                  <a:lnTo>
                    <a:pt x="12" y="73"/>
                  </a:lnTo>
                  <a:lnTo>
                    <a:pt x="0" y="2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34"/>
            <p:cNvSpPr>
              <a:spLocks/>
            </p:cNvSpPr>
            <p:nvPr/>
          </p:nvSpPr>
          <p:spPr bwMode="auto">
            <a:xfrm>
              <a:off x="2641" y="3277"/>
              <a:ext cx="109" cy="108"/>
            </a:xfrm>
            <a:custGeom>
              <a:avLst/>
              <a:gdLst>
                <a:gd name="T0" fmla="*/ 0 w 109"/>
                <a:gd name="T1" fmla="*/ 0 h 108"/>
                <a:gd name="T2" fmla="*/ 25 w 109"/>
                <a:gd name="T3" fmla="*/ 0 h 108"/>
                <a:gd name="T4" fmla="*/ 61 w 109"/>
                <a:gd name="T5" fmla="*/ 12 h 108"/>
                <a:gd name="T6" fmla="*/ 73 w 109"/>
                <a:gd name="T7" fmla="*/ 24 h 108"/>
                <a:gd name="T8" fmla="*/ 85 w 109"/>
                <a:gd name="T9" fmla="*/ 36 h 108"/>
                <a:gd name="T10" fmla="*/ 97 w 109"/>
                <a:gd name="T11" fmla="*/ 60 h 108"/>
                <a:gd name="T12" fmla="*/ 109 w 109"/>
                <a:gd name="T13" fmla="*/ 84 h 108"/>
                <a:gd name="T14" fmla="*/ 109 w 109"/>
                <a:gd name="T15" fmla="*/ 96 h 108"/>
                <a:gd name="T16" fmla="*/ 109 w 109"/>
                <a:gd name="T17" fmla="*/ 108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108">
                  <a:moveTo>
                    <a:pt x="0" y="0"/>
                  </a:moveTo>
                  <a:lnTo>
                    <a:pt x="25" y="0"/>
                  </a:lnTo>
                  <a:lnTo>
                    <a:pt x="61" y="12"/>
                  </a:lnTo>
                  <a:lnTo>
                    <a:pt x="73" y="24"/>
                  </a:lnTo>
                  <a:lnTo>
                    <a:pt x="85" y="36"/>
                  </a:lnTo>
                  <a:lnTo>
                    <a:pt x="97" y="60"/>
                  </a:lnTo>
                  <a:lnTo>
                    <a:pt x="109" y="84"/>
                  </a:lnTo>
                  <a:lnTo>
                    <a:pt x="109" y="96"/>
                  </a:lnTo>
                  <a:lnTo>
                    <a:pt x="109" y="10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35"/>
            <p:cNvSpPr>
              <a:spLocks/>
            </p:cNvSpPr>
            <p:nvPr/>
          </p:nvSpPr>
          <p:spPr bwMode="auto">
            <a:xfrm>
              <a:off x="2702" y="3385"/>
              <a:ext cx="48" cy="109"/>
            </a:xfrm>
            <a:custGeom>
              <a:avLst/>
              <a:gdLst>
                <a:gd name="T0" fmla="*/ 48 w 48"/>
                <a:gd name="T1" fmla="*/ 0 h 109"/>
                <a:gd name="T2" fmla="*/ 48 w 48"/>
                <a:gd name="T3" fmla="*/ 24 h 109"/>
                <a:gd name="T4" fmla="*/ 48 w 48"/>
                <a:gd name="T5" fmla="*/ 61 h 109"/>
                <a:gd name="T6" fmla="*/ 36 w 48"/>
                <a:gd name="T7" fmla="*/ 85 h 109"/>
                <a:gd name="T8" fmla="*/ 36 w 48"/>
                <a:gd name="T9" fmla="*/ 97 h 109"/>
                <a:gd name="T10" fmla="*/ 12 w 48"/>
                <a:gd name="T11" fmla="*/ 109 h 109"/>
                <a:gd name="T12" fmla="*/ 0 w 48"/>
                <a:gd name="T13" fmla="*/ 109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09">
                  <a:moveTo>
                    <a:pt x="48" y="0"/>
                  </a:moveTo>
                  <a:lnTo>
                    <a:pt x="48" y="24"/>
                  </a:lnTo>
                  <a:lnTo>
                    <a:pt x="48" y="61"/>
                  </a:lnTo>
                  <a:lnTo>
                    <a:pt x="36" y="85"/>
                  </a:lnTo>
                  <a:lnTo>
                    <a:pt x="36" y="97"/>
                  </a:lnTo>
                  <a:lnTo>
                    <a:pt x="12" y="109"/>
                  </a:lnTo>
                  <a:lnTo>
                    <a:pt x="0" y="10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36"/>
            <p:cNvSpPr>
              <a:spLocks/>
            </p:cNvSpPr>
            <p:nvPr/>
          </p:nvSpPr>
          <p:spPr bwMode="auto">
            <a:xfrm>
              <a:off x="2774" y="3277"/>
              <a:ext cx="109" cy="108"/>
            </a:xfrm>
            <a:custGeom>
              <a:avLst/>
              <a:gdLst>
                <a:gd name="T0" fmla="*/ 0 w 109"/>
                <a:gd name="T1" fmla="*/ 108 h 108"/>
                <a:gd name="T2" fmla="*/ 0 w 109"/>
                <a:gd name="T3" fmla="*/ 96 h 108"/>
                <a:gd name="T4" fmla="*/ 0 w 109"/>
                <a:gd name="T5" fmla="*/ 84 h 108"/>
                <a:gd name="T6" fmla="*/ 12 w 109"/>
                <a:gd name="T7" fmla="*/ 60 h 108"/>
                <a:gd name="T8" fmla="*/ 24 w 109"/>
                <a:gd name="T9" fmla="*/ 36 h 108"/>
                <a:gd name="T10" fmla="*/ 36 w 109"/>
                <a:gd name="T11" fmla="*/ 24 h 108"/>
                <a:gd name="T12" fmla="*/ 49 w 109"/>
                <a:gd name="T13" fmla="*/ 12 h 108"/>
                <a:gd name="T14" fmla="*/ 85 w 109"/>
                <a:gd name="T15" fmla="*/ 0 h 108"/>
                <a:gd name="T16" fmla="*/ 109 w 109"/>
                <a:gd name="T17" fmla="*/ 0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108">
                  <a:moveTo>
                    <a:pt x="0" y="108"/>
                  </a:moveTo>
                  <a:lnTo>
                    <a:pt x="0" y="96"/>
                  </a:lnTo>
                  <a:lnTo>
                    <a:pt x="0" y="84"/>
                  </a:lnTo>
                  <a:lnTo>
                    <a:pt x="12" y="60"/>
                  </a:lnTo>
                  <a:lnTo>
                    <a:pt x="24" y="36"/>
                  </a:lnTo>
                  <a:lnTo>
                    <a:pt x="36" y="24"/>
                  </a:lnTo>
                  <a:lnTo>
                    <a:pt x="49" y="12"/>
                  </a:lnTo>
                  <a:lnTo>
                    <a:pt x="85" y="0"/>
                  </a:lnTo>
                  <a:lnTo>
                    <a:pt x="109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137"/>
            <p:cNvSpPr>
              <a:spLocks/>
            </p:cNvSpPr>
            <p:nvPr/>
          </p:nvSpPr>
          <p:spPr bwMode="auto">
            <a:xfrm>
              <a:off x="2774" y="3385"/>
              <a:ext cx="49" cy="109"/>
            </a:xfrm>
            <a:custGeom>
              <a:avLst/>
              <a:gdLst>
                <a:gd name="T0" fmla="*/ 49 w 49"/>
                <a:gd name="T1" fmla="*/ 109 h 109"/>
                <a:gd name="T2" fmla="*/ 36 w 49"/>
                <a:gd name="T3" fmla="*/ 109 h 109"/>
                <a:gd name="T4" fmla="*/ 24 w 49"/>
                <a:gd name="T5" fmla="*/ 97 h 109"/>
                <a:gd name="T6" fmla="*/ 12 w 49"/>
                <a:gd name="T7" fmla="*/ 85 h 109"/>
                <a:gd name="T8" fmla="*/ 12 w 49"/>
                <a:gd name="T9" fmla="*/ 73 h 109"/>
                <a:gd name="T10" fmla="*/ 0 w 49"/>
                <a:gd name="T11" fmla="*/ 24 h 109"/>
                <a:gd name="T12" fmla="*/ 0 w 49"/>
                <a:gd name="T13" fmla="*/ 0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09">
                  <a:moveTo>
                    <a:pt x="49" y="109"/>
                  </a:moveTo>
                  <a:lnTo>
                    <a:pt x="36" y="109"/>
                  </a:lnTo>
                  <a:lnTo>
                    <a:pt x="24" y="97"/>
                  </a:lnTo>
                  <a:lnTo>
                    <a:pt x="12" y="85"/>
                  </a:lnTo>
                  <a:lnTo>
                    <a:pt x="12" y="73"/>
                  </a:lnTo>
                  <a:lnTo>
                    <a:pt x="0" y="2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138"/>
            <p:cNvSpPr>
              <a:spLocks/>
            </p:cNvSpPr>
            <p:nvPr/>
          </p:nvSpPr>
          <p:spPr bwMode="auto">
            <a:xfrm>
              <a:off x="2762" y="3277"/>
              <a:ext cx="97" cy="108"/>
            </a:xfrm>
            <a:custGeom>
              <a:avLst/>
              <a:gdLst>
                <a:gd name="T0" fmla="*/ 0 w 97"/>
                <a:gd name="T1" fmla="*/ 0 h 108"/>
                <a:gd name="T2" fmla="*/ 24 w 97"/>
                <a:gd name="T3" fmla="*/ 0 h 108"/>
                <a:gd name="T4" fmla="*/ 61 w 97"/>
                <a:gd name="T5" fmla="*/ 12 h 108"/>
                <a:gd name="T6" fmla="*/ 73 w 97"/>
                <a:gd name="T7" fmla="*/ 24 h 108"/>
                <a:gd name="T8" fmla="*/ 85 w 97"/>
                <a:gd name="T9" fmla="*/ 48 h 108"/>
                <a:gd name="T10" fmla="*/ 97 w 97"/>
                <a:gd name="T11" fmla="*/ 84 h 108"/>
                <a:gd name="T12" fmla="*/ 97 w 97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108">
                  <a:moveTo>
                    <a:pt x="0" y="0"/>
                  </a:moveTo>
                  <a:lnTo>
                    <a:pt x="24" y="0"/>
                  </a:lnTo>
                  <a:lnTo>
                    <a:pt x="61" y="12"/>
                  </a:lnTo>
                  <a:lnTo>
                    <a:pt x="73" y="24"/>
                  </a:lnTo>
                  <a:lnTo>
                    <a:pt x="85" y="48"/>
                  </a:lnTo>
                  <a:lnTo>
                    <a:pt x="97" y="84"/>
                  </a:lnTo>
                  <a:lnTo>
                    <a:pt x="97" y="10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139"/>
            <p:cNvSpPr>
              <a:spLocks/>
            </p:cNvSpPr>
            <p:nvPr/>
          </p:nvSpPr>
          <p:spPr bwMode="auto">
            <a:xfrm>
              <a:off x="2810" y="3385"/>
              <a:ext cx="49" cy="109"/>
            </a:xfrm>
            <a:custGeom>
              <a:avLst/>
              <a:gdLst>
                <a:gd name="T0" fmla="*/ 49 w 49"/>
                <a:gd name="T1" fmla="*/ 0 h 109"/>
                <a:gd name="T2" fmla="*/ 49 w 49"/>
                <a:gd name="T3" fmla="*/ 24 h 109"/>
                <a:gd name="T4" fmla="*/ 49 w 49"/>
                <a:gd name="T5" fmla="*/ 61 h 109"/>
                <a:gd name="T6" fmla="*/ 37 w 49"/>
                <a:gd name="T7" fmla="*/ 85 h 109"/>
                <a:gd name="T8" fmla="*/ 37 w 49"/>
                <a:gd name="T9" fmla="*/ 97 h 109"/>
                <a:gd name="T10" fmla="*/ 13 w 49"/>
                <a:gd name="T11" fmla="*/ 109 h 109"/>
                <a:gd name="T12" fmla="*/ 0 w 49"/>
                <a:gd name="T13" fmla="*/ 109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09">
                  <a:moveTo>
                    <a:pt x="49" y="0"/>
                  </a:moveTo>
                  <a:lnTo>
                    <a:pt x="49" y="24"/>
                  </a:lnTo>
                  <a:lnTo>
                    <a:pt x="49" y="61"/>
                  </a:lnTo>
                  <a:lnTo>
                    <a:pt x="37" y="85"/>
                  </a:lnTo>
                  <a:lnTo>
                    <a:pt x="37" y="97"/>
                  </a:lnTo>
                  <a:lnTo>
                    <a:pt x="13" y="109"/>
                  </a:lnTo>
                  <a:lnTo>
                    <a:pt x="0" y="10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140"/>
            <p:cNvSpPr>
              <a:spLocks/>
            </p:cNvSpPr>
            <p:nvPr/>
          </p:nvSpPr>
          <p:spPr bwMode="auto">
            <a:xfrm>
              <a:off x="2871" y="3277"/>
              <a:ext cx="97" cy="108"/>
            </a:xfrm>
            <a:custGeom>
              <a:avLst/>
              <a:gdLst>
                <a:gd name="T0" fmla="*/ 0 w 97"/>
                <a:gd name="T1" fmla="*/ 0 h 108"/>
                <a:gd name="T2" fmla="*/ 24 w 97"/>
                <a:gd name="T3" fmla="*/ 0 h 108"/>
                <a:gd name="T4" fmla="*/ 60 w 97"/>
                <a:gd name="T5" fmla="*/ 12 h 108"/>
                <a:gd name="T6" fmla="*/ 72 w 97"/>
                <a:gd name="T7" fmla="*/ 24 h 108"/>
                <a:gd name="T8" fmla="*/ 84 w 97"/>
                <a:gd name="T9" fmla="*/ 48 h 108"/>
                <a:gd name="T10" fmla="*/ 97 w 97"/>
                <a:gd name="T11" fmla="*/ 84 h 108"/>
                <a:gd name="T12" fmla="*/ 97 w 97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108">
                  <a:moveTo>
                    <a:pt x="0" y="0"/>
                  </a:moveTo>
                  <a:lnTo>
                    <a:pt x="24" y="0"/>
                  </a:lnTo>
                  <a:lnTo>
                    <a:pt x="60" y="12"/>
                  </a:lnTo>
                  <a:lnTo>
                    <a:pt x="72" y="24"/>
                  </a:lnTo>
                  <a:lnTo>
                    <a:pt x="84" y="48"/>
                  </a:lnTo>
                  <a:lnTo>
                    <a:pt x="97" y="84"/>
                  </a:lnTo>
                  <a:lnTo>
                    <a:pt x="97" y="10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141"/>
            <p:cNvSpPr>
              <a:spLocks/>
            </p:cNvSpPr>
            <p:nvPr/>
          </p:nvSpPr>
          <p:spPr bwMode="auto">
            <a:xfrm>
              <a:off x="2110" y="3277"/>
              <a:ext cx="109" cy="108"/>
            </a:xfrm>
            <a:custGeom>
              <a:avLst/>
              <a:gdLst>
                <a:gd name="T0" fmla="*/ 0 w 109"/>
                <a:gd name="T1" fmla="*/ 108 h 108"/>
                <a:gd name="T2" fmla="*/ 0 w 109"/>
                <a:gd name="T3" fmla="*/ 96 h 108"/>
                <a:gd name="T4" fmla="*/ 0 w 109"/>
                <a:gd name="T5" fmla="*/ 84 h 108"/>
                <a:gd name="T6" fmla="*/ 12 w 109"/>
                <a:gd name="T7" fmla="*/ 60 h 108"/>
                <a:gd name="T8" fmla="*/ 24 w 109"/>
                <a:gd name="T9" fmla="*/ 36 h 108"/>
                <a:gd name="T10" fmla="*/ 36 w 109"/>
                <a:gd name="T11" fmla="*/ 24 h 108"/>
                <a:gd name="T12" fmla="*/ 48 w 109"/>
                <a:gd name="T13" fmla="*/ 12 h 108"/>
                <a:gd name="T14" fmla="*/ 84 w 109"/>
                <a:gd name="T15" fmla="*/ 0 h 108"/>
                <a:gd name="T16" fmla="*/ 109 w 109"/>
                <a:gd name="T17" fmla="*/ 0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108">
                  <a:moveTo>
                    <a:pt x="0" y="108"/>
                  </a:moveTo>
                  <a:lnTo>
                    <a:pt x="0" y="96"/>
                  </a:lnTo>
                  <a:lnTo>
                    <a:pt x="0" y="84"/>
                  </a:lnTo>
                  <a:lnTo>
                    <a:pt x="12" y="60"/>
                  </a:lnTo>
                  <a:lnTo>
                    <a:pt x="24" y="36"/>
                  </a:lnTo>
                  <a:lnTo>
                    <a:pt x="36" y="24"/>
                  </a:lnTo>
                  <a:lnTo>
                    <a:pt x="48" y="12"/>
                  </a:lnTo>
                  <a:lnTo>
                    <a:pt x="84" y="0"/>
                  </a:lnTo>
                  <a:lnTo>
                    <a:pt x="109" y="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142"/>
            <p:cNvSpPr>
              <a:spLocks noChangeShapeType="1"/>
            </p:cNvSpPr>
            <p:nvPr/>
          </p:nvSpPr>
          <p:spPr bwMode="auto">
            <a:xfrm>
              <a:off x="2968" y="3385"/>
              <a:ext cx="84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143"/>
            <p:cNvSpPr>
              <a:spLocks noChangeShapeType="1"/>
            </p:cNvSpPr>
            <p:nvPr/>
          </p:nvSpPr>
          <p:spPr bwMode="auto">
            <a:xfrm>
              <a:off x="2025" y="3385"/>
              <a:ext cx="85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Rectangle 1"/>
          <p:cNvSpPr/>
          <p:nvPr/>
        </p:nvSpPr>
        <p:spPr>
          <a:xfrm>
            <a:off x="11169707" y="2520922"/>
            <a:ext cx="398175" cy="9011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/>
          <p:cNvSpPr/>
          <p:nvPr/>
        </p:nvSpPr>
        <p:spPr>
          <a:xfrm>
            <a:off x="11042073" y="3776831"/>
            <a:ext cx="651163" cy="6566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" name="Connecteur droit avec flèche 39"/>
          <p:cNvCxnSpPr/>
          <p:nvPr/>
        </p:nvCxnSpPr>
        <p:spPr>
          <a:xfrm flipH="1" flipV="1">
            <a:off x="11367655" y="3821281"/>
            <a:ext cx="1140" cy="5411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>
            <a:stCxn id="3" idx="0"/>
            <a:endCxn id="2" idx="2"/>
          </p:cNvCxnSpPr>
          <p:nvPr/>
        </p:nvCxnSpPr>
        <p:spPr>
          <a:xfrm flipV="1">
            <a:off x="11367655" y="3422074"/>
            <a:ext cx="1140" cy="3547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>
            <a:endCxn id="3" idx="4"/>
          </p:cNvCxnSpPr>
          <p:nvPr/>
        </p:nvCxnSpPr>
        <p:spPr>
          <a:xfrm flipV="1">
            <a:off x="11367655" y="4433455"/>
            <a:ext cx="0" cy="4458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>
            <a:stCxn id="39" idx="0"/>
          </p:cNvCxnSpPr>
          <p:nvPr/>
        </p:nvCxnSpPr>
        <p:spPr>
          <a:xfrm flipV="1">
            <a:off x="11368796" y="916998"/>
            <a:ext cx="0" cy="4315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10422031" y="916999"/>
            <a:ext cx="9456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10422031" y="4879340"/>
            <a:ext cx="9456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/>
          <p:cNvCxnSpPr/>
          <p:nvPr/>
        </p:nvCxnSpPr>
        <p:spPr>
          <a:xfrm flipV="1">
            <a:off x="10566400" y="1031052"/>
            <a:ext cx="0" cy="37847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/>
          <p:cNvSpPr txBox="1"/>
          <p:nvPr/>
        </p:nvSpPr>
        <p:spPr>
          <a:xfrm>
            <a:off x="10195282" y="2189086"/>
            <a:ext cx="37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58" name="ZoneTexte 57"/>
          <p:cNvSpPr txBox="1"/>
          <p:nvPr/>
        </p:nvSpPr>
        <p:spPr>
          <a:xfrm>
            <a:off x="11574536" y="1629525"/>
            <a:ext cx="37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59" name="ZoneTexte 58"/>
          <p:cNvSpPr txBox="1"/>
          <p:nvPr/>
        </p:nvSpPr>
        <p:spPr>
          <a:xfrm>
            <a:off x="11647483" y="2614741"/>
            <a:ext cx="37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60" name="ZoneTexte 59"/>
          <p:cNvSpPr txBox="1"/>
          <p:nvPr/>
        </p:nvSpPr>
        <p:spPr>
          <a:xfrm>
            <a:off x="11706908" y="3808591"/>
            <a:ext cx="37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e</a:t>
            </a:r>
          </a:p>
        </p:txBody>
      </p:sp>
      <p:cxnSp>
        <p:nvCxnSpPr>
          <p:cNvPr id="62" name="Connecteur droit 61"/>
          <p:cNvCxnSpPr/>
          <p:nvPr/>
        </p:nvCxnSpPr>
        <p:spPr>
          <a:xfrm flipH="1" flipV="1">
            <a:off x="10744200" y="800100"/>
            <a:ext cx="140238" cy="1168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 flipH="1">
            <a:off x="10738881" y="912523"/>
            <a:ext cx="140238" cy="1168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/>
          <p:cNvSpPr txBox="1"/>
          <p:nvPr/>
        </p:nvSpPr>
        <p:spPr>
          <a:xfrm>
            <a:off x="10693560" y="348922"/>
            <a:ext cx="37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67" name="ZoneTexte 66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rgbClr val="FF0000"/>
                </a:solidFill>
              </a:rPr>
              <a:t>Models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Current control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68" name="Connecteur droit 6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/>
              <p:cNvSpPr txBox="1"/>
              <p:nvPr/>
            </p:nvSpPr>
            <p:spPr>
              <a:xfrm>
                <a:off x="2677912" y="3463639"/>
                <a:ext cx="6133857" cy="1067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𝑒𝑚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Sup>
                          <m:sSubSupPr>
                            <m:ctrlPr>
                              <a:rPr lang="en-US" sz="200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en-US" sz="2000" dirty="0">
                    <a:latin typeface="Calibri (Corps)"/>
                  </a:rPr>
                  <a:t>	electromechanical time constant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200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fr-FR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fr-FR" sz="200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2000" dirty="0">
                    <a:latin typeface="Calibri (Corps)"/>
                  </a:rPr>
                  <a:t>		electrical time constant</a:t>
                </a:r>
              </a:p>
            </p:txBody>
          </p:sp>
        </mc:Choice>
        <mc:Fallback xmlns="">
          <p:sp>
            <p:nvSpPr>
              <p:cNvPr id="69" name="ZoneTexte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912" y="3463639"/>
                <a:ext cx="6133857" cy="1067215"/>
              </a:xfrm>
              <a:prstGeom prst="rect">
                <a:avLst/>
              </a:prstGeom>
              <a:blipFill>
                <a:blip r:embed="rId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17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Reversible structure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628780"/>
              </p:ext>
            </p:extLst>
          </p:nvPr>
        </p:nvGraphicFramePr>
        <p:xfrm>
          <a:off x="4552220" y="1371457"/>
          <a:ext cx="5643062" cy="4736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051300" imgH="3401060" progId="Word.Picture.8">
                  <p:embed/>
                </p:oleObj>
              </mc:Choice>
              <mc:Fallback>
                <p:oleObj name="Image" r:id="rId2" imgW="4051300" imgH="3401060" progId="Word.Picture.8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220" y="1371457"/>
                        <a:ext cx="5643062" cy="4736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rgbClr val="FF0000"/>
                </a:solidFill>
              </a:rPr>
              <a:t>Models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Current control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61190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Chopper model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4517438" y="2081230"/>
                <a:ext cx="4820422" cy="89710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sub>
                      </m:sSub>
                      <m:d>
                        <m:d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𝑫𝑪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fr-FR" sz="2800" b="1" i="1" smtClean="0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p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438" y="2081230"/>
                <a:ext cx="4820422" cy="8971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8491631" y="3095351"/>
            <a:ext cx="3103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(Average delay T</a:t>
            </a:r>
            <a:r>
              <a:rPr lang="en-US" sz="2400" baseline="-25000" dirty="0"/>
              <a:t>d</a:t>
            </a:r>
            <a:r>
              <a:rPr lang="en-US" sz="2400" dirty="0"/>
              <a:t> 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289667" y="4003784"/>
                <a:ext cx="8106451" cy="10449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sub>
                    </m:sSub>
                    <m:d>
                      <m:d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sub>
                        </m:s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</m:oMath>
                </a14:m>
                <a:r>
                  <a:rPr lang="en-US" sz="2800" b="1" dirty="0"/>
                  <a:t>     with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sub>
                    </m:sSub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fr-FR" sz="28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</m:num>
                      <m:den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800" b="1" dirty="0"/>
                  <a:t>    and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fr-FR" sz="2800" b="1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fr-F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fr-FR" sz="2800" b="1" i="1" smtClean="0">
                            <a:latin typeface="Cambria Math" panose="02040503050406030204" pitchFamily="18" charset="0"/>
                          </a:rPr>
                          <m:t>𝑫𝑪</m:t>
                        </m:r>
                      </m:sub>
                    </m:sSub>
                  </m:oMath>
                </a14:m>
                <a:endParaRPr lang="en-US" sz="2800" b="1" dirty="0"/>
              </a:p>
              <a:p>
                <a:pPr algn="ctr"/>
                <a:r>
                  <a:rPr lang="en-US" sz="2400" dirty="0"/>
                  <a:t>(linearization)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667" y="4003784"/>
                <a:ext cx="8106451" cy="1044901"/>
              </a:xfrm>
              <a:prstGeom prst="rect">
                <a:avLst/>
              </a:prstGeom>
              <a:blipFill>
                <a:blip r:embed="rId3"/>
                <a:stretch>
                  <a:fillRect t="-585" b="-169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rgbClr val="FF0000"/>
                </a:solidFill>
              </a:rPr>
              <a:t>Models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Current control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7398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Current control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586" y="1541175"/>
            <a:ext cx="6985000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787039" y="4984611"/>
            <a:ext cx="4510087" cy="647700"/>
            <a:chOff x="975" y="3022"/>
            <a:chExt cx="2841" cy="408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975" y="3022"/>
              <a:ext cx="544" cy="40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733" y="3066"/>
              <a:ext cx="208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000" b="1" i="1">
                  <a:solidFill>
                    <a:srgbClr val="FF3300"/>
                  </a:solidFill>
                  <a:latin typeface="Calibri (Corps)"/>
                </a:rPr>
                <a:t>Torque control of a motor</a:t>
              </a:r>
            </a:p>
          </p:txBody>
        </p:sp>
      </p:grpSp>
      <p:sp>
        <p:nvSpPr>
          <p:cNvPr id="12" name="ZoneTexte 1"/>
          <p:cNvSpPr txBox="1">
            <a:spLocks noChangeArrowheads="1"/>
          </p:cNvSpPr>
          <p:nvPr/>
        </p:nvSpPr>
        <p:spPr bwMode="auto">
          <a:xfrm>
            <a:off x="6190673" y="2358737"/>
            <a:ext cx="2087563" cy="830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latin typeface="Calibri (Corps)"/>
              </a:rPr>
              <a:t>4 quadrant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latin typeface="Calibri (Corps)"/>
              </a:rPr>
              <a:t>Chopper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2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Current loop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441010" y="1341665"/>
            <a:ext cx="4272323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dirty="0">
                <a:solidFill>
                  <a:srgbClr val="FF3300"/>
                </a:solidFill>
                <a:latin typeface="Calibri (Corps)"/>
              </a:rPr>
              <a:t>Armature current regulation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975583" y="2106850"/>
            <a:ext cx="59987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 altLang="fr-FR" sz="2800" b="1" i="1" dirty="0">
                <a:solidFill>
                  <a:srgbClr val="0033CC"/>
                </a:solidFill>
                <a:latin typeface="Calibri (Corps)"/>
              </a:rPr>
              <a:t> Current regulation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 altLang="fr-FR" sz="2800" b="1" i="1" dirty="0">
              <a:solidFill>
                <a:srgbClr val="0033CC"/>
              </a:solidFill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 altLang="fr-FR" sz="2800" b="1" i="1" dirty="0">
                <a:solidFill>
                  <a:srgbClr val="0033CC"/>
                </a:solidFill>
                <a:latin typeface="Calibri (Corps)"/>
              </a:rPr>
              <a:t> Torque control ( G = k</a:t>
            </a:r>
            <a:r>
              <a:rPr lang="el-GR" altLang="fr-FR" sz="2800" b="1" i="1" baseline="-25000" dirty="0">
                <a:solidFill>
                  <a:srgbClr val="0033CC"/>
                </a:solidFill>
                <a:latin typeface="Calibri (Corps)"/>
                <a:cs typeface="Calibri" panose="020F0502020204030204" pitchFamily="34" charset="0"/>
              </a:rPr>
              <a:t>φ</a:t>
            </a:r>
            <a:r>
              <a:rPr lang="en-US" altLang="fr-FR" sz="2800" b="1" i="1" dirty="0">
                <a:solidFill>
                  <a:srgbClr val="0033CC"/>
                </a:solidFill>
                <a:latin typeface="Calibri (Corps)"/>
              </a:rPr>
              <a:t>.I)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 altLang="fr-FR" sz="2800" b="1" i="1" dirty="0">
              <a:solidFill>
                <a:srgbClr val="0033CC"/>
              </a:solidFill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 altLang="fr-FR" sz="2800" b="1" i="1" dirty="0">
                <a:solidFill>
                  <a:srgbClr val="0033CC"/>
                </a:solidFill>
                <a:latin typeface="Calibri (Corps)"/>
              </a:rPr>
              <a:t> Better transient response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 altLang="fr-FR" sz="2800" b="1" i="1" dirty="0">
              <a:solidFill>
                <a:srgbClr val="0033CC"/>
              </a:solidFill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 altLang="fr-FR" sz="2800" b="1" i="1" dirty="0">
                <a:solidFill>
                  <a:srgbClr val="0033CC"/>
                </a:solidFill>
                <a:latin typeface="Calibri (Corps)"/>
              </a:rPr>
              <a:t> Need a high performance sensor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 altLang="fr-FR" sz="2800" b="1" i="1" dirty="0">
              <a:solidFill>
                <a:srgbClr val="0033CC"/>
              </a:solidFill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Char char="-"/>
            </a:pPr>
            <a:r>
              <a:rPr lang="en-US" altLang="fr-FR" sz="2800" b="1" i="1" dirty="0">
                <a:solidFill>
                  <a:srgbClr val="0033CC"/>
                </a:solidFill>
                <a:latin typeface="Calibri (Corps)"/>
              </a:rPr>
              <a:t> Simple Regulation (P.I.)</a:t>
            </a:r>
            <a:endParaRPr lang="fr-FR" altLang="fr-FR" sz="2800" b="1" i="1" dirty="0">
              <a:solidFill>
                <a:srgbClr val="0033CC"/>
              </a:solidFill>
              <a:latin typeface="Calibri (Corps)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24799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68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Current loop: Current sensor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082983" y="2021904"/>
            <a:ext cx="19992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 err="1">
                <a:latin typeface="Calibri (Corps)"/>
              </a:rPr>
              <a:t>Resistor</a:t>
            </a:r>
            <a:r>
              <a:rPr lang="fr-FR" altLang="fr-FR" sz="1800" b="1" dirty="0">
                <a:latin typeface="Calibri (Corps)"/>
              </a:rPr>
              <a:t> = shunt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618470" y="2093341"/>
            <a:ext cx="21082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latin typeface="Calibri (Corps)"/>
              </a:rPr>
              <a:t>Hall effect sensor</a:t>
            </a: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8043795" y="2574354"/>
            <a:ext cx="3382963" cy="2995612"/>
            <a:chOff x="3334" y="1601"/>
            <a:chExt cx="2131" cy="1887"/>
          </a:xfrm>
        </p:grpSpPr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" y="1797"/>
              <a:ext cx="1920" cy="1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3742" y="2387"/>
              <a:ext cx="408" cy="317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3923" y="1706"/>
              <a:ext cx="907" cy="733"/>
            </a:xfrm>
            <a:custGeom>
              <a:avLst/>
              <a:gdLst>
                <a:gd name="T0" fmla="*/ 0 w 907"/>
                <a:gd name="T1" fmla="*/ 0 h 733"/>
                <a:gd name="T2" fmla="*/ 681 w 907"/>
                <a:gd name="T3" fmla="*/ 635 h 733"/>
                <a:gd name="T4" fmla="*/ 907 w 907"/>
                <a:gd name="T5" fmla="*/ 590 h 7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7" h="733">
                  <a:moveTo>
                    <a:pt x="0" y="0"/>
                  </a:moveTo>
                  <a:cubicBezTo>
                    <a:pt x="265" y="268"/>
                    <a:pt x="530" y="537"/>
                    <a:pt x="681" y="635"/>
                  </a:cubicBezTo>
                  <a:cubicBezTo>
                    <a:pt x="832" y="733"/>
                    <a:pt x="869" y="598"/>
                    <a:pt x="907" y="590"/>
                  </a:cubicBezTo>
                </a:path>
              </a:pathLst>
            </a:custGeom>
            <a:noFill/>
            <a:ln w="1270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" name="Freeform 9"/>
            <p:cNvSpPr>
              <a:spLocks/>
            </p:cNvSpPr>
            <p:nvPr/>
          </p:nvSpPr>
          <p:spPr bwMode="auto">
            <a:xfrm>
              <a:off x="5012" y="1601"/>
              <a:ext cx="453" cy="378"/>
            </a:xfrm>
            <a:custGeom>
              <a:avLst/>
              <a:gdLst>
                <a:gd name="T0" fmla="*/ 0 w 498"/>
                <a:gd name="T1" fmla="*/ 635 h 332"/>
                <a:gd name="T2" fmla="*/ 225 w 498"/>
                <a:gd name="T3" fmla="*/ 28 h 332"/>
                <a:gd name="T4" fmla="*/ 310 w 498"/>
                <a:gd name="T5" fmla="*/ 460 h 3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8" h="332">
                  <a:moveTo>
                    <a:pt x="0" y="332"/>
                  </a:moveTo>
                  <a:cubicBezTo>
                    <a:pt x="139" y="181"/>
                    <a:pt x="279" y="30"/>
                    <a:pt x="362" y="15"/>
                  </a:cubicBezTo>
                  <a:cubicBezTo>
                    <a:pt x="445" y="0"/>
                    <a:pt x="475" y="204"/>
                    <a:pt x="498" y="241"/>
                  </a:cubicBezTo>
                </a:path>
              </a:pathLst>
            </a:custGeom>
            <a:noFill/>
            <a:ln w="1270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3612" y="3081"/>
              <a:ext cx="1651" cy="407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Calibri (Corps)"/>
                </a:rPr>
                <a:t>Supply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Calibri (Corps)"/>
                </a:rPr>
                <a:t>Isolated measurement</a:t>
              </a: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4105" y="2659"/>
              <a:ext cx="272" cy="4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17" name="Group 12"/>
          <p:cNvGrpSpPr>
            <a:grpSpLocks/>
          </p:cNvGrpSpPr>
          <p:nvPr/>
        </p:nvGrpSpPr>
        <p:grpSpPr bwMode="auto">
          <a:xfrm>
            <a:off x="2912995" y="2617216"/>
            <a:ext cx="3686176" cy="2068513"/>
            <a:chOff x="102" y="1628"/>
            <a:chExt cx="2322" cy="1303"/>
          </a:xfrm>
        </p:grpSpPr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102" y="2341"/>
              <a:ext cx="55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i="1" dirty="0">
                  <a:solidFill>
                    <a:srgbClr val="FF3300"/>
                  </a:solidFill>
                  <a:latin typeface="Calibri (Corps)"/>
                </a:rPr>
                <a:t>u = </a:t>
              </a:r>
              <a:r>
                <a:rPr lang="fr-FR" altLang="fr-FR" sz="1800" b="1" i="1" dirty="0" err="1">
                  <a:solidFill>
                    <a:srgbClr val="FF3300"/>
                  </a:solidFill>
                  <a:latin typeface="Calibri (Corps)"/>
                </a:rPr>
                <a:t>R.i</a:t>
              </a:r>
              <a:endParaRPr lang="fr-FR" altLang="fr-FR" sz="1800" b="1" i="1" dirty="0">
                <a:solidFill>
                  <a:srgbClr val="FF3300"/>
                </a:solidFill>
                <a:latin typeface="Calibri (Corps)"/>
              </a:endParaRPr>
            </a:p>
          </p:txBody>
        </p:sp>
        <p:grpSp>
          <p:nvGrpSpPr>
            <p:cNvPr id="19" name="Group 14"/>
            <p:cNvGrpSpPr>
              <a:grpSpLocks/>
            </p:cNvGrpSpPr>
            <p:nvPr/>
          </p:nvGrpSpPr>
          <p:grpSpPr bwMode="auto">
            <a:xfrm>
              <a:off x="521" y="1628"/>
              <a:ext cx="1903" cy="1303"/>
              <a:chOff x="521" y="1628"/>
              <a:chExt cx="1903" cy="1303"/>
            </a:xfrm>
          </p:grpSpPr>
          <p:sp>
            <p:nvSpPr>
              <p:cNvPr id="20" name="Rectangle 15"/>
              <p:cNvSpPr>
                <a:spLocks noChangeArrowheads="1"/>
              </p:cNvSpPr>
              <p:nvPr/>
            </p:nvSpPr>
            <p:spPr bwMode="auto">
              <a:xfrm>
                <a:off x="748" y="2251"/>
                <a:ext cx="91" cy="40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Calibri (Corps)"/>
                </a:endParaRPr>
              </a:p>
            </p:txBody>
          </p:sp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>
                <a:off x="521" y="1979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793" y="1979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23" name="Line 18"/>
              <p:cNvSpPr>
                <a:spLocks noChangeShapeType="1"/>
              </p:cNvSpPr>
              <p:nvPr/>
            </p:nvSpPr>
            <p:spPr bwMode="auto">
              <a:xfrm>
                <a:off x="793" y="2659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24" name="Line 19"/>
              <p:cNvSpPr>
                <a:spLocks noChangeShapeType="1"/>
              </p:cNvSpPr>
              <p:nvPr/>
            </p:nvSpPr>
            <p:spPr bwMode="auto">
              <a:xfrm flipH="1">
                <a:off x="521" y="293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25" name="Line 20"/>
              <p:cNvSpPr>
                <a:spLocks noChangeShapeType="1"/>
              </p:cNvSpPr>
              <p:nvPr/>
            </p:nvSpPr>
            <p:spPr bwMode="auto">
              <a:xfrm>
                <a:off x="612" y="1979"/>
                <a:ext cx="13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26" name="Text Box 21"/>
              <p:cNvSpPr txBox="1">
                <a:spLocks noChangeArrowheads="1"/>
              </p:cNvSpPr>
              <p:nvPr/>
            </p:nvSpPr>
            <p:spPr bwMode="auto">
              <a:xfrm>
                <a:off x="554" y="1628"/>
                <a:ext cx="16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2400" b="1">
                    <a:solidFill>
                      <a:srgbClr val="FF3300"/>
                    </a:solidFill>
                    <a:latin typeface="Calibri (Corps)"/>
                  </a:rPr>
                  <a:t>i</a:t>
                </a:r>
              </a:p>
            </p:txBody>
          </p:sp>
          <p:sp>
            <p:nvSpPr>
              <p:cNvPr id="27" name="Line 22"/>
              <p:cNvSpPr>
                <a:spLocks noChangeShapeType="1"/>
              </p:cNvSpPr>
              <p:nvPr/>
            </p:nvSpPr>
            <p:spPr bwMode="auto">
              <a:xfrm flipV="1">
                <a:off x="657" y="2024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1202" y="2024"/>
                <a:ext cx="771" cy="90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fr-FR" altLang="fr-FR" sz="1200" b="1" dirty="0">
                  <a:latin typeface="Calibri (Corps)"/>
                </a:endParaRPr>
              </a:p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200" b="1" dirty="0" err="1">
                    <a:latin typeface="Calibri (Corps)"/>
                  </a:rPr>
                  <a:t>Linear</a:t>
                </a:r>
                <a:r>
                  <a:rPr lang="fr-FR" altLang="fr-FR" sz="1200" b="1" dirty="0">
                    <a:latin typeface="Calibri (Corps)"/>
                  </a:rPr>
                  <a:t> amplifier</a:t>
                </a:r>
              </a:p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 dirty="0" err="1">
                    <a:latin typeface="Calibri (Corps)"/>
                  </a:rPr>
                  <a:t>isolated</a:t>
                </a:r>
                <a:endParaRPr lang="fr-FR" altLang="fr-FR" sz="1800" b="1" dirty="0">
                  <a:latin typeface="Calibri (Corps)"/>
                </a:endParaRPr>
              </a:p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fr-FR" altLang="fr-FR" sz="1200" b="1" dirty="0">
                  <a:latin typeface="Calibri (Corps)"/>
                </a:endParaRPr>
              </a:p>
            </p:txBody>
          </p:sp>
          <p:sp>
            <p:nvSpPr>
              <p:cNvPr id="29" name="Line 24"/>
              <p:cNvSpPr>
                <a:spLocks noChangeShapeType="1"/>
              </p:cNvSpPr>
              <p:nvPr/>
            </p:nvSpPr>
            <p:spPr bwMode="auto">
              <a:xfrm>
                <a:off x="793" y="2750"/>
                <a:ext cx="4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0" name="Line 25"/>
              <p:cNvSpPr>
                <a:spLocks noChangeShapeType="1"/>
              </p:cNvSpPr>
              <p:nvPr/>
            </p:nvSpPr>
            <p:spPr bwMode="auto">
              <a:xfrm>
                <a:off x="793" y="2160"/>
                <a:ext cx="4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1" name="Line 26"/>
              <p:cNvSpPr>
                <a:spLocks noChangeShapeType="1"/>
              </p:cNvSpPr>
              <p:nvPr/>
            </p:nvSpPr>
            <p:spPr bwMode="auto">
              <a:xfrm>
                <a:off x="1973" y="216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2" name="Line 27"/>
              <p:cNvSpPr>
                <a:spLocks noChangeShapeType="1"/>
              </p:cNvSpPr>
              <p:nvPr/>
            </p:nvSpPr>
            <p:spPr bwMode="auto">
              <a:xfrm>
                <a:off x="1973" y="2750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3" name="Line 28"/>
              <p:cNvSpPr>
                <a:spLocks noChangeShapeType="1"/>
              </p:cNvSpPr>
              <p:nvPr/>
            </p:nvSpPr>
            <p:spPr bwMode="auto">
              <a:xfrm flipV="1">
                <a:off x="2200" y="2205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4" name="Text Box 29"/>
              <p:cNvSpPr txBox="1">
                <a:spLocks noChangeArrowheads="1"/>
              </p:cNvSpPr>
              <p:nvPr/>
            </p:nvSpPr>
            <p:spPr bwMode="auto">
              <a:xfrm>
                <a:off x="2200" y="2296"/>
                <a:ext cx="22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 b="1" i="1">
                    <a:solidFill>
                      <a:srgbClr val="FF3300"/>
                    </a:solidFill>
                    <a:latin typeface="Calibri (Corps)"/>
                  </a:rPr>
                  <a:t>v</a:t>
                </a:r>
                <a:r>
                  <a:rPr lang="fr-FR" altLang="fr-FR" sz="1800" b="1" i="1" baseline="-25000">
                    <a:solidFill>
                      <a:srgbClr val="FF3300"/>
                    </a:solidFill>
                    <a:latin typeface="Calibri (Corps)"/>
                  </a:rPr>
                  <a:t>i</a:t>
                </a:r>
              </a:p>
            </p:txBody>
          </p:sp>
          <p:sp>
            <p:nvSpPr>
              <p:cNvPr id="35" name="Line 30"/>
              <p:cNvSpPr>
                <a:spLocks noChangeShapeType="1"/>
              </p:cNvSpPr>
              <p:nvPr/>
            </p:nvSpPr>
            <p:spPr bwMode="auto">
              <a:xfrm>
                <a:off x="1791" y="1842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6" name="Line 31"/>
              <p:cNvSpPr>
                <a:spLocks noChangeShapeType="1"/>
              </p:cNvSpPr>
              <p:nvPr/>
            </p:nvSpPr>
            <p:spPr bwMode="auto">
              <a:xfrm>
                <a:off x="1791" y="1842"/>
                <a:ext cx="4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7" name="Text Box 32"/>
              <p:cNvSpPr txBox="1">
                <a:spLocks noChangeArrowheads="1"/>
              </p:cNvSpPr>
              <p:nvPr/>
            </p:nvSpPr>
            <p:spPr bwMode="auto">
              <a:xfrm>
                <a:off x="1837" y="1706"/>
                <a:ext cx="440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200" b="1">
                    <a:latin typeface="Calibri (Corps)"/>
                  </a:rPr>
                  <a:t>Supply</a:t>
                </a:r>
              </a:p>
            </p:txBody>
          </p:sp>
        </p:grpSp>
      </p:grpSp>
      <p:sp>
        <p:nvSpPr>
          <p:cNvPr id="38" name="ZoneTexte 37"/>
          <p:cNvSpPr txBox="1"/>
          <p:nvPr/>
        </p:nvSpPr>
        <p:spPr>
          <a:xfrm>
            <a:off x="0" y="0"/>
            <a:ext cx="247996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39" name="Connecteur droit 3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9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109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DC motor: Current control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54543"/>
              </p:ext>
            </p:extLst>
          </p:nvPr>
        </p:nvGraphicFramePr>
        <p:xfrm>
          <a:off x="3506903" y="1443089"/>
          <a:ext cx="7473709" cy="287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421380" imgH="1310640" progId="Word.Picture.8">
                  <p:embed/>
                </p:oleObj>
              </mc:Choice>
              <mc:Fallback>
                <p:oleObj name="Image" r:id="rId2" imgW="3421380" imgH="1310640" progId="Word.Picture.8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903" y="1443089"/>
                        <a:ext cx="7473709" cy="287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5876126" y="4533401"/>
            <a:ext cx="2735262" cy="935038"/>
            <a:chOff x="1837" y="2614"/>
            <a:chExt cx="1723" cy="589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837" y="2614"/>
              <a:ext cx="1723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1927" y="2659"/>
            <a:ext cx="1542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31366" imgH="393529" progId="Equation.3">
                    <p:embed/>
                  </p:oleObj>
                </mc:Choice>
                <mc:Fallback>
                  <p:oleObj name="Equation" r:id="rId4" imgW="1231366" imgH="393529" progId="Equation.3">
                    <p:embed/>
                    <p:pic>
                      <p:nvPicPr>
                        <p:cNvPr id="1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2659"/>
                          <a:ext cx="1542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ZoneTexte 11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3" name="Connecteur droit 1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62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Current loop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684769"/>
              </p:ext>
            </p:extLst>
          </p:nvPr>
        </p:nvGraphicFramePr>
        <p:xfrm>
          <a:off x="3516163" y="1343747"/>
          <a:ext cx="6451970" cy="4267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049922" imgH="2682138" progId="Word.Picture.8">
                  <p:embed/>
                </p:oleObj>
              </mc:Choice>
              <mc:Fallback>
                <p:oleObj name="Picture" r:id="rId2" imgW="4049922" imgH="2682138" progId="Word.Picture.8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163" y="1343747"/>
                        <a:ext cx="6451970" cy="4267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12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Control criteria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449349" y="2039992"/>
            <a:ext cx="715803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800" b="1" dirty="0">
                <a:solidFill>
                  <a:srgbClr val="FF3300"/>
                </a:solidFill>
                <a:latin typeface="Calibri (Corps)"/>
              </a:rPr>
              <a:t>Accuracy : no static error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800" b="1" dirty="0">
              <a:solidFill>
                <a:srgbClr val="FF3300"/>
              </a:solidFill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800" b="1" dirty="0">
              <a:solidFill>
                <a:srgbClr val="FF3300"/>
              </a:solidFill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800" b="1" dirty="0">
                <a:solidFill>
                  <a:srgbClr val="FF3300"/>
                </a:solidFill>
                <a:latin typeface="Calibri (Corps)"/>
              </a:rPr>
              <a:t>Speed : time response enhancement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800" b="1" dirty="0">
              <a:solidFill>
                <a:srgbClr val="FF3300"/>
              </a:solidFill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800" b="1" dirty="0">
              <a:solidFill>
                <a:srgbClr val="FF3300"/>
              </a:solidFill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800" b="1" dirty="0">
                <a:solidFill>
                  <a:srgbClr val="FF3300"/>
                </a:solidFill>
                <a:latin typeface="Calibri (Corps)"/>
              </a:rPr>
              <a:t>Unconditional stability (high margin)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2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Current Control</a:t>
            </a:r>
          </a:p>
        </p:txBody>
      </p:sp>
      <p:sp>
        <p:nvSpPr>
          <p:cNvPr id="10" name="Rectangle 7"/>
          <p:cNvSpPr>
            <a:spLocks noChangeAspect="1" noChangeArrowheads="1"/>
          </p:cNvSpPr>
          <p:nvPr/>
        </p:nvSpPr>
        <p:spPr bwMode="auto">
          <a:xfrm>
            <a:off x="9083050" y="2192343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12" name="Group 8"/>
          <p:cNvGrpSpPr>
            <a:grpSpLocks noChangeAspect="1"/>
          </p:cNvGrpSpPr>
          <p:nvPr/>
        </p:nvGrpSpPr>
        <p:grpSpPr bwMode="auto">
          <a:xfrm>
            <a:off x="6347787" y="2266955"/>
            <a:ext cx="434975" cy="434975"/>
            <a:chOff x="11040" y="9426"/>
            <a:chExt cx="571" cy="570"/>
          </a:xfrm>
        </p:grpSpPr>
        <p:sp>
          <p:nvSpPr>
            <p:cNvPr id="13" name="Oval 9"/>
            <p:cNvSpPr>
              <a:spLocks noChangeAspect="1" noChangeArrowheads="1"/>
            </p:cNvSpPr>
            <p:nvPr/>
          </p:nvSpPr>
          <p:spPr bwMode="auto">
            <a:xfrm>
              <a:off x="11040" y="9426"/>
              <a:ext cx="571" cy="570"/>
            </a:xfrm>
            <a:prstGeom prst="ellipse">
              <a:avLst/>
            </a:prstGeom>
            <a:noFill/>
            <a:ln w="1841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 10"/>
            <p:cNvSpPr>
              <a:spLocks noChangeAspect="1"/>
            </p:cNvSpPr>
            <p:nvPr/>
          </p:nvSpPr>
          <p:spPr bwMode="auto">
            <a:xfrm>
              <a:off x="11114" y="9510"/>
              <a:ext cx="418" cy="422"/>
            </a:xfrm>
            <a:custGeom>
              <a:avLst/>
              <a:gdLst>
                <a:gd name="T0" fmla="*/ 418 w 418"/>
                <a:gd name="T1" fmla="*/ 22 h 422"/>
                <a:gd name="T2" fmla="*/ 401 w 418"/>
                <a:gd name="T3" fmla="*/ 0 h 422"/>
                <a:gd name="T4" fmla="*/ 0 w 418"/>
                <a:gd name="T5" fmla="*/ 400 h 422"/>
                <a:gd name="T6" fmla="*/ 17 w 418"/>
                <a:gd name="T7" fmla="*/ 422 h 422"/>
                <a:gd name="T8" fmla="*/ 418 w 418"/>
                <a:gd name="T9" fmla="*/ 22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8" h="422">
                  <a:moveTo>
                    <a:pt x="418" y="22"/>
                  </a:moveTo>
                  <a:lnTo>
                    <a:pt x="401" y="0"/>
                  </a:lnTo>
                  <a:lnTo>
                    <a:pt x="0" y="400"/>
                  </a:lnTo>
                  <a:lnTo>
                    <a:pt x="17" y="422"/>
                  </a:lnTo>
                  <a:lnTo>
                    <a:pt x="418" y="2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1"/>
            <p:cNvSpPr>
              <a:spLocks noChangeAspect="1"/>
            </p:cNvSpPr>
            <p:nvPr/>
          </p:nvSpPr>
          <p:spPr bwMode="auto">
            <a:xfrm>
              <a:off x="11114" y="9517"/>
              <a:ext cx="420" cy="424"/>
            </a:xfrm>
            <a:custGeom>
              <a:avLst/>
              <a:gdLst>
                <a:gd name="T0" fmla="*/ 17 w 420"/>
                <a:gd name="T1" fmla="*/ 0 h 424"/>
                <a:gd name="T2" fmla="*/ 0 w 420"/>
                <a:gd name="T3" fmla="*/ 22 h 424"/>
                <a:gd name="T4" fmla="*/ 403 w 420"/>
                <a:gd name="T5" fmla="*/ 424 h 424"/>
                <a:gd name="T6" fmla="*/ 420 w 420"/>
                <a:gd name="T7" fmla="*/ 403 h 424"/>
                <a:gd name="T8" fmla="*/ 17 w 420"/>
                <a:gd name="T9" fmla="*/ 0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0" h="424">
                  <a:moveTo>
                    <a:pt x="17" y="0"/>
                  </a:moveTo>
                  <a:lnTo>
                    <a:pt x="0" y="22"/>
                  </a:lnTo>
                  <a:lnTo>
                    <a:pt x="403" y="424"/>
                  </a:lnTo>
                  <a:lnTo>
                    <a:pt x="420" y="40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2"/>
            <p:cNvSpPr>
              <a:spLocks noChangeAspect="1"/>
            </p:cNvSpPr>
            <p:nvPr/>
          </p:nvSpPr>
          <p:spPr bwMode="auto">
            <a:xfrm>
              <a:off x="11251" y="9893"/>
              <a:ext cx="130" cy="31"/>
            </a:xfrm>
            <a:custGeom>
              <a:avLst/>
              <a:gdLst>
                <a:gd name="T0" fmla="*/ 0 w 130"/>
                <a:gd name="T1" fmla="*/ 0 h 31"/>
                <a:gd name="T2" fmla="*/ 0 w 130"/>
                <a:gd name="T3" fmla="*/ 29 h 31"/>
                <a:gd name="T4" fmla="*/ 130 w 130"/>
                <a:gd name="T5" fmla="*/ 31 h 31"/>
                <a:gd name="T6" fmla="*/ 130 w 130"/>
                <a:gd name="T7" fmla="*/ 3 h 31"/>
                <a:gd name="T8" fmla="*/ 0 w 130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31">
                  <a:moveTo>
                    <a:pt x="0" y="0"/>
                  </a:moveTo>
                  <a:lnTo>
                    <a:pt x="0" y="29"/>
                  </a:lnTo>
                  <a:lnTo>
                    <a:pt x="130" y="31"/>
                  </a:lnTo>
                  <a:lnTo>
                    <a:pt x="13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Rectangle 13"/>
            <p:cNvSpPr>
              <a:spLocks noChangeAspect="1" noChangeArrowheads="1"/>
            </p:cNvSpPr>
            <p:nvPr/>
          </p:nvSpPr>
          <p:spPr bwMode="auto">
            <a:xfrm>
              <a:off x="11100" y="9704"/>
              <a:ext cx="132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8" name="Freeform 14"/>
            <p:cNvSpPr>
              <a:spLocks noChangeAspect="1"/>
            </p:cNvSpPr>
            <p:nvPr/>
          </p:nvSpPr>
          <p:spPr bwMode="auto">
            <a:xfrm>
              <a:off x="11146" y="9649"/>
              <a:ext cx="31" cy="129"/>
            </a:xfrm>
            <a:custGeom>
              <a:avLst/>
              <a:gdLst>
                <a:gd name="T0" fmla="*/ 0 w 31"/>
                <a:gd name="T1" fmla="*/ 129 h 129"/>
                <a:gd name="T2" fmla="*/ 28 w 31"/>
                <a:gd name="T3" fmla="*/ 129 h 129"/>
                <a:gd name="T4" fmla="*/ 31 w 31"/>
                <a:gd name="T5" fmla="*/ 0 h 129"/>
                <a:gd name="T6" fmla="*/ 2 w 31"/>
                <a:gd name="T7" fmla="*/ 0 h 129"/>
                <a:gd name="T8" fmla="*/ 0 w 31"/>
                <a:gd name="T9" fmla="*/ 129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29">
                  <a:moveTo>
                    <a:pt x="0" y="129"/>
                  </a:moveTo>
                  <a:lnTo>
                    <a:pt x="28" y="129"/>
                  </a:lnTo>
                  <a:lnTo>
                    <a:pt x="31" y="0"/>
                  </a:lnTo>
                  <a:lnTo>
                    <a:pt x="2" y="0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9" name="Rectangle 15"/>
          <p:cNvSpPr>
            <a:spLocks noChangeAspect="1" noChangeArrowheads="1"/>
          </p:cNvSpPr>
          <p:nvPr/>
        </p:nvSpPr>
        <p:spPr bwMode="auto">
          <a:xfrm>
            <a:off x="7105025" y="2192343"/>
            <a:ext cx="868362" cy="59971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" name="Rectangle 17"/>
          <p:cNvSpPr>
            <a:spLocks noChangeAspect="1" noChangeArrowheads="1"/>
          </p:cNvSpPr>
          <p:nvPr/>
        </p:nvSpPr>
        <p:spPr bwMode="auto">
          <a:xfrm>
            <a:off x="7576512" y="2303468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23" name="Rectangle 19"/>
          <p:cNvSpPr>
            <a:spLocks noChangeAspect="1" noChangeArrowheads="1"/>
          </p:cNvSpPr>
          <p:nvPr/>
        </p:nvSpPr>
        <p:spPr bwMode="auto">
          <a:xfrm>
            <a:off x="7773362" y="2481268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24" name="Group 20"/>
          <p:cNvGrpSpPr>
            <a:grpSpLocks noChangeAspect="1"/>
          </p:cNvGrpSpPr>
          <p:nvPr/>
        </p:nvGrpSpPr>
        <p:grpSpPr bwMode="auto">
          <a:xfrm>
            <a:off x="6779587" y="2438405"/>
            <a:ext cx="325438" cy="95250"/>
            <a:chOff x="11608" y="9649"/>
            <a:chExt cx="425" cy="127"/>
          </a:xfrm>
        </p:grpSpPr>
        <p:sp>
          <p:nvSpPr>
            <p:cNvPr id="25" name="Rectangle 21"/>
            <p:cNvSpPr>
              <a:spLocks noChangeAspect="1" noChangeArrowheads="1"/>
            </p:cNvSpPr>
            <p:nvPr/>
          </p:nvSpPr>
          <p:spPr bwMode="auto">
            <a:xfrm>
              <a:off x="11608" y="9697"/>
              <a:ext cx="305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6" name="Freeform 22"/>
            <p:cNvSpPr>
              <a:spLocks noChangeAspect="1"/>
            </p:cNvSpPr>
            <p:nvPr/>
          </p:nvSpPr>
          <p:spPr bwMode="auto">
            <a:xfrm>
              <a:off x="11908" y="9649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5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3"/>
          <p:cNvGrpSpPr>
            <a:grpSpLocks noChangeAspect="1"/>
          </p:cNvGrpSpPr>
          <p:nvPr/>
        </p:nvGrpSpPr>
        <p:grpSpPr bwMode="auto">
          <a:xfrm>
            <a:off x="7971800" y="2438405"/>
            <a:ext cx="431800" cy="95250"/>
            <a:chOff x="13170" y="9649"/>
            <a:chExt cx="566" cy="127"/>
          </a:xfrm>
        </p:grpSpPr>
        <p:sp>
          <p:nvSpPr>
            <p:cNvPr id="28" name="Rectangle 24"/>
            <p:cNvSpPr>
              <a:spLocks noChangeAspect="1" noChangeArrowheads="1"/>
            </p:cNvSpPr>
            <p:nvPr/>
          </p:nvSpPr>
          <p:spPr bwMode="auto">
            <a:xfrm>
              <a:off x="13170" y="9697"/>
              <a:ext cx="446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9" name="Freeform 25"/>
            <p:cNvSpPr>
              <a:spLocks noChangeAspect="1"/>
            </p:cNvSpPr>
            <p:nvPr/>
          </p:nvSpPr>
          <p:spPr bwMode="auto">
            <a:xfrm>
              <a:off x="13611" y="9649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5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0" name="Group 26"/>
          <p:cNvGrpSpPr>
            <a:grpSpLocks noChangeAspect="1"/>
          </p:cNvGrpSpPr>
          <p:nvPr/>
        </p:nvGrpSpPr>
        <p:grpSpPr bwMode="auto">
          <a:xfrm>
            <a:off x="9703762" y="2438405"/>
            <a:ext cx="433388" cy="95250"/>
            <a:chOff x="15439" y="9649"/>
            <a:chExt cx="570" cy="127"/>
          </a:xfrm>
        </p:grpSpPr>
        <p:sp>
          <p:nvSpPr>
            <p:cNvPr id="31" name="Rectangle 27"/>
            <p:cNvSpPr>
              <a:spLocks noChangeAspect="1" noChangeArrowheads="1"/>
            </p:cNvSpPr>
            <p:nvPr/>
          </p:nvSpPr>
          <p:spPr bwMode="auto">
            <a:xfrm>
              <a:off x="15439" y="9697"/>
              <a:ext cx="448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2" name="Freeform 28"/>
            <p:cNvSpPr>
              <a:spLocks noChangeAspect="1"/>
            </p:cNvSpPr>
            <p:nvPr/>
          </p:nvSpPr>
          <p:spPr bwMode="auto">
            <a:xfrm>
              <a:off x="15882" y="9649"/>
              <a:ext cx="127" cy="127"/>
            </a:xfrm>
            <a:custGeom>
              <a:avLst/>
              <a:gdLst>
                <a:gd name="T0" fmla="*/ 0 w 127"/>
                <a:gd name="T1" fmla="*/ 127 h 127"/>
                <a:gd name="T2" fmla="*/ 127 w 127"/>
                <a:gd name="T3" fmla="*/ 65 h 127"/>
                <a:gd name="T4" fmla="*/ 0 w 127"/>
                <a:gd name="T5" fmla="*/ 0 h 127"/>
                <a:gd name="T6" fmla="*/ 0 w 127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7">
                  <a:moveTo>
                    <a:pt x="0" y="127"/>
                  </a:moveTo>
                  <a:lnTo>
                    <a:pt x="127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Rectangle 29"/>
          <p:cNvSpPr>
            <a:spLocks noChangeAspect="1" noChangeArrowheads="1"/>
          </p:cNvSpPr>
          <p:nvPr/>
        </p:nvSpPr>
        <p:spPr bwMode="auto">
          <a:xfrm>
            <a:off x="6565275" y="3338518"/>
            <a:ext cx="1838325" cy="206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4" name="Rectangle 30"/>
          <p:cNvSpPr>
            <a:spLocks noChangeAspect="1" noChangeArrowheads="1"/>
          </p:cNvSpPr>
          <p:nvPr/>
        </p:nvSpPr>
        <p:spPr bwMode="auto">
          <a:xfrm>
            <a:off x="11207125" y="2484443"/>
            <a:ext cx="20637" cy="86518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5" name="Rectangle 31"/>
          <p:cNvSpPr>
            <a:spLocks noChangeAspect="1" noChangeArrowheads="1"/>
          </p:cNvSpPr>
          <p:nvPr/>
        </p:nvSpPr>
        <p:spPr bwMode="auto">
          <a:xfrm>
            <a:off x="5885825" y="2254255"/>
            <a:ext cx="434975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6" name="Rectangle 32"/>
          <p:cNvSpPr>
            <a:spLocks noChangeAspect="1" noChangeArrowheads="1"/>
          </p:cNvSpPr>
          <p:nvPr/>
        </p:nvSpPr>
        <p:spPr bwMode="auto">
          <a:xfrm>
            <a:off x="5830270" y="2181261"/>
            <a:ext cx="415924" cy="24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37" name="Rectangle 33"/>
          <p:cNvSpPr>
            <a:spLocks noChangeAspect="1" noChangeArrowheads="1"/>
          </p:cNvSpPr>
          <p:nvPr/>
        </p:nvSpPr>
        <p:spPr bwMode="auto">
          <a:xfrm>
            <a:off x="6247775" y="2274893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38" name="Rectangle 34"/>
          <p:cNvSpPr>
            <a:spLocks noChangeAspect="1" noChangeArrowheads="1"/>
          </p:cNvSpPr>
          <p:nvPr/>
        </p:nvSpPr>
        <p:spPr bwMode="auto">
          <a:xfrm>
            <a:off x="9270375" y="1619255"/>
            <a:ext cx="325437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1" name="Rectangle 37"/>
          <p:cNvSpPr>
            <a:spLocks noChangeAspect="1" noChangeArrowheads="1"/>
          </p:cNvSpPr>
          <p:nvPr/>
        </p:nvSpPr>
        <p:spPr bwMode="auto">
          <a:xfrm>
            <a:off x="9494212" y="1652593"/>
            <a:ext cx="100013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42" name="Group 38"/>
          <p:cNvGrpSpPr>
            <a:grpSpLocks noChangeAspect="1"/>
          </p:cNvGrpSpPr>
          <p:nvPr/>
        </p:nvGrpSpPr>
        <p:grpSpPr bwMode="auto">
          <a:xfrm>
            <a:off x="9268787" y="2266955"/>
            <a:ext cx="436563" cy="434975"/>
            <a:chOff x="14870" y="9426"/>
            <a:chExt cx="573" cy="570"/>
          </a:xfrm>
        </p:grpSpPr>
        <p:sp>
          <p:nvSpPr>
            <p:cNvPr id="43" name="Oval 39"/>
            <p:cNvSpPr>
              <a:spLocks noChangeAspect="1" noChangeArrowheads="1"/>
            </p:cNvSpPr>
            <p:nvPr/>
          </p:nvSpPr>
          <p:spPr bwMode="auto">
            <a:xfrm>
              <a:off x="14870" y="9426"/>
              <a:ext cx="573" cy="570"/>
            </a:xfrm>
            <a:prstGeom prst="ellipse">
              <a:avLst/>
            </a:prstGeom>
            <a:noFill/>
            <a:ln w="1841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4" name="Freeform 40"/>
            <p:cNvSpPr>
              <a:spLocks noChangeAspect="1"/>
            </p:cNvSpPr>
            <p:nvPr/>
          </p:nvSpPr>
          <p:spPr bwMode="auto">
            <a:xfrm>
              <a:off x="14945" y="9493"/>
              <a:ext cx="417" cy="422"/>
            </a:xfrm>
            <a:custGeom>
              <a:avLst/>
              <a:gdLst>
                <a:gd name="T0" fmla="*/ 400 w 417"/>
                <a:gd name="T1" fmla="*/ 422 h 422"/>
                <a:gd name="T2" fmla="*/ 417 w 417"/>
                <a:gd name="T3" fmla="*/ 400 h 422"/>
                <a:gd name="T4" fmla="*/ 16 w 417"/>
                <a:gd name="T5" fmla="*/ 0 h 422"/>
                <a:gd name="T6" fmla="*/ 0 w 417"/>
                <a:gd name="T7" fmla="*/ 22 h 422"/>
                <a:gd name="T8" fmla="*/ 400 w 417"/>
                <a:gd name="T9" fmla="*/ 422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422">
                  <a:moveTo>
                    <a:pt x="400" y="422"/>
                  </a:moveTo>
                  <a:lnTo>
                    <a:pt x="417" y="400"/>
                  </a:lnTo>
                  <a:lnTo>
                    <a:pt x="16" y="0"/>
                  </a:lnTo>
                  <a:lnTo>
                    <a:pt x="0" y="22"/>
                  </a:lnTo>
                  <a:lnTo>
                    <a:pt x="400" y="42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Freeform 41"/>
            <p:cNvSpPr>
              <a:spLocks noChangeAspect="1"/>
            </p:cNvSpPr>
            <p:nvPr/>
          </p:nvSpPr>
          <p:spPr bwMode="auto">
            <a:xfrm>
              <a:off x="14945" y="9484"/>
              <a:ext cx="419" cy="424"/>
            </a:xfrm>
            <a:custGeom>
              <a:avLst/>
              <a:gdLst>
                <a:gd name="T0" fmla="*/ 0 w 419"/>
                <a:gd name="T1" fmla="*/ 402 h 424"/>
                <a:gd name="T2" fmla="*/ 16 w 419"/>
                <a:gd name="T3" fmla="*/ 424 h 424"/>
                <a:gd name="T4" fmla="*/ 419 w 419"/>
                <a:gd name="T5" fmla="*/ 21 h 424"/>
                <a:gd name="T6" fmla="*/ 403 w 419"/>
                <a:gd name="T7" fmla="*/ 0 h 424"/>
                <a:gd name="T8" fmla="*/ 0 w 419"/>
                <a:gd name="T9" fmla="*/ 402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9" h="424">
                  <a:moveTo>
                    <a:pt x="0" y="402"/>
                  </a:moveTo>
                  <a:lnTo>
                    <a:pt x="16" y="424"/>
                  </a:lnTo>
                  <a:lnTo>
                    <a:pt x="419" y="21"/>
                  </a:lnTo>
                  <a:lnTo>
                    <a:pt x="403" y="0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Freeform 42"/>
            <p:cNvSpPr>
              <a:spLocks noChangeAspect="1"/>
            </p:cNvSpPr>
            <p:nvPr/>
          </p:nvSpPr>
          <p:spPr bwMode="auto">
            <a:xfrm>
              <a:off x="15081" y="9498"/>
              <a:ext cx="130" cy="31"/>
            </a:xfrm>
            <a:custGeom>
              <a:avLst/>
              <a:gdLst>
                <a:gd name="T0" fmla="*/ 0 w 130"/>
                <a:gd name="T1" fmla="*/ 3 h 31"/>
                <a:gd name="T2" fmla="*/ 0 w 130"/>
                <a:gd name="T3" fmla="*/ 31 h 31"/>
                <a:gd name="T4" fmla="*/ 130 w 130"/>
                <a:gd name="T5" fmla="*/ 29 h 31"/>
                <a:gd name="T6" fmla="*/ 130 w 130"/>
                <a:gd name="T7" fmla="*/ 0 h 31"/>
                <a:gd name="T8" fmla="*/ 0 w 130"/>
                <a:gd name="T9" fmla="*/ 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31">
                  <a:moveTo>
                    <a:pt x="0" y="3"/>
                  </a:moveTo>
                  <a:lnTo>
                    <a:pt x="0" y="31"/>
                  </a:lnTo>
                  <a:lnTo>
                    <a:pt x="130" y="29"/>
                  </a:lnTo>
                  <a:lnTo>
                    <a:pt x="13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Freeform 43"/>
            <p:cNvSpPr>
              <a:spLocks noChangeAspect="1"/>
            </p:cNvSpPr>
            <p:nvPr/>
          </p:nvSpPr>
          <p:spPr bwMode="auto">
            <a:xfrm>
              <a:off x="14930" y="9687"/>
              <a:ext cx="132" cy="31"/>
            </a:xfrm>
            <a:custGeom>
              <a:avLst/>
              <a:gdLst>
                <a:gd name="T0" fmla="*/ 0 w 132"/>
                <a:gd name="T1" fmla="*/ 3 h 31"/>
                <a:gd name="T2" fmla="*/ 0 w 132"/>
                <a:gd name="T3" fmla="*/ 31 h 31"/>
                <a:gd name="T4" fmla="*/ 132 w 132"/>
                <a:gd name="T5" fmla="*/ 29 h 31"/>
                <a:gd name="T6" fmla="*/ 132 w 132"/>
                <a:gd name="T7" fmla="*/ 0 h 31"/>
                <a:gd name="T8" fmla="*/ 0 w 132"/>
                <a:gd name="T9" fmla="*/ 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31">
                  <a:moveTo>
                    <a:pt x="0" y="3"/>
                  </a:moveTo>
                  <a:lnTo>
                    <a:pt x="0" y="31"/>
                  </a:lnTo>
                  <a:lnTo>
                    <a:pt x="132" y="29"/>
                  </a:lnTo>
                  <a:lnTo>
                    <a:pt x="132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Freeform 44"/>
            <p:cNvSpPr>
              <a:spLocks noChangeAspect="1"/>
            </p:cNvSpPr>
            <p:nvPr/>
          </p:nvSpPr>
          <p:spPr bwMode="auto">
            <a:xfrm>
              <a:off x="14976" y="9642"/>
              <a:ext cx="31" cy="131"/>
            </a:xfrm>
            <a:custGeom>
              <a:avLst/>
              <a:gdLst>
                <a:gd name="T0" fmla="*/ 29 w 31"/>
                <a:gd name="T1" fmla="*/ 0 h 131"/>
                <a:gd name="T2" fmla="*/ 0 w 31"/>
                <a:gd name="T3" fmla="*/ 0 h 131"/>
                <a:gd name="T4" fmla="*/ 2 w 31"/>
                <a:gd name="T5" fmla="*/ 131 h 131"/>
                <a:gd name="T6" fmla="*/ 31 w 31"/>
                <a:gd name="T7" fmla="*/ 131 h 131"/>
                <a:gd name="T8" fmla="*/ 29 w 31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31">
                  <a:moveTo>
                    <a:pt x="29" y="0"/>
                  </a:moveTo>
                  <a:lnTo>
                    <a:pt x="0" y="0"/>
                  </a:lnTo>
                  <a:lnTo>
                    <a:pt x="2" y="131"/>
                  </a:lnTo>
                  <a:lnTo>
                    <a:pt x="31" y="131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9" name="Rectangle 45"/>
          <p:cNvSpPr>
            <a:spLocks noChangeAspect="1" noChangeArrowheads="1"/>
          </p:cNvSpPr>
          <p:nvPr/>
        </p:nvSpPr>
        <p:spPr bwMode="auto">
          <a:xfrm>
            <a:off x="6131887" y="2808293"/>
            <a:ext cx="4349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0" name="Rectangle 46"/>
          <p:cNvSpPr>
            <a:spLocks noChangeAspect="1" noChangeArrowheads="1"/>
          </p:cNvSpPr>
          <p:nvPr/>
        </p:nvSpPr>
        <p:spPr bwMode="auto">
          <a:xfrm>
            <a:off x="6175516" y="2839074"/>
            <a:ext cx="435956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51" name="Rectangle 47"/>
          <p:cNvSpPr>
            <a:spLocks noChangeAspect="1" noChangeArrowheads="1"/>
          </p:cNvSpPr>
          <p:nvPr/>
        </p:nvSpPr>
        <p:spPr bwMode="auto">
          <a:xfrm>
            <a:off x="6484312" y="2832105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52" name="Rectangle 48"/>
          <p:cNvSpPr>
            <a:spLocks noChangeAspect="1" noChangeArrowheads="1"/>
          </p:cNvSpPr>
          <p:nvPr/>
        </p:nvSpPr>
        <p:spPr bwMode="auto">
          <a:xfrm>
            <a:off x="8405187" y="2266955"/>
            <a:ext cx="468313" cy="43497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56" name="Group 52"/>
          <p:cNvGrpSpPr>
            <a:grpSpLocks noChangeAspect="1"/>
          </p:cNvGrpSpPr>
          <p:nvPr/>
        </p:nvGrpSpPr>
        <p:grpSpPr bwMode="auto">
          <a:xfrm>
            <a:off x="8865591" y="2438405"/>
            <a:ext cx="404783" cy="95250"/>
            <a:chOff x="14304" y="9649"/>
            <a:chExt cx="569" cy="127"/>
          </a:xfrm>
        </p:grpSpPr>
        <p:sp>
          <p:nvSpPr>
            <p:cNvPr id="57" name="Rectangle 53"/>
            <p:cNvSpPr>
              <a:spLocks noChangeAspect="1" noChangeArrowheads="1"/>
            </p:cNvSpPr>
            <p:nvPr/>
          </p:nvSpPr>
          <p:spPr bwMode="auto">
            <a:xfrm>
              <a:off x="14304" y="9697"/>
              <a:ext cx="449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58" name="Freeform 54"/>
            <p:cNvSpPr>
              <a:spLocks noChangeAspect="1"/>
            </p:cNvSpPr>
            <p:nvPr/>
          </p:nvSpPr>
          <p:spPr bwMode="auto">
            <a:xfrm>
              <a:off x="14748" y="9649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5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9" name="Rectangle 55"/>
          <p:cNvSpPr>
            <a:spLocks noChangeAspect="1" noChangeArrowheads="1"/>
          </p:cNvSpPr>
          <p:nvPr/>
        </p:nvSpPr>
        <p:spPr bwMode="auto">
          <a:xfrm>
            <a:off x="8006725" y="2509843"/>
            <a:ext cx="358775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0" name="Rectangle 56"/>
          <p:cNvSpPr>
            <a:spLocks noChangeAspect="1" noChangeArrowheads="1"/>
          </p:cNvSpPr>
          <p:nvPr/>
        </p:nvSpPr>
        <p:spPr bwMode="auto">
          <a:xfrm>
            <a:off x="8068636" y="2530480"/>
            <a:ext cx="345521" cy="247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61" name="Rectangle 57"/>
          <p:cNvSpPr>
            <a:spLocks noChangeAspect="1" noChangeArrowheads="1"/>
          </p:cNvSpPr>
          <p:nvPr/>
        </p:nvSpPr>
        <p:spPr bwMode="auto">
          <a:xfrm>
            <a:off x="8300412" y="2530480"/>
            <a:ext cx="984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63" name="Rectangle 59"/>
          <p:cNvSpPr>
            <a:spLocks noChangeAspect="1" noChangeArrowheads="1"/>
          </p:cNvSpPr>
          <p:nvPr/>
        </p:nvSpPr>
        <p:spPr bwMode="auto">
          <a:xfrm>
            <a:off x="10607050" y="2303468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65" name="Group 61"/>
          <p:cNvGrpSpPr>
            <a:grpSpLocks noChangeAspect="1"/>
          </p:cNvGrpSpPr>
          <p:nvPr/>
        </p:nvGrpSpPr>
        <p:grpSpPr bwMode="auto">
          <a:xfrm>
            <a:off x="11000750" y="2438405"/>
            <a:ext cx="434975" cy="95250"/>
            <a:chOff x="17142" y="9649"/>
            <a:chExt cx="570" cy="127"/>
          </a:xfrm>
        </p:grpSpPr>
        <p:sp>
          <p:nvSpPr>
            <p:cNvPr id="66" name="Rectangle 62"/>
            <p:cNvSpPr>
              <a:spLocks noChangeAspect="1" noChangeArrowheads="1"/>
            </p:cNvSpPr>
            <p:nvPr/>
          </p:nvSpPr>
          <p:spPr bwMode="auto">
            <a:xfrm>
              <a:off x="17142" y="9697"/>
              <a:ext cx="448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67" name="Freeform 63"/>
            <p:cNvSpPr>
              <a:spLocks noChangeAspect="1"/>
            </p:cNvSpPr>
            <p:nvPr/>
          </p:nvSpPr>
          <p:spPr bwMode="auto">
            <a:xfrm>
              <a:off x="17585" y="9649"/>
              <a:ext cx="127" cy="127"/>
            </a:xfrm>
            <a:custGeom>
              <a:avLst/>
              <a:gdLst>
                <a:gd name="T0" fmla="*/ 0 w 127"/>
                <a:gd name="T1" fmla="*/ 127 h 127"/>
                <a:gd name="T2" fmla="*/ 127 w 127"/>
                <a:gd name="T3" fmla="*/ 65 h 127"/>
                <a:gd name="T4" fmla="*/ 0 w 127"/>
                <a:gd name="T5" fmla="*/ 0 h 127"/>
                <a:gd name="T6" fmla="*/ 0 w 127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7">
                  <a:moveTo>
                    <a:pt x="0" y="127"/>
                  </a:moveTo>
                  <a:lnTo>
                    <a:pt x="127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8" name="Rectangle 64"/>
          <p:cNvSpPr>
            <a:spLocks noChangeAspect="1" noChangeArrowheads="1"/>
          </p:cNvSpPr>
          <p:nvPr/>
        </p:nvSpPr>
        <p:spPr bwMode="auto">
          <a:xfrm>
            <a:off x="11110287" y="2160593"/>
            <a:ext cx="4349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1" name="Rectangle 67"/>
          <p:cNvSpPr>
            <a:spLocks noChangeAspect="1" noChangeArrowheads="1"/>
          </p:cNvSpPr>
          <p:nvPr/>
        </p:nvSpPr>
        <p:spPr bwMode="auto">
          <a:xfrm>
            <a:off x="11473825" y="2192343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72" name="Group 68"/>
          <p:cNvGrpSpPr>
            <a:grpSpLocks noChangeAspect="1"/>
          </p:cNvGrpSpPr>
          <p:nvPr/>
        </p:nvGrpSpPr>
        <p:grpSpPr bwMode="auto">
          <a:xfrm>
            <a:off x="9432300" y="1936755"/>
            <a:ext cx="96837" cy="323850"/>
            <a:chOff x="15086" y="8993"/>
            <a:chExt cx="127" cy="424"/>
          </a:xfrm>
        </p:grpSpPr>
        <p:sp>
          <p:nvSpPr>
            <p:cNvPr id="73" name="Rectangle 69"/>
            <p:cNvSpPr>
              <a:spLocks noChangeAspect="1" noChangeArrowheads="1"/>
            </p:cNvSpPr>
            <p:nvPr/>
          </p:nvSpPr>
          <p:spPr bwMode="auto">
            <a:xfrm>
              <a:off x="15134" y="8993"/>
              <a:ext cx="29" cy="304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74" name="Freeform 70"/>
            <p:cNvSpPr>
              <a:spLocks noChangeAspect="1"/>
            </p:cNvSpPr>
            <p:nvPr/>
          </p:nvSpPr>
          <p:spPr bwMode="auto">
            <a:xfrm>
              <a:off x="15086" y="9292"/>
              <a:ext cx="127" cy="125"/>
            </a:xfrm>
            <a:custGeom>
              <a:avLst/>
              <a:gdLst>
                <a:gd name="T0" fmla="*/ 0 w 127"/>
                <a:gd name="T1" fmla="*/ 0 h 125"/>
                <a:gd name="T2" fmla="*/ 65 w 127"/>
                <a:gd name="T3" fmla="*/ 125 h 125"/>
                <a:gd name="T4" fmla="*/ 127 w 127"/>
                <a:gd name="T5" fmla="*/ 0 h 125"/>
                <a:gd name="T6" fmla="*/ 0 w 127"/>
                <a:gd name="T7" fmla="*/ 0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5">
                  <a:moveTo>
                    <a:pt x="0" y="0"/>
                  </a:moveTo>
                  <a:lnTo>
                    <a:pt x="65" y="125"/>
                  </a:lnTo>
                  <a:lnTo>
                    <a:pt x="1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5" name="Rectangle 71"/>
          <p:cNvSpPr>
            <a:spLocks noChangeAspect="1" noChangeArrowheads="1"/>
          </p:cNvSpPr>
          <p:nvPr/>
        </p:nvSpPr>
        <p:spPr bwMode="auto">
          <a:xfrm>
            <a:off x="8405187" y="3132143"/>
            <a:ext cx="468313" cy="43497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79" name="Group 75"/>
          <p:cNvGrpSpPr>
            <a:grpSpLocks noChangeAspect="1"/>
          </p:cNvGrpSpPr>
          <p:nvPr/>
        </p:nvGrpSpPr>
        <p:grpSpPr bwMode="auto">
          <a:xfrm>
            <a:off x="8840162" y="3302005"/>
            <a:ext cx="2378075" cy="96838"/>
            <a:chOff x="14307" y="10782"/>
            <a:chExt cx="3120" cy="127"/>
          </a:xfrm>
        </p:grpSpPr>
        <p:sp>
          <p:nvSpPr>
            <p:cNvPr id="80" name="Rectangle 76"/>
            <p:cNvSpPr>
              <a:spLocks noChangeAspect="1" noChangeArrowheads="1"/>
            </p:cNvSpPr>
            <p:nvPr/>
          </p:nvSpPr>
          <p:spPr bwMode="auto">
            <a:xfrm>
              <a:off x="14424" y="10830"/>
              <a:ext cx="3003" cy="28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81" name="Freeform 77"/>
            <p:cNvSpPr>
              <a:spLocks noChangeAspect="1"/>
            </p:cNvSpPr>
            <p:nvPr/>
          </p:nvSpPr>
          <p:spPr bwMode="auto">
            <a:xfrm>
              <a:off x="14307" y="10782"/>
              <a:ext cx="124" cy="127"/>
            </a:xfrm>
            <a:custGeom>
              <a:avLst/>
              <a:gdLst>
                <a:gd name="T0" fmla="*/ 124 w 124"/>
                <a:gd name="T1" fmla="*/ 0 h 127"/>
                <a:gd name="T2" fmla="*/ 0 w 124"/>
                <a:gd name="T3" fmla="*/ 62 h 127"/>
                <a:gd name="T4" fmla="*/ 124 w 124"/>
                <a:gd name="T5" fmla="*/ 127 h 127"/>
                <a:gd name="T6" fmla="*/ 124 w 124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" h="127">
                  <a:moveTo>
                    <a:pt x="124" y="0"/>
                  </a:moveTo>
                  <a:lnTo>
                    <a:pt x="0" y="62"/>
                  </a:lnTo>
                  <a:lnTo>
                    <a:pt x="124" y="127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4" name="Group 80"/>
          <p:cNvGrpSpPr>
            <a:grpSpLocks noChangeAspect="1"/>
          </p:cNvGrpSpPr>
          <p:nvPr/>
        </p:nvGrpSpPr>
        <p:grpSpPr bwMode="auto">
          <a:xfrm>
            <a:off x="6517650" y="2701930"/>
            <a:ext cx="96837" cy="647700"/>
            <a:chOff x="11263" y="9996"/>
            <a:chExt cx="127" cy="848"/>
          </a:xfrm>
        </p:grpSpPr>
        <p:sp>
          <p:nvSpPr>
            <p:cNvPr id="85" name="Rectangle 81"/>
            <p:cNvSpPr>
              <a:spLocks noChangeAspect="1" noChangeArrowheads="1"/>
            </p:cNvSpPr>
            <p:nvPr/>
          </p:nvSpPr>
          <p:spPr bwMode="auto">
            <a:xfrm>
              <a:off x="11311" y="10114"/>
              <a:ext cx="29" cy="73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86" name="Freeform 82"/>
            <p:cNvSpPr>
              <a:spLocks noChangeAspect="1"/>
            </p:cNvSpPr>
            <p:nvPr/>
          </p:nvSpPr>
          <p:spPr bwMode="auto">
            <a:xfrm>
              <a:off x="11263" y="9996"/>
              <a:ext cx="127" cy="125"/>
            </a:xfrm>
            <a:custGeom>
              <a:avLst/>
              <a:gdLst>
                <a:gd name="T0" fmla="*/ 127 w 127"/>
                <a:gd name="T1" fmla="*/ 125 h 125"/>
                <a:gd name="T2" fmla="*/ 65 w 127"/>
                <a:gd name="T3" fmla="*/ 0 h 125"/>
                <a:gd name="T4" fmla="*/ 0 w 127"/>
                <a:gd name="T5" fmla="*/ 125 h 125"/>
                <a:gd name="T6" fmla="*/ 127 w 127"/>
                <a:gd name="T7" fmla="*/ 125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5">
                  <a:moveTo>
                    <a:pt x="127" y="125"/>
                  </a:moveTo>
                  <a:lnTo>
                    <a:pt x="65" y="0"/>
                  </a:lnTo>
                  <a:lnTo>
                    <a:pt x="0" y="125"/>
                  </a:lnTo>
                  <a:lnTo>
                    <a:pt x="127" y="125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7" name="Group 83"/>
          <p:cNvGrpSpPr>
            <a:grpSpLocks noChangeAspect="1"/>
          </p:cNvGrpSpPr>
          <p:nvPr/>
        </p:nvGrpSpPr>
        <p:grpSpPr bwMode="auto">
          <a:xfrm>
            <a:off x="5698500" y="2438405"/>
            <a:ext cx="652462" cy="95250"/>
            <a:chOff x="10189" y="9649"/>
            <a:chExt cx="856" cy="127"/>
          </a:xfrm>
        </p:grpSpPr>
        <p:sp>
          <p:nvSpPr>
            <p:cNvPr id="88" name="Rectangle 84"/>
            <p:cNvSpPr>
              <a:spLocks noChangeAspect="1" noChangeArrowheads="1"/>
            </p:cNvSpPr>
            <p:nvPr/>
          </p:nvSpPr>
          <p:spPr bwMode="auto">
            <a:xfrm>
              <a:off x="10189" y="9697"/>
              <a:ext cx="734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89" name="Freeform 85"/>
            <p:cNvSpPr>
              <a:spLocks noChangeAspect="1"/>
            </p:cNvSpPr>
            <p:nvPr/>
          </p:nvSpPr>
          <p:spPr bwMode="auto">
            <a:xfrm>
              <a:off x="10918" y="9649"/>
              <a:ext cx="127" cy="127"/>
            </a:xfrm>
            <a:custGeom>
              <a:avLst/>
              <a:gdLst>
                <a:gd name="T0" fmla="*/ 0 w 127"/>
                <a:gd name="T1" fmla="*/ 127 h 127"/>
                <a:gd name="T2" fmla="*/ 127 w 127"/>
                <a:gd name="T3" fmla="*/ 65 h 127"/>
                <a:gd name="T4" fmla="*/ 0 w 127"/>
                <a:gd name="T5" fmla="*/ 0 h 127"/>
                <a:gd name="T6" fmla="*/ 0 w 127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7">
                  <a:moveTo>
                    <a:pt x="0" y="127"/>
                  </a:moveTo>
                  <a:lnTo>
                    <a:pt x="127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0" name="Rectangle 86"/>
          <p:cNvSpPr>
            <a:spLocks noChangeAspect="1" noChangeArrowheads="1"/>
          </p:cNvSpPr>
          <p:nvPr/>
        </p:nvSpPr>
        <p:spPr bwMode="auto">
          <a:xfrm>
            <a:off x="10113337" y="2181261"/>
            <a:ext cx="866775" cy="602479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91" name="Group 87"/>
          <p:cNvGrpSpPr>
            <a:grpSpLocks/>
          </p:cNvGrpSpPr>
          <p:nvPr/>
        </p:nvGrpSpPr>
        <p:grpSpPr bwMode="auto">
          <a:xfrm>
            <a:off x="3247400" y="1516068"/>
            <a:ext cx="4953000" cy="1301750"/>
            <a:chOff x="385" y="935"/>
            <a:chExt cx="3120" cy="820"/>
          </a:xfrm>
        </p:grpSpPr>
        <p:sp>
          <p:nvSpPr>
            <p:cNvPr id="92" name="Rectangle 88"/>
            <p:cNvSpPr>
              <a:spLocks noChangeAspect="1" noChangeArrowheads="1"/>
            </p:cNvSpPr>
            <p:nvPr/>
          </p:nvSpPr>
          <p:spPr bwMode="auto">
            <a:xfrm>
              <a:off x="1528" y="1290"/>
              <a:ext cx="411" cy="465"/>
            </a:xfrm>
            <a:prstGeom prst="rect">
              <a:avLst/>
            </a:prstGeom>
            <a:solidFill>
              <a:srgbClr val="FFFFFF"/>
            </a:solidFill>
            <a:ln w="18415">
              <a:solidFill>
                <a:srgbClr val="339966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3" name="Rectangle 89"/>
            <p:cNvSpPr>
              <a:spLocks noChangeAspect="1" noChangeArrowheads="1"/>
            </p:cNvSpPr>
            <p:nvPr/>
          </p:nvSpPr>
          <p:spPr bwMode="auto">
            <a:xfrm>
              <a:off x="1610" y="1426"/>
              <a:ext cx="27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4" name="Rectangle 90"/>
            <p:cNvSpPr>
              <a:spLocks noChangeAspect="1" noChangeArrowheads="1"/>
            </p:cNvSpPr>
            <p:nvPr/>
          </p:nvSpPr>
          <p:spPr bwMode="auto">
            <a:xfrm>
              <a:off x="1577" y="1421"/>
              <a:ext cx="364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000" b="1" dirty="0">
                  <a:solidFill>
                    <a:srgbClr val="339966"/>
                  </a:solidFill>
                  <a:latin typeface="Times New Roman" panose="02020603050405020304" pitchFamily="18" charset="0"/>
                </a:rPr>
                <a:t>G(p)</a:t>
              </a:r>
              <a:endParaRPr lang="fr-FR" altLang="fr-FR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95" name="Rectangle 92"/>
            <p:cNvSpPr>
              <a:spLocks noChangeAspect="1" noChangeArrowheads="1"/>
            </p:cNvSpPr>
            <p:nvPr/>
          </p:nvSpPr>
          <p:spPr bwMode="auto">
            <a:xfrm>
              <a:off x="1820" y="1442"/>
              <a:ext cx="9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339966"/>
                  </a:solidFill>
                  <a:latin typeface="Times New Roman" panose="02020603050405020304" pitchFamily="18" charset="0"/>
                </a:rPr>
                <a:t> </a:t>
              </a:r>
              <a:endParaRPr lang="fr-FR" altLang="fr-FR" sz="1800" b="1">
                <a:latin typeface="Times New Roman" panose="02020603050405020304" pitchFamily="18" charset="0"/>
              </a:endParaRPr>
            </a:p>
          </p:txBody>
        </p:sp>
        <p:grpSp>
          <p:nvGrpSpPr>
            <p:cNvPr id="96" name="Group 93"/>
            <p:cNvGrpSpPr>
              <a:grpSpLocks noChangeAspect="1"/>
            </p:cNvGrpSpPr>
            <p:nvPr/>
          </p:nvGrpSpPr>
          <p:grpSpPr bwMode="auto">
            <a:xfrm>
              <a:off x="1361" y="1507"/>
              <a:ext cx="172" cy="76"/>
              <a:chOff x="7817" y="9630"/>
              <a:chExt cx="283" cy="127"/>
            </a:xfrm>
          </p:grpSpPr>
          <p:sp>
            <p:nvSpPr>
              <p:cNvPr id="128" name="Freeform 94"/>
              <p:cNvSpPr>
                <a:spLocks noChangeAspect="1"/>
              </p:cNvSpPr>
              <p:nvPr/>
            </p:nvSpPr>
            <p:spPr bwMode="auto">
              <a:xfrm>
                <a:off x="7817" y="9675"/>
                <a:ext cx="163" cy="31"/>
              </a:xfrm>
              <a:custGeom>
                <a:avLst/>
                <a:gdLst>
                  <a:gd name="T0" fmla="*/ 0 w 163"/>
                  <a:gd name="T1" fmla="*/ 0 h 31"/>
                  <a:gd name="T2" fmla="*/ 0 w 163"/>
                  <a:gd name="T3" fmla="*/ 29 h 31"/>
                  <a:gd name="T4" fmla="*/ 163 w 163"/>
                  <a:gd name="T5" fmla="*/ 31 h 31"/>
                  <a:gd name="T6" fmla="*/ 163 w 163"/>
                  <a:gd name="T7" fmla="*/ 3 h 31"/>
                  <a:gd name="T8" fmla="*/ 0 w 163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3" h="31">
                    <a:moveTo>
                      <a:pt x="0" y="0"/>
                    </a:moveTo>
                    <a:lnTo>
                      <a:pt x="0" y="29"/>
                    </a:lnTo>
                    <a:lnTo>
                      <a:pt x="163" y="31"/>
                    </a:lnTo>
                    <a:lnTo>
                      <a:pt x="16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" name="Freeform 95"/>
              <p:cNvSpPr>
                <a:spLocks noChangeAspect="1"/>
              </p:cNvSpPr>
              <p:nvPr/>
            </p:nvSpPr>
            <p:spPr bwMode="auto">
              <a:xfrm>
                <a:off x="7975" y="9630"/>
                <a:ext cx="125" cy="127"/>
              </a:xfrm>
              <a:custGeom>
                <a:avLst/>
                <a:gdLst>
                  <a:gd name="T0" fmla="*/ 0 w 125"/>
                  <a:gd name="T1" fmla="*/ 127 h 127"/>
                  <a:gd name="T2" fmla="*/ 125 w 125"/>
                  <a:gd name="T3" fmla="*/ 64 h 127"/>
                  <a:gd name="T4" fmla="*/ 0 w 125"/>
                  <a:gd name="T5" fmla="*/ 0 h 127"/>
                  <a:gd name="T6" fmla="*/ 0 w 125"/>
                  <a:gd name="T7" fmla="*/ 12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5" h="127">
                    <a:moveTo>
                      <a:pt x="0" y="127"/>
                    </a:moveTo>
                    <a:lnTo>
                      <a:pt x="125" y="64"/>
                    </a:lnTo>
                    <a:lnTo>
                      <a:pt x="0" y="0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97" name="Rectangle 96"/>
            <p:cNvSpPr>
              <a:spLocks noChangeAspect="1" noChangeArrowheads="1"/>
            </p:cNvSpPr>
            <p:nvPr/>
          </p:nvSpPr>
          <p:spPr bwMode="auto">
            <a:xfrm>
              <a:off x="978" y="1317"/>
              <a:ext cx="385" cy="412"/>
            </a:xfrm>
            <a:prstGeom prst="rect">
              <a:avLst/>
            </a:prstGeom>
            <a:solidFill>
              <a:srgbClr val="FFFFFF"/>
            </a:solidFill>
            <a:ln w="1841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8" name="Rectangle 97"/>
            <p:cNvSpPr>
              <a:spLocks noChangeAspect="1" noChangeArrowheads="1"/>
            </p:cNvSpPr>
            <p:nvPr/>
          </p:nvSpPr>
          <p:spPr bwMode="auto">
            <a:xfrm>
              <a:off x="1006" y="1426"/>
              <a:ext cx="32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9" name="Rectangle 98"/>
            <p:cNvSpPr>
              <a:spLocks noChangeAspect="1" noChangeArrowheads="1"/>
            </p:cNvSpPr>
            <p:nvPr/>
          </p:nvSpPr>
          <p:spPr bwMode="auto">
            <a:xfrm>
              <a:off x="1004" y="1426"/>
              <a:ext cx="375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fr-FR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fr-FR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(p)</a:t>
              </a:r>
              <a:endParaRPr lang="fr-FR" altLang="fr-FR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2" name="Rectangle 101"/>
            <p:cNvSpPr>
              <a:spLocks noChangeAspect="1" noChangeArrowheads="1"/>
            </p:cNvSpPr>
            <p:nvPr/>
          </p:nvSpPr>
          <p:spPr bwMode="auto">
            <a:xfrm>
              <a:off x="1313" y="1442"/>
              <a:ext cx="9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endParaRPr lang="fr-FR" altLang="fr-FR" sz="1800" b="1">
                <a:latin typeface="Times New Roman" panose="02020603050405020304" pitchFamily="18" charset="0"/>
              </a:endParaRPr>
            </a:p>
          </p:txBody>
        </p:sp>
        <p:grpSp>
          <p:nvGrpSpPr>
            <p:cNvPr id="103" name="Group 102"/>
            <p:cNvGrpSpPr>
              <a:grpSpLocks noChangeAspect="1"/>
            </p:cNvGrpSpPr>
            <p:nvPr/>
          </p:nvGrpSpPr>
          <p:grpSpPr bwMode="auto">
            <a:xfrm>
              <a:off x="841" y="1507"/>
              <a:ext cx="136" cy="61"/>
              <a:chOff x="6733" y="9630"/>
              <a:chExt cx="283" cy="127"/>
            </a:xfrm>
          </p:grpSpPr>
          <p:sp>
            <p:nvSpPr>
              <p:cNvPr id="126" name="Freeform 103"/>
              <p:cNvSpPr>
                <a:spLocks noChangeAspect="1"/>
              </p:cNvSpPr>
              <p:nvPr/>
            </p:nvSpPr>
            <p:spPr bwMode="auto">
              <a:xfrm>
                <a:off x="6733" y="9675"/>
                <a:ext cx="163" cy="31"/>
              </a:xfrm>
              <a:custGeom>
                <a:avLst/>
                <a:gdLst>
                  <a:gd name="T0" fmla="*/ 0 w 163"/>
                  <a:gd name="T1" fmla="*/ 0 h 31"/>
                  <a:gd name="T2" fmla="*/ 0 w 163"/>
                  <a:gd name="T3" fmla="*/ 29 h 31"/>
                  <a:gd name="T4" fmla="*/ 163 w 163"/>
                  <a:gd name="T5" fmla="*/ 31 h 31"/>
                  <a:gd name="T6" fmla="*/ 163 w 163"/>
                  <a:gd name="T7" fmla="*/ 3 h 31"/>
                  <a:gd name="T8" fmla="*/ 0 w 163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3" h="31">
                    <a:moveTo>
                      <a:pt x="0" y="0"/>
                    </a:moveTo>
                    <a:lnTo>
                      <a:pt x="0" y="29"/>
                    </a:lnTo>
                    <a:lnTo>
                      <a:pt x="163" y="31"/>
                    </a:lnTo>
                    <a:lnTo>
                      <a:pt x="16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7" name="Freeform 104"/>
              <p:cNvSpPr>
                <a:spLocks noChangeAspect="1"/>
              </p:cNvSpPr>
              <p:nvPr/>
            </p:nvSpPr>
            <p:spPr bwMode="auto">
              <a:xfrm>
                <a:off x="6891" y="9630"/>
                <a:ext cx="125" cy="127"/>
              </a:xfrm>
              <a:custGeom>
                <a:avLst/>
                <a:gdLst>
                  <a:gd name="T0" fmla="*/ 0 w 125"/>
                  <a:gd name="T1" fmla="*/ 127 h 127"/>
                  <a:gd name="T2" fmla="*/ 125 w 125"/>
                  <a:gd name="T3" fmla="*/ 64 h 127"/>
                  <a:gd name="T4" fmla="*/ 0 w 125"/>
                  <a:gd name="T5" fmla="*/ 0 h 127"/>
                  <a:gd name="T6" fmla="*/ 0 w 125"/>
                  <a:gd name="T7" fmla="*/ 12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5" h="127">
                    <a:moveTo>
                      <a:pt x="0" y="127"/>
                    </a:moveTo>
                    <a:lnTo>
                      <a:pt x="125" y="64"/>
                    </a:lnTo>
                    <a:lnTo>
                      <a:pt x="0" y="0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4" name="Group 105"/>
            <p:cNvGrpSpPr>
              <a:grpSpLocks noChangeAspect="1"/>
            </p:cNvGrpSpPr>
            <p:nvPr/>
          </p:nvGrpSpPr>
          <p:grpSpPr bwMode="auto">
            <a:xfrm>
              <a:off x="568" y="1400"/>
              <a:ext cx="275" cy="273"/>
              <a:chOff x="6164" y="9407"/>
              <a:chExt cx="573" cy="570"/>
            </a:xfrm>
          </p:grpSpPr>
          <p:sp>
            <p:nvSpPr>
              <p:cNvPr id="120" name="Oval 106"/>
              <p:cNvSpPr>
                <a:spLocks noChangeAspect="1" noChangeArrowheads="1"/>
              </p:cNvSpPr>
              <p:nvPr/>
            </p:nvSpPr>
            <p:spPr bwMode="auto">
              <a:xfrm>
                <a:off x="6164" y="9407"/>
                <a:ext cx="573" cy="570"/>
              </a:xfrm>
              <a:prstGeom prst="ellipse">
                <a:avLst/>
              </a:prstGeom>
              <a:noFill/>
              <a:ln w="1841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Freeform 107"/>
              <p:cNvSpPr>
                <a:spLocks noChangeAspect="1"/>
              </p:cNvSpPr>
              <p:nvPr/>
            </p:nvSpPr>
            <p:spPr bwMode="auto">
              <a:xfrm>
                <a:off x="6239" y="9472"/>
                <a:ext cx="417" cy="421"/>
              </a:xfrm>
              <a:custGeom>
                <a:avLst/>
                <a:gdLst>
                  <a:gd name="T0" fmla="*/ 400 w 417"/>
                  <a:gd name="T1" fmla="*/ 421 h 421"/>
                  <a:gd name="T2" fmla="*/ 417 w 417"/>
                  <a:gd name="T3" fmla="*/ 400 h 421"/>
                  <a:gd name="T4" fmla="*/ 16 w 417"/>
                  <a:gd name="T5" fmla="*/ 0 h 421"/>
                  <a:gd name="T6" fmla="*/ 0 w 417"/>
                  <a:gd name="T7" fmla="*/ 21 h 421"/>
                  <a:gd name="T8" fmla="*/ 400 w 417"/>
                  <a:gd name="T9" fmla="*/ 421 h 4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421">
                    <a:moveTo>
                      <a:pt x="400" y="421"/>
                    </a:moveTo>
                    <a:lnTo>
                      <a:pt x="417" y="400"/>
                    </a:lnTo>
                    <a:lnTo>
                      <a:pt x="16" y="0"/>
                    </a:lnTo>
                    <a:lnTo>
                      <a:pt x="0" y="21"/>
                    </a:lnTo>
                    <a:lnTo>
                      <a:pt x="400" y="421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2" name="Freeform 108"/>
              <p:cNvSpPr>
                <a:spLocks noChangeAspect="1"/>
              </p:cNvSpPr>
              <p:nvPr/>
            </p:nvSpPr>
            <p:spPr bwMode="auto">
              <a:xfrm>
                <a:off x="6239" y="9462"/>
                <a:ext cx="419" cy="424"/>
              </a:xfrm>
              <a:custGeom>
                <a:avLst/>
                <a:gdLst>
                  <a:gd name="T0" fmla="*/ 0 w 419"/>
                  <a:gd name="T1" fmla="*/ 402 h 424"/>
                  <a:gd name="T2" fmla="*/ 16 w 419"/>
                  <a:gd name="T3" fmla="*/ 424 h 424"/>
                  <a:gd name="T4" fmla="*/ 419 w 419"/>
                  <a:gd name="T5" fmla="*/ 22 h 424"/>
                  <a:gd name="T6" fmla="*/ 402 w 419"/>
                  <a:gd name="T7" fmla="*/ 0 h 424"/>
                  <a:gd name="T8" fmla="*/ 0 w 419"/>
                  <a:gd name="T9" fmla="*/ 402 h 4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9" h="424">
                    <a:moveTo>
                      <a:pt x="0" y="402"/>
                    </a:moveTo>
                    <a:lnTo>
                      <a:pt x="16" y="424"/>
                    </a:lnTo>
                    <a:lnTo>
                      <a:pt x="419" y="22"/>
                    </a:lnTo>
                    <a:lnTo>
                      <a:pt x="402" y="0"/>
                    </a:lnTo>
                    <a:lnTo>
                      <a:pt x="0" y="402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3" name="Freeform 109"/>
              <p:cNvSpPr>
                <a:spLocks noChangeAspect="1"/>
              </p:cNvSpPr>
              <p:nvPr/>
            </p:nvSpPr>
            <p:spPr bwMode="auto">
              <a:xfrm>
                <a:off x="6375" y="9477"/>
                <a:ext cx="130" cy="31"/>
              </a:xfrm>
              <a:custGeom>
                <a:avLst/>
                <a:gdLst>
                  <a:gd name="T0" fmla="*/ 0 w 130"/>
                  <a:gd name="T1" fmla="*/ 2 h 31"/>
                  <a:gd name="T2" fmla="*/ 0 w 130"/>
                  <a:gd name="T3" fmla="*/ 31 h 31"/>
                  <a:gd name="T4" fmla="*/ 130 w 130"/>
                  <a:gd name="T5" fmla="*/ 28 h 31"/>
                  <a:gd name="T6" fmla="*/ 130 w 130"/>
                  <a:gd name="T7" fmla="*/ 0 h 31"/>
                  <a:gd name="T8" fmla="*/ 0 w 130"/>
                  <a:gd name="T9" fmla="*/ 2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0" h="31">
                    <a:moveTo>
                      <a:pt x="0" y="2"/>
                    </a:moveTo>
                    <a:lnTo>
                      <a:pt x="0" y="31"/>
                    </a:lnTo>
                    <a:lnTo>
                      <a:pt x="130" y="28"/>
                    </a:lnTo>
                    <a:lnTo>
                      <a:pt x="13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4" name="Rectangle 110"/>
              <p:cNvSpPr>
                <a:spLocks noChangeAspect="1" noChangeArrowheads="1"/>
              </p:cNvSpPr>
              <p:nvPr/>
            </p:nvSpPr>
            <p:spPr bwMode="auto">
              <a:xfrm>
                <a:off x="6224" y="9668"/>
                <a:ext cx="132" cy="2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Freeform 111"/>
              <p:cNvSpPr>
                <a:spLocks noChangeAspect="1"/>
              </p:cNvSpPr>
              <p:nvPr/>
            </p:nvSpPr>
            <p:spPr bwMode="auto">
              <a:xfrm>
                <a:off x="6270" y="9623"/>
                <a:ext cx="31" cy="129"/>
              </a:xfrm>
              <a:custGeom>
                <a:avLst/>
                <a:gdLst>
                  <a:gd name="T0" fmla="*/ 28 w 31"/>
                  <a:gd name="T1" fmla="*/ 0 h 129"/>
                  <a:gd name="T2" fmla="*/ 0 w 31"/>
                  <a:gd name="T3" fmla="*/ 0 h 129"/>
                  <a:gd name="T4" fmla="*/ 2 w 31"/>
                  <a:gd name="T5" fmla="*/ 129 h 129"/>
                  <a:gd name="T6" fmla="*/ 31 w 31"/>
                  <a:gd name="T7" fmla="*/ 129 h 129"/>
                  <a:gd name="T8" fmla="*/ 28 w 31"/>
                  <a:gd name="T9" fmla="*/ 0 h 1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29">
                    <a:moveTo>
                      <a:pt x="28" y="0"/>
                    </a:moveTo>
                    <a:lnTo>
                      <a:pt x="0" y="0"/>
                    </a:lnTo>
                    <a:lnTo>
                      <a:pt x="2" y="129"/>
                    </a:lnTo>
                    <a:lnTo>
                      <a:pt x="31" y="1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5" name="Group 112"/>
            <p:cNvGrpSpPr>
              <a:grpSpLocks noChangeAspect="1"/>
            </p:cNvGrpSpPr>
            <p:nvPr/>
          </p:nvGrpSpPr>
          <p:grpSpPr bwMode="auto">
            <a:xfrm>
              <a:off x="684" y="1049"/>
              <a:ext cx="56" cy="351"/>
              <a:chOff x="6385" y="8725"/>
              <a:chExt cx="127" cy="682"/>
            </a:xfrm>
          </p:grpSpPr>
          <p:sp>
            <p:nvSpPr>
              <p:cNvPr id="118" name="Freeform 113"/>
              <p:cNvSpPr>
                <a:spLocks noChangeAspect="1"/>
              </p:cNvSpPr>
              <p:nvPr/>
            </p:nvSpPr>
            <p:spPr bwMode="auto">
              <a:xfrm>
                <a:off x="6433" y="8725"/>
                <a:ext cx="31" cy="562"/>
              </a:xfrm>
              <a:custGeom>
                <a:avLst/>
                <a:gdLst>
                  <a:gd name="T0" fmla="*/ 31 w 31"/>
                  <a:gd name="T1" fmla="*/ 0 h 562"/>
                  <a:gd name="T2" fmla="*/ 2 w 31"/>
                  <a:gd name="T3" fmla="*/ 0 h 562"/>
                  <a:gd name="T4" fmla="*/ 0 w 31"/>
                  <a:gd name="T5" fmla="*/ 562 h 562"/>
                  <a:gd name="T6" fmla="*/ 29 w 31"/>
                  <a:gd name="T7" fmla="*/ 562 h 562"/>
                  <a:gd name="T8" fmla="*/ 31 w 31"/>
                  <a:gd name="T9" fmla="*/ 0 h 5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562">
                    <a:moveTo>
                      <a:pt x="31" y="0"/>
                    </a:moveTo>
                    <a:lnTo>
                      <a:pt x="2" y="0"/>
                    </a:lnTo>
                    <a:lnTo>
                      <a:pt x="0" y="562"/>
                    </a:lnTo>
                    <a:lnTo>
                      <a:pt x="29" y="56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9" name="Freeform 114"/>
              <p:cNvSpPr>
                <a:spLocks noChangeAspect="1"/>
              </p:cNvSpPr>
              <p:nvPr/>
            </p:nvSpPr>
            <p:spPr bwMode="auto">
              <a:xfrm>
                <a:off x="6385" y="9283"/>
                <a:ext cx="127" cy="124"/>
              </a:xfrm>
              <a:custGeom>
                <a:avLst/>
                <a:gdLst>
                  <a:gd name="T0" fmla="*/ 0 w 127"/>
                  <a:gd name="T1" fmla="*/ 0 h 124"/>
                  <a:gd name="T2" fmla="*/ 65 w 127"/>
                  <a:gd name="T3" fmla="*/ 124 h 124"/>
                  <a:gd name="T4" fmla="*/ 127 w 127"/>
                  <a:gd name="T5" fmla="*/ 0 h 124"/>
                  <a:gd name="T6" fmla="*/ 0 w 127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7" h="124">
                    <a:moveTo>
                      <a:pt x="0" y="0"/>
                    </a:moveTo>
                    <a:lnTo>
                      <a:pt x="65" y="124"/>
                    </a:lnTo>
                    <a:lnTo>
                      <a:pt x="1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6" name="Rectangle 115"/>
            <p:cNvSpPr>
              <a:spLocks noChangeAspect="1" noChangeArrowheads="1"/>
            </p:cNvSpPr>
            <p:nvPr/>
          </p:nvSpPr>
          <p:spPr bwMode="auto">
            <a:xfrm>
              <a:off x="2110" y="935"/>
              <a:ext cx="295" cy="274"/>
            </a:xfrm>
            <a:prstGeom prst="rect">
              <a:avLst/>
            </a:prstGeom>
            <a:noFill/>
            <a:ln w="1841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10" name="Rectangle 119"/>
            <p:cNvSpPr>
              <a:spLocks noChangeAspect="1" noChangeArrowheads="1"/>
            </p:cNvSpPr>
            <p:nvPr/>
          </p:nvSpPr>
          <p:spPr bwMode="auto">
            <a:xfrm>
              <a:off x="3491" y="1072"/>
              <a:ext cx="14" cy="46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11" name="Group 120"/>
            <p:cNvGrpSpPr>
              <a:grpSpLocks noChangeAspect="1"/>
            </p:cNvGrpSpPr>
            <p:nvPr/>
          </p:nvGrpSpPr>
          <p:grpSpPr bwMode="auto">
            <a:xfrm>
              <a:off x="2405" y="1026"/>
              <a:ext cx="1093" cy="93"/>
              <a:chOff x="11179" y="8629"/>
              <a:chExt cx="2276" cy="194"/>
            </a:xfrm>
          </p:grpSpPr>
          <p:sp>
            <p:nvSpPr>
              <p:cNvPr id="116" name="Rectangle 121"/>
              <p:cNvSpPr>
                <a:spLocks noChangeAspect="1" noChangeArrowheads="1"/>
              </p:cNvSpPr>
              <p:nvPr/>
            </p:nvSpPr>
            <p:spPr bwMode="auto">
              <a:xfrm>
                <a:off x="11366" y="8710"/>
                <a:ext cx="2089" cy="2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Freeform 122"/>
              <p:cNvSpPr>
                <a:spLocks noChangeAspect="1"/>
              </p:cNvSpPr>
              <p:nvPr/>
            </p:nvSpPr>
            <p:spPr bwMode="auto">
              <a:xfrm>
                <a:off x="11179" y="8629"/>
                <a:ext cx="194" cy="194"/>
              </a:xfrm>
              <a:custGeom>
                <a:avLst/>
                <a:gdLst>
                  <a:gd name="T0" fmla="*/ 194 w 194"/>
                  <a:gd name="T1" fmla="*/ 0 h 194"/>
                  <a:gd name="T2" fmla="*/ 0 w 194"/>
                  <a:gd name="T3" fmla="*/ 98 h 194"/>
                  <a:gd name="T4" fmla="*/ 194 w 194"/>
                  <a:gd name="T5" fmla="*/ 194 h 194"/>
                  <a:gd name="T6" fmla="*/ 194 w 194"/>
                  <a:gd name="T7" fmla="*/ 0 h 1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4" h="194">
                    <a:moveTo>
                      <a:pt x="194" y="0"/>
                    </a:moveTo>
                    <a:lnTo>
                      <a:pt x="0" y="98"/>
                    </a:lnTo>
                    <a:lnTo>
                      <a:pt x="194" y="194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12" name="Line 123"/>
            <p:cNvSpPr>
              <a:spLocks noChangeAspect="1" noChangeShapeType="1"/>
            </p:cNvSpPr>
            <p:nvPr/>
          </p:nvSpPr>
          <p:spPr bwMode="auto">
            <a:xfrm>
              <a:off x="712" y="1056"/>
              <a:ext cx="13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13" name="Group 124"/>
            <p:cNvGrpSpPr>
              <a:grpSpLocks noChangeAspect="1"/>
            </p:cNvGrpSpPr>
            <p:nvPr/>
          </p:nvGrpSpPr>
          <p:grpSpPr bwMode="auto">
            <a:xfrm>
              <a:off x="385" y="1509"/>
              <a:ext cx="172" cy="77"/>
              <a:chOff x="7817" y="9630"/>
              <a:chExt cx="283" cy="127"/>
            </a:xfrm>
          </p:grpSpPr>
          <p:sp>
            <p:nvSpPr>
              <p:cNvPr id="114" name="Freeform 125"/>
              <p:cNvSpPr>
                <a:spLocks noChangeAspect="1"/>
              </p:cNvSpPr>
              <p:nvPr/>
            </p:nvSpPr>
            <p:spPr bwMode="auto">
              <a:xfrm>
                <a:off x="7817" y="9675"/>
                <a:ext cx="163" cy="31"/>
              </a:xfrm>
              <a:custGeom>
                <a:avLst/>
                <a:gdLst>
                  <a:gd name="T0" fmla="*/ 0 w 163"/>
                  <a:gd name="T1" fmla="*/ 0 h 31"/>
                  <a:gd name="T2" fmla="*/ 0 w 163"/>
                  <a:gd name="T3" fmla="*/ 29 h 31"/>
                  <a:gd name="T4" fmla="*/ 163 w 163"/>
                  <a:gd name="T5" fmla="*/ 31 h 31"/>
                  <a:gd name="T6" fmla="*/ 163 w 163"/>
                  <a:gd name="T7" fmla="*/ 3 h 31"/>
                  <a:gd name="T8" fmla="*/ 0 w 163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3" h="31">
                    <a:moveTo>
                      <a:pt x="0" y="0"/>
                    </a:moveTo>
                    <a:lnTo>
                      <a:pt x="0" y="29"/>
                    </a:lnTo>
                    <a:lnTo>
                      <a:pt x="163" y="31"/>
                    </a:lnTo>
                    <a:lnTo>
                      <a:pt x="16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5" name="Freeform 126"/>
              <p:cNvSpPr>
                <a:spLocks noChangeAspect="1"/>
              </p:cNvSpPr>
              <p:nvPr/>
            </p:nvSpPr>
            <p:spPr bwMode="auto">
              <a:xfrm>
                <a:off x="7975" y="9630"/>
                <a:ext cx="125" cy="127"/>
              </a:xfrm>
              <a:custGeom>
                <a:avLst/>
                <a:gdLst>
                  <a:gd name="T0" fmla="*/ 0 w 125"/>
                  <a:gd name="T1" fmla="*/ 127 h 127"/>
                  <a:gd name="T2" fmla="*/ 125 w 125"/>
                  <a:gd name="T3" fmla="*/ 64 h 127"/>
                  <a:gd name="T4" fmla="*/ 0 w 125"/>
                  <a:gd name="T5" fmla="*/ 0 h 127"/>
                  <a:gd name="T6" fmla="*/ 0 w 125"/>
                  <a:gd name="T7" fmla="*/ 12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5" h="127">
                    <a:moveTo>
                      <a:pt x="0" y="127"/>
                    </a:moveTo>
                    <a:lnTo>
                      <a:pt x="125" y="64"/>
                    </a:lnTo>
                    <a:lnTo>
                      <a:pt x="0" y="0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30" name="Rectangle 127"/>
          <p:cNvSpPr>
            <a:spLocks noChangeArrowheads="1"/>
          </p:cNvSpPr>
          <p:nvPr/>
        </p:nvSpPr>
        <p:spPr bwMode="auto">
          <a:xfrm>
            <a:off x="5009547" y="4762431"/>
            <a:ext cx="4301177" cy="46166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 dirty="0">
                <a:solidFill>
                  <a:srgbClr val="FF3300"/>
                </a:solidFill>
                <a:latin typeface="Calibri (Corps)"/>
              </a:rPr>
              <a:t>= &gt;   Controller </a:t>
            </a:r>
            <a:r>
              <a:rPr lang="fr-FR" altLang="fr-FR" sz="2400" b="1" i="1" dirty="0" err="1">
                <a:solidFill>
                  <a:srgbClr val="FF3300"/>
                </a:solidFill>
                <a:latin typeface="Calibri (Corps)"/>
              </a:rPr>
              <a:t>choice</a:t>
            </a:r>
            <a:r>
              <a:rPr lang="fr-FR" altLang="fr-FR" sz="2400" b="1" i="1" dirty="0">
                <a:solidFill>
                  <a:srgbClr val="FF3300"/>
                </a:solidFill>
                <a:latin typeface="Calibri (Corps)"/>
              </a:rPr>
              <a:t>: Ci(p)</a:t>
            </a:r>
          </a:p>
        </p:txBody>
      </p:sp>
      <p:sp>
        <p:nvSpPr>
          <p:cNvPr id="131" name="ZoneTexte 130"/>
          <p:cNvSpPr txBox="1"/>
          <p:nvPr/>
        </p:nvSpPr>
        <p:spPr>
          <a:xfrm>
            <a:off x="2979313" y="2446713"/>
            <a:ext cx="6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</a:t>
            </a:r>
            <a:r>
              <a:rPr lang="fr-FR" b="1" baseline="-25000" dirty="0"/>
              <a:t>ref</a:t>
            </a:r>
          </a:p>
        </p:txBody>
      </p:sp>
      <p:sp>
        <p:nvSpPr>
          <p:cNvPr id="132" name="ZoneTexte 131"/>
          <p:cNvSpPr txBox="1"/>
          <p:nvPr/>
        </p:nvSpPr>
        <p:spPr>
          <a:xfrm>
            <a:off x="7620515" y="3787246"/>
            <a:ext cx="2251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Calibri (Corps)"/>
              </a:rPr>
              <a:t>DC motor</a:t>
            </a:r>
          </a:p>
        </p:txBody>
      </p:sp>
      <p:sp>
        <p:nvSpPr>
          <p:cNvPr id="133" name="ZoneTexte 132"/>
          <p:cNvSpPr txBox="1"/>
          <p:nvPr/>
        </p:nvSpPr>
        <p:spPr>
          <a:xfrm>
            <a:off x="4701993" y="3759430"/>
            <a:ext cx="1591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libri (Corps)"/>
              </a:rPr>
              <a:t>Chopper</a:t>
            </a:r>
            <a:endParaRPr lang="en-US" b="1" dirty="0">
              <a:solidFill>
                <a:srgbClr val="00B050"/>
              </a:solidFill>
              <a:latin typeface="Calibri (Corps)"/>
            </a:endParaRPr>
          </a:p>
        </p:txBody>
      </p:sp>
      <p:sp>
        <p:nvSpPr>
          <p:cNvPr id="134" name="ZoneTexte 133"/>
          <p:cNvSpPr txBox="1"/>
          <p:nvPr/>
        </p:nvSpPr>
        <p:spPr>
          <a:xfrm>
            <a:off x="3205350" y="3731187"/>
            <a:ext cx="1531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alibri (Corps)"/>
              </a:rPr>
              <a:t>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8504939" y="2357528"/>
                <a:ext cx="293862" cy="268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939" y="2357528"/>
                <a:ext cx="293862" cy="268279"/>
              </a:xfrm>
              <a:prstGeom prst="rect">
                <a:avLst/>
              </a:prstGeom>
              <a:blipFill>
                <a:blip r:embed="rId2"/>
                <a:stretch>
                  <a:fillRect l="-16667" r="-12500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133150" y="2225014"/>
                <a:ext cx="844205" cy="533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150" y="2225014"/>
                <a:ext cx="844205" cy="533351"/>
              </a:xfrm>
              <a:prstGeom prst="rect">
                <a:avLst/>
              </a:prstGeom>
              <a:blipFill>
                <a:blip r:embed="rId3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Rectangle 136"/>
              <p:cNvSpPr/>
              <p:nvPr/>
            </p:nvSpPr>
            <p:spPr>
              <a:xfrm>
                <a:off x="10172105" y="2212314"/>
                <a:ext cx="794513" cy="534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altLang="fr-FR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37" name="Rectangle 1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105" y="2212314"/>
                <a:ext cx="794513" cy="534826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1038880" y="2212314"/>
                <a:ext cx="49372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600" b="1" i="0" smtClean="0">
                          <a:latin typeface="Cambria Math" panose="02040503050406030204" pitchFamily="18" charset="0"/>
                        </a:rPr>
                        <m:t>𝛀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8880" y="2212314"/>
                <a:ext cx="493725" cy="246221"/>
              </a:xfrm>
              <a:prstGeom prst="rect">
                <a:avLst/>
              </a:prstGeom>
              <a:blipFill>
                <a:blip r:embed="rId5"/>
                <a:stretch>
                  <a:fillRect l="-9877" r="-13580" b="-3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ZoneTexte 137"/>
              <p:cNvSpPr txBox="1"/>
              <p:nvPr/>
            </p:nvSpPr>
            <p:spPr>
              <a:xfrm>
                <a:off x="9383369" y="1697712"/>
                <a:ext cx="21852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b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38" name="ZoneTexte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3369" y="1697712"/>
                <a:ext cx="218521" cy="246221"/>
              </a:xfrm>
              <a:prstGeom prst="rect">
                <a:avLst/>
              </a:prstGeom>
              <a:blipFill>
                <a:blip r:embed="rId6"/>
                <a:stretch>
                  <a:fillRect l="-19444" r="-2778" b="-97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ZoneTexte 138"/>
              <p:cNvSpPr txBox="1"/>
              <p:nvPr/>
            </p:nvSpPr>
            <p:spPr>
              <a:xfrm>
                <a:off x="8927693" y="2160593"/>
                <a:ext cx="28424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b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𝐦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39" name="ZoneTexte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693" y="2160593"/>
                <a:ext cx="284245" cy="246221"/>
              </a:xfrm>
              <a:prstGeom prst="rect">
                <a:avLst/>
              </a:prstGeom>
              <a:blipFill>
                <a:blip r:embed="rId7"/>
                <a:stretch>
                  <a:fillRect l="-17391" r="-2174" b="-97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ZoneTexte 139"/>
          <p:cNvSpPr txBox="1"/>
          <p:nvPr/>
        </p:nvSpPr>
        <p:spPr>
          <a:xfrm>
            <a:off x="6039158" y="1507174"/>
            <a:ext cx="417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solidFill>
                  <a:srgbClr val="FF0000"/>
                </a:solidFill>
              </a:rPr>
              <a:t>k</a:t>
            </a:r>
            <a:r>
              <a:rPr lang="fr-FR" sz="2000" b="1" baseline="-25000" dirty="0" err="1">
                <a:solidFill>
                  <a:srgbClr val="FF0000"/>
                </a:solidFill>
              </a:rPr>
              <a:t>i</a:t>
            </a:r>
            <a:endParaRPr lang="fr-FR" sz="2000" b="1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ZoneTexte 140"/>
              <p:cNvSpPr txBox="1"/>
              <p:nvPr/>
            </p:nvSpPr>
            <p:spPr>
              <a:xfrm>
                <a:off x="8483124" y="3214696"/>
                <a:ext cx="293862" cy="268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41" name="ZoneTexte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124" y="3214696"/>
                <a:ext cx="293862" cy="268279"/>
              </a:xfrm>
              <a:prstGeom prst="rect">
                <a:avLst/>
              </a:prstGeom>
              <a:blipFill>
                <a:blip r:embed="rId8"/>
                <a:stretch>
                  <a:fillRect l="-16667" r="-10417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ZoneTexte 141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43" name="Connecteur droit 14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64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P.I. control: simplified chopper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279182"/>
              </p:ext>
            </p:extLst>
          </p:nvPr>
        </p:nvGraphicFramePr>
        <p:xfrm>
          <a:off x="4459865" y="3936563"/>
          <a:ext cx="206057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2" imgW="1028520" imgH="431640" progId="Equation.3">
                  <p:embed/>
                </p:oleObj>
              </mc:Choice>
              <mc:Fallback>
                <p:oleObj name="Équation" r:id="rId2" imgW="1028520" imgH="43164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865" y="3936563"/>
                        <a:ext cx="2060575" cy="865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094353"/>
              </p:ext>
            </p:extLst>
          </p:nvPr>
        </p:nvGraphicFramePr>
        <p:xfrm>
          <a:off x="6934777" y="3936563"/>
          <a:ext cx="231616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4" imgW="1155600" imgH="431640" progId="Equation.3">
                  <p:embed/>
                </p:oleObj>
              </mc:Choice>
              <mc:Fallback>
                <p:oleObj name="Équation" r:id="rId4" imgW="1155600" imgH="43164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777" y="3936563"/>
                        <a:ext cx="2316163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313340"/>
              </p:ext>
            </p:extLst>
          </p:nvPr>
        </p:nvGraphicFramePr>
        <p:xfrm>
          <a:off x="3609975" y="5235575"/>
          <a:ext cx="32353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6" imgW="1625400" imgH="431640" progId="Equation.3">
                  <p:embed/>
                </p:oleObj>
              </mc:Choice>
              <mc:Fallback>
                <p:oleObj name="Équation" r:id="rId6" imgW="1625400" imgH="431640" progId="Equation.3">
                  <p:embed/>
                  <p:pic>
                    <p:nvPicPr>
                      <p:cNvPr id="84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975" y="5235575"/>
                        <a:ext cx="3235325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ext Box 80"/>
          <p:cNvSpPr txBox="1">
            <a:spLocks noChangeArrowheads="1"/>
          </p:cNvSpPr>
          <p:nvPr/>
        </p:nvSpPr>
        <p:spPr bwMode="auto">
          <a:xfrm>
            <a:off x="8128129" y="5285056"/>
            <a:ext cx="1785937" cy="528638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=&gt;  </a:t>
            </a:r>
            <a:r>
              <a:rPr lang="fr-FR" altLang="fr-FR" sz="2800" b="1" dirty="0">
                <a:solidFill>
                  <a:srgbClr val="FF3300"/>
                </a:solidFill>
                <a:latin typeface="Symbol" panose="05050102010706020507" pitchFamily="18" charset="2"/>
              </a:rPr>
              <a:t>t</a:t>
            </a:r>
            <a:r>
              <a:rPr lang="fr-FR" altLang="fr-FR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= </a:t>
            </a:r>
            <a:r>
              <a:rPr lang="fr-FR" altLang="fr-FR" sz="2800" b="1" dirty="0">
                <a:solidFill>
                  <a:srgbClr val="FF3300"/>
                </a:solidFill>
                <a:latin typeface="Symbol" panose="05050102010706020507" pitchFamily="18" charset="2"/>
              </a:rPr>
              <a:t>t</a:t>
            </a:r>
            <a:r>
              <a:rPr lang="fr-FR" altLang="fr-FR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87" name="Rectangle 7"/>
          <p:cNvSpPr>
            <a:spLocks noChangeAspect="1" noChangeArrowheads="1"/>
          </p:cNvSpPr>
          <p:nvPr/>
        </p:nvSpPr>
        <p:spPr bwMode="auto">
          <a:xfrm>
            <a:off x="8902941" y="2227697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88" name="Group 8"/>
          <p:cNvGrpSpPr>
            <a:grpSpLocks noChangeAspect="1"/>
          </p:cNvGrpSpPr>
          <p:nvPr/>
        </p:nvGrpSpPr>
        <p:grpSpPr bwMode="auto">
          <a:xfrm>
            <a:off x="6167678" y="2302309"/>
            <a:ext cx="434975" cy="434975"/>
            <a:chOff x="11040" y="9426"/>
            <a:chExt cx="571" cy="570"/>
          </a:xfrm>
        </p:grpSpPr>
        <p:sp>
          <p:nvSpPr>
            <p:cNvPr id="89" name="Oval 9"/>
            <p:cNvSpPr>
              <a:spLocks noChangeAspect="1" noChangeArrowheads="1"/>
            </p:cNvSpPr>
            <p:nvPr/>
          </p:nvSpPr>
          <p:spPr bwMode="auto">
            <a:xfrm>
              <a:off x="11040" y="9426"/>
              <a:ext cx="571" cy="570"/>
            </a:xfrm>
            <a:prstGeom prst="ellipse">
              <a:avLst/>
            </a:prstGeom>
            <a:noFill/>
            <a:ln w="1841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0" name="Freeform 10"/>
            <p:cNvSpPr>
              <a:spLocks noChangeAspect="1"/>
            </p:cNvSpPr>
            <p:nvPr/>
          </p:nvSpPr>
          <p:spPr bwMode="auto">
            <a:xfrm>
              <a:off x="11114" y="9510"/>
              <a:ext cx="418" cy="422"/>
            </a:xfrm>
            <a:custGeom>
              <a:avLst/>
              <a:gdLst>
                <a:gd name="T0" fmla="*/ 418 w 418"/>
                <a:gd name="T1" fmla="*/ 22 h 422"/>
                <a:gd name="T2" fmla="*/ 401 w 418"/>
                <a:gd name="T3" fmla="*/ 0 h 422"/>
                <a:gd name="T4" fmla="*/ 0 w 418"/>
                <a:gd name="T5" fmla="*/ 400 h 422"/>
                <a:gd name="T6" fmla="*/ 17 w 418"/>
                <a:gd name="T7" fmla="*/ 422 h 422"/>
                <a:gd name="T8" fmla="*/ 418 w 418"/>
                <a:gd name="T9" fmla="*/ 22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8" h="422">
                  <a:moveTo>
                    <a:pt x="418" y="22"/>
                  </a:moveTo>
                  <a:lnTo>
                    <a:pt x="401" y="0"/>
                  </a:lnTo>
                  <a:lnTo>
                    <a:pt x="0" y="400"/>
                  </a:lnTo>
                  <a:lnTo>
                    <a:pt x="17" y="422"/>
                  </a:lnTo>
                  <a:lnTo>
                    <a:pt x="418" y="2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Freeform 11"/>
            <p:cNvSpPr>
              <a:spLocks noChangeAspect="1"/>
            </p:cNvSpPr>
            <p:nvPr/>
          </p:nvSpPr>
          <p:spPr bwMode="auto">
            <a:xfrm>
              <a:off x="11114" y="9517"/>
              <a:ext cx="420" cy="424"/>
            </a:xfrm>
            <a:custGeom>
              <a:avLst/>
              <a:gdLst>
                <a:gd name="T0" fmla="*/ 17 w 420"/>
                <a:gd name="T1" fmla="*/ 0 h 424"/>
                <a:gd name="T2" fmla="*/ 0 w 420"/>
                <a:gd name="T3" fmla="*/ 22 h 424"/>
                <a:gd name="T4" fmla="*/ 403 w 420"/>
                <a:gd name="T5" fmla="*/ 424 h 424"/>
                <a:gd name="T6" fmla="*/ 420 w 420"/>
                <a:gd name="T7" fmla="*/ 403 h 424"/>
                <a:gd name="T8" fmla="*/ 17 w 420"/>
                <a:gd name="T9" fmla="*/ 0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0" h="424">
                  <a:moveTo>
                    <a:pt x="17" y="0"/>
                  </a:moveTo>
                  <a:lnTo>
                    <a:pt x="0" y="22"/>
                  </a:lnTo>
                  <a:lnTo>
                    <a:pt x="403" y="424"/>
                  </a:lnTo>
                  <a:lnTo>
                    <a:pt x="420" y="40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Freeform 12"/>
            <p:cNvSpPr>
              <a:spLocks noChangeAspect="1"/>
            </p:cNvSpPr>
            <p:nvPr/>
          </p:nvSpPr>
          <p:spPr bwMode="auto">
            <a:xfrm>
              <a:off x="11251" y="9893"/>
              <a:ext cx="130" cy="31"/>
            </a:xfrm>
            <a:custGeom>
              <a:avLst/>
              <a:gdLst>
                <a:gd name="T0" fmla="*/ 0 w 130"/>
                <a:gd name="T1" fmla="*/ 0 h 31"/>
                <a:gd name="T2" fmla="*/ 0 w 130"/>
                <a:gd name="T3" fmla="*/ 29 h 31"/>
                <a:gd name="T4" fmla="*/ 130 w 130"/>
                <a:gd name="T5" fmla="*/ 31 h 31"/>
                <a:gd name="T6" fmla="*/ 130 w 130"/>
                <a:gd name="T7" fmla="*/ 3 h 31"/>
                <a:gd name="T8" fmla="*/ 0 w 130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31">
                  <a:moveTo>
                    <a:pt x="0" y="0"/>
                  </a:moveTo>
                  <a:lnTo>
                    <a:pt x="0" y="29"/>
                  </a:lnTo>
                  <a:lnTo>
                    <a:pt x="130" y="31"/>
                  </a:lnTo>
                  <a:lnTo>
                    <a:pt x="13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Rectangle 13"/>
            <p:cNvSpPr>
              <a:spLocks noChangeAspect="1" noChangeArrowheads="1"/>
            </p:cNvSpPr>
            <p:nvPr/>
          </p:nvSpPr>
          <p:spPr bwMode="auto">
            <a:xfrm>
              <a:off x="11100" y="9704"/>
              <a:ext cx="132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4" name="Freeform 14"/>
            <p:cNvSpPr>
              <a:spLocks noChangeAspect="1"/>
            </p:cNvSpPr>
            <p:nvPr/>
          </p:nvSpPr>
          <p:spPr bwMode="auto">
            <a:xfrm>
              <a:off x="11146" y="9649"/>
              <a:ext cx="31" cy="129"/>
            </a:xfrm>
            <a:custGeom>
              <a:avLst/>
              <a:gdLst>
                <a:gd name="T0" fmla="*/ 0 w 31"/>
                <a:gd name="T1" fmla="*/ 129 h 129"/>
                <a:gd name="T2" fmla="*/ 28 w 31"/>
                <a:gd name="T3" fmla="*/ 129 h 129"/>
                <a:gd name="T4" fmla="*/ 31 w 31"/>
                <a:gd name="T5" fmla="*/ 0 h 129"/>
                <a:gd name="T6" fmla="*/ 2 w 31"/>
                <a:gd name="T7" fmla="*/ 0 h 129"/>
                <a:gd name="T8" fmla="*/ 0 w 31"/>
                <a:gd name="T9" fmla="*/ 129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29">
                  <a:moveTo>
                    <a:pt x="0" y="129"/>
                  </a:moveTo>
                  <a:lnTo>
                    <a:pt x="28" y="129"/>
                  </a:lnTo>
                  <a:lnTo>
                    <a:pt x="31" y="0"/>
                  </a:lnTo>
                  <a:lnTo>
                    <a:pt x="2" y="0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5" name="Rectangle 15"/>
          <p:cNvSpPr>
            <a:spLocks noChangeAspect="1" noChangeArrowheads="1"/>
          </p:cNvSpPr>
          <p:nvPr/>
        </p:nvSpPr>
        <p:spPr bwMode="auto">
          <a:xfrm>
            <a:off x="6924916" y="2247667"/>
            <a:ext cx="868362" cy="564229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6" name="Rectangle 17"/>
          <p:cNvSpPr>
            <a:spLocks noChangeAspect="1" noChangeArrowheads="1"/>
          </p:cNvSpPr>
          <p:nvPr/>
        </p:nvSpPr>
        <p:spPr bwMode="auto">
          <a:xfrm>
            <a:off x="7396403" y="2338822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97" name="Rectangle 19"/>
          <p:cNvSpPr>
            <a:spLocks noChangeAspect="1" noChangeArrowheads="1"/>
          </p:cNvSpPr>
          <p:nvPr/>
        </p:nvSpPr>
        <p:spPr bwMode="auto">
          <a:xfrm>
            <a:off x="7593253" y="2516622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98" name="Group 20"/>
          <p:cNvGrpSpPr>
            <a:grpSpLocks noChangeAspect="1"/>
          </p:cNvGrpSpPr>
          <p:nvPr/>
        </p:nvGrpSpPr>
        <p:grpSpPr bwMode="auto">
          <a:xfrm>
            <a:off x="6599478" y="2473759"/>
            <a:ext cx="325438" cy="95250"/>
            <a:chOff x="11608" y="9649"/>
            <a:chExt cx="425" cy="127"/>
          </a:xfrm>
        </p:grpSpPr>
        <p:sp>
          <p:nvSpPr>
            <p:cNvPr id="99" name="Rectangle 21"/>
            <p:cNvSpPr>
              <a:spLocks noChangeAspect="1" noChangeArrowheads="1"/>
            </p:cNvSpPr>
            <p:nvPr/>
          </p:nvSpPr>
          <p:spPr bwMode="auto">
            <a:xfrm>
              <a:off x="11608" y="9697"/>
              <a:ext cx="305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00" name="Freeform 22"/>
            <p:cNvSpPr>
              <a:spLocks noChangeAspect="1"/>
            </p:cNvSpPr>
            <p:nvPr/>
          </p:nvSpPr>
          <p:spPr bwMode="auto">
            <a:xfrm>
              <a:off x="11908" y="9649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5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1" name="Group 23"/>
          <p:cNvGrpSpPr>
            <a:grpSpLocks noChangeAspect="1"/>
          </p:cNvGrpSpPr>
          <p:nvPr/>
        </p:nvGrpSpPr>
        <p:grpSpPr bwMode="auto">
          <a:xfrm>
            <a:off x="7791691" y="2473759"/>
            <a:ext cx="431800" cy="95250"/>
            <a:chOff x="13170" y="9649"/>
            <a:chExt cx="566" cy="127"/>
          </a:xfrm>
        </p:grpSpPr>
        <p:sp>
          <p:nvSpPr>
            <p:cNvPr id="102" name="Rectangle 24"/>
            <p:cNvSpPr>
              <a:spLocks noChangeAspect="1" noChangeArrowheads="1"/>
            </p:cNvSpPr>
            <p:nvPr/>
          </p:nvSpPr>
          <p:spPr bwMode="auto">
            <a:xfrm>
              <a:off x="13170" y="9697"/>
              <a:ext cx="446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03" name="Freeform 25"/>
            <p:cNvSpPr>
              <a:spLocks noChangeAspect="1"/>
            </p:cNvSpPr>
            <p:nvPr/>
          </p:nvSpPr>
          <p:spPr bwMode="auto">
            <a:xfrm>
              <a:off x="13611" y="9649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5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4" name="Group 26"/>
          <p:cNvGrpSpPr>
            <a:grpSpLocks noChangeAspect="1"/>
          </p:cNvGrpSpPr>
          <p:nvPr/>
        </p:nvGrpSpPr>
        <p:grpSpPr bwMode="auto">
          <a:xfrm>
            <a:off x="9523653" y="2473759"/>
            <a:ext cx="433388" cy="95250"/>
            <a:chOff x="15439" y="9649"/>
            <a:chExt cx="570" cy="127"/>
          </a:xfrm>
        </p:grpSpPr>
        <p:sp>
          <p:nvSpPr>
            <p:cNvPr id="105" name="Rectangle 27"/>
            <p:cNvSpPr>
              <a:spLocks noChangeAspect="1" noChangeArrowheads="1"/>
            </p:cNvSpPr>
            <p:nvPr/>
          </p:nvSpPr>
          <p:spPr bwMode="auto">
            <a:xfrm>
              <a:off x="15439" y="9697"/>
              <a:ext cx="448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06" name="Freeform 28"/>
            <p:cNvSpPr>
              <a:spLocks noChangeAspect="1"/>
            </p:cNvSpPr>
            <p:nvPr/>
          </p:nvSpPr>
          <p:spPr bwMode="auto">
            <a:xfrm>
              <a:off x="15882" y="9649"/>
              <a:ext cx="127" cy="127"/>
            </a:xfrm>
            <a:custGeom>
              <a:avLst/>
              <a:gdLst>
                <a:gd name="T0" fmla="*/ 0 w 127"/>
                <a:gd name="T1" fmla="*/ 127 h 127"/>
                <a:gd name="T2" fmla="*/ 127 w 127"/>
                <a:gd name="T3" fmla="*/ 65 h 127"/>
                <a:gd name="T4" fmla="*/ 0 w 127"/>
                <a:gd name="T5" fmla="*/ 0 h 127"/>
                <a:gd name="T6" fmla="*/ 0 w 127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7">
                  <a:moveTo>
                    <a:pt x="0" y="127"/>
                  </a:moveTo>
                  <a:lnTo>
                    <a:pt x="127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7" name="Rectangle 29"/>
          <p:cNvSpPr>
            <a:spLocks noChangeAspect="1" noChangeArrowheads="1"/>
          </p:cNvSpPr>
          <p:nvPr/>
        </p:nvSpPr>
        <p:spPr bwMode="auto">
          <a:xfrm>
            <a:off x="6385166" y="3373872"/>
            <a:ext cx="1838325" cy="206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8" name="Rectangle 30"/>
          <p:cNvSpPr>
            <a:spLocks noChangeAspect="1" noChangeArrowheads="1"/>
          </p:cNvSpPr>
          <p:nvPr/>
        </p:nvSpPr>
        <p:spPr bwMode="auto">
          <a:xfrm>
            <a:off x="11027016" y="2519797"/>
            <a:ext cx="20637" cy="86518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9" name="Rectangle 31"/>
          <p:cNvSpPr>
            <a:spLocks noChangeAspect="1" noChangeArrowheads="1"/>
          </p:cNvSpPr>
          <p:nvPr/>
        </p:nvSpPr>
        <p:spPr bwMode="auto">
          <a:xfrm>
            <a:off x="5705716" y="2289609"/>
            <a:ext cx="434975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10" name="Rectangle 32"/>
          <p:cNvSpPr>
            <a:spLocks noChangeAspect="1" noChangeArrowheads="1"/>
          </p:cNvSpPr>
          <p:nvPr/>
        </p:nvSpPr>
        <p:spPr bwMode="auto">
          <a:xfrm>
            <a:off x="5650161" y="2216615"/>
            <a:ext cx="415924" cy="24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111" name="Rectangle 33"/>
          <p:cNvSpPr>
            <a:spLocks noChangeAspect="1" noChangeArrowheads="1"/>
          </p:cNvSpPr>
          <p:nvPr/>
        </p:nvSpPr>
        <p:spPr bwMode="auto">
          <a:xfrm>
            <a:off x="6067666" y="2310247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112" name="Rectangle 34"/>
          <p:cNvSpPr>
            <a:spLocks noChangeAspect="1" noChangeArrowheads="1"/>
          </p:cNvSpPr>
          <p:nvPr/>
        </p:nvSpPr>
        <p:spPr bwMode="auto">
          <a:xfrm>
            <a:off x="9090266" y="1654609"/>
            <a:ext cx="325437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13" name="Rectangle 37"/>
          <p:cNvSpPr>
            <a:spLocks noChangeAspect="1" noChangeArrowheads="1"/>
          </p:cNvSpPr>
          <p:nvPr/>
        </p:nvSpPr>
        <p:spPr bwMode="auto">
          <a:xfrm>
            <a:off x="9314103" y="1687947"/>
            <a:ext cx="100013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114" name="Group 38"/>
          <p:cNvGrpSpPr>
            <a:grpSpLocks noChangeAspect="1"/>
          </p:cNvGrpSpPr>
          <p:nvPr/>
        </p:nvGrpSpPr>
        <p:grpSpPr bwMode="auto">
          <a:xfrm>
            <a:off x="9088678" y="2302309"/>
            <a:ext cx="436563" cy="434975"/>
            <a:chOff x="14870" y="9426"/>
            <a:chExt cx="573" cy="570"/>
          </a:xfrm>
        </p:grpSpPr>
        <p:sp>
          <p:nvSpPr>
            <p:cNvPr id="115" name="Oval 39"/>
            <p:cNvSpPr>
              <a:spLocks noChangeAspect="1" noChangeArrowheads="1"/>
            </p:cNvSpPr>
            <p:nvPr/>
          </p:nvSpPr>
          <p:spPr bwMode="auto">
            <a:xfrm>
              <a:off x="14870" y="9426"/>
              <a:ext cx="573" cy="570"/>
            </a:xfrm>
            <a:prstGeom prst="ellipse">
              <a:avLst/>
            </a:prstGeom>
            <a:noFill/>
            <a:ln w="1841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16" name="Freeform 40"/>
            <p:cNvSpPr>
              <a:spLocks noChangeAspect="1"/>
            </p:cNvSpPr>
            <p:nvPr/>
          </p:nvSpPr>
          <p:spPr bwMode="auto">
            <a:xfrm>
              <a:off x="14945" y="9493"/>
              <a:ext cx="417" cy="422"/>
            </a:xfrm>
            <a:custGeom>
              <a:avLst/>
              <a:gdLst>
                <a:gd name="T0" fmla="*/ 400 w 417"/>
                <a:gd name="T1" fmla="*/ 422 h 422"/>
                <a:gd name="T2" fmla="*/ 417 w 417"/>
                <a:gd name="T3" fmla="*/ 400 h 422"/>
                <a:gd name="T4" fmla="*/ 16 w 417"/>
                <a:gd name="T5" fmla="*/ 0 h 422"/>
                <a:gd name="T6" fmla="*/ 0 w 417"/>
                <a:gd name="T7" fmla="*/ 22 h 422"/>
                <a:gd name="T8" fmla="*/ 400 w 417"/>
                <a:gd name="T9" fmla="*/ 422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422">
                  <a:moveTo>
                    <a:pt x="400" y="422"/>
                  </a:moveTo>
                  <a:lnTo>
                    <a:pt x="417" y="400"/>
                  </a:lnTo>
                  <a:lnTo>
                    <a:pt x="16" y="0"/>
                  </a:lnTo>
                  <a:lnTo>
                    <a:pt x="0" y="22"/>
                  </a:lnTo>
                  <a:lnTo>
                    <a:pt x="400" y="42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7" name="Freeform 41"/>
            <p:cNvSpPr>
              <a:spLocks noChangeAspect="1"/>
            </p:cNvSpPr>
            <p:nvPr/>
          </p:nvSpPr>
          <p:spPr bwMode="auto">
            <a:xfrm>
              <a:off x="14945" y="9484"/>
              <a:ext cx="419" cy="424"/>
            </a:xfrm>
            <a:custGeom>
              <a:avLst/>
              <a:gdLst>
                <a:gd name="T0" fmla="*/ 0 w 419"/>
                <a:gd name="T1" fmla="*/ 402 h 424"/>
                <a:gd name="T2" fmla="*/ 16 w 419"/>
                <a:gd name="T3" fmla="*/ 424 h 424"/>
                <a:gd name="T4" fmla="*/ 419 w 419"/>
                <a:gd name="T5" fmla="*/ 21 h 424"/>
                <a:gd name="T6" fmla="*/ 403 w 419"/>
                <a:gd name="T7" fmla="*/ 0 h 424"/>
                <a:gd name="T8" fmla="*/ 0 w 419"/>
                <a:gd name="T9" fmla="*/ 402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9" h="424">
                  <a:moveTo>
                    <a:pt x="0" y="402"/>
                  </a:moveTo>
                  <a:lnTo>
                    <a:pt x="16" y="424"/>
                  </a:lnTo>
                  <a:lnTo>
                    <a:pt x="419" y="21"/>
                  </a:lnTo>
                  <a:lnTo>
                    <a:pt x="403" y="0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Freeform 42"/>
            <p:cNvSpPr>
              <a:spLocks noChangeAspect="1"/>
            </p:cNvSpPr>
            <p:nvPr/>
          </p:nvSpPr>
          <p:spPr bwMode="auto">
            <a:xfrm>
              <a:off x="15081" y="9498"/>
              <a:ext cx="130" cy="31"/>
            </a:xfrm>
            <a:custGeom>
              <a:avLst/>
              <a:gdLst>
                <a:gd name="T0" fmla="*/ 0 w 130"/>
                <a:gd name="T1" fmla="*/ 3 h 31"/>
                <a:gd name="T2" fmla="*/ 0 w 130"/>
                <a:gd name="T3" fmla="*/ 31 h 31"/>
                <a:gd name="T4" fmla="*/ 130 w 130"/>
                <a:gd name="T5" fmla="*/ 29 h 31"/>
                <a:gd name="T6" fmla="*/ 130 w 130"/>
                <a:gd name="T7" fmla="*/ 0 h 31"/>
                <a:gd name="T8" fmla="*/ 0 w 130"/>
                <a:gd name="T9" fmla="*/ 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31">
                  <a:moveTo>
                    <a:pt x="0" y="3"/>
                  </a:moveTo>
                  <a:lnTo>
                    <a:pt x="0" y="31"/>
                  </a:lnTo>
                  <a:lnTo>
                    <a:pt x="130" y="29"/>
                  </a:lnTo>
                  <a:lnTo>
                    <a:pt x="13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Freeform 43"/>
            <p:cNvSpPr>
              <a:spLocks noChangeAspect="1"/>
            </p:cNvSpPr>
            <p:nvPr/>
          </p:nvSpPr>
          <p:spPr bwMode="auto">
            <a:xfrm>
              <a:off x="14930" y="9687"/>
              <a:ext cx="132" cy="31"/>
            </a:xfrm>
            <a:custGeom>
              <a:avLst/>
              <a:gdLst>
                <a:gd name="T0" fmla="*/ 0 w 132"/>
                <a:gd name="T1" fmla="*/ 3 h 31"/>
                <a:gd name="T2" fmla="*/ 0 w 132"/>
                <a:gd name="T3" fmla="*/ 31 h 31"/>
                <a:gd name="T4" fmla="*/ 132 w 132"/>
                <a:gd name="T5" fmla="*/ 29 h 31"/>
                <a:gd name="T6" fmla="*/ 132 w 132"/>
                <a:gd name="T7" fmla="*/ 0 h 31"/>
                <a:gd name="T8" fmla="*/ 0 w 132"/>
                <a:gd name="T9" fmla="*/ 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31">
                  <a:moveTo>
                    <a:pt x="0" y="3"/>
                  </a:moveTo>
                  <a:lnTo>
                    <a:pt x="0" y="31"/>
                  </a:lnTo>
                  <a:lnTo>
                    <a:pt x="132" y="29"/>
                  </a:lnTo>
                  <a:lnTo>
                    <a:pt x="132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Freeform 44"/>
            <p:cNvSpPr>
              <a:spLocks noChangeAspect="1"/>
            </p:cNvSpPr>
            <p:nvPr/>
          </p:nvSpPr>
          <p:spPr bwMode="auto">
            <a:xfrm>
              <a:off x="14976" y="9642"/>
              <a:ext cx="31" cy="131"/>
            </a:xfrm>
            <a:custGeom>
              <a:avLst/>
              <a:gdLst>
                <a:gd name="T0" fmla="*/ 29 w 31"/>
                <a:gd name="T1" fmla="*/ 0 h 131"/>
                <a:gd name="T2" fmla="*/ 0 w 31"/>
                <a:gd name="T3" fmla="*/ 0 h 131"/>
                <a:gd name="T4" fmla="*/ 2 w 31"/>
                <a:gd name="T5" fmla="*/ 131 h 131"/>
                <a:gd name="T6" fmla="*/ 31 w 31"/>
                <a:gd name="T7" fmla="*/ 131 h 131"/>
                <a:gd name="T8" fmla="*/ 29 w 31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31">
                  <a:moveTo>
                    <a:pt x="29" y="0"/>
                  </a:moveTo>
                  <a:lnTo>
                    <a:pt x="0" y="0"/>
                  </a:lnTo>
                  <a:lnTo>
                    <a:pt x="2" y="131"/>
                  </a:lnTo>
                  <a:lnTo>
                    <a:pt x="31" y="131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1" name="Rectangle 45"/>
          <p:cNvSpPr>
            <a:spLocks noChangeAspect="1" noChangeArrowheads="1"/>
          </p:cNvSpPr>
          <p:nvPr/>
        </p:nvSpPr>
        <p:spPr bwMode="auto">
          <a:xfrm>
            <a:off x="5951778" y="2843647"/>
            <a:ext cx="4349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22" name="Rectangle 46"/>
          <p:cNvSpPr>
            <a:spLocks noChangeAspect="1" noChangeArrowheads="1"/>
          </p:cNvSpPr>
          <p:nvPr/>
        </p:nvSpPr>
        <p:spPr bwMode="auto">
          <a:xfrm>
            <a:off x="5995407" y="2874428"/>
            <a:ext cx="435956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123" name="Rectangle 47"/>
          <p:cNvSpPr>
            <a:spLocks noChangeAspect="1" noChangeArrowheads="1"/>
          </p:cNvSpPr>
          <p:nvPr/>
        </p:nvSpPr>
        <p:spPr bwMode="auto">
          <a:xfrm>
            <a:off x="6304203" y="2867459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124" name="Rectangle 48"/>
          <p:cNvSpPr>
            <a:spLocks noChangeAspect="1" noChangeArrowheads="1"/>
          </p:cNvSpPr>
          <p:nvPr/>
        </p:nvSpPr>
        <p:spPr bwMode="auto">
          <a:xfrm>
            <a:off x="8225078" y="2302309"/>
            <a:ext cx="468313" cy="43497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25" name="Group 52"/>
          <p:cNvGrpSpPr>
            <a:grpSpLocks noChangeAspect="1"/>
          </p:cNvGrpSpPr>
          <p:nvPr/>
        </p:nvGrpSpPr>
        <p:grpSpPr bwMode="auto">
          <a:xfrm>
            <a:off x="8685482" y="2473759"/>
            <a:ext cx="404783" cy="95250"/>
            <a:chOff x="14304" y="9649"/>
            <a:chExt cx="569" cy="127"/>
          </a:xfrm>
        </p:grpSpPr>
        <p:sp>
          <p:nvSpPr>
            <p:cNvPr id="126" name="Rectangle 53"/>
            <p:cNvSpPr>
              <a:spLocks noChangeAspect="1" noChangeArrowheads="1"/>
            </p:cNvSpPr>
            <p:nvPr/>
          </p:nvSpPr>
          <p:spPr bwMode="auto">
            <a:xfrm>
              <a:off x="14304" y="9697"/>
              <a:ext cx="449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27" name="Freeform 54"/>
            <p:cNvSpPr>
              <a:spLocks noChangeAspect="1"/>
            </p:cNvSpPr>
            <p:nvPr/>
          </p:nvSpPr>
          <p:spPr bwMode="auto">
            <a:xfrm>
              <a:off x="14748" y="9649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5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8" name="Rectangle 55"/>
          <p:cNvSpPr>
            <a:spLocks noChangeAspect="1" noChangeArrowheads="1"/>
          </p:cNvSpPr>
          <p:nvPr/>
        </p:nvSpPr>
        <p:spPr bwMode="auto">
          <a:xfrm>
            <a:off x="7826616" y="2545197"/>
            <a:ext cx="358775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29" name="Rectangle 56"/>
          <p:cNvSpPr>
            <a:spLocks noChangeAspect="1" noChangeArrowheads="1"/>
          </p:cNvSpPr>
          <p:nvPr/>
        </p:nvSpPr>
        <p:spPr bwMode="auto">
          <a:xfrm>
            <a:off x="7888527" y="2565834"/>
            <a:ext cx="345521" cy="247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130" name="Rectangle 57"/>
          <p:cNvSpPr>
            <a:spLocks noChangeAspect="1" noChangeArrowheads="1"/>
          </p:cNvSpPr>
          <p:nvPr/>
        </p:nvSpPr>
        <p:spPr bwMode="auto">
          <a:xfrm>
            <a:off x="8120303" y="2565834"/>
            <a:ext cx="984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131" name="Rectangle 59"/>
          <p:cNvSpPr>
            <a:spLocks noChangeAspect="1" noChangeArrowheads="1"/>
          </p:cNvSpPr>
          <p:nvPr/>
        </p:nvSpPr>
        <p:spPr bwMode="auto">
          <a:xfrm>
            <a:off x="10426941" y="2338822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132" name="Group 61"/>
          <p:cNvGrpSpPr>
            <a:grpSpLocks noChangeAspect="1"/>
          </p:cNvGrpSpPr>
          <p:nvPr/>
        </p:nvGrpSpPr>
        <p:grpSpPr bwMode="auto">
          <a:xfrm>
            <a:off x="10820641" y="2473759"/>
            <a:ext cx="434975" cy="95250"/>
            <a:chOff x="17142" y="9649"/>
            <a:chExt cx="570" cy="127"/>
          </a:xfrm>
        </p:grpSpPr>
        <p:sp>
          <p:nvSpPr>
            <p:cNvPr id="133" name="Rectangle 62"/>
            <p:cNvSpPr>
              <a:spLocks noChangeAspect="1" noChangeArrowheads="1"/>
            </p:cNvSpPr>
            <p:nvPr/>
          </p:nvSpPr>
          <p:spPr bwMode="auto">
            <a:xfrm>
              <a:off x="17142" y="9697"/>
              <a:ext cx="448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34" name="Freeform 63"/>
            <p:cNvSpPr>
              <a:spLocks noChangeAspect="1"/>
            </p:cNvSpPr>
            <p:nvPr/>
          </p:nvSpPr>
          <p:spPr bwMode="auto">
            <a:xfrm>
              <a:off x="17585" y="9649"/>
              <a:ext cx="127" cy="127"/>
            </a:xfrm>
            <a:custGeom>
              <a:avLst/>
              <a:gdLst>
                <a:gd name="T0" fmla="*/ 0 w 127"/>
                <a:gd name="T1" fmla="*/ 127 h 127"/>
                <a:gd name="T2" fmla="*/ 127 w 127"/>
                <a:gd name="T3" fmla="*/ 65 h 127"/>
                <a:gd name="T4" fmla="*/ 0 w 127"/>
                <a:gd name="T5" fmla="*/ 0 h 127"/>
                <a:gd name="T6" fmla="*/ 0 w 127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7">
                  <a:moveTo>
                    <a:pt x="0" y="127"/>
                  </a:moveTo>
                  <a:lnTo>
                    <a:pt x="127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5" name="Rectangle 64"/>
          <p:cNvSpPr>
            <a:spLocks noChangeAspect="1" noChangeArrowheads="1"/>
          </p:cNvSpPr>
          <p:nvPr/>
        </p:nvSpPr>
        <p:spPr bwMode="auto">
          <a:xfrm>
            <a:off x="10930178" y="2195947"/>
            <a:ext cx="4349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36" name="Rectangle 67"/>
          <p:cNvSpPr>
            <a:spLocks noChangeAspect="1" noChangeArrowheads="1"/>
          </p:cNvSpPr>
          <p:nvPr/>
        </p:nvSpPr>
        <p:spPr bwMode="auto">
          <a:xfrm>
            <a:off x="11293716" y="2227697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137" name="Group 68"/>
          <p:cNvGrpSpPr>
            <a:grpSpLocks noChangeAspect="1"/>
          </p:cNvGrpSpPr>
          <p:nvPr/>
        </p:nvGrpSpPr>
        <p:grpSpPr bwMode="auto">
          <a:xfrm>
            <a:off x="9252191" y="1972109"/>
            <a:ext cx="96837" cy="323850"/>
            <a:chOff x="15086" y="8993"/>
            <a:chExt cx="127" cy="424"/>
          </a:xfrm>
        </p:grpSpPr>
        <p:sp>
          <p:nvSpPr>
            <p:cNvPr id="138" name="Rectangle 69"/>
            <p:cNvSpPr>
              <a:spLocks noChangeAspect="1" noChangeArrowheads="1"/>
            </p:cNvSpPr>
            <p:nvPr/>
          </p:nvSpPr>
          <p:spPr bwMode="auto">
            <a:xfrm>
              <a:off x="15134" y="8993"/>
              <a:ext cx="29" cy="304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39" name="Freeform 70"/>
            <p:cNvSpPr>
              <a:spLocks noChangeAspect="1"/>
            </p:cNvSpPr>
            <p:nvPr/>
          </p:nvSpPr>
          <p:spPr bwMode="auto">
            <a:xfrm>
              <a:off x="15086" y="9292"/>
              <a:ext cx="127" cy="125"/>
            </a:xfrm>
            <a:custGeom>
              <a:avLst/>
              <a:gdLst>
                <a:gd name="T0" fmla="*/ 0 w 127"/>
                <a:gd name="T1" fmla="*/ 0 h 125"/>
                <a:gd name="T2" fmla="*/ 65 w 127"/>
                <a:gd name="T3" fmla="*/ 125 h 125"/>
                <a:gd name="T4" fmla="*/ 127 w 127"/>
                <a:gd name="T5" fmla="*/ 0 h 125"/>
                <a:gd name="T6" fmla="*/ 0 w 127"/>
                <a:gd name="T7" fmla="*/ 0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5">
                  <a:moveTo>
                    <a:pt x="0" y="0"/>
                  </a:moveTo>
                  <a:lnTo>
                    <a:pt x="65" y="125"/>
                  </a:lnTo>
                  <a:lnTo>
                    <a:pt x="1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40" name="Rectangle 71"/>
          <p:cNvSpPr>
            <a:spLocks noChangeAspect="1" noChangeArrowheads="1"/>
          </p:cNvSpPr>
          <p:nvPr/>
        </p:nvSpPr>
        <p:spPr bwMode="auto">
          <a:xfrm>
            <a:off x="8225078" y="3167497"/>
            <a:ext cx="468313" cy="43497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41" name="Group 75"/>
          <p:cNvGrpSpPr>
            <a:grpSpLocks noChangeAspect="1"/>
          </p:cNvGrpSpPr>
          <p:nvPr/>
        </p:nvGrpSpPr>
        <p:grpSpPr bwMode="auto">
          <a:xfrm>
            <a:off x="8660053" y="3337359"/>
            <a:ext cx="2378075" cy="96838"/>
            <a:chOff x="14307" y="10782"/>
            <a:chExt cx="3120" cy="127"/>
          </a:xfrm>
        </p:grpSpPr>
        <p:sp>
          <p:nvSpPr>
            <p:cNvPr id="142" name="Rectangle 76"/>
            <p:cNvSpPr>
              <a:spLocks noChangeAspect="1" noChangeArrowheads="1"/>
            </p:cNvSpPr>
            <p:nvPr/>
          </p:nvSpPr>
          <p:spPr bwMode="auto">
            <a:xfrm>
              <a:off x="14424" y="10830"/>
              <a:ext cx="3003" cy="28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3" name="Freeform 77"/>
            <p:cNvSpPr>
              <a:spLocks noChangeAspect="1"/>
            </p:cNvSpPr>
            <p:nvPr/>
          </p:nvSpPr>
          <p:spPr bwMode="auto">
            <a:xfrm>
              <a:off x="14307" y="10782"/>
              <a:ext cx="124" cy="127"/>
            </a:xfrm>
            <a:custGeom>
              <a:avLst/>
              <a:gdLst>
                <a:gd name="T0" fmla="*/ 124 w 124"/>
                <a:gd name="T1" fmla="*/ 0 h 127"/>
                <a:gd name="T2" fmla="*/ 0 w 124"/>
                <a:gd name="T3" fmla="*/ 62 h 127"/>
                <a:gd name="T4" fmla="*/ 124 w 124"/>
                <a:gd name="T5" fmla="*/ 127 h 127"/>
                <a:gd name="T6" fmla="*/ 124 w 124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" h="127">
                  <a:moveTo>
                    <a:pt x="124" y="0"/>
                  </a:moveTo>
                  <a:lnTo>
                    <a:pt x="0" y="62"/>
                  </a:lnTo>
                  <a:lnTo>
                    <a:pt x="124" y="127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4" name="Group 80"/>
          <p:cNvGrpSpPr>
            <a:grpSpLocks noChangeAspect="1"/>
          </p:cNvGrpSpPr>
          <p:nvPr/>
        </p:nvGrpSpPr>
        <p:grpSpPr bwMode="auto">
          <a:xfrm>
            <a:off x="6337541" y="2737284"/>
            <a:ext cx="96837" cy="647700"/>
            <a:chOff x="11263" y="9996"/>
            <a:chExt cx="127" cy="848"/>
          </a:xfrm>
        </p:grpSpPr>
        <p:sp>
          <p:nvSpPr>
            <p:cNvPr id="145" name="Rectangle 81"/>
            <p:cNvSpPr>
              <a:spLocks noChangeAspect="1" noChangeArrowheads="1"/>
            </p:cNvSpPr>
            <p:nvPr/>
          </p:nvSpPr>
          <p:spPr bwMode="auto">
            <a:xfrm>
              <a:off x="11311" y="10114"/>
              <a:ext cx="29" cy="73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6" name="Freeform 82"/>
            <p:cNvSpPr>
              <a:spLocks noChangeAspect="1"/>
            </p:cNvSpPr>
            <p:nvPr/>
          </p:nvSpPr>
          <p:spPr bwMode="auto">
            <a:xfrm>
              <a:off x="11263" y="9996"/>
              <a:ext cx="127" cy="125"/>
            </a:xfrm>
            <a:custGeom>
              <a:avLst/>
              <a:gdLst>
                <a:gd name="T0" fmla="*/ 127 w 127"/>
                <a:gd name="T1" fmla="*/ 125 h 125"/>
                <a:gd name="T2" fmla="*/ 65 w 127"/>
                <a:gd name="T3" fmla="*/ 0 h 125"/>
                <a:gd name="T4" fmla="*/ 0 w 127"/>
                <a:gd name="T5" fmla="*/ 125 h 125"/>
                <a:gd name="T6" fmla="*/ 127 w 127"/>
                <a:gd name="T7" fmla="*/ 125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5">
                  <a:moveTo>
                    <a:pt x="127" y="125"/>
                  </a:moveTo>
                  <a:lnTo>
                    <a:pt x="65" y="0"/>
                  </a:lnTo>
                  <a:lnTo>
                    <a:pt x="0" y="125"/>
                  </a:lnTo>
                  <a:lnTo>
                    <a:pt x="127" y="125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7" name="Group 83"/>
          <p:cNvGrpSpPr>
            <a:grpSpLocks noChangeAspect="1"/>
          </p:cNvGrpSpPr>
          <p:nvPr/>
        </p:nvGrpSpPr>
        <p:grpSpPr bwMode="auto">
          <a:xfrm>
            <a:off x="5518391" y="2473759"/>
            <a:ext cx="652462" cy="95250"/>
            <a:chOff x="10189" y="9649"/>
            <a:chExt cx="856" cy="127"/>
          </a:xfrm>
        </p:grpSpPr>
        <p:sp>
          <p:nvSpPr>
            <p:cNvPr id="148" name="Rectangle 84"/>
            <p:cNvSpPr>
              <a:spLocks noChangeAspect="1" noChangeArrowheads="1"/>
            </p:cNvSpPr>
            <p:nvPr/>
          </p:nvSpPr>
          <p:spPr bwMode="auto">
            <a:xfrm>
              <a:off x="10189" y="9697"/>
              <a:ext cx="734" cy="2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9" name="Freeform 85"/>
            <p:cNvSpPr>
              <a:spLocks noChangeAspect="1"/>
            </p:cNvSpPr>
            <p:nvPr/>
          </p:nvSpPr>
          <p:spPr bwMode="auto">
            <a:xfrm>
              <a:off x="10918" y="9649"/>
              <a:ext cx="127" cy="127"/>
            </a:xfrm>
            <a:custGeom>
              <a:avLst/>
              <a:gdLst>
                <a:gd name="T0" fmla="*/ 0 w 127"/>
                <a:gd name="T1" fmla="*/ 127 h 127"/>
                <a:gd name="T2" fmla="*/ 127 w 127"/>
                <a:gd name="T3" fmla="*/ 65 h 127"/>
                <a:gd name="T4" fmla="*/ 0 w 127"/>
                <a:gd name="T5" fmla="*/ 0 h 127"/>
                <a:gd name="T6" fmla="*/ 0 w 127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7">
                  <a:moveTo>
                    <a:pt x="0" y="127"/>
                  </a:moveTo>
                  <a:lnTo>
                    <a:pt x="127" y="65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0" name="Rectangle 86"/>
          <p:cNvSpPr>
            <a:spLocks noChangeAspect="1" noChangeArrowheads="1"/>
          </p:cNvSpPr>
          <p:nvPr/>
        </p:nvSpPr>
        <p:spPr bwMode="auto">
          <a:xfrm>
            <a:off x="9933228" y="2227360"/>
            <a:ext cx="866775" cy="54802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51" name="Group 87"/>
          <p:cNvGrpSpPr>
            <a:grpSpLocks/>
          </p:cNvGrpSpPr>
          <p:nvPr/>
        </p:nvGrpSpPr>
        <p:grpSpPr bwMode="auto">
          <a:xfrm>
            <a:off x="3067291" y="1551422"/>
            <a:ext cx="4953000" cy="1301750"/>
            <a:chOff x="385" y="935"/>
            <a:chExt cx="3120" cy="820"/>
          </a:xfrm>
        </p:grpSpPr>
        <p:sp>
          <p:nvSpPr>
            <p:cNvPr id="152" name="Rectangle 88"/>
            <p:cNvSpPr>
              <a:spLocks noChangeAspect="1" noChangeArrowheads="1"/>
            </p:cNvSpPr>
            <p:nvPr/>
          </p:nvSpPr>
          <p:spPr bwMode="auto">
            <a:xfrm>
              <a:off x="1528" y="1290"/>
              <a:ext cx="411" cy="465"/>
            </a:xfrm>
            <a:prstGeom prst="rect">
              <a:avLst/>
            </a:prstGeom>
            <a:solidFill>
              <a:srgbClr val="FFFFFF"/>
            </a:solidFill>
            <a:ln w="18415">
              <a:solidFill>
                <a:srgbClr val="339966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53" name="Rectangle 89"/>
            <p:cNvSpPr>
              <a:spLocks noChangeAspect="1" noChangeArrowheads="1"/>
            </p:cNvSpPr>
            <p:nvPr/>
          </p:nvSpPr>
          <p:spPr bwMode="auto">
            <a:xfrm>
              <a:off x="1610" y="1426"/>
              <a:ext cx="27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54" name="Rectangle 90"/>
            <p:cNvSpPr>
              <a:spLocks noChangeAspect="1" noChangeArrowheads="1"/>
            </p:cNvSpPr>
            <p:nvPr/>
          </p:nvSpPr>
          <p:spPr bwMode="auto">
            <a:xfrm>
              <a:off x="1646" y="1421"/>
              <a:ext cx="364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000" b="1" dirty="0">
                  <a:solidFill>
                    <a:srgbClr val="339966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fr-FR" sz="2000" b="1" baseline="-25000" dirty="0">
                  <a:solidFill>
                    <a:srgbClr val="339966"/>
                  </a:solidFill>
                  <a:latin typeface="Times New Roman" panose="02020603050405020304" pitchFamily="18" charset="0"/>
                </a:rPr>
                <a:t>0</a:t>
              </a:r>
              <a:endParaRPr lang="fr-FR" altLang="fr-FR" sz="28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55" name="Rectangle 92"/>
            <p:cNvSpPr>
              <a:spLocks noChangeAspect="1" noChangeArrowheads="1"/>
            </p:cNvSpPr>
            <p:nvPr/>
          </p:nvSpPr>
          <p:spPr bwMode="auto">
            <a:xfrm>
              <a:off x="1820" y="1442"/>
              <a:ext cx="9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339966"/>
                  </a:solidFill>
                  <a:latin typeface="Times New Roman" panose="02020603050405020304" pitchFamily="18" charset="0"/>
                </a:rPr>
                <a:t> </a:t>
              </a:r>
              <a:endParaRPr lang="fr-FR" altLang="fr-FR" sz="1800" b="1">
                <a:latin typeface="Times New Roman" panose="02020603050405020304" pitchFamily="18" charset="0"/>
              </a:endParaRPr>
            </a:p>
          </p:txBody>
        </p:sp>
        <p:grpSp>
          <p:nvGrpSpPr>
            <p:cNvPr id="156" name="Group 93"/>
            <p:cNvGrpSpPr>
              <a:grpSpLocks noChangeAspect="1"/>
            </p:cNvGrpSpPr>
            <p:nvPr/>
          </p:nvGrpSpPr>
          <p:grpSpPr bwMode="auto">
            <a:xfrm>
              <a:off x="1361" y="1507"/>
              <a:ext cx="172" cy="76"/>
              <a:chOff x="7817" y="9630"/>
              <a:chExt cx="283" cy="127"/>
            </a:xfrm>
          </p:grpSpPr>
          <p:sp>
            <p:nvSpPr>
              <p:cNvPr id="183" name="Freeform 94"/>
              <p:cNvSpPr>
                <a:spLocks noChangeAspect="1"/>
              </p:cNvSpPr>
              <p:nvPr/>
            </p:nvSpPr>
            <p:spPr bwMode="auto">
              <a:xfrm>
                <a:off x="7817" y="9675"/>
                <a:ext cx="163" cy="31"/>
              </a:xfrm>
              <a:custGeom>
                <a:avLst/>
                <a:gdLst>
                  <a:gd name="T0" fmla="*/ 0 w 163"/>
                  <a:gd name="T1" fmla="*/ 0 h 31"/>
                  <a:gd name="T2" fmla="*/ 0 w 163"/>
                  <a:gd name="T3" fmla="*/ 29 h 31"/>
                  <a:gd name="T4" fmla="*/ 163 w 163"/>
                  <a:gd name="T5" fmla="*/ 31 h 31"/>
                  <a:gd name="T6" fmla="*/ 163 w 163"/>
                  <a:gd name="T7" fmla="*/ 3 h 31"/>
                  <a:gd name="T8" fmla="*/ 0 w 163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3" h="31">
                    <a:moveTo>
                      <a:pt x="0" y="0"/>
                    </a:moveTo>
                    <a:lnTo>
                      <a:pt x="0" y="29"/>
                    </a:lnTo>
                    <a:lnTo>
                      <a:pt x="163" y="31"/>
                    </a:lnTo>
                    <a:lnTo>
                      <a:pt x="16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" name="Freeform 95"/>
              <p:cNvSpPr>
                <a:spLocks noChangeAspect="1"/>
              </p:cNvSpPr>
              <p:nvPr/>
            </p:nvSpPr>
            <p:spPr bwMode="auto">
              <a:xfrm>
                <a:off x="7975" y="9630"/>
                <a:ext cx="125" cy="127"/>
              </a:xfrm>
              <a:custGeom>
                <a:avLst/>
                <a:gdLst>
                  <a:gd name="T0" fmla="*/ 0 w 125"/>
                  <a:gd name="T1" fmla="*/ 127 h 127"/>
                  <a:gd name="T2" fmla="*/ 125 w 125"/>
                  <a:gd name="T3" fmla="*/ 64 h 127"/>
                  <a:gd name="T4" fmla="*/ 0 w 125"/>
                  <a:gd name="T5" fmla="*/ 0 h 127"/>
                  <a:gd name="T6" fmla="*/ 0 w 125"/>
                  <a:gd name="T7" fmla="*/ 12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5" h="127">
                    <a:moveTo>
                      <a:pt x="0" y="127"/>
                    </a:moveTo>
                    <a:lnTo>
                      <a:pt x="125" y="64"/>
                    </a:lnTo>
                    <a:lnTo>
                      <a:pt x="0" y="0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7" name="Rectangle 156"/>
            <p:cNvSpPr>
              <a:spLocks noChangeAspect="1" noChangeArrowheads="1"/>
            </p:cNvSpPr>
            <p:nvPr/>
          </p:nvSpPr>
          <p:spPr bwMode="auto">
            <a:xfrm>
              <a:off x="978" y="1317"/>
              <a:ext cx="385" cy="412"/>
            </a:xfrm>
            <a:prstGeom prst="rect">
              <a:avLst/>
            </a:prstGeom>
            <a:solidFill>
              <a:srgbClr val="FFFFFF"/>
            </a:solidFill>
            <a:ln w="1841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58" name="Rectangle 157"/>
            <p:cNvSpPr>
              <a:spLocks noChangeAspect="1" noChangeArrowheads="1"/>
            </p:cNvSpPr>
            <p:nvPr/>
          </p:nvSpPr>
          <p:spPr bwMode="auto">
            <a:xfrm>
              <a:off x="1006" y="1426"/>
              <a:ext cx="32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59" name="Rectangle 158"/>
            <p:cNvSpPr>
              <a:spLocks noChangeAspect="1" noChangeArrowheads="1"/>
            </p:cNvSpPr>
            <p:nvPr/>
          </p:nvSpPr>
          <p:spPr bwMode="auto">
            <a:xfrm>
              <a:off x="1004" y="1426"/>
              <a:ext cx="375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fr-FR" sz="20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fr-FR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(p)</a:t>
              </a:r>
              <a:endParaRPr lang="fr-FR" altLang="fr-FR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0" name="Rectangle 159"/>
            <p:cNvSpPr>
              <a:spLocks noChangeAspect="1" noChangeArrowheads="1"/>
            </p:cNvSpPr>
            <p:nvPr/>
          </p:nvSpPr>
          <p:spPr bwMode="auto">
            <a:xfrm>
              <a:off x="1313" y="1442"/>
              <a:ext cx="9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endParaRPr lang="fr-FR" altLang="fr-FR" sz="1800" b="1">
                <a:latin typeface="Times New Roman" panose="02020603050405020304" pitchFamily="18" charset="0"/>
              </a:endParaRPr>
            </a:p>
          </p:txBody>
        </p:sp>
        <p:grpSp>
          <p:nvGrpSpPr>
            <p:cNvPr id="161" name="Group 102"/>
            <p:cNvGrpSpPr>
              <a:grpSpLocks noChangeAspect="1"/>
            </p:cNvGrpSpPr>
            <p:nvPr/>
          </p:nvGrpSpPr>
          <p:grpSpPr bwMode="auto">
            <a:xfrm>
              <a:off x="841" y="1507"/>
              <a:ext cx="136" cy="61"/>
              <a:chOff x="6733" y="9630"/>
              <a:chExt cx="283" cy="127"/>
            </a:xfrm>
          </p:grpSpPr>
          <p:sp>
            <p:nvSpPr>
              <p:cNvPr id="181" name="Freeform 103"/>
              <p:cNvSpPr>
                <a:spLocks noChangeAspect="1"/>
              </p:cNvSpPr>
              <p:nvPr/>
            </p:nvSpPr>
            <p:spPr bwMode="auto">
              <a:xfrm>
                <a:off x="6733" y="9675"/>
                <a:ext cx="163" cy="31"/>
              </a:xfrm>
              <a:custGeom>
                <a:avLst/>
                <a:gdLst>
                  <a:gd name="T0" fmla="*/ 0 w 163"/>
                  <a:gd name="T1" fmla="*/ 0 h 31"/>
                  <a:gd name="T2" fmla="*/ 0 w 163"/>
                  <a:gd name="T3" fmla="*/ 29 h 31"/>
                  <a:gd name="T4" fmla="*/ 163 w 163"/>
                  <a:gd name="T5" fmla="*/ 31 h 31"/>
                  <a:gd name="T6" fmla="*/ 163 w 163"/>
                  <a:gd name="T7" fmla="*/ 3 h 31"/>
                  <a:gd name="T8" fmla="*/ 0 w 163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3" h="31">
                    <a:moveTo>
                      <a:pt x="0" y="0"/>
                    </a:moveTo>
                    <a:lnTo>
                      <a:pt x="0" y="29"/>
                    </a:lnTo>
                    <a:lnTo>
                      <a:pt x="163" y="31"/>
                    </a:lnTo>
                    <a:lnTo>
                      <a:pt x="16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" name="Freeform 104"/>
              <p:cNvSpPr>
                <a:spLocks noChangeAspect="1"/>
              </p:cNvSpPr>
              <p:nvPr/>
            </p:nvSpPr>
            <p:spPr bwMode="auto">
              <a:xfrm>
                <a:off x="6891" y="9630"/>
                <a:ext cx="125" cy="127"/>
              </a:xfrm>
              <a:custGeom>
                <a:avLst/>
                <a:gdLst>
                  <a:gd name="T0" fmla="*/ 0 w 125"/>
                  <a:gd name="T1" fmla="*/ 127 h 127"/>
                  <a:gd name="T2" fmla="*/ 125 w 125"/>
                  <a:gd name="T3" fmla="*/ 64 h 127"/>
                  <a:gd name="T4" fmla="*/ 0 w 125"/>
                  <a:gd name="T5" fmla="*/ 0 h 127"/>
                  <a:gd name="T6" fmla="*/ 0 w 125"/>
                  <a:gd name="T7" fmla="*/ 12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5" h="127">
                    <a:moveTo>
                      <a:pt x="0" y="127"/>
                    </a:moveTo>
                    <a:lnTo>
                      <a:pt x="125" y="64"/>
                    </a:lnTo>
                    <a:lnTo>
                      <a:pt x="0" y="0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62" name="Group 105"/>
            <p:cNvGrpSpPr>
              <a:grpSpLocks noChangeAspect="1"/>
            </p:cNvGrpSpPr>
            <p:nvPr/>
          </p:nvGrpSpPr>
          <p:grpSpPr bwMode="auto">
            <a:xfrm>
              <a:off x="568" y="1400"/>
              <a:ext cx="275" cy="273"/>
              <a:chOff x="6164" y="9407"/>
              <a:chExt cx="573" cy="570"/>
            </a:xfrm>
          </p:grpSpPr>
          <p:sp>
            <p:nvSpPr>
              <p:cNvPr id="175" name="Oval 106"/>
              <p:cNvSpPr>
                <a:spLocks noChangeAspect="1" noChangeArrowheads="1"/>
              </p:cNvSpPr>
              <p:nvPr/>
            </p:nvSpPr>
            <p:spPr bwMode="auto">
              <a:xfrm>
                <a:off x="6164" y="9407"/>
                <a:ext cx="573" cy="570"/>
              </a:xfrm>
              <a:prstGeom prst="ellipse">
                <a:avLst/>
              </a:prstGeom>
              <a:noFill/>
              <a:ln w="1841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6" name="Freeform 107"/>
              <p:cNvSpPr>
                <a:spLocks noChangeAspect="1"/>
              </p:cNvSpPr>
              <p:nvPr/>
            </p:nvSpPr>
            <p:spPr bwMode="auto">
              <a:xfrm>
                <a:off x="6239" y="9472"/>
                <a:ext cx="417" cy="421"/>
              </a:xfrm>
              <a:custGeom>
                <a:avLst/>
                <a:gdLst>
                  <a:gd name="T0" fmla="*/ 400 w 417"/>
                  <a:gd name="T1" fmla="*/ 421 h 421"/>
                  <a:gd name="T2" fmla="*/ 417 w 417"/>
                  <a:gd name="T3" fmla="*/ 400 h 421"/>
                  <a:gd name="T4" fmla="*/ 16 w 417"/>
                  <a:gd name="T5" fmla="*/ 0 h 421"/>
                  <a:gd name="T6" fmla="*/ 0 w 417"/>
                  <a:gd name="T7" fmla="*/ 21 h 421"/>
                  <a:gd name="T8" fmla="*/ 400 w 417"/>
                  <a:gd name="T9" fmla="*/ 421 h 4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7" h="421">
                    <a:moveTo>
                      <a:pt x="400" y="421"/>
                    </a:moveTo>
                    <a:lnTo>
                      <a:pt x="417" y="400"/>
                    </a:lnTo>
                    <a:lnTo>
                      <a:pt x="16" y="0"/>
                    </a:lnTo>
                    <a:lnTo>
                      <a:pt x="0" y="21"/>
                    </a:lnTo>
                    <a:lnTo>
                      <a:pt x="400" y="421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7" name="Freeform 108"/>
              <p:cNvSpPr>
                <a:spLocks noChangeAspect="1"/>
              </p:cNvSpPr>
              <p:nvPr/>
            </p:nvSpPr>
            <p:spPr bwMode="auto">
              <a:xfrm>
                <a:off x="6239" y="9462"/>
                <a:ext cx="419" cy="424"/>
              </a:xfrm>
              <a:custGeom>
                <a:avLst/>
                <a:gdLst>
                  <a:gd name="T0" fmla="*/ 0 w 419"/>
                  <a:gd name="T1" fmla="*/ 402 h 424"/>
                  <a:gd name="T2" fmla="*/ 16 w 419"/>
                  <a:gd name="T3" fmla="*/ 424 h 424"/>
                  <a:gd name="T4" fmla="*/ 419 w 419"/>
                  <a:gd name="T5" fmla="*/ 22 h 424"/>
                  <a:gd name="T6" fmla="*/ 402 w 419"/>
                  <a:gd name="T7" fmla="*/ 0 h 424"/>
                  <a:gd name="T8" fmla="*/ 0 w 419"/>
                  <a:gd name="T9" fmla="*/ 402 h 4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9" h="424">
                    <a:moveTo>
                      <a:pt x="0" y="402"/>
                    </a:moveTo>
                    <a:lnTo>
                      <a:pt x="16" y="424"/>
                    </a:lnTo>
                    <a:lnTo>
                      <a:pt x="419" y="22"/>
                    </a:lnTo>
                    <a:lnTo>
                      <a:pt x="402" y="0"/>
                    </a:lnTo>
                    <a:lnTo>
                      <a:pt x="0" y="402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8" name="Freeform 109"/>
              <p:cNvSpPr>
                <a:spLocks noChangeAspect="1"/>
              </p:cNvSpPr>
              <p:nvPr/>
            </p:nvSpPr>
            <p:spPr bwMode="auto">
              <a:xfrm>
                <a:off x="6375" y="9477"/>
                <a:ext cx="130" cy="31"/>
              </a:xfrm>
              <a:custGeom>
                <a:avLst/>
                <a:gdLst>
                  <a:gd name="T0" fmla="*/ 0 w 130"/>
                  <a:gd name="T1" fmla="*/ 2 h 31"/>
                  <a:gd name="T2" fmla="*/ 0 w 130"/>
                  <a:gd name="T3" fmla="*/ 31 h 31"/>
                  <a:gd name="T4" fmla="*/ 130 w 130"/>
                  <a:gd name="T5" fmla="*/ 28 h 31"/>
                  <a:gd name="T6" fmla="*/ 130 w 130"/>
                  <a:gd name="T7" fmla="*/ 0 h 31"/>
                  <a:gd name="T8" fmla="*/ 0 w 130"/>
                  <a:gd name="T9" fmla="*/ 2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0" h="31">
                    <a:moveTo>
                      <a:pt x="0" y="2"/>
                    </a:moveTo>
                    <a:lnTo>
                      <a:pt x="0" y="31"/>
                    </a:lnTo>
                    <a:lnTo>
                      <a:pt x="130" y="28"/>
                    </a:lnTo>
                    <a:lnTo>
                      <a:pt x="13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9" name="Rectangle 110"/>
              <p:cNvSpPr>
                <a:spLocks noChangeAspect="1" noChangeArrowheads="1"/>
              </p:cNvSpPr>
              <p:nvPr/>
            </p:nvSpPr>
            <p:spPr bwMode="auto">
              <a:xfrm>
                <a:off x="6224" y="9668"/>
                <a:ext cx="132" cy="2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" name="Freeform 111"/>
              <p:cNvSpPr>
                <a:spLocks noChangeAspect="1"/>
              </p:cNvSpPr>
              <p:nvPr/>
            </p:nvSpPr>
            <p:spPr bwMode="auto">
              <a:xfrm>
                <a:off x="6270" y="9623"/>
                <a:ext cx="31" cy="129"/>
              </a:xfrm>
              <a:custGeom>
                <a:avLst/>
                <a:gdLst>
                  <a:gd name="T0" fmla="*/ 28 w 31"/>
                  <a:gd name="T1" fmla="*/ 0 h 129"/>
                  <a:gd name="T2" fmla="*/ 0 w 31"/>
                  <a:gd name="T3" fmla="*/ 0 h 129"/>
                  <a:gd name="T4" fmla="*/ 2 w 31"/>
                  <a:gd name="T5" fmla="*/ 129 h 129"/>
                  <a:gd name="T6" fmla="*/ 31 w 31"/>
                  <a:gd name="T7" fmla="*/ 129 h 129"/>
                  <a:gd name="T8" fmla="*/ 28 w 31"/>
                  <a:gd name="T9" fmla="*/ 0 h 1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29">
                    <a:moveTo>
                      <a:pt x="28" y="0"/>
                    </a:moveTo>
                    <a:lnTo>
                      <a:pt x="0" y="0"/>
                    </a:lnTo>
                    <a:lnTo>
                      <a:pt x="2" y="129"/>
                    </a:lnTo>
                    <a:lnTo>
                      <a:pt x="31" y="1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63" name="Group 112"/>
            <p:cNvGrpSpPr>
              <a:grpSpLocks noChangeAspect="1"/>
            </p:cNvGrpSpPr>
            <p:nvPr/>
          </p:nvGrpSpPr>
          <p:grpSpPr bwMode="auto">
            <a:xfrm>
              <a:off x="684" y="1049"/>
              <a:ext cx="56" cy="351"/>
              <a:chOff x="6385" y="8725"/>
              <a:chExt cx="127" cy="682"/>
            </a:xfrm>
          </p:grpSpPr>
          <p:sp>
            <p:nvSpPr>
              <p:cNvPr id="173" name="Freeform 113"/>
              <p:cNvSpPr>
                <a:spLocks noChangeAspect="1"/>
              </p:cNvSpPr>
              <p:nvPr/>
            </p:nvSpPr>
            <p:spPr bwMode="auto">
              <a:xfrm>
                <a:off x="6433" y="8725"/>
                <a:ext cx="31" cy="562"/>
              </a:xfrm>
              <a:custGeom>
                <a:avLst/>
                <a:gdLst>
                  <a:gd name="T0" fmla="*/ 31 w 31"/>
                  <a:gd name="T1" fmla="*/ 0 h 562"/>
                  <a:gd name="T2" fmla="*/ 2 w 31"/>
                  <a:gd name="T3" fmla="*/ 0 h 562"/>
                  <a:gd name="T4" fmla="*/ 0 w 31"/>
                  <a:gd name="T5" fmla="*/ 562 h 562"/>
                  <a:gd name="T6" fmla="*/ 29 w 31"/>
                  <a:gd name="T7" fmla="*/ 562 h 562"/>
                  <a:gd name="T8" fmla="*/ 31 w 31"/>
                  <a:gd name="T9" fmla="*/ 0 h 5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562">
                    <a:moveTo>
                      <a:pt x="31" y="0"/>
                    </a:moveTo>
                    <a:lnTo>
                      <a:pt x="2" y="0"/>
                    </a:lnTo>
                    <a:lnTo>
                      <a:pt x="0" y="562"/>
                    </a:lnTo>
                    <a:lnTo>
                      <a:pt x="29" y="56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4" name="Freeform 114"/>
              <p:cNvSpPr>
                <a:spLocks noChangeAspect="1"/>
              </p:cNvSpPr>
              <p:nvPr/>
            </p:nvSpPr>
            <p:spPr bwMode="auto">
              <a:xfrm>
                <a:off x="6385" y="9283"/>
                <a:ext cx="127" cy="124"/>
              </a:xfrm>
              <a:custGeom>
                <a:avLst/>
                <a:gdLst>
                  <a:gd name="T0" fmla="*/ 0 w 127"/>
                  <a:gd name="T1" fmla="*/ 0 h 124"/>
                  <a:gd name="T2" fmla="*/ 65 w 127"/>
                  <a:gd name="T3" fmla="*/ 124 h 124"/>
                  <a:gd name="T4" fmla="*/ 127 w 127"/>
                  <a:gd name="T5" fmla="*/ 0 h 124"/>
                  <a:gd name="T6" fmla="*/ 0 w 127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7" h="124">
                    <a:moveTo>
                      <a:pt x="0" y="0"/>
                    </a:moveTo>
                    <a:lnTo>
                      <a:pt x="65" y="124"/>
                    </a:lnTo>
                    <a:lnTo>
                      <a:pt x="12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64" name="Rectangle 115"/>
            <p:cNvSpPr>
              <a:spLocks noChangeAspect="1" noChangeArrowheads="1"/>
            </p:cNvSpPr>
            <p:nvPr/>
          </p:nvSpPr>
          <p:spPr bwMode="auto">
            <a:xfrm>
              <a:off x="2110" y="935"/>
              <a:ext cx="295" cy="274"/>
            </a:xfrm>
            <a:prstGeom prst="rect">
              <a:avLst/>
            </a:prstGeom>
            <a:noFill/>
            <a:ln w="1841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65" name="Rectangle 119"/>
            <p:cNvSpPr>
              <a:spLocks noChangeAspect="1" noChangeArrowheads="1"/>
            </p:cNvSpPr>
            <p:nvPr/>
          </p:nvSpPr>
          <p:spPr bwMode="auto">
            <a:xfrm>
              <a:off x="3491" y="1072"/>
              <a:ext cx="14" cy="46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66" name="Group 120"/>
            <p:cNvGrpSpPr>
              <a:grpSpLocks noChangeAspect="1"/>
            </p:cNvGrpSpPr>
            <p:nvPr/>
          </p:nvGrpSpPr>
          <p:grpSpPr bwMode="auto">
            <a:xfrm>
              <a:off x="2405" y="1026"/>
              <a:ext cx="1093" cy="93"/>
              <a:chOff x="11179" y="8629"/>
              <a:chExt cx="2276" cy="194"/>
            </a:xfrm>
          </p:grpSpPr>
          <p:sp>
            <p:nvSpPr>
              <p:cNvPr id="171" name="Rectangle 121"/>
              <p:cNvSpPr>
                <a:spLocks noChangeAspect="1" noChangeArrowheads="1"/>
              </p:cNvSpPr>
              <p:nvPr/>
            </p:nvSpPr>
            <p:spPr bwMode="auto">
              <a:xfrm>
                <a:off x="11366" y="8710"/>
                <a:ext cx="2089" cy="2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2" name="Freeform 122"/>
              <p:cNvSpPr>
                <a:spLocks noChangeAspect="1"/>
              </p:cNvSpPr>
              <p:nvPr/>
            </p:nvSpPr>
            <p:spPr bwMode="auto">
              <a:xfrm>
                <a:off x="11179" y="8629"/>
                <a:ext cx="194" cy="194"/>
              </a:xfrm>
              <a:custGeom>
                <a:avLst/>
                <a:gdLst>
                  <a:gd name="T0" fmla="*/ 194 w 194"/>
                  <a:gd name="T1" fmla="*/ 0 h 194"/>
                  <a:gd name="T2" fmla="*/ 0 w 194"/>
                  <a:gd name="T3" fmla="*/ 98 h 194"/>
                  <a:gd name="T4" fmla="*/ 194 w 194"/>
                  <a:gd name="T5" fmla="*/ 194 h 194"/>
                  <a:gd name="T6" fmla="*/ 194 w 194"/>
                  <a:gd name="T7" fmla="*/ 0 h 1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4" h="194">
                    <a:moveTo>
                      <a:pt x="194" y="0"/>
                    </a:moveTo>
                    <a:lnTo>
                      <a:pt x="0" y="98"/>
                    </a:lnTo>
                    <a:lnTo>
                      <a:pt x="194" y="194"/>
                    </a:lnTo>
                    <a:lnTo>
                      <a:pt x="194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67" name="Line 123"/>
            <p:cNvSpPr>
              <a:spLocks noChangeAspect="1" noChangeShapeType="1"/>
            </p:cNvSpPr>
            <p:nvPr/>
          </p:nvSpPr>
          <p:spPr bwMode="auto">
            <a:xfrm>
              <a:off x="712" y="1056"/>
              <a:ext cx="139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68" name="Group 124"/>
            <p:cNvGrpSpPr>
              <a:grpSpLocks noChangeAspect="1"/>
            </p:cNvGrpSpPr>
            <p:nvPr/>
          </p:nvGrpSpPr>
          <p:grpSpPr bwMode="auto">
            <a:xfrm>
              <a:off x="385" y="1509"/>
              <a:ext cx="172" cy="77"/>
              <a:chOff x="7817" y="9630"/>
              <a:chExt cx="283" cy="127"/>
            </a:xfrm>
          </p:grpSpPr>
          <p:sp>
            <p:nvSpPr>
              <p:cNvPr id="169" name="Freeform 125"/>
              <p:cNvSpPr>
                <a:spLocks noChangeAspect="1"/>
              </p:cNvSpPr>
              <p:nvPr/>
            </p:nvSpPr>
            <p:spPr bwMode="auto">
              <a:xfrm>
                <a:off x="7817" y="9675"/>
                <a:ext cx="163" cy="31"/>
              </a:xfrm>
              <a:custGeom>
                <a:avLst/>
                <a:gdLst>
                  <a:gd name="T0" fmla="*/ 0 w 163"/>
                  <a:gd name="T1" fmla="*/ 0 h 31"/>
                  <a:gd name="T2" fmla="*/ 0 w 163"/>
                  <a:gd name="T3" fmla="*/ 29 h 31"/>
                  <a:gd name="T4" fmla="*/ 163 w 163"/>
                  <a:gd name="T5" fmla="*/ 31 h 31"/>
                  <a:gd name="T6" fmla="*/ 163 w 163"/>
                  <a:gd name="T7" fmla="*/ 3 h 31"/>
                  <a:gd name="T8" fmla="*/ 0 w 163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3" h="31">
                    <a:moveTo>
                      <a:pt x="0" y="0"/>
                    </a:moveTo>
                    <a:lnTo>
                      <a:pt x="0" y="29"/>
                    </a:lnTo>
                    <a:lnTo>
                      <a:pt x="163" y="31"/>
                    </a:lnTo>
                    <a:lnTo>
                      <a:pt x="16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0" name="Freeform 126"/>
              <p:cNvSpPr>
                <a:spLocks noChangeAspect="1"/>
              </p:cNvSpPr>
              <p:nvPr/>
            </p:nvSpPr>
            <p:spPr bwMode="auto">
              <a:xfrm>
                <a:off x="7975" y="9630"/>
                <a:ext cx="125" cy="127"/>
              </a:xfrm>
              <a:custGeom>
                <a:avLst/>
                <a:gdLst>
                  <a:gd name="T0" fmla="*/ 0 w 125"/>
                  <a:gd name="T1" fmla="*/ 127 h 127"/>
                  <a:gd name="T2" fmla="*/ 125 w 125"/>
                  <a:gd name="T3" fmla="*/ 64 h 127"/>
                  <a:gd name="T4" fmla="*/ 0 w 125"/>
                  <a:gd name="T5" fmla="*/ 0 h 127"/>
                  <a:gd name="T6" fmla="*/ 0 w 125"/>
                  <a:gd name="T7" fmla="*/ 12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5" h="127">
                    <a:moveTo>
                      <a:pt x="0" y="127"/>
                    </a:moveTo>
                    <a:lnTo>
                      <a:pt x="125" y="64"/>
                    </a:lnTo>
                    <a:lnTo>
                      <a:pt x="0" y="0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85" name="ZoneTexte 184"/>
          <p:cNvSpPr txBox="1"/>
          <p:nvPr/>
        </p:nvSpPr>
        <p:spPr>
          <a:xfrm>
            <a:off x="2799204" y="2482067"/>
            <a:ext cx="6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</a:t>
            </a:r>
            <a:r>
              <a:rPr lang="fr-FR" b="1" baseline="-25000" dirty="0"/>
              <a:t>ref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ZoneTexte 185"/>
              <p:cNvSpPr txBox="1"/>
              <p:nvPr/>
            </p:nvSpPr>
            <p:spPr>
              <a:xfrm>
                <a:off x="8324830" y="2392882"/>
                <a:ext cx="293862" cy="268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86" name="ZoneTexte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830" y="2392882"/>
                <a:ext cx="293862" cy="268279"/>
              </a:xfrm>
              <a:prstGeom prst="rect">
                <a:avLst/>
              </a:prstGeom>
              <a:blipFill>
                <a:blip r:embed="rId9"/>
                <a:stretch>
                  <a:fillRect l="-16667" r="-10417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Rectangle 186"/>
              <p:cNvSpPr/>
              <p:nvPr/>
            </p:nvSpPr>
            <p:spPr>
              <a:xfrm>
                <a:off x="6953041" y="2260368"/>
                <a:ext cx="844205" cy="533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87" name="Rectangle 1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041" y="2260368"/>
                <a:ext cx="844205" cy="533351"/>
              </a:xfrm>
              <a:prstGeom prst="rect">
                <a:avLst/>
              </a:prstGeom>
              <a:blipFill>
                <a:blip r:embed="rId10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Rectangle 187"/>
              <p:cNvSpPr/>
              <p:nvPr/>
            </p:nvSpPr>
            <p:spPr>
              <a:xfrm>
                <a:off x="9991996" y="2247668"/>
                <a:ext cx="794513" cy="534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altLang="fr-FR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88" name="Rectangle 1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1996" y="2247668"/>
                <a:ext cx="794513" cy="534826"/>
              </a:xfrm>
              <a:prstGeom prst="rect">
                <a:avLst/>
              </a:prstGeom>
              <a:blipFill>
                <a:blip r:embed="rId11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ZoneTexte 188"/>
              <p:cNvSpPr txBox="1"/>
              <p:nvPr/>
            </p:nvSpPr>
            <p:spPr>
              <a:xfrm>
                <a:off x="10858771" y="2247668"/>
                <a:ext cx="49372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600" b="1" i="0" smtClean="0">
                          <a:latin typeface="Cambria Math" panose="02040503050406030204" pitchFamily="18" charset="0"/>
                        </a:rPr>
                        <m:t>𝛀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89" name="ZoneTexte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771" y="2247668"/>
                <a:ext cx="493725" cy="246221"/>
              </a:xfrm>
              <a:prstGeom prst="rect">
                <a:avLst/>
              </a:prstGeom>
              <a:blipFill>
                <a:blip r:embed="rId12"/>
                <a:stretch>
                  <a:fillRect l="-8642" r="-14815" b="-3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ZoneTexte 189"/>
              <p:cNvSpPr txBox="1"/>
              <p:nvPr/>
            </p:nvSpPr>
            <p:spPr>
              <a:xfrm>
                <a:off x="9203260" y="1733066"/>
                <a:ext cx="21852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b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90" name="ZoneTexte 1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260" y="1733066"/>
                <a:ext cx="218521" cy="246221"/>
              </a:xfrm>
              <a:prstGeom prst="rect">
                <a:avLst/>
              </a:prstGeom>
              <a:blipFill>
                <a:blip r:embed="rId13"/>
                <a:stretch>
                  <a:fillRect l="-22222" b="-97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ZoneTexte 190"/>
              <p:cNvSpPr txBox="1"/>
              <p:nvPr/>
            </p:nvSpPr>
            <p:spPr>
              <a:xfrm>
                <a:off x="8747584" y="2195947"/>
                <a:ext cx="28424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b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𝐦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91" name="ZoneTexte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584" y="2195947"/>
                <a:ext cx="284245" cy="246221"/>
              </a:xfrm>
              <a:prstGeom prst="rect">
                <a:avLst/>
              </a:prstGeom>
              <a:blipFill>
                <a:blip r:embed="rId14"/>
                <a:stretch>
                  <a:fillRect l="-17021" b="-97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ZoneTexte 191"/>
          <p:cNvSpPr txBox="1"/>
          <p:nvPr/>
        </p:nvSpPr>
        <p:spPr>
          <a:xfrm>
            <a:off x="5859049" y="1542528"/>
            <a:ext cx="417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solidFill>
                  <a:srgbClr val="FF0000"/>
                </a:solidFill>
              </a:rPr>
              <a:t>k</a:t>
            </a:r>
            <a:r>
              <a:rPr lang="fr-FR" sz="2000" b="1" baseline="-25000" dirty="0" err="1">
                <a:solidFill>
                  <a:srgbClr val="FF0000"/>
                </a:solidFill>
              </a:rPr>
              <a:t>i</a:t>
            </a:r>
            <a:endParaRPr lang="fr-FR" sz="2000" b="1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ZoneTexte 192"/>
              <p:cNvSpPr txBox="1"/>
              <p:nvPr/>
            </p:nvSpPr>
            <p:spPr>
              <a:xfrm>
                <a:off x="8303015" y="3250050"/>
                <a:ext cx="293862" cy="268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93" name="ZoneTexte 1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015" y="3250050"/>
                <a:ext cx="293862" cy="268279"/>
              </a:xfrm>
              <a:prstGeom prst="rect">
                <a:avLst/>
              </a:prstGeom>
              <a:blipFill>
                <a:blip r:embed="rId15"/>
                <a:stretch>
                  <a:fillRect l="-16667" r="-12500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ZoneTexte 193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95" name="Connecteur droit 19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5011979" y="3111935"/>
            <a:ext cx="897775" cy="3222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3477114" y="3172977"/>
            <a:ext cx="1770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Disturbance (slow variations)</a:t>
            </a:r>
          </a:p>
        </p:txBody>
      </p:sp>
    </p:spTree>
    <p:extLst>
      <p:ext uri="{BB962C8B-B14F-4D97-AF65-F5344CB8AC3E}">
        <p14:creationId xmlns:p14="http://schemas.microsoft.com/office/powerpoint/2010/main" val="39202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P.I. control: simplified chopper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507584"/>
              </p:ext>
            </p:extLst>
          </p:nvPr>
        </p:nvGraphicFramePr>
        <p:xfrm>
          <a:off x="3365500" y="1898650"/>
          <a:ext cx="5405438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2" imgW="2158920" imgH="431640" progId="Equation.3">
                  <p:embed/>
                </p:oleObj>
              </mc:Choice>
              <mc:Fallback>
                <p:oleObj name="Équation" r:id="rId2" imgW="2158920" imgH="43164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1898650"/>
                        <a:ext cx="5405438" cy="1081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761995" y="5059367"/>
            <a:ext cx="44765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i="1" dirty="0">
                <a:solidFill>
                  <a:srgbClr val="0033CC"/>
                </a:solidFill>
                <a:latin typeface="Calibri (Corps)"/>
              </a:rPr>
              <a:t>1st order without error, faster</a:t>
            </a:r>
            <a:endParaRPr lang="fr-FR" altLang="fr-FR" sz="2400" b="1" i="1" dirty="0">
              <a:solidFill>
                <a:srgbClr val="0033CC"/>
              </a:solidFill>
              <a:latin typeface="Calibri (Corps)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499049"/>
              </p:ext>
            </p:extLst>
          </p:nvPr>
        </p:nvGraphicFramePr>
        <p:xfrm>
          <a:off x="8867270" y="3114680"/>
          <a:ext cx="1946275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700" imgH="508000" progId="Equation.3">
                  <p:embed/>
                </p:oleObj>
              </mc:Choice>
              <mc:Fallback>
                <p:oleObj name="Equation" r:id="rId4" imgW="647700" imgH="50800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7270" y="3114680"/>
                        <a:ext cx="1946275" cy="1527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2" name="Connecteur droit 1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36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P.I. control: first order chopper</a:t>
            </a:r>
          </a:p>
        </p:txBody>
      </p:sp>
      <p:sp>
        <p:nvSpPr>
          <p:cNvPr id="6" name="Rectangle 7"/>
          <p:cNvSpPr>
            <a:spLocks noChangeAspect="1" noChangeArrowheads="1"/>
          </p:cNvSpPr>
          <p:nvPr/>
        </p:nvSpPr>
        <p:spPr bwMode="auto">
          <a:xfrm>
            <a:off x="9090156" y="2198948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8" name="Oval 9"/>
          <p:cNvSpPr>
            <a:spLocks noChangeAspect="1" noChangeArrowheads="1"/>
          </p:cNvSpPr>
          <p:nvPr/>
        </p:nvSpPr>
        <p:spPr bwMode="auto">
          <a:xfrm>
            <a:off x="6354893" y="2273560"/>
            <a:ext cx="434975" cy="434975"/>
          </a:xfrm>
          <a:prstGeom prst="ellipse">
            <a:avLst/>
          </a:prstGeom>
          <a:noFill/>
          <a:ln w="1841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" name="Freeform 10"/>
          <p:cNvSpPr>
            <a:spLocks noChangeAspect="1"/>
          </p:cNvSpPr>
          <p:nvPr/>
        </p:nvSpPr>
        <p:spPr bwMode="auto">
          <a:xfrm>
            <a:off x="6411265" y="2337662"/>
            <a:ext cx="318423" cy="322034"/>
          </a:xfrm>
          <a:custGeom>
            <a:avLst/>
            <a:gdLst>
              <a:gd name="T0" fmla="*/ 418 w 418"/>
              <a:gd name="T1" fmla="*/ 22 h 422"/>
              <a:gd name="T2" fmla="*/ 401 w 418"/>
              <a:gd name="T3" fmla="*/ 0 h 422"/>
              <a:gd name="T4" fmla="*/ 0 w 418"/>
              <a:gd name="T5" fmla="*/ 400 h 422"/>
              <a:gd name="T6" fmla="*/ 17 w 418"/>
              <a:gd name="T7" fmla="*/ 422 h 422"/>
              <a:gd name="T8" fmla="*/ 418 w 418"/>
              <a:gd name="T9" fmla="*/ 22 h 4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8" h="422">
                <a:moveTo>
                  <a:pt x="418" y="22"/>
                </a:moveTo>
                <a:lnTo>
                  <a:pt x="401" y="0"/>
                </a:lnTo>
                <a:lnTo>
                  <a:pt x="0" y="400"/>
                </a:lnTo>
                <a:lnTo>
                  <a:pt x="17" y="422"/>
                </a:lnTo>
                <a:lnTo>
                  <a:pt x="418" y="22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Freeform 11"/>
          <p:cNvSpPr>
            <a:spLocks noChangeAspect="1"/>
          </p:cNvSpPr>
          <p:nvPr/>
        </p:nvSpPr>
        <p:spPr bwMode="auto">
          <a:xfrm>
            <a:off x="6411265" y="2343003"/>
            <a:ext cx="319947" cy="323560"/>
          </a:xfrm>
          <a:custGeom>
            <a:avLst/>
            <a:gdLst>
              <a:gd name="T0" fmla="*/ 17 w 420"/>
              <a:gd name="T1" fmla="*/ 0 h 424"/>
              <a:gd name="T2" fmla="*/ 0 w 420"/>
              <a:gd name="T3" fmla="*/ 22 h 424"/>
              <a:gd name="T4" fmla="*/ 403 w 420"/>
              <a:gd name="T5" fmla="*/ 424 h 424"/>
              <a:gd name="T6" fmla="*/ 420 w 420"/>
              <a:gd name="T7" fmla="*/ 403 h 424"/>
              <a:gd name="T8" fmla="*/ 17 w 420"/>
              <a:gd name="T9" fmla="*/ 0 h 4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20" h="424">
                <a:moveTo>
                  <a:pt x="17" y="0"/>
                </a:moveTo>
                <a:lnTo>
                  <a:pt x="0" y="22"/>
                </a:lnTo>
                <a:lnTo>
                  <a:pt x="403" y="424"/>
                </a:lnTo>
                <a:lnTo>
                  <a:pt x="420" y="403"/>
                </a:lnTo>
                <a:lnTo>
                  <a:pt x="17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Freeform 12"/>
          <p:cNvSpPr>
            <a:spLocks noChangeAspect="1"/>
          </p:cNvSpPr>
          <p:nvPr/>
        </p:nvSpPr>
        <p:spPr bwMode="auto">
          <a:xfrm>
            <a:off x="6515628" y="2629934"/>
            <a:ext cx="99031" cy="23657"/>
          </a:xfrm>
          <a:custGeom>
            <a:avLst/>
            <a:gdLst>
              <a:gd name="T0" fmla="*/ 0 w 130"/>
              <a:gd name="T1" fmla="*/ 0 h 31"/>
              <a:gd name="T2" fmla="*/ 0 w 130"/>
              <a:gd name="T3" fmla="*/ 29 h 31"/>
              <a:gd name="T4" fmla="*/ 130 w 130"/>
              <a:gd name="T5" fmla="*/ 31 h 31"/>
              <a:gd name="T6" fmla="*/ 130 w 130"/>
              <a:gd name="T7" fmla="*/ 3 h 31"/>
              <a:gd name="T8" fmla="*/ 0 w 130"/>
              <a:gd name="T9" fmla="*/ 0 h 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0" h="31">
                <a:moveTo>
                  <a:pt x="0" y="0"/>
                </a:moveTo>
                <a:lnTo>
                  <a:pt x="0" y="29"/>
                </a:lnTo>
                <a:lnTo>
                  <a:pt x="130" y="31"/>
                </a:lnTo>
                <a:lnTo>
                  <a:pt x="13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Rectangle 13"/>
          <p:cNvSpPr>
            <a:spLocks noChangeAspect="1" noChangeArrowheads="1"/>
          </p:cNvSpPr>
          <p:nvPr/>
        </p:nvSpPr>
        <p:spPr bwMode="auto">
          <a:xfrm>
            <a:off x="6400600" y="2485706"/>
            <a:ext cx="100555" cy="2213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5" name="Freeform 14"/>
          <p:cNvSpPr>
            <a:spLocks noChangeAspect="1"/>
          </p:cNvSpPr>
          <p:nvPr/>
        </p:nvSpPr>
        <p:spPr bwMode="auto">
          <a:xfrm>
            <a:off x="6435641" y="2443734"/>
            <a:ext cx="23615" cy="98442"/>
          </a:xfrm>
          <a:custGeom>
            <a:avLst/>
            <a:gdLst>
              <a:gd name="T0" fmla="*/ 0 w 31"/>
              <a:gd name="T1" fmla="*/ 129 h 129"/>
              <a:gd name="T2" fmla="*/ 28 w 31"/>
              <a:gd name="T3" fmla="*/ 129 h 129"/>
              <a:gd name="T4" fmla="*/ 31 w 31"/>
              <a:gd name="T5" fmla="*/ 0 h 129"/>
              <a:gd name="T6" fmla="*/ 2 w 31"/>
              <a:gd name="T7" fmla="*/ 0 h 129"/>
              <a:gd name="T8" fmla="*/ 0 w 31"/>
              <a:gd name="T9" fmla="*/ 129 h 1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29">
                <a:moveTo>
                  <a:pt x="0" y="129"/>
                </a:moveTo>
                <a:lnTo>
                  <a:pt x="28" y="129"/>
                </a:lnTo>
                <a:lnTo>
                  <a:pt x="31" y="0"/>
                </a:lnTo>
                <a:lnTo>
                  <a:pt x="2" y="0"/>
                </a:lnTo>
                <a:lnTo>
                  <a:pt x="0" y="129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Rectangle 15"/>
          <p:cNvSpPr>
            <a:spLocks noChangeAspect="1" noChangeArrowheads="1"/>
          </p:cNvSpPr>
          <p:nvPr/>
        </p:nvSpPr>
        <p:spPr bwMode="auto">
          <a:xfrm>
            <a:off x="7112131" y="2231619"/>
            <a:ext cx="868362" cy="52212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" name="Rectangle 17"/>
          <p:cNvSpPr>
            <a:spLocks noChangeAspect="1" noChangeArrowheads="1"/>
          </p:cNvSpPr>
          <p:nvPr/>
        </p:nvSpPr>
        <p:spPr bwMode="auto">
          <a:xfrm>
            <a:off x="7583618" y="2310073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18" name="Rectangle 19"/>
          <p:cNvSpPr>
            <a:spLocks noChangeAspect="1" noChangeArrowheads="1"/>
          </p:cNvSpPr>
          <p:nvPr/>
        </p:nvSpPr>
        <p:spPr bwMode="auto">
          <a:xfrm>
            <a:off x="7780468" y="2487873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20" name="Rectangle 21"/>
          <p:cNvSpPr>
            <a:spLocks noChangeAspect="1" noChangeArrowheads="1"/>
          </p:cNvSpPr>
          <p:nvPr/>
        </p:nvSpPr>
        <p:spPr bwMode="auto">
          <a:xfrm>
            <a:off x="6786693" y="2481010"/>
            <a:ext cx="233550" cy="2175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" name="Freeform 22"/>
          <p:cNvSpPr>
            <a:spLocks noChangeAspect="1"/>
          </p:cNvSpPr>
          <p:nvPr/>
        </p:nvSpPr>
        <p:spPr bwMode="auto">
          <a:xfrm>
            <a:off x="7016414" y="2445010"/>
            <a:ext cx="95717" cy="95250"/>
          </a:xfrm>
          <a:custGeom>
            <a:avLst/>
            <a:gdLst>
              <a:gd name="T0" fmla="*/ 0 w 125"/>
              <a:gd name="T1" fmla="*/ 127 h 127"/>
              <a:gd name="T2" fmla="*/ 125 w 125"/>
              <a:gd name="T3" fmla="*/ 65 h 127"/>
              <a:gd name="T4" fmla="*/ 0 w 125"/>
              <a:gd name="T5" fmla="*/ 0 h 127"/>
              <a:gd name="T6" fmla="*/ 0 w 125"/>
              <a:gd name="T7" fmla="*/ 127 h 1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5" h="127">
                <a:moveTo>
                  <a:pt x="0" y="127"/>
                </a:moveTo>
                <a:lnTo>
                  <a:pt x="125" y="65"/>
                </a:lnTo>
                <a:lnTo>
                  <a:pt x="0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Rectangle 24"/>
          <p:cNvSpPr>
            <a:spLocks noChangeAspect="1" noChangeArrowheads="1"/>
          </p:cNvSpPr>
          <p:nvPr/>
        </p:nvSpPr>
        <p:spPr bwMode="auto">
          <a:xfrm>
            <a:off x="7978906" y="2481010"/>
            <a:ext cx="340252" cy="2175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4" name="Freeform 25"/>
          <p:cNvSpPr>
            <a:spLocks noChangeAspect="1"/>
          </p:cNvSpPr>
          <p:nvPr/>
        </p:nvSpPr>
        <p:spPr bwMode="auto">
          <a:xfrm>
            <a:off x="8315344" y="2445010"/>
            <a:ext cx="95362" cy="95250"/>
          </a:xfrm>
          <a:custGeom>
            <a:avLst/>
            <a:gdLst>
              <a:gd name="T0" fmla="*/ 0 w 125"/>
              <a:gd name="T1" fmla="*/ 127 h 127"/>
              <a:gd name="T2" fmla="*/ 125 w 125"/>
              <a:gd name="T3" fmla="*/ 65 h 127"/>
              <a:gd name="T4" fmla="*/ 0 w 125"/>
              <a:gd name="T5" fmla="*/ 0 h 127"/>
              <a:gd name="T6" fmla="*/ 0 w 125"/>
              <a:gd name="T7" fmla="*/ 127 h 1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5" h="127">
                <a:moveTo>
                  <a:pt x="0" y="127"/>
                </a:moveTo>
                <a:lnTo>
                  <a:pt x="125" y="65"/>
                </a:lnTo>
                <a:lnTo>
                  <a:pt x="0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Rectangle 27"/>
          <p:cNvSpPr>
            <a:spLocks noChangeAspect="1" noChangeArrowheads="1"/>
          </p:cNvSpPr>
          <p:nvPr/>
        </p:nvSpPr>
        <p:spPr bwMode="auto">
          <a:xfrm>
            <a:off x="9710868" y="2481010"/>
            <a:ext cx="340628" cy="2175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7" name="Freeform 28"/>
          <p:cNvSpPr>
            <a:spLocks noChangeAspect="1"/>
          </p:cNvSpPr>
          <p:nvPr/>
        </p:nvSpPr>
        <p:spPr bwMode="auto">
          <a:xfrm>
            <a:off x="10047694" y="2445010"/>
            <a:ext cx="96562" cy="95250"/>
          </a:xfrm>
          <a:custGeom>
            <a:avLst/>
            <a:gdLst>
              <a:gd name="T0" fmla="*/ 0 w 127"/>
              <a:gd name="T1" fmla="*/ 127 h 127"/>
              <a:gd name="T2" fmla="*/ 127 w 127"/>
              <a:gd name="T3" fmla="*/ 65 h 127"/>
              <a:gd name="T4" fmla="*/ 0 w 127"/>
              <a:gd name="T5" fmla="*/ 0 h 127"/>
              <a:gd name="T6" fmla="*/ 0 w 127"/>
              <a:gd name="T7" fmla="*/ 127 h 1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27">
                <a:moveTo>
                  <a:pt x="0" y="127"/>
                </a:moveTo>
                <a:lnTo>
                  <a:pt x="127" y="65"/>
                </a:lnTo>
                <a:lnTo>
                  <a:pt x="0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Rectangle 29"/>
          <p:cNvSpPr>
            <a:spLocks noChangeAspect="1" noChangeArrowheads="1"/>
          </p:cNvSpPr>
          <p:nvPr/>
        </p:nvSpPr>
        <p:spPr bwMode="auto">
          <a:xfrm>
            <a:off x="6572381" y="3345123"/>
            <a:ext cx="1838325" cy="206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9" name="Rectangle 30"/>
          <p:cNvSpPr>
            <a:spLocks noChangeAspect="1" noChangeArrowheads="1"/>
          </p:cNvSpPr>
          <p:nvPr/>
        </p:nvSpPr>
        <p:spPr bwMode="auto">
          <a:xfrm>
            <a:off x="11214231" y="2491048"/>
            <a:ext cx="20637" cy="86518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0" name="Rectangle 31"/>
          <p:cNvSpPr>
            <a:spLocks noChangeAspect="1" noChangeArrowheads="1"/>
          </p:cNvSpPr>
          <p:nvPr/>
        </p:nvSpPr>
        <p:spPr bwMode="auto">
          <a:xfrm>
            <a:off x="5892931" y="2260860"/>
            <a:ext cx="434975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1" name="Rectangle 32"/>
          <p:cNvSpPr>
            <a:spLocks noChangeAspect="1" noChangeArrowheads="1"/>
          </p:cNvSpPr>
          <p:nvPr/>
        </p:nvSpPr>
        <p:spPr bwMode="auto">
          <a:xfrm>
            <a:off x="5894526" y="2187866"/>
            <a:ext cx="415924" cy="24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32" name="Rectangle 33"/>
          <p:cNvSpPr>
            <a:spLocks noChangeAspect="1" noChangeArrowheads="1"/>
          </p:cNvSpPr>
          <p:nvPr/>
        </p:nvSpPr>
        <p:spPr bwMode="auto">
          <a:xfrm>
            <a:off x="6254881" y="2281498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33" name="Rectangle 34"/>
          <p:cNvSpPr>
            <a:spLocks noChangeAspect="1" noChangeArrowheads="1"/>
          </p:cNvSpPr>
          <p:nvPr/>
        </p:nvSpPr>
        <p:spPr bwMode="auto">
          <a:xfrm>
            <a:off x="9277481" y="1625860"/>
            <a:ext cx="325437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4" name="Rectangle 37"/>
          <p:cNvSpPr>
            <a:spLocks noChangeAspect="1" noChangeArrowheads="1"/>
          </p:cNvSpPr>
          <p:nvPr/>
        </p:nvSpPr>
        <p:spPr bwMode="auto">
          <a:xfrm>
            <a:off x="9501318" y="1659198"/>
            <a:ext cx="100013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36" name="Oval 39"/>
          <p:cNvSpPr>
            <a:spLocks noChangeAspect="1" noChangeArrowheads="1"/>
          </p:cNvSpPr>
          <p:nvPr/>
        </p:nvSpPr>
        <p:spPr bwMode="auto">
          <a:xfrm>
            <a:off x="9275893" y="2273560"/>
            <a:ext cx="436563" cy="434975"/>
          </a:xfrm>
          <a:prstGeom prst="ellipse">
            <a:avLst/>
          </a:prstGeom>
          <a:noFill/>
          <a:ln w="1841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7" name="Freeform 40"/>
          <p:cNvSpPr>
            <a:spLocks noChangeAspect="1"/>
          </p:cNvSpPr>
          <p:nvPr/>
        </p:nvSpPr>
        <p:spPr bwMode="auto">
          <a:xfrm>
            <a:off x="9333035" y="2324689"/>
            <a:ext cx="317708" cy="322034"/>
          </a:xfrm>
          <a:custGeom>
            <a:avLst/>
            <a:gdLst>
              <a:gd name="T0" fmla="*/ 400 w 417"/>
              <a:gd name="T1" fmla="*/ 422 h 422"/>
              <a:gd name="T2" fmla="*/ 417 w 417"/>
              <a:gd name="T3" fmla="*/ 400 h 422"/>
              <a:gd name="T4" fmla="*/ 16 w 417"/>
              <a:gd name="T5" fmla="*/ 0 h 422"/>
              <a:gd name="T6" fmla="*/ 0 w 417"/>
              <a:gd name="T7" fmla="*/ 22 h 422"/>
              <a:gd name="T8" fmla="*/ 400 w 417"/>
              <a:gd name="T9" fmla="*/ 422 h 4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7" h="422">
                <a:moveTo>
                  <a:pt x="400" y="422"/>
                </a:moveTo>
                <a:lnTo>
                  <a:pt x="417" y="400"/>
                </a:lnTo>
                <a:lnTo>
                  <a:pt x="16" y="0"/>
                </a:lnTo>
                <a:lnTo>
                  <a:pt x="0" y="22"/>
                </a:lnTo>
                <a:lnTo>
                  <a:pt x="400" y="422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Freeform 41"/>
          <p:cNvSpPr>
            <a:spLocks noChangeAspect="1"/>
          </p:cNvSpPr>
          <p:nvPr/>
        </p:nvSpPr>
        <p:spPr bwMode="auto">
          <a:xfrm>
            <a:off x="9333035" y="2317821"/>
            <a:ext cx="319232" cy="323560"/>
          </a:xfrm>
          <a:custGeom>
            <a:avLst/>
            <a:gdLst>
              <a:gd name="T0" fmla="*/ 0 w 419"/>
              <a:gd name="T1" fmla="*/ 402 h 424"/>
              <a:gd name="T2" fmla="*/ 16 w 419"/>
              <a:gd name="T3" fmla="*/ 424 h 424"/>
              <a:gd name="T4" fmla="*/ 419 w 419"/>
              <a:gd name="T5" fmla="*/ 21 h 424"/>
              <a:gd name="T6" fmla="*/ 403 w 419"/>
              <a:gd name="T7" fmla="*/ 0 h 424"/>
              <a:gd name="T8" fmla="*/ 0 w 419"/>
              <a:gd name="T9" fmla="*/ 402 h 4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9" h="424">
                <a:moveTo>
                  <a:pt x="0" y="402"/>
                </a:moveTo>
                <a:lnTo>
                  <a:pt x="16" y="424"/>
                </a:lnTo>
                <a:lnTo>
                  <a:pt x="419" y="21"/>
                </a:lnTo>
                <a:lnTo>
                  <a:pt x="403" y="0"/>
                </a:lnTo>
                <a:lnTo>
                  <a:pt x="0" y="402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Freeform 42"/>
          <p:cNvSpPr>
            <a:spLocks noChangeAspect="1"/>
          </p:cNvSpPr>
          <p:nvPr/>
        </p:nvSpPr>
        <p:spPr bwMode="auto">
          <a:xfrm>
            <a:off x="9436652" y="2328504"/>
            <a:ext cx="99046" cy="23657"/>
          </a:xfrm>
          <a:custGeom>
            <a:avLst/>
            <a:gdLst>
              <a:gd name="T0" fmla="*/ 0 w 130"/>
              <a:gd name="T1" fmla="*/ 3 h 31"/>
              <a:gd name="T2" fmla="*/ 0 w 130"/>
              <a:gd name="T3" fmla="*/ 31 h 31"/>
              <a:gd name="T4" fmla="*/ 130 w 130"/>
              <a:gd name="T5" fmla="*/ 29 h 31"/>
              <a:gd name="T6" fmla="*/ 130 w 130"/>
              <a:gd name="T7" fmla="*/ 0 h 31"/>
              <a:gd name="T8" fmla="*/ 0 w 130"/>
              <a:gd name="T9" fmla="*/ 3 h 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0" h="31">
                <a:moveTo>
                  <a:pt x="0" y="3"/>
                </a:moveTo>
                <a:lnTo>
                  <a:pt x="0" y="31"/>
                </a:lnTo>
                <a:lnTo>
                  <a:pt x="130" y="29"/>
                </a:lnTo>
                <a:lnTo>
                  <a:pt x="13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Freeform 43"/>
          <p:cNvSpPr>
            <a:spLocks noChangeAspect="1"/>
          </p:cNvSpPr>
          <p:nvPr/>
        </p:nvSpPr>
        <p:spPr bwMode="auto">
          <a:xfrm>
            <a:off x="9321606" y="2472733"/>
            <a:ext cx="100569" cy="23657"/>
          </a:xfrm>
          <a:custGeom>
            <a:avLst/>
            <a:gdLst>
              <a:gd name="T0" fmla="*/ 0 w 132"/>
              <a:gd name="T1" fmla="*/ 3 h 31"/>
              <a:gd name="T2" fmla="*/ 0 w 132"/>
              <a:gd name="T3" fmla="*/ 31 h 31"/>
              <a:gd name="T4" fmla="*/ 132 w 132"/>
              <a:gd name="T5" fmla="*/ 29 h 31"/>
              <a:gd name="T6" fmla="*/ 132 w 132"/>
              <a:gd name="T7" fmla="*/ 0 h 31"/>
              <a:gd name="T8" fmla="*/ 0 w 132"/>
              <a:gd name="T9" fmla="*/ 3 h 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" h="31">
                <a:moveTo>
                  <a:pt x="0" y="3"/>
                </a:moveTo>
                <a:lnTo>
                  <a:pt x="0" y="31"/>
                </a:lnTo>
                <a:lnTo>
                  <a:pt x="132" y="29"/>
                </a:lnTo>
                <a:lnTo>
                  <a:pt x="132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Freeform 44"/>
          <p:cNvSpPr>
            <a:spLocks noChangeAspect="1"/>
          </p:cNvSpPr>
          <p:nvPr/>
        </p:nvSpPr>
        <p:spPr bwMode="auto">
          <a:xfrm>
            <a:off x="9356653" y="2438393"/>
            <a:ext cx="23619" cy="99968"/>
          </a:xfrm>
          <a:custGeom>
            <a:avLst/>
            <a:gdLst>
              <a:gd name="T0" fmla="*/ 29 w 31"/>
              <a:gd name="T1" fmla="*/ 0 h 131"/>
              <a:gd name="T2" fmla="*/ 0 w 31"/>
              <a:gd name="T3" fmla="*/ 0 h 131"/>
              <a:gd name="T4" fmla="*/ 2 w 31"/>
              <a:gd name="T5" fmla="*/ 131 h 131"/>
              <a:gd name="T6" fmla="*/ 31 w 31"/>
              <a:gd name="T7" fmla="*/ 131 h 131"/>
              <a:gd name="T8" fmla="*/ 29 w 31"/>
              <a:gd name="T9" fmla="*/ 0 h 1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" h="131">
                <a:moveTo>
                  <a:pt x="29" y="0"/>
                </a:moveTo>
                <a:lnTo>
                  <a:pt x="0" y="0"/>
                </a:lnTo>
                <a:lnTo>
                  <a:pt x="2" y="131"/>
                </a:lnTo>
                <a:lnTo>
                  <a:pt x="31" y="131"/>
                </a:lnTo>
                <a:lnTo>
                  <a:pt x="29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Rectangle 45"/>
          <p:cNvSpPr>
            <a:spLocks noChangeAspect="1" noChangeArrowheads="1"/>
          </p:cNvSpPr>
          <p:nvPr/>
        </p:nvSpPr>
        <p:spPr bwMode="auto">
          <a:xfrm>
            <a:off x="6138993" y="2814898"/>
            <a:ext cx="4349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3" name="Rectangle 46"/>
          <p:cNvSpPr>
            <a:spLocks noChangeAspect="1" noChangeArrowheads="1"/>
          </p:cNvSpPr>
          <p:nvPr/>
        </p:nvSpPr>
        <p:spPr bwMode="auto">
          <a:xfrm>
            <a:off x="6154047" y="2845679"/>
            <a:ext cx="435956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44" name="Rectangle 47"/>
          <p:cNvSpPr>
            <a:spLocks noChangeAspect="1" noChangeArrowheads="1"/>
          </p:cNvSpPr>
          <p:nvPr/>
        </p:nvSpPr>
        <p:spPr bwMode="auto">
          <a:xfrm>
            <a:off x="6491418" y="2838710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45" name="Rectangle 48"/>
          <p:cNvSpPr>
            <a:spLocks noChangeAspect="1" noChangeArrowheads="1"/>
          </p:cNvSpPr>
          <p:nvPr/>
        </p:nvSpPr>
        <p:spPr bwMode="auto">
          <a:xfrm>
            <a:off x="8412293" y="2273560"/>
            <a:ext cx="468313" cy="43497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7" name="Rectangle 53"/>
          <p:cNvSpPr>
            <a:spLocks noChangeAspect="1" noChangeArrowheads="1"/>
          </p:cNvSpPr>
          <p:nvPr/>
        </p:nvSpPr>
        <p:spPr bwMode="auto">
          <a:xfrm>
            <a:off x="8872697" y="2481010"/>
            <a:ext cx="319416" cy="2175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8" name="Freeform 54"/>
          <p:cNvSpPr>
            <a:spLocks noChangeAspect="1"/>
          </p:cNvSpPr>
          <p:nvPr/>
        </p:nvSpPr>
        <p:spPr bwMode="auto">
          <a:xfrm>
            <a:off x="9188556" y="2445010"/>
            <a:ext cx="88924" cy="95250"/>
          </a:xfrm>
          <a:custGeom>
            <a:avLst/>
            <a:gdLst>
              <a:gd name="T0" fmla="*/ 0 w 125"/>
              <a:gd name="T1" fmla="*/ 127 h 127"/>
              <a:gd name="T2" fmla="*/ 125 w 125"/>
              <a:gd name="T3" fmla="*/ 65 h 127"/>
              <a:gd name="T4" fmla="*/ 0 w 125"/>
              <a:gd name="T5" fmla="*/ 0 h 127"/>
              <a:gd name="T6" fmla="*/ 0 w 125"/>
              <a:gd name="T7" fmla="*/ 127 h 1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5" h="127">
                <a:moveTo>
                  <a:pt x="0" y="127"/>
                </a:moveTo>
                <a:lnTo>
                  <a:pt x="125" y="65"/>
                </a:lnTo>
                <a:lnTo>
                  <a:pt x="0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Rectangle 55"/>
          <p:cNvSpPr>
            <a:spLocks noChangeAspect="1" noChangeArrowheads="1"/>
          </p:cNvSpPr>
          <p:nvPr/>
        </p:nvSpPr>
        <p:spPr bwMode="auto">
          <a:xfrm>
            <a:off x="8013831" y="2516448"/>
            <a:ext cx="358775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0" name="Rectangle 56"/>
          <p:cNvSpPr>
            <a:spLocks noChangeAspect="1" noChangeArrowheads="1"/>
          </p:cNvSpPr>
          <p:nvPr/>
        </p:nvSpPr>
        <p:spPr bwMode="auto">
          <a:xfrm>
            <a:off x="8075742" y="2537085"/>
            <a:ext cx="345521" cy="247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I(p)</a:t>
            </a:r>
            <a:endParaRPr lang="fr-FR" altLang="fr-FR" sz="2400" b="1" dirty="0">
              <a:latin typeface="Times New Roman" panose="02020603050405020304" pitchFamily="18" charset="0"/>
            </a:endParaRPr>
          </a:p>
        </p:txBody>
      </p:sp>
      <p:sp>
        <p:nvSpPr>
          <p:cNvPr id="51" name="Rectangle 57"/>
          <p:cNvSpPr>
            <a:spLocks noChangeAspect="1" noChangeArrowheads="1"/>
          </p:cNvSpPr>
          <p:nvPr/>
        </p:nvSpPr>
        <p:spPr bwMode="auto">
          <a:xfrm>
            <a:off x="8307518" y="2537085"/>
            <a:ext cx="984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52" name="Rectangle 59"/>
          <p:cNvSpPr>
            <a:spLocks noChangeAspect="1" noChangeArrowheads="1"/>
          </p:cNvSpPr>
          <p:nvPr/>
        </p:nvSpPr>
        <p:spPr bwMode="auto">
          <a:xfrm>
            <a:off x="10614156" y="2310073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54" name="Rectangle 62"/>
          <p:cNvSpPr>
            <a:spLocks noChangeAspect="1" noChangeArrowheads="1"/>
          </p:cNvSpPr>
          <p:nvPr/>
        </p:nvSpPr>
        <p:spPr bwMode="auto">
          <a:xfrm>
            <a:off x="11007856" y="2481010"/>
            <a:ext cx="341875" cy="2175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5" name="Freeform 63"/>
          <p:cNvSpPr>
            <a:spLocks noChangeAspect="1"/>
          </p:cNvSpPr>
          <p:nvPr/>
        </p:nvSpPr>
        <p:spPr bwMode="auto">
          <a:xfrm>
            <a:off x="11345916" y="2445010"/>
            <a:ext cx="96915" cy="95250"/>
          </a:xfrm>
          <a:custGeom>
            <a:avLst/>
            <a:gdLst>
              <a:gd name="T0" fmla="*/ 0 w 127"/>
              <a:gd name="T1" fmla="*/ 127 h 127"/>
              <a:gd name="T2" fmla="*/ 127 w 127"/>
              <a:gd name="T3" fmla="*/ 65 h 127"/>
              <a:gd name="T4" fmla="*/ 0 w 127"/>
              <a:gd name="T5" fmla="*/ 0 h 127"/>
              <a:gd name="T6" fmla="*/ 0 w 127"/>
              <a:gd name="T7" fmla="*/ 127 h 1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27">
                <a:moveTo>
                  <a:pt x="0" y="127"/>
                </a:moveTo>
                <a:lnTo>
                  <a:pt x="127" y="65"/>
                </a:lnTo>
                <a:lnTo>
                  <a:pt x="0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Rectangle 64"/>
          <p:cNvSpPr>
            <a:spLocks noChangeAspect="1" noChangeArrowheads="1"/>
          </p:cNvSpPr>
          <p:nvPr/>
        </p:nvSpPr>
        <p:spPr bwMode="auto">
          <a:xfrm>
            <a:off x="11117393" y="2167198"/>
            <a:ext cx="4349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7" name="Rectangle 67"/>
          <p:cNvSpPr>
            <a:spLocks noChangeAspect="1" noChangeArrowheads="1"/>
          </p:cNvSpPr>
          <p:nvPr/>
        </p:nvSpPr>
        <p:spPr bwMode="auto">
          <a:xfrm>
            <a:off x="11480931" y="2198948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sp>
        <p:nvSpPr>
          <p:cNvPr id="59" name="Rectangle 69"/>
          <p:cNvSpPr>
            <a:spLocks noChangeAspect="1" noChangeArrowheads="1"/>
          </p:cNvSpPr>
          <p:nvPr/>
        </p:nvSpPr>
        <p:spPr bwMode="auto">
          <a:xfrm>
            <a:off x="9476006" y="1943360"/>
            <a:ext cx="22112" cy="232194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0" name="Freeform 70"/>
          <p:cNvSpPr>
            <a:spLocks noChangeAspect="1"/>
          </p:cNvSpPr>
          <p:nvPr/>
        </p:nvSpPr>
        <p:spPr bwMode="auto">
          <a:xfrm>
            <a:off x="9439406" y="2171735"/>
            <a:ext cx="96837" cy="95475"/>
          </a:xfrm>
          <a:custGeom>
            <a:avLst/>
            <a:gdLst>
              <a:gd name="T0" fmla="*/ 0 w 127"/>
              <a:gd name="T1" fmla="*/ 0 h 125"/>
              <a:gd name="T2" fmla="*/ 65 w 127"/>
              <a:gd name="T3" fmla="*/ 125 h 125"/>
              <a:gd name="T4" fmla="*/ 127 w 127"/>
              <a:gd name="T5" fmla="*/ 0 h 125"/>
              <a:gd name="T6" fmla="*/ 0 w 127"/>
              <a:gd name="T7" fmla="*/ 0 h 1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25">
                <a:moveTo>
                  <a:pt x="0" y="0"/>
                </a:moveTo>
                <a:lnTo>
                  <a:pt x="65" y="125"/>
                </a:lnTo>
                <a:lnTo>
                  <a:pt x="1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" name="Rectangle 71"/>
          <p:cNvSpPr>
            <a:spLocks noChangeAspect="1" noChangeArrowheads="1"/>
          </p:cNvSpPr>
          <p:nvPr/>
        </p:nvSpPr>
        <p:spPr bwMode="auto">
          <a:xfrm>
            <a:off x="8412293" y="3138748"/>
            <a:ext cx="468313" cy="434975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3" name="Rectangle 76"/>
          <p:cNvSpPr>
            <a:spLocks noChangeAspect="1" noChangeArrowheads="1"/>
          </p:cNvSpPr>
          <p:nvPr/>
        </p:nvSpPr>
        <p:spPr bwMode="auto">
          <a:xfrm>
            <a:off x="8936446" y="3345210"/>
            <a:ext cx="2288897" cy="2135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4" name="Freeform 77"/>
          <p:cNvSpPr>
            <a:spLocks noChangeAspect="1"/>
          </p:cNvSpPr>
          <p:nvPr/>
        </p:nvSpPr>
        <p:spPr bwMode="auto">
          <a:xfrm>
            <a:off x="8847268" y="3308610"/>
            <a:ext cx="94513" cy="96838"/>
          </a:xfrm>
          <a:custGeom>
            <a:avLst/>
            <a:gdLst>
              <a:gd name="T0" fmla="*/ 124 w 124"/>
              <a:gd name="T1" fmla="*/ 0 h 127"/>
              <a:gd name="T2" fmla="*/ 0 w 124"/>
              <a:gd name="T3" fmla="*/ 62 h 127"/>
              <a:gd name="T4" fmla="*/ 124 w 124"/>
              <a:gd name="T5" fmla="*/ 127 h 127"/>
              <a:gd name="T6" fmla="*/ 124 w 124"/>
              <a:gd name="T7" fmla="*/ 0 h 1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4" h="127">
                <a:moveTo>
                  <a:pt x="124" y="0"/>
                </a:moveTo>
                <a:lnTo>
                  <a:pt x="0" y="62"/>
                </a:lnTo>
                <a:lnTo>
                  <a:pt x="124" y="127"/>
                </a:lnTo>
                <a:lnTo>
                  <a:pt x="124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" name="Rectangle 81"/>
          <p:cNvSpPr>
            <a:spLocks noChangeAspect="1" noChangeArrowheads="1"/>
          </p:cNvSpPr>
          <p:nvPr/>
        </p:nvSpPr>
        <p:spPr bwMode="auto">
          <a:xfrm>
            <a:off x="6561356" y="2798663"/>
            <a:ext cx="22112" cy="55757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7" name="Freeform 82"/>
          <p:cNvSpPr>
            <a:spLocks noChangeAspect="1"/>
          </p:cNvSpPr>
          <p:nvPr/>
        </p:nvSpPr>
        <p:spPr bwMode="auto">
          <a:xfrm>
            <a:off x="6524756" y="2708535"/>
            <a:ext cx="96837" cy="95475"/>
          </a:xfrm>
          <a:custGeom>
            <a:avLst/>
            <a:gdLst>
              <a:gd name="T0" fmla="*/ 127 w 127"/>
              <a:gd name="T1" fmla="*/ 125 h 125"/>
              <a:gd name="T2" fmla="*/ 65 w 127"/>
              <a:gd name="T3" fmla="*/ 0 h 125"/>
              <a:gd name="T4" fmla="*/ 0 w 127"/>
              <a:gd name="T5" fmla="*/ 125 h 125"/>
              <a:gd name="T6" fmla="*/ 127 w 127"/>
              <a:gd name="T7" fmla="*/ 125 h 1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25">
                <a:moveTo>
                  <a:pt x="127" y="125"/>
                </a:moveTo>
                <a:lnTo>
                  <a:pt x="65" y="0"/>
                </a:lnTo>
                <a:lnTo>
                  <a:pt x="0" y="125"/>
                </a:lnTo>
                <a:lnTo>
                  <a:pt x="127" y="125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9" name="Rectangle 84"/>
          <p:cNvSpPr>
            <a:spLocks noChangeAspect="1" noChangeArrowheads="1"/>
          </p:cNvSpPr>
          <p:nvPr/>
        </p:nvSpPr>
        <p:spPr bwMode="auto">
          <a:xfrm>
            <a:off x="5705606" y="2481010"/>
            <a:ext cx="559471" cy="2175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0" name="Freeform 85"/>
          <p:cNvSpPr>
            <a:spLocks noChangeAspect="1"/>
          </p:cNvSpPr>
          <p:nvPr/>
        </p:nvSpPr>
        <p:spPr bwMode="auto">
          <a:xfrm>
            <a:off x="6261266" y="2445010"/>
            <a:ext cx="96802" cy="95250"/>
          </a:xfrm>
          <a:custGeom>
            <a:avLst/>
            <a:gdLst>
              <a:gd name="T0" fmla="*/ 0 w 127"/>
              <a:gd name="T1" fmla="*/ 127 h 127"/>
              <a:gd name="T2" fmla="*/ 127 w 127"/>
              <a:gd name="T3" fmla="*/ 65 h 127"/>
              <a:gd name="T4" fmla="*/ 0 w 127"/>
              <a:gd name="T5" fmla="*/ 0 h 127"/>
              <a:gd name="T6" fmla="*/ 0 w 127"/>
              <a:gd name="T7" fmla="*/ 127 h 12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27">
                <a:moveTo>
                  <a:pt x="0" y="127"/>
                </a:moveTo>
                <a:lnTo>
                  <a:pt x="127" y="65"/>
                </a:lnTo>
                <a:lnTo>
                  <a:pt x="0" y="0"/>
                </a:lnTo>
                <a:lnTo>
                  <a:pt x="0" y="127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" name="Rectangle 86"/>
          <p:cNvSpPr>
            <a:spLocks noChangeAspect="1" noChangeArrowheads="1"/>
          </p:cNvSpPr>
          <p:nvPr/>
        </p:nvSpPr>
        <p:spPr bwMode="auto">
          <a:xfrm>
            <a:off x="10120443" y="2218920"/>
            <a:ext cx="866775" cy="546050"/>
          </a:xfrm>
          <a:prstGeom prst="rect">
            <a:avLst/>
          </a:prstGeom>
          <a:noFill/>
          <a:ln w="1841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3" name="Rectangle 88"/>
          <p:cNvSpPr>
            <a:spLocks noChangeAspect="1" noChangeArrowheads="1"/>
          </p:cNvSpPr>
          <p:nvPr/>
        </p:nvSpPr>
        <p:spPr bwMode="auto">
          <a:xfrm>
            <a:off x="4907093" y="2086236"/>
            <a:ext cx="943018" cy="738188"/>
          </a:xfrm>
          <a:prstGeom prst="rect">
            <a:avLst/>
          </a:prstGeom>
          <a:solidFill>
            <a:srgbClr val="FFFFFF"/>
          </a:solidFill>
          <a:ln w="18415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4" name="Rectangle 89"/>
          <p:cNvSpPr>
            <a:spLocks noChangeAspect="1" noChangeArrowheads="1"/>
          </p:cNvSpPr>
          <p:nvPr/>
        </p:nvSpPr>
        <p:spPr bwMode="auto">
          <a:xfrm>
            <a:off x="5199194" y="2302136"/>
            <a:ext cx="4349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77" name="Group 93"/>
          <p:cNvGrpSpPr>
            <a:grpSpLocks noChangeAspect="1"/>
          </p:cNvGrpSpPr>
          <p:nvPr/>
        </p:nvGrpSpPr>
        <p:grpSpPr bwMode="auto">
          <a:xfrm>
            <a:off x="4613406" y="2430723"/>
            <a:ext cx="273050" cy="120650"/>
            <a:chOff x="7817" y="9630"/>
            <a:chExt cx="283" cy="127"/>
          </a:xfrm>
        </p:grpSpPr>
        <p:sp>
          <p:nvSpPr>
            <p:cNvPr id="104" name="Freeform 94"/>
            <p:cNvSpPr>
              <a:spLocks noChangeAspect="1"/>
            </p:cNvSpPr>
            <p:nvPr/>
          </p:nvSpPr>
          <p:spPr bwMode="auto">
            <a:xfrm>
              <a:off x="7817" y="9675"/>
              <a:ext cx="163" cy="31"/>
            </a:xfrm>
            <a:custGeom>
              <a:avLst/>
              <a:gdLst>
                <a:gd name="T0" fmla="*/ 0 w 163"/>
                <a:gd name="T1" fmla="*/ 0 h 31"/>
                <a:gd name="T2" fmla="*/ 0 w 163"/>
                <a:gd name="T3" fmla="*/ 29 h 31"/>
                <a:gd name="T4" fmla="*/ 163 w 163"/>
                <a:gd name="T5" fmla="*/ 31 h 31"/>
                <a:gd name="T6" fmla="*/ 163 w 163"/>
                <a:gd name="T7" fmla="*/ 3 h 31"/>
                <a:gd name="T8" fmla="*/ 0 w 163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3" h="31">
                  <a:moveTo>
                    <a:pt x="0" y="0"/>
                  </a:moveTo>
                  <a:lnTo>
                    <a:pt x="0" y="29"/>
                  </a:lnTo>
                  <a:lnTo>
                    <a:pt x="163" y="31"/>
                  </a:lnTo>
                  <a:lnTo>
                    <a:pt x="16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Freeform 95"/>
            <p:cNvSpPr>
              <a:spLocks noChangeAspect="1"/>
            </p:cNvSpPr>
            <p:nvPr/>
          </p:nvSpPr>
          <p:spPr bwMode="auto">
            <a:xfrm>
              <a:off x="7975" y="9630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4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4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8" name="Rectangle 77"/>
          <p:cNvSpPr>
            <a:spLocks noChangeAspect="1" noChangeArrowheads="1"/>
          </p:cNvSpPr>
          <p:nvPr/>
        </p:nvSpPr>
        <p:spPr bwMode="auto">
          <a:xfrm>
            <a:off x="4005394" y="2129098"/>
            <a:ext cx="611188" cy="654050"/>
          </a:xfrm>
          <a:prstGeom prst="rect">
            <a:avLst/>
          </a:prstGeom>
          <a:solidFill>
            <a:srgbClr val="FFFFFF"/>
          </a:solidFill>
          <a:ln w="1841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9" name="Rectangle 78"/>
          <p:cNvSpPr>
            <a:spLocks noChangeAspect="1" noChangeArrowheads="1"/>
          </p:cNvSpPr>
          <p:nvPr/>
        </p:nvSpPr>
        <p:spPr bwMode="auto">
          <a:xfrm>
            <a:off x="4049844" y="2302136"/>
            <a:ext cx="522288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0" name="Rectangle 79"/>
          <p:cNvSpPr>
            <a:spLocks noChangeAspect="1" noChangeArrowheads="1"/>
          </p:cNvSpPr>
          <p:nvPr/>
        </p:nvSpPr>
        <p:spPr bwMode="auto">
          <a:xfrm>
            <a:off x="4046669" y="2302136"/>
            <a:ext cx="595313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fr-FR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fr-FR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(p)</a:t>
            </a:r>
            <a:endParaRPr lang="fr-FR" altLang="fr-FR" sz="2800" b="1" dirty="0">
              <a:latin typeface="Times New Roman" panose="02020603050405020304" pitchFamily="18" charset="0"/>
            </a:endParaRPr>
          </a:p>
        </p:txBody>
      </p:sp>
      <p:sp>
        <p:nvSpPr>
          <p:cNvPr id="81" name="Rectangle 80"/>
          <p:cNvSpPr>
            <a:spLocks noChangeAspect="1" noChangeArrowheads="1"/>
          </p:cNvSpPr>
          <p:nvPr/>
        </p:nvSpPr>
        <p:spPr bwMode="auto">
          <a:xfrm>
            <a:off x="4537206" y="2327536"/>
            <a:ext cx="1428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pSp>
        <p:nvGrpSpPr>
          <p:cNvPr id="82" name="Group 102"/>
          <p:cNvGrpSpPr>
            <a:grpSpLocks noChangeAspect="1"/>
          </p:cNvGrpSpPr>
          <p:nvPr/>
        </p:nvGrpSpPr>
        <p:grpSpPr bwMode="auto">
          <a:xfrm>
            <a:off x="3787906" y="2430723"/>
            <a:ext cx="215900" cy="96838"/>
            <a:chOff x="6733" y="9630"/>
            <a:chExt cx="283" cy="127"/>
          </a:xfrm>
        </p:grpSpPr>
        <p:sp>
          <p:nvSpPr>
            <p:cNvPr id="102" name="Freeform 103"/>
            <p:cNvSpPr>
              <a:spLocks noChangeAspect="1"/>
            </p:cNvSpPr>
            <p:nvPr/>
          </p:nvSpPr>
          <p:spPr bwMode="auto">
            <a:xfrm>
              <a:off x="6733" y="9675"/>
              <a:ext cx="163" cy="31"/>
            </a:xfrm>
            <a:custGeom>
              <a:avLst/>
              <a:gdLst>
                <a:gd name="T0" fmla="*/ 0 w 163"/>
                <a:gd name="T1" fmla="*/ 0 h 31"/>
                <a:gd name="T2" fmla="*/ 0 w 163"/>
                <a:gd name="T3" fmla="*/ 29 h 31"/>
                <a:gd name="T4" fmla="*/ 163 w 163"/>
                <a:gd name="T5" fmla="*/ 31 h 31"/>
                <a:gd name="T6" fmla="*/ 163 w 163"/>
                <a:gd name="T7" fmla="*/ 3 h 31"/>
                <a:gd name="T8" fmla="*/ 0 w 163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3" h="31">
                  <a:moveTo>
                    <a:pt x="0" y="0"/>
                  </a:moveTo>
                  <a:lnTo>
                    <a:pt x="0" y="29"/>
                  </a:lnTo>
                  <a:lnTo>
                    <a:pt x="163" y="31"/>
                  </a:lnTo>
                  <a:lnTo>
                    <a:pt x="16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Freeform 104"/>
            <p:cNvSpPr>
              <a:spLocks noChangeAspect="1"/>
            </p:cNvSpPr>
            <p:nvPr/>
          </p:nvSpPr>
          <p:spPr bwMode="auto">
            <a:xfrm>
              <a:off x="6891" y="9630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4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4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3" name="Group 105"/>
          <p:cNvGrpSpPr>
            <a:grpSpLocks noChangeAspect="1"/>
          </p:cNvGrpSpPr>
          <p:nvPr/>
        </p:nvGrpSpPr>
        <p:grpSpPr bwMode="auto">
          <a:xfrm>
            <a:off x="3354519" y="2260861"/>
            <a:ext cx="436563" cy="433388"/>
            <a:chOff x="6164" y="9407"/>
            <a:chExt cx="573" cy="570"/>
          </a:xfrm>
        </p:grpSpPr>
        <p:sp>
          <p:nvSpPr>
            <p:cNvPr id="96" name="Oval 106"/>
            <p:cNvSpPr>
              <a:spLocks noChangeAspect="1" noChangeArrowheads="1"/>
            </p:cNvSpPr>
            <p:nvPr/>
          </p:nvSpPr>
          <p:spPr bwMode="auto">
            <a:xfrm>
              <a:off x="6164" y="9407"/>
              <a:ext cx="573" cy="570"/>
            </a:xfrm>
            <a:prstGeom prst="ellipse">
              <a:avLst/>
            </a:prstGeom>
            <a:noFill/>
            <a:ln w="1841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7" name="Freeform 107"/>
            <p:cNvSpPr>
              <a:spLocks noChangeAspect="1"/>
            </p:cNvSpPr>
            <p:nvPr/>
          </p:nvSpPr>
          <p:spPr bwMode="auto">
            <a:xfrm>
              <a:off x="6239" y="9472"/>
              <a:ext cx="417" cy="421"/>
            </a:xfrm>
            <a:custGeom>
              <a:avLst/>
              <a:gdLst>
                <a:gd name="T0" fmla="*/ 400 w 417"/>
                <a:gd name="T1" fmla="*/ 421 h 421"/>
                <a:gd name="T2" fmla="*/ 417 w 417"/>
                <a:gd name="T3" fmla="*/ 400 h 421"/>
                <a:gd name="T4" fmla="*/ 16 w 417"/>
                <a:gd name="T5" fmla="*/ 0 h 421"/>
                <a:gd name="T6" fmla="*/ 0 w 417"/>
                <a:gd name="T7" fmla="*/ 21 h 421"/>
                <a:gd name="T8" fmla="*/ 400 w 417"/>
                <a:gd name="T9" fmla="*/ 421 h 4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7" h="421">
                  <a:moveTo>
                    <a:pt x="400" y="421"/>
                  </a:moveTo>
                  <a:lnTo>
                    <a:pt x="417" y="400"/>
                  </a:lnTo>
                  <a:lnTo>
                    <a:pt x="16" y="0"/>
                  </a:lnTo>
                  <a:lnTo>
                    <a:pt x="0" y="21"/>
                  </a:lnTo>
                  <a:lnTo>
                    <a:pt x="400" y="42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Freeform 108"/>
            <p:cNvSpPr>
              <a:spLocks noChangeAspect="1"/>
            </p:cNvSpPr>
            <p:nvPr/>
          </p:nvSpPr>
          <p:spPr bwMode="auto">
            <a:xfrm>
              <a:off x="6239" y="9462"/>
              <a:ext cx="419" cy="424"/>
            </a:xfrm>
            <a:custGeom>
              <a:avLst/>
              <a:gdLst>
                <a:gd name="T0" fmla="*/ 0 w 419"/>
                <a:gd name="T1" fmla="*/ 402 h 424"/>
                <a:gd name="T2" fmla="*/ 16 w 419"/>
                <a:gd name="T3" fmla="*/ 424 h 424"/>
                <a:gd name="T4" fmla="*/ 419 w 419"/>
                <a:gd name="T5" fmla="*/ 22 h 424"/>
                <a:gd name="T6" fmla="*/ 402 w 419"/>
                <a:gd name="T7" fmla="*/ 0 h 424"/>
                <a:gd name="T8" fmla="*/ 0 w 419"/>
                <a:gd name="T9" fmla="*/ 402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9" h="424">
                  <a:moveTo>
                    <a:pt x="0" y="402"/>
                  </a:moveTo>
                  <a:lnTo>
                    <a:pt x="16" y="424"/>
                  </a:lnTo>
                  <a:lnTo>
                    <a:pt x="419" y="22"/>
                  </a:lnTo>
                  <a:lnTo>
                    <a:pt x="402" y="0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Freeform 109"/>
            <p:cNvSpPr>
              <a:spLocks noChangeAspect="1"/>
            </p:cNvSpPr>
            <p:nvPr/>
          </p:nvSpPr>
          <p:spPr bwMode="auto">
            <a:xfrm>
              <a:off x="6375" y="9477"/>
              <a:ext cx="130" cy="31"/>
            </a:xfrm>
            <a:custGeom>
              <a:avLst/>
              <a:gdLst>
                <a:gd name="T0" fmla="*/ 0 w 130"/>
                <a:gd name="T1" fmla="*/ 2 h 31"/>
                <a:gd name="T2" fmla="*/ 0 w 130"/>
                <a:gd name="T3" fmla="*/ 31 h 31"/>
                <a:gd name="T4" fmla="*/ 130 w 130"/>
                <a:gd name="T5" fmla="*/ 28 h 31"/>
                <a:gd name="T6" fmla="*/ 130 w 130"/>
                <a:gd name="T7" fmla="*/ 0 h 31"/>
                <a:gd name="T8" fmla="*/ 0 w 130"/>
                <a:gd name="T9" fmla="*/ 2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31">
                  <a:moveTo>
                    <a:pt x="0" y="2"/>
                  </a:moveTo>
                  <a:lnTo>
                    <a:pt x="0" y="31"/>
                  </a:lnTo>
                  <a:lnTo>
                    <a:pt x="130" y="28"/>
                  </a:lnTo>
                  <a:lnTo>
                    <a:pt x="13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Rectangle 110"/>
            <p:cNvSpPr>
              <a:spLocks noChangeAspect="1" noChangeArrowheads="1"/>
            </p:cNvSpPr>
            <p:nvPr/>
          </p:nvSpPr>
          <p:spPr bwMode="auto">
            <a:xfrm>
              <a:off x="6224" y="9668"/>
              <a:ext cx="132" cy="2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01" name="Freeform 111"/>
            <p:cNvSpPr>
              <a:spLocks noChangeAspect="1"/>
            </p:cNvSpPr>
            <p:nvPr/>
          </p:nvSpPr>
          <p:spPr bwMode="auto">
            <a:xfrm>
              <a:off x="6270" y="9623"/>
              <a:ext cx="31" cy="129"/>
            </a:xfrm>
            <a:custGeom>
              <a:avLst/>
              <a:gdLst>
                <a:gd name="T0" fmla="*/ 28 w 31"/>
                <a:gd name="T1" fmla="*/ 0 h 129"/>
                <a:gd name="T2" fmla="*/ 0 w 31"/>
                <a:gd name="T3" fmla="*/ 0 h 129"/>
                <a:gd name="T4" fmla="*/ 2 w 31"/>
                <a:gd name="T5" fmla="*/ 129 h 129"/>
                <a:gd name="T6" fmla="*/ 31 w 31"/>
                <a:gd name="T7" fmla="*/ 129 h 129"/>
                <a:gd name="T8" fmla="*/ 28 w 31"/>
                <a:gd name="T9" fmla="*/ 0 h 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129">
                  <a:moveTo>
                    <a:pt x="28" y="0"/>
                  </a:moveTo>
                  <a:lnTo>
                    <a:pt x="0" y="0"/>
                  </a:lnTo>
                  <a:lnTo>
                    <a:pt x="2" y="129"/>
                  </a:lnTo>
                  <a:lnTo>
                    <a:pt x="31" y="1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4" name="Group 112"/>
          <p:cNvGrpSpPr>
            <a:grpSpLocks noChangeAspect="1"/>
          </p:cNvGrpSpPr>
          <p:nvPr/>
        </p:nvGrpSpPr>
        <p:grpSpPr bwMode="auto">
          <a:xfrm>
            <a:off x="3539859" y="1703648"/>
            <a:ext cx="88900" cy="557213"/>
            <a:chOff x="6385" y="8725"/>
            <a:chExt cx="127" cy="682"/>
          </a:xfrm>
        </p:grpSpPr>
        <p:sp>
          <p:nvSpPr>
            <p:cNvPr id="94" name="Freeform 113"/>
            <p:cNvSpPr>
              <a:spLocks noChangeAspect="1"/>
            </p:cNvSpPr>
            <p:nvPr/>
          </p:nvSpPr>
          <p:spPr bwMode="auto">
            <a:xfrm>
              <a:off x="6433" y="8725"/>
              <a:ext cx="31" cy="562"/>
            </a:xfrm>
            <a:custGeom>
              <a:avLst/>
              <a:gdLst>
                <a:gd name="T0" fmla="*/ 31 w 31"/>
                <a:gd name="T1" fmla="*/ 0 h 562"/>
                <a:gd name="T2" fmla="*/ 2 w 31"/>
                <a:gd name="T3" fmla="*/ 0 h 562"/>
                <a:gd name="T4" fmla="*/ 0 w 31"/>
                <a:gd name="T5" fmla="*/ 562 h 562"/>
                <a:gd name="T6" fmla="*/ 29 w 31"/>
                <a:gd name="T7" fmla="*/ 562 h 562"/>
                <a:gd name="T8" fmla="*/ 31 w 31"/>
                <a:gd name="T9" fmla="*/ 0 h 5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62">
                  <a:moveTo>
                    <a:pt x="31" y="0"/>
                  </a:moveTo>
                  <a:lnTo>
                    <a:pt x="2" y="0"/>
                  </a:lnTo>
                  <a:lnTo>
                    <a:pt x="0" y="562"/>
                  </a:lnTo>
                  <a:lnTo>
                    <a:pt x="29" y="56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Freeform 114"/>
            <p:cNvSpPr>
              <a:spLocks noChangeAspect="1"/>
            </p:cNvSpPr>
            <p:nvPr/>
          </p:nvSpPr>
          <p:spPr bwMode="auto">
            <a:xfrm>
              <a:off x="6385" y="9283"/>
              <a:ext cx="127" cy="124"/>
            </a:xfrm>
            <a:custGeom>
              <a:avLst/>
              <a:gdLst>
                <a:gd name="T0" fmla="*/ 0 w 127"/>
                <a:gd name="T1" fmla="*/ 0 h 124"/>
                <a:gd name="T2" fmla="*/ 65 w 127"/>
                <a:gd name="T3" fmla="*/ 124 h 124"/>
                <a:gd name="T4" fmla="*/ 127 w 127"/>
                <a:gd name="T5" fmla="*/ 0 h 124"/>
                <a:gd name="T6" fmla="*/ 0 w 127"/>
                <a:gd name="T7" fmla="*/ 0 h 1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24">
                  <a:moveTo>
                    <a:pt x="0" y="0"/>
                  </a:moveTo>
                  <a:lnTo>
                    <a:pt x="65" y="124"/>
                  </a:lnTo>
                  <a:lnTo>
                    <a:pt x="1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5" name="Rectangle 115"/>
          <p:cNvSpPr>
            <a:spLocks noChangeAspect="1" noChangeArrowheads="1"/>
          </p:cNvSpPr>
          <p:nvPr/>
        </p:nvSpPr>
        <p:spPr bwMode="auto">
          <a:xfrm>
            <a:off x="5992944" y="1522673"/>
            <a:ext cx="468313" cy="434975"/>
          </a:xfrm>
          <a:prstGeom prst="rect">
            <a:avLst/>
          </a:prstGeom>
          <a:noFill/>
          <a:ln w="1841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6" name="Rectangle 119"/>
          <p:cNvSpPr>
            <a:spLocks noChangeAspect="1" noChangeArrowheads="1"/>
          </p:cNvSpPr>
          <p:nvPr/>
        </p:nvSpPr>
        <p:spPr bwMode="auto">
          <a:xfrm>
            <a:off x="8185281" y="1740161"/>
            <a:ext cx="22225" cy="73501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87" name="Group 120"/>
          <p:cNvGrpSpPr>
            <a:grpSpLocks noChangeAspect="1"/>
          </p:cNvGrpSpPr>
          <p:nvPr/>
        </p:nvGrpSpPr>
        <p:grpSpPr bwMode="auto">
          <a:xfrm>
            <a:off x="6461256" y="1667136"/>
            <a:ext cx="1735138" cy="147638"/>
            <a:chOff x="11179" y="8629"/>
            <a:chExt cx="2276" cy="194"/>
          </a:xfrm>
        </p:grpSpPr>
        <p:sp>
          <p:nvSpPr>
            <p:cNvPr id="92" name="Rectangle 121"/>
            <p:cNvSpPr>
              <a:spLocks noChangeAspect="1" noChangeArrowheads="1"/>
            </p:cNvSpPr>
            <p:nvPr/>
          </p:nvSpPr>
          <p:spPr bwMode="auto">
            <a:xfrm>
              <a:off x="11366" y="8710"/>
              <a:ext cx="2089" cy="2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3" name="Freeform 122"/>
            <p:cNvSpPr>
              <a:spLocks noChangeAspect="1"/>
            </p:cNvSpPr>
            <p:nvPr/>
          </p:nvSpPr>
          <p:spPr bwMode="auto">
            <a:xfrm>
              <a:off x="11179" y="8629"/>
              <a:ext cx="194" cy="194"/>
            </a:xfrm>
            <a:custGeom>
              <a:avLst/>
              <a:gdLst>
                <a:gd name="T0" fmla="*/ 194 w 194"/>
                <a:gd name="T1" fmla="*/ 0 h 194"/>
                <a:gd name="T2" fmla="*/ 0 w 194"/>
                <a:gd name="T3" fmla="*/ 98 h 194"/>
                <a:gd name="T4" fmla="*/ 194 w 194"/>
                <a:gd name="T5" fmla="*/ 194 h 194"/>
                <a:gd name="T6" fmla="*/ 194 w 194"/>
                <a:gd name="T7" fmla="*/ 0 h 1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4" h="194">
                  <a:moveTo>
                    <a:pt x="194" y="0"/>
                  </a:moveTo>
                  <a:lnTo>
                    <a:pt x="0" y="98"/>
                  </a:lnTo>
                  <a:lnTo>
                    <a:pt x="194" y="194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8" name="Line 123"/>
          <p:cNvSpPr>
            <a:spLocks noChangeAspect="1" noChangeShapeType="1"/>
          </p:cNvSpPr>
          <p:nvPr/>
        </p:nvSpPr>
        <p:spPr bwMode="auto">
          <a:xfrm>
            <a:off x="3584309" y="1714761"/>
            <a:ext cx="240546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89" name="Group 124"/>
          <p:cNvGrpSpPr>
            <a:grpSpLocks noChangeAspect="1"/>
          </p:cNvGrpSpPr>
          <p:nvPr/>
        </p:nvGrpSpPr>
        <p:grpSpPr bwMode="auto">
          <a:xfrm>
            <a:off x="3064006" y="2433898"/>
            <a:ext cx="273050" cy="122238"/>
            <a:chOff x="7817" y="9630"/>
            <a:chExt cx="283" cy="127"/>
          </a:xfrm>
        </p:grpSpPr>
        <p:sp>
          <p:nvSpPr>
            <p:cNvPr id="90" name="Freeform 125"/>
            <p:cNvSpPr>
              <a:spLocks noChangeAspect="1"/>
            </p:cNvSpPr>
            <p:nvPr/>
          </p:nvSpPr>
          <p:spPr bwMode="auto">
            <a:xfrm>
              <a:off x="7817" y="9675"/>
              <a:ext cx="163" cy="31"/>
            </a:xfrm>
            <a:custGeom>
              <a:avLst/>
              <a:gdLst>
                <a:gd name="T0" fmla="*/ 0 w 163"/>
                <a:gd name="T1" fmla="*/ 0 h 31"/>
                <a:gd name="T2" fmla="*/ 0 w 163"/>
                <a:gd name="T3" fmla="*/ 29 h 31"/>
                <a:gd name="T4" fmla="*/ 163 w 163"/>
                <a:gd name="T5" fmla="*/ 31 h 31"/>
                <a:gd name="T6" fmla="*/ 163 w 163"/>
                <a:gd name="T7" fmla="*/ 3 h 31"/>
                <a:gd name="T8" fmla="*/ 0 w 163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3" h="31">
                  <a:moveTo>
                    <a:pt x="0" y="0"/>
                  </a:moveTo>
                  <a:lnTo>
                    <a:pt x="0" y="29"/>
                  </a:lnTo>
                  <a:lnTo>
                    <a:pt x="163" y="31"/>
                  </a:lnTo>
                  <a:lnTo>
                    <a:pt x="16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Freeform 126"/>
            <p:cNvSpPr>
              <a:spLocks noChangeAspect="1"/>
            </p:cNvSpPr>
            <p:nvPr/>
          </p:nvSpPr>
          <p:spPr bwMode="auto">
            <a:xfrm>
              <a:off x="7975" y="9630"/>
              <a:ext cx="125" cy="127"/>
            </a:xfrm>
            <a:custGeom>
              <a:avLst/>
              <a:gdLst>
                <a:gd name="T0" fmla="*/ 0 w 125"/>
                <a:gd name="T1" fmla="*/ 127 h 127"/>
                <a:gd name="T2" fmla="*/ 125 w 125"/>
                <a:gd name="T3" fmla="*/ 64 h 127"/>
                <a:gd name="T4" fmla="*/ 0 w 125"/>
                <a:gd name="T5" fmla="*/ 0 h 127"/>
                <a:gd name="T6" fmla="*/ 0 w 125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7">
                  <a:moveTo>
                    <a:pt x="0" y="127"/>
                  </a:moveTo>
                  <a:lnTo>
                    <a:pt x="125" y="64"/>
                  </a:lnTo>
                  <a:lnTo>
                    <a:pt x="0" y="0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6" name="ZoneTexte 105"/>
          <p:cNvSpPr txBox="1"/>
          <p:nvPr/>
        </p:nvSpPr>
        <p:spPr>
          <a:xfrm>
            <a:off x="2795919" y="2453318"/>
            <a:ext cx="65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</a:t>
            </a:r>
            <a:r>
              <a:rPr lang="fr-FR" b="1" baseline="-25000" dirty="0"/>
              <a:t>ref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ZoneTexte 106"/>
              <p:cNvSpPr txBox="1"/>
              <p:nvPr/>
            </p:nvSpPr>
            <p:spPr>
              <a:xfrm>
                <a:off x="8512045" y="2364133"/>
                <a:ext cx="293862" cy="268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07" name="ZoneTexte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045" y="2364133"/>
                <a:ext cx="293862" cy="268279"/>
              </a:xfrm>
              <a:prstGeom prst="rect">
                <a:avLst/>
              </a:prstGeom>
              <a:blipFill>
                <a:blip r:embed="rId3"/>
                <a:stretch>
                  <a:fillRect l="-16327" r="-10204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/>
              <p:cNvSpPr/>
              <p:nvPr/>
            </p:nvSpPr>
            <p:spPr>
              <a:xfrm>
                <a:off x="7140256" y="2231619"/>
                <a:ext cx="844205" cy="533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08" name="Rectangle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256" y="2231619"/>
                <a:ext cx="844205" cy="533351"/>
              </a:xfrm>
              <a:prstGeom prst="rect">
                <a:avLst/>
              </a:prstGeom>
              <a:blipFill>
                <a:blip r:embed="rId4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 108"/>
              <p:cNvSpPr/>
              <p:nvPr/>
            </p:nvSpPr>
            <p:spPr>
              <a:xfrm>
                <a:off x="10179211" y="2218919"/>
                <a:ext cx="794513" cy="534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altLang="fr-FR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altLang="fr-FR" sz="1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09" name="Rectangle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211" y="2218919"/>
                <a:ext cx="794513" cy="534826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ZoneTexte 109"/>
              <p:cNvSpPr txBox="1"/>
              <p:nvPr/>
            </p:nvSpPr>
            <p:spPr>
              <a:xfrm>
                <a:off x="11045986" y="2218919"/>
                <a:ext cx="49372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600" b="1" i="0" smtClean="0">
                          <a:latin typeface="Cambria Math" panose="02040503050406030204" pitchFamily="18" charset="0"/>
                        </a:rPr>
                        <m:t>𝛀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10" name="ZoneTexte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986" y="2218919"/>
                <a:ext cx="493725" cy="246221"/>
              </a:xfrm>
              <a:prstGeom prst="rect">
                <a:avLst/>
              </a:prstGeom>
              <a:blipFill>
                <a:blip r:embed="rId6"/>
                <a:stretch>
                  <a:fillRect l="-8642" r="-14815" b="-3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ZoneTexte 110"/>
              <p:cNvSpPr txBox="1"/>
              <p:nvPr/>
            </p:nvSpPr>
            <p:spPr>
              <a:xfrm>
                <a:off x="9390475" y="1704317"/>
                <a:ext cx="21852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b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11" name="ZoneTexte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475" y="1704317"/>
                <a:ext cx="218521" cy="246221"/>
              </a:xfrm>
              <a:prstGeom prst="rect">
                <a:avLst/>
              </a:prstGeom>
              <a:blipFill>
                <a:blip r:embed="rId7"/>
                <a:stretch>
                  <a:fillRect l="-19444" r="-2778" b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ZoneTexte 111"/>
              <p:cNvSpPr txBox="1"/>
              <p:nvPr/>
            </p:nvSpPr>
            <p:spPr>
              <a:xfrm>
                <a:off x="8934799" y="2167198"/>
                <a:ext cx="28424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𝚪</m:t>
                          </m:r>
                        </m:e>
                        <m:sub>
                          <m:r>
                            <a:rPr lang="fr-FR" sz="1600" b="1" i="0" smtClean="0">
                              <a:latin typeface="Cambria Math" panose="02040503050406030204" pitchFamily="18" charset="0"/>
                            </a:rPr>
                            <m:t>𝐦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12" name="ZoneTexte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799" y="2167198"/>
                <a:ext cx="284245" cy="246221"/>
              </a:xfrm>
              <a:prstGeom prst="rect">
                <a:avLst/>
              </a:prstGeom>
              <a:blipFill>
                <a:blip r:embed="rId8"/>
                <a:stretch>
                  <a:fillRect l="-17391" r="-2174" b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ZoneTexte 112"/>
          <p:cNvSpPr txBox="1"/>
          <p:nvPr/>
        </p:nvSpPr>
        <p:spPr>
          <a:xfrm>
            <a:off x="6046264" y="1513779"/>
            <a:ext cx="417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solidFill>
                  <a:srgbClr val="FF0000"/>
                </a:solidFill>
              </a:rPr>
              <a:t>k</a:t>
            </a:r>
            <a:r>
              <a:rPr lang="fr-FR" sz="2000" b="1" baseline="-25000" dirty="0" err="1">
                <a:solidFill>
                  <a:srgbClr val="FF0000"/>
                </a:solidFill>
              </a:rPr>
              <a:t>i</a:t>
            </a:r>
            <a:endParaRPr lang="fr-FR" sz="2000" b="1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ZoneTexte 113"/>
              <p:cNvSpPr txBox="1"/>
              <p:nvPr/>
            </p:nvSpPr>
            <p:spPr>
              <a:xfrm>
                <a:off x="8490230" y="3221301"/>
                <a:ext cx="293862" cy="2682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14" name="ZoneTexte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230" y="3221301"/>
                <a:ext cx="293862" cy="268279"/>
              </a:xfrm>
              <a:prstGeom prst="rect">
                <a:avLst/>
              </a:prstGeom>
              <a:blipFill>
                <a:blip r:embed="rId9"/>
                <a:stretch>
                  <a:fillRect l="-16667" r="-10417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4959439" y="2223179"/>
                <a:ext cx="824778" cy="504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sz="16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fr-FR" sz="16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fr-FR" sz="16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fr-FR" sz="1600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  <m:r>
                            <a:rPr lang="fr-FR" sz="16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16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fr-FR" sz="16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439" y="2223179"/>
                <a:ext cx="824778" cy="5041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735342"/>
              </p:ext>
            </p:extLst>
          </p:nvPr>
        </p:nvGraphicFramePr>
        <p:xfrm>
          <a:off x="4696147" y="3940540"/>
          <a:ext cx="1781175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88614" imgH="380835" progId="Equation.3">
                  <p:embed/>
                </p:oleObj>
              </mc:Choice>
              <mc:Fallback>
                <p:oleObj name="Equation" r:id="rId11" imgW="888614" imgH="380835" progId="Equation.3">
                  <p:embed/>
                  <p:pic>
                    <p:nvPicPr>
                      <p:cNvPr id="1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6147" y="3940540"/>
                        <a:ext cx="1781175" cy="763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601142"/>
              </p:ext>
            </p:extLst>
          </p:nvPr>
        </p:nvGraphicFramePr>
        <p:xfrm>
          <a:off x="7059613" y="4017963"/>
          <a:ext cx="24257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13" imgW="1612800" imgH="431640" progId="Equation.3">
                  <p:embed/>
                </p:oleObj>
              </mc:Choice>
              <mc:Fallback>
                <p:oleObj name="Équation" r:id="rId13" imgW="1612800" imgH="431640" progId="Equation.3">
                  <p:embed/>
                  <p:pic>
                    <p:nvPicPr>
                      <p:cNvPr id="1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9613" y="4017963"/>
                        <a:ext cx="24257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Rectangle 26"/>
          <p:cNvSpPr>
            <a:spLocks noChangeAspect="1" noChangeArrowheads="1"/>
          </p:cNvSpPr>
          <p:nvPr/>
        </p:nvSpPr>
        <p:spPr bwMode="auto">
          <a:xfrm>
            <a:off x="5708972" y="3216640"/>
            <a:ext cx="4349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19" name="Rectangle 28"/>
          <p:cNvSpPr>
            <a:spLocks noChangeAspect="1" noChangeArrowheads="1"/>
          </p:cNvSpPr>
          <p:nvPr/>
        </p:nvSpPr>
        <p:spPr bwMode="auto">
          <a:xfrm>
            <a:off x="6061397" y="3240452"/>
            <a:ext cx="1016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2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fr-FR" altLang="fr-FR" sz="1800" b="1">
              <a:latin typeface="Times New Roman" panose="02020603050405020304" pitchFamily="18" charset="0"/>
            </a:endParaRPr>
          </a:p>
        </p:txBody>
      </p:sp>
      <p:graphicFrame>
        <p:nvGraphicFramePr>
          <p:cNvPr id="120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563676"/>
              </p:ext>
            </p:extLst>
          </p:nvPr>
        </p:nvGraphicFramePr>
        <p:xfrm>
          <a:off x="3632200" y="5214938"/>
          <a:ext cx="338455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15" imgW="1815840" imgH="431640" progId="Equation.3">
                  <p:embed/>
                </p:oleObj>
              </mc:Choice>
              <mc:Fallback>
                <p:oleObj name="Équation" r:id="rId15" imgW="1815840" imgH="431640" progId="Equation.3">
                  <p:embed/>
                  <p:pic>
                    <p:nvPicPr>
                      <p:cNvPr id="12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5214938"/>
                        <a:ext cx="338455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Text Box 75"/>
          <p:cNvSpPr txBox="1">
            <a:spLocks noChangeArrowheads="1"/>
          </p:cNvSpPr>
          <p:nvPr/>
        </p:nvSpPr>
        <p:spPr bwMode="auto">
          <a:xfrm>
            <a:off x="8225160" y="5237527"/>
            <a:ext cx="3106737" cy="52387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2800" b="1">
                <a:solidFill>
                  <a:srgbClr val="FF3300"/>
                </a:solidFill>
                <a:latin typeface="Times New Roman" panose="02020603050405020304" pitchFamily="18" charset="0"/>
              </a:rPr>
              <a:t>=&gt;  </a:t>
            </a:r>
            <a:r>
              <a:rPr lang="fr-FR" altLang="fr-FR" sz="2800" b="1">
                <a:solidFill>
                  <a:srgbClr val="FF3300"/>
                </a:solidFill>
                <a:latin typeface="Symbol" panose="05050102010706020507" pitchFamily="18" charset="2"/>
              </a:rPr>
              <a:t>t</a:t>
            </a:r>
            <a:r>
              <a:rPr lang="fr-FR" altLang="fr-FR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= max( </a:t>
            </a:r>
            <a:r>
              <a:rPr lang="fr-FR" altLang="fr-FR" sz="2800" b="1">
                <a:solidFill>
                  <a:srgbClr val="FF3300"/>
                </a:solidFill>
                <a:latin typeface="Symbol" panose="05050102010706020507" pitchFamily="18" charset="2"/>
              </a:rPr>
              <a:t>t</a:t>
            </a:r>
            <a:r>
              <a:rPr lang="fr-FR" altLang="fr-FR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h</a:t>
            </a:r>
            <a:r>
              <a:rPr lang="fr-FR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,</a:t>
            </a:r>
            <a:r>
              <a:rPr lang="fr-FR" altLang="fr-FR" sz="2800" b="1">
                <a:solidFill>
                  <a:srgbClr val="FF3300"/>
                </a:solidFill>
                <a:latin typeface="Symbol" panose="05050102010706020507" pitchFamily="18" charset="2"/>
              </a:rPr>
              <a:t>t</a:t>
            </a:r>
            <a:r>
              <a:rPr lang="fr-FR" altLang="fr-FR" sz="2800" b="1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e</a:t>
            </a:r>
            <a:r>
              <a:rPr lang="fr-FR" altLang="fr-FR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)</a:t>
            </a:r>
          </a:p>
        </p:txBody>
      </p:sp>
      <p:sp>
        <p:nvSpPr>
          <p:cNvPr id="122" name="ZoneTexte 121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23" name="Connecteur droit 12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23"/>
          <p:cNvCxnSpPr/>
          <p:nvPr/>
        </p:nvCxnSpPr>
        <p:spPr>
          <a:xfrm flipV="1">
            <a:off x="5011979" y="3055229"/>
            <a:ext cx="1127014" cy="3789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ZoneTexte 124"/>
          <p:cNvSpPr txBox="1"/>
          <p:nvPr/>
        </p:nvSpPr>
        <p:spPr>
          <a:xfrm>
            <a:off x="3477114" y="3172977"/>
            <a:ext cx="1770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Disturbance (slow variations)</a:t>
            </a:r>
          </a:p>
        </p:txBody>
      </p:sp>
    </p:spTree>
    <p:extLst>
      <p:ext uri="{BB962C8B-B14F-4D97-AF65-F5344CB8AC3E}">
        <p14:creationId xmlns:p14="http://schemas.microsoft.com/office/powerpoint/2010/main" val="122503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Closed loop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918414" y="3842341"/>
            <a:ext cx="41488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i="1" dirty="0">
                <a:solidFill>
                  <a:srgbClr val="0033CC"/>
                </a:solidFill>
                <a:latin typeface="Calibri (Corps)"/>
              </a:rPr>
              <a:t>Second ordre </a:t>
            </a:r>
            <a:r>
              <a:rPr lang="fr-FR" altLang="fr-FR" sz="2400" b="1" i="1" dirty="0" err="1">
                <a:solidFill>
                  <a:srgbClr val="0033CC"/>
                </a:solidFill>
                <a:latin typeface="Calibri (Corps)"/>
              </a:rPr>
              <a:t>without</a:t>
            </a:r>
            <a:r>
              <a:rPr lang="fr-FR" altLang="fr-FR" sz="2400" b="1" i="1" dirty="0">
                <a:solidFill>
                  <a:srgbClr val="0033CC"/>
                </a:solidFill>
                <a:latin typeface="Calibri (Corps)"/>
              </a:rPr>
              <a:t> </a:t>
            </a:r>
            <a:r>
              <a:rPr lang="fr-FR" altLang="fr-FR" sz="2400" b="1" i="1" dirty="0" err="1">
                <a:solidFill>
                  <a:srgbClr val="0033CC"/>
                </a:solidFill>
                <a:latin typeface="Calibri (Corps)"/>
              </a:rPr>
              <a:t>error</a:t>
            </a:r>
            <a:endParaRPr lang="fr-FR" altLang="fr-FR" sz="2400" b="1" i="1" dirty="0">
              <a:solidFill>
                <a:srgbClr val="0033CC"/>
              </a:solidFill>
              <a:latin typeface="Calibri (Corps)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598532" y="4452005"/>
            <a:ext cx="48301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i="1" dirty="0">
                <a:solidFill>
                  <a:srgbClr val="FF3300"/>
                </a:solidFill>
                <a:latin typeface="Calibri (Corps)"/>
              </a:rPr>
              <a:t>Choose of m : damping [0,7 .. 1]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i="1" dirty="0">
                <a:solidFill>
                  <a:srgbClr val="FF3300"/>
                </a:solidFill>
                <a:latin typeface="Calibri (Corps)"/>
              </a:rPr>
              <a:t>Choose of </a:t>
            </a:r>
            <a:r>
              <a:rPr lang="el-GR" altLang="fr-FR" sz="2400" b="1" i="1" dirty="0">
                <a:solidFill>
                  <a:srgbClr val="FF3300"/>
                </a:solidFill>
                <a:latin typeface="Calibri (Corps)"/>
                <a:cs typeface="Calibri" panose="020F0502020204030204" pitchFamily="34" charset="0"/>
              </a:rPr>
              <a:t>ω</a:t>
            </a:r>
            <a:r>
              <a:rPr lang="en-US" altLang="fr-FR" sz="2400" b="1" i="1" baseline="-25000" dirty="0">
                <a:solidFill>
                  <a:srgbClr val="FF3300"/>
                </a:solidFill>
                <a:latin typeface="Calibri (Corps)"/>
              </a:rPr>
              <a:t>0</a:t>
            </a:r>
            <a:r>
              <a:rPr lang="en-US" altLang="fr-FR" sz="2400" b="1" i="1" dirty="0">
                <a:solidFill>
                  <a:srgbClr val="FF3300"/>
                </a:solidFill>
                <a:latin typeface="Calibri (Corps)"/>
              </a:rPr>
              <a:t> : bandwidth</a:t>
            </a:r>
            <a:endParaRPr lang="fr-FR" altLang="fr-FR" sz="2400" b="1" i="1" dirty="0">
              <a:solidFill>
                <a:srgbClr val="FF3300"/>
              </a:solidFill>
              <a:latin typeface="Calibri (Corps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7711372" y="1906259"/>
                <a:ext cx="3663823" cy="116698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𝑪𝑳</m:t>
                          </m:r>
                        </m:sub>
                      </m:sSub>
                      <m:d>
                        <m:d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f>
                            <m:f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fr-FR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372" y="1906259"/>
                <a:ext cx="3663823" cy="11669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821480" y="2097499"/>
                <a:ext cx="3217163" cy="766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𝑂𝐿</m:t>
                          </m:r>
                        </m:sub>
                      </m:sSub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ℎ𝑒</m:t>
                              </m:r>
                            </m:sub>
                          </m:s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ℎ𝑒</m:t>
                              </m:r>
                            </m:sub>
                          </m:s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480" y="2097499"/>
                <a:ext cx="3217163" cy="7668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1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rgbClr val="FF0000"/>
                </a:solidFill>
              </a:rPr>
              <a:t>Current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3" name="Connecteur droit 1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34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93638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DC motor: Speed / voltage transfer function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382498"/>
              </p:ext>
            </p:extLst>
          </p:nvPr>
        </p:nvGraphicFramePr>
        <p:xfrm>
          <a:off x="2487190" y="1844675"/>
          <a:ext cx="39608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6300" imgH="431800" progId="Equation.3">
                  <p:embed/>
                </p:oleObj>
              </mc:Choice>
              <mc:Fallback>
                <p:oleObj name="Equation" r:id="rId2" imgW="2146300" imgH="431800" progId="Equation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190" y="1844675"/>
                        <a:ext cx="3960812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2591676" y="3068638"/>
            <a:ext cx="5184775" cy="1008062"/>
            <a:chOff x="975" y="1933"/>
            <a:chExt cx="3266" cy="635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975" y="1933"/>
              <a:ext cx="3266" cy="63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1054" y="1987"/>
            <a:ext cx="3153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489200" imgH="419100" progId="Equation.3">
                    <p:embed/>
                  </p:oleObj>
                </mc:Choice>
                <mc:Fallback>
                  <p:oleObj name="Equation" r:id="rId4" imgW="2489200" imgH="419100" progId="Equation.3">
                    <p:embed/>
                    <p:pic>
                      <p:nvPicPr>
                        <p:cNvPr id="1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4" y="1987"/>
                          <a:ext cx="3153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041239"/>
              </p:ext>
            </p:extLst>
          </p:nvPr>
        </p:nvGraphicFramePr>
        <p:xfrm>
          <a:off x="7028681" y="1180277"/>
          <a:ext cx="5003373" cy="1802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5130800" imgH="1849120" progId="Word.Picture.8">
                  <p:embed/>
                </p:oleObj>
              </mc:Choice>
              <mc:Fallback>
                <p:oleObj name="Image" r:id="rId6" imgW="5130800" imgH="1849120" progId="Word.Picture.8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8681" y="1180277"/>
                        <a:ext cx="5003373" cy="1802636"/>
                      </a:xfrm>
                      <a:prstGeom prst="rect">
                        <a:avLst/>
                      </a:prstGeom>
                      <a:noFill/>
                      <a:ln w="9525" cap="flat">
                        <a:solidFill>
                          <a:srgbClr val="000000"/>
                        </a:solidFill>
                        <a:prstDash val="solid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591676" y="4668982"/>
                <a:ext cx="6774003" cy="1236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lang="en-US" dirty="0"/>
                  <a:t>	electromechanical time constant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/>
                  <a:t>		electrical time constant</a:t>
                </a: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676" y="4668982"/>
                <a:ext cx="6774003" cy="1236236"/>
              </a:xfrm>
              <a:prstGeom prst="rect">
                <a:avLst/>
              </a:prstGeom>
              <a:blipFill>
                <a:blip r:embed="rId9"/>
                <a:stretch>
                  <a:fillRect b="-24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Current control</a:t>
            </a:r>
          </a:p>
          <a:p>
            <a:r>
              <a:rPr lang="en-US" b="1" dirty="0">
                <a:solidFill>
                  <a:srgbClr val="FF0000"/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5" name="Connecteur droit 1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63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Speed loop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296545"/>
              </p:ext>
            </p:extLst>
          </p:nvPr>
        </p:nvGraphicFramePr>
        <p:xfrm>
          <a:off x="4581882" y="1595011"/>
          <a:ext cx="5613400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230054" imgH="2233334" progId="Word.Picture.8">
                  <p:embed/>
                </p:oleObj>
              </mc:Choice>
              <mc:Fallback>
                <p:oleObj name="Picture" r:id="rId2" imgW="4230054" imgH="2233334" progId="Word.Picture.8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882" y="1595011"/>
                        <a:ext cx="5613400" cy="296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983703"/>
              </p:ext>
            </p:extLst>
          </p:nvPr>
        </p:nvGraphicFramePr>
        <p:xfrm>
          <a:off x="5227994" y="4835098"/>
          <a:ext cx="3744913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584200" progId="Equation.3">
                  <p:embed/>
                </p:oleObj>
              </mc:Choice>
              <mc:Fallback>
                <p:oleObj name="Equation" r:id="rId4" imgW="2057400" imgH="5842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994" y="4835098"/>
                        <a:ext cx="3744913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ZoneTexte 7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Current control</a:t>
            </a:r>
          </a:p>
          <a:p>
            <a:r>
              <a:rPr lang="en-US" b="1" dirty="0">
                <a:solidFill>
                  <a:srgbClr val="FF0000"/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64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119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Nested loop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888358"/>
              </p:ext>
            </p:extLst>
          </p:nvPr>
        </p:nvGraphicFramePr>
        <p:xfrm>
          <a:off x="3506787" y="1598776"/>
          <a:ext cx="7631112" cy="313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669585" imgH="2323400" progId="Word.Picture.8">
                  <p:embed/>
                </p:oleObj>
              </mc:Choice>
              <mc:Fallback>
                <p:oleObj name="Picture" r:id="rId2" imgW="5669585" imgH="2323400" progId="Word.Picture.8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87" y="1598776"/>
                        <a:ext cx="7631112" cy="313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359399" y="5219863"/>
            <a:ext cx="43140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 err="1">
                <a:solidFill>
                  <a:srgbClr val="0033CC"/>
                </a:solidFill>
                <a:latin typeface="Calibri (Corps)"/>
              </a:rPr>
              <a:t>Internal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</a:t>
            </a:r>
            <a:r>
              <a:rPr lang="fr-FR" altLang="fr-FR" sz="1800" b="1" i="1" dirty="0" err="1">
                <a:solidFill>
                  <a:srgbClr val="0033CC"/>
                </a:solidFill>
                <a:latin typeface="Calibri (Corps)"/>
              </a:rPr>
              <a:t>loop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</a:t>
            </a:r>
            <a:r>
              <a:rPr lang="fr-FR" altLang="fr-FR" sz="1800" b="1" i="1" dirty="0" err="1">
                <a:solidFill>
                  <a:srgbClr val="0033CC"/>
                </a:solidFill>
                <a:latin typeface="Calibri (Corps)"/>
              </a:rPr>
              <a:t>faster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</a:t>
            </a:r>
            <a:r>
              <a:rPr lang="fr-FR" altLang="fr-FR" sz="1800" b="1" i="1" dirty="0" err="1">
                <a:solidFill>
                  <a:srgbClr val="0033CC"/>
                </a:solidFill>
                <a:latin typeface="Calibri (Corps)"/>
              </a:rPr>
              <a:t>than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</a:t>
            </a:r>
            <a:r>
              <a:rPr lang="fr-FR" altLang="fr-FR" sz="1800" b="1" i="1" dirty="0" err="1">
                <a:solidFill>
                  <a:srgbClr val="0033CC"/>
                </a:solidFill>
                <a:latin typeface="Calibri (Corps)"/>
              </a:rPr>
              <a:t>external</a:t>
            </a:r>
            <a:r>
              <a:rPr lang="fr-FR" altLang="fr-FR" sz="1800" b="1" i="1" dirty="0">
                <a:solidFill>
                  <a:srgbClr val="0033CC"/>
                </a:solidFill>
                <a:latin typeface="Calibri (Corps)"/>
              </a:rPr>
              <a:t> </a:t>
            </a:r>
            <a:r>
              <a:rPr lang="fr-FR" altLang="fr-FR" sz="1800" b="1" i="1" dirty="0" err="1">
                <a:solidFill>
                  <a:srgbClr val="0033CC"/>
                </a:solidFill>
                <a:latin typeface="Calibri (Corps)"/>
              </a:rPr>
              <a:t>loop</a:t>
            </a:r>
            <a:endParaRPr lang="fr-FR" altLang="fr-FR" sz="1800" b="1" i="1" dirty="0">
              <a:solidFill>
                <a:srgbClr val="0033CC"/>
              </a:solidFill>
              <a:latin typeface="Calibri (Corps)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Closed loop chopper control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Models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Current control</a:t>
            </a:r>
          </a:p>
          <a:p>
            <a:r>
              <a:rPr lang="en-US" b="1" dirty="0">
                <a:solidFill>
                  <a:srgbClr val="FF0000"/>
                </a:solidFill>
              </a:rPr>
              <a:t>Speed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Energy storage based chopper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06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Indirect Choppers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</p:txBody>
      </p:sp>
      <p:cxnSp>
        <p:nvCxnSpPr>
          <p:cNvPr id="5" name="Connecteur droit 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02065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Indirect chopper: principle</a:t>
            </a:r>
          </a:p>
        </p:txBody>
      </p:sp>
      <p:sp>
        <p:nvSpPr>
          <p:cNvPr id="6" name="Oval 3"/>
          <p:cNvSpPr>
            <a:spLocks noChangeArrowheads="1"/>
          </p:cNvSpPr>
          <p:nvPr/>
        </p:nvSpPr>
        <p:spPr bwMode="auto">
          <a:xfrm>
            <a:off x="4312660" y="2137785"/>
            <a:ext cx="431800" cy="431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4168197" y="2066347"/>
            <a:ext cx="0" cy="5746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823439" y="2642610"/>
            <a:ext cx="11721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solidFill>
                  <a:srgbClr val="FF3300"/>
                </a:solidFill>
                <a:latin typeface="Calibri (Corps)"/>
              </a:rPr>
              <a:t>Voltage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 err="1">
                <a:solidFill>
                  <a:srgbClr val="FF3300"/>
                </a:solidFill>
                <a:latin typeface="Calibri (Corps)"/>
              </a:rPr>
              <a:t>generator</a:t>
            </a:r>
            <a:endParaRPr lang="fr-FR" altLang="fr-FR" sz="1800" dirty="0">
              <a:solidFill>
                <a:srgbClr val="FF3300"/>
              </a:solidFill>
              <a:latin typeface="Calibri (Corps)"/>
            </a:endParaRPr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4312660" y="4946072"/>
            <a:ext cx="431800" cy="431800"/>
          </a:xfrm>
          <a:prstGeom prst="ellips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4528560" y="5019097"/>
            <a:ext cx="0" cy="288925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926626" y="5450897"/>
            <a:ext cx="11721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Calibri (Corps)"/>
              </a:rPr>
              <a:t>Current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Calibri (Corps)"/>
              </a:rPr>
              <a:t>generator</a:t>
            </a:r>
          </a:p>
        </p:txBody>
      </p: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8560810" y="5090535"/>
            <a:ext cx="1308100" cy="277812"/>
            <a:chOff x="3760" y="3283"/>
            <a:chExt cx="824" cy="175"/>
          </a:xfrm>
        </p:grpSpPr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3925" y="3283"/>
              <a:ext cx="77" cy="87"/>
            </a:xfrm>
            <a:custGeom>
              <a:avLst/>
              <a:gdLst>
                <a:gd name="T0" fmla="*/ 0 w 77"/>
                <a:gd name="T1" fmla="*/ 87 h 87"/>
                <a:gd name="T2" fmla="*/ 0 w 77"/>
                <a:gd name="T3" fmla="*/ 68 h 87"/>
                <a:gd name="T4" fmla="*/ 9 w 77"/>
                <a:gd name="T5" fmla="*/ 39 h 87"/>
                <a:gd name="T6" fmla="*/ 19 w 77"/>
                <a:gd name="T7" fmla="*/ 19 h 87"/>
                <a:gd name="T8" fmla="*/ 39 w 77"/>
                <a:gd name="T9" fmla="*/ 9 h 87"/>
                <a:gd name="T10" fmla="*/ 68 w 77"/>
                <a:gd name="T11" fmla="*/ 0 h 87"/>
                <a:gd name="T12" fmla="*/ 77 w 77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7" h="87">
                  <a:moveTo>
                    <a:pt x="0" y="87"/>
                  </a:moveTo>
                  <a:lnTo>
                    <a:pt x="0" y="68"/>
                  </a:lnTo>
                  <a:lnTo>
                    <a:pt x="9" y="39"/>
                  </a:lnTo>
                  <a:lnTo>
                    <a:pt x="1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3925" y="3370"/>
              <a:ext cx="29" cy="88"/>
            </a:xfrm>
            <a:custGeom>
              <a:avLst/>
              <a:gdLst>
                <a:gd name="T0" fmla="*/ 29 w 29"/>
                <a:gd name="T1" fmla="*/ 88 h 88"/>
                <a:gd name="T2" fmla="*/ 29 w 29"/>
                <a:gd name="T3" fmla="*/ 88 h 88"/>
                <a:gd name="T4" fmla="*/ 19 w 29"/>
                <a:gd name="T5" fmla="*/ 78 h 88"/>
                <a:gd name="T6" fmla="*/ 9 w 29"/>
                <a:gd name="T7" fmla="*/ 68 h 88"/>
                <a:gd name="T8" fmla="*/ 9 w 29"/>
                <a:gd name="T9" fmla="*/ 58 h 88"/>
                <a:gd name="T10" fmla="*/ 0 w 29"/>
                <a:gd name="T11" fmla="*/ 20 h 88"/>
                <a:gd name="T12" fmla="*/ 0 w 2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9" y="68"/>
                  </a:lnTo>
                  <a:lnTo>
                    <a:pt x="9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3905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20 w 78"/>
                <a:gd name="T3" fmla="*/ 0 h 87"/>
                <a:gd name="T4" fmla="*/ 49 w 78"/>
                <a:gd name="T5" fmla="*/ 9 h 87"/>
                <a:gd name="T6" fmla="*/ 59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20" y="0"/>
                  </a:lnTo>
                  <a:lnTo>
                    <a:pt x="49" y="9"/>
                  </a:lnTo>
                  <a:lnTo>
                    <a:pt x="59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3954" y="3370"/>
              <a:ext cx="29" cy="88"/>
            </a:xfrm>
            <a:custGeom>
              <a:avLst/>
              <a:gdLst>
                <a:gd name="T0" fmla="*/ 29 w 29"/>
                <a:gd name="T1" fmla="*/ 0 h 88"/>
                <a:gd name="T2" fmla="*/ 29 w 29"/>
                <a:gd name="T3" fmla="*/ 20 h 88"/>
                <a:gd name="T4" fmla="*/ 29 w 29"/>
                <a:gd name="T5" fmla="*/ 49 h 88"/>
                <a:gd name="T6" fmla="*/ 19 w 29"/>
                <a:gd name="T7" fmla="*/ 68 h 88"/>
                <a:gd name="T8" fmla="*/ 19 w 29"/>
                <a:gd name="T9" fmla="*/ 78 h 88"/>
                <a:gd name="T10" fmla="*/ 10 w 29"/>
                <a:gd name="T11" fmla="*/ 88 h 88"/>
                <a:gd name="T12" fmla="*/ 0 w 2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0"/>
                  </a:moveTo>
                  <a:lnTo>
                    <a:pt x="29" y="20"/>
                  </a:lnTo>
                  <a:lnTo>
                    <a:pt x="29" y="49"/>
                  </a:lnTo>
                  <a:lnTo>
                    <a:pt x="19" y="68"/>
                  </a:lnTo>
                  <a:lnTo>
                    <a:pt x="1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012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9 w 78"/>
                <a:gd name="T9" fmla="*/ 9 h 87"/>
                <a:gd name="T10" fmla="*/ 68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012" y="3370"/>
              <a:ext cx="29" cy="88"/>
            </a:xfrm>
            <a:custGeom>
              <a:avLst/>
              <a:gdLst>
                <a:gd name="T0" fmla="*/ 29 w 29"/>
                <a:gd name="T1" fmla="*/ 88 h 88"/>
                <a:gd name="T2" fmla="*/ 29 w 29"/>
                <a:gd name="T3" fmla="*/ 88 h 88"/>
                <a:gd name="T4" fmla="*/ 20 w 29"/>
                <a:gd name="T5" fmla="*/ 78 h 88"/>
                <a:gd name="T6" fmla="*/ 10 w 29"/>
                <a:gd name="T7" fmla="*/ 68 h 88"/>
                <a:gd name="T8" fmla="*/ 10 w 29"/>
                <a:gd name="T9" fmla="*/ 58 h 88"/>
                <a:gd name="T10" fmla="*/ 0 w 29"/>
                <a:gd name="T11" fmla="*/ 20 h 88"/>
                <a:gd name="T12" fmla="*/ 0 w 2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88"/>
                  </a:moveTo>
                  <a:lnTo>
                    <a:pt x="29" y="88"/>
                  </a:lnTo>
                  <a:lnTo>
                    <a:pt x="20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3993" y="3283"/>
              <a:ext cx="87" cy="87"/>
            </a:xfrm>
            <a:custGeom>
              <a:avLst/>
              <a:gdLst>
                <a:gd name="T0" fmla="*/ 0 w 87"/>
                <a:gd name="T1" fmla="*/ 0 h 87"/>
                <a:gd name="T2" fmla="*/ 19 w 87"/>
                <a:gd name="T3" fmla="*/ 0 h 87"/>
                <a:gd name="T4" fmla="*/ 48 w 87"/>
                <a:gd name="T5" fmla="*/ 9 h 87"/>
                <a:gd name="T6" fmla="*/ 58 w 87"/>
                <a:gd name="T7" fmla="*/ 19 h 87"/>
                <a:gd name="T8" fmla="*/ 68 w 87"/>
                <a:gd name="T9" fmla="*/ 29 h 87"/>
                <a:gd name="T10" fmla="*/ 77 w 87"/>
                <a:gd name="T11" fmla="*/ 48 h 87"/>
                <a:gd name="T12" fmla="*/ 87 w 87"/>
                <a:gd name="T13" fmla="*/ 68 h 87"/>
                <a:gd name="T14" fmla="*/ 87 w 87"/>
                <a:gd name="T15" fmla="*/ 77 h 87"/>
                <a:gd name="T16" fmla="*/ 87 w 87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29"/>
                  </a:lnTo>
                  <a:lnTo>
                    <a:pt x="77" y="48"/>
                  </a:lnTo>
                  <a:lnTo>
                    <a:pt x="87" y="68"/>
                  </a:lnTo>
                  <a:lnTo>
                    <a:pt x="87" y="77"/>
                  </a:lnTo>
                  <a:lnTo>
                    <a:pt x="8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4041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0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0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4099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9 w 78"/>
                <a:gd name="T9" fmla="*/ 9 h 87"/>
                <a:gd name="T10" fmla="*/ 68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4099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30 w 39"/>
                <a:gd name="T3" fmla="*/ 88 h 88"/>
                <a:gd name="T4" fmla="*/ 20 w 39"/>
                <a:gd name="T5" fmla="*/ 78 h 88"/>
                <a:gd name="T6" fmla="*/ 1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30" y="88"/>
                  </a:lnTo>
                  <a:lnTo>
                    <a:pt x="20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4080" y="3283"/>
              <a:ext cx="87" cy="87"/>
            </a:xfrm>
            <a:custGeom>
              <a:avLst/>
              <a:gdLst>
                <a:gd name="T0" fmla="*/ 0 w 87"/>
                <a:gd name="T1" fmla="*/ 0 h 87"/>
                <a:gd name="T2" fmla="*/ 19 w 87"/>
                <a:gd name="T3" fmla="*/ 0 h 87"/>
                <a:gd name="T4" fmla="*/ 49 w 87"/>
                <a:gd name="T5" fmla="*/ 9 h 87"/>
                <a:gd name="T6" fmla="*/ 58 w 87"/>
                <a:gd name="T7" fmla="*/ 19 h 87"/>
                <a:gd name="T8" fmla="*/ 68 w 87"/>
                <a:gd name="T9" fmla="*/ 29 h 87"/>
                <a:gd name="T10" fmla="*/ 78 w 87"/>
                <a:gd name="T11" fmla="*/ 48 h 87"/>
                <a:gd name="T12" fmla="*/ 87 w 87"/>
                <a:gd name="T13" fmla="*/ 68 h 87"/>
                <a:gd name="T14" fmla="*/ 87 w 87"/>
                <a:gd name="T15" fmla="*/ 77 h 87"/>
                <a:gd name="T16" fmla="*/ 87 w 87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0"/>
                  </a:moveTo>
                  <a:lnTo>
                    <a:pt x="19" y="0"/>
                  </a:lnTo>
                  <a:lnTo>
                    <a:pt x="49" y="9"/>
                  </a:lnTo>
                  <a:lnTo>
                    <a:pt x="58" y="19"/>
                  </a:lnTo>
                  <a:lnTo>
                    <a:pt x="68" y="29"/>
                  </a:lnTo>
                  <a:lnTo>
                    <a:pt x="78" y="48"/>
                  </a:lnTo>
                  <a:lnTo>
                    <a:pt x="87" y="68"/>
                  </a:lnTo>
                  <a:lnTo>
                    <a:pt x="87" y="77"/>
                  </a:lnTo>
                  <a:lnTo>
                    <a:pt x="8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4129" y="3370"/>
              <a:ext cx="38" cy="88"/>
            </a:xfrm>
            <a:custGeom>
              <a:avLst/>
              <a:gdLst>
                <a:gd name="T0" fmla="*/ 38 w 38"/>
                <a:gd name="T1" fmla="*/ 0 h 88"/>
                <a:gd name="T2" fmla="*/ 38 w 38"/>
                <a:gd name="T3" fmla="*/ 20 h 88"/>
                <a:gd name="T4" fmla="*/ 38 w 38"/>
                <a:gd name="T5" fmla="*/ 49 h 88"/>
                <a:gd name="T6" fmla="*/ 29 w 38"/>
                <a:gd name="T7" fmla="*/ 68 h 88"/>
                <a:gd name="T8" fmla="*/ 29 w 38"/>
                <a:gd name="T9" fmla="*/ 78 h 88"/>
                <a:gd name="T10" fmla="*/ 9 w 38"/>
                <a:gd name="T11" fmla="*/ 88 h 88"/>
                <a:gd name="T12" fmla="*/ 0 w 38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88">
                  <a:moveTo>
                    <a:pt x="38" y="0"/>
                  </a:moveTo>
                  <a:lnTo>
                    <a:pt x="38" y="20"/>
                  </a:lnTo>
                  <a:lnTo>
                    <a:pt x="38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9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4187" y="3283"/>
              <a:ext cx="77" cy="87"/>
            </a:xfrm>
            <a:custGeom>
              <a:avLst/>
              <a:gdLst>
                <a:gd name="T0" fmla="*/ 0 w 77"/>
                <a:gd name="T1" fmla="*/ 87 h 87"/>
                <a:gd name="T2" fmla="*/ 0 w 77"/>
                <a:gd name="T3" fmla="*/ 77 h 87"/>
                <a:gd name="T4" fmla="*/ 0 w 77"/>
                <a:gd name="T5" fmla="*/ 68 h 87"/>
                <a:gd name="T6" fmla="*/ 9 w 77"/>
                <a:gd name="T7" fmla="*/ 48 h 87"/>
                <a:gd name="T8" fmla="*/ 19 w 77"/>
                <a:gd name="T9" fmla="*/ 29 h 87"/>
                <a:gd name="T10" fmla="*/ 29 w 77"/>
                <a:gd name="T11" fmla="*/ 19 h 87"/>
                <a:gd name="T12" fmla="*/ 39 w 77"/>
                <a:gd name="T13" fmla="*/ 9 h 87"/>
                <a:gd name="T14" fmla="*/ 68 w 77"/>
                <a:gd name="T15" fmla="*/ 0 h 87"/>
                <a:gd name="T16" fmla="*/ 77 w 77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9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4187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29 w 39"/>
                <a:gd name="T3" fmla="*/ 88 h 88"/>
                <a:gd name="T4" fmla="*/ 19 w 39"/>
                <a:gd name="T5" fmla="*/ 78 h 88"/>
                <a:gd name="T6" fmla="*/ 9 w 39"/>
                <a:gd name="T7" fmla="*/ 68 h 88"/>
                <a:gd name="T8" fmla="*/ 9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9" y="68"/>
                  </a:lnTo>
                  <a:lnTo>
                    <a:pt x="9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4"/>
            <p:cNvSpPr>
              <a:spLocks/>
            </p:cNvSpPr>
            <p:nvPr/>
          </p:nvSpPr>
          <p:spPr bwMode="auto">
            <a:xfrm>
              <a:off x="4177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19 w 78"/>
                <a:gd name="T3" fmla="*/ 0 h 87"/>
                <a:gd name="T4" fmla="*/ 39 w 78"/>
                <a:gd name="T5" fmla="*/ 9 h 87"/>
                <a:gd name="T6" fmla="*/ 49 w 78"/>
                <a:gd name="T7" fmla="*/ 19 h 87"/>
                <a:gd name="T8" fmla="*/ 58 w 78"/>
                <a:gd name="T9" fmla="*/ 29 h 87"/>
                <a:gd name="T10" fmla="*/ 68 w 78"/>
                <a:gd name="T11" fmla="*/ 48 h 87"/>
                <a:gd name="T12" fmla="*/ 78 w 78"/>
                <a:gd name="T13" fmla="*/ 68 h 87"/>
                <a:gd name="T14" fmla="*/ 78 w 78"/>
                <a:gd name="T15" fmla="*/ 77 h 87"/>
                <a:gd name="T16" fmla="*/ 78 w 78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19" y="0"/>
                  </a:lnTo>
                  <a:lnTo>
                    <a:pt x="39" y="9"/>
                  </a:lnTo>
                  <a:lnTo>
                    <a:pt x="49" y="19"/>
                  </a:lnTo>
                  <a:lnTo>
                    <a:pt x="58" y="29"/>
                  </a:lnTo>
                  <a:lnTo>
                    <a:pt x="68" y="48"/>
                  </a:lnTo>
                  <a:lnTo>
                    <a:pt x="78" y="68"/>
                  </a:lnTo>
                  <a:lnTo>
                    <a:pt x="78" y="77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25"/>
            <p:cNvSpPr>
              <a:spLocks/>
            </p:cNvSpPr>
            <p:nvPr/>
          </p:nvSpPr>
          <p:spPr bwMode="auto">
            <a:xfrm>
              <a:off x="4216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9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26"/>
            <p:cNvSpPr>
              <a:spLocks/>
            </p:cNvSpPr>
            <p:nvPr/>
          </p:nvSpPr>
          <p:spPr bwMode="auto">
            <a:xfrm>
              <a:off x="4274" y="3283"/>
              <a:ext cx="87" cy="87"/>
            </a:xfrm>
            <a:custGeom>
              <a:avLst/>
              <a:gdLst>
                <a:gd name="T0" fmla="*/ 0 w 87"/>
                <a:gd name="T1" fmla="*/ 87 h 87"/>
                <a:gd name="T2" fmla="*/ 0 w 87"/>
                <a:gd name="T3" fmla="*/ 77 h 87"/>
                <a:gd name="T4" fmla="*/ 0 w 87"/>
                <a:gd name="T5" fmla="*/ 68 h 87"/>
                <a:gd name="T6" fmla="*/ 10 w 87"/>
                <a:gd name="T7" fmla="*/ 48 h 87"/>
                <a:gd name="T8" fmla="*/ 19 w 87"/>
                <a:gd name="T9" fmla="*/ 29 h 87"/>
                <a:gd name="T10" fmla="*/ 29 w 87"/>
                <a:gd name="T11" fmla="*/ 19 h 87"/>
                <a:gd name="T12" fmla="*/ 39 w 87"/>
                <a:gd name="T13" fmla="*/ 9 h 87"/>
                <a:gd name="T14" fmla="*/ 68 w 87"/>
                <a:gd name="T15" fmla="*/ 0 h 87"/>
                <a:gd name="T16" fmla="*/ 87 w 87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10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8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27"/>
            <p:cNvSpPr>
              <a:spLocks/>
            </p:cNvSpPr>
            <p:nvPr/>
          </p:nvSpPr>
          <p:spPr bwMode="auto">
            <a:xfrm>
              <a:off x="4274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29 w 39"/>
                <a:gd name="T3" fmla="*/ 88 h 88"/>
                <a:gd name="T4" fmla="*/ 19 w 39"/>
                <a:gd name="T5" fmla="*/ 78 h 88"/>
                <a:gd name="T6" fmla="*/ 1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8"/>
            <p:cNvSpPr>
              <a:spLocks/>
            </p:cNvSpPr>
            <p:nvPr/>
          </p:nvSpPr>
          <p:spPr bwMode="auto">
            <a:xfrm>
              <a:off x="4264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20 w 78"/>
                <a:gd name="T3" fmla="*/ 0 h 87"/>
                <a:gd name="T4" fmla="*/ 49 w 78"/>
                <a:gd name="T5" fmla="*/ 9 h 87"/>
                <a:gd name="T6" fmla="*/ 59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20" y="0"/>
                  </a:lnTo>
                  <a:lnTo>
                    <a:pt x="49" y="9"/>
                  </a:lnTo>
                  <a:lnTo>
                    <a:pt x="59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9"/>
            <p:cNvSpPr>
              <a:spLocks/>
            </p:cNvSpPr>
            <p:nvPr/>
          </p:nvSpPr>
          <p:spPr bwMode="auto">
            <a:xfrm>
              <a:off x="4303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9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30"/>
            <p:cNvSpPr>
              <a:spLocks/>
            </p:cNvSpPr>
            <p:nvPr/>
          </p:nvSpPr>
          <p:spPr bwMode="auto">
            <a:xfrm>
              <a:off x="4361" y="3283"/>
              <a:ext cx="88" cy="87"/>
            </a:xfrm>
            <a:custGeom>
              <a:avLst/>
              <a:gdLst>
                <a:gd name="T0" fmla="*/ 0 w 88"/>
                <a:gd name="T1" fmla="*/ 87 h 87"/>
                <a:gd name="T2" fmla="*/ 0 w 88"/>
                <a:gd name="T3" fmla="*/ 77 h 87"/>
                <a:gd name="T4" fmla="*/ 0 w 88"/>
                <a:gd name="T5" fmla="*/ 68 h 87"/>
                <a:gd name="T6" fmla="*/ 10 w 88"/>
                <a:gd name="T7" fmla="*/ 48 h 87"/>
                <a:gd name="T8" fmla="*/ 20 w 88"/>
                <a:gd name="T9" fmla="*/ 29 h 87"/>
                <a:gd name="T10" fmla="*/ 29 w 88"/>
                <a:gd name="T11" fmla="*/ 19 h 87"/>
                <a:gd name="T12" fmla="*/ 39 w 88"/>
                <a:gd name="T13" fmla="*/ 9 h 87"/>
                <a:gd name="T14" fmla="*/ 68 w 88"/>
                <a:gd name="T15" fmla="*/ 0 h 87"/>
                <a:gd name="T16" fmla="*/ 88 w 88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8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10" y="48"/>
                  </a:lnTo>
                  <a:lnTo>
                    <a:pt x="20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8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4361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39 w 39"/>
                <a:gd name="T3" fmla="*/ 88 h 88"/>
                <a:gd name="T4" fmla="*/ 29 w 39"/>
                <a:gd name="T5" fmla="*/ 78 h 88"/>
                <a:gd name="T6" fmla="*/ 2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39" y="88"/>
                  </a:lnTo>
                  <a:lnTo>
                    <a:pt x="29" y="78"/>
                  </a:lnTo>
                  <a:lnTo>
                    <a:pt x="2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2"/>
            <p:cNvSpPr>
              <a:spLocks/>
            </p:cNvSpPr>
            <p:nvPr/>
          </p:nvSpPr>
          <p:spPr bwMode="auto">
            <a:xfrm>
              <a:off x="4352" y="3283"/>
              <a:ext cx="77" cy="87"/>
            </a:xfrm>
            <a:custGeom>
              <a:avLst/>
              <a:gdLst>
                <a:gd name="T0" fmla="*/ 0 w 77"/>
                <a:gd name="T1" fmla="*/ 0 h 87"/>
                <a:gd name="T2" fmla="*/ 19 w 77"/>
                <a:gd name="T3" fmla="*/ 0 h 87"/>
                <a:gd name="T4" fmla="*/ 48 w 77"/>
                <a:gd name="T5" fmla="*/ 9 h 87"/>
                <a:gd name="T6" fmla="*/ 58 w 77"/>
                <a:gd name="T7" fmla="*/ 19 h 87"/>
                <a:gd name="T8" fmla="*/ 68 w 77"/>
                <a:gd name="T9" fmla="*/ 39 h 87"/>
                <a:gd name="T10" fmla="*/ 77 w 77"/>
                <a:gd name="T11" fmla="*/ 68 h 87"/>
                <a:gd name="T12" fmla="*/ 77 w 77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7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39"/>
                  </a:lnTo>
                  <a:lnTo>
                    <a:pt x="77" y="68"/>
                  </a:lnTo>
                  <a:lnTo>
                    <a:pt x="7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4400" y="3370"/>
              <a:ext cx="29" cy="88"/>
            </a:xfrm>
            <a:custGeom>
              <a:avLst/>
              <a:gdLst>
                <a:gd name="T0" fmla="*/ 29 w 29"/>
                <a:gd name="T1" fmla="*/ 0 h 88"/>
                <a:gd name="T2" fmla="*/ 29 w 29"/>
                <a:gd name="T3" fmla="*/ 20 h 88"/>
                <a:gd name="T4" fmla="*/ 29 w 29"/>
                <a:gd name="T5" fmla="*/ 49 h 88"/>
                <a:gd name="T6" fmla="*/ 20 w 29"/>
                <a:gd name="T7" fmla="*/ 68 h 88"/>
                <a:gd name="T8" fmla="*/ 20 w 29"/>
                <a:gd name="T9" fmla="*/ 78 h 88"/>
                <a:gd name="T10" fmla="*/ 10 w 29"/>
                <a:gd name="T11" fmla="*/ 88 h 88"/>
                <a:gd name="T12" fmla="*/ 0 w 2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0"/>
                  </a:moveTo>
                  <a:lnTo>
                    <a:pt x="29" y="20"/>
                  </a:lnTo>
                  <a:lnTo>
                    <a:pt x="29" y="49"/>
                  </a:lnTo>
                  <a:lnTo>
                    <a:pt x="20" y="68"/>
                  </a:lnTo>
                  <a:lnTo>
                    <a:pt x="20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Freeform 34"/>
            <p:cNvSpPr>
              <a:spLocks/>
            </p:cNvSpPr>
            <p:nvPr/>
          </p:nvSpPr>
          <p:spPr bwMode="auto">
            <a:xfrm>
              <a:off x="4439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19 w 78"/>
                <a:gd name="T3" fmla="*/ 0 h 87"/>
                <a:gd name="T4" fmla="*/ 48 w 78"/>
                <a:gd name="T5" fmla="*/ 9 h 87"/>
                <a:gd name="T6" fmla="*/ 58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35"/>
            <p:cNvSpPr>
              <a:spLocks/>
            </p:cNvSpPr>
            <p:nvPr/>
          </p:nvSpPr>
          <p:spPr bwMode="auto">
            <a:xfrm>
              <a:off x="3837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0 w 78"/>
                <a:gd name="T9" fmla="*/ 9 h 87"/>
                <a:gd name="T10" fmla="*/ 59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0" y="9"/>
                  </a:lnTo>
                  <a:lnTo>
                    <a:pt x="59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4517" y="3370"/>
              <a:ext cx="67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3760" y="3370"/>
              <a:ext cx="68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9208510" y="5450897"/>
            <a:ext cx="14542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Calibri (Corps)"/>
              </a:rPr>
              <a:t>Current load</a:t>
            </a:r>
          </a:p>
        </p:txBody>
      </p:sp>
      <p:sp>
        <p:nvSpPr>
          <p:cNvPr id="44" name="Rectangle 39"/>
          <p:cNvSpPr>
            <a:spLocks noChangeArrowheads="1"/>
          </p:cNvSpPr>
          <p:nvPr/>
        </p:nvSpPr>
        <p:spPr bwMode="auto">
          <a:xfrm>
            <a:off x="9857797" y="5090535"/>
            <a:ext cx="863600" cy="287337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5" name="Line 40"/>
          <p:cNvSpPr>
            <a:spLocks noChangeShapeType="1"/>
          </p:cNvSpPr>
          <p:nvPr/>
        </p:nvSpPr>
        <p:spPr bwMode="auto">
          <a:xfrm>
            <a:off x="8632247" y="2785485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Rectangle 41"/>
          <p:cNvSpPr>
            <a:spLocks noChangeArrowheads="1"/>
          </p:cNvSpPr>
          <p:nvPr/>
        </p:nvSpPr>
        <p:spPr bwMode="auto">
          <a:xfrm>
            <a:off x="9137072" y="2641022"/>
            <a:ext cx="863600" cy="28733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7" name="Line 42"/>
          <p:cNvSpPr>
            <a:spLocks noChangeShapeType="1"/>
          </p:cNvSpPr>
          <p:nvPr/>
        </p:nvSpPr>
        <p:spPr bwMode="auto">
          <a:xfrm>
            <a:off x="10000672" y="2785485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>
            <a:off x="9495847" y="1850447"/>
            <a:ext cx="0" cy="5762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Line 44"/>
          <p:cNvSpPr>
            <a:spLocks noChangeShapeType="1"/>
          </p:cNvSpPr>
          <p:nvPr/>
        </p:nvSpPr>
        <p:spPr bwMode="auto">
          <a:xfrm>
            <a:off x="8992610" y="2137785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Line 45"/>
          <p:cNvSpPr>
            <a:spLocks noChangeShapeType="1"/>
          </p:cNvSpPr>
          <p:nvPr/>
        </p:nvSpPr>
        <p:spPr bwMode="auto">
          <a:xfrm>
            <a:off x="9640310" y="1850447"/>
            <a:ext cx="0" cy="5762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Line 46"/>
          <p:cNvSpPr>
            <a:spLocks noChangeShapeType="1"/>
          </p:cNvSpPr>
          <p:nvPr/>
        </p:nvSpPr>
        <p:spPr bwMode="auto">
          <a:xfrm>
            <a:off x="9640310" y="2137785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Line 47"/>
          <p:cNvSpPr>
            <a:spLocks noChangeShapeType="1"/>
          </p:cNvSpPr>
          <p:nvPr/>
        </p:nvSpPr>
        <p:spPr bwMode="auto">
          <a:xfrm>
            <a:off x="10145135" y="2137785"/>
            <a:ext cx="0" cy="6477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Line 48"/>
          <p:cNvSpPr>
            <a:spLocks noChangeShapeType="1"/>
          </p:cNvSpPr>
          <p:nvPr/>
        </p:nvSpPr>
        <p:spPr bwMode="auto">
          <a:xfrm>
            <a:off x="8992610" y="2137785"/>
            <a:ext cx="0" cy="6477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Text Box 49"/>
          <p:cNvSpPr txBox="1">
            <a:spLocks noChangeArrowheads="1"/>
          </p:cNvSpPr>
          <p:nvPr/>
        </p:nvSpPr>
        <p:spPr bwMode="auto">
          <a:xfrm>
            <a:off x="8992610" y="3002972"/>
            <a:ext cx="1454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00"/>
                </a:solidFill>
                <a:latin typeface="Calibri (Corps)"/>
              </a:rPr>
              <a:t>Voltage load</a:t>
            </a:r>
          </a:p>
        </p:txBody>
      </p:sp>
      <p:grpSp>
        <p:nvGrpSpPr>
          <p:cNvPr id="55" name="Group 50"/>
          <p:cNvGrpSpPr>
            <a:grpSpLocks/>
          </p:cNvGrpSpPr>
          <p:nvPr/>
        </p:nvGrpSpPr>
        <p:grpSpPr bwMode="auto">
          <a:xfrm>
            <a:off x="4960360" y="3001385"/>
            <a:ext cx="3711575" cy="1368425"/>
            <a:chOff x="1247" y="1751"/>
            <a:chExt cx="2338" cy="862"/>
          </a:xfrm>
        </p:grpSpPr>
        <p:sp>
          <p:nvSpPr>
            <p:cNvPr id="56" name="AutoShape 51"/>
            <p:cNvSpPr>
              <a:spLocks noChangeArrowheads="1"/>
            </p:cNvSpPr>
            <p:nvPr/>
          </p:nvSpPr>
          <p:spPr bwMode="auto">
            <a:xfrm rot="-1812834">
              <a:off x="1247" y="1752"/>
              <a:ext cx="2338" cy="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2 w 21600"/>
                <a:gd name="T13" fmla="*/ 5394 h 21600"/>
                <a:gd name="T14" fmla="*/ 18902 w 21600"/>
                <a:gd name="T15" fmla="*/ 162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7" name="Text Box 52"/>
            <p:cNvSpPr txBox="1">
              <a:spLocks noChangeArrowheads="1"/>
            </p:cNvSpPr>
            <p:nvPr/>
          </p:nvSpPr>
          <p:spPr bwMode="auto">
            <a:xfrm rot="19800000">
              <a:off x="2501" y="1751"/>
              <a:ext cx="69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33CC"/>
                  </a:solidFill>
                  <a:latin typeface="Calibri (Corps)"/>
                </a:rPr>
                <a:t>Boost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33CC"/>
                  </a:solidFill>
                  <a:latin typeface="Calibri (Corps)"/>
                </a:rPr>
                <a:t>chopper</a:t>
              </a:r>
            </a:p>
          </p:txBody>
        </p:sp>
      </p:grpSp>
      <p:grpSp>
        <p:nvGrpSpPr>
          <p:cNvPr id="58" name="Group 54"/>
          <p:cNvGrpSpPr>
            <a:grpSpLocks/>
          </p:cNvGrpSpPr>
          <p:nvPr/>
        </p:nvGrpSpPr>
        <p:grpSpPr bwMode="auto">
          <a:xfrm>
            <a:off x="4168197" y="1274185"/>
            <a:ext cx="6480175" cy="658812"/>
            <a:chOff x="748" y="663"/>
            <a:chExt cx="4082" cy="415"/>
          </a:xfrm>
        </p:grpSpPr>
        <p:sp>
          <p:nvSpPr>
            <p:cNvPr id="59" name="AutoShape 55"/>
            <p:cNvSpPr>
              <a:spLocks noChangeArrowheads="1"/>
            </p:cNvSpPr>
            <p:nvPr/>
          </p:nvSpPr>
          <p:spPr bwMode="auto">
            <a:xfrm>
              <a:off x="748" y="663"/>
              <a:ext cx="4082" cy="318"/>
            </a:xfrm>
            <a:prstGeom prst="curvedDownArrow">
              <a:avLst>
                <a:gd name="adj1" fmla="val 179414"/>
                <a:gd name="adj2" fmla="val 436143"/>
                <a:gd name="adj3" fmla="val 43528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60" name="Text Box 56"/>
            <p:cNvSpPr txBox="1">
              <a:spLocks noChangeArrowheads="1"/>
            </p:cNvSpPr>
            <p:nvPr/>
          </p:nvSpPr>
          <p:spPr bwMode="auto">
            <a:xfrm>
              <a:off x="1519" y="845"/>
              <a:ext cx="17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solidFill>
                    <a:srgbClr val="FF9933"/>
                  </a:solidFill>
                  <a:latin typeface="Calibri (Corps)"/>
                </a:rPr>
                <a:t>Inductive storage chopper</a:t>
              </a:r>
            </a:p>
          </p:txBody>
        </p:sp>
      </p:grp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5042910" y="3317297"/>
            <a:ext cx="3711575" cy="1366838"/>
            <a:chOff x="1299" y="1950"/>
            <a:chExt cx="2338" cy="861"/>
          </a:xfrm>
        </p:grpSpPr>
        <p:sp>
          <p:nvSpPr>
            <p:cNvPr id="62" name="AutoShape 61"/>
            <p:cNvSpPr>
              <a:spLocks noChangeArrowheads="1"/>
            </p:cNvSpPr>
            <p:nvPr/>
          </p:nvSpPr>
          <p:spPr bwMode="auto">
            <a:xfrm rot="1811372">
              <a:off x="1299" y="1950"/>
              <a:ext cx="2338" cy="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2 w 21600"/>
                <a:gd name="T13" fmla="*/ 5394 h 21600"/>
                <a:gd name="T14" fmla="*/ 18902 w 21600"/>
                <a:gd name="T15" fmla="*/ 162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3" name="Text Box 62"/>
            <p:cNvSpPr txBox="1">
              <a:spLocks noChangeArrowheads="1"/>
            </p:cNvSpPr>
            <p:nvPr/>
          </p:nvSpPr>
          <p:spPr bwMode="auto">
            <a:xfrm rot="1767202">
              <a:off x="1828" y="2204"/>
              <a:ext cx="10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FF3300"/>
                  </a:solidFill>
                  <a:latin typeface="Calibri (Corps)"/>
                </a:rPr>
                <a:t>Buck chopper</a:t>
              </a:r>
            </a:p>
          </p:txBody>
        </p:sp>
      </p:grpSp>
      <p:sp>
        <p:nvSpPr>
          <p:cNvPr id="64" name="ZoneTexte 63"/>
          <p:cNvSpPr txBox="1"/>
          <p:nvPr/>
        </p:nvSpPr>
        <p:spPr>
          <a:xfrm>
            <a:off x="0" y="0"/>
            <a:ext cx="24799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</p:txBody>
      </p:sp>
      <p:cxnSp>
        <p:nvCxnSpPr>
          <p:cNvPr id="65" name="Connecteur droit 6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48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 structure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099561" y="5168757"/>
            <a:ext cx="7825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FF3300"/>
                </a:solidFill>
                <a:latin typeface="Calibri (Corps)"/>
              </a:rPr>
              <a:t>E &gt; 0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9967032" y="5216549"/>
            <a:ext cx="9099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FF3300"/>
                </a:solidFill>
                <a:latin typeface="Calibri (Corps)"/>
              </a:rPr>
              <a:t>V</a:t>
            </a:r>
            <a:r>
              <a:rPr lang="fr-FR" altLang="fr-FR" sz="2400" b="1" baseline="-25000" dirty="0">
                <a:solidFill>
                  <a:srgbClr val="FF3300"/>
                </a:solidFill>
                <a:latin typeface="Calibri (Corps)"/>
              </a:rPr>
              <a:t>S</a:t>
            </a:r>
            <a:r>
              <a:rPr lang="fr-FR" altLang="fr-FR" sz="2400" b="1" dirty="0">
                <a:solidFill>
                  <a:srgbClr val="FF3300"/>
                </a:solidFill>
                <a:latin typeface="Calibri (Corps)"/>
              </a:rPr>
              <a:t> &gt; 0</a:t>
            </a:r>
          </a:p>
        </p:txBody>
      </p:sp>
      <p:sp>
        <p:nvSpPr>
          <p:cNvPr id="13" name="Oval 8"/>
          <p:cNvSpPr>
            <a:spLocks noChangeArrowheads="1"/>
          </p:cNvSpPr>
          <p:nvPr/>
        </p:nvSpPr>
        <p:spPr bwMode="auto">
          <a:xfrm>
            <a:off x="6066920" y="1646162"/>
            <a:ext cx="2135156" cy="3802135"/>
          </a:xfrm>
          <a:prstGeom prst="ellipse">
            <a:avLst/>
          </a:prstGeom>
          <a:noFill/>
          <a:ln w="762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5" name="Connecteur droit 1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CEFDFA76-B075-2623-EF9A-3ED4FDC56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285" y="1458410"/>
            <a:ext cx="9084746" cy="34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0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13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BC90CEB1-4C64-8541-48E7-A29D14C79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635" y="3755636"/>
            <a:ext cx="5448300" cy="20955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9D978EB-9737-5A0E-67AC-DA8A04644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635" y="1417296"/>
            <a:ext cx="5448300" cy="2095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(Corps)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02198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Continuous mode (i</a:t>
            </a:r>
            <a:r>
              <a:rPr lang="en-US" sz="2000" baseline="-25000" dirty="0">
                <a:solidFill>
                  <a:srgbClr val="9E003B"/>
                </a:solidFill>
                <a:latin typeface="Myriad Pro"/>
                <a:cs typeface="Myriad Pro"/>
              </a:rPr>
              <a:t>L</a:t>
            </a: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 &gt; 0)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071950" y="1726382"/>
            <a:ext cx="34629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Calibri (Corps)"/>
              </a:rPr>
              <a:t>0 &lt; t &lt; </a:t>
            </a:r>
            <a:r>
              <a:rPr lang="el-GR" altLang="fr-FR" sz="1800" b="1" dirty="0">
                <a:latin typeface="Calibri (Corps)"/>
              </a:rPr>
              <a:t>α</a:t>
            </a:r>
            <a:r>
              <a:rPr lang="fr-FR" altLang="fr-FR" sz="1800" b="1" dirty="0">
                <a:latin typeface="Calibri (Corps)"/>
              </a:rPr>
              <a:t>T</a:t>
            </a:r>
            <a:r>
              <a:rPr lang="fr-FR" altLang="fr-FR" sz="1800" dirty="0">
                <a:latin typeface="Calibri (Corps)"/>
              </a:rPr>
              <a:t> : T</a:t>
            </a:r>
            <a:r>
              <a:rPr lang="fr-FR" altLang="fr-FR" sz="1800" baseline="-25000" dirty="0">
                <a:latin typeface="Calibri (Corps)"/>
              </a:rPr>
              <a:t>p</a:t>
            </a:r>
            <a:r>
              <a:rPr lang="fr-FR" altLang="fr-FR" sz="1800" dirty="0">
                <a:latin typeface="Calibri (Corps)"/>
              </a:rPr>
              <a:t> </a:t>
            </a:r>
            <a:r>
              <a:rPr lang="fr-FR" altLang="fr-FR" sz="1800" dirty="0" err="1">
                <a:latin typeface="Calibri (Corps)"/>
              </a:rPr>
              <a:t>closed</a:t>
            </a: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 err="1">
                <a:latin typeface="Calibri (Corps)"/>
              </a:rPr>
              <a:t>v</a:t>
            </a:r>
            <a:r>
              <a:rPr lang="fr-FR" altLang="fr-FR" sz="1800" baseline="-25000" dirty="0" err="1">
                <a:latin typeface="Calibri (Corps)"/>
              </a:rPr>
              <a:t>Dp</a:t>
            </a:r>
            <a:r>
              <a:rPr lang="fr-FR" altLang="fr-FR" sz="1800" dirty="0">
                <a:latin typeface="Calibri (Corps)"/>
              </a:rPr>
              <a:t> = -E – V</a:t>
            </a:r>
            <a:r>
              <a:rPr lang="fr-FR" altLang="fr-FR" sz="1800" baseline="-25000" dirty="0">
                <a:latin typeface="Calibri (Corps)"/>
              </a:rPr>
              <a:t>S</a:t>
            </a:r>
            <a:r>
              <a:rPr lang="fr-FR" altLang="fr-FR" sz="1800" dirty="0">
                <a:latin typeface="Calibri (Corps)"/>
              </a:rPr>
              <a:t> =&gt; D</a:t>
            </a:r>
            <a:r>
              <a:rPr lang="fr-FR" altLang="fr-FR" sz="1800" baseline="-25000" dirty="0">
                <a:latin typeface="Calibri (Corps)"/>
              </a:rPr>
              <a:t>p</a:t>
            </a:r>
            <a:r>
              <a:rPr lang="fr-FR" altLang="fr-FR" sz="1800" dirty="0">
                <a:latin typeface="Calibri (Corps)"/>
              </a:rPr>
              <a:t> reverse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 err="1">
                <a:latin typeface="Calibri (Corps)"/>
              </a:rPr>
              <a:t>v</a:t>
            </a:r>
            <a:r>
              <a:rPr lang="fr-FR" altLang="fr-FR" sz="1800" baseline="-25000" dirty="0" err="1">
                <a:latin typeface="Calibri (Corps)"/>
              </a:rPr>
              <a:t>L</a:t>
            </a:r>
            <a:r>
              <a:rPr lang="fr-FR" altLang="fr-FR" sz="1800" dirty="0">
                <a:latin typeface="Calibri (Corps)"/>
              </a:rPr>
              <a:t> = E = </a:t>
            </a:r>
            <a:r>
              <a:rPr lang="fr-FR" altLang="fr-FR" sz="1800" dirty="0" err="1">
                <a:latin typeface="Calibri (Corps)"/>
              </a:rPr>
              <a:t>L.di</a:t>
            </a:r>
            <a:r>
              <a:rPr lang="fr-FR" altLang="fr-FR" sz="1800" baseline="-25000" dirty="0" err="1">
                <a:latin typeface="Calibri (Corps)"/>
              </a:rPr>
              <a:t>L</a:t>
            </a:r>
            <a:r>
              <a:rPr lang="fr-FR" altLang="fr-FR" sz="1800" dirty="0">
                <a:latin typeface="Calibri (Corps)"/>
              </a:rPr>
              <a:t>/</a:t>
            </a:r>
            <a:r>
              <a:rPr lang="fr-FR" altLang="fr-FR" sz="1800" dirty="0" err="1">
                <a:latin typeface="Calibri (Corps)"/>
              </a:rPr>
              <a:t>dt</a:t>
            </a:r>
            <a:r>
              <a:rPr lang="fr-FR" altLang="fr-FR" sz="1800" dirty="0">
                <a:latin typeface="Calibri (Corps)"/>
              </a:rPr>
              <a:t> =&gt; i</a:t>
            </a:r>
            <a:r>
              <a:rPr lang="fr-FR" altLang="fr-FR" sz="1800" baseline="-25000" dirty="0">
                <a:latin typeface="Calibri (Corps)"/>
              </a:rPr>
              <a:t>L</a:t>
            </a:r>
            <a:r>
              <a:rPr lang="fr-FR" altLang="fr-FR" sz="1800" dirty="0">
                <a:latin typeface="Calibri (Corps)"/>
              </a:rPr>
              <a:t> </a:t>
            </a:r>
            <a:r>
              <a:rPr lang="fr-FR" altLang="fr-FR" sz="1800" dirty="0" err="1">
                <a:latin typeface="Calibri (Corps)"/>
              </a:rPr>
              <a:t>increasing</a:t>
            </a:r>
            <a:r>
              <a:rPr lang="fr-FR" altLang="fr-FR" sz="1800" dirty="0">
                <a:latin typeface="Calibri (Corps)"/>
              </a:rPr>
              <a:t> &gt; 0</a:t>
            </a:r>
          </a:p>
        </p:txBody>
      </p:sp>
      <p:sp>
        <p:nvSpPr>
          <p:cNvPr id="8" name="Arc 5"/>
          <p:cNvSpPr>
            <a:spLocks/>
          </p:cNvSpPr>
          <p:nvPr/>
        </p:nvSpPr>
        <p:spPr bwMode="auto">
          <a:xfrm rot="18170017">
            <a:off x="3654784" y="2150462"/>
            <a:ext cx="1154112" cy="1295400"/>
          </a:xfrm>
          <a:custGeom>
            <a:avLst/>
            <a:gdLst>
              <a:gd name="T0" fmla="*/ 2147483646 w 43200"/>
              <a:gd name="T1" fmla="*/ 2147483646 h 43200"/>
              <a:gd name="T2" fmla="*/ 2147483646 w 43200"/>
              <a:gd name="T3" fmla="*/ 2147483646 h 43200"/>
              <a:gd name="T4" fmla="*/ 2147483646 w 43200"/>
              <a:gd name="T5" fmla="*/ 2147483646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12485" y="2017"/>
                </a:moveTo>
                <a:cubicBezTo>
                  <a:pt x="15340" y="688"/>
                  <a:pt x="18450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8485"/>
                  <a:pt x="673" y="15408"/>
                  <a:pt x="1973" y="12578"/>
                </a:cubicBezTo>
              </a:path>
              <a:path w="43200" h="43200" stroke="0" extrusionOk="0">
                <a:moveTo>
                  <a:pt x="12485" y="2017"/>
                </a:moveTo>
                <a:cubicBezTo>
                  <a:pt x="15340" y="688"/>
                  <a:pt x="18450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8485"/>
                  <a:pt x="673" y="15408"/>
                  <a:pt x="1973" y="12578"/>
                </a:cubicBezTo>
                <a:lnTo>
                  <a:pt x="21600" y="21600"/>
                </a:lnTo>
                <a:lnTo>
                  <a:pt x="12485" y="2017"/>
                </a:lnTo>
                <a:close/>
              </a:path>
            </a:pathLst>
          </a:custGeom>
          <a:noFill/>
          <a:ln w="38100">
            <a:solidFill>
              <a:srgbClr val="3366FF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>
              <a:latin typeface="Calibri (Corps)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125521" y="4273042"/>
            <a:ext cx="335585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l-GR" altLang="fr-FR" sz="1800" b="1" dirty="0">
                <a:latin typeface="Calibri (Corps)"/>
              </a:rPr>
              <a:t>α</a:t>
            </a:r>
            <a:r>
              <a:rPr lang="fr-FR" altLang="fr-FR" sz="1800" b="1" dirty="0">
                <a:latin typeface="Calibri (Corps)"/>
              </a:rPr>
              <a:t>T &lt; t &lt; T</a:t>
            </a:r>
            <a:r>
              <a:rPr lang="fr-FR" altLang="fr-FR" sz="1800" dirty="0">
                <a:latin typeface="Calibri (Corps)"/>
              </a:rPr>
              <a:t>: T</a:t>
            </a:r>
            <a:r>
              <a:rPr lang="fr-FR" altLang="fr-FR" sz="1800" baseline="-25000" dirty="0">
                <a:latin typeface="Calibri (Corps)"/>
              </a:rPr>
              <a:t>p</a:t>
            </a:r>
            <a:r>
              <a:rPr lang="fr-FR" altLang="fr-FR" sz="1800" dirty="0">
                <a:latin typeface="Calibri (Corps)"/>
              </a:rPr>
              <a:t> </a:t>
            </a:r>
            <a:r>
              <a:rPr lang="fr-FR" altLang="fr-FR" sz="1800" dirty="0" err="1">
                <a:latin typeface="Calibri (Corps)"/>
              </a:rPr>
              <a:t>opened</a:t>
            </a: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i</a:t>
            </a:r>
            <a:r>
              <a:rPr lang="fr-FR" altLang="fr-FR" sz="1800" baseline="-25000" dirty="0">
                <a:latin typeface="Calibri (Corps)"/>
              </a:rPr>
              <a:t>L</a:t>
            </a:r>
            <a:r>
              <a:rPr lang="fr-FR" altLang="fr-FR" sz="1800" dirty="0">
                <a:latin typeface="Calibri (Corps)"/>
              </a:rPr>
              <a:t> &gt; 0 =&gt; D</a:t>
            </a:r>
            <a:r>
              <a:rPr lang="fr-FR" altLang="fr-FR" sz="1800" baseline="-25000" dirty="0">
                <a:latin typeface="Calibri (Corps)"/>
              </a:rPr>
              <a:t>p</a:t>
            </a:r>
            <a:r>
              <a:rPr lang="fr-FR" altLang="fr-FR" sz="1800" dirty="0">
                <a:latin typeface="Calibri (Corps)"/>
              </a:rPr>
              <a:t> </a:t>
            </a:r>
            <a:r>
              <a:rPr lang="fr-FR" altLang="fr-FR" sz="1800" dirty="0" err="1">
                <a:latin typeface="Calibri (Corps)"/>
              </a:rPr>
              <a:t>forward</a:t>
            </a: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 err="1">
                <a:latin typeface="Calibri (Corps)"/>
              </a:rPr>
              <a:t>v</a:t>
            </a:r>
            <a:r>
              <a:rPr lang="fr-FR" altLang="fr-FR" sz="1800" baseline="-25000" dirty="0" err="1">
                <a:latin typeface="Calibri (Corps)"/>
              </a:rPr>
              <a:t>L</a:t>
            </a:r>
            <a:r>
              <a:rPr lang="fr-FR" altLang="fr-FR" sz="1800" dirty="0">
                <a:latin typeface="Calibri (Corps)"/>
              </a:rPr>
              <a:t> = - V</a:t>
            </a:r>
            <a:r>
              <a:rPr lang="fr-FR" altLang="fr-FR" sz="1800" baseline="-25000" dirty="0">
                <a:latin typeface="Calibri (Corps)"/>
              </a:rPr>
              <a:t>S</a:t>
            </a:r>
            <a:r>
              <a:rPr lang="fr-FR" altLang="fr-FR" sz="1800" dirty="0">
                <a:latin typeface="Calibri (Corps)"/>
              </a:rPr>
              <a:t> = </a:t>
            </a:r>
            <a:r>
              <a:rPr lang="fr-FR" altLang="fr-FR" sz="1800" dirty="0" err="1">
                <a:latin typeface="Calibri (Corps)"/>
              </a:rPr>
              <a:t>L.di</a:t>
            </a:r>
            <a:r>
              <a:rPr lang="fr-FR" altLang="fr-FR" sz="1800" baseline="-25000" dirty="0" err="1">
                <a:latin typeface="Calibri (Corps)"/>
              </a:rPr>
              <a:t>L</a:t>
            </a:r>
            <a:r>
              <a:rPr lang="fr-FR" altLang="fr-FR" sz="1800" dirty="0">
                <a:latin typeface="Calibri (Corps)"/>
              </a:rPr>
              <a:t>/</a:t>
            </a:r>
            <a:r>
              <a:rPr lang="fr-FR" altLang="fr-FR" sz="1800" dirty="0" err="1">
                <a:latin typeface="Calibri (Corps)"/>
              </a:rPr>
              <a:t>dt</a:t>
            </a:r>
            <a:r>
              <a:rPr lang="fr-FR" altLang="fr-FR" sz="1800" dirty="0">
                <a:latin typeface="Calibri (Corps)"/>
              </a:rPr>
              <a:t> =&gt; i</a:t>
            </a:r>
            <a:r>
              <a:rPr lang="fr-FR" altLang="fr-FR" sz="1800" baseline="-25000" dirty="0">
                <a:latin typeface="Calibri (Corps)"/>
              </a:rPr>
              <a:t>L</a:t>
            </a:r>
            <a:r>
              <a:rPr lang="fr-FR" altLang="fr-FR" sz="1800" dirty="0">
                <a:latin typeface="Calibri (Corps)"/>
              </a:rPr>
              <a:t> </a:t>
            </a:r>
            <a:r>
              <a:rPr lang="fr-FR" altLang="fr-FR" sz="1800" dirty="0" err="1">
                <a:latin typeface="Calibri (Corps)"/>
              </a:rPr>
              <a:t>decreasing</a:t>
            </a:r>
            <a:endParaRPr lang="fr-FR" altLang="fr-FR" sz="1800" dirty="0">
              <a:latin typeface="Calibri (Corps)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V="1">
            <a:off x="5772682" y="2112966"/>
            <a:ext cx="66675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5772682" y="2095714"/>
            <a:ext cx="5180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 err="1">
                <a:solidFill>
                  <a:srgbClr val="0033CC"/>
                </a:solidFill>
                <a:latin typeface="Calibri (Corps)"/>
              </a:rPr>
              <a:t>v</a:t>
            </a:r>
            <a:r>
              <a:rPr lang="fr-FR" altLang="fr-FR" sz="1800" b="1" baseline="-25000" dirty="0" err="1">
                <a:solidFill>
                  <a:srgbClr val="0033CC"/>
                </a:solidFill>
                <a:latin typeface="Calibri (Corps)"/>
              </a:rPr>
              <a:t>Dp</a:t>
            </a:r>
            <a:endParaRPr lang="fr-FR" altLang="fr-FR" sz="1800" b="1" baseline="-25000" dirty="0">
              <a:solidFill>
                <a:srgbClr val="0033CC"/>
              </a:solidFill>
              <a:latin typeface="Calibri (Corps)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22" name="Connecteur droit 2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10"/>
          <p:cNvSpPr>
            <a:spLocks/>
          </p:cNvSpPr>
          <p:nvPr/>
        </p:nvSpPr>
        <p:spPr bwMode="auto">
          <a:xfrm rot="16628124">
            <a:off x="5996384" y="4474365"/>
            <a:ext cx="969962" cy="1074682"/>
          </a:xfrm>
          <a:custGeom>
            <a:avLst/>
            <a:gdLst>
              <a:gd name="T0" fmla="*/ 0 w 32454"/>
              <a:gd name="T1" fmla="*/ 0 h 43200"/>
              <a:gd name="T2" fmla="*/ 0 w 32454"/>
              <a:gd name="T3" fmla="*/ 0 h 43200"/>
              <a:gd name="T4" fmla="*/ 0 w 32454"/>
              <a:gd name="T5" fmla="*/ 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2454" h="43200" fill="none" extrusionOk="0">
                <a:moveTo>
                  <a:pt x="1739" y="2017"/>
                </a:moveTo>
                <a:cubicBezTo>
                  <a:pt x="4594" y="688"/>
                  <a:pt x="7704" y="-1"/>
                  <a:pt x="10854" y="0"/>
                </a:cubicBezTo>
                <a:cubicBezTo>
                  <a:pt x="22783" y="0"/>
                  <a:pt x="32454" y="9670"/>
                  <a:pt x="32454" y="21600"/>
                </a:cubicBezTo>
                <a:cubicBezTo>
                  <a:pt x="32454" y="33529"/>
                  <a:pt x="22783" y="43200"/>
                  <a:pt x="10854" y="43200"/>
                </a:cubicBezTo>
                <a:cubicBezTo>
                  <a:pt x="7041" y="43200"/>
                  <a:pt x="3296" y="42190"/>
                  <a:pt x="0" y="40274"/>
                </a:cubicBezTo>
              </a:path>
              <a:path w="32454" h="43200" stroke="0" extrusionOk="0">
                <a:moveTo>
                  <a:pt x="1739" y="2017"/>
                </a:moveTo>
                <a:cubicBezTo>
                  <a:pt x="4594" y="688"/>
                  <a:pt x="7704" y="-1"/>
                  <a:pt x="10854" y="0"/>
                </a:cubicBezTo>
                <a:cubicBezTo>
                  <a:pt x="22783" y="0"/>
                  <a:pt x="32454" y="9670"/>
                  <a:pt x="32454" y="21600"/>
                </a:cubicBezTo>
                <a:cubicBezTo>
                  <a:pt x="32454" y="33529"/>
                  <a:pt x="22783" y="43200"/>
                  <a:pt x="10854" y="43200"/>
                </a:cubicBezTo>
                <a:cubicBezTo>
                  <a:pt x="7041" y="43200"/>
                  <a:pt x="3296" y="42190"/>
                  <a:pt x="0" y="40274"/>
                </a:cubicBezTo>
                <a:lnTo>
                  <a:pt x="10854" y="21600"/>
                </a:lnTo>
                <a:lnTo>
                  <a:pt x="1739" y="2017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>
              <a:latin typeface="Calibri (Corps)"/>
            </a:endParaRPr>
          </a:p>
        </p:txBody>
      </p:sp>
    </p:spTree>
    <p:extLst>
      <p:ext uri="{BB962C8B-B14F-4D97-AF65-F5344CB8AC3E}">
        <p14:creationId xmlns:p14="http://schemas.microsoft.com/office/powerpoint/2010/main" val="354190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880961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Continuous mode (chronograms)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grpSp>
        <p:nvGrpSpPr>
          <p:cNvPr id="12" name="Group 7"/>
          <p:cNvGrpSpPr>
            <a:grpSpLocks/>
          </p:cNvGrpSpPr>
          <p:nvPr/>
        </p:nvGrpSpPr>
        <p:grpSpPr bwMode="auto">
          <a:xfrm>
            <a:off x="7330369" y="5562840"/>
            <a:ext cx="2624138" cy="449263"/>
            <a:chOff x="2852" y="3652"/>
            <a:chExt cx="1653" cy="283"/>
          </a:xfrm>
        </p:grpSpPr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2852" y="3652"/>
              <a:ext cx="890" cy="5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2915" y="3702"/>
              <a:ext cx="76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i="1" dirty="0">
                  <a:solidFill>
                    <a:srgbClr val="0033CC"/>
                  </a:solidFill>
                  <a:latin typeface="Calibri (Corps)"/>
                </a:rPr>
                <a:t>T</a:t>
              </a:r>
              <a:r>
                <a:rPr lang="fr-FR" altLang="fr-FR" sz="1800" b="1" i="1" baseline="-25000" dirty="0">
                  <a:solidFill>
                    <a:srgbClr val="0033CC"/>
                  </a:solidFill>
                  <a:latin typeface="Calibri (Corps)"/>
                </a:rPr>
                <a:t>p</a:t>
              </a:r>
              <a:r>
                <a:rPr lang="fr-FR" altLang="fr-FR" sz="1800" b="1" i="1" dirty="0">
                  <a:solidFill>
                    <a:srgbClr val="0033CC"/>
                  </a:solidFill>
                  <a:latin typeface="Calibri (Corps)"/>
                </a:rPr>
                <a:t> </a:t>
              </a:r>
              <a:r>
                <a:rPr lang="fr-FR" altLang="fr-FR" sz="1800" b="1" i="1" dirty="0" err="1">
                  <a:solidFill>
                    <a:srgbClr val="0033CC"/>
                  </a:solidFill>
                  <a:latin typeface="Calibri (Corps)"/>
                </a:rPr>
                <a:t>closed</a:t>
              </a:r>
              <a:endParaRPr lang="fr-FR" altLang="fr-FR" sz="1800" b="1" i="1" dirty="0">
                <a:solidFill>
                  <a:srgbClr val="0033CC"/>
                </a:solidFill>
                <a:latin typeface="Calibri (Corps)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3742" y="3657"/>
              <a:ext cx="499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 type="triangl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3651" y="3698"/>
              <a:ext cx="8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i="1" dirty="0">
                  <a:solidFill>
                    <a:srgbClr val="FF9900"/>
                  </a:solidFill>
                  <a:latin typeface="Calibri (Corps)"/>
                </a:rPr>
                <a:t>D</a:t>
              </a:r>
              <a:r>
                <a:rPr lang="fr-FR" altLang="fr-FR" sz="1800" b="1" i="1" baseline="-25000" dirty="0">
                  <a:solidFill>
                    <a:srgbClr val="FF9900"/>
                  </a:solidFill>
                  <a:latin typeface="Calibri (Corps)"/>
                </a:rPr>
                <a:t>p</a:t>
              </a:r>
              <a:r>
                <a:rPr lang="fr-FR" altLang="fr-FR" sz="1800" b="1" i="1" dirty="0">
                  <a:solidFill>
                    <a:srgbClr val="FF9900"/>
                  </a:solidFill>
                  <a:latin typeface="Calibri (Corps)"/>
                </a:rPr>
                <a:t> </a:t>
              </a:r>
              <a:r>
                <a:rPr lang="fr-FR" altLang="fr-FR" sz="1800" b="1" i="1" dirty="0" err="1">
                  <a:solidFill>
                    <a:srgbClr val="FF9900"/>
                  </a:solidFill>
                  <a:latin typeface="Calibri (Corps)"/>
                </a:rPr>
                <a:t>forward</a:t>
              </a:r>
              <a:endParaRPr lang="fr-FR" altLang="fr-FR" sz="1800" b="1" i="1" dirty="0">
                <a:solidFill>
                  <a:srgbClr val="FF9900"/>
                </a:solidFill>
                <a:latin typeface="Calibri (Corps)"/>
              </a:endParaRPr>
            </a:p>
          </p:txBody>
        </p:sp>
      </p:grp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4153481" y="3768288"/>
            <a:ext cx="13612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latin typeface="Calibri (Corps)"/>
              </a:rPr>
              <a:t>&lt;v</a:t>
            </a:r>
            <a:r>
              <a:rPr lang="fr-FR" altLang="fr-FR" sz="2400" b="1" baseline="-25000">
                <a:latin typeface="Calibri (Corps)"/>
              </a:rPr>
              <a:t>L</a:t>
            </a:r>
            <a:r>
              <a:rPr lang="fr-FR" altLang="fr-FR" sz="2400" b="1">
                <a:latin typeface="Calibri (Corps)"/>
              </a:rPr>
              <a:t>&gt; = 0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751718" y="4571563"/>
            <a:ext cx="38893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fr-FR" sz="2400" b="1" i="1" dirty="0">
                <a:solidFill>
                  <a:srgbClr val="FF3300"/>
                </a:solidFill>
                <a:latin typeface="Calibri (Corps)"/>
              </a:rPr>
              <a:t>Inductive storage chopper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20" name="Connecteur droit 1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19DDC681-DCDE-39B8-6370-ADC8DB94F921}"/>
              </a:ext>
            </a:extLst>
          </p:cNvPr>
          <p:cNvGrpSpPr/>
          <p:nvPr/>
        </p:nvGrpSpPr>
        <p:grpSpPr>
          <a:xfrm>
            <a:off x="6893381" y="1280032"/>
            <a:ext cx="4899579" cy="4181475"/>
            <a:chOff x="6608789" y="1399738"/>
            <a:chExt cx="4899579" cy="4181475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1093" y="1399738"/>
              <a:ext cx="4867275" cy="418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043191C-4EDB-3B28-0527-7188134AF597}"/>
                </a:ext>
              </a:extLst>
            </p:cNvPr>
            <p:cNvSpPr/>
            <p:nvPr/>
          </p:nvSpPr>
          <p:spPr>
            <a:xfrm>
              <a:off x="6648106" y="1973580"/>
              <a:ext cx="339434" cy="266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9D20EC9-FA70-F3BF-52AE-64E0F3B88FDD}"/>
                </a:ext>
              </a:extLst>
            </p:cNvPr>
            <p:cNvSpPr/>
            <p:nvPr/>
          </p:nvSpPr>
          <p:spPr>
            <a:xfrm>
              <a:off x="6608789" y="3096062"/>
              <a:ext cx="339434" cy="266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743829D4-BE70-5789-6A7F-2714EA60BB25}"/>
                </a:ext>
              </a:extLst>
            </p:cNvPr>
            <p:cNvSpPr txBox="1"/>
            <p:nvPr/>
          </p:nvSpPr>
          <p:spPr>
            <a:xfrm>
              <a:off x="6732179" y="1950334"/>
              <a:ext cx="249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E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194CBEEF-B936-1018-E1DF-8B93F66686F3}"/>
                </a:ext>
              </a:extLst>
            </p:cNvPr>
            <p:cNvSpPr txBox="1"/>
            <p:nvPr/>
          </p:nvSpPr>
          <p:spPr>
            <a:xfrm>
              <a:off x="6616288" y="2950752"/>
              <a:ext cx="516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-V</a:t>
              </a:r>
              <a:r>
                <a:rPr lang="fr-FR" b="1" baseline="-25000" dirty="0"/>
                <a:t>S</a:t>
              </a:r>
            </a:p>
          </p:txBody>
        </p:sp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746A33D4-EAFE-D5AF-07F1-12671B246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928" y="1181650"/>
            <a:ext cx="4586306" cy="176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7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4" y="620209"/>
            <a:ext cx="6644517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Continuous mode (Transfer characteristics)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654" y="1862301"/>
            <a:ext cx="4587875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8"/>
          <p:cNvGrpSpPr>
            <a:grpSpLocks/>
          </p:cNvGrpSpPr>
          <p:nvPr/>
        </p:nvGrpSpPr>
        <p:grpSpPr bwMode="auto">
          <a:xfrm>
            <a:off x="3536629" y="1497176"/>
            <a:ext cx="39687" cy="1198562"/>
            <a:chOff x="1335" y="901"/>
            <a:chExt cx="40" cy="1137"/>
          </a:xfrm>
        </p:grpSpPr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1335" y="901"/>
              <a:ext cx="40" cy="88"/>
            </a:xfrm>
            <a:custGeom>
              <a:avLst/>
              <a:gdLst>
                <a:gd name="T0" fmla="*/ 16 w 40"/>
                <a:gd name="T1" fmla="*/ 0 h 88"/>
                <a:gd name="T2" fmla="*/ 40 w 40"/>
                <a:gd name="T3" fmla="*/ 88 h 88"/>
                <a:gd name="T4" fmla="*/ 16 w 40"/>
                <a:gd name="T5" fmla="*/ 88 h 88"/>
                <a:gd name="T6" fmla="*/ 0 w 40"/>
                <a:gd name="T7" fmla="*/ 88 h 88"/>
                <a:gd name="T8" fmla="*/ 16 w 4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88">
                  <a:moveTo>
                    <a:pt x="16" y="0"/>
                  </a:moveTo>
                  <a:lnTo>
                    <a:pt x="40" y="88"/>
                  </a:lnTo>
                  <a:lnTo>
                    <a:pt x="16" y="88"/>
                  </a:lnTo>
                  <a:lnTo>
                    <a:pt x="0" y="8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351" y="989"/>
              <a:ext cx="1" cy="10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3466779" y="2140113"/>
            <a:ext cx="2830512" cy="50800"/>
            <a:chOff x="1263" y="1510"/>
            <a:chExt cx="2906" cy="48"/>
          </a:xfrm>
        </p:grpSpPr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4081" y="1510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1263" y="1534"/>
              <a:ext cx="281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3552504" y="1927388"/>
            <a:ext cx="889000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441504" y="1927388"/>
            <a:ext cx="1587" cy="719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4441504" y="2646526"/>
            <a:ext cx="4445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V="1">
            <a:off x="4886004" y="1927388"/>
            <a:ext cx="1587" cy="719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4886004" y="1927388"/>
            <a:ext cx="88106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5767066" y="1927388"/>
            <a:ext cx="1588" cy="7191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3349304" y="1811501"/>
            <a:ext cx="1190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203629" y="1962313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4762179" y="2206788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325616" y="2206788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4239891" y="2190913"/>
            <a:ext cx="1127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3450904" y="1886113"/>
            <a:ext cx="635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3576316" y="1430501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3662041" y="1506701"/>
            <a:ext cx="841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L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3260404" y="2529051"/>
            <a:ext cx="177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-E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476304" y="2654463"/>
            <a:ext cx="635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3993829" y="2943388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latin typeface="Times New Roman" panose="02020603050405020304" pitchFamily="18" charset="0"/>
              </a:rPr>
              <a:t>&lt;v</a:t>
            </a:r>
            <a:r>
              <a:rPr lang="fr-FR" altLang="fr-FR" sz="2400" b="1" baseline="-25000">
                <a:latin typeface="Times New Roman" panose="02020603050405020304" pitchFamily="18" charset="0"/>
              </a:rPr>
              <a:t>L</a:t>
            </a:r>
            <a:r>
              <a:rPr lang="fr-FR" altLang="fr-FR" sz="2400" b="1">
                <a:latin typeface="Times New Roman" panose="02020603050405020304" pitchFamily="18" charset="0"/>
              </a:rPr>
              <a:t>&gt; = 0</a:t>
            </a:r>
          </a:p>
        </p:txBody>
      </p:sp>
      <p:grpSp>
        <p:nvGrpSpPr>
          <p:cNvPr id="32" name="Group 36"/>
          <p:cNvGrpSpPr>
            <a:grpSpLocks/>
          </p:cNvGrpSpPr>
          <p:nvPr/>
        </p:nvGrpSpPr>
        <p:grpSpPr bwMode="auto">
          <a:xfrm>
            <a:off x="6873554" y="5246851"/>
            <a:ext cx="2016125" cy="511175"/>
            <a:chOff x="2517" y="3339"/>
            <a:chExt cx="1270" cy="322"/>
          </a:xfrm>
        </p:grpSpPr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2517" y="3339"/>
              <a:ext cx="127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2789" y="3430"/>
              <a:ext cx="7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i="1">
                  <a:solidFill>
                    <a:srgbClr val="FF3300"/>
                  </a:solidFill>
                  <a:latin typeface="Calibri (Corps)"/>
                </a:rPr>
                <a:t>BUCK</a:t>
              </a:r>
            </a:p>
          </p:txBody>
        </p:sp>
      </p:grpSp>
      <p:grpSp>
        <p:nvGrpSpPr>
          <p:cNvPr id="35" name="Group 37"/>
          <p:cNvGrpSpPr>
            <a:grpSpLocks/>
          </p:cNvGrpSpPr>
          <p:nvPr/>
        </p:nvGrpSpPr>
        <p:grpSpPr bwMode="auto">
          <a:xfrm>
            <a:off x="8889679" y="5246851"/>
            <a:ext cx="2016125" cy="511175"/>
            <a:chOff x="3787" y="3339"/>
            <a:chExt cx="1270" cy="322"/>
          </a:xfrm>
        </p:grpSpPr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3787" y="3339"/>
              <a:ext cx="127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4059" y="3430"/>
              <a:ext cx="7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i="1" dirty="0">
                  <a:solidFill>
                    <a:srgbClr val="009900"/>
                  </a:solidFill>
                  <a:latin typeface="Calibri (Corps)"/>
                </a:rPr>
                <a:t>BOOST</a:t>
              </a:r>
            </a:p>
          </p:txBody>
        </p:sp>
      </p:grpSp>
      <p:sp>
        <p:nvSpPr>
          <p:cNvPr id="38" name="ZoneTexte 37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39" name="Connecteur droit 3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7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8FE520A-B1DF-6674-7A38-06D10205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285" y="1638053"/>
            <a:ext cx="4529143" cy="17419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047216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Continuous mode (output filtering)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3275954" y="3873167"/>
            <a:ext cx="2520950" cy="2230437"/>
            <a:chOff x="422" y="2587"/>
            <a:chExt cx="1588" cy="1405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1828" y="3130"/>
              <a:ext cx="182" cy="6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1919" y="3811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>
              <a:off x="785" y="3992"/>
              <a:ext cx="1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V="1">
              <a:off x="1919" y="2904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 flipH="1">
              <a:off x="830" y="2904"/>
              <a:ext cx="10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375" y="2904"/>
              <a:ext cx="0" cy="4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148" y="3403"/>
              <a:ext cx="4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148" y="3493"/>
              <a:ext cx="4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1375" y="3493"/>
              <a:ext cx="0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V="1">
              <a:off x="785" y="2949"/>
              <a:ext cx="0" cy="9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422" y="3357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Calibri (Corps)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Calibri (Corps)"/>
                </a:rPr>
                <a:t>S</a:t>
              </a: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511" y="3539"/>
              <a:ext cx="2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R</a:t>
              </a:r>
              <a:r>
                <a:rPr lang="fr-FR" altLang="fr-FR" sz="1800" baseline="-25000">
                  <a:latin typeface="Calibri (Corps)"/>
                </a:rPr>
                <a:t>S</a:t>
              </a: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1057" y="3625"/>
              <a:ext cx="2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Calibri (Corps)"/>
                </a:rPr>
                <a:t>C</a:t>
              </a:r>
              <a:r>
                <a:rPr lang="fr-FR" altLang="fr-FR" sz="1800" baseline="-25000">
                  <a:latin typeface="Calibri (Corps)"/>
                </a:rPr>
                <a:t>S</a:t>
              </a:r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H="1">
              <a:off x="911" y="2904"/>
              <a:ext cx="10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921" y="2587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FF3300"/>
                  </a:solidFill>
                  <a:latin typeface="Calibri (Corps)"/>
                </a:rPr>
                <a:t>i</a:t>
              </a:r>
              <a:r>
                <a:rPr lang="fr-FR" altLang="fr-FR" sz="1800" b="1" baseline="-25000" dirty="0">
                  <a:solidFill>
                    <a:srgbClr val="FF3300"/>
                  </a:solidFill>
                  <a:latin typeface="Calibri (Corps)"/>
                </a:rPr>
                <a:t>D</a:t>
              </a: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H="1">
              <a:off x="1576" y="2904"/>
              <a:ext cx="121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511" y="2587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latin typeface="Calibri (Corps)"/>
                </a:rPr>
                <a:t>I</a:t>
              </a:r>
              <a:r>
                <a:rPr lang="fr-FR" altLang="fr-FR" sz="1800" b="1" baseline="-25000">
                  <a:latin typeface="Calibri (Corps)"/>
                </a:rPr>
                <a:t>S</a:t>
              </a: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V="1">
              <a:off x="1375" y="3051"/>
              <a:ext cx="0" cy="125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1420" y="3086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009900"/>
                  </a:solidFill>
                  <a:latin typeface="Calibri (Corps)"/>
                </a:rPr>
                <a:t>i</a:t>
              </a:r>
              <a:r>
                <a:rPr lang="fr-FR" altLang="fr-FR" sz="1800" b="1" baseline="-25000">
                  <a:solidFill>
                    <a:srgbClr val="009900"/>
                  </a:solidFill>
                  <a:latin typeface="Calibri (Corps)"/>
                </a:rPr>
                <a:t>C</a:t>
              </a:r>
            </a:p>
          </p:txBody>
        </p:sp>
      </p:grpSp>
      <p:grpSp>
        <p:nvGrpSpPr>
          <p:cNvPr id="28" name="Group 23"/>
          <p:cNvGrpSpPr>
            <a:grpSpLocks/>
          </p:cNvGrpSpPr>
          <p:nvPr/>
        </p:nvGrpSpPr>
        <p:grpSpPr bwMode="auto">
          <a:xfrm>
            <a:off x="6746452" y="4370054"/>
            <a:ext cx="5253037" cy="1871663"/>
            <a:chOff x="2605" y="2614"/>
            <a:chExt cx="3309" cy="1179"/>
          </a:xfrm>
        </p:grpSpPr>
        <p:grpSp>
          <p:nvGrpSpPr>
            <p:cNvPr id="29" name="Group 24"/>
            <p:cNvGrpSpPr>
              <a:grpSpLocks/>
            </p:cNvGrpSpPr>
            <p:nvPr/>
          </p:nvGrpSpPr>
          <p:grpSpPr bwMode="auto">
            <a:xfrm>
              <a:off x="2605" y="2659"/>
              <a:ext cx="3309" cy="1134"/>
              <a:chOff x="2605" y="2659"/>
              <a:chExt cx="3309" cy="1134"/>
            </a:xfrm>
          </p:grpSpPr>
          <p:grpSp>
            <p:nvGrpSpPr>
              <p:cNvPr id="31" name="Group 25"/>
              <p:cNvGrpSpPr>
                <a:grpSpLocks/>
              </p:cNvGrpSpPr>
              <p:nvPr/>
            </p:nvGrpSpPr>
            <p:grpSpPr bwMode="auto">
              <a:xfrm>
                <a:off x="2605" y="3646"/>
                <a:ext cx="2770" cy="56"/>
                <a:chOff x="300" y="5640"/>
                <a:chExt cx="6925" cy="140"/>
              </a:xfrm>
            </p:grpSpPr>
            <p:sp>
              <p:nvSpPr>
                <p:cNvPr id="39" name="Freeform 26"/>
                <p:cNvSpPr>
                  <a:spLocks/>
                </p:cNvSpPr>
                <p:nvPr/>
              </p:nvSpPr>
              <p:spPr bwMode="auto">
                <a:xfrm>
                  <a:off x="6945" y="5640"/>
                  <a:ext cx="280" cy="140"/>
                </a:xfrm>
                <a:custGeom>
                  <a:avLst/>
                  <a:gdLst>
                    <a:gd name="T0" fmla="*/ 280 w 280"/>
                    <a:gd name="T1" fmla="*/ 80 h 140"/>
                    <a:gd name="T2" fmla="*/ 0 w 280"/>
                    <a:gd name="T3" fmla="*/ 140 h 140"/>
                    <a:gd name="T4" fmla="*/ 0 w 280"/>
                    <a:gd name="T5" fmla="*/ 80 h 140"/>
                    <a:gd name="T6" fmla="*/ 0 w 280"/>
                    <a:gd name="T7" fmla="*/ 0 h 140"/>
                    <a:gd name="T8" fmla="*/ 280 w 280"/>
                    <a:gd name="T9" fmla="*/ 8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0" h="140">
                      <a:moveTo>
                        <a:pt x="280" y="80"/>
                      </a:moveTo>
                      <a:lnTo>
                        <a:pt x="0" y="140"/>
                      </a:lnTo>
                      <a:lnTo>
                        <a:pt x="0" y="80"/>
                      </a:lnTo>
                      <a:lnTo>
                        <a:pt x="0" y="0"/>
                      </a:lnTo>
                      <a:lnTo>
                        <a:pt x="28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40" name="Line 27"/>
                <p:cNvSpPr>
                  <a:spLocks noChangeShapeType="1"/>
                </p:cNvSpPr>
                <p:nvPr/>
              </p:nvSpPr>
              <p:spPr bwMode="auto">
                <a:xfrm>
                  <a:off x="300" y="5720"/>
                  <a:ext cx="664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32" name="Line 28"/>
              <p:cNvSpPr>
                <a:spLocks noChangeShapeType="1"/>
              </p:cNvSpPr>
              <p:nvPr/>
            </p:nvSpPr>
            <p:spPr bwMode="auto">
              <a:xfrm flipV="1">
                <a:off x="2699" y="2659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3" name="Line 29"/>
              <p:cNvSpPr>
                <a:spLocks noChangeShapeType="1"/>
              </p:cNvSpPr>
              <p:nvPr/>
            </p:nvSpPr>
            <p:spPr bwMode="auto">
              <a:xfrm>
                <a:off x="2699" y="2886"/>
                <a:ext cx="907" cy="31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4" name="Arc 30"/>
              <p:cNvSpPr>
                <a:spLocks/>
              </p:cNvSpPr>
              <p:nvPr/>
            </p:nvSpPr>
            <p:spPr bwMode="auto">
              <a:xfrm rot="6459284" flipH="1" flipV="1">
                <a:off x="3888" y="2674"/>
                <a:ext cx="418" cy="915"/>
              </a:xfrm>
              <a:custGeom>
                <a:avLst/>
                <a:gdLst>
                  <a:gd name="T0" fmla="*/ 0 w 18662"/>
                  <a:gd name="T1" fmla="*/ 0 h 21600"/>
                  <a:gd name="T2" fmla="*/ 0 w 18662"/>
                  <a:gd name="T3" fmla="*/ 0 h 21600"/>
                  <a:gd name="T4" fmla="*/ 0 w 186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662" h="21600" fill="none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</a:path>
                  <a:path w="18662" h="21600" stroke="0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  <a:lnTo>
                      <a:pt x="2041" y="21600"/>
                    </a:lnTo>
                    <a:lnTo>
                      <a:pt x="-1" y="96"/>
                    </a:lnTo>
                    <a:close/>
                  </a:path>
                </a:pathLst>
              </a:cu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5" name="Line 31"/>
              <p:cNvSpPr>
                <a:spLocks noChangeShapeType="1"/>
              </p:cNvSpPr>
              <p:nvPr/>
            </p:nvSpPr>
            <p:spPr bwMode="auto">
              <a:xfrm>
                <a:off x="2608" y="2886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6" name="Line 32"/>
              <p:cNvSpPr>
                <a:spLocks noChangeShapeType="1"/>
              </p:cNvSpPr>
              <p:nvPr/>
            </p:nvSpPr>
            <p:spPr bwMode="auto">
              <a:xfrm>
                <a:off x="4059" y="2886"/>
                <a:ext cx="907" cy="31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7" name="Arc 33"/>
              <p:cNvSpPr>
                <a:spLocks/>
              </p:cNvSpPr>
              <p:nvPr/>
            </p:nvSpPr>
            <p:spPr bwMode="auto">
              <a:xfrm rot="6459284" flipH="1" flipV="1">
                <a:off x="5248" y="2674"/>
                <a:ext cx="418" cy="915"/>
              </a:xfrm>
              <a:custGeom>
                <a:avLst/>
                <a:gdLst>
                  <a:gd name="T0" fmla="*/ 0 w 18662"/>
                  <a:gd name="T1" fmla="*/ 0 h 21600"/>
                  <a:gd name="T2" fmla="*/ 0 w 18662"/>
                  <a:gd name="T3" fmla="*/ 0 h 21600"/>
                  <a:gd name="T4" fmla="*/ 0 w 186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662" h="21600" fill="none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</a:path>
                  <a:path w="18662" h="21600" stroke="0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  <a:lnTo>
                      <a:pt x="2041" y="21600"/>
                    </a:lnTo>
                    <a:lnTo>
                      <a:pt x="-1" y="96"/>
                    </a:lnTo>
                    <a:close/>
                  </a:path>
                </a:pathLst>
              </a:cu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8" name="Line 34"/>
              <p:cNvSpPr>
                <a:spLocks noChangeShapeType="1"/>
              </p:cNvSpPr>
              <p:nvPr/>
            </p:nvSpPr>
            <p:spPr bwMode="auto">
              <a:xfrm>
                <a:off x="2608" y="3203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2744" y="2614"/>
              <a:ext cx="2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Calibri (Corps)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Calibri (Corps)"/>
                </a:rPr>
                <a:t>S</a:t>
              </a:r>
            </a:p>
          </p:txBody>
        </p:sp>
      </p:grpSp>
      <p:sp>
        <p:nvSpPr>
          <p:cNvPr id="42" name="Line 37"/>
          <p:cNvSpPr>
            <a:spLocks noChangeShapeType="1"/>
          </p:cNvSpPr>
          <p:nvPr/>
        </p:nvSpPr>
        <p:spPr bwMode="auto">
          <a:xfrm flipH="1">
            <a:off x="4924612" y="1927413"/>
            <a:ext cx="160337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4921437" y="1519426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FF3300"/>
                </a:solidFill>
                <a:latin typeface="Calibri (Corps)"/>
              </a:rPr>
              <a:t>i</a:t>
            </a:r>
            <a:r>
              <a:rPr lang="fr-FR" altLang="fr-FR" sz="1800" b="1" baseline="-25000" dirty="0">
                <a:solidFill>
                  <a:srgbClr val="FF3300"/>
                </a:solidFill>
                <a:latin typeface="Calibri (Corps)"/>
              </a:rPr>
              <a:t>D</a:t>
            </a:r>
          </a:p>
        </p:txBody>
      </p:sp>
      <p:grpSp>
        <p:nvGrpSpPr>
          <p:cNvPr id="44" name="Group 39"/>
          <p:cNvGrpSpPr>
            <a:grpSpLocks/>
          </p:cNvGrpSpPr>
          <p:nvPr/>
        </p:nvGrpSpPr>
        <p:grpSpPr bwMode="auto">
          <a:xfrm>
            <a:off x="6751214" y="985504"/>
            <a:ext cx="4397375" cy="1800225"/>
            <a:chOff x="2608" y="548"/>
            <a:chExt cx="2770" cy="1134"/>
          </a:xfrm>
        </p:grpSpPr>
        <p:grpSp>
          <p:nvGrpSpPr>
            <p:cNvPr id="45" name="Group 40"/>
            <p:cNvGrpSpPr>
              <a:grpSpLocks/>
            </p:cNvGrpSpPr>
            <p:nvPr/>
          </p:nvGrpSpPr>
          <p:grpSpPr bwMode="auto">
            <a:xfrm>
              <a:off x="2608" y="1383"/>
              <a:ext cx="2770" cy="56"/>
              <a:chOff x="300" y="5640"/>
              <a:chExt cx="6925" cy="140"/>
            </a:xfrm>
          </p:grpSpPr>
          <p:sp>
            <p:nvSpPr>
              <p:cNvPr id="82" name="Freeform 41"/>
              <p:cNvSpPr>
                <a:spLocks/>
              </p:cNvSpPr>
              <p:nvPr/>
            </p:nvSpPr>
            <p:spPr bwMode="auto">
              <a:xfrm>
                <a:off x="6945" y="5640"/>
                <a:ext cx="280" cy="140"/>
              </a:xfrm>
              <a:custGeom>
                <a:avLst/>
                <a:gdLst>
                  <a:gd name="T0" fmla="*/ 280 w 280"/>
                  <a:gd name="T1" fmla="*/ 80 h 140"/>
                  <a:gd name="T2" fmla="*/ 0 w 280"/>
                  <a:gd name="T3" fmla="*/ 140 h 140"/>
                  <a:gd name="T4" fmla="*/ 0 w 280"/>
                  <a:gd name="T5" fmla="*/ 80 h 140"/>
                  <a:gd name="T6" fmla="*/ 0 w 280"/>
                  <a:gd name="T7" fmla="*/ 0 h 140"/>
                  <a:gd name="T8" fmla="*/ 280 w 280"/>
                  <a:gd name="T9" fmla="*/ 80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0" h="140">
                    <a:moveTo>
                      <a:pt x="280" y="80"/>
                    </a:moveTo>
                    <a:lnTo>
                      <a:pt x="0" y="140"/>
                    </a:lnTo>
                    <a:lnTo>
                      <a:pt x="0" y="80"/>
                    </a:lnTo>
                    <a:lnTo>
                      <a:pt x="0" y="0"/>
                    </a:lnTo>
                    <a:lnTo>
                      <a:pt x="280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83" name="Line 42"/>
              <p:cNvSpPr>
                <a:spLocks noChangeShapeType="1"/>
              </p:cNvSpPr>
              <p:nvPr/>
            </p:nvSpPr>
            <p:spPr bwMode="auto">
              <a:xfrm>
                <a:off x="300" y="5720"/>
                <a:ext cx="6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5346" y="1207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200">
                  <a:solidFill>
                    <a:srgbClr val="000000"/>
                  </a:solidFill>
                  <a:latin typeface="Calibri (Corps)"/>
                </a:rPr>
                <a:t>t</a:t>
              </a:r>
              <a:endParaRPr lang="fr-FR" altLang="fr-FR" sz="1800">
                <a:latin typeface="Calibri (Corps)"/>
              </a:endParaRPr>
            </a:p>
          </p:txBody>
        </p:sp>
        <p:grpSp>
          <p:nvGrpSpPr>
            <p:cNvPr id="47" name="Group 44"/>
            <p:cNvGrpSpPr>
              <a:grpSpLocks/>
            </p:cNvGrpSpPr>
            <p:nvPr/>
          </p:nvGrpSpPr>
          <p:grpSpPr bwMode="auto">
            <a:xfrm>
              <a:off x="2632" y="911"/>
              <a:ext cx="2658" cy="0"/>
              <a:chOff x="360" y="4460"/>
              <a:chExt cx="6645" cy="1"/>
            </a:xfrm>
          </p:grpSpPr>
          <p:sp>
            <p:nvSpPr>
              <p:cNvPr id="63" name="Line 45"/>
              <p:cNvSpPr>
                <a:spLocks noChangeShapeType="1"/>
              </p:cNvSpPr>
              <p:nvPr/>
            </p:nvSpPr>
            <p:spPr bwMode="auto">
              <a:xfrm>
                <a:off x="360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4" name="Line 46"/>
              <p:cNvSpPr>
                <a:spLocks noChangeShapeType="1"/>
              </p:cNvSpPr>
              <p:nvPr/>
            </p:nvSpPr>
            <p:spPr bwMode="auto">
              <a:xfrm>
                <a:off x="720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5" name="Line 47"/>
              <p:cNvSpPr>
                <a:spLocks noChangeShapeType="1"/>
              </p:cNvSpPr>
              <p:nvPr/>
            </p:nvSpPr>
            <p:spPr bwMode="auto">
              <a:xfrm>
                <a:off x="108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6" name="Line 48"/>
              <p:cNvSpPr>
                <a:spLocks noChangeShapeType="1"/>
              </p:cNvSpPr>
              <p:nvPr/>
            </p:nvSpPr>
            <p:spPr bwMode="auto">
              <a:xfrm>
                <a:off x="144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7" name="Line 49"/>
              <p:cNvSpPr>
                <a:spLocks noChangeShapeType="1"/>
              </p:cNvSpPr>
              <p:nvPr/>
            </p:nvSpPr>
            <p:spPr bwMode="auto">
              <a:xfrm>
                <a:off x="1801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8" name="Line 50"/>
              <p:cNvSpPr>
                <a:spLocks noChangeShapeType="1"/>
              </p:cNvSpPr>
              <p:nvPr/>
            </p:nvSpPr>
            <p:spPr bwMode="auto">
              <a:xfrm>
                <a:off x="2161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9" name="Line 51"/>
              <p:cNvSpPr>
                <a:spLocks noChangeShapeType="1"/>
              </p:cNvSpPr>
              <p:nvPr/>
            </p:nvSpPr>
            <p:spPr bwMode="auto">
              <a:xfrm>
                <a:off x="252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0" name="Line 52"/>
              <p:cNvSpPr>
                <a:spLocks noChangeShapeType="1"/>
              </p:cNvSpPr>
              <p:nvPr/>
            </p:nvSpPr>
            <p:spPr bwMode="auto">
              <a:xfrm>
                <a:off x="288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1" name="Line 53"/>
              <p:cNvSpPr>
                <a:spLocks noChangeShapeType="1"/>
              </p:cNvSpPr>
              <p:nvPr/>
            </p:nvSpPr>
            <p:spPr bwMode="auto">
              <a:xfrm>
                <a:off x="3242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2" name="Line 54"/>
              <p:cNvSpPr>
                <a:spLocks noChangeShapeType="1"/>
              </p:cNvSpPr>
              <p:nvPr/>
            </p:nvSpPr>
            <p:spPr bwMode="auto">
              <a:xfrm>
                <a:off x="3602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3" name="Line 55"/>
              <p:cNvSpPr>
                <a:spLocks noChangeShapeType="1"/>
              </p:cNvSpPr>
              <p:nvPr/>
            </p:nvSpPr>
            <p:spPr bwMode="auto">
              <a:xfrm>
                <a:off x="396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4" name="Line 56"/>
              <p:cNvSpPr>
                <a:spLocks noChangeShapeType="1"/>
              </p:cNvSpPr>
              <p:nvPr/>
            </p:nvSpPr>
            <p:spPr bwMode="auto">
              <a:xfrm>
                <a:off x="432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5" name="Line 57"/>
              <p:cNvSpPr>
                <a:spLocks noChangeShapeType="1"/>
              </p:cNvSpPr>
              <p:nvPr/>
            </p:nvSpPr>
            <p:spPr bwMode="auto">
              <a:xfrm>
                <a:off x="4683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6" name="Line 58"/>
              <p:cNvSpPr>
                <a:spLocks noChangeShapeType="1"/>
              </p:cNvSpPr>
              <p:nvPr/>
            </p:nvSpPr>
            <p:spPr bwMode="auto">
              <a:xfrm>
                <a:off x="5043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7" name="Line 59"/>
              <p:cNvSpPr>
                <a:spLocks noChangeShapeType="1"/>
              </p:cNvSpPr>
              <p:nvPr/>
            </p:nvSpPr>
            <p:spPr bwMode="auto">
              <a:xfrm>
                <a:off x="540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8" name="Line 60"/>
              <p:cNvSpPr>
                <a:spLocks noChangeShapeType="1"/>
              </p:cNvSpPr>
              <p:nvPr/>
            </p:nvSpPr>
            <p:spPr bwMode="auto">
              <a:xfrm>
                <a:off x="576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79" name="Line 61"/>
              <p:cNvSpPr>
                <a:spLocks noChangeShapeType="1"/>
              </p:cNvSpPr>
              <p:nvPr/>
            </p:nvSpPr>
            <p:spPr bwMode="auto">
              <a:xfrm>
                <a:off x="6124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80" name="Line 62"/>
              <p:cNvSpPr>
                <a:spLocks noChangeShapeType="1"/>
              </p:cNvSpPr>
              <p:nvPr/>
            </p:nvSpPr>
            <p:spPr bwMode="auto">
              <a:xfrm>
                <a:off x="6484" y="4460"/>
                <a:ext cx="161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81" name="Line 63"/>
              <p:cNvSpPr>
                <a:spLocks noChangeShapeType="1"/>
              </p:cNvSpPr>
              <p:nvPr/>
            </p:nvSpPr>
            <p:spPr bwMode="auto">
              <a:xfrm>
                <a:off x="6845" y="4460"/>
                <a:ext cx="160" cy="1"/>
              </a:xfrm>
              <a:prstGeom prst="line">
                <a:avLst/>
              </a:prstGeom>
              <a:noFill/>
              <a:ln w="25400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48" name="Line 64"/>
            <p:cNvSpPr>
              <a:spLocks noChangeShapeType="1"/>
            </p:cNvSpPr>
            <p:nvPr/>
          </p:nvSpPr>
          <p:spPr bwMode="auto">
            <a:xfrm flipV="1">
              <a:off x="2680" y="775"/>
              <a:ext cx="905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9" name="Line 65"/>
            <p:cNvSpPr>
              <a:spLocks noChangeShapeType="1"/>
            </p:cNvSpPr>
            <p:nvPr/>
          </p:nvSpPr>
          <p:spPr bwMode="auto">
            <a:xfrm>
              <a:off x="3585" y="775"/>
              <a:ext cx="456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0" name="Line 66"/>
            <p:cNvSpPr>
              <a:spLocks noChangeShapeType="1"/>
            </p:cNvSpPr>
            <p:nvPr/>
          </p:nvSpPr>
          <p:spPr bwMode="auto">
            <a:xfrm flipV="1">
              <a:off x="4041" y="775"/>
              <a:ext cx="905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1" name="Line 67"/>
            <p:cNvSpPr>
              <a:spLocks noChangeShapeType="1"/>
            </p:cNvSpPr>
            <p:nvPr/>
          </p:nvSpPr>
          <p:spPr bwMode="auto">
            <a:xfrm>
              <a:off x="4946" y="775"/>
              <a:ext cx="320" cy="1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2" name="Line 68"/>
            <p:cNvSpPr>
              <a:spLocks noChangeShapeType="1"/>
            </p:cNvSpPr>
            <p:nvPr/>
          </p:nvSpPr>
          <p:spPr bwMode="auto">
            <a:xfrm flipV="1">
              <a:off x="2702" y="548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grpSp>
          <p:nvGrpSpPr>
            <p:cNvPr id="53" name="Group 69"/>
            <p:cNvGrpSpPr>
              <a:grpSpLocks/>
            </p:cNvGrpSpPr>
            <p:nvPr/>
          </p:nvGrpSpPr>
          <p:grpSpPr bwMode="auto">
            <a:xfrm>
              <a:off x="2699" y="775"/>
              <a:ext cx="2588" cy="635"/>
              <a:chOff x="2290" y="1298"/>
              <a:chExt cx="2588" cy="635"/>
            </a:xfrm>
          </p:grpSpPr>
          <p:sp>
            <p:nvSpPr>
              <p:cNvPr id="56" name="Line 70"/>
              <p:cNvSpPr>
                <a:spLocks noChangeShapeType="1"/>
              </p:cNvSpPr>
              <p:nvPr/>
            </p:nvSpPr>
            <p:spPr bwMode="auto">
              <a:xfrm>
                <a:off x="3195" y="1298"/>
                <a:ext cx="456" cy="27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57" name="Line 71"/>
              <p:cNvSpPr>
                <a:spLocks noChangeShapeType="1"/>
              </p:cNvSpPr>
              <p:nvPr/>
            </p:nvSpPr>
            <p:spPr bwMode="auto">
              <a:xfrm>
                <a:off x="4558" y="1298"/>
                <a:ext cx="320" cy="18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58" name="Line 72"/>
              <p:cNvSpPr>
                <a:spLocks noChangeShapeType="1"/>
              </p:cNvSpPr>
              <p:nvPr/>
            </p:nvSpPr>
            <p:spPr bwMode="auto">
              <a:xfrm>
                <a:off x="2290" y="1933"/>
                <a:ext cx="908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59" name="Line 73"/>
              <p:cNvSpPr>
                <a:spLocks noChangeShapeType="1"/>
              </p:cNvSpPr>
              <p:nvPr/>
            </p:nvSpPr>
            <p:spPr bwMode="auto">
              <a:xfrm flipV="1">
                <a:off x="3198" y="1298"/>
                <a:ext cx="0" cy="635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0" name="Line 74"/>
              <p:cNvSpPr>
                <a:spLocks noChangeShapeType="1"/>
              </p:cNvSpPr>
              <p:nvPr/>
            </p:nvSpPr>
            <p:spPr bwMode="auto">
              <a:xfrm>
                <a:off x="3651" y="1570"/>
                <a:ext cx="0" cy="36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1" name="Line 75"/>
              <p:cNvSpPr>
                <a:spLocks noChangeShapeType="1"/>
              </p:cNvSpPr>
              <p:nvPr/>
            </p:nvSpPr>
            <p:spPr bwMode="auto">
              <a:xfrm>
                <a:off x="3651" y="1933"/>
                <a:ext cx="907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62" name="Line 76"/>
              <p:cNvSpPr>
                <a:spLocks noChangeShapeType="1"/>
              </p:cNvSpPr>
              <p:nvPr/>
            </p:nvSpPr>
            <p:spPr bwMode="auto">
              <a:xfrm flipV="1">
                <a:off x="4558" y="1298"/>
                <a:ext cx="0" cy="635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54" name="Text Box 77"/>
            <p:cNvSpPr txBox="1">
              <a:spLocks noChangeArrowheads="1"/>
            </p:cNvSpPr>
            <p:nvPr/>
          </p:nvSpPr>
          <p:spPr bwMode="auto">
            <a:xfrm>
              <a:off x="3051" y="629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latin typeface="Calibri (Corps)"/>
                </a:rPr>
                <a:t>i</a:t>
              </a:r>
              <a:r>
                <a:rPr lang="fr-FR" altLang="fr-FR" sz="1800" b="1" baseline="-25000" dirty="0">
                  <a:latin typeface="Calibri (Corps)"/>
                </a:rPr>
                <a:t>L</a:t>
              </a:r>
            </a:p>
          </p:txBody>
        </p:sp>
        <p:sp>
          <p:nvSpPr>
            <p:cNvPr id="55" name="Text Box 78"/>
            <p:cNvSpPr txBox="1">
              <a:spLocks noChangeArrowheads="1"/>
            </p:cNvSpPr>
            <p:nvPr/>
          </p:nvSpPr>
          <p:spPr bwMode="auto">
            <a:xfrm>
              <a:off x="3317" y="1077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FF3300"/>
                  </a:solidFill>
                  <a:latin typeface="Calibri (Corps)"/>
                </a:rPr>
                <a:t>i</a:t>
              </a:r>
              <a:r>
                <a:rPr lang="fr-FR" altLang="fr-FR" sz="1800" b="1" baseline="-25000" dirty="0">
                  <a:solidFill>
                    <a:srgbClr val="FF3300"/>
                  </a:solidFill>
                  <a:latin typeface="Calibri (Corps)"/>
                </a:rPr>
                <a:t>D</a:t>
              </a:r>
            </a:p>
          </p:txBody>
        </p:sp>
      </p:grpSp>
      <p:grpSp>
        <p:nvGrpSpPr>
          <p:cNvPr id="84" name="Group 79"/>
          <p:cNvGrpSpPr>
            <a:grpSpLocks/>
          </p:cNvGrpSpPr>
          <p:nvPr/>
        </p:nvGrpSpPr>
        <p:grpSpPr bwMode="auto">
          <a:xfrm>
            <a:off x="6746452" y="1345867"/>
            <a:ext cx="4397375" cy="4608512"/>
            <a:chOff x="2605" y="775"/>
            <a:chExt cx="2770" cy="2903"/>
          </a:xfrm>
        </p:grpSpPr>
        <p:sp>
          <p:nvSpPr>
            <p:cNvPr id="85" name="Line 80"/>
            <p:cNvSpPr>
              <a:spLocks noChangeShapeType="1"/>
            </p:cNvSpPr>
            <p:nvPr/>
          </p:nvSpPr>
          <p:spPr bwMode="auto">
            <a:xfrm>
              <a:off x="3606" y="775"/>
              <a:ext cx="0" cy="29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6" name="Line 81"/>
            <p:cNvSpPr>
              <a:spLocks noChangeShapeType="1"/>
            </p:cNvSpPr>
            <p:nvPr/>
          </p:nvSpPr>
          <p:spPr bwMode="auto">
            <a:xfrm>
              <a:off x="4059" y="820"/>
              <a:ext cx="0" cy="28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grpSp>
          <p:nvGrpSpPr>
            <p:cNvPr id="87" name="Group 82"/>
            <p:cNvGrpSpPr>
              <a:grpSpLocks/>
            </p:cNvGrpSpPr>
            <p:nvPr/>
          </p:nvGrpSpPr>
          <p:grpSpPr bwMode="auto">
            <a:xfrm>
              <a:off x="2605" y="1727"/>
              <a:ext cx="2770" cy="907"/>
              <a:chOff x="2605" y="1661"/>
              <a:chExt cx="2770" cy="907"/>
            </a:xfrm>
          </p:grpSpPr>
          <p:grpSp>
            <p:nvGrpSpPr>
              <p:cNvPr id="89" name="Group 83"/>
              <p:cNvGrpSpPr>
                <a:grpSpLocks/>
              </p:cNvGrpSpPr>
              <p:nvPr/>
            </p:nvGrpSpPr>
            <p:grpSpPr bwMode="auto">
              <a:xfrm>
                <a:off x="2605" y="1706"/>
                <a:ext cx="2770" cy="862"/>
                <a:chOff x="2605" y="1706"/>
                <a:chExt cx="2770" cy="862"/>
              </a:xfrm>
            </p:grpSpPr>
            <p:grpSp>
              <p:nvGrpSpPr>
                <p:cNvPr id="91" name="Group 84"/>
                <p:cNvGrpSpPr>
                  <a:grpSpLocks/>
                </p:cNvGrpSpPr>
                <p:nvPr/>
              </p:nvGrpSpPr>
              <p:grpSpPr bwMode="auto">
                <a:xfrm>
                  <a:off x="2605" y="2269"/>
                  <a:ext cx="2770" cy="56"/>
                  <a:chOff x="300" y="5640"/>
                  <a:chExt cx="6925" cy="140"/>
                </a:xfrm>
              </p:grpSpPr>
              <p:sp>
                <p:nvSpPr>
                  <p:cNvPr id="101" name="Freeform 85"/>
                  <p:cNvSpPr>
                    <a:spLocks/>
                  </p:cNvSpPr>
                  <p:nvPr/>
                </p:nvSpPr>
                <p:spPr bwMode="auto">
                  <a:xfrm>
                    <a:off x="6945" y="5640"/>
                    <a:ext cx="280" cy="140"/>
                  </a:xfrm>
                  <a:custGeom>
                    <a:avLst/>
                    <a:gdLst>
                      <a:gd name="T0" fmla="*/ 280 w 280"/>
                      <a:gd name="T1" fmla="*/ 80 h 140"/>
                      <a:gd name="T2" fmla="*/ 0 w 280"/>
                      <a:gd name="T3" fmla="*/ 140 h 140"/>
                      <a:gd name="T4" fmla="*/ 0 w 280"/>
                      <a:gd name="T5" fmla="*/ 80 h 140"/>
                      <a:gd name="T6" fmla="*/ 0 w 280"/>
                      <a:gd name="T7" fmla="*/ 0 h 140"/>
                      <a:gd name="T8" fmla="*/ 280 w 280"/>
                      <a:gd name="T9" fmla="*/ 80 h 1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80" h="140">
                        <a:moveTo>
                          <a:pt x="280" y="80"/>
                        </a:moveTo>
                        <a:lnTo>
                          <a:pt x="0" y="140"/>
                        </a:lnTo>
                        <a:lnTo>
                          <a:pt x="0" y="80"/>
                        </a:lnTo>
                        <a:lnTo>
                          <a:pt x="0" y="0"/>
                        </a:lnTo>
                        <a:lnTo>
                          <a:pt x="280" y="8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  <p:sp>
                <p:nvSpPr>
                  <p:cNvPr id="102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300" y="5720"/>
                    <a:ext cx="6645" cy="1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</p:grpSp>
            <p:sp>
              <p:nvSpPr>
                <p:cNvPr id="92" name="Line 87"/>
                <p:cNvSpPr>
                  <a:spLocks noChangeShapeType="1"/>
                </p:cNvSpPr>
                <p:nvPr/>
              </p:nvSpPr>
              <p:spPr bwMode="auto">
                <a:xfrm flipV="1">
                  <a:off x="2699" y="1706"/>
                  <a:ext cx="0" cy="8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grpSp>
              <p:nvGrpSpPr>
                <p:cNvPr id="93" name="Group 88"/>
                <p:cNvGrpSpPr>
                  <a:grpSpLocks/>
                </p:cNvGrpSpPr>
                <p:nvPr/>
              </p:nvGrpSpPr>
              <p:grpSpPr bwMode="auto">
                <a:xfrm>
                  <a:off x="2699" y="1797"/>
                  <a:ext cx="2588" cy="635"/>
                  <a:chOff x="2290" y="1298"/>
                  <a:chExt cx="2588" cy="635"/>
                </a:xfrm>
              </p:grpSpPr>
              <p:sp>
                <p:nvSpPr>
                  <p:cNvPr id="94" name="Line 89"/>
                  <p:cNvSpPr>
                    <a:spLocks noChangeShapeType="1"/>
                  </p:cNvSpPr>
                  <p:nvPr/>
                </p:nvSpPr>
                <p:spPr bwMode="auto">
                  <a:xfrm>
                    <a:off x="3195" y="1298"/>
                    <a:ext cx="456" cy="272"/>
                  </a:xfrm>
                  <a:prstGeom prst="line">
                    <a:avLst/>
                  </a:prstGeom>
                  <a:noFill/>
                  <a:ln w="28575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  <p:sp>
                <p:nvSpPr>
                  <p:cNvPr id="95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4558" y="1298"/>
                    <a:ext cx="320" cy="184"/>
                  </a:xfrm>
                  <a:prstGeom prst="line">
                    <a:avLst/>
                  </a:prstGeom>
                  <a:noFill/>
                  <a:ln w="28575">
                    <a:solidFill>
                      <a:srgbClr val="00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  <p:sp>
                <p:nvSpPr>
                  <p:cNvPr id="96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2290" y="1933"/>
                    <a:ext cx="908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99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  <p:sp>
                <p:nvSpPr>
                  <p:cNvPr id="97" name="Line 9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98" y="1298"/>
                    <a:ext cx="0" cy="635"/>
                  </a:xfrm>
                  <a:prstGeom prst="line">
                    <a:avLst/>
                  </a:prstGeom>
                  <a:noFill/>
                  <a:ln w="28575">
                    <a:solidFill>
                      <a:srgbClr val="0099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  <p:sp>
                <p:nvSpPr>
                  <p:cNvPr id="98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570"/>
                    <a:ext cx="0" cy="363"/>
                  </a:xfrm>
                  <a:prstGeom prst="line">
                    <a:avLst/>
                  </a:prstGeom>
                  <a:noFill/>
                  <a:ln w="28575">
                    <a:solidFill>
                      <a:srgbClr val="0099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  <p:sp>
                <p:nvSpPr>
                  <p:cNvPr id="99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933"/>
                    <a:ext cx="907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99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  <p:sp>
                <p:nvSpPr>
                  <p:cNvPr id="100" name="Line 9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558" y="1298"/>
                    <a:ext cx="0" cy="635"/>
                  </a:xfrm>
                  <a:prstGeom prst="line">
                    <a:avLst/>
                  </a:prstGeom>
                  <a:noFill/>
                  <a:ln w="28575">
                    <a:solidFill>
                      <a:srgbClr val="0099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fr-FR">
                      <a:latin typeface="Calibri (Corps)"/>
                    </a:endParaRPr>
                  </a:p>
                </p:txBody>
              </p:sp>
            </p:grpSp>
          </p:grpSp>
          <p:sp>
            <p:nvSpPr>
              <p:cNvPr id="90" name="Text Box 96"/>
              <p:cNvSpPr txBox="1">
                <a:spLocks noChangeArrowheads="1"/>
              </p:cNvSpPr>
              <p:nvPr/>
            </p:nvSpPr>
            <p:spPr bwMode="auto">
              <a:xfrm>
                <a:off x="2744" y="1661"/>
                <a:ext cx="2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009900"/>
                    </a:solidFill>
                    <a:latin typeface="Calibri (Corps)"/>
                  </a:rPr>
                  <a:t>i</a:t>
                </a:r>
                <a:r>
                  <a:rPr lang="fr-FR" altLang="fr-FR" sz="1800" b="1" baseline="-25000">
                    <a:solidFill>
                      <a:srgbClr val="009900"/>
                    </a:solidFill>
                    <a:latin typeface="Calibri (Corps)"/>
                  </a:rPr>
                  <a:t>C</a:t>
                </a:r>
              </a:p>
            </p:txBody>
          </p:sp>
        </p:grpSp>
        <p:sp>
          <p:nvSpPr>
            <p:cNvPr id="88" name="Text Box 97"/>
            <p:cNvSpPr txBox="1">
              <a:spLocks noChangeArrowheads="1"/>
            </p:cNvSpPr>
            <p:nvPr/>
          </p:nvSpPr>
          <p:spPr bwMode="auto">
            <a:xfrm>
              <a:off x="3254" y="1968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>
                  <a:solidFill>
                    <a:srgbClr val="009900"/>
                  </a:solidFill>
                  <a:latin typeface="Calibri (Corps)"/>
                </a:rPr>
                <a:t>i</a:t>
              </a:r>
              <a:r>
                <a:rPr lang="fr-FR" altLang="fr-FR" sz="1800" b="1" baseline="-25000">
                  <a:solidFill>
                    <a:srgbClr val="009900"/>
                  </a:solidFill>
                  <a:latin typeface="Calibri (Corps)"/>
                </a:rPr>
                <a:t>C</a:t>
              </a:r>
            </a:p>
          </p:txBody>
        </p:sp>
      </p:grpSp>
      <p:sp>
        <p:nvSpPr>
          <p:cNvPr id="104" name="ZoneTexte 103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05" name="Connecteur droit 10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20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75627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Continuous mode (Output filtering)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2726055" y="5589151"/>
            <a:ext cx="792162" cy="504825"/>
          </a:xfrm>
          <a:prstGeom prst="notchedRightArrow">
            <a:avLst>
              <a:gd name="adj1" fmla="val 50000"/>
              <a:gd name="adj2" fmla="val 3923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/>
              <p:cNvSpPr txBox="1"/>
              <p:nvPr/>
            </p:nvSpPr>
            <p:spPr bwMode="auto">
              <a:xfrm>
                <a:off x="2610318" y="1370229"/>
                <a:ext cx="4378249" cy="908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fr-F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nary>
                        <m:naryPr>
                          <m:limLoc m:val="undOvr"/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).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0318" y="1370229"/>
                <a:ext cx="4378249" cy="908050"/>
              </a:xfrm>
              <a:prstGeom prst="rect">
                <a:avLst/>
              </a:prstGeom>
              <a:blipFill>
                <a:blip r:embed="rId2"/>
                <a:stretch>
                  <a:fillRect b="-26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3783454" y="2818822"/>
                <a:ext cx="3096262" cy="804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3454" y="2818822"/>
                <a:ext cx="3096262" cy="804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2800354" y="3002972"/>
            <a:ext cx="3776663" cy="2214563"/>
            <a:chOff x="612" y="1752"/>
            <a:chExt cx="2379" cy="1395"/>
          </a:xfrm>
        </p:grpSpPr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612" y="1752"/>
              <a:ext cx="499" cy="1225"/>
            </a:xfrm>
            <a:prstGeom prst="curvedRightArrow">
              <a:avLst>
                <a:gd name="adj1" fmla="val 26652"/>
                <a:gd name="adj2" fmla="val 75750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240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3"/>
                <p:cNvSpPr txBox="1"/>
                <p:nvPr/>
              </p:nvSpPr>
              <p:spPr bwMode="auto">
                <a:xfrm>
                  <a:off x="1313" y="2451"/>
                  <a:ext cx="1678" cy="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fr-FR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fr-FR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fr-F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fr-FR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fr-F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den>
                        </m:f>
                        <m:r>
                          <a:rPr lang="fr-F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f>
                          <m:fPr>
                            <m:ctrlPr>
                              <a:rPr lang="fr-F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fr-F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fr-F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14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13" y="2451"/>
                  <a:ext cx="1678" cy="69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Line 35"/>
          <p:cNvSpPr>
            <a:spLocks noChangeShapeType="1"/>
          </p:cNvSpPr>
          <p:nvPr/>
        </p:nvSpPr>
        <p:spPr bwMode="auto">
          <a:xfrm>
            <a:off x="9140681" y="2795919"/>
            <a:ext cx="0" cy="11588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Rectangle 36"/>
          <p:cNvSpPr>
            <a:spLocks noChangeArrowheads="1"/>
          </p:cNvSpPr>
          <p:nvPr/>
        </p:nvSpPr>
        <p:spPr bwMode="auto">
          <a:xfrm>
            <a:off x="9127981" y="4005594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8" name="Rectangle 37"/>
          <p:cNvSpPr>
            <a:spLocks noChangeArrowheads="1"/>
          </p:cNvSpPr>
          <p:nvPr/>
        </p:nvSpPr>
        <p:spPr bwMode="auto">
          <a:xfrm>
            <a:off x="9042256" y="3989719"/>
            <a:ext cx="1127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pic>
        <p:nvPicPr>
          <p:cNvPr id="19" name="Picture 126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82" y="4634576"/>
            <a:ext cx="4523285" cy="138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27"/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80"/>
          <a:stretch/>
        </p:blipFill>
        <p:spPr bwMode="auto">
          <a:xfrm>
            <a:off x="10521374" y="724601"/>
            <a:ext cx="1440367" cy="17799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ZoneTexte 20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22" name="Connecteur droit 2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 29">
            <a:extLst>
              <a:ext uri="{FF2B5EF4-FFF2-40B4-BE49-F238E27FC236}">
                <a16:creationId xmlns:a16="http://schemas.microsoft.com/office/drawing/2014/main" id="{D8C295E6-3660-7FAF-2F10-FA5B62797B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910" y="867210"/>
            <a:ext cx="3746790" cy="1609949"/>
          </a:xfrm>
          <a:prstGeom prst="rect">
            <a:avLst/>
          </a:prstGeom>
        </p:spPr>
      </p:pic>
      <p:grpSp>
        <p:nvGrpSpPr>
          <p:cNvPr id="31" name="Group 23">
            <a:extLst>
              <a:ext uri="{FF2B5EF4-FFF2-40B4-BE49-F238E27FC236}">
                <a16:creationId xmlns:a16="http://schemas.microsoft.com/office/drawing/2014/main" id="{B8C4866E-F6D3-CC2E-DCBB-0AA35070213E}"/>
              </a:ext>
            </a:extLst>
          </p:cNvPr>
          <p:cNvGrpSpPr>
            <a:grpSpLocks/>
          </p:cNvGrpSpPr>
          <p:nvPr/>
        </p:nvGrpSpPr>
        <p:grpSpPr bwMode="auto">
          <a:xfrm>
            <a:off x="7568763" y="2617603"/>
            <a:ext cx="5253037" cy="1871663"/>
            <a:chOff x="2605" y="2614"/>
            <a:chExt cx="3309" cy="1179"/>
          </a:xfrm>
        </p:grpSpPr>
        <p:grpSp>
          <p:nvGrpSpPr>
            <p:cNvPr id="32" name="Group 24">
              <a:extLst>
                <a:ext uri="{FF2B5EF4-FFF2-40B4-BE49-F238E27FC236}">
                  <a16:creationId xmlns:a16="http://schemas.microsoft.com/office/drawing/2014/main" id="{57B52F1B-6D57-8351-B5E8-01EA4247E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5" y="2659"/>
              <a:ext cx="3309" cy="1134"/>
              <a:chOff x="2605" y="2659"/>
              <a:chExt cx="3309" cy="1134"/>
            </a:xfrm>
          </p:grpSpPr>
          <p:grpSp>
            <p:nvGrpSpPr>
              <p:cNvPr id="34" name="Group 25">
                <a:extLst>
                  <a:ext uri="{FF2B5EF4-FFF2-40B4-BE49-F238E27FC236}">
                    <a16:creationId xmlns:a16="http://schemas.microsoft.com/office/drawing/2014/main" id="{4D50A749-ECE8-54AA-6028-56D59B609C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5" y="3646"/>
                <a:ext cx="2770" cy="56"/>
                <a:chOff x="300" y="5640"/>
                <a:chExt cx="6925" cy="140"/>
              </a:xfrm>
            </p:grpSpPr>
            <p:sp>
              <p:nvSpPr>
                <p:cNvPr id="42" name="Freeform 26">
                  <a:extLst>
                    <a:ext uri="{FF2B5EF4-FFF2-40B4-BE49-F238E27FC236}">
                      <a16:creationId xmlns:a16="http://schemas.microsoft.com/office/drawing/2014/main" id="{07704E89-147E-5B44-9785-E96424EA78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5" y="5640"/>
                  <a:ext cx="280" cy="140"/>
                </a:xfrm>
                <a:custGeom>
                  <a:avLst/>
                  <a:gdLst>
                    <a:gd name="T0" fmla="*/ 280 w 280"/>
                    <a:gd name="T1" fmla="*/ 80 h 140"/>
                    <a:gd name="T2" fmla="*/ 0 w 280"/>
                    <a:gd name="T3" fmla="*/ 140 h 140"/>
                    <a:gd name="T4" fmla="*/ 0 w 280"/>
                    <a:gd name="T5" fmla="*/ 80 h 140"/>
                    <a:gd name="T6" fmla="*/ 0 w 280"/>
                    <a:gd name="T7" fmla="*/ 0 h 140"/>
                    <a:gd name="T8" fmla="*/ 280 w 280"/>
                    <a:gd name="T9" fmla="*/ 8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80" h="140">
                      <a:moveTo>
                        <a:pt x="280" y="80"/>
                      </a:moveTo>
                      <a:lnTo>
                        <a:pt x="0" y="140"/>
                      </a:lnTo>
                      <a:lnTo>
                        <a:pt x="0" y="80"/>
                      </a:lnTo>
                      <a:lnTo>
                        <a:pt x="0" y="0"/>
                      </a:lnTo>
                      <a:lnTo>
                        <a:pt x="28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  <p:sp>
              <p:nvSpPr>
                <p:cNvPr id="43" name="Line 27">
                  <a:extLst>
                    <a:ext uri="{FF2B5EF4-FFF2-40B4-BE49-F238E27FC236}">
                      <a16:creationId xmlns:a16="http://schemas.microsoft.com/office/drawing/2014/main" id="{C9EEBC4B-DEF6-A095-EFB2-27ACDD59CD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" y="5720"/>
                  <a:ext cx="664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>
                    <a:latin typeface="Calibri (Corps)"/>
                  </a:endParaRPr>
                </a:p>
              </p:txBody>
            </p:sp>
          </p:grpSp>
          <p:sp>
            <p:nvSpPr>
              <p:cNvPr id="35" name="Line 28">
                <a:extLst>
                  <a:ext uri="{FF2B5EF4-FFF2-40B4-BE49-F238E27FC236}">
                    <a16:creationId xmlns:a16="http://schemas.microsoft.com/office/drawing/2014/main" id="{44E7771B-859A-2248-3288-1BD7311A3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99" y="2659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6" name="Line 29">
                <a:extLst>
                  <a:ext uri="{FF2B5EF4-FFF2-40B4-BE49-F238E27FC236}">
                    <a16:creationId xmlns:a16="http://schemas.microsoft.com/office/drawing/2014/main" id="{0FDBC43E-E7DE-8E55-50CE-89F4ED8A04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9" y="2886"/>
                <a:ext cx="907" cy="31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7" name="Arc 30">
                <a:extLst>
                  <a:ext uri="{FF2B5EF4-FFF2-40B4-BE49-F238E27FC236}">
                    <a16:creationId xmlns:a16="http://schemas.microsoft.com/office/drawing/2014/main" id="{D1B3067A-DC0B-02B2-5EBC-57D5C37B738F}"/>
                  </a:ext>
                </a:extLst>
              </p:cNvPr>
              <p:cNvSpPr>
                <a:spLocks/>
              </p:cNvSpPr>
              <p:nvPr/>
            </p:nvSpPr>
            <p:spPr bwMode="auto">
              <a:xfrm rot="6459284" flipH="1" flipV="1">
                <a:off x="3888" y="2674"/>
                <a:ext cx="418" cy="915"/>
              </a:xfrm>
              <a:custGeom>
                <a:avLst/>
                <a:gdLst>
                  <a:gd name="T0" fmla="*/ 0 w 18662"/>
                  <a:gd name="T1" fmla="*/ 0 h 21600"/>
                  <a:gd name="T2" fmla="*/ 0 w 18662"/>
                  <a:gd name="T3" fmla="*/ 0 h 21600"/>
                  <a:gd name="T4" fmla="*/ 0 w 186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662" h="21600" fill="none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</a:path>
                  <a:path w="18662" h="21600" stroke="0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  <a:lnTo>
                      <a:pt x="2041" y="21600"/>
                    </a:lnTo>
                    <a:lnTo>
                      <a:pt x="-1" y="96"/>
                    </a:lnTo>
                    <a:close/>
                  </a:path>
                </a:pathLst>
              </a:cu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8" name="Line 31">
                <a:extLst>
                  <a:ext uri="{FF2B5EF4-FFF2-40B4-BE49-F238E27FC236}">
                    <a16:creationId xmlns:a16="http://schemas.microsoft.com/office/drawing/2014/main" id="{2EE64FB4-492B-520C-10E8-25A436D475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2886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39" name="Line 32">
                <a:extLst>
                  <a:ext uri="{FF2B5EF4-FFF2-40B4-BE49-F238E27FC236}">
                    <a16:creationId xmlns:a16="http://schemas.microsoft.com/office/drawing/2014/main" id="{BFD95865-A281-4D3E-5224-F938E650F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9" y="2886"/>
                <a:ext cx="907" cy="31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40" name="Arc 33">
                <a:extLst>
                  <a:ext uri="{FF2B5EF4-FFF2-40B4-BE49-F238E27FC236}">
                    <a16:creationId xmlns:a16="http://schemas.microsoft.com/office/drawing/2014/main" id="{C7A1AD02-71F5-28EE-1E1A-65FD04640FD6}"/>
                  </a:ext>
                </a:extLst>
              </p:cNvPr>
              <p:cNvSpPr>
                <a:spLocks/>
              </p:cNvSpPr>
              <p:nvPr/>
            </p:nvSpPr>
            <p:spPr bwMode="auto">
              <a:xfrm rot="6459284" flipH="1" flipV="1">
                <a:off x="5248" y="2674"/>
                <a:ext cx="418" cy="915"/>
              </a:xfrm>
              <a:custGeom>
                <a:avLst/>
                <a:gdLst>
                  <a:gd name="T0" fmla="*/ 0 w 18662"/>
                  <a:gd name="T1" fmla="*/ 0 h 21600"/>
                  <a:gd name="T2" fmla="*/ 0 w 18662"/>
                  <a:gd name="T3" fmla="*/ 0 h 21600"/>
                  <a:gd name="T4" fmla="*/ 0 w 1866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662" h="21600" fill="none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</a:path>
                  <a:path w="18662" h="21600" stroke="0" extrusionOk="0">
                    <a:moveTo>
                      <a:pt x="-1" y="96"/>
                    </a:moveTo>
                    <a:cubicBezTo>
                      <a:pt x="678" y="32"/>
                      <a:pt x="1359" y="-1"/>
                      <a:pt x="2041" y="0"/>
                    </a:cubicBezTo>
                    <a:cubicBezTo>
                      <a:pt x="8466" y="0"/>
                      <a:pt x="14558" y="2860"/>
                      <a:pt x="18662" y="7804"/>
                    </a:cubicBezTo>
                    <a:lnTo>
                      <a:pt x="2041" y="21600"/>
                    </a:lnTo>
                    <a:lnTo>
                      <a:pt x="-1" y="96"/>
                    </a:lnTo>
                    <a:close/>
                  </a:path>
                </a:pathLst>
              </a:cu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>
                  <a:latin typeface="Calibri (Corps)"/>
                </a:endParaRPr>
              </a:p>
            </p:txBody>
          </p:sp>
          <p:sp>
            <p:nvSpPr>
              <p:cNvPr id="41" name="Line 34">
                <a:extLst>
                  <a:ext uri="{FF2B5EF4-FFF2-40B4-BE49-F238E27FC236}">
                    <a16:creationId xmlns:a16="http://schemas.microsoft.com/office/drawing/2014/main" id="{72AFEF3D-9F1D-7AC3-5A31-20D9D0543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3203"/>
                <a:ext cx="23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>
                  <a:latin typeface="Calibri (Corps)"/>
                </a:endParaRPr>
              </a:p>
            </p:txBody>
          </p:sp>
        </p:grpSp>
        <p:sp>
          <p:nvSpPr>
            <p:cNvPr id="33" name="Text Box 35">
              <a:extLst>
                <a:ext uri="{FF2B5EF4-FFF2-40B4-BE49-F238E27FC236}">
                  <a16:creationId xmlns:a16="http://schemas.microsoft.com/office/drawing/2014/main" id="{FA0FFD9A-542F-3347-D23A-27CE15D08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" y="2614"/>
              <a:ext cx="2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Calibri (Corps)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Calibri (Corps)"/>
                </a:rPr>
                <a:t>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DA74A60-AE2E-7439-7826-1436826084EE}"/>
                  </a:ext>
                </a:extLst>
              </p:cNvPr>
              <p:cNvSpPr txBox="1"/>
              <p:nvPr/>
            </p:nvSpPr>
            <p:spPr>
              <a:xfrm>
                <a:off x="3714002" y="5329533"/>
                <a:ext cx="3410228" cy="97526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p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.∆</m:t>
                          </m:r>
                          <m:sSub>
                            <m:sSubPr>
                              <m:ctrlP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DA74A60-AE2E-7439-7826-143682608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002" y="5329533"/>
                <a:ext cx="3410228" cy="9752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94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910E2-EF08-67C5-0D1E-196E3440A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5A98C8-E5D0-6780-FDBB-DE63D7B5B241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2692F4-21C8-C61A-C35A-DF69AE30C8D5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64B324A7-4278-8A28-7643-5EB6823442AD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75627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Continuous mode (Output filtering)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0788F1D-E19F-7725-0635-5A884F479FB0}"/>
              </a:ext>
            </a:extLst>
          </p:cNvPr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3E812A8-4ABE-D7D6-600E-1D28CE8EC47B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riangle isocèle 50">
            <a:extLst>
              <a:ext uri="{FF2B5EF4-FFF2-40B4-BE49-F238E27FC236}">
                <a16:creationId xmlns:a16="http://schemas.microsoft.com/office/drawing/2014/main" id="{0247EE49-F59B-CBD1-70C5-93B0B8471DA6}"/>
              </a:ext>
            </a:extLst>
          </p:cNvPr>
          <p:cNvSpPr/>
          <p:nvPr/>
        </p:nvSpPr>
        <p:spPr>
          <a:xfrm>
            <a:off x="5618277" y="1634255"/>
            <a:ext cx="916707" cy="954041"/>
          </a:xfrm>
          <a:prstGeom prst="triangl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solidFill>
                  <a:srgbClr val="FF0000"/>
                </a:solidFill>
              </a:rPr>
              <a:t>!</a:t>
            </a:r>
            <a:br>
              <a:rPr lang="fr-FR" sz="5400"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2" name="Line 15">
            <a:extLst>
              <a:ext uri="{FF2B5EF4-FFF2-40B4-BE49-F238E27FC236}">
                <a16:creationId xmlns:a16="http://schemas.microsoft.com/office/drawing/2014/main" id="{E5695282-AE1F-7CEA-757F-899199BA9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5236" y="1970781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Line 16">
            <a:extLst>
              <a:ext uri="{FF2B5EF4-FFF2-40B4-BE49-F238E27FC236}">
                <a16:creationId xmlns:a16="http://schemas.microsoft.com/office/drawing/2014/main" id="{AD016CDD-DDDE-FB42-2EE5-07C153DAA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5236" y="2113656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Line 16">
            <a:extLst>
              <a:ext uri="{FF2B5EF4-FFF2-40B4-BE49-F238E27FC236}">
                <a16:creationId xmlns:a16="http://schemas.microsoft.com/office/drawing/2014/main" id="{348181C2-7E6B-2D36-E979-E70424033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5236" y="2258119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97B9583D-BDC2-D041-A9DF-B226261C0F94}"/>
              </a:ext>
            </a:extLst>
          </p:cNvPr>
          <p:cNvGrpSpPr/>
          <p:nvPr/>
        </p:nvGrpSpPr>
        <p:grpSpPr>
          <a:xfrm>
            <a:off x="2439857" y="856357"/>
            <a:ext cx="2520950" cy="2230437"/>
            <a:chOff x="2307075" y="1317660"/>
            <a:chExt cx="2520950" cy="2230437"/>
          </a:xfrm>
        </p:grpSpPr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D9A1553E-FF22-7119-E03C-F255238BAE28}"/>
                </a:ext>
              </a:extLst>
            </p:cNvPr>
            <p:cNvGrpSpPr/>
            <p:nvPr/>
          </p:nvGrpSpPr>
          <p:grpSpPr>
            <a:xfrm>
              <a:off x="2307075" y="1317660"/>
              <a:ext cx="2520950" cy="2230437"/>
              <a:chOff x="2307075" y="1703965"/>
              <a:chExt cx="2520950" cy="2230437"/>
            </a:xfrm>
          </p:grpSpPr>
          <p:sp>
            <p:nvSpPr>
              <p:cNvPr id="59" name="Rectangle 9">
                <a:extLst>
                  <a:ext uri="{FF2B5EF4-FFF2-40B4-BE49-F238E27FC236}">
                    <a16:creationId xmlns:a16="http://schemas.microsoft.com/office/drawing/2014/main" id="{B32934B9-03D0-210D-5DB1-BE7B406F9A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9100" y="2565977"/>
                <a:ext cx="288925" cy="10795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33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6454411A-8A9A-D57E-4AF4-6E3AC1332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3563" y="3647065"/>
                <a:ext cx="0" cy="2873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Line 11">
                <a:extLst>
                  <a:ext uri="{FF2B5EF4-FFF2-40B4-BE49-F238E27FC236}">
                    <a16:creationId xmlns:a16="http://schemas.microsoft.com/office/drawing/2014/main" id="{3521E45C-A2FD-748E-FCEF-F102F07B7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3338" y="3934402"/>
                <a:ext cx="18002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2" name="Line 12">
                <a:extLst>
                  <a:ext uri="{FF2B5EF4-FFF2-40B4-BE49-F238E27FC236}">
                    <a16:creationId xmlns:a16="http://schemas.microsoft.com/office/drawing/2014/main" id="{51054558-DCB3-50A4-B893-A6ACEB55D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83563" y="2207202"/>
                <a:ext cx="0" cy="3587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3" name="Line 13">
                <a:extLst>
                  <a:ext uri="{FF2B5EF4-FFF2-40B4-BE49-F238E27FC236}">
                    <a16:creationId xmlns:a16="http://schemas.microsoft.com/office/drawing/2014/main" id="{E2CF8E73-CF38-AEDF-1B7F-9AE38936D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54775" y="2207202"/>
                <a:ext cx="17287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4" name="Line 14">
                <a:extLst>
                  <a:ext uri="{FF2B5EF4-FFF2-40B4-BE49-F238E27FC236}">
                    <a16:creationId xmlns:a16="http://schemas.microsoft.com/office/drawing/2014/main" id="{BDB238DB-3550-0F60-B1DA-547E210C1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9963" y="2207202"/>
                <a:ext cx="0" cy="7905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5" name="Line 15">
                <a:extLst>
                  <a:ext uri="{FF2B5EF4-FFF2-40B4-BE49-F238E27FC236}">
                    <a16:creationId xmlns:a16="http://schemas.microsoft.com/office/drawing/2014/main" id="{2C9A843C-A22C-FA5E-9DBD-F1A908F69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600" y="2999365"/>
                <a:ext cx="719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6" name="Line 16">
                <a:extLst>
                  <a:ext uri="{FF2B5EF4-FFF2-40B4-BE49-F238E27FC236}">
                    <a16:creationId xmlns:a16="http://schemas.microsoft.com/office/drawing/2014/main" id="{133FC5F7-ADC5-825B-E3B3-8E9B355AE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9600" y="3142240"/>
                <a:ext cx="719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" name="Line 17">
                <a:extLst>
                  <a:ext uri="{FF2B5EF4-FFF2-40B4-BE49-F238E27FC236}">
                    <a16:creationId xmlns:a16="http://schemas.microsoft.com/office/drawing/2014/main" id="{BC3E3E47-E848-AED4-4B1F-9B4FB52FC4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9963" y="3142240"/>
                <a:ext cx="0" cy="7921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Line 18">
                <a:extLst>
                  <a:ext uri="{FF2B5EF4-FFF2-40B4-BE49-F238E27FC236}">
                    <a16:creationId xmlns:a16="http://schemas.microsoft.com/office/drawing/2014/main" id="{1D262E52-6473-45AE-0490-7BCF56E62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3338" y="2278640"/>
                <a:ext cx="0" cy="15113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Text Box 19">
                <a:extLst>
                  <a:ext uri="{FF2B5EF4-FFF2-40B4-BE49-F238E27FC236}">
                    <a16:creationId xmlns:a16="http://schemas.microsoft.com/office/drawing/2014/main" id="{FE3C42C4-1A11-3034-1310-715307D372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7075" y="2926340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 dirty="0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fr-FR" altLang="fr-FR" sz="1800" b="1" baseline="-25000" dirty="0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70" name="Text Box 20">
                <a:extLst>
                  <a:ext uri="{FF2B5EF4-FFF2-40B4-BE49-F238E27FC236}">
                    <a16:creationId xmlns:a16="http://schemas.microsoft.com/office/drawing/2014/main" id="{1952421A-486B-5AE9-B83E-31B53F27E9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863" y="3215265"/>
                <a:ext cx="420687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 New Roman" panose="02020603050405020304" pitchFamily="18" charset="0"/>
                  </a:rPr>
                  <a:t>R</a:t>
                </a:r>
                <a:r>
                  <a:rPr lang="fr-FR" altLang="fr-FR" sz="1800" baseline="-2500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71" name="Text Box 21">
                <a:extLst>
                  <a:ext uri="{FF2B5EF4-FFF2-40B4-BE49-F238E27FC236}">
                    <a16:creationId xmlns:a16="http://schemas.microsoft.com/office/drawing/2014/main" id="{B8D885B1-2CC2-2C4A-DCEF-E335CFDED9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5138" y="3351790"/>
                <a:ext cx="420687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800">
                    <a:latin typeface="Times New Roman" panose="02020603050405020304" pitchFamily="18" charset="0"/>
                  </a:rPr>
                  <a:t>C</a:t>
                </a:r>
                <a:r>
                  <a:rPr lang="fr-FR" altLang="fr-FR" sz="1800" baseline="-2500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72" name="Line 23">
                <a:extLst>
                  <a:ext uri="{FF2B5EF4-FFF2-40B4-BE49-F238E27FC236}">
                    <a16:creationId xmlns:a16="http://schemas.microsoft.com/office/drawing/2014/main" id="{3B89DF06-7522-1AA3-D11F-980DC4EFF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238" y="2207202"/>
                <a:ext cx="3603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3" name="Text Box 24">
                <a:extLst>
                  <a:ext uri="{FF2B5EF4-FFF2-40B4-BE49-F238E27FC236}">
                    <a16:creationId xmlns:a16="http://schemas.microsoft.com/office/drawing/2014/main" id="{6BF6D5CA-947A-3F2D-FB61-BA7B55CC81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9238" y="1703965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 dirty="0">
                    <a:latin typeface="Times New Roman" panose="02020603050405020304" pitchFamily="18" charset="0"/>
                  </a:rPr>
                  <a:t>i</a:t>
                </a:r>
                <a:r>
                  <a:rPr lang="fr-FR" altLang="fr-FR" sz="1800" b="1" baseline="-25000" dirty="0">
                    <a:latin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74" name="Line 26">
                <a:extLst>
                  <a:ext uri="{FF2B5EF4-FFF2-40B4-BE49-F238E27FC236}">
                    <a16:creationId xmlns:a16="http://schemas.microsoft.com/office/drawing/2014/main" id="{E6919026-A4D1-F761-4733-5F0C91C32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5863" y="2207202"/>
                <a:ext cx="3603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Text Box 27">
                <a:extLst>
                  <a:ext uri="{FF2B5EF4-FFF2-40B4-BE49-F238E27FC236}">
                    <a16:creationId xmlns:a16="http://schemas.microsoft.com/office/drawing/2014/main" id="{39FD9CB6-005F-0564-2931-B34B782457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5863" y="1703965"/>
                <a:ext cx="431800" cy="3667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fr-FR" altLang="fr-FR" sz="1800" b="1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fr-FR" altLang="fr-FR" sz="1800" b="1" baseline="-2500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57" name="Line 28">
              <a:extLst>
                <a:ext uri="{FF2B5EF4-FFF2-40B4-BE49-F238E27FC236}">
                  <a16:creationId xmlns:a16="http://schemas.microsoft.com/office/drawing/2014/main" id="{41178C16-D767-8E34-B5F8-E08CE43E8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7225" y="2101654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 Box 29">
              <a:extLst>
                <a:ext uri="{FF2B5EF4-FFF2-40B4-BE49-F238E27FC236}">
                  <a16:creationId xmlns:a16="http://schemas.microsoft.com/office/drawing/2014/main" id="{45AE0EFD-F4EB-CB1F-862E-3C661236B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662" y="1958779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C22D5DA4-FF4E-3616-8BF6-88EEB82E5875}"/>
              </a:ext>
            </a:extLst>
          </p:cNvPr>
          <p:cNvGrpSpPr/>
          <p:nvPr/>
        </p:nvGrpSpPr>
        <p:grpSpPr>
          <a:xfrm>
            <a:off x="6684964" y="1323081"/>
            <a:ext cx="1635808" cy="1727200"/>
            <a:chOff x="6552182" y="1784384"/>
            <a:chExt cx="1635808" cy="1727200"/>
          </a:xfrm>
        </p:grpSpPr>
        <p:sp>
          <p:nvSpPr>
            <p:cNvPr id="77" name="Line 14">
              <a:extLst>
                <a:ext uri="{FF2B5EF4-FFF2-40B4-BE49-F238E27FC236}">
                  <a16:creationId xmlns:a16="http://schemas.microsoft.com/office/drawing/2014/main" id="{91B5F800-9259-FAE4-9001-33996C7F1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38" y="1784384"/>
              <a:ext cx="0" cy="7905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Line 15">
              <a:extLst>
                <a:ext uri="{FF2B5EF4-FFF2-40B4-BE49-F238E27FC236}">
                  <a16:creationId xmlns:a16="http://schemas.microsoft.com/office/drawing/2014/main" id="{4313612E-F573-21F4-7364-1BB8D82FF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575" y="2576547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Line 16">
              <a:extLst>
                <a:ext uri="{FF2B5EF4-FFF2-40B4-BE49-F238E27FC236}">
                  <a16:creationId xmlns:a16="http://schemas.microsoft.com/office/drawing/2014/main" id="{2A67EF2C-3F6A-73FD-2309-619AC1B716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575" y="2719422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Line 17">
              <a:extLst>
                <a:ext uri="{FF2B5EF4-FFF2-40B4-BE49-F238E27FC236}">
                  <a16:creationId xmlns:a16="http://schemas.microsoft.com/office/drawing/2014/main" id="{A26D2623-4E41-6F96-A265-5D5806C75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38" y="2719422"/>
              <a:ext cx="0" cy="792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A21204F6-D2F8-01F8-AB29-E5560545FA50}"/>
                </a:ext>
              </a:extLst>
            </p:cNvPr>
            <p:cNvSpPr txBox="1"/>
            <p:nvPr/>
          </p:nvSpPr>
          <p:spPr>
            <a:xfrm>
              <a:off x="7742034" y="2417152"/>
              <a:ext cx="445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C</a:t>
              </a:r>
              <a:r>
                <a:rPr lang="fr-FR" sz="2400" b="1" baseline="-25000" dirty="0"/>
                <a:t>S</a:t>
              </a:r>
            </a:p>
          </p:txBody>
        </p:sp>
        <p:sp>
          <p:nvSpPr>
            <p:cNvPr id="82" name="Line 28">
              <a:extLst>
                <a:ext uri="{FF2B5EF4-FFF2-40B4-BE49-F238E27FC236}">
                  <a16:creationId xmlns:a16="http://schemas.microsoft.com/office/drawing/2014/main" id="{6AC52FBD-0397-5845-7C5E-7DFAEC621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940" y="1967773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Text Box 29">
              <a:extLst>
                <a:ext uri="{FF2B5EF4-FFF2-40B4-BE49-F238E27FC236}">
                  <a16:creationId xmlns:a16="http://schemas.microsoft.com/office/drawing/2014/main" id="{1D9BC7F8-A1BF-C6F9-73A2-F3D38B80F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1377" y="1824898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" name="Line 18">
              <a:extLst>
                <a:ext uri="{FF2B5EF4-FFF2-40B4-BE49-F238E27FC236}">
                  <a16:creationId xmlns:a16="http://schemas.microsoft.com/office/drawing/2014/main" id="{556684ED-83D9-9B82-12E1-623EEC1F6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9282" y="1929010"/>
              <a:ext cx="0" cy="15113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 Box 19">
              <a:extLst>
                <a:ext uri="{FF2B5EF4-FFF2-40B4-BE49-F238E27FC236}">
                  <a16:creationId xmlns:a16="http://schemas.microsoft.com/office/drawing/2014/main" id="{51B949E3-0F23-95AD-6819-0A298AA11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2182" y="2389223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523D38B4-7C44-D4B4-4712-BADA6AD475AF}"/>
              </a:ext>
            </a:extLst>
          </p:cNvPr>
          <p:cNvGrpSpPr/>
          <p:nvPr/>
        </p:nvGrpSpPr>
        <p:grpSpPr>
          <a:xfrm>
            <a:off x="9128871" y="1126198"/>
            <a:ext cx="2614472" cy="2377437"/>
            <a:chOff x="8996089" y="1587501"/>
            <a:chExt cx="2614472" cy="2377437"/>
          </a:xfrm>
        </p:grpSpPr>
        <p:sp>
          <p:nvSpPr>
            <p:cNvPr id="87" name="Line 14">
              <a:extLst>
                <a:ext uri="{FF2B5EF4-FFF2-40B4-BE49-F238E27FC236}">
                  <a16:creationId xmlns:a16="http://schemas.microsoft.com/office/drawing/2014/main" id="{D8995A07-1292-4675-96B4-A7679A727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2750" y="1587501"/>
              <a:ext cx="0" cy="585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Line 15">
              <a:extLst>
                <a:ext uri="{FF2B5EF4-FFF2-40B4-BE49-F238E27FC236}">
                  <a16:creationId xmlns:a16="http://schemas.microsoft.com/office/drawing/2014/main" id="{D25D29C5-4652-150C-FB48-B54AB6C1F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2387" y="2174450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Line 16">
              <a:extLst>
                <a:ext uri="{FF2B5EF4-FFF2-40B4-BE49-F238E27FC236}">
                  <a16:creationId xmlns:a16="http://schemas.microsoft.com/office/drawing/2014/main" id="{D1F36FCB-E45B-A8ED-9C60-308D6EF7B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2387" y="2317325"/>
              <a:ext cx="719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Line 17">
              <a:extLst>
                <a:ext uri="{FF2B5EF4-FFF2-40B4-BE49-F238E27FC236}">
                  <a16:creationId xmlns:a16="http://schemas.microsoft.com/office/drawing/2014/main" id="{1F1384C3-F165-526A-D95F-E84017FA3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2750" y="2317325"/>
              <a:ext cx="0" cy="4454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Rectangle 9">
              <a:extLst>
                <a:ext uri="{FF2B5EF4-FFF2-40B4-BE49-F238E27FC236}">
                  <a16:creationId xmlns:a16="http://schemas.microsoft.com/office/drawing/2014/main" id="{CE42BBBF-9952-9835-4400-B12323FEC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2646" y="2773526"/>
              <a:ext cx="259206" cy="73534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92" name="ZoneTexte 91">
              <a:extLst>
                <a:ext uri="{FF2B5EF4-FFF2-40B4-BE49-F238E27FC236}">
                  <a16:creationId xmlns:a16="http://schemas.microsoft.com/office/drawing/2014/main" id="{380F002F-7829-60CA-D2F5-A64908DC4097}"/>
                </a:ext>
              </a:extLst>
            </p:cNvPr>
            <p:cNvSpPr txBox="1"/>
            <p:nvPr/>
          </p:nvSpPr>
          <p:spPr>
            <a:xfrm>
              <a:off x="10289566" y="2008255"/>
              <a:ext cx="4459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C</a:t>
              </a:r>
              <a:r>
                <a:rPr lang="fr-FR" sz="2400" b="1" baseline="-25000" dirty="0"/>
                <a:t>S</a:t>
              </a: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3B3E4D0B-F51D-BAC4-4C35-54931A2D785A}"/>
                </a:ext>
              </a:extLst>
            </p:cNvPr>
            <p:cNvSpPr txBox="1"/>
            <p:nvPr/>
          </p:nvSpPr>
          <p:spPr>
            <a:xfrm>
              <a:off x="10289566" y="2918008"/>
              <a:ext cx="6513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/>
                <a:t>ESR</a:t>
              </a:r>
            </a:p>
          </p:txBody>
        </p:sp>
        <p:sp>
          <p:nvSpPr>
            <p:cNvPr id="94" name="Line 17">
              <a:extLst>
                <a:ext uri="{FF2B5EF4-FFF2-40B4-BE49-F238E27FC236}">
                  <a16:creationId xmlns:a16="http://schemas.microsoft.com/office/drawing/2014/main" id="{2A58E95B-5621-53DB-06D0-0994A302D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1956" y="3519519"/>
              <a:ext cx="0" cy="4454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Line 28">
              <a:extLst>
                <a:ext uri="{FF2B5EF4-FFF2-40B4-BE49-F238E27FC236}">
                  <a16:creationId xmlns:a16="http://schemas.microsoft.com/office/drawing/2014/main" id="{8CB9A32A-849F-2D5B-2C87-0C5B5A1A0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7945" y="1888398"/>
              <a:ext cx="0" cy="1444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Text Box 29">
              <a:extLst>
                <a:ext uri="{FF2B5EF4-FFF2-40B4-BE49-F238E27FC236}">
                  <a16:creationId xmlns:a16="http://schemas.microsoft.com/office/drawing/2014/main" id="{7247055A-E80E-0B2F-20AF-EF37A8C4E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9382" y="1745523"/>
              <a:ext cx="4318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" name="Line 18">
              <a:extLst>
                <a:ext uri="{FF2B5EF4-FFF2-40B4-BE49-F238E27FC236}">
                  <a16:creationId xmlns:a16="http://schemas.microsoft.com/office/drawing/2014/main" id="{5C6E9D46-7B7E-E90F-4D47-4BBDB74EEC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406964" y="1894899"/>
              <a:ext cx="6908" cy="19246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Text Box 19">
              <a:extLst>
                <a:ext uri="{FF2B5EF4-FFF2-40B4-BE49-F238E27FC236}">
                  <a16:creationId xmlns:a16="http://schemas.microsoft.com/office/drawing/2014/main" id="{1C5798CA-DFE4-AB04-D913-30DD2DDBA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6089" y="2667069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9" name="Line 18">
              <a:extLst>
                <a:ext uri="{FF2B5EF4-FFF2-40B4-BE49-F238E27FC236}">
                  <a16:creationId xmlns:a16="http://schemas.microsoft.com/office/drawing/2014/main" id="{D83F3B16-7C69-B09A-0C3B-DC78E832F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45287" y="1713263"/>
              <a:ext cx="0" cy="9191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Text Box 19">
              <a:extLst>
                <a:ext uri="{FF2B5EF4-FFF2-40B4-BE49-F238E27FC236}">
                  <a16:creationId xmlns:a16="http://schemas.microsoft.com/office/drawing/2014/main" id="{BCC3206E-A676-77D4-A63B-4A915EBC8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9786" y="1967247"/>
              <a:ext cx="431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C</a:t>
              </a:r>
              <a:endPara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1" name="Line 18">
              <a:extLst>
                <a:ext uri="{FF2B5EF4-FFF2-40B4-BE49-F238E27FC236}">
                  <a16:creationId xmlns:a16="http://schemas.microsoft.com/office/drawing/2014/main" id="{C5996A82-8CBE-A75B-30E4-861A7C03FB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45288" y="2646595"/>
              <a:ext cx="0" cy="11729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Text Box 19">
              <a:extLst>
                <a:ext uri="{FF2B5EF4-FFF2-40B4-BE49-F238E27FC236}">
                  <a16:creationId xmlns:a16="http://schemas.microsoft.com/office/drawing/2014/main" id="{E73275D9-6687-8A32-2AC6-8FA9496AD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9786" y="2900580"/>
              <a:ext cx="64077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800" b="1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="1" baseline="-25000" dirty="0" err="1">
                  <a:solidFill>
                    <a:srgbClr val="0033CC"/>
                  </a:solidFill>
                  <a:latin typeface="Times New Roman" panose="02020603050405020304" pitchFamily="18" charset="0"/>
                </a:rPr>
                <a:t>ESR</a:t>
              </a:r>
              <a:endParaRPr lang="fr-FR" altLang="fr-FR" sz="1800" b="1" baseline="-250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72ABE7EF-006A-3FC2-CD98-0A5DC0C6AFA0}"/>
              </a:ext>
            </a:extLst>
          </p:cNvPr>
          <p:cNvGrpSpPr/>
          <p:nvPr/>
        </p:nvGrpSpPr>
        <p:grpSpPr>
          <a:xfrm>
            <a:off x="2406332" y="3170861"/>
            <a:ext cx="5556747" cy="3310443"/>
            <a:chOff x="2242128" y="3046988"/>
            <a:chExt cx="5556747" cy="3310443"/>
          </a:xfrm>
        </p:grpSpPr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63C65ACA-D415-2D00-2983-05FD061FF0CC}"/>
                </a:ext>
              </a:extLst>
            </p:cNvPr>
            <p:cNvGrpSpPr/>
            <p:nvPr/>
          </p:nvGrpSpPr>
          <p:grpSpPr>
            <a:xfrm>
              <a:off x="2242128" y="3046988"/>
              <a:ext cx="5556747" cy="3310443"/>
              <a:chOff x="7265053" y="2617603"/>
              <a:chExt cx="5556747" cy="3310443"/>
            </a:xfrm>
          </p:grpSpPr>
          <p:sp>
            <p:nvSpPr>
              <p:cNvPr id="18" name="Rectangle 37">
                <a:extLst>
                  <a:ext uri="{FF2B5EF4-FFF2-40B4-BE49-F238E27FC236}">
                    <a16:creationId xmlns:a16="http://schemas.microsoft.com/office/drawing/2014/main" id="{3E404524-F98A-DA70-37AD-5432662C6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42256" y="3989719"/>
                <a:ext cx="112712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a</a:t>
                </a:r>
                <a:endParaRPr lang="fr-FR" altLang="fr-FR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9" name="Groupe 48">
                <a:extLst>
                  <a:ext uri="{FF2B5EF4-FFF2-40B4-BE49-F238E27FC236}">
                    <a16:creationId xmlns:a16="http://schemas.microsoft.com/office/drawing/2014/main" id="{92FFC723-ED67-00B9-D6BA-2158FBF28BC3}"/>
                  </a:ext>
                </a:extLst>
              </p:cNvPr>
              <p:cNvGrpSpPr/>
              <p:nvPr/>
            </p:nvGrpSpPr>
            <p:grpSpPr>
              <a:xfrm>
                <a:off x="7265053" y="2617603"/>
                <a:ext cx="5556747" cy="3310443"/>
                <a:chOff x="7265053" y="2617603"/>
                <a:chExt cx="5556747" cy="3310443"/>
              </a:xfrm>
            </p:grpSpPr>
            <p:sp>
              <p:nvSpPr>
                <p:cNvPr id="16" name="Line 35">
                  <a:extLst>
                    <a:ext uri="{FF2B5EF4-FFF2-40B4-BE49-F238E27FC236}">
                      <a16:creationId xmlns:a16="http://schemas.microsoft.com/office/drawing/2014/main" id="{96BC1A20-CA84-CA77-38B0-916BBFB7D3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40681" y="2795919"/>
                  <a:ext cx="0" cy="11588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7" name="Rectangle 36">
                  <a:extLst>
                    <a:ext uri="{FF2B5EF4-FFF2-40B4-BE49-F238E27FC236}">
                      <a16:creationId xmlns:a16="http://schemas.microsoft.com/office/drawing/2014/main" id="{13C0606D-97E4-F934-6AC4-4CF256FE76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7981" y="4005594"/>
                  <a:ext cx="107950" cy="2127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fr-FR" altLang="fr-FR" sz="1400">
                      <a:solidFill>
                        <a:srgbClr val="000000"/>
                      </a:solidFill>
                      <a:latin typeface="Times" panose="02020603050405020304" pitchFamily="18" charset="0"/>
                    </a:rPr>
                    <a:t>T</a:t>
                  </a:r>
                  <a:endParaRPr lang="fr-FR" altLang="fr-FR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" name="Groupe 1">
                  <a:extLst>
                    <a:ext uri="{FF2B5EF4-FFF2-40B4-BE49-F238E27FC236}">
                      <a16:creationId xmlns:a16="http://schemas.microsoft.com/office/drawing/2014/main" id="{9FD134D2-17EC-CC27-FA8F-3120194F9C7B}"/>
                    </a:ext>
                  </a:extLst>
                </p:cNvPr>
                <p:cNvGrpSpPr/>
                <p:nvPr/>
              </p:nvGrpSpPr>
              <p:grpSpPr>
                <a:xfrm>
                  <a:off x="7265053" y="2617603"/>
                  <a:ext cx="5556747" cy="3310443"/>
                  <a:chOff x="7265053" y="2617603"/>
                  <a:chExt cx="5556747" cy="3310443"/>
                </a:xfrm>
              </p:grpSpPr>
              <p:pic>
                <p:nvPicPr>
                  <p:cNvPr id="19" name="Picture 126">
                    <a:extLst>
                      <a:ext uri="{FF2B5EF4-FFF2-40B4-BE49-F238E27FC236}">
                        <a16:creationId xmlns:a16="http://schemas.microsoft.com/office/drawing/2014/main" id="{B92EF9A8-E189-A264-DFD2-65FEF3B45B8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265053" y="4538131"/>
                    <a:ext cx="4523285" cy="138991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grpSp>
                <p:nvGrpSpPr>
                  <p:cNvPr id="31" name="Group 23">
                    <a:extLst>
                      <a:ext uri="{FF2B5EF4-FFF2-40B4-BE49-F238E27FC236}">
                        <a16:creationId xmlns:a16="http://schemas.microsoft.com/office/drawing/2014/main" id="{DE568751-F2EF-B088-1C50-F8C43020D22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568763" y="2617603"/>
                    <a:ext cx="5253037" cy="1871663"/>
                    <a:chOff x="2605" y="2614"/>
                    <a:chExt cx="3309" cy="1179"/>
                  </a:xfrm>
                </p:grpSpPr>
                <p:grpSp>
                  <p:nvGrpSpPr>
                    <p:cNvPr id="32" name="Group 24">
                      <a:extLst>
                        <a:ext uri="{FF2B5EF4-FFF2-40B4-BE49-F238E27FC236}">
                          <a16:creationId xmlns:a16="http://schemas.microsoft.com/office/drawing/2014/main" id="{9E20D681-2FD1-AFD8-82FE-0F80F57FC74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05" y="2659"/>
                      <a:ext cx="3309" cy="1134"/>
                      <a:chOff x="2605" y="2659"/>
                      <a:chExt cx="3309" cy="1134"/>
                    </a:xfrm>
                  </p:grpSpPr>
                  <p:grpSp>
                    <p:nvGrpSpPr>
                      <p:cNvPr id="34" name="Group 25">
                        <a:extLst>
                          <a:ext uri="{FF2B5EF4-FFF2-40B4-BE49-F238E27FC236}">
                            <a16:creationId xmlns:a16="http://schemas.microsoft.com/office/drawing/2014/main" id="{30EB1ABB-A7D1-25D1-8BC3-C2903DBFBB5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605" y="3614"/>
                        <a:ext cx="2770" cy="56"/>
                        <a:chOff x="300" y="5560"/>
                        <a:chExt cx="6925" cy="140"/>
                      </a:xfrm>
                    </p:grpSpPr>
                    <p:sp>
                      <p:nvSpPr>
                        <p:cNvPr id="42" name="Freeform 26">
                          <a:extLst>
                            <a:ext uri="{FF2B5EF4-FFF2-40B4-BE49-F238E27FC236}">
                              <a16:creationId xmlns:a16="http://schemas.microsoft.com/office/drawing/2014/main" id="{2EB222D9-904A-C7DE-CCA6-72CDADBD8C7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6945" y="5560"/>
                          <a:ext cx="280" cy="140"/>
                        </a:xfrm>
                        <a:custGeom>
                          <a:avLst/>
                          <a:gdLst>
                            <a:gd name="T0" fmla="*/ 280 w 280"/>
                            <a:gd name="T1" fmla="*/ 80 h 140"/>
                            <a:gd name="T2" fmla="*/ 0 w 280"/>
                            <a:gd name="T3" fmla="*/ 140 h 140"/>
                            <a:gd name="T4" fmla="*/ 0 w 280"/>
                            <a:gd name="T5" fmla="*/ 80 h 140"/>
                            <a:gd name="T6" fmla="*/ 0 w 280"/>
                            <a:gd name="T7" fmla="*/ 0 h 140"/>
                            <a:gd name="T8" fmla="*/ 280 w 280"/>
                            <a:gd name="T9" fmla="*/ 80 h 140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0" t="0" r="r" b="b"/>
                          <a:pathLst>
                            <a:path w="280" h="140">
                              <a:moveTo>
                                <a:pt x="280" y="80"/>
                              </a:moveTo>
                              <a:lnTo>
                                <a:pt x="0" y="140"/>
                              </a:lnTo>
                              <a:lnTo>
                                <a:pt x="0" y="80"/>
                              </a:lnTo>
                              <a:lnTo>
                                <a:pt x="0" y="0"/>
                              </a:lnTo>
                              <a:lnTo>
                                <a:pt x="280" y="8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  <p:sp>
                      <p:nvSpPr>
                        <p:cNvPr id="43" name="Line 27">
                          <a:extLst>
                            <a:ext uri="{FF2B5EF4-FFF2-40B4-BE49-F238E27FC236}">
                              <a16:creationId xmlns:a16="http://schemas.microsoft.com/office/drawing/2014/main" id="{A48D7904-9005-95CE-A444-8E7303D8BAF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0" y="5615"/>
                          <a:ext cx="6645" cy="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>
                            <a:latin typeface="Calibri (Corps)"/>
                          </a:endParaRPr>
                        </a:p>
                      </p:txBody>
                    </p:sp>
                  </p:grpSp>
                  <p:sp>
                    <p:nvSpPr>
                      <p:cNvPr id="35" name="Line 28">
                        <a:extLst>
                          <a:ext uri="{FF2B5EF4-FFF2-40B4-BE49-F238E27FC236}">
                            <a16:creationId xmlns:a16="http://schemas.microsoft.com/office/drawing/2014/main" id="{FF4C5CA4-ADA8-DA47-0AF4-74BF9471FFF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99" y="2659"/>
                        <a:ext cx="0" cy="113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 type="triangle" w="med" len="lg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36" name="Line 29">
                        <a:extLst>
                          <a:ext uri="{FF2B5EF4-FFF2-40B4-BE49-F238E27FC236}">
                            <a16:creationId xmlns:a16="http://schemas.microsoft.com/office/drawing/2014/main" id="{6CBEF5DC-5B0E-ADBF-4A93-6A18B787121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99" y="2886"/>
                        <a:ext cx="907" cy="317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37" name="Arc 30">
                        <a:extLst>
                          <a:ext uri="{FF2B5EF4-FFF2-40B4-BE49-F238E27FC236}">
                            <a16:creationId xmlns:a16="http://schemas.microsoft.com/office/drawing/2014/main" id="{94FC1934-B854-FE6A-784C-71AE566E5D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6459284" flipH="1" flipV="1">
                        <a:off x="3888" y="2674"/>
                        <a:ext cx="418" cy="915"/>
                      </a:xfrm>
                      <a:custGeom>
                        <a:avLst/>
                        <a:gdLst>
                          <a:gd name="T0" fmla="*/ 0 w 18662"/>
                          <a:gd name="T1" fmla="*/ 0 h 21600"/>
                          <a:gd name="T2" fmla="*/ 0 w 18662"/>
                          <a:gd name="T3" fmla="*/ 0 h 21600"/>
                          <a:gd name="T4" fmla="*/ 0 w 18662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18662" h="21600" fill="none" extrusionOk="0">
                            <a:moveTo>
                              <a:pt x="-1" y="96"/>
                            </a:moveTo>
                            <a:cubicBezTo>
                              <a:pt x="678" y="32"/>
                              <a:pt x="1359" y="-1"/>
                              <a:pt x="2041" y="0"/>
                            </a:cubicBezTo>
                            <a:cubicBezTo>
                              <a:pt x="8466" y="0"/>
                              <a:pt x="14558" y="2860"/>
                              <a:pt x="18662" y="7804"/>
                            </a:cubicBezTo>
                          </a:path>
                          <a:path w="18662" h="21600" stroke="0" extrusionOk="0">
                            <a:moveTo>
                              <a:pt x="-1" y="96"/>
                            </a:moveTo>
                            <a:cubicBezTo>
                              <a:pt x="678" y="32"/>
                              <a:pt x="1359" y="-1"/>
                              <a:pt x="2041" y="0"/>
                            </a:cubicBezTo>
                            <a:cubicBezTo>
                              <a:pt x="8466" y="0"/>
                              <a:pt x="14558" y="2860"/>
                              <a:pt x="18662" y="7804"/>
                            </a:cubicBezTo>
                            <a:lnTo>
                              <a:pt x="2041" y="21600"/>
                            </a:lnTo>
                            <a:lnTo>
                              <a:pt x="-1" y="96"/>
                            </a:lnTo>
                            <a:close/>
                          </a:path>
                        </a:pathLst>
                      </a:custGeom>
                      <a:noFill/>
                      <a:ln w="285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38" name="Line 31">
                        <a:extLst>
                          <a:ext uri="{FF2B5EF4-FFF2-40B4-BE49-F238E27FC236}">
                            <a16:creationId xmlns:a16="http://schemas.microsoft.com/office/drawing/2014/main" id="{BB5D6D8E-4BC1-A921-D4D8-FE4167FA522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08" y="2886"/>
                        <a:ext cx="2359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39" name="Line 32">
                        <a:extLst>
                          <a:ext uri="{FF2B5EF4-FFF2-40B4-BE49-F238E27FC236}">
                            <a16:creationId xmlns:a16="http://schemas.microsoft.com/office/drawing/2014/main" id="{16071B3E-4507-9554-EC00-CDD686702FE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059" y="2886"/>
                        <a:ext cx="907" cy="317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40" name="Arc 33">
                        <a:extLst>
                          <a:ext uri="{FF2B5EF4-FFF2-40B4-BE49-F238E27FC236}">
                            <a16:creationId xmlns:a16="http://schemas.microsoft.com/office/drawing/2014/main" id="{825FB21F-4683-B401-4E4E-D0C4E00F06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6459284" flipH="1" flipV="1">
                        <a:off x="5248" y="2674"/>
                        <a:ext cx="418" cy="915"/>
                      </a:xfrm>
                      <a:custGeom>
                        <a:avLst/>
                        <a:gdLst>
                          <a:gd name="T0" fmla="*/ 0 w 18662"/>
                          <a:gd name="T1" fmla="*/ 0 h 21600"/>
                          <a:gd name="T2" fmla="*/ 0 w 18662"/>
                          <a:gd name="T3" fmla="*/ 0 h 21600"/>
                          <a:gd name="T4" fmla="*/ 0 w 18662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18662" h="21600" fill="none" extrusionOk="0">
                            <a:moveTo>
                              <a:pt x="-1" y="96"/>
                            </a:moveTo>
                            <a:cubicBezTo>
                              <a:pt x="678" y="32"/>
                              <a:pt x="1359" y="-1"/>
                              <a:pt x="2041" y="0"/>
                            </a:cubicBezTo>
                            <a:cubicBezTo>
                              <a:pt x="8466" y="0"/>
                              <a:pt x="14558" y="2860"/>
                              <a:pt x="18662" y="7804"/>
                            </a:cubicBezTo>
                          </a:path>
                          <a:path w="18662" h="21600" stroke="0" extrusionOk="0">
                            <a:moveTo>
                              <a:pt x="-1" y="96"/>
                            </a:moveTo>
                            <a:cubicBezTo>
                              <a:pt x="678" y="32"/>
                              <a:pt x="1359" y="-1"/>
                              <a:pt x="2041" y="0"/>
                            </a:cubicBezTo>
                            <a:cubicBezTo>
                              <a:pt x="8466" y="0"/>
                              <a:pt x="14558" y="2860"/>
                              <a:pt x="18662" y="7804"/>
                            </a:cubicBezTo>
                            <a:lnTo>
                              <a:pt x="2041" y="21600"/>
                            </a:lnTo>
                            <a:lnTo>
                              <a:pt x="-1" y="96"/>
                            </a:lnTo>
                            <a:close/>
                          </a:path>
                        </a:pathLst>
                      </a:custGeom>
                      <a:noFill/>
                      <a:ln w="285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  <p:sp>
                    <p:nvSpPr>
                      <p:cNvPr id="41" name="Line 34">
                        <a:extLst>
                          <a:ext uri="{FF2B5EF4-FFF2-40B4-BE49-F238E27FC236}">
                            <a16:creationId xmlns:a16="http://schemas.microsoft.com/office/drawing/2014/main" id="{6EB26902-750D-FC4D-396A-00CAF97878C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08" y="3203"/>
                        <a:ext cx="2359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fr-FR">
                          <a:latin typeface="Calibri (Corps)"/>
                        </a:endParaRPr>
                      </a:p>
                    </p:txBody>
                  </p:sp>
                </p:grpSp>
                <p:sp>
                  <p:nvSpPr>
                    <p:cNvPr id="33" name="Text Box 35">
                      <a:extLst>
                        <a:ext uri="{FF2B5EF4-FFF2-40B4-BE49-F238E27FC236}">
                          <a16:creationId xmlns:a16="http://schemas.microsoft.com/office/drawing/2014/main" id="{3134CE0B-4DDE-7D52-A8CD-E4B4C387822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44" y="2614"/>
                      <a:ext cx="272" cy="2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lang="fr-FR" altLang="fr-FR" sz="1800" b="1" dirty="0">
                          <a:solidFill>
                            <a:srgbClr val="0033CC"/>
                          </a:solidFill>
                          <a:latin typeface="Calibri (Corps)"/>
                        </a:rPr>
                        <a:t>V</a:t>
                      </a:r>
                      <a:r>
                        <a:rPr lang="fr-FR" altLang="fr-FR" sz="1800" b="1" baseline="-25000" dirty="0">
                          <a:solidFill>
                            <a:srgbClr val="0033CC"/>
                          </a:solidFill>
                          <a:latin typeface="Calibri (Corps)"/>
                        </a:rPr>
                        <a:t>C</a:t>
                      </a:r>
                    </a:p>
                  </p:txBody>
                </p:sp>
              </p:grpSp>
            </p:grpSp>
          </p:grp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BB0F0DD-3B27-AD7C-70BD-93A903AC007F}"/>
                </a:ext>
              </a:extLst>
            </p:cNvPr>
            <p:cNvSpPr/>
            <p:nvPr/>
          </p:nvSpPr>
          <p:spPr>
            <a:xfrm>
              <a:off x="2766500" y="4999048"/>
              <a:ext cx="681420" cy="2900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err="1">
                  <a:solidFill>
                    <a:schemeClr val="accent6"/>
                  </a:solidFill>
                </a:rPr>
                <a:t>v</a:t>
              </a:r>
              <a:r>
                <a:rPr lang="fr-FR" b="1" baseline="-25000" dirty="0" err="1">
                  <a:solidFill>
                    <a:schemeClr val="accent6"/>
                  </a:solidFill>
                </a:rPr>
                <a:t>ESR</a:t>
              </a:r>
              <a:endParaRPr lang="fr-FR" b="1" baseline="-2500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8311B03-71E1-A07C-C57D-44284FE2A224}"/>
              </a:ext>
            </a:extLst>
          </p:cNvPr>
          <p:cNvSpPr/>
          <p:nvPr/>
        </p:nvSpPr>
        <p:spPr>
          <a:xfrm>
            <a:off x="2479964" y="6142613"/>
            <a:ext cx="317046" cy="290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baseline="-25000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B70A4606-3C11-9A12-498C-1DA6FF93BA05}"/>
                  </a:ext>
                </a:extLst>
              </p:cNvPr>
              <p:cNvSpPr txBox="1"/>
              <p:nvPr/>
            </p:nvSpPr>
            <p:spPr>
              <a:xfrm>
                <a:off x="7495093" y="3438111"/>
                <a:ext cx="285796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𝑬𝑺𝑹</m:t>
                          </m:r>
                        </m:sub>
                      </m:sSub>
                    </m:oMath>
                  </m:oMathPara>
                </a14:m>
                <a:br>
                  <a:rPr lang="fr-FR" sz="2400" b="1" dirty="0"/>
                </a:br>
                <a:br>
                  <a:rPr lang="fr-FR" sz="2400" b="1" dirty="0"/>
                </a:br>
                <a14:m>
                  <m:oMathPara xmlns:m="http://schemas.openxmlformats.org/officeDocument/2006/math">
                    <m:oMath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fr-FR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𝐄𝐒𝐑</m:t>
                          </m:r>
                        </m:sub>
                      </m:sSub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B70A4606-3C11-9A12-498C-1DA6FF93B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93" y="3438111"/>
                <a:ext cx="2857962" cy="1107996"/>
              </a:xfrm>
              <a:prstGeom prst="rect">
                <a:avLst/>
              </a:prstGeom>
              <a:blipFill>
                <a:blip r:embed="rId3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25D20346-DDDF-7903-8B26-44D9A6B04402}"/>
                  </a:ext>
                </a:extLst>
              </p:cNvPr>
              <p:cNvSpPr txBox="1"/>
              <p:nvPr/>
            </p:nvSpPr>
            <p:spPr>
              <a:xfrm>
                <a:off x="7087302" y="4682668"/>
                <a:ext cx="50164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fr-FR" sz="2400" dirty="0"/>
                  <a:t>For high value of C</a:t>
                </a:r>
                <a:r>
                  <a:rPr lang="fr-FR" sz="2400" baseline="-25000" dirty="0"/>
                  <a:t>S</a:t>
                </a:r>
                <a:r>
                  <a:rPr lang="fr-FR" sz="2400" dirty="0"/>
                  <a:t>, </a:t>
                </a:r>
                <a:br>
                  <a:rPr lang="fr-FR" sz="2400" dirty="0"/>
                </a:b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𝐸𝑆𝑅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𝐸𝑆𝑅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25D20346-DDDF-7903-8B26-44D9A6B04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302" y="4682668"/>
                <a:ext cx="5016423" cy="830997"/>
              </a:xfrm>
              <a:prstGeom prst="rect">
                <a:avLst/>
              </a:prstGeom>
              <a:blipFill>
                <a:blip r:embed="rId4"/>
                <a:stretch>
                  <a:fillRect l="-1944" t="-5882" b="-7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ZoneTexte 107">
                <a:extLst>
                  <a:ext uri="{FF2B5EF4-FFF2-40B4-BE49-F238E27FC236}">
                    <a16:creationId xmlns:a16="http://schemas.microsoft.com/office/drawing/2014/main" id="{886F3BA8-B571-8915-986E-DE897E7E469C}"/>
                  </a:ext>
                </a:extLst>
              </p:cNvPr>
              <p:cNvSpPr txBox="1"/>
              <p:nvPr/>
            </p:nvSpPr>
            <p:spPr>
              <a:xfrm>
                <a:off x="8286215" y="5616506"/>
                <a:ext cx="1825949" cy="87870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𝑬𝑺𝑹</m:t>
                      </m:r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fr-FR" sz="2800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sub>
                          </m:sSub>
                        </m:num>
                        <m:den>
                          <m:r>
                            <a:rPr lang="fr-F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e>
                            <m:sub>
                              <m:r>
                                <a:rPr lang="fr-FR" sz="2800" b="1" i="0" smtClean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 xmlns="">
          <p:sp>
            <p:nvSpPr>
              <p:cNvPr id="108" name="ZoneTexte 107">
                <a:extLst>
                  <a:ext uri="{FF2B5EF4-FFF2-40B4-BE49-F238E27FC236}">
                    <a16:creationId xmlns:a16="http://schemas.microsoft.com/office/drawing/2014/main" id="{886F3BA8-B571-8915-986E-DE897E7E4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215" y="5616506"/>
                <a:ext cx="1825949" cy="8787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3814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129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“decreasing” load</a:t>
            </a:r>
          </a:p>
        </p:txBody>
      </p:sp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5066589" y="1433374"/>
            <a:ext cx="4867275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5422189" y="1463536"/>
            <a:ext cx="63500" cy="1804988"/>
            <a:chOff x="1335" y="901"/>
            <a:chExt cx="40" cy="1137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1335" y="901"/>
              <a:ext cx="40" cy="88"/>
            </a:xfrm>
            <a:custGeom>
              <a:avLst/>
              <a:gdLst>
                <a:gd name="T0" fmla="*/ 16 w 40"/>
                <a:gd name="T1" fmla="*/ 0 h 88"/>
                <a:gd name="T2" fmla="*/ 40 w 40"/>
                <a:gd name="T3" fmla="*/ 88 h 88"/>
                <a:gd name="T4" fmla="*/ 16 w 40"/>
                <a:gd name="T5" fmla="*/ 88 h 88"/>
                <a:gd name="T6" fmla="*/ 0 w 40"/>
                <a:gd name="T7" fmla="*/ 88 h 88"/>
                <a:gd name="T8" fmla="*/ 16 w 4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88">
                  <a:moveTo>
                    <a:pt x="16" y="0"/>
                  </a:moveTo>
                  <a:lnTo>
                    <a:pt x="40" y="88"/>
                  </a:lnTo>
                  <a:lnTo>
                    <a:pt x="16" y="88"/>
                  </a:lnTo>
                  <a:lnTo>
                    <a:pt x="0" y="8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1351" y="989"/>
              <a:ext cx="1" cy="10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7"/>
          <p:cNvGrpSpPr>
            <a:grpSpLocks/>
          </p:cNvGrpSpPr>
          <p:nvPr/>
        </p:nvGrpSpPr>
        <p:grpSpPr bwMode="auto">
          <a:xfrm>
            <a:off x="5307889" y="2430324"/>
            <a:ext cx="4613275" cy="76200"/>
            <a:chOff x="1263" y="1510"/>
            <a:chExt cx="2906" cy="48"/>
          </a:xfrm>
        </p:grpSpPr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81" y="1510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H="1">
              <a:off x="1263" y="1534"/>
              <a:ext cx="281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5422189" y="3593961"/>
            <a:ext cx="63500" cy="1804988"/>
            <a:chOff x="1335" y="2262"/>
            <a:chExt cx="40" cy="1137"/>
          </a:xfrm>
        </p:grpSpPr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1335" y="2262"/>
              <a:ext cx="40" cy="88"/>
            </a:xfrm>
            <a:custGeom>
              <a:avLst/>
              <a:gdLst>
                <a:gd name="T0" fmla="*/ 16 w 40"/>
                <a:gd name="T1" fmla="*/ 0 h 88"/>
                <a:gd name="T2" fmla="*/ 40 w 40"/>
                <a:gd name="T3" fmla="*/ 88 h 88"/>
                <a:gd name="T4" fmla="*/ 16 w 40"/>
                <a:gd name="T5" fmla="*/ 88 h 88"/>
                <a:gd name="T6" fmla="*/ 0 w 40"/>
                <a:gd name="T7" fmla="*/ 88 h 88"/>
                <a:gd name="T8" fmla="*/ 16 w 4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88">
                  <a:moveTo>
                    <a:pt x="16" y="0"/>
                  </a:moveTo>
                  <a:lnTo>
                    <a:pt x="40" y="88"/>
                  </a:lnTo>
                  <a:lnTo>
                    <a:pt x="16" y="88"/>
                  </a:lnTo>
                  <a:lnTo>
                    <a:pt x="0" y="8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1351" y="2350"/>
              <a:ext cx="1" cy="10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5307889" y="5003661"/>
            <a:ext cx="4613275" cy="76200"/>
            <a:chOff x="1263" y="3239"/>
            <a:chExt cx="2906" cy="48"/>
          </a:xfrm>
        </p:grpSpPr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081" y="3239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H="1">
              <a:off x="1263" y="3263"/>
              <a:ext cx="281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5447589" y="2111236"/>
            <a:ext cx="1449387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6896976" y="2111236"/>
            <a:ext cx="1588" cy="10810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6896976" y="3192324"/>
            <a:ext cx="723900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 flipV="1">
            <a:off x="7620876" y="2111236"/>
            <a:ext cx="1588" cy="10810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7620876" y="2111236"/>
            <a:ext cx="1436688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21"/>
          <p:cNvSpPr>
            <a:spLocks noChangeShapeType="1"/>
          </p:cNvSpPr>
          <p:nvPr/>
        </p:nvSpPr>
        <p:spPr bwMode="auto">
          <a:xfrm>
            <a:off x="9057564" y="2111236"/>
            <a:ext cx="1587" cy="10810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7" name="Group 22"/>
          <p:cNvGrpSpPr>
            <a:grpSpLocks/>
          </p:cNvGrpSpPr>
          <p:nvPr/>
        </p:nvGrpSpPr>
        <p:grpSpPr bwMode="auto">
          <a:xfrm>
            <a:off x="6896976" y="1819136"/>
            <a:ext cx="1588" cy="3482975"/>
            <a:chOff x="2264" y="1125"/>
            <a:chExt cx="1" cy="2194"/>
          </a:xfrm>
        </p:grpSpPr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2264" y="11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2264" y="11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2264" y="12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2264" y="13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2264" y="1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2264" y="1485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2264" y="15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>
              <a:off x="2264" y="16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2264" y="170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2264" y="177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2264" y="184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2264" y="191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2264" y="199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2264" y="206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2264" y="213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>
              <a:off x="2264" y="220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>
              <a:off x="2264" y="227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2264" y="23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>
              <a:off x="2264" y="24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2264" y="24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2264" y="25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>
              <a:off x="2264" y="26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2264" y="27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2264" y="27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>
              <a:off x="2264" y="285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2264" y="292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2264" y="299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2264" y="307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>
              <a:off x="2264" y="314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52"/>
            <p:cNvSpPr>
              <a:spLocks noChangeShapeType="1"/>
            </p:cNvSpPr>
            <p:nvPr/>
          </p:nvSpPr>
          <p:spPr bwMode="auto">
            <a:xfrm>
              <a:off x="2264" y="321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>
              <a:off x="2264" y="328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9" name="Group 54"/>
          <p:cNvGrpSpPr>
            <a:grpSpLocks/>
          </p:cNvGrpSpPr>
          <p:nvPr/>
        </p:nvGrpSpPr>
        <p:grpSpPr bwMode="auto">
          <a:xfrm>
            <a:off x="7620876" y="1819136"/>
            <a:ext cx="1588" cy="3482975"/>
            <a:chOff x="2720" y="1125"/>
            <a:chExt cx="1" cy="2194"/>
          </a:xfrm>
        </p:grpSpPr>
        <p:sp>
          <p:nvSpPr>
            <p:cNvPr id="60" name="Line 55"/>
            <p:cNvSpPr>
              <a:spLocks noChangeShapeType="1"/>
            </p:cNvSpPr>
            <p:nvPr/>
          </p:nvSpPr>
          <p:spPr bwMode="auto">
            <a:xfrm>
              <a:off x="2720" y="11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>
              <a:off x="2720" y="11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Line 57"/>
            <p:cNvSpPr>
              <a:spLocks noChangeShapeType="1"/>
            </p:cNvSpPr>
            <p:nvPr/>
          </p:nvSpPr>
          <p:spPr bwMode="auto">
            <a:xfrm>
              <a:off x="2720" y="12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Line 58"/>
            <p:cNvSpPr>
              <a:spLocks noChangeShapeType="1"/>
            </p:cNvSpPr>
            <p:nvPr/>
          </p:nvSpPr>
          <p:spPr bwMode="auto">
            <a:xfrm>
              <a:off x="2720" y="13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>
              <a:off x="2720" y="1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>
              <a:off x="2720" y="1485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2720" y="15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>
              <a:off x="2720" y="16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>
              <a:off x="2720" y="170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>
              <a:off x="2720" y="177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>
              <a:off x="2720" y="184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>
              <a:off x="2720" y="191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>
              <a:off x="2720" y="199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Line 68"/>
            <p:cNvSpPr>
              <a:spLocks noChangeShapeType="1"/>
            </p:cNvSpPr>
            <p:nvPr/>
          </p:nvSpPr>
          <p:spPr bwMode="auto">
            <a:xfrm>
              <a:off x="2720" y="206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Line 69"/>
            <p:cNvSpPr>
              <a:spLocks noChangeShapeType="1"/>
            </p:cNvSpPr>
            <p:nvPr/>
          </p:nvSpPr>
          <p:spPr bwMode="auto">
            <a:xfrm>
              <a:off x="2720" y="213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>
              <a:off x="2720" y="220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>
              <a:off x="2720" y="227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>
              <a:off x="2720" y="23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Line 73"/>
            <p:cNvSpPr>
              <a:spLocks noChangeShapeType="1"/>
            </p:cNvSpPr>
            <p:nvPr/>
          </p:nvSpPr>
          <p:spPr bwMode="auto">
            <a:xfrm>
              <a:off x="2720" y="24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Line 74"/>
            <p:cNvSpPr>
              <a:spLocks noChangeShapeType="1"/>
            </p:cNvSpPr>
            <p:nvPr/>
          </p:nvSpPr>
          <p:spPr bwMode="auto">
            <a:xfrm>
              <a:off x="2720" y="24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Line 75"/>
            <p:cNvSpPr>
              <a:spLocks noChangeShapeType="1"/>
            </p:cNvSpPr>
            <p:nvPr/>
          </p:nvSpPr>
          <p:spPr bwMode="auto">
            <a:xfrm>
              <a:off x="2720" y="25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Line 76"/>
            <p:cNvSpPr>
              <a:spLocks noChangeShapeType="1"/>
            </p:cNvSpPr>
            <p:nvPr/>
          </p:nvSpPr>
          <p:spPr bwMode="auto">
            <a:xfrm>
              <a:off x="2720" y="26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Line 77"/>
            <p:cNvSpPr>
              <a:spLocks noChangeShapeType="1"/>
            </p:cNvSpPr>
            <p:nvPr/>
          </p:nvSpPr>
          <p:spPr bwMode="auto">
            <a:xfrm>
              <a:off x="2720" y="27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Line 78"/>
            <p:cNvSpPr>
              <a:spLocks noChangeShapeType="1"/>
            </p:cNvSpPr>
            <p:nvPr/>
          </p:nvSpPr>
          <p:spPr bwMode="auto">
            <a:xfrm>
              <a:off x="2720" y="27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Line 79"/>
            <p:cNvSpPr>
              <a:spLocks noChangeShapeType="1"/>
            </p:cNvSpPr>
            <p:nvPr/>
          </p:nvSpPr>
          <p:spPr bwMode="auto">
            <a:xfrm>
              <a:off x="2720" y="285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Line 80"/>
            <p:cNvSpPr>
              <a:spLocks noChangeShapeType="1"/>
            </p:cNvSpPr>
            <p:nvPr/>
          </p:nvSpPr>
          <p:spPr bwMode="auto">
            <a:xfrm>
              <a:off x="2720" y="292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Line 81"/>
            <p:cNvSpPr>
              <a:spLocks noChangeShapeType="1"/>
            </p:cNvSpPr>
            <p:nvPr/>
          </p:nvSpPr>
          <p:spPr bwMode="auto">
            <a:xfrm>
              <a:off x="2720" y="299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Line 82"/>
            <p:cNvSpPr>
              <a:spLocks noChangeShapeType="1"/>
            </p:cNvSpPr>
            <p:nvPr/>
          </p:nvSpPr>
          <p:spPr bwMode="auto">
            <a:xfrm>
              <a:off x="2720" y="307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Line 83"/>
            <p:cNvSpPr>
              <a:spLocks noChangeShapeType="1"/>
            </p:cNvSpPr>
            <p:nvPr/>
          </p:nvSpPr>
          <p:spPr bwMode="auto">
            <a:xfrm>
              <a:off x="2720" y="314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Line 84"/>
            <p:cNvSpPr>
              <a:spLocks noChangeShapeType="1"/>
            </p:cNvSpPr>
            <p:nvPr/>
          </p:nvSpPr>
          <p:spPr bwMode="auto">
            <a:xfrm>
              <a:off x="2720" y="321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Line 85"/>
            <p:cNvSpPr>
              <a:spLocks noChangeShapeType="1"/>
            </p:cNvSpPr>
            <p:nvPr/>
          </p:nvSpPr>
          <p:spPr bwMode="auto">
            <a:xfrm>
              <a:off x="2720" y="328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1" name="Rectangle 86"/>
          <p:cNvSpPr>
            <a:spLocks noChangeArrowheads="1"/>
          </p:cNvSpPr>
          <p:nvPr/>
        </p:nvSpPr>
        <p:spPr bwMode="auto">
          <a:xfrm>
            <a:off x="5117389" y="1933436"/>
            <a:ext cx="1190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2" name="Rectangle 87"/>
          <p:cNvSpPr>
            <a:spLocks noChangeArrowheads="1"/>
          </p:cNvSpPr>
          <p:nvPr/>
        </p:nvSpPr>
        <p:spPr bwMode="auto">
          <a:xfrm>
            <a:off x="5574589" y="3522524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3" name="Rectangle 88"/>
          <p:cNvSpPr>
            <a:spLocks noChangeArrowheads="1"/>
          </p:cNvSpPr>
          <p:nvPr/>
        </p:nvSpPr>
        <p:spPr bwMode="auto">
          <a:xfrm>
            <a:off x="9768764" y="2162036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4" name="Rectangle 89"/>
          <p:cNvSpPr>
            <a:spLocks noChangeArrowheads="1"/>
          </p:cNvSpPr>
          <p:nvPr/>
        </p:nvSpPr>
        <p:spPr bwMode="auto">
          <a:xfrm>
            <a:off x="7417676" y="2531924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5" name="Rectangle 90"/>
          <p:cNvSpPr>
            <a:spLocks noChangeArrowheads="1"/>
          </p:cNvSpPr>
          <p:nvPr/>
        </p:nvSpPr>
        <p:spPr bwMode="auto">
          <a:xfrm>
            <a:off x="6706476" y="2531924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6" name="Rectangle 91"/>
          <p:cNvSpPr>
            <a:spLocks noChangeArrowheads="1"/>
          </p:cNvSpPr>
          <p:nvPr/>
        </p:nvSpPr>
        <p:spPr bwMode="auto">
          <a:xfrm>
            <a:off x="6566776" y="2506524"/>
            <a:ext cx="1127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8" name="Rectangle 93"/>
          <p:cNvSpPr>
            <a:spLocks noChangeArrowheads="1"/>
          </p:cNvSpPr>
          <p:nvPr/>
        </p:nvSpPr>
        <p:spPr bwMode="auto">
          <a:xfrm>
            <a:off x="5701589" y="3636824"/>
            <a:ext cx="841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L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9" name="Rectangle 94"/>
          <p:cNvSpPr>
            <a:spLocks noChangeArrowheads="1"/>
          </p:cNvSpPr>
          <p:nvPr/>
        </p:nvSpPr>
        <p:spPr bwMode="auto">
          <a:xfrm>
            <a:off x="5485689" y="1361936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0" name="Rectangle 95"/>
          <p:cNvSpPr>
            <a:spLocks noChangeArrowheads="1"/>
          </p:cNvSpPr>
          <p:nvPr/>
        </p:nvSpPr>
        <p:spPr bwMode="auto">
          <a:xfrm>
            <a:off x="5625389" y="1476236"/>
            <a:ext cx="841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L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1" name="Rectangle 96"/>
          <p:cNvSpPr>
            <a:spLocks noChangeArrowheads="1"/>
          </p:cNvSpPr>
          <p:nvPr/>
        </p:nvSpPr>
        <p:spPr bwMode="auto">
          <a:xfrm>
            <a:off x="5091989" y="3014524"/>
            <a:ext cx="25648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Times" panose="02020603050405020304" pitchFamily="18" charset="0"/>
              </a:rPr>
              <a:t>-V</a:t>
            </a:r>
            <a:r>
              <a:rPr lang="fr-FR" altLang="fr-FR" sz="1400" b="1" baseline="-25000" dirty="0">
                <a:solidFill>
                  <a:srgbClr val="000000"/>
                </a:solidFill>
                <a:latin typeface="Times" panose="02020603050405020304" pitchFamily="18" charset="0"/>
              </a:rPr>
              <a:t>S</a:t>
            </a:r>
            <a:endParaRPr lang="fr-FR" altLang="fr-FR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103" name="Rectangle 98"/>
          <p:cNvSpPr>
            <a:spLocks noChangeArrowheads="1"/>
          </p:cNvSpPr>
          <p:nvPr/>
        </p:nvSpPr>
        <p:spPr bwMode="auto">
          <a:xfrm>
            <a:off x="7570076" y="5340211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4" name="Rectangle 99"/>
          <p:cNvSpPr>
            <a:spLocks noChangeArrowheads="1"/>
          </p:cNvSpPr>
          <p:nvPr/>
        </p:nvSpPr>
        <p:spPr bwMode="auto">
          <a:xfrm>
            <a:off x="6922376" y="5340211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5" name="Rectangle 100"/>
          <p:cNvSpPr>
            <a:spLocks noChangeArrowheads="1"/>
          </p:cNvSpPr>
          <p:nvPr/>
        </p:nvSpPr>
        <p:spPr bwMode="auto">
          <a:xfrm>
            <a:off x="6782676" y="5314811"/>
            <a:ext cx="1127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6" name="Rectangle 101"/>
          <p:cNvSpPr>
            <a:spLocks noChangeArrowheads="1"/>
          </p:cNvSpPr>
          <p:nvPr/>
        </p:nvSpPr>
        <p:spPr bwMode="auto">
          <a:xfrm>
            <a:off x="5269789" y="5251311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7" name="Rectangle 102"/>
          <p:cNvSpPr>
            <a:spLocks noChangeArrowheads="1"/>
          </p:cNvSpPr>
          <p:nvPr/>
        </p:nvSpPr>
        <p:spPr bwMode="auto">
          <a:xfrm>
            <a:off x="9756064" y="4890949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08" name="Group 103"/>
          <p:cNvGrpSpPr>
            <a:grpSpLocks/>
          </p:cNvGrpSpPr>
          <p:nvPr/>
        </p:nvGrpSpPr>
        <p:grpSpPr bwMode="auto">
          <a:xfrm>
            <a:off x="4614151" y="3673336"/>
            <a:ext cx="5348288" cy="712788"/>
            <a:chOff x="826" y="2346"/>
            <a:chExt cx="3369" cy="449"/>
          </a:xfrm>
        </p:grpSpPr>
        <p:grpSp>
          <p:nvGrpSpPr>
            <p:cNvPr id="109" name="Group 104"/>
            <p:cNvGrpSpPr>
              <a:grpSpLocks/>
            </p:cNvGrpSpPr>
            <p:nvPr/>
          </p:nvGrpSpPr>
          <p:grpSpPr bwMode="auto">
            <a:xfrm>
              <a:off x="1351" y="2346"/>
              <a:ext cx="2274" cy="449"/>
              <a:chOff x="1351" y="2499"/>
              <a:chExt cx="2274" cy="449"/>
            </a:xfrm>
          </p:grpSpPr>
          <p:sp>
            <p:nvSpPr>
              <p:cNvPr id="112" name="Line 105"/>
              <p:cNvSpPr>
                <a:spLocks noChangeShapeType="1"/>
              </p:cNvSpPr>
              <p:nvPr/>
            </p:nvSpPr>
            <p:spPr bwMode="auto">
              <a:xfrm flipV="1">
                <a:off x="1351" y="2499"/>
                <a:ext cx="913" cy="449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3" name="Line 106"/>
              <p:cNvSpPr>
                <a:spLocks noChangeShapeType="1"/>
              </p:cNvSpPr>
              <p:nvPr/>
            </p:nvSpPr>
            <p:spPr bwMode="auto">
              <a:xfrm>
                <a:off x="2264" y="2499"/>
                <a:ext cx="456" cy="449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4" name="Line 107"/>
              <p:cNvSpPr>
                <a:spLocks noChangeShapeType="1"/>
              </p:cNvSpPr>
              <p:nvPr/>
            </p:nvSpPr>
            <p:spPr bwMode="auto">
              <a:xfrm flipV="1">
                <a:off x="2720" y="2499"/>
                <a:ext cx="905" cy="449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>
              <a:off x="1247" y="2568"/>
              <a:ext cx="2948" cy="0"/>
            </a:xfrm>
            <a:prstGeom prst="line">
              <a:avLst/>
            </a:prstGeom>
            <a:noFill/>
            <a:ln w="222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Text Box 109"/>
            <p:cNvSpPr txBox="1">
              <a:spLocks noChangeArrowheads="1"/>
            </p:cNvSpPr>
            <p:nvPr/>
          </p:nvSpPr>
          <p:spPr bwMode="auto">
            <a:xfrm>
              <a:off x="826" y="2446"/>
              <a:ext cx="2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115" name="AutoShape 110"/>
          <p:cNvSpPr>
            <a:spLocks noChangeArrowheads="1"/>
          </p:cNvSpPr>
          <p:nvPr/>
        </p:nvSpPr>
        <p:spPr bwMode="auto">
          <a:xfrm>
            <a:off x="4129964" y="3809861"/>
            <a:ext cx="215900" cy="792163"/>
          </a:xfrm>
          <a:prstGeom prst="downArrow">
            <a:avLst>
              <a:gd name="adj1" fmla="val 50000"/>
              <a:gd name="adj2" fmla="val 91728"/>
            </a:avLst>
          </a:prstGeom>
          <a:solidFill>
            <a:srgbClr val="339966"/>
          </a:solidFill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16" name="Text Box 111"/>
          <p:cNvSpPr txBox="1">
            <a:spLocks noChangeArrowheads="1"/>
          </p:cNvSpPr>
          <p:nvPr/>
        </p:nvSpPr>
        <p:spPr bwMode="auto">
          <a:xfrm>
            <a:off x="5982576" y="5632311"/>
            <a:ext cx="29706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 b="1" i="1" dirty="0">
                <a:solidFill>
                  <a:srgbClr val="FF3300"/>
                </a:solidFill>
                <a:latin typeface="Calibri (Corps)"/>
              </a:rPr>
              <a:t>=&gt; Boundary mode</a:t>
            </a:r>
          </a:p>
        </p:txBody>
      </p:sp>
      <p:sp>
        <p:nvSpPr>
          <p:cNvPr id="117" name="ZoneTexte 11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18" name="Connecteur droit 11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64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0 L 3.54167E-6 0.09398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6600ACA-7094-5121-02C2-68C01A31B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811" y="1269825"/>
            <a:ext cx="5448300" cy="2095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Boundary mode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3752836" y="3616237"/>
            <a:ext cx="39688" cy="1198563"/>
            <a:chOff x="1335" y="901"/>
            <a:chExt cx="40" cy="113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1335" y="901"/>
              <a:ext cx="40" cy="88"/>
            </a:xfrm>
            <a:custGeom>
              <a:avLst/>
              <a:gdLst>
                <a:gd name="T0" fmla="*/ 16 w 40"/>
                <a:gd name="T1" fmla="*/ 0 h 88"/>
                <a:gd name="T2" fmla="*/ 40 w 40"/>
                <a:gd name="T3" fmla="*/ 88 h 88"/>
                <a:gd name="T4" fmla="*/ 16 w 40"/>
                <a:gd name="T5" fmla="*/ 88 h 88"/>
                <a:gd name="T6" fmla="*/ 0 w 40"/>
                <a:gd name="T7" fmla="*/ 88 h 88"/>
                <a:gd name="T8" fmla="*/ 16 w 4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88">
                  <a:moveTo>
                    <a:pt x="16" y="0"/>
                  </a:moveTo>
                  <a:lnTo>
                    <a:pt x="40" y="88"/>
                  </a:lnTo>
                  <a:lnTo>
                    <a:pt x="16" y="88"/>
                  </a:lnTo>
                  <a:lnTo>
                    <a:pt x="0" y="8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351" y="989"/>
              <a:ext cx="1" cy="10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3682986" y="4259175"/>
            <a:ext cx="2830513" cy="50800"/>
            <a:chOff x="1263" y="1510"/>
            <a:chExt cx="2906" cy="48"/>
          </a:xfrm>
        </p:grpSpPr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4081" y="1510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1263" y="1534"/>
              <a:ext cx="281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3752836" y="5051337"/>
            <a:ext cx="39688" cy="1198563"/>
            <a:chOff x="1335" y="2262"/>
            <a:chExt cx="40" cy="1137"/>
          </a:xfrm>
        </p:grpSpPr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35" y="2262"/>
              <a:ext cx="40" cy="88"/>
            </a:xfrm>
            <a:custGeom>
              <a:avLst/>
              <a:gdLst>
                <a:gd name="T0" fmla="*/ 16 w 40"/>
                <a:gd name="T1" fmla="*/ 0 h 88"/>
                <a:gd name="T2" fmla="*/ 40 w 40"/>
                <a:gd name="T3" fmla="*/ 88 h 88"/>
                <a:gd name="T4" fmla="*/ 16 w 40"/>
                <a:gd name="T5" fmla="*/ 88 h 88"/>
                <a:gd name="T6" fmla="*/ 0 w 40"/>
                <a:gd name="T7" fmla="*/ 88 h 88"/>
                <a:gd name="T8" fmla="*/ 16 w 4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88">
                  <a:moveTo>
                    <a:pt x="16" y="0"/>
                  </a:moveTo>
                  <a:lnTo>
                    <a:pt x="40" y="88"/>
                  </a:lnTo>
                  <a:lnTo>
                    <a:pt x="16" y="88"/>
                  </a:lnTo>
                  <a:lnTo>
                    <a:pt x="0" y="8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1351" y="2350"/>
              <a:ext cx="1" cy="10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3"/>
          <p:cNvGrpSpPr>
            <a:grpSpLocks/>
          </p:cNvGrpSpPr>
          <p:nvPr/>
        </p:nvGrpSpPr>
        <p:grpSpPr bwMode="auto">
          <a:xfrm>
            <a:off x="3682986" y="5987962"/>
            <a:ext cx="2830513" cy="50800"/>
            <a:chOff x="1263" y="3239"/>
            <a:chExt cx="2906" cy="48"/>
          </a:xfrm>
        </p:grpSpPr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4081" y="3239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 flipH="1">
              <a:off x="1263" y="3263"/>
              <a:ext cx="281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3768711" y="4046450"/>
            <a:ext cx="889000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4657711" y="4046450"/>
            <a:ext cx="1588" cy="7191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4657711" y="4765587"/>
            <a:ext cx="4445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 flipV="1">
            <a:off x="5102211" y="4046450"/>
            <a:ext cx="1588" cy="7191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5102211" y="4046450"/>
            <a:ext cx="881063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5983274" y="4046450"/>
            <a:ext cx="1587" cy="7191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6" name="Group 22"/>
          <p:cNvGrpSpPr>
            <a:grpSpLocks/>
          </p:cNvGrpSpPr>
          <p:nvPr/>
        </p:nvGrpSpPr>
        <p:grpSpPr bwMode="auto">
          <a:xfrm>
            <a:off x="5102211" y="3852775"/>
            <a:ext cx="1588" cy="2312987"/>
            <a:chOff x="2720" y="1125"/>
            <a:chExt cx="1" cy="2194"/>
          </a:xfrm>
        </p:grpSpPr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2720" y="11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2720" y="11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2720" y="12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2720" y="13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2720" y="1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2720" y="1485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2720" y="15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2720" y="16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2720" y="170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2720" y="177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>
              <a:off x="2720" y="184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2720" y="191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>
              <a:off x="2720" y="199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2720" y="206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>
              <a:off x="2720" y="213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2720" y="220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>
              <a:off x="2720" y="227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2720" y="23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41"/>
            <p:cNvSpPr>
              <a:spLocks noChangeShapeType="1"/>
            </p:cNvSpPr>
            <p:nvPr/>
          </p:nvSpPr>
          <p:spPr bwMode="auto">
            <a:xfrm>
              <a:off x="2720" y="24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>
              <a:off x="2720" y="24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43"/>
            <p:cNvSpPr>
              <a:spLocks noChangeShapeType="1"/>
            </p:cNvSpPr>
            <p:nvPr/>
          </p:nvSpPr>
          <p:spPr bwMode="auto">
            <a:xfrm>
              <a:off x="2720" y="25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>
              <a:off x="2720" y="26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>
              <a:off x="2720" y="27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>
              <a:off x="2720" y="27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>
              <a:off x="2720" y="285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2720" y="292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2720" y="299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50"/>
            <p:cNvSpPr>
              <a:spLocks noChangeShapeType="1"/>
            </p:cNvSpPr>
            <p:nvPr/>
          </p:nvSpPr>
          <p:spPr bwMode="auto">
            <a:xfrm>
              <a:off x="2720" y="307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51"/>
            <p:cNvSpPr>
              <a:spLocks noChangeShapeType="1"/>
            </p:cNvSpPr>
            <p:nvPr/>
          </p:nvSpPr>
          <p:spPr bwMode="auto">
            <a:xfrm>
              <a:off x="2720" y="314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52"/>
            <p:cNvSpPr>
              <a:spLocks noChangeShapeType="1"/>
            </p:cNvSpPr>
            <p:nvPr/>
          </p:nvSpPr>
          <p:spPr bwMode="auto">
            <a:xfrm>
              <a:off x="2720" y="321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53"/>
            <p:cNvSpPr>
              <a:spLocks noChangeShapeType="1"/>
            </p:cNvSpPr>
            <p:nvPr/>
          </p:nvSpPr>
          <p:spPr bwMode="auto">
            <a:xfrm>
              <a:off x="2720" y="328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8" name="Rectangle 54"/>
          <p:cNvSpPr>
            <a:spLocks noChangeArrowheads="1"/>
          </p:cNvSpPr>
          <p:nvPr/>
        </p:nvSpPr>
        <p:spPr bwMode="auto">
          <a:xfrm>
            <a:off x="3565511" y="3930562"/>
            <a:ext cx="1190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9" name="Rectangle 55"/>
          <p:cNvSpPr>
            <a:spLocks noChangeArrowheads="1"/>
          </p:cNvSpPr>
          <p:nvPr/>
        </p:nvSpPr>
        <p:spPr bwMode="auto">
          <a:xfrm>
            <a:off x="3846499" y="4984662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0" name="Rectangle 56"/>
          <p:cNvSpPr>
            <a:spLocks noChangeArrowheads="1"/>
          </p:cNvSpPr>
          <p:nvPr/>
        </p:nvSpPr>
        <p:spPr bwMode="auto">
          <a:xfrm>
            <a:off x="6419836" y="4081375"/>
            <a:ext cx="492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1" name="Rectangle 57"/>
          <p:cNvSpPr>
            <a:spLocks noChangeArrowheads="1"/>
          </p:cNvSpPr>
          <p:nvPr/>
        </p:nvSpPr>
        <p:spPr bwMode="auto">
          <a:xfrm>
            <a:off x="4978386" y="4325850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2" name="Rectangle 58"/>
          <p:cNvSpPr>
            <a:spLocks noChangeArrowheads="1"/>
          </p:cNvSpPr>
          <p:nvPr/>
        </p:nvSpPr>
        <p:spPr bwMode="auto">
          <a:xfrm>
            <a:off x="4541824" y="4325850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3" name="Rectangle 59"/>
          <p:cNvSpPr>
            <a:spLocks noChangeArrowheads="1"/>
          </p:cNvSpPr>
          <p:nvPr/>
        </p:nvSpPr>
        <p:spPr bwMode="auto">
          <a:xfrm>
            <a:off x="4456099" y="4309975"/>
            <a:ext cx="1127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4" name="Rectangle 60"/>
          <p:cNvSpPr>
            <a:spLocks noChangeArrowheads="1"/>
          </p:cNvSpPr>
          <p:nvPr/>
        </p:nvSpPr>
        <p:spPr bwMode="auto">
          <a:xfrm>
            <a:off x="3667111" y="4005175"/>
            <a:ext cx="635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5" name="Rectangle 61"/>
          <p:cNvSpPr>
            <a:spLocks noChangeArrowheads="1"/>
          </p:cNvSpPr>
          <p:nvPr/>
        </p:nvSpPr>
        <p:spPr bwMode="auto">
          <a:xfrm>
            <a:off x="3924286" y="5059275"/>
            <a:ext cx="841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L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6" name="Rectangle 62"/>
          <p:cNvSpPr>
            <a:spLocks noChangeArrowheads="1"/>
          </p:cNvSpPr>
          <p:nvPr/>
        </p:nvSpPr>
        <p:spPr bwMode="auto">
          <a:xfrm>
            <a:off x="3792524" y="3549562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7" name="Rectangle 63"/>
          <p:cNvSpPr>
            <a:spLocks noChangeArrowheads="1"/>
          </p:cNvSpPr>
          <p:nvPr/>
        </p:nvSpPr>
        <p:spPr bwMode="auto">
          <a:xfrm>
            <a:off x="3878249" y="3625762"/>
            <a:ext cx="841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L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8" name="Rectangle 64"/>
          <p:cNvSpPr>
            <a:spLocks noChangeArrowheads="1"/>
          </p:cNvSpPr>
          <p:nvPr/>
        </p:nvSpPr>
        <p:spPr bwMode="auto">
          <a:xfrm>
            <a:off x="3476611" y="4648112"/>
            <a:ext cx="1778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Times" panose="02020603050405020304" pitchFamily="18" charset="0"/>
              </a:rPr>
              <a:t>-E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9" name="Rectangle 65"/>
          <p:cNvSpPr>
            <a:spLocks noChangeArrowheads="1"/>
          </p:cNvSpPr>
          <p:nvPr/>
        </p:nvSpPr>
        <p:spPr bwMode="auto">
          <a:xfrm>
            <a:off x="3692511" y="4773525"/>
            <a:ext cx="635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0" name="Rectangle 66"/>
          <p:cNvSpPr>
            <a:spLocks noChangeArrowheads="1"/>
          </p:cNvSpPr>
          <p:nvPr/>
        </p:nvSpPr>
        <p:spPr bwMode="auto">
          <a:xfrm>
            <a:off x="5070461" y="6191162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1" name="Rectangle 67"/>
          <p:cNvSpPr>
            <a:spLocks noChangeArrowheads="1"/>
          </p:cNvSpPr>
          <p:nvPr/>
        </p:nvSpPr>
        <p:spPr bwMode="auto">
          <a:xfrm>
            <a:off x="4671999" y="6191162"/>
            <a:ext cx="1079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2" name="Rectangle 68"/>
          <p:cNvSpPr>
            <a:spLocks noChangeArrowheads="1"/>
          </p:cNvSpPr>
          <p:nvPr/>
        </p:nvSpPr>
        <p:spPr bwMode="auto">
          <a:xfrm>
            <a:off x="4587861" y="6173700"/>
            <a:ext cx="1127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3" name="Rectangle 69"/>
          <p:cNvSpPr>
            <a:spLocks noChangeArrowheads="1"/>
          </p:cNvSpPr>
          <p:nvPr/>
        </p:nvSpPr>
        <p:spPr bwMode="auto">
          <a:xfrm>
            <a:off x="3659174" y="6132425"/>
            <a:ext cx="889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4" name="Rectangle 70"/>
          <p:cNvSpPr>
            <a:spLocks noChangeArrowheads="1"/>
          </p:cNvSpPr>
          <p:nvPr/>
        </p:nvSpPr>
        <p:spPr bwMode="auto">
          <a:xfrm>
            <a:off x="6411899" y="5892712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6" name="Text Box 73"/>
          <p:cNvSpPr txBox="1">
            <a:spLocks noChangeArrowheads="1"/>
          </p:cNvSpPr>
          <p:nvPr/>
        </p:nvSpPr>
        <p:spPr bwMode="auto">
          <a:xfrm>
            <a:off x="7799373" y="3570033"/>
            <a:ext cx="38838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 dirty="0">
                <a:latin typeface="Calibri (Corps)"/>
              </a:rPr>
              <a:t>Average boundary mode  I</a:t>
            </a:r>
            <a:r>
              <a:rPr lang="en-US" altLang="fr-FR" sz="1800" b="1" baseline="-25000" dirty="0">
                <a:latin typeface="Calibri (Corps)"/>
              </a:rPr>
              <a:t>S</a:t>
            </a:r>
            <a:r>
              <a:rPr lang="en-US" altLang="fr-FR" sz="1800" b="1" dirty="0">
                <a:latin typeface="Calibri (Corps)"/>
              </a:rPr>
              <a:t> = &lt;i</a:t>
            </a:r>
            <a:r>
              <a:rPr lang="en-US" altLang="fr-FR" sz="1800" b="1" baseline="-25000" dirty="0">
                <a:latin typeface="Calibri (Corps)"/>
              </a:rPr>
              <a:t>D</a:t>
            </a:r>
            <a:r>
              <a:rPr lang="en-US" altLang="fr-FR" sz="1800" b="1" dirty="0">
                <a:latin typeface="Calibri (Corps)"/>
              </a:rPr>
              <a:t>&gt;</a:t>
            </a:r>
          </a:p>
        </p:txBody>
      </p:sp>
      <p:sp>
        <p:nvSpPr>
          <p:cNvPr id="78" name="Line 75"/>
          <p:cNvSpPr>
            <a:spLocks noChangeShapeType="1"/>
          </p:cNvSpPr>
          <p:nvPr/>
        </p:nvSpPr>
        <p:spPr bwMode="auto">
          <a:xfrm>
            <a:off x="5495911" y="1625512"/>
            <a:ext cx="127000" cy="7938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9" name="Text Box 76"/>
          <p:cNvSpPr txBox="1">
            <a:spLocks noChangeArrowheads="1"/>
          </p:cNvSpPr>
          <p:nvPr/>
        </p:nvSpPr>
        <p:spPr bwMode="auto">
          <a:xfrm>
            <a:off x="5586399" y="1161962"/>
            <a:ext cx="357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i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D</a:t>
            </a:r>
            <a:endParaRPr lang="fr-FR" altLang="fr-FR" sz="1800" b="1" i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" name="AutoShape 77" descr="Diagonales larges vers le haut"/>
          <p:cNvSpPr>
            <a:spLocks noChangeArrowheads="1"/>
          </p:cNvSpPr>
          <p:nvPr/>
        </p:nvSpPr>
        <p:spPr bwMode="auto">
          <a:xfrm>
            <a:off x="4651361" y="5537112"/>
            <a:ext cx="438150" cy="466725"/>
          </a:xfrm>
          <a:prstGeom prst="rtTriangl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4732324" y="5248187"/>
            <a:ext cx="3571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i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D</a:t>
            </a:r>
            <a:endParaRPr lang="fr-FR" altLang="fr-FR" sz="1800" b="1" i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2" name="Group 79"/>
          <p:cNvGrpSpPr>
            <a:grpSpLocks/>
          </p:cNvGrpSpPr>
          <p:nvPr/>
        </p:nvGrpSpPr>
        <p:grpSpPr bwMode="auto">
          <a:xfrm>
            <a:off x="3257536" y="5540287"/>
            <a:ext cx="3281363" cy="473075"/>
            <a:chOff x="826" y="2346"/>
            <a:chExt cx="3369" cy="449"/>
          </a:xfrm>
        </p:grpSpPr>
        <p:grpSp>
          <p:nvGrpSpPr>
            <p:cNvPr id="83" name="Group 80"/>
            <p:cNvGrpSpPr>
              <a:grpSpLocks/>
            </p:cNvGrpSpPr>
            <p:nvPr/>
          </p:nvGrpSpPr>
          <p:grpSpPr bwMode="auto">
            <a:xfrm>
              <a:off x="1351" y="2346"/>
              <a:ext cx="2274" cy="449"/>
              <a:chOff x="1351" y="2499"/>
              <a:chExt cx="2274" cy="449"/>
            </a:xfrm>
          </p:grpSpPr>
          <p:sp>
            <p:nvSpPr>
              <p:cNvPr id="86" name="Line 81"/>
              <p:cNvSpPr>
                <a:spLocks noChangeShapeType="1"/>
              </p:cNvSpPr>
              <p:nvPr/>
            </p:nvSpPr>
            <p:spPr bwMode="auto">
              <a:xfrm flipV="1">
                <a:off x="1351" y="2499"/>
                <a:ext cx="913" cy="449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7" name="Line 82"/>
              <p:cNvSpPr>
                <a:spLocks noChangeShapeType="1"/>
              </p:cNvSpPr>
              <p:nvPr/>
            </p:nvSpPr>
            <p:spPr bwMode="auto">
              <a:xfrm>
                <a:off x="2264" y="2499"/>
                <a:ext cx="456" cy="449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8" name="Line 83"/>
              <p:cNvSpPr>
                <a:spLocks noChangeShapeType="1"/>
              </p:cNvSpPr>
              <p:nvPr/>
            </p:nvSpPr>
            <p:spPr bwMode="auto">
              <a:xfrm flipV="1">
                <a:off x="2720" y="2499"/>
                <a:ext cx="905" cy="449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84" name="Line 84"/>
            <p:cNvSpPr>
              <a:spLocks noChangeShapeType="1"/>
            </p:cNvSpPr>
            <p:nvPr/>
          </p:nvSpPr>
          <p:spPr bwMode="auto">
            <a:xfrm>
              <a:off x="1247" y="2568"/>
              <a:ext cx="2948" cy="0"/>
            </a:xfrm>
            <a:prstGeom prst="line">
              <a:avLst/>
            </a:prstGeom>
            <a:noFill/>
            <a:ln w="222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 Box 85"/>
            <p:cNvSpPr txBox="1">
              <a:spLocks noChangeArrowheads="1"/>
            </p:cNvSpPr>
            <p:nvPr/>
          </p:nvSpPr>
          <p:spPr bwMode="auto">
            <a:xfrm>
              <a:off x="826" y="2445"/>
              <a:ext cx="363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</p:grpSp>
      <p:grpSp>
        <p:nvGrpSpPr>
          <p:cNvPr id="89" name="Group 86"/>
          <p:cNvGrpSpPr>
            <a:grpSpLocks/>
          </p:cNvGrpSpPr>
          <p:nvPr/>
        </p:nvGrpSpPr>
        <p:grpSpPr bwMode="auto">
          <a:xfrm>
            <a:off x="4657711" y="3852775"/>
            <a:ext cx="1588" cy="2312987"/>
            <a:chOff x="2264" y="1125"/>
            <a:chExt cx="1" cy="2194"/>
          </a:xfrm>
        </p:grpSpPr>
        <p:sp>
          <p:nvSpPr>
            <p:cNvPr id="90" name="Line 87"/>
            <p:cNvSpPr>
              <a:spLocks noChangeShapeType="1"/>
            </p:cNvSpPr>
            <p:nvPr/>
          </p:nvSpPr>
          <p:spPr bwMode="auto">
            <a:xfrm>
              <a:off x="2264" y="11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Line 88"/>
            <p:cNvSpPr>
              <a:spLocks noChangeShapeType="1"/>
            </p:cNvSpPr>
            <p:nvPr/>
          </p:nvSpPr>
          <p:spPr bwMode="auto">
            <a:xfrm>
              <a:off x="2264" y="11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Line 89"/>
            <p:cNvSpPr>
              <a:spLocks noChangeShapeType="1"/>
            </p:cNvSpPr>
            <p:nvPr/>
          </p:nvSpPr>
          <p:spPr bwMode="auto">
            <a:xfrm>
              <a:off x="2264" y="12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3" name="Line 90"/>
            <p:cNvSpPr>
              <a:spLocks noChangeShapeType="1"/>
            </p:cNvSpPr>
            <p:nvPr/>
          </p:nvSpPr>
          <p:spPr bwMode="auto">
            <a:xfrm>
              <a:off x="2264" y="13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Line 91"/>
            <p:cNvSpPr>
              <a:spLocks noChangeShapeType="1"/>
            </p:cNvSpPr>
            <p:nvPr/>
          </p:nvSpPr>
          <p:spPr bwMode="auto">
            <a:xfrm>
              <a:off x="2264" y="1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Line 92"/>
            <p:cNvSpPr>
              <a:spLocks noChangeShapeType="1"/>
            </p:cNvSpPr>
            <p:nvPr/>
          </p:nvSpPr>
          <p:spPr bwMode="auto">
            <a:xfrm>
              <a:off x="2264" y="1485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Line 93"/>
            <p:cNvSpPr>
              <a:spLocks noChangeShapeType="1"/>
            </p:cNvSpPr>
            <p:nvPr/>
          </p:nvSpPr>
          <p:spPr bwMode="auto">
            <a:xfrm>
              <a:off x="2264" y="15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Line 94"/>
            <p:cNvSpPr>
              <a:spLocks noChangeShapeType="1"/>
            </p:cNvSpPr>
            <p:nvPr/>
          </p:nvSpPr>
          <p:spPr bwMode="auto">
            <a:xfrm>
              <a:off x="2264" y="16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Line 95"/>
            <p:cNvSpPr>
              <a:spLocks noChangeShapeType="1"/>
            </p:cNvSpPr>
            <p:nvPr/>
          </p:nvSpPr>
          <p:spPr bwMode="auto">
            <a:xfrm>
              <a:off x="2264" y="170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Line 96"/>
            <p:cNvSpPr>
              <a:spLocks noChangeShapeType="1"/>
            </p:cNvSpPr>
            <p:nvPr/>
          </p:nvSpPr>
          <p:spPr bwMode="auto">
            <a:xfrm>
              <a:off x="2264" y="177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Line 97"/>
            <p:cNvSpPr>
              <a:spLocks noChangeShapeType="1"/>
            </p:cNvSpPr>
            <p:nvPr/>
          </p:nvSpPr>
          <p:spPr bwMode="auto">
            <a:xfrm>
              <a:off x="2264" y="184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1" name="Line 98"/>
            <p:cNvSpPr>
              <a:spLocks noChangeShapeType="1"/>
            </p:cNvSpPr>
            <p:nvPr/>
          </p:nvSpPr>
          <p:spPr bwMode="auto">
            <a:xfrm>
              <a:off x="2264" y="191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Line 99"/>
            <p:cNvSpPr>
              <a:spLocks noChangeShapeType="1"/>
            </p:cNvSpPr>
            <p:nvPr/>
          </p:nvSpPr>
          <p:spPr bwMode="auto">
            <a:xfrm>
              <a:off x="2264" y="199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Line 100"/>
            <p:cNvSpPr>
              <a:spLocks noChangeShapeType="1"/>
            </p:cNvSpPr>
            <p:nvPr/>
          </p:nvSpPr>
          <p:spPr bwMode="auto">
            <a:xfrm>
              <a:off x="2264" y="206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Line 101"/>
            <p:cNvSpPr>
              <a:spLocks noChangeShapeType="1"/>
            </p:cNvSpPr>
            <p:nvPr/>
          </p:nvSpPr>
          <p:spPr bwMode="auto">
            <a:xfrm>
              <a:off x="2264" y="213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Line 102"/>
            <p:cNvSpPr>
              <a:spLocks noChangeShapeType="1"/>
            </p:cNvSpPr>
            <p:nvPr/>
          </p:nvSpPr>
          <p:spPr bwMode="auto">
            <a:xfrm>
              <a:off x="2264" y="220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Line 103"/>
            <p:cNvSpPr>
              <a:spLocks noChangeShapeType="1"/>
            </p:cNvSpPr>
            <p:nvPr/>
          </p:nvSpPr>
          <p:spPr bwMode="auto">
            <a:xfrm>
              <a:off x="2264" y="227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7" name="Line 104"/>
            <p:cNvSpPr>
              <a:spLocks noChangeShapeType="1"/>
            </p:cNvSpPr>
            <p:nvPr/>
          </p:nvSpPr>
          <p:spPr bwMode="auto">
            <a:xfrm>
              <a:off x="2264" y="23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Line 105"/>
            <p:cNvSpPr>
              <a:spLocks noChangeShapeType="1"/>
            </p:cNvSpPr>
            <p:nvPr/>
          </p:nvSpPr>
          <p:spPr bwMode="auto">
            <a:xfrm>
              <a:off x="2264" y="24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Line 106"/>
            <p:cNvSpPr>
              <a:spLocks noChangeShapeType="1"/>
            </p:cNvSpPr>
            <p:nvPr/>
          </p:nvSpPr>
          <p:spPr bwMode="auto">
            <a:xfrm>
              <a:off x="2264" y="24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0" name="Line 107"/>
            <p:cNvSpPr>
              <a:spLocks noChangeShapeType="1"/>
            </p:cNvSpPr>
            <p:nvPr/>
          </p:nvSpPr>
          <p:spPr bwMode="auto">
            <a:xfrm>
              <a:off x="2264" y="25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Line 108"/>
            <p:cNvSpPr>
              <a:spLocks noChangeShapeType="1"/>
            </p:cNvSpPr>
            <p:nvPr/>
          </p:nvSpPr>
          <p:spPr bwMode="auto">
            <a:xfrm>
              <a:off x="2264" y="26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Line 109"/>
            <p:cNvSpPr>
              <a:spLocks noChangeShapeType="1"/>
            </p:cNvSpPr>
            <p:nvPr/>
          </p:nvSpPr>
          <p:spPr bwMode="auto">
            <a:xfrm>
              <a:off x="2264" y="27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3" name="Line 110"/>
            <p:cNvSpPr>
              <a:spLocks noChangeShapeType="1"/>
            </p:cNvSpPr>
            <p:nvPr/>
          </p:nvSpPr>
          <p:spPr bwMode="auto">
            <a:xfrm>
              <a:off x="2264" y="27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Line 111"/>
            <p:cNvSpPr>
              <a:spLocks noChangeShapeType="1"/>
            </p:cNvSpPr>
            <p:nvPr/>
          </p:nvSpPr>
          <p:spPr bwMode="auto">
            <a:xfrm>
              <a:off x="2264" y="285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Line 112"/>
            <p:cNvSpPr>
              <a:spLocks noChangeShapeType="1"/>
            </p:cNvSpPr>
            <p:nvPr/>
          </p:nvSpPr>
          <p:spPr bwMode="auto">
            <a:xfrm>
              <a:off x="2264" y="292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6" name="Line 113"/>
            <p:cNvSpPr>
              <a:spLocks noChangeShapeType="1"/>
            </p:cNvSpPr>
            <p:nvPr/>
          </p:nvSpPr>
          <p:spPr bwMode="auto">
            <a:xfrm>
              <a:off x="2264" y="299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7" name="Line 114"/>
            <p:cNvSpPr>
              <a:spLocks noChangeShapeType="1"/>
            </p:cNvSpPr>
            <p:nvPr/>
          </p:nvSpPr>
          <p:spPr bwMode="auto">
            <a:xfrm>
              <a:off x="2264" y="307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Line 115"/>
            <p:cNvSpPr>
              <a:spLocks noChangeShapeType="1"/>
            </p:cNvSpPr>
            <p:nvPr/>
          </p:nvSpPr>
          <p:spPr bwMode="auto">
            <a:xfrm>
              <a:off x="2264" y="314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9" name="Line 116"/>
            <p:cNvSpPr>
              <a:spLocks noChangeShapeType="1"/>
            </p:cNvSpPr>
            <p:nvPr/>
          </p:nvSpPr>
          <p:spPr bwMode="auto">
            <a:xfrm>
              <a:off x="2264" y="321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Line 117"/>
            <p:cNvSpPr>
              <a:spLocks noChangeShapeType="1"/>
            </p:cNvSpPr>
            <p:nvPr/>
          </p:nvSpPr>
          <p:spPr bwMode="auto">
            <a:xfrm>
              <a:off x="2264" y="328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Object 120"/>
              <p:cNvSpPr txBox="1"/>
              <p:nvPr/>
            </p:nvSpPr>
            <p:spPr bwMode="auto">
              <a:xfrm>
                <a:off x="7616255" y="1378419"/>
                <a:ext cx="4098203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21" name="Object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16255" y="1378419"/>
                <a:ext cx="4098203" cy="733425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bject 123"/>
              <p:cNvSpPr txBox="1"/>
              <p:nvPr/>
            </p:nvSpPr>
            <p:spPr bwMode="auto">
              <a:xfrm>
                <a:off x="7616255" y="2403106"/>
                <a:ext cx="4693067" cy="735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𝐿𝑐</m:t>
                          </m:r>
                        </m:sub>
                      </m:sSub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m:rPr>
                                  <m:sty m:val="p"/>
                                </m:rPr>
                                <a:rPr lang="fr-FR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22" name="Object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16255" y="2403106"/>
                <a:ext cx="4693067" cy="735013"/>
              </a:xfrm>
              <a:prstGeom prst="rect">
                <a:avLst/>
              </a:prstGeom>
              <a:blipFill>
                <a:blip r:embed="rId5"/>
                <a:stretch>
                  <a:fillRect b="-74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Object 125"/>
              <p:cNvSpPr txBox="1"/>
              <p:nvPr/>
            </p:nvSpPr>
            <p:spPr bwMode="auto">
              <a:xfrm>
                <a:off x="7394749" y="4158999"/>
                <a:ext cx="4693067" cy="966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m:rPr>
                                  <m:sty m:val="p"/>
                                </m:rPr>
                                <a:rPr lang="fr-FR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fr-F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23" name="Object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4749" y="4158999"/>
                <a:ext cx="4693067" cy="9667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Group 127"/>
          <p:cNvGrpSpPr>
            <a:grpSpLocks/>
          </p:cNvGrpSpPr>
          <p:nvPr/>
        </p:nvGrpSpPr>
        <p:grpSpPr bwMode="auto">
          <a:xfrm>
            <a:off x="7834299" y="5246436"/>
            <a:ext cx="3086101" cy="698501"/>
            <a:chOff x="2850" y="3312"/>
            <a:chExt cx="1944" cy="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Object 128"/>
                <p:cNvSpPr txBox="1"/>
                <p:nvPr/>
              </p:nvSpPr>
              <p:spPr bwMode="auto">
                <a:xfrm>
                  <a:off x="3552" y="3312"/>
                  <a:ext cx="1242" cy="4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fr-FR" sz="32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32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fr-FR" sz="32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  <m:r>
                          <a:rPr lang="fr-FR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fr-FR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fr-FR" sz="3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3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fr-FR" sz="3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  <m:r>
                          <a:rPr lang="fr-FR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3200" b="1" dirty="0"/>
                </a:p>
              </p:txBody>
            </p:sp>
          </mc:Choice>
          <mc:Fallback xmlns="">
            <p:sp>
              <p:nvSpPr>
                <p:cNvPr id="125" name="Object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52" y="3312"/>
                  <a:ext cx="1242" cy="4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AutoShape 129"/>
            <p:cNvSpPr>
              <a:spLocks noChangeArrowheads="1"/>
            </p:cNvSpPr>
            <p:nvPr/>
          </p:nvSpPr>
          <p:spPr bwMode="auto">
            <a:xfrm>
              <a:off x="2850" y="3426"/>
              <a:ext cx="636" cy="216"/>
            </a:xfrm>
            <a:prstGeom prst="rightArrow">
              <a:avLst>
                <a:gd name="adj1" fmla="val 50000"/>
                <a:gd name="adj2" fmla="val 73611"/>
              </a:avLst>
            </a:prstGeom>
            <a:solidFill>
              <a:srgbClr val="FF9900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127" name="ZoneTexte 12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28" name="Connecteur droit 12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56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61772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Boundary mode (characteristics)</a:t>
            </a: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V="1">
            <a:off x="3743905" y="2105320"/>
            <a:ext cx="0" cy="33797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3685168" y="5485108"/>
            <a:ext cx="101600" cy="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3685168" y="4929483"/>
            <a:ext cx="101600" cy="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3685168" y="4359570"/>
            <a:ext cx="101600" cy="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3685168" y="3802358"/>
            <a:ext cx="101600" cy="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3685168" y="3232445"/>
            <a:ext cx="101600" cy="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3685168" y="2676820"/>
            <a:ext cx="101600" cy="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3743905" y="5485108"/>
            <a:ext cx="5892800" cy="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V="1">
            <a:off x="3743905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V="1">
            <a:off x="4328105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 flipV="1">
            <a:off x="4913893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V="1">
            <a:off x="5512380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V="1">
            <a:off x="6098168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 flipV="1">
            <a:off x="6682368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V="1">
            <a:off x="7282443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 flipV="1">
            <a:off x="7866643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V="1">
            <a:off x="8452430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 flipV="1">
            <a:off x="9050918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 flipV="1">
            <a:off x="9636705" y="5442245"/>
            <a:ext cx="0" cy="1016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7" name="Group 220"/>
          <p:cNvGrpSpPr>
            <a:grpSpLocks/>
          </p:cNvGrpSpPr>
          <p:nvPr/>
        </p:nvGrpSpPr>
        <p:grpSpPr bwMode="auto">
          <a:xfrm>
            <a:off x="4021718" y="2281533"/>
            <a:ext cx="3406775" cy="3189287"/>
            <a:chOff x="945" y="1585"/>
            <a:chExt cx="2146" cy="2009"/>
          </a:xfrm>
        </p:grpSpPr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V="1">
              <a:off x="945" y="3576"/>
              <a:ext cx="175" cy="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 flipV="1">
              <a:off x="1120" y="3566"/>
              <a:ext cx="166" cy="1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 flipV="1">
              <a:off x="1286" y="3548"/>
              <a:ext cx="165" cy="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 flipV="1">
              <a:off x="1451" y="3530"/>
              <a:ext cx="148" cy="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 flipV="1">
              <a:off x="1599" y="3511"/>
              <a:ext cx="147" cy="1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 flipV="1">
              <a:off x="1746" y="3493"/>
              <a:ext cx="138" cy="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 flipV="1">
              <a:off x="1884" y="3474"/>
              <a:ext cx="129" cy="1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V="1">
              <a:off x="2013" y="3456"/>
              <a:ext cx="120" cy="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V="1">
              <a:off x="2133" y="3428"/>
              <a:ext cx="120" cy="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V="1">
              <a:off x="2253" y="3410"/>
              <a:ext cx="110" cy="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 flipV="1">
              <a:off x="2363" y="3382"/>
              <a:ext cx="102" cy="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 flipV="1">
              <a:off x="2465" y="3354"/>
              <a:ext cx="92" cy="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 flipV="1">
              <a:off x="2557" y="3336"/>
              <a:ext cx="83" cy="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 flipV="1">
              <a:off x="2640" y="3299"/>
              <a:ext cx="73" cy="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 flipV="1">
              <a:off x="2713" y="3271"/>
              <a:ext cx="74" cy="2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 flipV="1">
              <a:off x="2787" y="3244"/>
              <a:ext cx="64" cy="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 flipV="1">
              <a:off x="2851" y="3207"/>
              <a:ext cx="56" cy="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 flipV="1">
              <a:off x="2907" y="3170"/>
              <a:ext cx="46" cy="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 flipV="1">
              <a:off x="2953" y="3133"/>
              <a:ext cx="46" cy="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 flipV="1">
              <a:off x="2999" y="3096"/>
              <a:ext cx="27" cy="3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 flipV="1">
              <a:off x="3026" y="3050"/>
              <a:ext cx="28" cy="4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Line 48"/>
            <p:cNvSpPr>
              <a:spLocks noChangeShapeType="1"/>
            </p:cNvSpPr>
            <p:nvPr/>
          </p:nvSpPr>
          <p:spPr bwMode="auto">
            <a:xfrm flipV="1">
              <a:off x="3054" y="3004"/>
              <a:ext cx="19" cy="4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Line 49"/>
            <p:cNvSpPr>
              <a:spLocks noChangeShapeType="1"/>
            </p:cNvSpPr>
            <p:nvPr/>
          </p:nvSpPr>
          <p:spPr bwMode="auto">
            <a:xfrm flipV="1">
              <a:off x="3073" y="2949"/>
              <a:ext cx="9" cy="5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Line 50"/>
            <p:cNvSpPr>
              <a:spLocks noChangeShapeType="1"/>
            </p:cNvSpPr>
            <p:nvPr/>
          </p:nvSpPr>
          <p:spPr bwMode="auto">
            <a:xfrm flipV="1">
              <a:off x="3082" y="2894"/>
              <a:ext cx="9" cy="5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Line 51"/>
            <p:cNvSpPr>
              <a:spLocks noChangeShapeType="1"/>
            </p:cNvSpPr>
            <p:nvPr/>
          </p:nvSpPr>
          <p:spPr bwMode="auto">
            <a:xfrm flipH="1" flipV="1">
              <a:off x="3082" y="2838"/>
              <a:ext cx="9" cy="5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 flipH="1" flipV="1">
              <a:off x="3073" y="2774"/>
              <a:ext cx="9" cy="6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 flipH="1" flipV="1">
              <a:off x="3054" y="2700"/>
              <a:ext cx="19" cy="7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 flipH="1" flipV="1">
              <a:off x="3026" y="2626"/>
              <a:ext cx="28" cy="7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 flipH="1" flipV="1">
              <a:off x="2999" y="2543"/>
              <a:ext cx="27" cy="8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 flipH="1" flipV="1">
              <a:off x="2953" y="2451"/>
              <a:ext cx="46" cy="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 flipH="1" flipV="1">
              <a:off x="2907" y="2350"/>
              <a:ext cx="46" cy="10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 flipH="1" flipV="1">
              <a:off x="2851" y="2230"/>
              <a:ext cx="56" cy="12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 flipH="1" flipV="1">
              <a:off x="2787" y="2101"/>
              <a:ext cx="64" cy="12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 flipV="1">
              <a:off x="2713" y="1954"/>
              <a:ext cx="74" cy="14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 flipH="1" flipV="1">
              <a:off x="2640" y="1778"/>
              <a:ext cx="73" cy="17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 flipV="1">
              <a:off x="2557" y="1585"/>
              <a:ext cx="83" cy="19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4" name="Rectangle 186"/>
          <p:cNvSpPr>
            <a:spLocks noChangeArrowheads="1"/>
          </p:cNvSpPr>
          <p:nvPr/>
        </p:nvSpPr>
        <p:spPr bwMode="auto">
          <a:xfrm>
            <a:off x="3524830" y="5383508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5" name="Rectangle 187"/>
          <p:cNvSpPr>
            <a:spLocks noChangeArrowheads="1"/>
          </p:cNvSpPr>
          <p:nvPr/>
        </p:nvSpPr>
        <p:spPr bwMode="auto">
          <a:xfrm>
            <a:off x="3450218" y="4827883"/>
            <a:ext cx="152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50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6" name="Rectangle 188"/>
          <p:cNvSpPr>
            <a:spLocks noChangeArrowheads="1"/>
          </p:cNvSpPr>
          <p:nvPr/>
        </p:nvSpPr>
        <p:spPr bwMode="auto">
          <a:xfrm>
            <a:off x="3377193" y="4256383"/>
            <a:ext cx="2286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100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7" name="Rectangle 189"/>
          <p:cNvSpPr>
            <a:spLocks noChangeArrowheads="1"/>
          </p:cNvSpPr>
          <p:nvPr/>
        </p:nvSpPr>
        <p:spPr bwMode="auto">
          <a:xfrm>
            <a:off x="3377193" y="3700758"/>
            <a:ext cx="2286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150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8" name="Rectangle 190"/>
          <p:cNvSpPr>
            <a:spLocks noChangeArrowheads="1"/>
          </p:cNvSpPr>
          <p:nvPr/>
        </p:nvSpPr>
        <p:spPr bwMode="auto">
          <a:xfrm>
            <a:off x="3377193" y="3130845"/>
            <a:ext cx="228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200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9" name="Rectangle 191"/>
          <p:cNvSpPr>
            <a:spLocks noChangeArrowheads="1"/>
          </p:cNvSpPr>
          <p:nvPr/>
        </p:nvSpPr>
        <p:spPr bwMode="auto">
          <a:xfrm>
            <a:off x="3377193" y="2573633"/>
            <a:ext cx="2286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250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0" name="Rectangle 192"/>
          <p:cNvSpPr>
            <a:spLocks noChangeArrowheads="1"/>
          </p:cNvSpPr>
          <p:nvPr/>
        </p:nvSpPr>
        <p:spPr bwMode="auto">
          <a:xfrm>
            <a:off x="3713743" y="566132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1" name="Rectangle 193"/>
          <p:cNvSpPr>
            <a:spLocks noChangeArrowheads="1"/>
          </p:cNvSpPr>
          <p:nvPr/>
        </p:nvSpPr>
        <p:spPr bwMode="auto">
          <a:xfrm>
            <a:off x="4299530" y="566132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2" name="Rectangle 194"/>
          <p:cNvSpPr>
            <a:spLocks noChangeArrowheads="1"/>
          </p:cNvSpPr>
          <p:nvPr/>
        </p:nvSpPr>
        <p:spPr bwMode="auto">
          <a:xfrm>
            <a:off x="4898018" y="566132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4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3" name="Rectangle 195"/>
          <p:cNvSpPr>
            <a:spLocks noChangeArrowheads="1"/>
          </p:cNvSpPr>
          <p:nvPr/>
        </p:nvSpPr>
        <p:spPr bwMode="auto">
          <a:xfrm>
            <a:off x="5483805" y="566132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6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4" name="Rectangle 196"/>
          <p:cNvSpPr>
            <a:spLocks noChangeArrowheads="1"/>
          </p:cNvSpPr>
          <p:nvPr/>
        </p:nvSpPr>
        <p:spPr bwMode="auto">
          <a:xfrm>
            <a:off x="6068005" y="566132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8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5" name="Rectangle 197"/>
          <p:cNvSpPr>
            <a:spLocks noChangeArrowheads="1"/>
          </p:cNvSpPr>
          <p:nvPr/>
        </p:nvSpPr>
        <p:spPr bwMode="auto">
          <a:xfrm>
            <a:off x="6623630" y="5661320"/>
            <a:ext cx="152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6" name="Rectangle 198"/>
          <p:cNvSpPr>
            <a:spLocks noChangeArrowheads="1"/>
          </p:cNvSpPr>
          <p:nvPr/>
        </p:nvSpPr>
        <p:spPr bwMode="auto">
          <a:xfrm>
            <a:off x="7223705" y="5661320"/>
            <a:ext cx="152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12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7" name="Rectangle 199"/>
          <p:cNvSpPr>
            <a:spLocks noChangeArrowheads="1"/>
          </p:cNvSpPr>
          <p:nvPr/>
        </p:nvSpPr>
        <p:spPr bwMode="auto">
          <a:xfrm>
            <a:off x="7807905" y="5661320"/>
            <a:ext cx="152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14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8" name="Rectangle 200"/>
          <p:cNvSpPr>
            <a:spLocks noChangeArrowheads="1"/>
          </p:cNvSpPr>
          <p:nvPr/>
        </p:nvSpPr>
        <p:spPr bwMode="auto">
          <a:xfrm>
            <a:off x="8393693" y="5661320"/>
            <a:ext cx="152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16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9" name="Rectangle 201"/>
          <p:cNvSpPr>
            <a:spLocks noChangeArrowheads="1"/>
          </p:cNvSpPr>
          <p:nvPr/>
        </p:nvSpPr>
        <p:spPr bwMode="auto">
          <a:xfrm>
            <a:off x="8993768" y="5661320"/>
            <a:ext cx="152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18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0" name="Rectangle 202"/>
          <p:cNvSpPr>
            <a:spLocks noChangeArrowheads="1"/>
          </p:cNvSpPr>
          <p:nvPr/>
        </p:nvSpPr>
        <p:spPr bwMode="auto">
          <a:xfrm>
            <a:off x="9577968" y="5661320"/>
            <a:ext cx="152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20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82" name="Group 212"/>
          <p:cNvGrpSpPr>
            <a:grpSpLocks/>
          </p:cNvGrpSpPr>
          <p:nvPr/>
        </p:nvGrpSpPr>
        <p:grpSpPr bwMode="auto">
          <a:xfrm>
            <a:off x="3670880" y="1725908"/>
            <a:ext cx="146050" cy="628650"/>
            <a:chOff x="724" y="1235"/>
            <a:chExt cx="92" cy="396"/>
          </a:xfrm>
        </p:grpSpPr>
        <p:sp>
          <p:nvSpPr>
            <p:cNvPr id="83" name="Freeform 210"/>
            <p:cNvSpPr>
              <a:spLocks/>
            </p:cNvSpPr>
            <p:nvPr/>
          </p:nvSpPr>
          <p:spPr bwMode="auto">
            <a:xfrm>
              <a:off x="724" y="1235"/>
              <a:ext cx="92" cy="138"/>
            </a:xfrm>
            <a:custGeom>
              <a:avLst/>
              <a:gdLst>
                <a:gd name="T0" fmla="*/ 46 w 92"/>
                <a:gd name="T1" fmla="*/ 0 h 138"/>
                <a:gd name="T2" fmla="*/ 92 w 92"/>
                <a:gd name="T3" fmla="*/ 138 h 138"/>
                <a:gd name="T4" fmla="*/ 46 w 92"/>
                <a:gd name="T5" fmla="*/ 92 h 138"/>
                <a:gd name="T6" fmla="*/ 0 w 92"/>
                <a:gd name="T7" fmla="*/ 138 h 138"/>
                <a:gd name="T8" fmla="*/ 46 w 92"/>
                <a:gd name="T9" fmla="*/ 0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138">
                  <a:moveTo>
                    <a:pt x="46" y="0"/>
                  </a:moveTo>
                  <a:lnTo>
                    <a:pt x="92" y="138"/>
                  </a:lnTo>
                  <a:lnTo>
                    <a:pt x="46" y="92"/>
                  </a:lnTo>
                  <a:lnTo>
                    <a:pt x="0" y="138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Line 211"/>
            <p:cNvSpPr>
              <a:spLocks noChangeShapeType="1"/>
            </p:cNvSpPr>
            <p:nvPr/>
          </p:nvSpPr>
          <p:spPr bwMode="auto">
            <a:xfrm flipV="1">
              <a:off x="770" y="1327"/>
              <a:ext cx="0" cy="30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5" name="Rectangle 213"/>
          <p:cNvSpPr>
            <a:spLocks noChangeArrowheads="1"/>
          </p:cNvSpPr>
          <p:nvPr/>
        </p:nvSpPr>
        <p:spPr bwMode="auto">
          <a:xfrm>
            <a:off x="3421643" y="1667170"/>
            <a:ext cx="2228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r>
              <a:rPr lang="fr-FR" altLang="fr-FR" sz="1600" b="1" baseline="-25000" dirty="0">
                <a:solidFill>
                  <a:srgbClr val="000000"/>
                </a:solidFill>
                <a:latin typeface="Times" panose="02020603050405020304" pitchFamily="18" charset="0"/>
              </a:rPr>
              <a:t>S</a:t>
            </a:r>
            <a:endParaRPr lang="fr-FR" altLang="fr-FR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87" name="Rectangle 215"/>
          <p:cNvSpPr>
            <a:spLocks noChangeArrowheads="1"/>
          </p:cNvSpPr>
          <p:nvPr/>
        </p:nvSpPr>
        <p:spPr bwMode="auto">
          <a:xfrm>
            <a:off x="10147880" y="5616870"/>
            <a:ext cx="79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88" name="Rectangle 216"/>
          <p:cNvSpPr>
            <a:spLocks noChangeArrowheads="1"/>
          </p:cNvSpPr>
          <p:nvPr/>
        </p:nvSpPr>
        <p:spPr bwMode="auto">
          <a:xfrm>
            <a:off x="10265355" y="5734345"/>
            <a:ext cx="587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b="1">
                <a:solidFill>
                  <a:srgbClr val="000000"/>
                </a:solidFill>
                <a:latin typeface="Times" panose="02020603050405020304" pitchFamily="18" charset="0"/>
              </a:rPr>
              <a:t>s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89" name="Group 219"/>
          <p:cNvGrpSpPr>
            <a:grpSpLocks/>
          </p:cNvGrpSpPr>
          <p:nvPr/>
        </p:nvGrpSpPr>
        <p:grpSpPr bwMode="auto">
          <a:xfrm>
            <a:off x="9401755" y="5426370"/>
            <a:ext cx="746125" cy="131763"/>
            <a:chOff x="4334" y="3566"/>
            <a:chExt cx="470" cy="83"/>
          </a:xfrm>
        </p:grpSpPr>
        <p:sp>
          <p:nvSpPr>
            <p:cNvPr id="90" name="Freeform 217"/>
            <p:cNvSpPr>
              <a:spLocks/>
            </p:cNvSpPr>
            <p:nvPr/>
          </p:nvSpPr>
          <p:spPr bwMode="auto">
            <a:xfrm>
              <a:off x="4675" y="3566"/>
              <a:ext cx="129" cy="83"/>
            </a:xfrm>
            <a:custGeom>
              <a:avLst/>
              <a:gdLst>
                <a:gd name="T0" fmla="*/ 129 w 129"/>
                <a:gd name="T1" fmla="*/ 37 h 83"/>
                <a:gd name="T2" fmla="*/ 0 w 129"/>
                <a:gd name="T3" fmla="*/ 83 h 83"/>
                <a:gd name="T4" fmla="*/ 37 w 129"/>
                <a:gd name="T5" fmla="*/ 37 h 83"/>
                <a:gd name="T6" fmla="*/ 0 w 129"/>
                <a:gd name="T7" fmla="*/ 0 h 83"/>
                <a:gd name="T8" fmla="*/ 129 w 129"/>
                <a:gd name="T9" fmla="*/ 37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" h="83">
                  <a:moveTo>
                    <a:pt x="129" y="37"/>
                  </a:moveTo>
                  <a:lnTo>
                    <a:pt x="0" y="83"/>
                  </a:lnTo>
                  <a:lnTo>
                    <a:pt x="37" y="37"/>
                  </a:lnTo>
                  <a:lnTo>
                    <a:pt x="0" y="0"/>
                  </a:lnTo>
                  <a:lnTo>
                    <a:pt x="129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Line 218"/>
            <p:cNvSpPr>
              <a:spLocks noChangeShapeType="1"/>
            </p:cNvSpPr>
            <p:nvPr/>
          </p:nvSpPr>
          <p:spPr bwMode="auto">
            <a:xfrm>
              <a:off x="4334" y="3603"/>
              <a:ext cx="378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3" name="Line 224"/>
          <p:cNvSpPr>
            <a:spLocks noChangeShapeType="1"/>
          </p:cNvSpPr>
          <p:nvPr/>
        </p:nvSpPr>
        <p:spPr bwMode="auto">
          <a:xfrm>
            <a:off x="3637543" y="4346870"/>
            <a:ext cx="3790950" cy="0"/>
          </a:xfrm>
          <a:prstGeom prst="line">
            <a:avLst/>
          </a:prstGeom>
          <a:noFill/>
          <a:ln w="25400">
            <a:solidFill>
              <a:srgbClr val="FF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4" name="Line 225"/>
          <p:cNvSpPr>
            <a:spLocks noChangeShapeType="1"/>
          </p:cNvSpPr>
          <p:nvPr/>
        </p:nvSpPr>
        <p:spPr bwMode="auto">
          <a:xfrm>
            <a:off x="7453893" y="3699170"/>
            <a:ext cx="0" cy="2047875"/>
          </a:xfrm>
          <a:prstGeom prst="line">
            <a:avLst/>
          </a:prstGeom>
          <a:noFill/>
          <a:ln w="25400">
            <a:solidFill>
              <a:srgbClr val="FF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bject 226"/>
              <p:cNvSpPr txBox="1"/>
              <p:nvPr/>
            </p:nvSpPr>
            <p:spPr bwMode="auto">
              <a:xfrm>
                <a:off x="7524750" y="4778375"/>
                <a:ext cx="588963" cy="663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fr-FR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fr-FR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95" name="Object 2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24750" y="4778375"/>
                <a:ext cx="588963" cy="6635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 Box 227"/>
          <p:cNvSpPr txBox="1">
            <a:spLocks noChangeArrowheads="1"/>
          </p:cNvSpPr>
          <p:nvPr/>
        </p:nvSpPr>
        <p:spPr bwMode="auto">
          <a:xfrm>
            <a:off x="9254118" y="2473620"/>
            <a:ext cx="11374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Times New Roman" panose="02020603050405020304" pitchFamily="18" charset="0"/>
              </a:rPr>
              <a:t>E = 100 V</a:t>
            </a:r>
          </a:p>
        </p:txBody>
      </p:sp>
      <p:sp>
        <p:nvSpPr>
          <p:cNvPr id="97" name="Text Box 228"/>
          <p:cNvSpPr txBox="1">
            <a:spLocks noChangeArrowheads="1"/>
          </p:cNvSpPr>
          <p:nvPr/>
        </p:nvSpPr>
        <p:spPr bwMode="auto">
          <a:xfrm>
            <a:off x="4372555" y="3041945"/>
            <a:ext cx="2274982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i="1">
                <a:solidFill>
                  <a:srgbClr val="0066FF"/>
                </a:solidFill>
                <a:latin typeface="Calibri (Corps)"/>
              </a:rPr>
              <a:t>Discontinuous mode</a:t>
            </a:r>
          </a:p>
        </p:txBody>
      </p:sp>
      <p:sp>
        <p:nvSpPr>
          <p:cNvPr id="98" name="Text Box 229"/>
          <p:cNvSpPr txBox="1">
            <a:spLocks noChangeArrowheads="1"/>
          </p:cNvSpPr>
          <p:nvPr/>
        </p:nvSpPr>
        <p:spPr bwMode="auto">
          <a:xfrm>
            <a:off x="7731705" y="3467395"/>
            <a:ext cx="1992853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sz="1800" i="1" noProof="0">
                <a:solidFill>
                  <a:srgbClr val="0066FF"/>
                </a:solidFill>
                <a:latin typeface="Calibri (Corps)"/>
              </a:rPr>
              <a:t>Continuous mode</a:t>
            </a:r>
          </a:p>
        </p:txBody>
      </p:sp>
      <p:sp>
        <p:nvSpPr>
          <p:cNvPr id="99" name="ZoneTexte 98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00" name="Connecteur droit 9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25">
                <a:extLst>
                  <a:ext uri="{FF2B5EF4-FFF2-40B4-BE49-F238E27FC236}">
                    <a16:creationId xmlns:a16="http://schemas.microsoft.com/office/drawing/2014/main" id="{F8AF467B-3E6A-7311-1B75-2B4664875EFB}"/>
                  </a:ext>
                </a:extLst>
              </p:cNvPr>
              <p:cNvSpPr txBox="1"/>
              <p:nvPr/>
            </p:nvSpPr>
            <p:spPr bwMode="auto">
              <a:xfrm>
                <a:off x="8118770" y="996173"/>
                <a:ext cx="4693067" cy="966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" name="Object 125">
                <a:extLst>
                  <a:ext uri="{FF2B5EF4-FFF2-40B4-BE49-F238E27FC236}">
                    <a16:creationId xmlns:a16="http://schemas.microsoft.com/office/drawing/2014/main" id="{F8AF467B-3E6A-7311-1B75-2B4664875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18770" y="996173"/>
                <a:ext cx="4693067" cy="966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60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48165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Discontinuous mode</a:t>
            </a:r>
          </a:p>
          <a:p>
            <a:pPr lvl="0">
              <a:defRPr/>
            </a:pPr>
            <a:endParaRPr lang="en-US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21934" y="5842764"/>
            <a:ext cx="46730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 i="1" dirty="0">
                <a:latin typeface="Calibri (Corps)"/>
              </a:rPr>
              <a:t>Full study: Switched-mode power supply</a:t>
            </a:r>
            <a:endParaRPr lang="fr-FR" altLang="fr-FR" sz="1800" b="1" i="1" dirty="0">
              <a:latin typeface="Calibri (Corps)"/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3229697" y="1556514"/>
            <a:ext cx="63500" cy="1804988"/>
            <a:chOff x="1335" y="901"/>
            <a:chExt cx="40" cy="1137"/>
          </a:xfrm>
        </p:grpSpPr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1335" y="901"/>
              <a:ext cx="40" cy="88"/>
            </a:xfrm>
            <a:custGeom>
              <a:avLst/>
              <a:gdLst>
                <a:gd name="T0" fmla="*/ 16 w 40"/>
                <a:gd name="T1" fmla="*/ 0 h 88"/>
                <a:gd name="T2" fmla="*/ 40 w 40"/>
                <a:gd name="T3" fmla="*/ 88 h 88"/>
                <a:gd name="T4" fmla="*/ 16 w 40"/>
                <a:gd name="T5" fmla="*/ 88 h 88"/>
                <a:gd name="T6" fmla="*/ 0 w 40"/>
                <a:gd name="T7" fmla="*/ 88 h 88"/>
                <a:gd name="T8" fmla="*/ 16 w 4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88">
                  <a:moveTo>
                    <a:pt x="16" y="0"/>
                  </a:moveTo>
                  <a:lnTo>
                    <a:pt x="40" y="88"/>
                  </a:lnTo>
                  <a:lnTo>
                    <a:pt x="16" y="88"/>
                  </a:lnTo>
                  <a:lnTo>
                    <a:pt x="0" y="8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351" y="989"/>
              <a:ext cx="1" cy="10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3115397" y="2442339"/>
            <a:ext cx="4613275" cy="76200"/>
            <a:chOff x="1263" y="1510"/>
            <a:chExt cx="2906" cy="48"/>
          </a:xfrm>
        </p:grpSpPr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4081" y="1510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flipH="1">
              <a:off x="1263" y="1534"/>
              <a:ext cx="281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2"/>
          <p:cNvGrpSpPr>
            <a:grpSpLocks/>
          </p:cNvGrpSpPr>
          <p:nvPr/>
        </p:nvGrpSpPr>
        <p:grpSpPr bwMode="auto">
          <a:xfrm>
            <a:off x="3229697" y="3717102"/>
            <a:ext cx="63500" cy="1804987"/>
            <a:chOff x="1335" y="2262"/>
            <a:chExt cx="40" cy="1137"/>
          </a:xfrm>
        </p:grpSpPr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1335" y="2262"/>
              <a:ext cx="40" cy="88"/>
            </a:xfrm>
            <a:custGeom>
              <a:avLst/>
              <a:gdLst>
                <a:gd name="T0" fmla="*/ 16 w 40"/>
                <a:gd name="T1" fmla="*/ 0 h 88"/>
                <a:gd name="T2" fmla="*/ 40 w 40"/>
                <a:gd name="T3" fmla="*/ 88 h 88"/>
                <a:gd name="T4" fmla="*/ 16 w 40"/>
                <a:gd name="T5" fmla="*/ 88 h 88"/>
                <a:gd name="T6" fmla="*/ 0 w 40"/>
                <a:gd name="T7" fmla="*/ 88 h 88"/>
                <a:gd name="T8" fmla="*/ 16 w 40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88">
                  <a:moveTo>
                    <a:pt x="16" y="0"/>
                  </a:moveTo>
                  <a:lnTo>
                    <a:pt x="40" y="88"/>
                  </a:lnTo>
                  <a:lnTo>
                    <a:pt x="16" y="88"/>
                  </a:lnTo>
                  <a:lnTo>
                    <a:pt x="0" y="8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1351" y="2350"/>
              <a:ext cx="1" cy="10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18" name="Group 15"/>
          <p:cNvGrpSpPr>
            <a:grpSpLocks/>
          </p:cNvGrpSpPr>
          <p:nvPr/>
        </p:nvGrpSpPr>
        <p:grpSpPr bwMode="auto">
          <a:xfrm>
            <a:off x="3115397" y="5126802"/>
            <a:ext cx="4613275" cy="76200"/>
            <a:chOff x="1263" y="3239"/>
            <a:chExt cx="2906" cy="48"/>
          </a:xfrm>
        </p:grpSpPr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4081" y="3239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 flipH="1">
              <a:off x="1263" y="3263"/>
              <a:ext cx="281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3255097" y="2204214"/>
            <a:ext cx="1449387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4704484" y="2204214"/>
            <a:ext cx="1588" cy="10810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4704484" y="3285302"/>
            <a:ext cx="409575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 flipV="1">
            <a:off x="5429972" y="2204214"/>
            <a:ext cx="0" cy="2762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5428384" y="2204214"/>
            <a:ext cx="1436688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6865072" y="2204214"/>
            <a:ext cx="1587" cy="10810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7" name="Group 24"/>
          <p:cNvGrpSpPr>
            <a:grpSpLocks/>
          </p:cNvGrpSpPr>
          <p:nvPr/>
        </p:nvGrpSpPr>
        <p:grpSpPr bwMode="auto">
          <a:xfrm>
            <a:off x="4704484" y="1912114"/>
            <a:ext cx="1588" cy="3482975"/>
            <a:chOff x="2264" y="1125"/>
            <a:chExt cx="1" cy="2194"/>
          </a:xfrm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>
              <a:off x="2264" y="11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2264" y="11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2264" y="12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2264" y="13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>
              <a:off x="2264" y="1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>
              <a:off x="2264" y="1485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>
              <a:off x="2264" y="15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2264" y="16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>
              <a:off x="2264" y="170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>
              <a:off x="2264" y="177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>
              <a:off x="2264" y="184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2264" y="191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>
              <a:off x="2264" y="199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>
              <a:off x="2264" y="206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2" name="Line 39"/>
            <p:cNvSpPr>
              <a:spLocks noChangeShapeType="1"/>
            </p:cNvSpPr>
            <p:nvPr/>
          </p:nvSpPr>
          <p:spPr bwMode="auto">
            <a:xfrm>
              <a:off x="2264" y="213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>
              <a:off x="2264" y="220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2264" y="227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5" name="Line 42"/>
            <p:cNvSpPr>
              <a:spLocks noChangeShapeType="1"/>
            </p:cNvSpPr>
            <p:nvPr/>
          </p:nvSpPr>
          <p:spPr bwMode="auto">
            <a:xfrm>
              <a:off x="2264" y="23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6" name="Line 43"/>
            <p:cNvSpPr>
              <a:spLocks noChangeShapeType="1"/>
            </p:cNvSpPr>
            <p:nvPr/>
          </p:nvSpPr>
          <p:spPr bwMode="auto">
            <a:xfrm>
              <a:off x="2264" y="24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>
              <a:off x="2264" y="24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>
              <a:off x="2264" y="25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49" name="Line 46"/>
            <p:cNvSpPr>
              <a:spLocks noChangeShapeType="1"/>
            </p:cNvSpPr>
            <p:nvPr/>
          </p:nvSpPr>
          <p:spPr bwMode="auto">
            <a:xfrm>
              <a:off x="2264" y="26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0" name="Line 47"/>
            <p:cNvSpPr>
              <a:spLocks noChangeShapeType="1"/>
            </p:cNvSpPr>
            <p:nvPr/>
          </p:nvSpPr>
          <p:spPr bwMode="auto">
            <a:xfrm>
              <a:off x="2264" y="27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1" name="Line 48"/>
            <p:cNvSpPr>
              <a:spLocks noChangeShapeType="1"/>
            </p:cNvSpPr>
            <p:nvPr/>
          </p:nvSpPr>
          <p:spPr bwMode="auto">
            <a:xfrm>
              <a:off x="2264" y="27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2" name="Line 49"/>
            <p:cNvSpPr>
              <a:spLocks noChangeShapeType="1"/>
            </p:cNvSpPr>
            <p:nvPr/>
          </p:nvSpPr>
          <p:spPr bwMode="auto">
            <a:xfrm>
              <a:off x="2264" y="285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3" name="Line 50"/>
            <p:cNvSpPr>
              <a:spLocks noChangeShapeType="1"/>
            </p:cNvSpPr>
            <p:nvPr/>
          </p:nvSpPr>
          <p:spPr bwMode="auto">
            <a:xfrm>
              <a:off x="2264" y="292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4" name="Line 51"/>
            <p:cNvSpPr>
              <a:spLocks noChangeShapeType="1"/>
            </p:cNvSpPr>
            <p:nvPr/>
          </p:nvSpPr>
          <p:spPr bwMode="auto">
            <a:xfrm>
              <a:off x="2264" y="299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5" name="Line 52"/>
            <p:cNvSpPr>
              <a:spLocks noChangeShapeType="1"/>
            </p:cNvSpPr>
            <p:nvPr/>
          </p:nvSpPr>
          <p:spPr bwMode="auto">
            <a:xfrm>
              <a:off x="2264" y="307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6" name="Line 53"/>
            <p:cNvSpPr>
              <a:spLocks noChangeShapeType="1"/>
            </p:cNvSpPr>
            <p:nvPr/>
          </p:nvSpPr>
          <p:spPr bwMode="auto">
            <a:xfrm>
              <a:off x="2264" y="314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7" name="Line 54"/>
            <p:cNvSpPr>
              <a:spLocks noChangeShapeType="1"/>
            </p:cNvSpPr>
            <p:nvPr/>
          </p:nvSpPr>
          <p:spPr bwMode="auto">
            <a:xfrm>
              <a:off x="2264" y="321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8" name="Line 55"/>
            <p:cNvSpPr>
              <a:spLocks noChangeShapeType="1"/>
            </p:cNvSpPr>
            <p:nvPr/>
          </p:nvSpPr>
          <p:spPr bwMode="auto">
            <a:xfrm>
              <a:off x="2264" y="328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59" name="Group 56"/>
          <p:cNvGrpSpPr>
            <a:grpSpLocks/>
          </p:cNvGrpSpPr>
          <p:nvPr/>
        </p:nvGrpSpPr>
        <p:grpSpPr bwMode="auto">
          <a:xfrm>
            <a:off x="5428384" y="1912114"/>
            <a:ext cx="1588" cy="3482975"/>
            <a:chOff x="2720" y="1125"/>
            <a:chExt cx="1" cy="2194"/>
          </a:xfrm>
        </p:grpSpPr>
        <p:sp>
          <p:nvSpPr>
            <p:cNvPr id="60" name="Line 57"/>
            <p:cNvSpPr>
              <a:spLocks noChangeShapeType="1"/>
            </p:cNvSpPr>
            <p:nvPr/>
          </p:nvSpPr>
          <p:spPr bwMode="auto">
            <a:xfrm>
              <a:off x="2720" y="11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1" name="Line 58"/>
            <p:cNvSpPr>
              <a:spLocks noChangeShapeType="1"/>
            </p:cNvSpPr>
            <p:nvPr/>
          </p:nvSpPr>
          <p:spPr bwMode="auto">
            <a:xfrm>
              <a:off x="2720" y="11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2" name="Line 59"/>
            <p:cNvSpPr>
              <a:spLocks noChangeShapeType="1"/>
            </p:cNvSpPr>
            <p:nvPr/>
          </p:nvSpPr>
          <p:spPr bwMode="auto">
            <a:xfrm>
              <a:off x="2720" y="12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3" name="Line 60"/>
            <p:cNvSpPr>
              <a:spLocks noChangeShapeType="1"/>
            </p:cNvSpPr>
            <p:nvPr/>
          </p:nvSpPr>
          <p:spPr bwMode="auto">
            <a:xfrm>
              <a:off x="2720" y="13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4" name="Line 61"/>
            <p:cNvSpPr>
              <a:spLocks noChangeShapeType="1"/>
            </p:cNvSpPr>
            <p:nvPr/>
          </p:nvSpPr>
          <p:spPr bwMode="auto">
            <a:xfrm>
              <a:off x="2720" y="1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5" name="Line 62"/>
            <p:cNvSpPr>
              <a:spLocks noChangeShapeType="1"/>
            </p:cNvSpPr>
            <p:nvPr/>
          </p:nvSpPr>
          <p:spPr bwMode="auto">
            <a:xfrm>
              <a:off x="2720" y="1485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6" name="Line 63"/>
            <p:cNvSpPr>
              <a:spLocks noChangeShapeType="1"/>
            </p:cNvSpPr>
            <p:nvPr/>
          </p:nvSpPr>
          <p:spPr bwMode="auto">
            <a:xfrm>
              <a:off x="2720" y="15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7" name="Line 64"/>
            <p:cNvSpPr>
              <a:spLocks noChangeShapeType="1"/>
            </p:cNvSpPr>
            <p:nvPr/>
          </p:nvSpPr>
          <p:spPr bwMode="auto">
            <a:xfrm>
              <a:off x="2720" y="16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8" name="Line 65"/>
            <p:cNvSpPr>
              <a:spLocks noChangeShapeType="1"/>
            </p:cNvSpPr>
            <p:nvPr/>
          </p:nvSpPr>
          <p:spPr bwMode="auto">
            <a:xfrm>
              <a:off x="2720" y="170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9" name="Line 66"/>
            <p:cNvSpPr>
              <a:spLocks noChangeShapeType="1"/>
            </p:cNvSpPr>
            <p:nvPr/>
          </p:nvSpPr>
          <p:spPr bwMode="auto">
            <a:xfrm>
              <a:off x="2720" y="177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0" name="Line 67"/>
            <p:cNvSpPr>
              <a:spLocks noChangeShapeType="1"/>
            </p:cNvSpPr>
            <p:nvPr/>
          </p:nvSpPr>
          <p:spPr bwMode="auto">
            <a:xfrm>
              <a:off x="2720" y="184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1" name="Line 68"/>
            <p:cNvSpPr>
              <a:spLocks noChangeShapeType="1"/>
            </p:cNvSpPr>
            <p:nvPr/>
          </p:nvSpPr>
          <p:spPr bwMode="auto">
            <a:xfrm>
              <a:off x="2720" y="191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2" name="Line 69"/>
            <p:cNvSpPr>
              <a:spLocks noChangeShapeType="1"/>
            </p:cNvSpPr>
            <p:nvPr/>
          </p:nvSpPr>
          <p:spPr bwMode="auto">
            <a:xfrm>
              <a:off x="2720" y="199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>
              <a:off x="2720" y="206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>
              <a:off x="2720" y="213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>
              <a:off x="2720" y="220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6" name="Line 73"/>
            <p:cNvSpPr>
              <a:spLocks noChangeShapeType="1"/>
            </p:cNvSpPr>
            <p:nvPr/>
          </p:nvSpPr>
          <p:spPr bwMode="auto">
            <a:xfrm>
              <a:off x="2720" y="227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7" name="Line 74"/>
            <p:cNvSpPr>
              <a:spLocks noChangeShapeType="1"/>
            </p:cNvSpPr>
            <p:nvPr/>
          </p:nvSpPr>
          <p:spPr bwMode="auto">
            <a:xfrm>
              <a:off x="2720" y="23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8" name="Line 75"/>
            <p:cNvSpPr>
              <a:spLocks noChangeShapeType="1"/>
            </p:cNvSpPr>
            <p:nvPr/>
          </p:nvSpPr>
          <p:spPr bwMode="auto">
            <a:xfrm>
              <a:off x="2720" y="24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79" name="Line 76"/>
            <p:cNvSpPr>
              <a:spLocks noChangeShapeType="1"/>
            </p:cNvSpPr>
            <p:nvPr/>
          </p:nvSpPr>
          <p:spPr bwMode="auto">
            <a:xfrm>
              <a:off x="2720" y="24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0" name="Line 77"/>
            <p:cNvSpPr>
              <a:spLocks noChangeShapeType="1"/>
            </p:cNvSpPr>
            <p:nvPr/>
          </p:nvSpPr>
          <p:spPr bwMode="auto">
            <a:xfrm>
              <a:off x="2720" y="25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1" name="Line 78"/>
            <p:cNvSpPr>
              <a:spLocks noChangeShapeType="1"/>
            </p:cNvSpPr>
            <p:nvPr/>
          </p:nvSpPr>
          <p:spPr bwMode="auto">
            <a:xfrm>
              <a:off x="2720" y="26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2" name="Line 79"/>
            <p:cNvSpPr>
              <a:spLocks noChangeShapeType="1"/>
            </p:cNvSpPr>
            <p:nvPr/>
          </p:nvSpPr>
          <p:spPr bwMode="auto">
            <a:xfrm>
              <a:off x="2720" y="27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3" name="Line 80"/>
            <p:cNvSpPr>
              <a:spLocks noChangeShapeType="1"/>
            </p:cNvSpPr>
            <p:nvPr/>
          </p:nvSpPr>
          <p:spPr bwMode="auto">
            <a:xfrm>
              <a:off x="2720" y="27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4" name="Line 81"/>
            <p:cNvSpPr>
              <a:spLocks noChangeShapeType="1"/>
            </p:cNvSpPr>
            <p:nvPr/>
          </p:nvSpPr>
          <p:spPr bwMode="auto">
            <a:xfrm>
              <a:off x="2720" y="285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5" name="Line 82"/>
            <p:cNvSpPr>
              <a:spLocks noChangeShapeType="1"/>
            </p:cNvSpPr>
            <p:nvPr/>
          </p:nvSpPr>
          <p:spPr bwMode="auto">
            <a:xfrm>
              <a:off x="2720" y="292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6" name="Line 83"/>
            <p:cNvSpPr>
              <a:spLocks noChangeShapeType="1"/>
            </p:cNvSpPr>
            <p:nvPr/>
          </p:nvSpPr>
          <p:spPr bwMode="auto">
            <a:xfrm>
              <a:off x="2720" y="299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7" name="Line 84"/>
            <p:cNvSpPr>
              <a:spLocks noChangeShapeType="1"/>
            </p:cNvSpPr>
            <p:nvPr/>
          </p:nvSpPr>
          <p:spPr bwMode="auto">
            <a:xfrm>
              <a:off x="2720" y="307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8" name="Line 85"/>
            <p:cNvSpPr>
              <a:spLocks noChangeShapeType="1"/>
            </p:cNvSpPr>
            <p:nvPr/>
          </p:nvSpPr>
          <p:spPr bwMode="auto">
            <a:xfrm>
              <a:off x="2720" y="314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89" name="Line 86"/>
            <p:cNvSpPr>
              <a:spLocks noChangeShapeType="1"/>
            </p:cNvSpPr>
            <p:nvPr/>
          </p:nvSpPr>
          <p:spPr bwMode="auto">
            <a:xfrm>
              <a:off x="2720" y="321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90" name="Line 87"/>
            <p:cNvSpPr>
              <a:spLocks noChangeShapeType="1"/>
            </p:cNvSpPr>
            <p:nvPr/>
          </p:nvSpPr>
          <p:spPr bwMode="auto">
            <a:xfrm>
              <a:off x="2720" y="328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sp>
        <p:nvSpPr>
          <p:cNvPr id="91" name="Rectangle 88"/>
          <p:cNvSpPr>
            <a:spLocks noChangeArrowheads="1"/>
          </p:cNvSpPr>
          <p:nvPr/>
        </p:nvSpPr>
        <p:spPr bwMode="auto">
          <a:xfrm>
            <a:off x="2924897" y="2026414"/>
            <a:ext cx="12022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alibri (Corps)"/>
              </a:rPr>
              <a:t>E</a:t>
            </a:r>
            <a:endParaRPr lang="fr-FR" altLang="fr-FR" sz="1800">
              <a:latin typeface="Calibri (Corps)"/>
            </a:endParaRPr>
          </a:p>
        </p:txBody>
      </p:sp>
      <p:sp>
        <p:nvSpPr>
          <p:cNvPr id="92" name="Rectangle 89"/>
          <p:cNvSpPr>
            <a:spLocks noChangeArrowheads="1"/>
          </p:cNvSpPr>
          <p:nvPr/>
        </p:nvSpPr>
        <p:spPr bwMode="auto">
          <a:xfrm>
            <a:off x="3382097" y="3615502"/>
            <a:ext cx="4969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alibri (Corps)"/>
              </a:rPr>
              <a:t>i</a:t>
            </a:r>
            <a:endParaRPr lang="fr-FR" altLang="fr-FR" sz="1800">
              <a:latin typeface="Calibri (Corps)"/>
            </a:endParaRPr>
          </a:p>
        </p:txBody>
      </p:sp>
      <p:sp>
        <p:nvSpPr>
          <p:cNvPr id="93" name="Rectangle 90"/>
          <p:cNvSpPr>
            <a:spLocks noChangeArrowheads="1"/>
          </p:cNvSpPr>
          <p:nvPr/>
        </p:nvSpPr>
        <p:spPr bwMode="auto">
          <a:xfrm>
            <a:off x="7576272" y="2169289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94" name="Rectangle 91"/>
          <p:cNvSpPr>
            <a:spLocks noChangeArrowheads="1"/>
          </p:cNvSpPr>
          <p:nvPr/>
        </p:nvSpPr>
        <p:spPr bwMode="auto">
          <a:xfrm>
            <a:off x="5225184" y="2624902"/>
            <a:ext cx="10900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Calibri (Corps)"/>
              </a:rPr>
              <a:t>T</a:t>
            </a:r>
            <a:endParaRPr lang="fr-FR" altLang="fr-FR" sz="1800">
              <a:latin typeface="Calibri (Corps)"/>
            </a:endParaRPr>
          </a:p>
        </p:txBody>
      </p:sp>
      <p:sp>
        <p:nvSpPr>
          <p:cNvPr id="95" name="Rectangle 92"/>
          <p:cNvSpPr>
            <a:spLocks noChangeArrowheads="1"/>
          </p:cNvSpPr>
          <p:nvPr/>
        </p:nvSpPr>
        <p:spPr bwMode="auto">
          <a:xfrm>
            <a:off x="4513984" y="2624902"/>
            <a:ext cx="190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fr-FR" sz="1400" dirty="0">
                <a:solidFill>
                  <a:srgbClr val="000000"/>
                </a:solidFill>
                <a:latin typeface="Calibri (Corps)"/>
              </a:rPr>
              <a:t>α</a:t>
            </a:r>
            <a:r>
              <a:rPr lang="fr-FR" altLang="fr-FR" sz="1400" dirty="0">
                <a:solidFill>
                  <a:srgbClr val="000000"/>
                </a:solidFill>
                <a:latin typeface="Calibri (Corps)"/>
              </a:rPr>
              <a:t>T</a:t>
            </a:r>
            <a:endParaRPr lang="fr-FR" altLang="fr-FR" sz="1800" dirty="0">
              <a:latin typeface="Calibri (Corps)"/>
            </a:endParaRPr>
          </a:p>
        </p:txBody>
      </p:sp>
      <p:sp>
        <p:nvSpPr>
          <p:cNvPr id="98" name="Rectangle 95"/>
          <p:cNvSpPr>
            <a:spLocks noChangeArrowheads="1"/>
          </p:cNvSpPr>
          <p:nvPr/>
        </p:nvSpPr>
        <p:spPr bwMode="auto">
          <a:xfrm>
            <a:off x="3509097" y="3729802"/>
            <a:ext cx="7854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L</a:t>
            </a:r>
            <a:endParaRPr lang="fr-FR" altLang="fr-FR" sz="1800">
              <a:latin typeface="Calibri (Corps)"/>
            </a:endParaRPr>
          </a:p>
        </p:txBody>
      </p:sp>
      <p:sp>
        <p:nvSpPr>
          <p:cNvPr id="99" name="Rectangle 96"/>
          <p:cNvSpPr>
            <a:spLocks noChangeArrowheads="1"/>
          </p:cNvSpPr>
          <p:nvPr/>
        </p:nvSpPr>
        <p:spPr bwMode="auto">
          <a:xfrm>
            <a:off x="3293197" y="1454914"/>
            <a:ext cx="9938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alibri (Corps)"/>
              </a:rPr>
              <a:t>v</a:t>
            </a:r>
            <a:endParaRPr lang="fr-FR" altLang="fr-FR" sz="1800">
              <a:latin typeface="Calibri (Corps)"/>
            </a:endParaRPr>
          </a:p>
        </p:txBody>
      </p:sp>
      <p:sp>
        <p:nvSpPr>
          <p:cNvPr id="100" name="Rectangle 97"/>
          <p:cNvSpPr>
            <a:spLocks noChangeArrowheads="1"/>
          </p:cNvSpPr>
          <p:nvPr/>
        </p:nvSpPr>
        <p:spPr bwMode="auto">
          <a:xfrm>
            <a:off x="3432897" y="1569214"/>
            <a:ext cx="7854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>
                <a:solidFill>
                  <a:srgbClr val="000000"/>
                </a:solidFill>
                <a:latin typeface="Calibri (Corps)"/>
              </a:rPr>
              <a:t>L</a:t>
            </a:r>
            <a:endParaRPr lang="fr-FR" altLang="fr-FR" sz="1800">
              <a:latin typeface="Calibri (Corps)"/>
            </a:endParaRPr>
          </a:p>
        </p:txBody>
      </p:sp>
      <p:sp>
        <p:nvSpPr>
          <p:cNvPr id="101" name="Rectangle 98"/>
          <p:cNvSpPr>
            <a:spLocks noChangeArrowheads="1"/>
          </p:cNvSpPr>
          <p:nvPr/>
        </p:nvSpPr>
        <p:spPr bwMode="auto">
          <a:xfrm>
            <a:off x="2899497" y="3107502"/>
            <a:ext cx="21499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 dirty="0">
                <a:solidFill>
                  <a:srgbClr val="000000"/>
                </a:solidFill>
                <a:latin typeface="Calibri (Corps)"/>
              </a:rPr>
              <a:t>-V</a:t>
            </a:r>
            <a:r>
              <a:rPr lang="fr-FR" altLang="fr-FR" sz="1400" b="1" baseline="-25000" dirty="0">
                <a:solidFill>
                  <a:srgbClr val="000000"/>
                </a:solidFill>
                <a:latin typeface="Calibri (Corps)"/>
              </a:rPr>
              <a:t>S</a:t>
            </a:r>
            <a:endParaRPr lang="fr-FR" altLang="fr-FR" sz="1800" baseline="-25000" dirty="0">
              <a:latin typeface="Calibri (Corps)"/>
            </a:endParaRPr>
          </a:p>
        </p:txBody>
      </p:sp>
      <p:sp>
        <p:nvSpPr>
          <p:cNvPr id="103" name="Rectangle 100"/>
          <p:cNvSpPr>
            <a:spLocks noChangeArrowheads="1"/>
          </p:cNvSpPr>
          <p:nvPr/>
        </p:nvSpPr>
        <p:spPr bwMode="auto">
          <a:xfrm>
            <a:off x="5377584" y="5433189"/>
            <a:ext cx="10900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Calibri (Corps)"/>
              </a:rPr>
              <a:t>T</a:t>
            </a:r>
            <a:endParaRPr lang="fr-FR" altLang="fr-FR" sz="1800">
              <a:latin typeface="Calibri (Corps)"/>
            </a:endParaRPr>
          </a:p>
        </p:txBody>
      </p:sp>
      <p:sp>
        <p:nvSpPr>
          <p:cNvPr id="104" name="Rectangle 101"/>
          <p:cNvSpPr>
            <a:spLocks noChangeArrowheads="1"/>
          </p:cNvSpPr>
          <p:nvPr/>
        </p:nvSpPr>
        <p:spPr bwMode="auto">
          <a:xfrm>
            <a:off x="4577484" y="5417949"/>
            <a:ext cx="190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l-GR" altLang="fr-FR" sz="1400" dirty="0">
                <a:solidFill>
                  <a:srgbClr val="000000"/>
                </a:solidFill>
                <a:latin typeface="Calibri (Corps)"/>
              </a:rPr>
              <a:t>α</a:t>
            </a:r>
            <a:r>
              <a:rPr lang="fr-FR" altLang="fr-FR" sz="1400" dirty="0">
                <a:solidFill>
                  <a:srgbClr val="000000"/>
                </a:solidFill>
                <a:latin typeface="Calibri (Corps)"/>
              </a:rPr>
              <a:t>T</a:t>
            </a:r>
            <a:endParaRPr lang="fr-FR" altLang="fr-FR" sz="1800" dirty="0">
              <a:latin typeface="Calibri (Corps)"/>
            </a:endParaRPr>
          </a:p>
        </p:txBody>
      </p:sp>
      <p:sp>
        <p:nvSpPr>
          <p:cNvPr id="106" name="Rectangle 103"/>
          <p:cNvSpPr>
            <a:spLocks noChangeArrowheads="1"/>
          </p:cNvSpPr>
          <p:nvPr/>
        </p:nvSpPr>
        <p:spPr bwMode="auto">
          <a:xfrm>
            <a:off x="3077297" y="5344289"/>
            <a:ext cx="9938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Calibri (Corps)"/>
              </a:rPr>
              <a:t>0</a:t>
            </a:r>
            <a:endParaRPr lang="fr-FR" altLang="fr-FR" sz="1800">
              <a:latin typeface="Calibri (Corps)"/>
            </a:endParaRPr>
          </a:p>
        </p:txBody>
      </p:sp>
      <p:sp>
        <p:nvSpPr>
          <p:cNvPr id="107" name="Rectangle 104"/>
          <p:cNvSpPr>
            <a:spLocks noChangeArrowheads="1"/>
          </p:cNvSpPr>
          <p:nvPr/>
        </p:nvSpPr>
        <p:spPr bwMode="auto">
          <a:xfrm>
            <a:off x="7563572" y="4983927"/>
            <a:ext cx="492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08" name="Line 105"/>
          <p:cNvSpPr>
            <a:spLocks noChangeShapeType="1"/>
          </p:cNvSpPr>
          <p:nvPr/>
        </p:nvSpPr>
        <p:spPr bwMode="auto">
          <a:xfrm flipV="1">
            <a:off x="3234459" y="4658489"/>
            <a:ext cx="1470025" cy="496888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109" name="Line 106"/>
          <p:cNvSpPr>
            <a:spLocks noChangeShapeType="1"/>
          </p:cNvSpPr>
          <p:nvPr/>
        </p:nvSpPr>
        <p:spPr bwMode="auto">
          <a:xfrm>
            <a:off x="4704484" y="4658489"/>
            <a:ext cx="401638" cy="496888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110" name="Line 107"/>
          <p:cNvSpPr>
            <a:spLocks noChangeShapeType="1"/>
          </p:cNvSpPr>
          <p:nvPr/>
        </p:nvSpPr>
        <p:spPr bwMode="auto">
          <a:xfrm>
            <a:off x="5106122" y="5149027"/>
            <a:ext cx="360362" cy="635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111" name="Line 108"/>
          <p:cNvSpPr>
            <a:spLocks noChangeShapeType="1"/>
          </p:cNvSpPr>
          <p:nvPr/>
        </p:nvSpPr>
        <p:spPr bwMode="auto">
          <a:xfrm>
            <a:off x="3089997" y="4910902"/>
            <a:ext cx="4679950" cy="0"/>
          </a:xfrm>
          <a:prstGeom prst="line">
            <a:avLst/>
          </a:prstGeom>
          <a:noFill/>
          <a:ln w="2222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2" name="Line 110"/>
          <p:cNvSpPr>
            <a:spLocks noChangeShapeType="1"/>
          </p:cNvSpPr>
          <p:nvPr/>
        </p:nvSpPr>
        <p:spPr bwMode="auto">
          <a:xfrm flipV="1">
            <a:off x="5466484" y="4652139"/>
            <a:ext cx="1470025" cy="496888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3" name="Line 111"/>
          <p:cNvSpPr>
            <a:spLocks noChangeShapeType="1"/>
          </p:cNvSpPr>
          <p:nvPr/>
        </p:nvSpPr>
        <p:spPr bwMode="auto">
          <a:xfrm>
            <a:off x="6936509" y="4652139"/>
            <a:ext cx="401638" cy="496888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114" name="Group 112"/>
          <p:cNvGrpSpPr>
            <a:grpSpLocks/>
          </p:cNvGrpSpPr>
          <p:nvPr/>
        </p:nvGrpSpPr>
        <p:grpSpPr bwMode="auto">
          <a:xfrm>
            <a:off x="5110884" y="2128014"/>
            <a:ext cx="1588" cy="3482975"/>
            <a:chOff x="2720" y="1125"/>
            <a:chExt cx="1" cy="2194"/>
          </a:xfrm>
        </p:grpSpPr>
        <p:sp>
          <p:nvSpPr>
            <p:cNvPr id="115" name="Line 113"/>
            <p:cNvSpPr>
              <a:spLocks noChangeShapeType="1"/>
            </p:cNvSpPr>
            <p:nvPr/>
          </p:nvSpPr>
          <p:spPr bwMode="auto">
            <a:xfrm>
              <a:off x="2720" y="112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16" name="Line 114"/>
            <p:cNvSpPr>
              <a:spLocks noChangeShapeType="1"/>
            </p:cNvSpPr>
            <p:nvPr/>
          </p:nvSpPr>
          <p:spPr bwMode="auto">
            <a:xfrm>
              <a:off x="2720" y="119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17" name="Line 115"/>
            <p:cNvSpPr>
              <a:spLocks noChangeShapeType="1"/>
            </p:cNvSpPr>
            <p:nvPr/>
          </p:nvSpPr>
          <p:spPr bwMode="auto">
            <a:xfrm>
              <a:off x="2720" y="126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18" name="Line 116"/>
            <p:cNvSpPr>
              <a:spLocks noChangeShapeType="1"/>
            </p:cNvSpPr>
            <p:nvPr/>
          </p:nvSpPr>
          <p:spPr bwMode="auto">
            <a:xfrm>
              <a:off x="2720" y="134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19" name="Line 117"/>
            <p:cNvSpPr>
              <a:spLocks noChangeShapeType="1"/>
            </p:cNvSpPr>
            <p:nvPr/>
          </p:nvSpPr>
          <p:spPr bwMode="auto">
            <a:xfrm>
              <a:off x="2720" y="1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0" name="Line 118"/>
            <p:cNvSpPr>
              <a:spLocks noChangeShapeType="1"/>
            </p:cNvSpPr>
            <p:nvPr/>
          </p:nvSpPr>
          <p:spPr bwMode="auto">
            <a:xfrm>
              <a:off x="2720" y="1485"/>
              <a:ext cx="1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1" name="Line 119"/>
            <p:cNvSpPr>
              <a:spLocks noChangeShapeType="1"/>
            </p:cNvSpPr>
            <p:nvPr/>
          </p:nvSpPr>
          <p:spPr bwMode="auto">
            <a:xfrm>
              <a:off x="2720" y="15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2" name="Line 120"/>
            <p:cNvSpPr>
              <a:spLocks noChangeShapeType="1"/>
            </p:cNvSpPr>
            <p:nvPr/>
          </p:nvSpPr>
          <p:spPr bwMode="auto">
            <a:xfrm>
              <a:off x="2720" y="16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3" name="Line 121"/>
            <p:cNvSpPr>
              <a:spLocks noChangeShapeType="1"/>
            </p:cNvSpPr>
            <p:nvPr/>
          </p:nvSpPr>
          <p:spPr bwMode="auto">
            <a:xfrm>
              <a:off x="2720" y="170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4" name="Line 122"/>
            <p:cNvSpPr>
              <a:spLocks noChangeShapeType="1"/>
            </p:cNvSpPr>
            <p:nvPr/>
          </p:nvSpPr>
          <p:spPr bwMode="auto">
            <a:xfrm>
              <a:off x="2720" y="177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5" name="Line 123"/>
            <p:cNvSpPr>
              <a:spLocks noChangeShapeType="1"/>
            </p:cNvSpPr>
            <p:nvPr/>
          </p:nvSpPr>
          <p:spPr bwMode="auto">
            <a:xfrm>
              <a:off x="2720" y="184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6" name="Line 124"/>
            <p:cNvSpPr>
              <a:spLocks noChangeShapeType="1"/>
            </p:cNvSpPr>
            <p:nvPr/>
          </p:nvSpPr>
          <p:spPr bwMode="auto">
            <a:xfrm>
              <a:off x="2720" y="191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7" name="Line 125"/>
            <p:cNvSpPr>
              <a:spLocks noChangeShapeType="1"/>
            </p:cNvSpPr>
            <p:nvPr/>
          </p:nvSpPr>
          <p:spPr bwMode="auto">
            <a:xfrm>
              <a:off x="2720" y="199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8" name="Line 126"/>
            <p:cNvSpPr>
              <a:spLocks noChangeShapeType="1"/>
            </p:cNvSpPr>
            <p:nvPr/>
          </p:nvSpPr>
          <p:spPr bwMode="auto">
            <a:xfrm>
              <a:off x="2720" y="206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29" name="Line 127"/>
            <p:cNvSpPr>
              <a:spLocks noChangeShapeType="1"/>
            </p:cNvSpPr>
            <p:nvPr/>
          </p:nvSpPr>
          <p:spPr bwMode="auto">
            <a:xfrm>
              <a:off x="2720" y="213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0" name="Line 128"/>
            <p:cNvSpPr>
              <a:spLocks noChangeShapeType="1"/>
            </p:cNvSpPr>
            <p:nvPr/>
          </p:nvSpPr>
          <p:spPr bwMode="auto">
            <a:xfrm>
              <a:off x="2720" y="220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1" name="Line 129"/>
            <p:cNvSpPr>
              <a:spLocks noChangeShapeType="1"/>
            </p:cNvSpPr>
            <p:nvPr/>
          </p:nvSpPr>
          <p:spPr bwMode="auto">
            <a:xfrm>
              <a:off x="2720" y="227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2" name="Line 130"/>
            <p:cNvSpPr>
              <a:spLocks noChangeShapeType="1"/>
            </p:cNvSpPr>
            <p:nvPr/>
          </p:nvSpPr>
          <p:spPr bwMode="auto">
            <a:xfrm>
              <a:off x="2720" y="235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3" name="Line 131"/>
            <p:cNvSpPr>
              <a:spLocks noChangeShapeType="1"/>
            </p:cNvSpPr>
            <p:nvPr/>
          </p:nvSpPr>
          <p:spPr bwMode="auto">
            <a:xfrm>
              <a:off x="2720" y="24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4" name="Line 132"/>
            <p:cNvSpPr>
              <a:spLocks noChangeShapeType="1"/>
            </p:cNvSpPr>
            <p:nvPr/>
          </p:nvSpPr>
          <p:spPr bwMode="auto">
            <a:xfrm>
              <a:off x="2720" y="249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5" name="Line 133"/>
            <p:cNvSpPr>
              <a:spLocks noChangeShapeType="1"/>
            </p:cNvSpPr>
            <p:nvPr/>
          </p:nvSpPr>
          <p:spPr bwMode="auto">
            <a:xfrm>
              <a:off x="2720" y="2566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6" name="Line 134"/>
            <p:cNvSpPr>
              <a:spLocks noChangeShapeType="1"/>
            </p:cNvSpPr>
            <p:nvPr/>
          </p:nvSpPr>
          <p:spPr bwMode="auto">
            <a:xfrm>
              <a:off x="2720" y="263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7" name="Line 135"/>
            <p:cNvSpPr>
              <a:spLocks noChangeShapeType="1"/>
            </p:cNvSpPr>
            <p:nvPr/>
          </p:nvSpPr>
          <p:spPr bwMode="auto">
            <a:xfrm>
              <a:off x="2720" y="271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8" name="Line 136"/>
            <p:cNvSpPr>
              <a:spLocks noChangeShapeType="1"/>
            </p:cNvSpPr>
            <p:nvPr/>
          </p:nvSpPr>
          <p:spPr bwMode="auto">
            <a:xfrm>
              <a:off x="2720" y="278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39" name="Line 137"/>
            <p:cNvSpPr>
              <a:spLocks noChangeShapeType="1"/>
            </p:cNvSpPr>
            <p:nvPr/>
          </p:nvSpPr>
          <p:spPr bwMode="auto">
            <a:xfrm>
              <a:off x="2720" y="285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0" name="Line 138"/>
            <p:cNvSpPr>
              <a:spLocks noChangeShapeType="1"/>
            </p:cNvSpPr>
            <p:nvPr/>
          </p:nvSpPr>
          <p:spPr bwMode="auto">
            <a:xfrm>
              <a:off x="2720" y="292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1" name="Line 139"/>
            <p:cNvSpPr>
              <a:spLocks noChangeShapeType="1"/>
            </p:cNvSpPr>
            <p:nvPr/>
          </p:nvSpPr>
          <p:spPr bwMode="auto">
            <a:xfrm>
              <a:off x="2720" y="299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2" name="Line 140"/>
            <p:cNvSpPr>
              <a:spLocks noChangeShapeType="1"/>
            </p:cNvSpPr>
            <p:nvPr/>
          </p:nvSpPr>
          <p:spPr bwMode="auto">
            <a:xfrm>
              <a:off x="2720" y="307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3" name="Line 141"/>
            <p:cNvSpPr>
              <a:spLocks noChangeShapeType="1"/>
            </p:cNvSpPr>
            <p:nvPr/>
          </p:nvSpPr>
          <p:spPr bwMode="auto">
            <a:xfrm>
              <a:off x="2720" y="314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4" name="Line 142"/>
            <p:cNvSpPr>
              <a:spLocks noChangeShapeType="1"/>
            </p:cNvSpPr>
            <p:nvPr/>
          </p:nvSpPr>
          <p:spPr bwMode="auto">
            <a:xfrm>
              <a:off x="2720" y="321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45" name="Line 143"/>
            <p:cNvSpPr>
              <a:spLocks noChangeShapeType="1"/>
            </p:cNvSpPr>
            <p:nvPr/>
          </p:nvSpPr>
          <p:spPr bwMode="auto">
            <a:xfrm>
              <a:off x="2720" y="328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sp>
        <p:nvSpPr>
          <p:cNvPr id="146" name="Line 144"/>
          <p:cNvSpPr>
            <a:spLocks noChangeShapeType="1"/>
          </p:cNvSpPr>
          <p:nvPr/>
        </p:nvSpPr>
        <p:spPr bwMode="auto">
          <a:xfrm>
            <a:off x="5120409" y="2482027"/>
            <a:ext cx="3048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147" name="Line 145"/>
          <p:cNvSpPr>
            <a:spLocks noChangeShapeType="1"/>
          </p:cNvSpPr>
          <p:nvPr/>
        </p:nvSpPr>
        <p:spPr bwMode="auto">
          <a:xfrm flipV="1">
            <a:off x="5110884" y="2486789"/>
            <a:ext cx="1588" cy="8048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 useBgFill="1">
        <p:nvSpPr>
          <p:cNvPr id="149" name="Rectangle 148"/>
          <p:cNvSpPr>
            <a:spLocks noChangeArrowheads="1"/>
          </p:cNvSpPr>
          <p:nvPr/>
        </p:nvSpPr>
        <p:spPr bwMode="auto">
          <a:xfrm>
            <a:off x="5412509" y="1378714"/>
            <a:ext cx="2354263" cy="4276725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 useBgFill="1">
        <p:nvSpPr>
          <p:cNvPr id="150" name="Rectangle 149"/>
          <p:cNvSpPr>
            <a:spLocks noChangeArrowheads="1"/>
          </p:cNvSpPr>
          <p:nvPr/>
        </p:nvSpPr>
        <p:spPr bwMode="auto">
          <a:xfrm>
            <a:off x="5085484" y="1366014"/>
            <a:ext cx="330200" cy="4395788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Calibri (Corps)"/>
            </a:endParaRPr>
          </a:p>
        </p:txBody>
      </p:sp>
      <p:sp useBgFill="1">
        <p:nvSpPr>
          <p:cNvPr id="151" name="Rectangle 150"/>
          <p:cNvSpPr>
            <a:spLocks noChangeArrowheads="1"/>
          </p:cNvSpPr>
          <p:nvPr/>
        </p:nvSpPr>
        <p:spPr bwMode="auto">
          <a:xfrm>
            <a:off x="4691784" y="1353314"/>
            <a:ext cx="388938" cy="3887788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Calibri (Corps)"/>
            </a:endParaRPr>
          </a:p>
        </p:txBody>
      </p:sp>
      <p:grpSp>
        <p:nvGrpSpPr>
          <p:cNvPr id="152" name="Group 151"/>
          <p:cNvGrpSpPr>
            <a:grpSpLocks/>
          </p:cNvGrpSpPr>
          <p:nvPr/>
        </p:nvGrpSpPr>
        <p:grpSpPr bwMode="auto">
          <a:xfrm>
            <a:off x="5042622" y="1521589"/>
            <a:ext cx="242888" cy="538163"/>
            <a:chOff x="1725" y="1101"/>
            <a:chExt cx="153" cy="339"/>
          </a:xfrm>
        </p:grpSpPr>
        <p:sp>
          <p:nvSpPr>
            <p:cNvPr id="155" name="Rectangle 147"/>
            <p:cNvSpPr>
              <a:spLocks noChangeArrowheads="1"/>
            </p:cNvSpPr>
            <p:nvPr/>
          </p:nvSpPr>
          <p:spPr bwMode="auto">
            <a:xfrm>
              <a:off x="1725" y="1101"/>
              <a:ext cx="15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fr-FR" sz="1400" b="1" dirty="0">
                  <a:solidFill>
                    <a:srgbClr val="FF3300"/>
                  </a:solidFill>
                  <a:latin typeface="Calibri (Corps)"/>
                </a:rPr>
                <a:t>α</a:t>
              </a:r>
              <a:r>
                <a:rPr lang="fr-FR" altLang="fr-FR" sz="1400" b="1" dirty="0">
                  <a:solidFill>
                    <a:srgbClr val="FF3300"/>
                  </a:solidFill>
                  <a:latin typeface="Calibri (Corps)"/>
                </a:rPr>
                <a:t>’T</a:t>
              </a:r>
              <a:endParaRPr lang="fr-FR" altLang="fr-FR" sz="1800" b="1" dirty="0">
                <a:solidFill>
                  <a:srgbClr val="FF3300"/>
                </a:solidFill>
                <a:latin typeface="Calibri (Corps)"/>
              </a:endParaRPr>
            </a:p>
          </p:txBody>
        </p:sp>
        <p:sp>
          <p:nvSpPr>
            <p:cNvPr id="154" name="AutoShape 149"/>
            <p:cNvSpPr>
              <a:spLocks noChangeArrowheads="1"/>
            </p:cNvSpPr>
            <p:nvPr/>
          </p:nvSpPr>
          <p:spPr bwMode="auto">
            <a:xfrm>
              <a:off x="1726" y="1254"/>
              <a:ext cx="66" cy="186"/>
            </a:xfrm>
            <a:prstGeom prst="downArrow">
              <a:avLst>
                <a:gd name="adj1" fmla="val 50000"/>
                <a:gd name="adj2" fmla="val 70455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</p:grpSp>
      <p:sp>
        <p:nvSpPr>
          <p:cNvPr id="157" name="ZoneTexte 15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58" name="Connecteur droit 15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BB124371-81B8-F6EE-63C2-750E047A8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285" y="2632017"/>
            <a:ext cx="54483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03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2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50" grpId="0" animBg="1"/>
      <p:bldP spid="151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7354A08-994F-D68B-E4D2-21249455B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193" y="4213900"/>
            <a:ext cx="5448300" cy="2095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495507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Discontinuous mode</a:t>
            </a: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2565982" y="1331479"/>
            <a:ext cx="3681413" cy="2686050"/>
            <a:chOff x="826" y="890"/>
            <a:chExt cx="3369" cy="2722"/>
          </a:xfrm>
        </p:grpSpPr>
        <p:sp>
          <p:nvSpPr>
            <p:cNvPr id="7" name="AutoShape 4"/>
            <p:cNvSpPr>
              <a:spLocks noChangeAspect="1" noChangeArrowheads="1" noTextEdit="1"/>
            </p:cNvSpPr>
            <p:nvPr/>
          </p:nvSpPr>
          <p:spPr bwMode="auto">
            <a:xfrm>
              <a:off x="1111" y="935"/>
              <a:ext cx="3066" cy="2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1335" y="954"/>
              <a:ext cx="40" cy="1137"/>
              <a:chOff x="1335" y="901"/>
              <a:chExt cx="40" cy="1137"/>
            </a:xfrm>
          </p:grpSpPr>
          <p:sp>
            <p:nvSpPr>
              <p:cNvPr id="152" name="Freeform 6"/>
              <p:cNvSpPr>
                <a:spLocks/>
              </p:cNvSpPr>
              <p:nvPr/>
            </p:nvSpPr>
            <p:spPr bwMode="auto">
              <a:xfrm>
                <a:off x="1335" y="901"/>
                <a:ext cx="40" cy="88"/>
              </a:xfrm>
              <a:custGeom>
                <a:avLst/>
                <a:gdLst>
                  <a:gd name="T0" fmla="*/ 16 w 40"/>
                  <a:gd name="T1" fmla="*/ 0 h 88"/>
                  <a:gd name="T2" fmla="*/ 40 w 40"/>
                  <a:gd name="T3" fmla="*/ 88 h 88"/>
                  <a:gd name="T4" fmla="*/ 16 w 40"/>
                  <a:gd name="T5" fmla="*/ 88 h 88"/>
                  <a:gd name="T6" fmla="*/ 0 w 40"/>
                  <a:gd name="T7" fmla="*/ 88 h 88"/>
                  <a:gd name="T8" fmla="*/ 16 w 40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88">
                    <a:moveTo>
                      <a:pt x="16" y="0"/>
                    </a:moveTo>
                    <a:lnTo>
                      <a:pt x="40" y="88"/>
                    </a:lnTo>
                    <a:lnTo>
                      <a:pt x="16" y="88"/>
                    </a:lnTo>
                    <a:lnTo>
                      <a:pt x="0" y="88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3" name="Line 7"/>
              <p:cNvSpPr>
                <a:spLocks noChangeShapeType="1"/>
              </p:cNvSpPr>
              <p:nvPr/>
            </p:nvSpPr>
            <p:spPr bwMode="auto">
              <a:xfrm>
                <a:off x="1351" y="989"/>
                <a:ext cx="1" cy="104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" name="Group 8"/>
            <p:cNvGrpSpPr>
              <a:grpSpLocks/>
            </p:cNvGrpSpPr>
            <p:nvPr/>
          </p:nvGrpSpPr>
          <p:grpSpPr bwMode="auto">
            <a:xfrm>
              <a:off x="1263" y="1512"/>
              <a:ext cx="2906" cy="48"/>
              <a:chOff x="1263" y="1510"/>
              <a:chExt cx="2906" cy="48"/>
            </a:xfrm>
          </p:grpSpPr>
          <p:sp>
            <p:nvSpPr>
              <p:cNvPr id="150" name="Freeform 9"/>
              <p:cNvSpPr>
                <a:spLocks/>
              </p:cNvSpPr>
              <p:nvPr/>
            </p:nvSpPr>
            <p:spPr bwMode="auto">
              <a:xfrm>
                <a:off x="4081" y="1510"/>
                <a:ext cx="88" cy="48"/>
              </a:xfrm>
              <a:custGeom>
                <a:avLst/>
                <a:gdLst>
                  <a:gd name="T0" fmla="*/ 88 w 88"/>
                  <a:gd name="T1" fmla="*/ 24 h 48"/>
                  <a:gd name="T2" fmla="*/ 0 w 88"/>
                  <a:gd name="T3" fmla="*/ 48 h 48"/>
                  <a:gd name="T4" fmla="*/ 0 w 88"/>
                  <a:gd name="T5" fmla="*/ 24 h 48"/>
                  <a:gd name="T6" fmla="*/ 0 w 88"/>
                  <a:gd name="T7" fmla="*/ 0 h 48"/>
                  <a:gd name="T8" fmla="*/ 88 w 88"/>
                  <a:gd name="T9" fmla="*/ 2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48">
                    <a:moveTo>
                      <a:pt x="88" y="24"/>
                    </a:moveTo>
                    <a:lnTo>
                      <a:pt x="0" y="48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88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1" name="Line 10"/>
              <p:cNvSpPr>
                <a:spLocks noChangeShapeType="1"/>
              </p:cNvSpPr>
              <p:nvPr/>
            </p:nvSpPr>
            <p:spPr bwMode="auto">
              <a:xfrm flipH="1">
                <a:off x="1263" y="1534"/>
                <a:ext cx="281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1335" y="2315"/>
              <a:ext cx="40" cy="1137"/>
              <a:chOff x="1335" y="2262"/>
              <a:chExt cx="40" cy="1137"/>
            </a:xfrm>
          </p:grpSpPr>
          <p:sp>
            <p:nvSpPr>
              <p:cNvPr id="148" name="Freeform 12"/>
              <p:cNvSpPr>
                <a:spLocks/>
              </p:cNvSpPr>
              <p:nvPr/>
            </p:nvSpPr>
            <p:spPr bwMode="auto">
              <a:xfrm>
                <a:off x="1335" y="2262"/>
                <a:ext cx="40" cy="88"/>
              </a:xfrm>
              <a:custGeom>
                <a:avLst/>
                <a:gdLst>
                  <a:gd name="T0" fmla="*/ 16 w 40"/>
                  <a:gd name="T1" fmla="*/ 0 h 88"/>
                  <a:gd name="T2" fmla="*/ 40 w 40"/>
                  <a:gd name="T3" fmla="*/ 88 h 88"/>
                  <a:gd name="T4" fmla="*/ 16 w 40"/>
                  <a:gd name="T5" fmla="*/ 88 h 88"/>
                  <a:gd name="T6" fmla="*/ 0 w 40"/>
                  <a:gd name="T7" fmla="*/ 88 h 88"/>
                  <a:gd name="T8" fmla="*/ 16 w 40"/>
                  <a:gd name="T9" fmla="*/ 0 h 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88">
                    <a:moveTo>
                      <a:pt x="16" y="0"/>
                    </a:moveTo>
                    <a:lnTo>
                      <a:pt x="40" y="88"/>
                    </a:lnTo>
                    <a:lnTo>
                      <a:pt x="16" y="88"/>
                    </a:lnTo>
                    <a:lnTo>
                      <a:pt x="0" y="88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9" name="Line 13"/>
              <p:cNvSpPr>
                <a:spLocks noChangeShapeType="1"/>
              </p:cNvSpPr>
              <p:nvPr/>
            </p:nvSpPr>
            <p:spPr bwMode="auto">
              <a:xfrm>
                <a:off x="1351" y="2350"/>
                <a:ext cx="1" cy="104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3" name="Group 14"/>
            <p:cNvGrpSpPr>
              <a:grpSpLocks/>
            </p:cNvGrpSpPr>
            <p:nvPr/>
          </p:nvGrpSpPr>
          <p:grpSpPr bwMode="auto">
            <a:xfrm>
              <a:off x="1263" y="3203"/>
              <a:ext cx="2906" cy="48"/>
              <a:chOff x="1263" y="3239"/>
              <a:chExt cx="2906" cy="48"/>
            </a:xfrm>
          </p:grpSpPr>
          <p:sp>
            <p:nvSpPr>
              <p:cNvPr id="146" name="Freeform 15"/>
              <p:cNvSpPr>
                <a:spLocks/>
              </p:cNvSpPr>
              <p:nvPr/>
            </p:nvSpPr>
            <p:spPr bwMode="auto">
              <a:xfrm>
                <a:off x="4081" y="3239"/>
                <a:ext cx="88" cy="48"/>
              </a:xfrm>
              <a:custGeom>
                <a:avLst/>
                <a:gdLst>
                  <a:gd name="T0" fmla="*/ 88 w 88"/>
                  <a:gd name="T1" fmla="*/ 24 h 48"/>
                  <a:gd name="T2" fmla="*/ 0 w 88"/>
                  <a:gd name="T3" fmla="*/ 48 h 48"/>
                  <a:gd name="T4" fmla="*/ 0 w 88"/>
                  <a:gd name="T5" fmla="*/ 24 h 48"/>
                  <a:gd name="T6" fmla="*/ 0 w 88"/>
                  <a:gd name="T7" fmla="*/ 0 h 48"/>
                  <a:gd name="T8" fmla="*/ 88 w 88"/>
                  <a:gd name="T9" fmla="*/ 2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" h="48">
                    <a:moveTo>
                      <a:pt x="88" y="24"/>
                    </a:moveTo>
                    <a:lnTo>
                      <a:pt x="0" y="48"/>
                    </a:lnTo>
                    <a:lnTo>
                      <a:pt x="0" y="24"/>
                    </a:lnTo>
                    <a:lnTo>
                      <a:pt x="0" y="0"/>
                    </a:lnTo>
                    <a:lnTo>
                      <a:pt x="88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7" name="Line 16"/>
              <p:cNvSpPr>
                <a:spLocks noChangeShapeType="1"/>
              </p:cNvSpPr>
              <p:nvPr/>
            </p:nvSpPr>
            <p:spPr bwMode="auto">
              <a:xfrm flipH="1">
                <a:off x="1263" y="3263"/>
                <a:ext cx="281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>
              <a:off x="1351" y="1362"/>
              <a:ext cx="91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2264" y="1362"/>
              <a:ext cx="1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2264" y="2043"/>
              <a:ext cx="25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 flipV="1">
              <a:off x="2721" y="1362"/>
              <a:ext cx="0" cy="1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>
              <a:off x="2720" y="1362"/>
              <a:ext cx="905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3625" y="1362"/>
              <a:ext cx="1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0" name="Group 23"/>
            <p:cNvGrpSpPr>
              <a:grpSpLocks/>
            </p:cNvGrpSpPr>
            <p:nvPr/>
          </p:nvGrpSpPr>
          <p:grpSpPr bwMode="auto">
            <a:xfrm>
              <a:off x="2264" y="1178"/>
              <a:ext cx="1" cy="2194"/>
              <a:chOff x="2264" y="1125"/>
              <a:chExt cx="1" cy="2194"/>
            </a:xfrm>
          </p:grpSpPr>
          <p:sp>
            <p:nvSpPr>
              <p:cNvPr id="115" name="Line 24"/>
              <p:cNvSpPr>
                <a:spLocks noChangeShapeType="1"/>
              </p:cNvSpPr>
              <p:nvPr/>
            </p:nvSpPr>
            <p:spPr bwMode="auto">
              <a:xfrm>
                <a:off x="2264" y="112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6" name="Line 25"/>
              <p:cNvSpPr>
                <a:spLocks noChangeShapeType="1"/>
              </p:cNvSpPr>
              <p:nvPr/>
            </p:nvSpPr>
            <p:spPr bwMode="auto">
              <a:xfrm>
                <a:off x="2264" y="119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7" name="Line 26"/>
              <p:cNvSpPr>
                <a:spLocks noChangeShapeType="1"/>
              </p:cNvSpPr>
              <p:nvPr/>
            </p:nvSpPr>
            <p:spPr bwMode="auto">
              <a:xfrm>
                <a:off x="2264" y="1269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8" name="Line 27"/>
              <p:cNvSpPr>
                <a:spLocks noChangeShapeType="1"/>
              </p:cNvSpPr>
              <p:nvPr/>
            </p:nvSpPr>
            <p:spPr bwMode="auto">
              <a:xfrm>
                <a:off x="2264" y="1341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9" name="Line 28"/>
              <p:cNvSpPr>
                <a:spLocks noChangeShapeType="1"/>
              </p:cNvSpPr>
              <p:nvPr/>
            </p:nvSpPr>
            <p:spPr bwMode="auto">
              <a:xfrm>
                <a:off x="2264" y="1413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0" name="Line 29"/>
              <p:cNvSpPr>
                <a:spLocks noChangeShapeType="1"/>
              </p:cNvSpPr>
              <p:nvPr/>
            </p:nvSpPr>
            <p:spPr bwMode="auto">
              <a:xfrm>
                <a:off x="2264" y="1485"/>
                <a:ext cx="1" cy="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1" name="Line 30"/>
              <p:cNvSpPr>
                <a:spLocks noChangeShapeType="1"/>
              </p:cNvSpPr>
              <p:nvPr/>
            </p:nvSpPr>
            <p:spPr bwMode="auto">
              <a:xfrm>
                <a:off x="2264" y="155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2" name="Line 31"/>
              <p:cNvSpPr>
                <a:spLocks noChangeShapeType="1"/>
              </p:cNvSpPr>
              <p:nvPr/>
            </p:nvSpPr>
            <p:spPr bwMode="auto">
              <a:xfrm>
                <a:off x="2264" y="163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3" name="Line 32"/>
              <p:cNvSpPr>
                <a:spLocks noChangeShapeType="1"/>
              </p:cNvSpPr>
              <p:nvPr/>
            </p:nvSpPr>
            <p:spPr bwMode="auto">
              <a:xfrm>
                <a:off x="2264" y="170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4" name="Line 33"/>
              <p:cNvSpPr>
                <a:spLocks noChangeShapeType="1"/>
              </p:cNvSpPr>
              <p:nvPr/>
            </p:nvSpPr>
            <p:spPr bwMode="auto">
              <a:xfrm>
                <a:off x="2264" y="177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5" name="Line 34"/>
              <p:cNvSpPr>
                <a:spLocks noChangeShapeType="1"/>
              </p:cNvSpPr>
              <p:nvPr/>
            </p:nvSpPr>
            <p:spPr bwMode="auto">
              <a:xfrm>
                <a:off x="2264" y="184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6" name="Line 35"/>
              <p:cNvSpPr>
                <a:spLocks noChangeShapeType="1"/>
              </p:cNvSpPr>
              <p:nvPr/>
            </p:nvSpPr>
            <p:spPr bwMode="auto">
              <a:xfrm>
                <a:off x="2264" y="191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7" name="Line 36"/>
              <p:cNvSpPr>
                <a:spLocks noChangeShapeType="1"/>
              </p:cNvSpPr>
              <p:nvPr/>
            </p:nvSpPr>
            <p:spPr bwMode="auto">
              <a:xfrm>
                <a:off x="2264" y="199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8" name="Line 37"/>
              <p:cNvSpPr>
                <a:spLocks noChangeShapeType="1"/>
              </p:cNvSpPr>
              <p:nvPr/>
            </p:nvSpPr>
            <p:spPr bwMode="auto">
              <a:xfrm>
                <a:off x="2264" y="206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" name="Line 38"/>
              <p:cNvSpPr>
                <a:spLocks noChangeShapeType="1"/>
              </p:cNvSpPr>
              <p:nvPr/>
            </p:nvSpPr>
            <p:spPr bwMode="auto">
              <a:xfrm>
                <a:off x="2264" y="213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0" name="Line 39"/>
              <p:cNvSpPr>
                <a:spLocks noChangeShapeType="1"/>
              </p:cNvSpPr>
              <p:nvPr/>
            </p:nvSpPr>
            <p:spPr bwMode="auto">
              <a:xfrm>
                <a:off x="2264" y="220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1" name="Line 40"/>
              <p:cNvSpPr>
                <a:spLocks noChangeShapeType="1"/>
              </p:cNvSpPr>
              <p:nvPr/>
            </p:nvSpPr>
            <p:spPr bwMode="auto">
              <a:xfrm>
                <a:off x="2264" y="227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2" name="Line 41"/>
              <p:cNvSpPr>
                <a:spLocks noChangeShapeType="1"/>
              </p:cNvSpPr>
              <p:nvPr/>
            </p:nvSpPr>
            <p:spPr bwMode="auto">
              <a:xfrm>
                <a:off x="2264" y="235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Line 42"/>
              <p:cNvSpPr>
                <a:spLocks noChangeShapeType="1"/>
              </p:cNvSpPr>
              <p:nvPr/>
            </p:nvSpPr>
            <p:spPr bwMode="auto">
              <a:xfrm>
                <a:off x="2264" y="242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4" name="Line 43"/>
              <p:cNvSpPr>
                <a:spLocks noChangeShapeType="1"/>
              </p:cNvSpPr>
              <p:nvPr/>
            </p:nvSpPr>
            <p:spPr bwMode="auto">
              <a:xfrm>
                <a:off x="2264" y="249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Line 44"/>
              <p:cNvSpPr>
                <a:spLocks noChangeShapeType="1"/>
              </p:cNvSpPr>
              <p:nvPr/>
            </p:nvSpPr>
            <p:spPr bwMode="auto">
              <a:xfrm>
                <a:off x="2264" y="256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6" name="Line 45"/>
              <p:cNvSpPr>
                <a:spLocks noChangeShapeType="1"/>
              </p:cNvSpPr>
              <p:nvPr/>
            </p:nvSpPr>
            <p:spPr bwMode="auto">
              <a:xfrm>
                <a:off x="2264" y="263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Line 46"/>
              <p:cNvSpPr>
                <a:spLocks noChangeShapeType="1"/>
              </p:cNvSpPr>
              <p:nvPr/>
            </p:nvSpPr>
            <p:spPr bwMode="auto">
              <a:xfrm>
                <a:off x="2264" y="271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Line 47"/>
              <p:cNvSpPr>
                <a:spLocks noChangeShapeType="1"/>
              </p:cNvSpPr>
              <p:nvPr/>
            </p:nvSpPr>
            <p:spPr bwMode="auto">
              <a:xfrm>
                <a:off x="2264" y="278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Line 48"/>
              <p:cNvSpPr>
                <a:spLocks noChangeShapeType="1"/>
              </p:cNvSpPr>
              <p:nvPr/>
            </p:nvSpPr>
            <p:spPr bwMode="auto">
              <a:xfrm>
                <a:off x="2264" y="285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0" name="Line 49"/>
              <p:cNvSpPr>
                <a:spLocks noChangeShapeType="1"/>
              </p:cNvSpPr>
              <p:nvPr/>
            </p:nvSpPr>
            <p:spPr bwMode="auto">
              <a:xfrm>
                <a:off x="2264" y="292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1" name="Line 50"/>
              <p:cNvSpPr>
                <a:spLocks noChangeShapeType="1"/>
              </p:cNvSpPr>
              <p:nvPr/>
            </p:nvSpPr>
            <p:spPr bwMode="auto">
              <a:xfrm>
                <a:off x="2264" y="2999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2" name="Line 51"/>
              <p:cNvSpPr>
                <a:spLocks noChangeShapeType="1"/>
              </p:cNvSpPr>
              <p:nvPr/>
            </p:nvSpPr>
            <p:spPr bwMode="auto">
              <a:xfrm>
                <a:off x="2264" y="3071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3" name="Line 52"/>
              <p:cNvSpPr>
                <a:spLocks noChangeShapeType="1"/>
              </p:cNvSpPr>
              <p:nvPr/>
            </p:nvSpPr>
            <p:spPr bwMode="auto">
              <a:xfrm>
                <a:off x="2264" y="3143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4" name="Line 53"/>
              <p:cNvSpPr>
                <a:spLocks noChangeShapeType="1"/>
              </p:cNvSpPr>
              <p:nvPr/>
            </p:nvSpPr>
            <p:spPr bwMode="auto">
              <a:xfrm>
                <a:off x="2264" y="321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5" name="Line 54"/>
              <p:cNvSpPr>
                <a:spLocks noChangeShapeType="1"/>
              </p:cNvSpPr>
              <p:nvPr/>
            </p:nvSpPr>
            <p:spPr bwMode="auto">
              <a:xfrm>
                <a:off x="2264" y="328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2720" y="1178"/>
              <a:ext cx="1" cy="2194"/>
              <a:chOff x="2720" y="1125"/>
              <a:chExt cx="1" cy="2194"/>
            </a:xfrm>
          </p:grpSpPr>
          <p:sp>
            <p:nvSpPr>
              <p:cNvPr id="84" name="Line 56"/>
              <p:cNvSpPr>
                <a:spLocks noChangeShapeType="1"/>
              </p:cNvSpPr>
              <p:nvPr/>
            </p:nvSpPr>
            <p:spPr bwMode="auto">
              <a:xfrm>
                <a:off x="2720" y="112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5" name="Line 57"/>
              <p:cNvSpPr>
                <a:spLocks noChangeShapeType="1"/>
              </p:cNvSpPr>
              <p:nvPr/>
            </p:nvSpPr>
            <p:spPr bwMode="auto">
              <a:xfrm>
                <a:off x="2720" y="119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6" name="Line 58"/>
              <p:cNvSpPr>
                <a:spLocks noChangeShapeType="1"/>
              </p:cNvSpPr>
              <p:nvPr/>
            </p:nvSpPr>
            <p:spPr bwMode="auto">
              <a:xfrm>
                <a:off x="2720" y="1269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7" name="Line 59"/>
              <p:cNvSpPr>
                <a:spLocks noChangeShapeType="1"/>
              </p:cNvSpPr>
              <p:nvPr/>
            </p:nvSpPr>
            <p:spPr bwMode="auto">
              <a:xfrm>
                <a:off x="2720" y="1341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8" name="Line 60"/>
              <p:cNvSpPr>
                <a:spLocks noChangeShapeType="1"/>
              </p:cNvSpPr>
              <p:nvPr/>
            </p:nvSpPr>
            <p:spPr bwMode="auto">
              <a:xfrm>
                <a:off x="2720" y="1413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9" name="Line 61"/>
              <p:cNvSpPr>
                <a:spLocks noChangeShapeType="1"/>
              </p:cNvSpPr>
              <p:nvPr/>
            </p:nvSpPr>
            <p:spPr bwMode="auto">
              <a:xfrm>
                <a:off x="2720" y="1485"/>
                <a:ext cx="1" cy="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0" name="Line 62"/>
              <p:cNvSpPr>
                <a:spLocks noChangeShapeType="1"/>
              </p:cNvSpPr>
              <p:nvPr/>
            </p:nvSpPr>
            <p:spPr bwMode="auto">
              <a:xfrm>
                <a:off x="2720" y="155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Line 63"/>
              <p:cNvSpPr>
                <a:spLocks noChangeShapeType="1"/>
              </p:cNvSpPr>
              <p:nvPr/>
            </p:nvSpPr>
            <p:spPr bwMode="auto">
              <a:xfrm>
                <a:off x="2720" y="163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Line 64"/>
              <p:cNvSpPr>
                <a:spLocks noChangeShapeType="1"/>
              </p:cNvSpPr>
              <p:nvPr/>
            </p:nvSpPr>
            <p:spPr bwMode="auto">
              <a:xfrm>
                <a:off x="2720" y="170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3" name="Line 65"/>
              <p:cNvSpPr>
                <a:spLocks noChangeShapeType="1"/>
              </p:cNvSpPr>
              <p:nvPr/>
            </p:nvSpPr>
            <p:spPr bwMode="auto">
              <a:xfrm>
                <a:off x="2720" y="177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4" name="Line 66"/>
              <p:cNvSpPr>
                <a:spLocks noChangeShapeType="1"/>
              </p:cNvSpPr>
              <p:nvPr/>
            </p:nvSpPr>
            <p:spPr bwMode="auto">
              <a:xfrm>
                <a:off x="2720" y="184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5" name="Line 67"/>
              <p:cNvSpPr>
                <a:spLocks noChangeShapeType="1"/>
              </p:cNvSpPr>
              <p:nvPr/>
            </p:nvSpPr>
            <p:spPr bwMode="auto">
              <a:xfrm>
                <a:off x="2720" y="191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" name="Line 68"/>
              <p:cNvSpPr>
                <a:spLocks noChangeShapeType="1"/>
              </p:cNvSpPr>
              <p:nvPr/>
            </p:nvSpPr>
            <p:spPr bwMode="auto">
              <a:xfrm>
                <a:off x="2720" y="199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7" name="Line 69"/>
              <p:cNvSpPr>
                <a:spLocks noChangeShapeType="1"/>
              </p:cNvSpPr>
              <p:nvPr/>
            </p:nvSpPr>
            <p:spPr bwMode="auto">
              <a:xfrm>
                <a:off x="2720" y="206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8" name="Line 70"/>
              <p:cNvSpPr>
                <a:spLocks noChangeShapeType="1"/>
              </p:cNvSpPr>
              <p:nvPr/>
            </p:nvSpPr>
            <p:spPr bwMode="auto">
              <a:xfrm>
                <a:off x="2720" y="213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9" name="Line 71"/>
              <p:cNvSpPr>
                <a:spLocks noChangeShapeType="1"/>
              </p:cNvSpPr>
              <p:nvPr/>
            </p:nvSpPr>
            <p:spPr bwMode="auto">
              <a:xfrm>
                <a:off x="2720" y="220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0" name="Line 72"/>
              <p:cNvSpPr>
                <a:spLocks noChangeShapeType="1"/>
              </p:cNvSpPr>
              <p:nvPr/>
            </p:nvSpPr>
            <p:spPr bwMode="auto">
              <a:xfrm>
                <a:off x="2720" y="227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1" name="Line 73"/>
              <p:cNvSpPr>
                <a:spLocks noChangeShapeType="1"/>
              </p:cNvSpPr>
              <p:nvPr/>
            </p:nvSpPr>
            <p:spPr bwMode="auto">
              <a:xfrm>
                <a:off x="2720" y="235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" name="Line 74"/>
              <p:cNvSpPr>
                <a:spLocks noChangeShapeType="1"/>
              </p:cNvSpPr>
              <p:nvPr/>
            </p:nvSpPr>
            <p:spPr bwMode="auto">
              <a:xfrm>
                <a:off x="2720" y="242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3" name="Line 75"/>
              <p:cNvSpPr>
                <a:spLocks noChangeShapeType="1"/>
              </p:cNvSpPr>
              <p:nvPr/>
            </p:nvSpPr>
            <p:spPr bwMode="auto">
              <a:xfrm>
                <a:off x="2720" y="249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" name="Line 76"/>
              <p:cNvSpPr>
                <a:spLocks noChangeShapeType="1"/>
              </p:cNvSpPr>
              <p:nvPr/>
            </p:nvSpPr>
            <p:spPr bwMode="auto">
              <a:xfrm>
                <a:off x="2720" y="256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" name="Line 77"/>
              <p:cNvSpPr>
                <a:spLocks noChangeShapeType="1"/>
              </p:cNvSpPr>
              <p:nvPr/>
            </p:nvSpPr>
            <p:spPr bwMode="auto">
              <a:xfrm>
                <a:off x="2720" y="263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6" name="Line 78"/>
              <p:cNvSpPr>
                <a:spLocks noChangeShapeType="1"/>
              </p:cNvSpPr>
              <p:nvPr/>
            </p:nvSpPr>
            <p:spPr bwMode="auto">
              <a:xfrm>
                <a:off x="2720" y="271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7" name="Line 79"/>
              <p:cNvSpPr>
                <a:spLocks noChangeShapeType="1"/>
              </p:cNvSpPr>
              <p:nvPr/>
            </p:nvSpPr>
            <p:spPr bwMode="auto">
              <a:xfrm>
                <a:off x="2720" y="278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8" name="Line 80"/>
              <p:cNvSpPr>
                <a:spLocks noChangeShapeType="1"/>
              </p:cNvSpPr>
              <p:nvPr/>
            </p:nvSpPr>
            <p:spPr bwMode="auto">
              <a:xfrm>
                <a:off x="2720" y="285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9" name="Line 81"/>
              <p:cNvSpPr>
                <a:spLocks noChangeShapeType="1"/>
              </p:cNvSpPr>
              <p:nvPr/>
            </p:nvSpPr>
            <p:spPr bwMode="auto">
              <a:xfrm>
                <a:off x="2720" y="292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0" name="Line 82"/>
              <p:cNvSpPr>
                <a:spLocks noChangeShapeType="1"/>
              </p:cNvSpPr>
              <p:nvPr/>
            </p:nvSpPr>
            <p:spPr bwMode="auto">
              <a:xfrm>
                <a:off x="2720" y="2999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1" name="Line 83"/>
              <p:cNvSpPr>
                <a:spLocks noChangeShapeType="1"/>
              </p:cNvSpPr>
              <p:nvPr/>
            </p:nvSpPr>
            <p:spPr bwMode="auto">
              <a:xfrm>
                <a:off x="2720" y="3071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" name="Line 84"/>
              <p:cNvSpPr>
                <a:spLocks noChangeShapeType="1"/>
              </p:cNvSpPr>
              <p:nvPr/>
            </p:nvSpPr>
            <p:spPr bwMode="auto">
              <a:xfrm>
                <a:off x="2720" y="3143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3" name="Line 85"/>
              <p:cNvSpPr>
                <a:spLocks noChangeShapeType="1"/>
              </p:cNvSpPr>
              <p:nvPr/>
            </p:nvSpPr>
            <p:spPr bwMode="auto">
              <a:xfrm>
                <a:off x="2720" y="321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4" name="Line 86"/>
              <p:cNvSpPr>
                <a:spLocks noChangeShapeType="1"/>
              </p:cNvSpPr>
              <p:nvPr/>
            </p:nvSpPr>
            <p:spPr bwMode="auto">
              <a:xfrm>
                <a:off x="2720" y="328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2" name="Rectangle 87"/>
            <p:cNvSpPr>
              <a:spLocks noChangeArrowheads="1"/>
            </p:cNvSpPr>
            <p:nvPr/>
          </p:nvSpPr>
          <p:spPr bwMode="auto">
            <a:xfrm>
              <a:off x="1143" y="1250"/>
              <a:ext cx="109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E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88"/>
            <p:cNvSpPr>
              <a:spLocks noChangeArrowheads="1"/>
            </p:cNvSpPr>
            <p:nvPr/>
          </p:nvSpPr>
          <p:spPr bwMode="auto">
            <a:xfrm>
              <a:off x="1430" y="2251"/>
              <a:ext cx="45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i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89"/>
            <p:cNvSpPr>
              <a:spLocks noChangeArrowheads="1"/>
            </p:cNvSpPr>
            <p:nvPr/>
          </p:nvSpPr>
          <p:spPr bwMode="auto">
            <a:xfrm>
              <a:off x="4073" y="1340"/>
              <a:ext cx="45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90"/>
            <p:cNvSpPr>
              <a:spLocks noChangeArrowheads="1"/>
            </p:cNvSpPr>
            <p:nvPr/>
          </p:nvSpPr>
          <p:spPr bwMode="auto">
            <a:xfrm>
              <a:off x="2593" y="1627"/>
              <a:ext cx="9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91"/>
            <p:cNvSpPr>
              <a:spLocks noChangeArrowheads="1"/>
            </p:cNvSpPr>
            <p:nvPr/>
          </p:nvSpPr>
          <p:spPr bwMode="auto">
            <a:xfrm>
              <a:off x="2144" y="1627"/>
              <a:ext cx="9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92"/>
            <p:cNvSpPr>
              <a:spLocks noChangeArrowheads="1"/>
            </p:cNvSpPr>
            <p:nvPr/>
          </p:nvSpPr>
          <p:spPr bwMode="auto">
            <a:xfrm>
              <a:off x="2057" y="1611"/>
              <a:ext cx="1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94"/>
            <p:cNvSpPr>
              <a:spLocks noChangeArrowheads="1"/>
            </p:cNvSpPr>
            <p:nvPr/>
          </p:nvSpPr>
          <p:spPr bwMode="auto">
            <a:xfrm>
              <a:off x="1512" y="2323"/>
              <a:ext cx="7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L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95"/>
            <p:cNvSpPr>
              <a:spLocks noChangeArrowheads="1"/>
            </p:cNvSpPr>
            <p:nvPr/>
          </p:nvSpPr>
          <p:spPr bwMode="auto">
            <a:xfrm>
              <a:off x="1375" y="890"/>
              <a:ext cx="8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>
                  <a:solidFill>
                    <a:srgbClr val="000000"/>
                  </a:solidFill>
                  <a:latin typeface="Times" panose="02020603050405020304" pitchFamily="18" charset="0"/>
                </a:rPr>
                <a:t>v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96"/>
            <p:cNvSpPr>
              <a:spLocks noChangeArrowheads="1"/>
            </p:cNvSpPr>
            <p:nvPr/>
          </p:nvSpPr>
          <p:spPr bwMode="auto">
            <a:xfrm>
              <a:off x="1462" y="962"/>
              <a:ext cx="7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000" b="1">
                  <a:solidFill>
                    <a:srgbClr val="000000"/>
                  </a:solidFill>
                  <a:latin typeface="Times" panose="02020603050405020304" pitchFamily="18" charset="0"/>
                </a:rPr>
                <a:t>L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2" name="Rectangle 97"/>
            <p:cNvSpPr>
              <a:spLocks noChangeArrowheads="1"/>
            </p:cNvSpPr>
            <p:nvPr/>
          </p:nvSpPr>
          <p:spPr bwMode="auto">
            <a:xfrm>
              <a:off x="1097" y="1931"/>
              <a:ext cx="235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 b="1" dirty="0">
                  <a:solidFill>
                    <a:srgbClr val="000000"/>
                  </a:solidFill>
                  <a:latin typeface="Times" panose="02020603050405020304" pitchFamily="18" charset="0"/>
                </a:rPr>
                <a:t>-V</a:t>
              </a:r>
              <a:r>
                <a:rPr lang="fr-FR" altLang="fr-FR" sz="1400" b="1" baseline="-25000" dirty="0">
                  <a:solidFill>
                    <a:srgbClr val="000000"/>
                  </a:solidFill>
                  <a:latin typeface="Times" panose="02020603050405020304" pitchFamily="18" charset="0"/>
                </a:rPr>
                <a:t>S</a:t>
              </a:r>
              <a:endParaRPr lang="fr-FR" altLang="fr-FR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99"/>
            <p:cNvSpPr>
              <a:spLocks noChangeArrowheads="1"/>
            </p:cNvSpPr>
            <p:nvPr/>
          </p:nvSpPr>
          <p:spPr bwMode="auto">
            <a:xfrm>
              <a:off x="2688" y="3396"/>
              <a:ext cx="99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100"/>
            <p:cNvSpPr>
              <a:spLocks noChangeArrowheads="1"/>
            </p:cNvSpPr>
            <p:nvPr/>
          </p:nvSpPr>
          <p:spPr bwMode="auto">
            <a:xfrm>
              <a:off x="2280" y="3397"/>
              <a:ext cx="9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6" name="Rectangle 101"/>
            <p:cNvSpPr>
              <a:spLocks noChangeArrowheads="1"/>
            </p:cNvSpPr>
            <p:nvPr/>
          </p:nvSpPr>
          <p:spPr bwMode="auto">
            <a:xfrm>
              <a:off x="2192" y="3381"/>
              <a:ext cx="1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Symbol" panose="05050102010706020507" pitchFamily="18" charset="2"/>
                </a:rPr>
                <a:t>a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102"/>
            <p:cNvSpPr>
              <a:spLocks noChangeArrowheads="1"/>
            </p:cNvSpPr>
            <p:nvPr/>
          </p:nvSpPr>
          <p:spPr bwMode="auto">
            <a:xfrm>
              <a:off x="1239" y="3341"/>
              <a:ext cx="8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8" name="Rectangle 103"/>
            <p:cNvSpPr>
              <a:spLocks noChangeArrowheads="1"/>
            </p:cNvSpPr>
            <p:nvPr/>
          </p:nvSpPr>
          <p:spPr bwMode="auto">
            <a:xfrm>
              <a:off x="4066" y="3114"/>
              <a:ext cx="4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9" name="Line 104"/>
            <p:cNvSpPr>
              <a:spLocks noChangeShapeType="1"/>
            </p:cNvSpPr>
            <p:nvPr/>
          </p:nvSpPr>
          <p:spPr bwMode="auto">
            <a:xfrm flipV="1">
              <a:off x="1338" y="2908"/>
              <a:ext cx="926" cy="313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Line 105"/>
            <p:cNvSpPr>
              <a:spLocks noChangeShapeType="1"/>
            </p:cNvSpPr>
            <p:nvPr/>
          </p:nvSpPr>
          <p:spPr bwMode="auto">
            <a:xfrm>
              <a:off x="2264" y="2908"/>
              <a:ext cx="253" cy="313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106"/>
            <p:cNvSpPr>
              <a:spLocks noChangeShapeType="1"/>
            </p:cNvSpPr>
            <p:nvPr/>
          </p:nvSpPr>
          <p:spPr bwMode="auto">
            <a:xfrm>
              <a:off x="2517" y="3217"/>
              <a:ext cx="227" cy="4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107"/>
            <p:cNvSpPr>
              <a:spLocks noChangeShapeType="1"/>
            </p:cNvSpPr>
            <p:nvPr/>
          </p:nvSpPr>
          <p:spPr bwMode="auto">
            <a:xfrm>
              <a:off x="1247" y="3067"/>
              <a:ext cx="2948" cy="0"/>
            </a:xfrm>
            <a:prstGeom prst="line">
              <a:avLst/>
            </a:prstGeom>
            <a:noFill/>
            <a:ln w="222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 Box 108"/>
            <p:cNvSpPr txBox="1">
              <a:spLocks noChangeArrowheads="1"/>
            </p:cNvSpPr>
            <p:nvPr/>
          </p:nvSpPr>
          <p:spPr bwMode="auto">
            <a:xfrm>
              <a:off x="826" y="2855"/>
              <a:ext cx="324" cy="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4" name="Line 109"/>
            <p:cNvSpPr>
              <a:spLocks noChangeShapeType="1"/>
            </p:cNvSpPr>
            <p:nvPr/>
          </p:nvSpPr>
          <p:spPr bwMode="auto">
            <a:xfrm flipV="1">
              <a:off x="2744" y="2904"/>
              <a:ext cx="926" cy="313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Line 110"/>
            <p:cNvSpPr>
              <a:spLocks noChangeShapeType="1"/>
            </p:cNvSpPr>
            <p:nvPr/>
          </p:nvSpPr>
          <p:spPr bwMode="auto">
            <a:xfrm>
              <a:off x="3670" y="2904"/>
              <a:ext cx="253" cy="313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46" name="Group 111"/>
            <p:cNvGrpSpPr>
              <a:grpSpLocks/>
            </p:cNvGrpSpPr>
            <p:nvPr/>
          </p:nvGrpSpPr>
          <p:grpSpPr bwMode="auto">
            <a:xfrm>
              <a:off x="2520" y="1314"/>
              <a:ext cx="1" cy="2194"/>
              <a:chOff x="2720" y="1125"/>
              <a:chExt cx="1" cy="2194"/>
            </a:xfrm>
          </p:grpSpPr>
          <p:sp>
            <p:nvSpPr>
              <p:cNvPr id="53" name="Line 112"/>
              <p:cNvSpPr>
                <a:spLocks noChangeShapeType="1"/>
              </p:cNvSpPr>
              <p:nvPr/>
            </p:nvSpPr>
            <p:spPr bwMode="auto">
              <a:xfrm>
                <a:off x="2720" y="112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Line 113"/>
              <p:cNvSpPr>
                <a:spLocks noChangeShapeType="1"/>
              </p:cNvSpPr>
              <p:nvPr/>
            </p:nvSpPr>
            <p:spPr bwMode="auto">
              <a:xfrm>
                <a:off x="2720" y="119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Line 114"/>
              <p:cNvSpPr>
                <a:spLocks noChangeShapeType="1"/>
              </p:cNvSpPr>
              <p:nvPr/>
            </p:nvSpPr>
            <p:spPr bwMode="auto">
              <a:xfrm>
                <a:off x="2720" y="1269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6" name="Line 115"/>
              <p:cNvSpPr>
                <a:spLocks noChangeShapeType="1"/>
              </p:cNvSpPr>
              <p:nvPr/>
            </p:nvSpPr>
            <p:spPr bwMode="auto">
              <a:xfrm>
                <a:off x="2720" y="1341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7" name="Line 116"/>
              <p:cNvSpPr>
                <a:spLocks noChangeShapeType="1"/>
              </p:cNvSpPr>
              <p:nvPr/>
            </p:nvSpPr>
            <p:spPr bwMode="auto">
              <a:xfrm>
                <a:off x="2720" y="1413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" name="Line 117"/>
              <p:cNvSpPr>
                <a:spLocks noChangeShapeType="1"/>
              </p:cNvSpPr>
              <p:nvPr/>
            </p:nvSpPr>
            <p:spPr bwMode="auto">
              <a:xfrm>
                <a:off x="2720" y="1485"/>
                <a:ext cx="1" cy="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9" name="Line 118"/>
              <p:cNvSpPr>
                <a:spLocks noChangeShapeType="1"/>
              </p:cNvSpPr>
              <p:nvPr/>
            </p:nvSpPr>
            <p:spPr bwMode="auto">
              <a:xfrm>
                <a:off x="2720" y="155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0" name="Line 119"/>
              <p:cNvSpPr>
                <a:spLocks noChangeShapeType="1"/>
              </p:cNvSpPr>
              <p:nvPr/>
            </p:nvSpPr>
            <p:spPr bwMode="auto">
              <a:xfrm>
                <a:off x="2720" y="163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1" name="Line 120"/>
              <p:cNvSpPr>
                <a:spLocks noChangeShapeType="1"/>
              </p:cNvSpPr>
              <p:nvPr/>
            </p:nvSpPr>
            <p:spPr bwMode="auto">
              <a:xfrm>
                <a:off x="2720" y="170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2" name="Line 121"/>
              <p:cNvSpPr>
                <a:spLocks noChangeShapeType="1"/>
              </p:cNvSpPr>
              <p:nvPr/>
            </p:nvSpPr>
            <p:spPr bwMode="auto">
              <a:xfrm>
                <a:off x="2720" y="177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3" name="Line 122"/>
              <p:cNvSpPr>
                <a:spLocks noChangeShapeType="1"/>
              </p:cNvSpPr>
              <p:nvPr/>
            </p:nvSpPr>
            <p:spPr bwMode="auto">
              <a:xfrm>
                <a:off x="2720" y="184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4" name="Line 123"/>
              <p:cNvSpPr>
                <a:spLocks noChangeShapeType="1"/>
              </p:cNvSpPr>
              <p:nvPr/>
            </p:nvSpPr>
            <p:spPr bwMode="auto">
              <a:xfrm>
                <a:off x="2720" y="191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5" name="Line 124"/>
              <p:cNvSpPr>
                <a:spLocks noChangeShapeType="1"/>
              </p:cNvSpPr>
              <p:nvPr/>
            </p:nvSpPr>
            <p:spPr bwMode="auto">
              <a:xfrm>
                <a:off x="2720" y="199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6" name="Line 125"/>
              <p:cNvSpPr>
                <a:spLocks noChangeShapeType="1"/>
              </p:cNvSpPr>
              <p:nvPr/>
            </p:nvSpPr>
            <p:spPr bwMode="auto">
              <a:xfrm>
                <a:off x="2720" y="206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" name="Line 126"/>
              <p:cNvSpPr>
                <a:spLocks noChangeShapeType="1"/>
              </p:cNvSpPr>
              <p:nvPr/>
            </p:nvSpPr>
            <p:spPr bwMode="auto">
              <a:xfrm>
                <a:off x="2720" y="213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" name="Line 127"/>
              <p:cNvSpPr>
                <a:spLocks noChangeShapeType="1"/>
              </p:cNvSpPr>
              <p:nvPr/>
            </p:nvSpPr>
            <p:spPr bwMode="auto">
              <a:xfrm>
                <a:off x="2720" y="220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" name="Line 128"/>
              <p:cNvSpPr>
                <a:spLocks noChangeShapeType="1"/>
              </p:cNvSpPr>
              <p:nvPr/>
            </p:nvSpPr>
            <p:spPr bwMode="auto">
              <a:xfrm>
                <a:off x="2720" y="227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0" name="Line 129"/>
              <p:cNvSpPr>
                <a:spLocks noChangeShapeType="1"/>
              </p:cNvSpPr>
              <p:nvPr/>
            </p:nvSpPr>
            <p:spPr bwMode="auto">
              <a:xfrm>
                <a:off x="2720" y="235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1" name="Line 130"/>
              <p:cNvSpPr>
                <a:spLocks noChangeShapeType="1"/>
              </p:cNvSpPr>
              <p:nvPr/>
            </p:nvSpPr>
            <p:spPr bwMode="auto">
              <a:xfrm>
                <a:off x="2720" y="242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2" name="Line 131"/>
              <p:cNvSpPr>
                <a:spLocks noChangeShapeType="1"/>
              </p:cNvSpPr>
              <p:nvPr/>
            </p:nvSpPr>
            <p:spPr bwMode="auto">
              <a:xfrm>
                <a:off x="2720" y="2494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3" name="Line 132"/>
              <p:cNvSpPr>
                <a:spLocks noChangeShapeType="1"/>
              </p:cNvSpPr>
              <p:nvPr/>
            </p:nvSpPr>
            <p:spPr bwMode="auto">
              <a:xfrm>
                <a:off x="2720" y="2566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4" name="Line 133"/>
              <p:cNvSpPr>
                <a:spLocks noChangeShapeType="1"/>
              </p:cNvSpPr>
              <p:nvPr/>
            </p:nvSpPr>
            <p:spPr bwMode="auto">
              <a:xfrm>
                <a:off x="2720" y="2638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5" name="Line 134"/>
              <p:cNvSpPr>
                <a:spLocks noChangeShapeType="1"/>
              </p:cNvSpPr>
              <p:nvPr/>
            </p:nvSpPr>
            <p:spPr bwMode="auto">
              <a:xfrm>
                <a:off x="2720" y="2710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6" name="Line 135"/>
              <p:cNvSpPr>
                <a:spLocks noChangeShapeType="1"/>
              </p:cNvSpPr>
              <p:nvPr/>
            </p:nvSpPr>
            <p:spPr bwMode="auto">
              <a:xfrm>
                <a:off x="2720" y="2782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7" name="Line 136"/>
              <p:cNvSpPr>
                <a:spLocks noChangeShapeType="1"/>
              </p:cNvSpPr>
              <p:nvPr/>
            </p:nvSpPr>
            <p:spPr bwMode="auto">
              <a:xfrm>
                <a:off x="2720" y="285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" name="Line 137"/>
              <p:cNvSpPr>
                <a:spLocks noChangeShapeType="1"/>
              </p:cNvSpPr>
              <p:nvPr/>
            </p:nvSpPr>
            <p:spPr bwMode="auto">
              <a:xfrm>
                <a:off x="2720" y="292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" name="Line 138"/>
              <p:cNvSpPr>
                <a:spLocks noChangeShapeType="1"/>
              </p:cNvSpPr>
              <p:nvPr/>
            </p:nvSpPr>
            <p:spPr bwMode="auto">
              <a:xfrm>
                <a:off x="2720" y="2999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0" name="Line 139"/>
              <p:cNvSpPr>
                <a:spLocks noChangeShapeType="1"/>
              </p:cNvSpPr>
              <p:nvPr/>
            </p:nvSpPr>
            <p:spPr bwMode="auto">
              <a:xfrm>
                <a:off x="2720" y="3071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1" name="Line 140"/>
              <p:cNvSpPr>
                <a:spLocks noChangeShapeType="1"/>
              </p:cNvSpPr>
              <p:nvPr/>
            </p:nvSpPr>
            <p:spPr bwMode="auto">
              <a:xfrm>
                <a:off x="2720" y="3143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" name="Line 141"/>
              <p:cNvSpPr>
                <a:spLocks noChangeShapeType="1"/>
              </p:cNvSpPr>
              <p:nvPr/>
            </p:nvSpPr>
            <p:spPr bwMode="auto">
              <a:xfrm>
                <a:off x="2720" y="3215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3" name="Line 142"/>
              <p:cNvSpPr>
                <a:spLocks noChangeShapeType="1"/>
              </p:cNvSpPr>
              <p:nvPr/>
            </p:nvSpPr>
            <p:spPr bwMode="auto">
              <a:xfrm>
                <a:off x="2720" y="3287"/>
                <a:ext cx="1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7" name="Line 143"/>
            <p:cNvSpPr>
              <a:spLocks noChangeShapeType="1"/>
            </p:cNvSpPr>
            <p:nvPr/>
          </p:nvSpPr>
          <p:spPr bwMode="auto">
            <a:xfrm>
              <a:off x="2526" y="1537"/>
              <a:ext cx="1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Line 144"/>
            <p:cNvSpPr>
              <a:spLocks noChangeShapeType="1"/>
            </p:cNvSpPr>
            <p:nvPr/>
          </p:nvSpPr>
          <p:spPr bwMode="auto">
            <a:xfrm flipV="1">
              <a:off x="2520" y="1540"/>
              <a:ext cx="1" cy="50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49" name="Group 145"/>
            <p:cNvGrpSpPr>
              <a:grpSpLocks/>
            </p:cNvGrpSpPr>
            <p:nvPr/>
          </p:nvGrpSpPr>
          <p:grpSpPr bwMode="auto">
            <a:xfrm>
              <a:off x="2468" y="1003"/>
              <a:ext cx="232" cy="219"/>
              <a:chOff x="2468" y="1003"/>
              <a:chExt cx="232" cy="219"/>
            </a:xfrm>
          </p:grpSpPr>
          <p:sp>
            <p:nvSpPr>
              <p:cNvPr id="51" name="Rectangle 146"/>
              <p:cNvSpPr>
                <a:spLocks noChangeArrowheads="1"/>
              </p:cNvSpPr>
              <p:nvPr/>
            </p:nvSpPr>
            <p:spPr bwMode="auto">
              <a:xfrm>
                <a:off x="2591" y="1006"/>
                <a:ext cx="109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 dirty="0">
                    <a:solidFill>
                      <a:srgbClr val="FF3300"/>
                    </a:solidFill>
                    <a:latin typeface="Times" panose="02020603050405020304" pitchFamily="18" charset="0"/>
                  </a:rPr>
                  <a:t>T</a:t>
                </a:r>
                <a:endParaRPr lang="fr-FR" altLang="fr-FR" sz="1800" b="1" dirty="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" name="Rectangle 147"/>
              <p:cNvSpPr>
                <a:spLocks noChangeArrowheads="1"/>
              </p:cNvSpPr>
              <p:nvPr/>
            </p:nvSpPr>
            <p:spPr bwMode="auto">
              <a:xfrm>
                <a:off x="2468" y="1003"/>
                <a:ext cx="157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fr-FR" sz="1400" b="1" dirty="0">
                    <a:solidFill>
                      <a:srgbClr val="FF330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fr-FR" altLang="fr-FR" sz="1400" b="1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’</a:t>
                </a:r>
                <a:endParaRPr lang="fr-FR" altLang="fr-FR" sz="1800" b="1" dirty="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" name="AutoShape 148"/>
            <p:cNvSpPr>
              <a:spLocks noChangeArrowheads="1"/>
            </p:cNvSpPr>
            <p:nvPr/>
          </p:nvSpPr>
          <p:spPr bwMode="auto">
            <a:xfrm>
              <a:off x="2484" y="1254"/>
              <a:ext cx="66" cy="186"/>
            </a:xfrm>
            <a:prstGeom prst="downArrow">
              <a:avLst>
                <a:gd name="adj1" fmla="val 50000"/>
                <a:gd name="adj2" fmla="val 70455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Object 152"/>
              <p:cNvSpPr txBox="1"/>
              <p:nvPr/>
            </p:nvSpPr>
            <p:spPr bwMode="auto">
              <a:xfrm>
                <a:off x="6430172" y="1631950"/>
                <a:ext cx="5685628" cy="744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F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&gt;=0=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′−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  <m:sSub>
                        <m:sSubPr>
                          <m:ctrlP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54" name="Object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0172" y="1631950"/>
                <a:ext cx="5685628" cy="744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Object 157"/>
              <p:cNvSpPr txBox="1"/>
              <p:nvPr/>
            </p:nvSpPr>
            <p:spPr bwMode="auto">
              <a:xfrm>
                <a:off x="6664325" y="3095625"/>
                <a:ext cx="5451475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=&lt;</m:t>
                      </m:r>
                      <m:sSub>
                        <m:sSub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&gt;=</m:t>
                      </m:r>
                      <m:d>
                        <m:d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m:rPr>
                                  <m:sty m:val="p"/>
                                </m:rPr>
                                <a:rPr lang="fr-F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fr-F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56" name="Object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4325" y="3095625"/>
                <a:ext cx="5451475" cy="733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7" name="Group 159"/>
          <p:cNvGrpSpPr>
            <a:grpSpLocks/>
          </p:cNvGrpSpPr>
          <p:nvPr/>
        </p:nvGrpSpPr>
        <p:grpSpPr bwMode="auto">
          <a:xfrm>
            <a:off x="7990310" y="4812113"/>
            <a:ext cx="3460751" cy="900113"/>
            <a:chOff x="3126" y="2750"/>
            <a:chExt cx="2180" cy="567"/>
          </a:xfrm>
        </p:grpSpPr>
        <p:sp>
          <p:nvSpPr>
            <p:cNvPr id="158" name="AutoShape 160"/>
            <p:cNvSpPr>
              <a:spLocks noChangeArrowheads="1"/>
            </p:cNvSpPr>
            <p:nvPr/>
          </p:nvSpPr>
          <p:spPr bwMode="auto">
            <a:xfrm>
              <a:off x="3126" y="2922"/>
              <a:ext cx="697" cy="300"/>
            </a:xfrm>
            <a:prstGeom prst="rightArrow">
              <a:avLst>
                <a:gd name="adj1" fmla="val 50000"/>
                <a:gd name="adj2" fmla="val 58083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Object 161"/>
                <p:cNvSpPr txBox="1"/>
                <p:nvPr/>
              </p:nvSpPr>
              <p:spPr bwMode="auto">
                <a:xfrm>
                  <a:off x="3963" y="2750"/>
                  <a:ext cx="1343" cy="5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fr-F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fr-FR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p>
                              <m:sSupPr>
                                <m:ctrlPr>
                                  <a:rPr lang="fr-F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fr-F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fr-FR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fr-F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fr-FR" sz="2000" dirty="0"/>
                </a:p>
              </p:txBody>
            </p:sp>
          </mc:Choice>
          <mc:Fallback xmlns="">
            <p:sp>
              <p:nvSpPr>
                <p:cNvPr id="159" name="Object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63" y="2750"/>
                  <a:ext cx="1343" cy="56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Group 162"/>
          <p:cNvGrpSpPr>
            <a:grpSpLocks/>
          </p:cNvGrpSpPr>
          <p:nvPr/>
        </p:nvGrpSpPr>
        <p:grpSpPr bwMode="auto">
          <a:xfrm>
            <a:off x="4115384" y="3004704"/>
            <a:ext cx="357188" cy="628650"/>
            <a:chOff x="1100" y="1884"/>
            <a:chExt cx="225" cy="396"/>
          </a:xfrm>
        </p:grpSpPr>
        <p:sp>
          <p:nvSpPr>
            <p:cNvPr id="165" name="AutoShape 149"/>
            <p:cNvSpPr>
              <a:spLocks noChangeArrowheads="1"/>
            </p:cNvSpPr>
            <p:nvPr/>
          </p:nvSpPr>
          <p:spPr bwMode="auto">
            <a:xfrm>
              <a:off x="1110" y="2070"/>
              <a:ext cx="168" cy="210"/>
            </a:xfrm>
            <a:prstGeom prst="rtTriangl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66" name="Text Box 150"/>
            <p:cNvSpPr txBox="1">
              <a:spLocks noChangeArrowheads="1"/>
            </p:cNvSpPr>
            <p:nvPr/>
          </p:nvSpPr>
          <p:spPr bwMode="auto">
            <a:xfrm>
              <a:off x="1100" y="1884"/>
              <a:ext cx="22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0099FF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="1" baseline="-25000" dirty="0">
                  <a:solidFill>
                    <a:srgbClr val="0099FF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167" name="ZoneTexte 16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68" name="Connecteur droit 16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Line 164"/>
          <p:cNvSpPr>
            <a:spLocks noChangeShapeType="1"/>
          </p:cNvSpPr>
          <p:nvPr/>
        </p:nvSpPr>
        <p:spPr bwMode="auto">
          <a:xfrm flipH="1">
            <a:off x="6549020" y="4582679"/>
            <a:ext cx="215900" cy="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" name="Line 163"/>
          <p:cNvSpPr>
            <a:spLocks noChangeShapeType="1"/>
          </p:cNvSpPr>
          <p:nvPr/>
        </p:nvSpPr>
        <p:spPr bwMode="auto">
          <a:xfrm>
            <a:off x="5995442" y="6285314"/>
            <a:ext cx="279400" cy="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1" name="Text Box 165"/>
          <p:cNvSpPr txBox="1">
            <a:spLocks noChangeArrowheads="1"/>
          </p:cNvSpPr>
          <p:nvPr/>
        </p:nvSpPr>
        <p:spPr bwMode="auto">
          <a:xfrm>
            <a:off x="5992267" y="5788426"/>
            <a:ext cx="431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00CCFF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="1" baseline="-25000" dirty="0">
                <a:solidFill>
                  <a:srgbClr val="00CCFF"/>
                </a:solidFill>
                <a:latin typeface="Times New Roman" panose="02020603050405020304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8216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382198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Buck-boost: Output characteristics</a:t>
            </a:r>
          </a:p>
        </p:txBody>
      </p:sp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4465350" y="1428895"/>
            <a:ext cx="5405124" cy="464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174" y="1420957"/>
            <a:ext cx="7762153" cy="472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73137" y="1411432"/>
            <a:ext cx="550032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 dirty="0">
                <a:latin typeface="Times New Roman" panose="02020603050405020304" pitchFamily="18" charset="0"/>
              </a:rPr>
              <a:t>S</a:t>
            </a:r>
          </a:p>
        </p:txBody>
      </p:sp>
      <p:grpSp>
        <p:nvGrpSpPr>
          <p:cNvPr id="10" name="Group 15"/>
          <p:cNvGrpSpPr>
            <a:grpSpLocks/>
          </p:cNvGrpSpPr>
          <p:nvPr/>
        </p:nvGrpSpPr>
        <p:grpSpPr bwMode="auto">
          <a:xfrm>
            <a:off x="7383240" y="1973407"/>
            <a:ext cx="1940979" cy="852638"/>
            <a:chOff x="2732" y="1278"/>
            <a:chExt cx="1101" cy="498"/>
          </a:xfrm>
        </p:grpSpPr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2732" y="1278"/>
              <a:ext cx="1101" cy="2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800" b="1" i="1" dirty="0">
                  <a:solidFill>
                    <a:srgbClr val="FF3300"/>
                  </a:solidFill>
                  <a:latin typeface="Calibri (Corps)"/>
                </a:rPr>
                <a:t>Boundary mode</a:t>
              </a:r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 flipH="1">
              <a:off x="2748" y="1506"/>
              <a:ext cx="426" cy="2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552662" y="3221181"/>
            <a:ext cx="230590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i="1" dirty="0">
                <a:solidFill>
                  <a:srgbClr val="0066FF"/>
                </a:solidFill>
                <a:latin typeface="Calibri (Corps)"/>
              </a:rPr>
              <a:t>Discontinuous mode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8179912" y="3898199"/>
            <a:ext cx="20062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i="1" dirty="0">
                <a:solidFill>
                  <a:srgbClr val="0066FF"/>
                </a:solidFill>
                <a:latin typeface="Calibri (Corps)"/>
              </a:rPr>
              <a:t>Continuous mode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3381087" y="3935557"/>
            <a:ext cx="5500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fr-FR" altLang="fr-FR" sz="18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E</a:t>
            </a:r>
            <a:endParaRPr lang="fr-FR" altLang="fr-FR" sz="1800" b="1" baseline="-25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3797012" y="3475182"/>
            <a:ext cx="4675275" cy="3033884"/>
            <a:chOff x="690" y="2224"/>
            <a:chExt cx="2652" cy="1772"/>
          </a:xfrm>
        </p:grpSpPr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690" y="2610"/>
              <a:ext cx="2388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3046" y="2224"/>
              <a:ext cx="0" cy="129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bject 14"/>
                <p:cNvSpPr txBox="1"/>
                <p:nvPr/>
              </p:nvSpPr>
              <p:spPr bwMode="auto">
                <a:xfrm>
                  <a:off x="2971" y="3578"/>
                  <a:ext cx="371" cy="4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f>
                          <m:fPr>
                            <m:ctrlPr>
                              <a:rPr lang="fr-F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fr-F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20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71" y="3578"/>
                  <a:ext cx="371" cy="4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/>
              <p:cNvSpPr txBox="1"/>
              <p:nvPr/>
            </p:nvSpPr>
            <p:spPr bwMode="auto">
              <a:xfrm>
                <a:off x="4382800" y="1079283"/>
                <a:ext cx="1940979" cy="655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fr-F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21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2800" y="1079283"/>
                <a:ext cx="1940979" cy="655637"/>
              </a:xfrm>
              <a:prstGeom prst="rect">
                <a:avLst/>
              </a:prstGeom>
              <a:blipFill>
                <a:blip r:embed="rId4"/>
                <a:stretch>
                  <a:fillRect b="-27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ZoneTexte 21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rgbClr val="FF0000"/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23" name="Connecteur droit 22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33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Capacitive storage chopper</a:t>
            </a:r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4471125" y="1486480"/>
            <a:ext cx="431800" cy="431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V="1">
            <a:off x="4326662" y="1415043"/>
            <a:ext cx="0" cy="5746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981904" y="1991305"/>
            <a:ext cx="11721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solidFill>
                  <a:srgbClr val="FF3300"/>
                </a:solidFill>
                <a:latin typeface="Calibri (Corps)"/>
              </a:rPr>
              <a:t>Voltage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 err="1">
                <a:solidFill>
                  <a:srgbClr val="FF3300"/>
                </a:solidFill>
                <a:latin typeface="Calibri (Corps)"/>
              </a:rPr>
              <a:t>generator</a:t>
            </a:r>
            <a:endParaRPr lang="fr-FR" altLang="fr-FR" sz="1800" dirty="0">
              <a:solidFill>
                <a:srgbClr val="FF3300"/>
              </a:solidFill>
              <a:latin typeface="Calibri (Corps)"/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471125" y="4294768"/>
            <a:ext cx="431800" cy="431800"/>
          </a:xfrm>
          <a:prstGeom prst="ellips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V="1">
            <a:off x="4687025" y="4367793"/>
            <a:ext cx="0" cy="288925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981904" y="4799593"/>
            <a:ext cx="11721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Calibri (Corps)"/>
              </a:rPr>
              <a:t>Current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Calibri (Corps)"/>
              </a:rPr>
              <a:t>generator</a:t>
            </a:r>
          </a:p>
        </p:txBody>
      </p: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8719275" y="4439230"/>
            <a:ext cx="1308100" cy="277813"/>
            <a:chOff x="3760" y="3283"/>
            <a:chExt cx="824" cy="175"/>
          </a:xfrm>
        </p:grpSpPr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3925" y="3283"/>
              <a:ext cx="77" cy="87"/>
            </a:xfrm>
            <a:custGeom>
              <a:avLst/>
              <a:gdLst>
                <a:gd name="T0" fmla="*/ 0 w 77"/>
                <a:gd name="T1" fmla="*/ 87 h 87"/>
                <a:gd name="T2" fmla="*/ 0 w 77"/>
                <a:gd name="T3" fmla="*/ 68 h 87"/>
                <a:gd name="T4" fmla="*/ 9 w 77"/>
                <a:gd name="T5" fmla="*/ 39 h 87"/>
                <a:gd name="T6" fmla="*/ 19 w 77"/>
                <a:gd name="T7" fmla="*/ 19 h 87"/>
                <a:gd name="T8" fmla="*/ 39 w 77"/>
                <a:gd name="T9" fmla="*/ 9 h 87"/>
                <a:gd name="T10" fmla="*/ 68 w 77"/>
                <a:gd name="T11" fmla="*/ 0 h 87"/>
                <a:gd name="T12" fmla="*/ 77 w 77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7" h="87">
                  <a:moveTo>
                    <a:pt x="0" y="87"/>
                  </a:moveTo>
                  <a:lnTo>
                    <a:pt x="0" y="68"/>
                  </a:lnTo>
                  <a:lnTo>
                    <a:pt x="9" y="39"/>
                  </a:lnTo>
                  <a:lnTo>
                    <a:pt x="1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3925" y="3370"/>
              <a:ext cx="29" cy="88"/>
            </a:xfrm>
            <a:custGeom>
              <a:avLst/>
              <a:gdLst>
                <a:gd name="T0" fmla="*/ 29 w 29"/>
                <a:gd name="T1" fmla="*/ 88 h 88"/>
                <a:gd name="T2" fmla="*/ 29 w 29"/>
                <a:gd name="T3" fmla="*/ 88 h 88"/>
                <a:gd name="T4" fmla="*/ 19 w 29"/>
                <a:gd name="T5" fmla="*/ 78 h 88"/>
                <a:gd name="T6" fmla="*/ 9 w 29"/>
                <a:gd name="T7" fmla="*/ 68 h 88"/>
                <a:gd name="T8" fmla="*/ 9 w 29"/>
                <a:gd name="T9" fmla="*/ 58 h 88"/>
                <a:gd name="T10" fmla="*/ 0 w 29"/>
                <a:gd name="T11" fmla="*/ 20 h 88"/>
                <a:gd name="T12" fmla="*/ 0 w 2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9" y="68"/>
                  </a:lnTo>
                  <a:lnTo>
                    <a:pt x="9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3905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20 w 78"/>
                <a:gd name="T3" fmla="*/ 0 h 87"/>
                <a:gd name="T4" fmla="*/ 49 w 78"/>
                <a:gd name="T5" fmla="*/ 9 h 87"/>
                <a:gd name="T6" fmla="*/ 59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20" y="0"/>
                  </a:lnTo>
                  <a:lnTo>
                    <a:pt x="49" y="9"/>
                  </a:lnTo>
                  <a:lnTo>
                    <a:pt x="59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3954" y="3370"/>
              <a:ext cx="29" cy="88"/>
            </a:xfrm>
            <a:custGeom>
              <a:avLst/>
              <a:gdLst>
                <a:gd name="T0" fmla="*/ 29 w 29"/>
                <a:gd name="T1" fmla="*/ 0 h 88"/>
                <a:gd name="T2" fmla="*/ 29 w 29"/>
                <a:gd name="T3" fmla="*/ 20 h 88"/>
                <a:gd name="T4" fmla="*/ 29 w 29"/>
                <a:gd name="T5" fmla="*/ 49 h 88"/>
                <a:gd name="T6" fmla="*/ 19 w 29"/>
                <a:gd name="T7" fmla="*/ 68 h 88"/>
                <a:gd name="T8" fmla="*/ 19 w 29"/>
                <a:gd name="T9" fmla="*/ 78 h 88"/>
                <a:gd name="T10" fmla="*/ 10 w 29"/>
                <a:gd name="T11" fmla="*/ 88 h 88"/>
                <a:gd name="T12" fmla="*/ 0 w 2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0"/>
                  </a:moveTo>
                  <a:lnTo>
                    <a:pt x="29" y="20"/>
                  </a:lnTo>
                  <a:lnTo>
                    <a:pt x="29" y="49"/>
                  </a:lnTo>
                  <a:lnTo>
                    <a:pt x="19" y="68"/>
                  </a:lnTo>
                  <a:lnTo>
                    <a:pt x="1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4012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9 w 78"/>
                <a:gd name="T9" fmla="*/ 9 h 87"/>
                <a:gd name="T10" fmla="*/ 68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4012" y="3370"/>
              <a:ext cx="29" cy="88"/>
            </a:xfrm>
            <a:custGeom>
              <a:avLst/>
              <a:gdLst>
                <a:gd name="T0" fmla="*/ 29 w 29"/>
                <a:gd name="T1" fmla="*/ 88 h 88"/>
                <a:gd name="T2" fmla="*/ 29 w 29"/>
                <a:gd name="T3" fmla="*/ 88 h 88"/>
                <a:gd name="T4" fmla="*/ 20 w 29"/>
                <a:gd name="T5" fmla="*/ 78 h 88"/>
                <a:gd name="T6" fmla="*/ 10 w 29"/>
                <a:gd name="T7" fmla="*/ 68 h 88"/>
                <a:gd name="T8" fmla="*/ 10 w 29"/>
                <a:gd name="T9" fmla="*/ 58 h 88"/>
                <a:gd name="T10" fmla="*/ 0 w 29"/>
                <a:gd name="T11" fmla="*/ 20 h 88"/>
                <a:gd name="T12" fmla="*/ 0 w 2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88"/>
                  </a:moveTo>
                  <a:lnTo>
                    <a:pt x="29" y="88"/>
                  </a:lnTo>
                  <a:lnTo>
                    <a:pt x="20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3993" y="3283"/>
              <a:ext cx="87" cy="87"/>
            </a:xfrm>
            <a:custGeom>
              <a:avLst/>
              <a:gdLst>
                <a:gd name="T0" fmla="*/ 0 w 87"/>
                <a:gd name="T1" fmla="*/ 0 h 87"/>
                <a:gd name="T2" fmla="*/ 19 w 87"/>
                <a:gd name="T3" fmla="*/ 0 h 87"/>
                <a:gd name="T4" fmla="*/ 48 w 87"/>
                <a:gd name="T5" fmla="*/ 9 h 87"/>
                <a:gd name="T6" fmla="*/ 58 w 87"/>
                <a:gd name="T7" fmla="*/ 19 h 87"/>
                <a:gd name="T8" fmla="*/ 68 w 87"/>
                <a:gd name="T9" fmla="*/ 29 h 87"/>
                <a:gd name="T10" fmla="*/ 77 w 87"/>
                <a:gd name="T11" fmla="*/ 48 h 87"/>
                <a:gd name="T12" fmla="*/ 87 w 87"/>
                <a:gd name="T13" fmla="*/ 68 h 87"/>
                <a:gd name="T14" fmla="*/ 87 w 87"/>
                <a:gd name="T15" fmla="*/ 77 h 87"/>
                <a:gd name="T16" fmla="*/ 87 w 87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29"/>
                  </a:lnTo>
                  <a:lnTo>
                    <a:pt x="77" y="48"/>
                  </a:lnTo>
                  <a:lnTo>
                    <a:pt x="87" y="68"/>
                  </a:lnTo>
                  <a:lnTo>
                    <a:pt x="87" y="77"/>
                  </a:lnTo>
                  <a:lnTo>
                    <a:pt x="8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4041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0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0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4099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9 w 78"/>
                <a:gd name="T9" fmla="*/ 9 h 87"/>
                <a:gd name="T10" fmla="*/ 68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4099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30 w 39"/>
                <a:gd name="T3" fmla="*/ 88 h 88"/>
                <a:gd name="T4" fmla="*/ 20 w 39"/>
                <a:gd name="T5" fmla="*/ 78 h 88"/>
                <a:gd name="T6" fmla="*/ 1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30" y="88"/>
                  </a:lnTo>
                  <a:lnTo>
                    <a:pt x="20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4080" y="3283"/>
              <a:ext cx="87" cy="87"/>
            </a:xfrm>
            <a:custGeom>
              <a:avLst/>
              <a:gdLst>
                <a:gd name="T0" fmla="*/ 0 w 87"/>
                <a:gd name="T1" fmla="*/ 0 h 87"/>
                <a:gd name="T2" fmla="*/ 19 w 87"/>
                <a:gd name="T3" fmla="*/ 0 h 87"/>
                <a:gd name="T4" fmla="*/ 49 w 87"/>
                <a:gd name="T5" fmla="*/ 9 h 87"/>
                <a:gd name="T6" fmla="*/ 58 w 87"/>
                <a:gd name="T7" fmla="*/ 19 h 87"/>
                <a:gd name="T8" fmla="*/ 68 w 87"/>
                <a:gd name="T9" fmla="*/ 29 h 87"/>
                <a:gd name="T10" fmla="*/ 78 w 87"/>
                <a:gd name="T11" fmla="*/ 48 h 87"/>
                <a:gd name="T12" fmla="*/ 87 w 87"/>
                <a:gd name="T13" fmla="*/ 68 h 87"/>
                <a:gd name="T14" fmla="*/ 87 w 87"/>
                <a:gd name="T15" fmla="*/ 77 h 87"/>
                <a:gd name="T16" fmla="*/ 87 w 87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0"/>
                  </a:moveTo>
                  <a:lnTo>
                    <a:pt x="19" y="0"/>
                  </a:lnTo>
                  <a:lnTo>
                    <a:pt x="49" y="9"/>
                  </a:lnTo>
                  <a:lnTo>
                    <a:pt x="58" y="19"/>
                  </a:lnTo>
                  <a:lnTo>
                    <a:pt x="68" y="29"/>
                  </a:lnTo>
                  <a:lnTo>
                    <a:pt x="78" y="48"/>
                  </a:lnTo>
                  <a:lnTo>
                    <a:pt x="87" y="68"/>
                  </a:lnTo>
                  <a:lnTo>
                    <a:pt x="87" y="77"/>
                  </a:lnTo>
                  <a:lnTo>
                    <a:pt x="8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4129" y="3370"/>
              <a:ext cx="38" cy="88"/>
            </a:xfrm>
            <a:custGeom>
              <a:avLst/>
              <a:gdLst>
                <a:gd name="T0" fmla="*/ 38 w 38"/>
                <a:gd name="T1" fmla="*/ 0 h 88"/>
                <a:gd name="T2" fmla="*/ 38 w 38"/>
                <a:gd name="T3" fmla="*/ 20 h 88"/>
                <a:gd name="T4" fmla="*/ 38 w 38"/>
                <a:gd name="T5" fmla="*/ 49 h 88"/>
                <a:gd name="T6" fmla="*/ 29 w 38"/>
                <a:gd name="T7" fmla="*/ 68 h 88"/>
                <a:gd name="T8" fmla="*/ 29 w 38"/>
                <a:gd name="T9" fmla="*/ 78 h 88"/>
                <a:gd name="T10" fmla="*/ 9 w 38"/>
                <a:gd name="T11" fmla="*/ 88 h 88"/>
                <a:gd name="T12" fmla="*/ 0 w 38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88">
                  <a:moveTo>
                    <a:pt x="38" y="0"/>
                  </a:moveTo>
                  <a:lnTo>
                    <a:pt x="38" y="20"/>
                  </a:lnTo>
                  <a:lnTo>
                    <a:pt x="38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9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4187" y="3283"/>
              <a:ext cx="77" cy="87"/>
            </a:xfrm>
            <a:custGeom>
              <a:avLst/>
              <a:gdLst>
                <a:gd name="T0" fmla="*/ 0 w 77"/>
                <a:gd name="T1" fmla="*/ 87 h 87"/>
                <a:gd name="T2" fmla="*/ 0 w 77"/>
                <a:gd name="T3" fmla="*/ 77 h 87"/>
                <a:gd name="T4" fmla="*/ 0 w 77"/>
                <a:gd name="T5" fmla="*/ 68 h 87"/>
                <a:gd name="T6" fmla="*/ 9 w 77"/>
                <a:gd name="T7" fmla="*/ 48 h 87"/>
                <a:gd name="T8" fmla="*/ 19 w 77"/>
                <a:gd name="T9" fmla="*/ 29 h 87"/>
                <a:gd name="T10" fmla="*/ 29 w 77"/>
                <a:gd name="T11" fmla="*/ 19 h 87"/>
                <a:gd name="T12" fmla="*/ 39 w 77"/>
                <a:gd name="T13" fmla="*/ 9 h 87"/>
                <a:gd name="T14" fmla="*/ 68 w 77"/>
                <a:gd name="T15" fmla="*/ 0 h 87"/>
                <a:gd name="T16" fmla="*/ 77 w 77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9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7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4187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29 w 39"/>
                <a:gd name="T3" fmla="*/ 88 h 88"/>
                <a:gd name="T4" fmla="*/ 19 w 39"/>
                <a:gd name="T5" fmla="*/ 78 h 88"/>
                <a:gd name="T6" fmla="*/ 9 w 39"/>
                <a:gd name="T7" fmla="*/ 68 h 88"/>
                <a:gd name="T8" fmla="*/ 9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9" y="68"/>
                  </a:lnTo>
                  <a:lnTo>
                    <a:pt x="9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4177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19 w 78"/>
                <a:gd name="T3" fmla="*/ 0 h 87"/>
                <a:gd name="T4" fmla="*/ 39 w 78"/>
                <a:gd name="T5" fmla="*/ 9 h 87"/>
                <a:gd name="T6" fmla="*/ 49 w 78"/>
                <a:gd name="T7" fmla="*/ 19 h 87"/>
                <a:gd name="T8" fmla="*/ 58 w 78"/>
                <a:gd name="T9" fmla="*/ 29 h 87"/>
                <a:gd name="T10" fmla="*/ 68 w 78"/>
                <a:gd name="T11" fmla="*/ 48 h 87"/>
                <a:gd name="T12" fmla="*/ 78 w 78"/>
                <a:gd name="T13" fmla="*/ 68 h 87"/>
                <a:gd name="T14" fmla="*/ 78 w 78"/>
                <a:gd name="T15" fmla="*/ 77 h 87"/>
                <a:gd name="T16" fmla="*/ 78 w 78"/>
                <a:gd name="T17" fmla="*/ 87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19" y="0"/>
                  </a:lnTo>
                  <a:lnTo>
                    <a:pt x="39" y="9"/>
                  </a:lnTo>
                  <a:lnTo>
                    <a:pt x="49" y="19"/>
                  </a:lnTo>
                  <a:lnTo>
                    <a:pt x="58" y="29"/>
                  </a:lnTo>
                  <a:lnTo>
                    <a:pt x="68" y="48"/>
                  </a:lnTo>
                  <a:lnTo>
                    <a:pt x="78" y="68"/>
                  </a:lnTo>
                  <a:lnTo>
                    <a:pt x="78" y="77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4216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9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4274" y="3283"/>
              <a:ext cx="87" cy="87"/>
            </a:xfrm>
            <a:custGeom>
              <a:avLst/>
              <a:gdLst>
                <a:gd name="T0" fmla="*/ 0 w 87"/>
                <a:gd name="T1" fmla="*/ 87 h 87"/>
                <a:gd name="T2" fmla="*/ 0 w 87"/>
                <a:gd name="T3" fmla="*/ 77 h 87"/>
                <a:gd name="T4" fmla="*/ 0 w 87"/>
                <a:gd name="T5" fmla="*/ 68 h 87"/>
                <a:gd name="T6" fmla="*/ 10 w 87"/>
                <a:gd name="T7" fmla="*/ 48 h 87"/>
                <a:gd name="T8" fmla="*/ 19 w 87"/>
                <a:gd name="T9" fmla="*/ 29 h 87"/>
                <a:gd name="T10" fmla="*/ 29 w 87"/>
                <a:gd name="T11" fmla="*/ 19 h 87"/>
                <a:gd name="T12" fmla="*/ 39 w 87"/>
                <a:gd name="T13" fmla="*/ 9 h 87"/>
                <a:gd name="T14" fmla="*/ 68 w 87"/>
                <a:gd name="T15" fmla="*/ 0 h 87"/>
                <a:gd name="T16" fmla="*/ 87 w 87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7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10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87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4274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29 w 39"/>
                <a:gd name="T3" fmla="*/ 88 h 88"/>
                <a:gd name="T4" fmla="*/ 19 w 39"/>
                <a:gd name="T5" fmla="*/ 78 h 88"/>
                <a:gd name="T6" fmla="*/ 1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29" y="88"/>
                  </a:lnTo>
                  <a:lnTo>
                    <a:pt x="19" y="78"/>
                  </a:lnTo>
                  <a:lnTo>
                    <a:pt x="1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4264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20 w 78"/>
                <a:gd name="T3" fmla="*/ 0 h 87"/>
                <a:gd name="T4" fmla="*/ 49 w 78"/>
                <a:gd name="T5" fmla="*/ 9 h 87"/>
                <a:gd name="T6" fmla="*/ 59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20" y="0"/>
                  </a:lnTo>
                  <a:lnTo>
                    <a:pt x="49" y="9"/>
                  </a:lnTo>
                  <a:lnTo>
                    <a:pt x="59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4303" y="3370"/>
              <a:ext cx="39" cy="88"/>
            </a:xfrm>
            <a:custGeom>
              <a:avLst/>
              <a:gdLst>
                <a:gd name="T0" fmla="*/ 39 w 39"/>
                <a:gd name="T1" fmla="*/ 0 h 88"/>
                <a:gd name="T2" fmla="*/ 39 w 39"/>
                <a:gd name="T3" fmla="*/ 20 h 88"/>
                <a:gd name="T4" fmla="*/ 39 w 39"/>
                <a:gd name="T5" fmla="*/ 49 h 88"/>
                <a:gd name="T6" fmla="*/ 29 w 39"/>
                <a:gd name="T7" fmla="*/ 68 h 88"/>
                <a:gd name="T8" fmla="*/ 29 w 39"/>
                <a:gd name="T9" fmla="*/ 78 h 88"/>
                <a:gd name="T10" fmla="*/ 10 w 39"/>
                <a:gd name="T11" fmla="*/ 88 h 88"/>
                <a:gd name="T12" fmla="*/ 0 w 3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0"/>
                  </a:moveTo>
                  <a:lnTo>
                    <a:pt x="39" y="20"/>
                  </a:lnTo>
                  <a:lnTo>
                    <a:pt x="39" y="49"/>
                  </a:lnTo>
                  <a:lnTo>
                    <a:pt x="29" y="68"/>
                  </a:lnTo>
                  <a:lnTo>
                    <a:pt x="29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4361" y="3283"/>
              <a:ext cx="88" cy="87"/>
            </a:xfrm>
            <a:custGeom>
              <a:avLst/>
              <a:gdLst>
                <a:gd name="T0" fmla="*/ 0 w 88"/>
                <a:gd name="T1" fmla="*/ 87 h 87"/>
                <a:gd name="T2" fmla="*/ 0 w 88"/>
                <a:gd name="T3" fmla="*/ 77 h 87"/>
                <a:gd name="T4" fmla="*/ 0 w 88"/>
                <a:gd name="T5" fmla="*/ 68 h 87"/>
                <a:gd name="T6" fmla="*/ 10 w 88"/>
                <a:gd name="T7" fmla="*/ 48 h 87"/>
                <a:gd name="T8" fmla="*/ 20 w 88"/>
                <a:gd name="T9" fmla="*/ 29 h 87"/>
                <a:gd name="T10" fmla="*/ 29 w 88"/>
                <a:gd name="T11" fmla="*/ 19 h 87"/>
                <a:gd name="T12" fmla="*/ 39 w 88"/>
                <a:gd name="T13" fmla="*/ 9 h 87"/>
                <a:gd name="T14" fmla="*/ 68 w 88"/>
                <a:gd name="T15" fmla="*/ 0 h 87"/>
                <a:gd name="T16" fmla="*/ 88 w 88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8" h="87">
                  <a:moveTo>
                    <a:pt x="0" y="87"/>
                  </a:moveTo>
                  <a:lnTo>
                    <a:pt x="0" y="77"/>
                  </a:lnTo>
                  <a:lnTo>
                    <a:pt x="0" y="68"/>
                  </a:lnTo>
                  <a:lnTo>
                    <a:pt x="10" y="48"/>
                  </a:lnTo>
                  <a:lnTo>
                    <a:pt x="20" y="29"/>
                  </a:lnTo>
                  <a:lnTo>
                    <a:pt x="29" y="19"/>
                  </a:lnTo>
                  <a:lnTo>
                    <a:pt x="39" y="9"/>
                  </a:lnTo>
                  <a:lnTo>
                    <a:pt x="68" y="0"/>
                  </a:lnTo>
                  <a:lnTo>
                    <a:pt x="8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>
              <a:off x="4361" y="3370"/>
              <a:ext cx="39" cy="88"/>
            </a:xfrm>
            <a:custGeom>
              <a:avLst/>
              <a:gdLst>
                <a:gd name="T0" fmla="*/ 39 w 39"/>
                <a:gd name="T1" fmla="*/ 88 h 88"/>
                <a:gd name="T2" fmla="*/ 39 w 39"/>
                <a:gd name="T3" fmla="*/ 88 h 88"/>
                <a:gd name="T4" fmla="*/ 29 w 39"/>
                <a:gd name="T5" fmla="*/ 78 h 88"/>
                <a:gd name="T6" fmla="*/ 20 w 39"/>
                <a:gd name="T7" fmla="*/ 68 h 88"/>
                <a:gd name="T8" fmla="*/ 10 w 39"/>
                <a:gd name="T9" fmla="*/ 58 h 88"/>
                <a:gd name="T10" fmla="*/ 0 w 39"/>
                <a:gd name="T11" fmla="*/ 20 h 88"/>
                <a:gd name="T12" fmla="*/ 0 w 39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88">
                  <a:moveTo>
                    <a:pt x="39" y="88"/>
                  </a:moveTo>
                  <a:lnTo>
                    <a:pt x="39" y="88"/>
                  </a:lnTo>
                  <a:lnTo>
                    <a:pt x="29" y="78"/>
                  </a:lnTo>
                  <a:lnTo>
                    <a:pt x="20" y="68"/>
                  </a:lnTo>
                  <a:lnTo>
                    <a:pt x="10" y="58"/>
                  </a:lnTo>
                  <a:lnTo>
                    <a:pt x="0" y="2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4352" y="3283"/>
              <a:ext cx="77" cy="87"/>
            </a:xfrm>
            <a:custGeom>
              <a:avLst/>
              <a:gdLst>
                <a:gd name="T0" fmla="*/ 0 w 77"/>
                <a:gd name="T1" fmla="*/ 0 h 87"/>
                <a:gd name="T2" fmla="*/ 19 w 77"/>
                <a:gd name="T3" fmla="*/ 0 h 87"/>
                <a:gd name="T4" fmla="*/ 48 w 77"/>
                <a:gd name="T5" fmla="*/ 9 h 87"/>
                <a:gd name="T6" fmla="*/ 58 w 77"/>
                <a:gd name="T7" fmla="*/ 19 h 87"/>
                <a:gd name="T8" fmla="*/ 68 w 77"/>
                <a:gd name="T9" fmla="*/ 39 h 87"/>
                <a:gd name="T10" fmla="*/ 77 w 77"/>
                <a:gd name="T11" fmla="*/ 68 h 87"/>
                <a:gd name="T12" fmla="*/ 77 w 77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7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39"/>
                  </a:lnTo>
                  <a:lnTo>
                    <a:pt x="77" y="68"/>
                  </a:lnTo>
                  <a:lnTo>
                    <a:pt x="77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4400" y="3370"/>
              <a:ext cx="29" cy="88"/>
            </a:xfrm>
            <a:custGeom>
              <a:avLst/>
              <a:gdLst>
                <a:gd name="T0" fmla="*/ 29 w 29"/>
                <a:gd name="T1" fmla="*/ 0 h 88"/>
                <a:gd name="T2" fmla="*/ 29 w 29"/>
                <a:gd name="T3" fmla="*/ 20 h 88"/>
                <a:gd name="T4" fmla="*/ 29 w 29"/>
                <a:gd name="T5" fmla="*/ 49 h 88"/>
                <a:gd name="T6" fmla="*/ 20 w 29"/>
                <a:gd name="T7" fmla="*/ 68 h 88"/>
                <a:gd name="T8" fmla="*/ 20 w 29"/>
                <a:gd name="T9" fmla="*/ 78 h 88"/>
                <a:gd name="T10" fmla="*/ 10 w 29"/>
                <a:gd name="T11" fmla="*/ 88 h 88"/>
                <a:gd name="T12" fmla="*/ 0 w 29"/>
                <a:gd name="T13" fmla="*/ 88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8">
                  <a:moveTo>
                    <a:pt x="29" y="0"/>
                  </a:moveTo>
                  <a:lnTo>
                    <a:pt x="29" y="20"/>
                  </a:lnTo>
                  <a:lnTo>
                    <a:pt x="29" y="49"/>
                  </a:lnTo>
                  <a:lnTo>
                    <a:pt x="20" y="68"/>
                  </a:lnTo>
                  <a:lnTo>
                    <a:pt x="20" y="78"/>
                  </a:lnTo>
                  <a:lnTo>
                    <a:pt x="10" y="88"/>
                  </a:lnTo>
                  <a:lnTo>
                    <a:pt x="0" y="88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>
              <a:off x="4439" y="3283"/>
              <a:ext cx="78" cy="87"/>
            </a:xfrm>
            <a:custGeom>
              <a:avLst/>
              <a:gdLst>
                <a:gd name="T0" fmla="*/ 0 w 78"/>
                <a:gd name="T1" fmla="*/ 0 h 87"/>
                <a:gd name="T2" fmla="*/ 19 w 78"/>
                <a:gd name="T3" fmla="*/ 0 h 87"/>
                <a:gd name="T4" fmla="*/ 48 w 78"/>
                <a:gd name="T5" fmla="*/ 9 h 87"/>
                <a:gd name="T6" fmla="*/ 58 w 78"/>
                <a:gd name="T7" fmla="*/ 19 h 87"/>
                <a:gd name="T8" fmla="*/ 68 w 78"/>
                <a:gd name="T9" fmla="*/ 39 h 87"/>
                <a:gd name="T10" fmla="*/ 78 w 78"/>
                <a:gd name="T11" fmla="*/ 68 h 87"/>
                <a:gd name="T12" fmla="*/ 78 w 78"/>
                <a:gd name="T13" fmla="*/ 8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0"/>
                  </a:moveTo>
                  <a:lnTo>
                    <a:pt x="19" y="0"/>
                  </a:lnTo>
                  <a:lnTo>
                    <a:pt x="48" y="9"/>
                  </a:lnTo>
                  <a:lnTo>
                    <a:pt x="58" y="19"/>
                  </a:lnTo>
                  <a:lnTo>
                    <a:pt x="68" y="39"/>
                  </a:lnTo>
                  <a:lnTo>
                    <a:pt x="78" y="68"/>
                  </a:lnTo>
                  <a:lnTo>
                    <a:pt x="78" y="87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3837" y="3283"/>
              <a:ext cx="78" cy="87"/>
            </a:xfrm>
            <a:custGeom>
              <a:avLst/>
              <a:gdLst>
                <a:gd name="T0" fmla="*/ 0 w 78"/>
                <a:gd name="T1" fmla="*/ 87 h 87"/>
                <a:gd name="T2" fmla="*/ 0 w 78"/>
                <a:gd name="T3" fmla="*/ 68 h 87"/>
                <a:gd name="T4" fmla="*/ 10 w 78"/>
                <a:gd name="T5" fmla="*/ 39 h 87"/>
                <a:gd name="T6" fmla="*/ 20 w 78"/>
                <a:gd name="T7" fmla="*/ 19 h 87"/>
                <a:gd name="T8" fmla="*/ 30 w 78"/>
                <a:gd name="T9" fmla="*/ 9 h 87"/>
                <a:gd name="T10" fmla="*/ 59 w 78"/>
                <a:gd name="T11" fmla="*/ 0 h 87"/>
                <a:gd name="T12" fmla="*/ 78 w 78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7">
                  <a:moveTo>
                    <a:pt x="0" y="87"/>
                  </a:moveTo>
                  <a:lnTo>
                    <a:pt x="0" y="68"/>
                  </a:lnTo>
                  <a:lnTo>
                    <a:pt x="10" y="39"/>
                  </a:lnTo>
                  <a:lnTo>
                    <a:pt x="20" y="19"/>
                  </a:lnTo>
                  <a:lnTo>
                    <a:pt x="30" y="9"/>
                  </a:lnTo>
                  <a:lnTo>
                    <a:pt x="59" y="0"/>
                  </a:lnTo>
                  <a:lnTo>
                    <a:pt x="78" y="0"/>
                  </a:lnTo>
                </a:path>
              </a:pathLst>
            </a:custGeom>
            <a:noFill/>
            <a:ln w="19050" cmpd="sng">
              <a:solidFill>
                <a:srgbClr val="0099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4517" y="3370"/>
              <a:ext cx="67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3760" y="3370"/>
              <a:ext cx="68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9366975" y="4799593"/>
            <a:ext cx="14542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Calibri (Corps)"/>
              </a:rPr>
              <a:t>Current load</a:t>
            </a: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10016262" y="4439230"/>
            <a:ext cx="863600" cy="287338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8790712" y="2134180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9295537" y="1989718"/>
            <a:ext cx="863600" cy="287337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>
            <a:off x="10159137" y="2134180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9654312" y="1199143"/>
            <a:ext cx="0" cy="57626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Line 47"/>
          <p:cNvSpPr>
            <a:spLocks noChangeShapeType="1"/>
          </p:cNvSpPr>
          <p:nvPr/>
        </p:nvSpPr>
        <p:spPr bwMode="auto">
          <a:xfrm>
            <a:off x="9151075" y="1486480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9798775" y="1199143"/>
            <a:ext cx="0" cy="57626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>
            <a:off x="9798775" y="1486480"/>
            <a:ext cx="504825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>
            <a:off x="10303600" y="1486480"/>
            <a:ext cx="0" cy="6477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Line 51"/>
          <p:cNvSpPr>
            <a:spLocks noChangeShapeType="1"/>
          </p:cNvSpPr>
          <p:nvPr/>
        </p:nvSpPr>
        <p:spPr bwMode="auto">
          <a:xfrm>
            <a:off x="9151075" y="1486480"/>
            <a:ext cx="0" cy="6477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Text Box 52"/>
          <p:cNvSpPr txBox="1">
            <a:spLocks noChangeArrowheads="1"/>
          </p:cNvSpPr>
          <p:nvPr/>
        </p:nvSpPr>
        <p:spPr bwMode="auto">
          <a:xfrm>
            <a:off x="9151075" y="2351668"/>
            <a:ext cx="1454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00"/>
                </a:solidFill>
                <a:latin typeface="Calibri (Corps)"/>
              </a:rPr>
              <a:t>Voltage load</a:t>
            </a:r>
          </a:p>
        </p:txBody>
      </p:sp>
      <p:grpSp>
        <p:nvGrpSpPr>
          <p:cNvPr id="55" name="Group 53"/>
          <p:cNvGrpSpPr>
            <a:grpSpLocks/>
          </p:cNvGrpSpPr>
          <p:nvPr/>
        </p:nvGrpSpPr>
        <p:grpSpPr bwMode="auto">
          <a:xfrm>
            <a:off x="5118825" y="2350080"/>
            <a:ext cx="3711575" cy="1368425"/>
            <a:chOff x="1247" y="1751"/>
            <a:chExt cx="2338" cy="862"/>
          </a:xfrm>
        </p:grpSpPr>
        <p:sp>
          <p:nvSpPr>
            <p:cNvPr id="56" name="AutoShape 54"/>
            <p:cNvSpPr>
              <a:spLocks noChangeArrowheads="1"/>
            </p:cNvSpPr>
            <p:nvPr/>
          </p:nvSpPr>
          <p:spPr bwMode="auto">
            <a:xfrm rot="-1812834">
              <a:off x="1247" y="1752"/>
              <a:ext cx="2338" cy="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2 w 21600"/>
                <a:gd name="T13" fmla="*/ 5394 h 21600"/>
                <a:gd name="T14" fmla="*/ 18902 w 21600"/>
                <a:gd name="T15" fmla="*/ 162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57" name="Text Box 55"/>
            <p:cNvSpPr txBox="1">
              <a:spLocks noChangeArrowheads="1"/>
            </p:cNvSpPr>
            <p:nvPr/>
          </p:nvSpPr>
          <p:spPr bwMode="auto">
            <a:xfrm rot="19800000">
              <a:off x="2500" y="1751"/>
              <a:ext cx="69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33CC"/>
                  </a:solidFill>
                  <a:latin typeface="Calibri (Corps)"/>
                </a:rPr>
                <a:t>Boost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>
                  <a:solidFill>
                    <a:srgbClr val="0033CC"/>
                  </a:solidFill>
                  <a:latin typeface="Calibri (Corps)"/>
                </a:rPr>
                <a:t>chopper</a:t>
              </a:r>
            </a:p>
          </p:txBody>
        </p:sp>
      </p:grpSp>
      <p:grpSp>
        <p:nvGrpSpPr>
          <p:cNvPr id="58" name="Group 62"/>
          <p:cNvGrpSpPr>
            <a:grpSpLocks/>
          </p:cNvGrpSpPr>
          <p:nvPr/>
        </p:nvGrpSpPr>
        <p:grpSpPr bwMode="auto">
          <a:xfrm>
            <a:off x="4328250" y="5304418"/>
            <a:ext cx="6480175" cy="719137"/>
            <a:chOff x="793" y="3521"/>
            <a:chExt cx="4082" cy="453"/>
          </a:xfrm>
        </p:grpSpPr>
        <p:sp>
          <p:nvSpPr>
            <p:cNvPr id="59" name="AutoShape 57"/>
            <p:cNvSpPr>
              <a:spLocks noChangeArrowheads="1"/>
            </p:cNvSpPr>
            <p:nvPr/>
          </p:nvSpPr>
          <p:spPr bwMode="auto">
            <a:xfrm flipV="1">
              <a:off x="793" y="3657"/>
              <a:ext cx="4082" cy="317"/>
            </a:xfrm>
            <a:prstGeom prst="curvedDownArrow">
              <a:avLst>
                <a:gd name="adj1" fmla="val 179980"/>
                <a:gd name="adj2" fmla="val 437519"/>
                <a:gd name="adj3" fmla="val 43528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60" name="Text Box 58"/>
            <p:cNvSpPr txBox="1">
              <a:spLocks noChangeArrowheads="1"/>
            </p:cNvSpPr>
            <p:nvPr/>
          </p:nvSpPr>
          <p:spPr bwMode="auto">
            <a:xfrm>
              <a:off x="1564" y="3521"/>
              <a:ext cx="188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solidFill>
                    <a:srgbClr val="FF9933"/>
                  </a:solidFill>
                  <a:latin typeface="Calibri (Corps)"/>
                </a:rPr>
                <a:t>Capacitive storage chopper</a:t>
              </a:r>
            </a:p>
          </p:txBody>
        </p:sp>
      </p:grpSp>
      <p:grpSp>
        <p:nvGrpSpPr>
          <p:cNvPr id="61" name="Group 59"/>
          <p:cNvGrpSpPr>
            <a:grpSpLocks/>
          </p:cNvGrpSpPr>
          <p:nvPr/>
        </p:nvGrpSpPr>
        <p:grpSpPr bwMode="auto">
          <a:xfrm>
            <a:off x="5201375" y="2665993"/>
            <a:ext cx="3711575" cy="1366837"/>
            <a:chOff x="1299" y="1950"/>
            <a:chExt cx="2338" cy="861"/>
          </a:xfrm>
        </p:grpSpPr>
        <p:sp>
          <p:nvSpPr>
            <p:cNvPr id="62" name="AutoShape 60"/>
            <p:cNvSpPr>
              <a:spLocks noChangeArrowheads="1"/>
            </p:cNvSpPr>
            <p:nvPr/>
          </p:nvSpPr>
          <p:spPr bwMode="auto">
            <a:xfrm rot="1811372">
              <a:off x="1299" y="1950"/>
              <a:ext cx="2338" cy="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2 w 21600"/>
                <a:gd name="T13" fmla="*/ 5394 h 21600"/>
                <a:gd name="T14" fmla="*/ 18902 w 21600"/>
                <a:gd name="T15" fmla="*/ 162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63" name="Text Box 61"/>
            <p:cNvSpPr txBox="1">
              <a:spLocks noChangeArrowheads="1"/>
            </p:cNvSpPr>
            <p:nvPr/>
          </p:nvSpPr>
          <p:spPr bwMode="auto">
            <a:xfrm rot="1767202">
              <a:off x="1828" y="2204"/>
              <a:ext cx="10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dirty="0">
                  <a:solidFill>
                    <a:srgbClr val="FF3300"/>
                  </a:solidFill>
                  <a:latin typeface="Calibri (Corps)"/>
                </a:rPr>
                <a:t>Buck chopper</a:t>
              </a:r>
            </a:p>
          </p:txBody>
        </p:sp>
      </p:grpSp>
      <p:sp>
        <p:nvSpPr>
          <p:cNvPr id="64" name="ZoneTexte 63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Cuk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65" name="Connecteur droit 6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CUK structure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Cuk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1"/>
          <p:cNvGrpSpPr/>
          <p:nvPr/>
        </p:nvGrpSpPr>
        <p:grpSpPr>
          <a:xfrm>
            <a:off x="2549794" y="1641354"/>
            <a:ext cx="9342673" cy="3905820"/>
            <a:chOff x="2549794" y="1641354"/>
            <a:chExt cx="9342673" cy="3905820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9794" y="1641354"/>
              <a:ext cx="9342673" cy="3905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4977771" y="3548782"/>
              <a:ext cx="944979" cy="8835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2" name="Rectangle 11"/>
            <p:cNvSpPr/>
            <p:nvPr/>
          </p:nvSpPr>
          <p:spPr>
            <a:xfrm rot="5400000">
              <a:off x="5635623" y="3768726"/>
              <a:ext cx="1010521" cy="519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6199834" y="4172388"/>
              <a:ext cx="254002" cy="519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02790190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/>
          <p:cNvGrpSpPr/>
          <p:nvPr/>
        </p:nvGrpSpPr>
        <p:grpSpPr>
          <a:xfrm>
            <a:off x="2764425" y="3696603"/>
            <a:ext cx="4838627" cy="2186206"/>
            <a:chOff x="2549794" y="1641354"/>
            <a:chExt cx="9342673" cy="3905820"/>
          </a:xfrm>
        </p:grpSpPr>
        <p:pic>
          <p:nvPicPr>
            <p:cNvPr id="3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9794" y="1641354"/>
              <a:ext cx="9342673" cy="3905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4977771" y="3548782"/>
              <a:ext cx="944979" cy="8835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33" name="Rectangle 32"/>
            <p:cNvSpPr/>
            <p:nvPr/>
          </p:nvSpPr>
          <p:spPr>
            <a:xfrm rot="5400000">
              <a:off x="5635623" y="3768726"/>
              <a:ext cx="1010521" cy="519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6199834" y="4172388"/>
              <a:ext cx="254002" cy="519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0" name="Groupe 19"/>
          <p:cNvGrpSpPr/>
          <p:nvPr/>
        </p:nvGrpSpPr>
        <p:grpSpPr>
          <a:xfrm>
            <a:off x="2829868" y="1354534"/>
            <a:ext cx="4838627" cy="2186206"/>
            <a:chOff x="2549794" y="1641354"/>
            <a:chExt cx="9342673" cy="3905820"/>
          </a:xfrm>
        </p:grpSpPr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9794" y="1641354"/>
              <a:ext cx="9342673" cy="3905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5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3" t="29340" r="15003" b="22493"/>
            <a:stretch/>
          </p:blipFill>
          <p:spPr bwMode="auto">
            <a:xfrm>
              <a:off x="4977771" y="3548782"/>
              <a:ext cx="944979" cy="8835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23" name="Rectangle 22"/>
            <p:cNvSpPr/>
            <p:nvPr/>
          </p:nvSpPr>
          <p:spPr>
            <a:xfrm rot="5400000">
              <a:off x="5635623" y="3768726"/>
              <a:ext cx="1010521" cy="519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6199834" y="4172388"/>
              <a:ext cx="254002" cy="5198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14667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CUK structure: continuous mode (</a:t>
            </a:r>
            <a:r>
              <a:rPr lang="en-US" sz="2000" dirty="0" err="1">
                <a:solidFill>
                  <a:srgbClr val="9E003B"/>
                </a:solidFill>
                <a:latin typeface="Myriad Pro"/>
                <a:cs typeface="Myriad Pro"/>
              </a:rPr>
              <a:t>u</a:t>
            </a:r>
            <a:r>
              <a:rPr lang="en-US" sz="2000" baseline="-25000" dirty="0" err="1">
                <a:solidFill>
                  <a:srgbClr val="9E003B"/>
                </a:solidFill>
                <a:latin typeface="Myriad Pro"/>
                <a:cs typeface="Myriad Pro"/>
              </a:rPr>
              <a:t>C</a:t>
            </a: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&gt;0)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632064" y="1842512"/>
            <a:ext cx="7388225" cy="1477962"/>
            <a:chOff x="621" y="1117"/>
            <a:chExt cx="4654" cy="931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3162" y="1117"/>
              <a:ext cx="2113" cy="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b="1" dirty="0">
                  <a:latin typeface="Times New Roman" panose="02020603050405020304" pitchFamily="18" charset="0"/>
                </a:rPr>
                <a:t>0 &lt; t &lt; </a:t>
              </a:r>
              <a:r>
                <a:rPr lang="fr-FR" altLang="fr-FR" sz="1800" b="1" dirty="0" err="1">
                  <a:latin typeface="Symbol" panose="05050102010706020507" pitchFamily="18" charset="2"/>
                </a:rPr>
                <a:t>a</a:t>
              </a:r>
              <a:r>
                <a:rPr lang="fr-FR" altLang="fr-FR" sz="1800" b="1" dirty="0" err="1">
                  <a:latin typeface="Times New Roman" panose="02020603050405020304" pitchFamily="18" charset="0"/>
                </a:rPr>
                <a:t>T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: T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p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</a:t>
              </a:r>
              <a:r>
                <a:rPr lang="fr-FR" altLang="fr-FR" sz="1800" dirty="0" err="1">
                  <a:latin typeface="Times New Roman" panose="02020603050405020304" pitchFamily="18" charset="0"/>
                </a:rPr>
                <a:t>closed</a:t>
              </a:r>
              <a:endParaRPr lang="fr-FR" altLang="fr-FR" sz="18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 err="1">
                  <a:latin typeface="Times New Roman" panose="02020603050405020304" pitchFamily="18" charset="0"/>
                </a:rPr>
                <a:t>v</a:t>
              </a:r>
              <a:r>
                <a:rPr lang="fr-FR" altLang="fr-FR" sz="1800" baseline="-25000" dirty="0" err="1">
                  <a:latin typeface="Times New Roman" panose="02020603050405020304" pitchFamily="18" charset="0"/>
                </a:rPr>
                <a:t>Dp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= -</a:t>
              </a:r>
              <a:r>
                <a:rPr lang="fr-FR" altLang="fr-FR" sz="1800" dirty="0" err="1">
                  <a:latin typeface="Times New Roman" panose="02020603050405020304" pitchFamily="18" charset="0"/>
                </a:rPr>
                <a:t>u</a:t>
              </a:r>
              <a:r>
                <a:rPr lang="fr-FR" altLang="fr-FR" sz="1800" baseline="-25000" dirty="0" err="1">
                  <a:latin typeface="Times New Roman" panose="02020603050405020304" pitchFamily="18" charset="0"/>
                </a:rPr>
                <a:t>c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=&gt; D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p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reverse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dirty="0" err="1"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 dirty="0" err="1">
                  <a:latin typeface="Times New Roman" panose="02020603050405020304" pitchFamily="18" charset="0"/>
                </a:rPr>
                <a:t>c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= - I</a:t>
              </a:r>
              <a:r>
                <a:rPr lang="fr-FR" altLang="fr-FR" sz="1800" baseline="-25000" dirty="0">
                  <a:latin typeface="Times New Roman" panose="02020603050405020304" pitchFamily="18" charset="0"/>
                </a:rPr>
                <a:t>2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= </a:t>
              </a:r>
              <a:r>
                <a:rPr lang="fr-FR" altLang="fr-FR" sz="1800" dirty="0" err="1">
                  <a:latin typeface="Times New Roman" panose="02020603050405020304" pitchFamily="18" charset="0"/>
                </a:rPr>
                <a:t>C.du</a:t>
              </a:r>
              <a:r>
                <a:rPr lang="fr-FR" altLang="fr-FR" sz="1800" baseline="-25000" dirty="0" err="1">
                  <a:latin typeface="Times New Roman" panose="02020603050405020304" pitchFamily="18" charset="0"/>
                </a:rPr>
                <a:t>c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/</a:t>
              </a:r>
              <a:r>
                <a:rPr lang="fr-FR" altLang="fr-FR" sz="1800" dirty="0" err="1">
                  <a:latin typeface="Times New Roman" panose="02020603050405020304" pitchFamily="18" charset="0"/>
                </a:rPr>
                <a:t>dt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=&gt; </a:t>
              </a:r>
              <a:r>
                <a:rPr lang="fr-FR" altLang="fr-FR" sz="1800" dirty="0" err="1">
                  <a:latin typeface="Times New Roman" panose="02020603050405020304" pitchFamily="18" charset="0"/>
                </a:rPr>
                <a:t>u</a:t>
              </a:r>
              <a:r>
                <a:rPr lang="fr-FR" altLang="fr-FR" sz="1800" baseline="-25000" dirty="0" err="1">
                  <a:latin typeface="Times New Roman" panose="02020603050405020304" pitchFamily="18" charset="0"/>
                </a:rPr>
                <a:t>c</a:t>
              </a:r>
              <a:r>
                <a:rPr lang="fr-FR" altLang="fr-FR" sz="1800" dirty="0">
                  <a:latin typeface="Times New Roman" panose="02020603050405020304" pitchFamily="18" charset="0"/>
                </a:rPr>
                <a:t> </a:t>
              </a:r>
              <a:r>
                <a:rPr lang="fr-FR" altLang="fr-FR" sz="1800" dirty="0" err="1">
                  <a:latin typeface="Times New Roman" panose="02020603050405020304" pitchFamily="18" charset="0"/>
                </a:rPr>
                <a:t>decreases</a:t>
              </a:r>
              <a:endParaRPr lang="fr-FR" altLang="fr-FR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Arc 6"/>
            <p:cNvSpPr>
              <a:spLocks/>
            </p:cNvSpPr>
            <p:nvPr/>
          </p:nvSpPr>
          <p:spPr bwMode="auto">
            <a:xfrm rot="-5400000">
              <a:off x="442" y="1341"/>
              <a:ext cx="841" cy="484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12485" y="2017"/>
                  </a:moveTo>
                  <a:cubicBezTo>
                    <a:pt x="15340" y="688"/>
                    <a:pt x="1845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8485"/>
                    <a:pt x="673" y="15408"/>
                    <a:pt x="1973" y="12578"/>
                  </a:cubicBezTo>
                </a:path>
                <a:path w="43200" h="43200" stroke="0" extrusionOk="0">
                  <a:moveTo>
                    <a:pt x="12485" y="2017"/>
                  </a:moveTo>
                  <a:cubicBezTo>
                    <a:pt x="15340" y="688"/>
                    <a:pt x="18450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8485"/>
                    <a:pt x="673" y="15408"/>
                    <a:pt x="1973" y="12578"/>
                  </a:cubicBezTo>
                  <a:lnTo>
                    <a:pt x="21600" y="21600"/>
                  </a:lnTo>
                  <a:lnTo>
                    <a:pt x="12485" y="2017"/>
                  </a:lnTo>
                  <a:close/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" name="Arc 7"/>
            <p:cNvSpPr>
              <a:spLocks/>
            </p:cNvSpPr>
            <p:nvPr/>
          </p:nvSpPr>
          <p:spPr bwMode="auto">
            <a:xfrm rot="5400000" flipH="1">
              <a:off x="1807" y="1113"/>
              <a:ext cx="679" cy="782"/>
            </a:xfrm>
            <a:custGeom>
              <a:avLst/>
              <a:gdLst>
                <a:gd name="T0" fmla="*/ 0 w 21600"/>
                <a:gd name="T1" fmla="*/ 0 h 27193"/>
                <a:gd name="T2" fmla="*/ 0 w 21600"/>
                <a:gd name="T3" fmla="*/ 0 h 27193"/>
                <a:gd name="T4" fmla="*/ 0 w 21600"/>
                <a:gd name="T5" fmla="*/ 0 h 27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7193" fill="none" extrusionOk="0">
                  <a:moveTo>
                    <a:pt x="520" y="0"/>
                  </a:moveTo>
                  <a:cubicBezTo>
                    <a:pt x="12243" y="283"/>
                    <a:pt x="21600" y="9867"/>
                    <a:pt x="21600" y="21594"/>
                  </a:cubicBezTo>
                  <a:cubicBezTo>
                    <a:pt x="21600" y="23484"/>
                    <a:pt x="21351" y="25366"/>
                    <a:pt x="20861" y="27192"/>
                  </a:cubicBezTo>
                </a:path>
                <a:path w="21600" h="27193" stroke="0" extrusionOk="0">
                  <a:moveTo>
                    <a:pt x="520" y="0"/>
                  </a:moveTo>
                  <a:cubicBezTo>
                    <a:pt x="12243" y="283"/>
                    <a:pt x="21600" y="9867"/>
                    <a:pt x="21600" y="21594"/>
                  </a:cubicBezTo>
                  <a:cubicBezTo>
                    <a:pt x="21600" y="23484"/>
                    <a:pt x="21351" y="25366"/>
                    <a:pt x="20861" y="27192"/>
                  </a:cubicBezTo>
                  <a:lnTo>
                    <a:pt x="0" y="21594"/>
                  </a:lnTo>
                  <a:lnTo>
                    <a:pt x="520" y="0"/>
                  </a:lnTo>
                  <a:close/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7650026" y="4149149"/>
            <a:ext cx="310873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Calibri (Corps)"/>
              </a:rPr>
              <a:t>αT &lt; t &lt; T</a:t>
            </a:r>
            <a:r>
              <a:rPr lang="fr-FR" altLang="fr-FR" sz="1800" dirty="0">
                <a:latin typeface="Calibri (Corps)"/>
              </a:rPr>
              <a:t> : T</a:t>
            </a:r>
            <a:r>
              <a:rPr lang="fr-FR" altLang="fr-FR" sz="1800" baseline="-25000" dirty="0">
                <a:latin typeface="Calibri (Corps)"/>
              </a:rPr>
              <a:t>p</a:t>
            </a:r>
            <a:r>
              <a:rPr lang="fr-FR" altLang="fr-FR" sz="1800" dirty="0">
                <a:latin typeface="Calibri (Corps)"/>
              </a:rPr>
              <a:t> </a:t>
            </a:r>
            <a:r>
              <a:rPr lang="fr-FR" altLang="fr-FR" sz="1800" dirty="0" err="1">
                <a:latin typeface="Calibri (Corps)"/>
              </a:rPr>
              <a:t>opened</a:t>
            </a: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 err="1">
                <a:latin typeface="Calibri (Corps)"/>
              </a:rPr>
              <a:t>i</a:t>
            </a:r>
            <a:r>
              <a:rPr lang="fr-FR" altLang="fr-FR" sz="1800" baseline="-25000" dirty="0" err="1">
                <a:latin typeface="Calibri (Corps)"/>
              </a:rPr>
              <a:t>c</a:t>
            </a:r>
            <a:r>
              <a:rPr lang="fr-FR" altLang="fr-FR" sz="1800" dirty="0">
                <a:latin typeface="Calibri (Corps)"/>
              </a:rPr>
              <a:t> = I</a:t>
            </a:r>
            <a:r>
              <a:rPr lang="fr-FR" altLang="fr-FR" sz="1800" baseline="-25000" dirty="0">
                <a:latin typeface="Calibri (Corps)"/>
              </a:rPr>
              <a:t>1</a:t>
            </a:r>
            <a:r>
              <a:rPr lang="fr-FR" altLang="fr-FR" sz="1800" dirty="0">
                <a:latin typeface="Calibri (Corps)"/>
              </a:rPr>
              <a:t> = </a:t>
            </a:r>
            <a:r>
              <a:rPr lang="fr-FR" altLang="fr-FR" sz="1800" dirty="0" err="1">
                <a:latin typeface="Calibri (Corps)"/>
              </a:rPr>
              <a:t>C.du</a:t>
            </a:r>
            <a:r>
              <a:rPr lang="fr-FR" altLang="fr-FR" sz="1800" baseline="-25000" dirty="0" err="1">
                <a:latin typeface="Calibri (Corps)"/>
              </a:rPr>
              <a:t>c</a:t>
            </a:r>
            <a:r>
              <a:rPr lang="fr-FR" altLang="fr-FR" sz="1800" dirty="0">
                <a:latin typeface="Calibri (Corps)"/>
              </a:rPr>
              <a:t>/</a:t>
            </a:r>
            <a:r>
              <a:rPr lang="fr-FR" altLang="fr-FR" sz="1800" dirty="0" err="1">
                <a:latin typeface="Calibri (Corps)"/>
              </a:rPr>
              <a:t>dt</a:t>
            </a:r>
            <a:r>
              <a:rPr lang="fr-FR" altLang="fr-FR" sz="1800" dirty="0">
                <a:latin typeface="Calibri (Corps)"/>
              </a:rPr>
              <a:t> =&gt; </a:t>
            </a:r>
            <a:r>
              <a:rPr lang="fr-FR" altLang="fr-FR" sz="1800" dirty="0" err="1">
                <a:latin typeface="Calibri (Corps)"/>
              </a:rPr>
              <a:t>u</a:t>
            </a:r>
            <a:r>
              <a:rPr lang="fr-FR" altLang="fr-FR" sz="1800" baseline="-25000" dirty="0" err="1">
                <a:latin typeface="Calibri (Corps)"/>
              </a:rPr>
              <a:t>c</a:t>
            </a:r>
            <a:r>
              <a:rPr lang="fr-FR" altLang="fr-FR" sz="1800" dirty="0">
                <a:latin typeface="Calibri (Corps)"/>
              </a:rPr>
              <a:t> </a:t>
            </a:r>
            <a:r>
              <a:rPr lang="fr-FR" altLang="fr-FR" sz="1800" dirty="0" err="1">
                <a:latin typeface="Calibri (Corps)"/>
              </a:rPr>
              <a:t>increases</a:t>
            </a: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 dirty="0">
              <a:latin typeface="Calibri (Corps)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alibri (Corps)"/>
              </a:rPr>
              <a:t>i</a:t>
            </a:r>
            <a:r>
              <a:rPr lang="fr-FR" altLang="fr-FR" sz="1800" baseline="-25000" dirty="0">
                <a:latin typeface="Calibri (Corps)"/>
              </a:rPr>
              <a:t>D</a:t>
            </a:r>
            <a:r>
              <a:rPr lang="fr-FR" altLang="fr-FR" sz="1800" dirty="0">
                <a:latin typeface="Calibri (Corps)"/>
              </a:rPr>
              <a:t> = I</a:t>
            </a:r>
            <a:r>
              <a:rPr lang="fr-FR" altLang="fr-FR" sz="1800" baseline="-25000" dirty="0">
                <a:latin typeface="Calibri (Corps)"/>
              </a:rPr>
              <a:t>1</a:t>
            </a:r>
            <a:r>
              <a:rPr lang="fr-FR" altLang="fr-FR" sz="1800" dirty="0">
                <a:latin typeface="Calibri (Corps)"/>
              </a:rPr>
              <a:t> + I</a:t>
            </a:r>
            <a:r>
              <a:rPr lang="fr-FR" altLang="fr-FR" sz="1800" baseline="-25000" dirty="0">
                <a:latin typeface="Calibri (Corps)"/>
              </a:rPr>
              <a:t>2</a:t>
            </a:r>
            <a:r>
              <a:rPr lang="fr-FR" altLang="fr-FR" sz="1800" dirty="0">
                <a:latin typeface="Calibri (Corps)"/>
              </a:rPr>
              <a:t> =&gt; Dp </a:t>
            </a:r>
            <a:r>
              <a:rPr lang="fr-FR" altLang="fr-FR" sz="1800" dirty="0" err="1">
                <a:latin typeface="Calibri (Corps)"/>
              </a:rPr>
              <a:t>forward</a:t>
            </a:r>
            <a:endParaRPr lang="fr-FR" altLang="fr-FR" sz="1800" dirty="0">
              <a:latin typeface="Calibri (Corps)"/>
            </a:endParaRPr>
          </a:p>
        </p:txBody>
      </p:sp>
      <p:sp>
        <p:nvSpPr>
          <p:cNvPr id="15" name="Arc 10"/>
          <p:cNvSpPr>
            <a:spLocks/>
          </p:cNvSpPr>
          <p:nvPr/>
        </p:nvSpPr>
        <p:spPr bwMode="auto">
          <a:xfrm rot="16200000">
            <a:off x="3728107" y="4142006"/>
            <a:ext cx="1077913" cy="1295400"/>
          </a:xfrm>
          <a:custGeom>
            <a:avLst/>
            <a:gdLst>
              <a:gd name="T0" fmla="*/ 2147483646 w 21588"/>
              <a:gd name="T1" fmla="*/ 0 h 21594"/>
              <a:gd name="T2" fmla="*/ 2147483646 w 21588"/>
              <a:gd name="T3" fmla="*/ 2147483646 h 21594"/>
              <a:gd name="T4" fmla="*/ 0 w 21588"/>
              <a:gd name="T5" fmla="*/ 2147483646 h 2159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88" h="21594" fill="none" extrusionOk="0">
                <a:moveTo>
                  <a:pt x="520" y="0"/>
                </a:moveTo>
                <a:cubicBezTo>
                  <a:pt x="11969" y="276"/>
                  <a:pt x="21213" y="9440"/>
                  <a:pt x="21588" y="20885"/>
                </a:cubicBezTo>
              </a:path>
              <a:path w="21588" h="21594" stroke="0" extrusionOk="0">
                <a:moveTo>
                  <a:pt x="520" y="0"/>
                </a:moveTo>
                <a:cubicBezTo>
                  <a:pt x="11969" y="276"/>
                  <a:pt x="21213" y="9440"/>
                  <a:pt x="21588" y="20885"/>
                </a:cubicBezTo>
                <a:lnTo>
                  <a:pt x="0" y="21594"/>
                </a:lnTo>
                <a:lnTo>
                  <a:pt x="520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6" name="Arc 11"/>
          <p:cNvSpPr>
            <a:spLocks/>
          </p:cNvSpPr>
          <p:nvPr/>
        </p:nvSpPr>
        <p:spPr bwMode="auto">
          <a:xfrm rot="5400000" flipH="1">
            <a:off x="5836307" y="4326156"/>
            <a:ext cx="949325" cy="763588"/>
          </a:xfrm>
          <a:custGeom>
            <a:avLst/>
            <a:gdLst>
              <a:gd name="T0" fmla="*/ 0 w 30715"/>
              <a:gd name="T1" fmla="*/ 2147483646 h 42948"/>
              <a:gd name="T2" fmla="*/ 2147483646 w 30715"/>
              <a:gd name="T3" fmla="*/ 2147483646 h 42948"/>
              <a:gd name="T4" fmla="*/ 2147483646 w 30715"/>
              <a:gd name="T5" fmla="*/ 2147483646 h 429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715" h="42948" fill="none" extrusionOk="0">
                <a:moveTo>
                  <a:pt x="0" y="2017"/>
                </a:moveTo>
                <a:cubicBezTo>
                  <a:pt x="2855" y="688"/>
                  <a:pt x="5965" y="-1"/>
                  <a:pt x="9115" y="0"/>
                </a:cubicBezTo>
                <a:cubicBezTo>
                  <a:pt x="21044" y="0"/>
                  <a:pt x="30715" y="9670"/>
                  <a:pt x="30715" y="21600"/>
                </a:cubicBezTo>
                <a:cubicBezTo>
                  <a:pt x="30715" y="32258"/>
                  <a:pt x="22940" y="41323"/>
                  <a:pt x="12405" y="42947"/>
                </a:cubicBezTo>
              </a:path>
              <a:path w="30715" h="42948" stroke="0" extrusionOk="0">
                <a:moveTo>
                  <a:pt x="0" y="2017"/>
                </a:moveTo>
                <a:cubicBezTo>
                  <a:pt x="2855" y="688"/>
                  <a:pt x="5965" y="-1"/>
                  <a:pt x="9115" y="0"/>
                </a:cubicBezTo>
                <a:cubicBezTo>
                  <a:pt x="21044" y="0"/>
                  <a:pt x="30715" y="9670"/>
                  <a:pt x="30715" y="21600"/>
                </a:cubicBezTo>
                <a:cubicBezTo>
                  <a:pt x="30715" y="32258"/>
                  <a:pt x="22940" y="41323"/>
                  <a:pt x="12405" y="42947"/>
                </a:cubicBezTo>
                <a:lnTo>
                  <a:pt x="9115" y="21600"/>
                </a:lnTo>
                <a:lnTo>
                  <a:pt x="0" y="2017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>
              <a:latin typeface="Calibri (Corps)"/>
            </a:endParaRPr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V="1">
            <a:off x="6237151" y="2269549"/>
            <a:ext cx="0" cy="781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Cuk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9" name="Connecteur droit 1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08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CUK structure: Chronograms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775" y="1624013"/>
            <a:ext cx="4848225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416950" y="2349500"/>
            <a:ext cx="1238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latin typeface="Times New Roman" panose="02020603050405020304" pitchFamily="18" charset="0"/>
              </a:rPr>
              <a:t>&lt;i</a:t>
            </a:r>
            <a:r>
              <a:rPr lang="fr-FR" altLang="fr-FR" sz="2400" b="1" baseline="-25000">
                <a:latin typeface="Times New Roman" panose="02020603050405020304" pitchFamily="18" charset="0"/>
              </a:rPr>
              <a:t>C</a:t>
            </a:r>
            <a:r>
              <a:rPr lang="fr-FR" altLang="fr-FR" sz="2400" b="1">
                <a:latin typeface="Times New Roman" panose="02020603050405020304" pitchFamily="18" charset="0"/>
              </a:rPr>
              <a:t>&gt;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3188350" y="3766368"/>
                <a:ext cx="1904239" cy="69384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350" y="3766368"/>
                <a:ext cx="1904239" cy="693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Cuk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12" name="Connecteur droit 1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75986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4883434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CUK structure: Transfer characteristic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243" y="1457181"/>
            <a:ext cx="6575632" cy="4529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Cuk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SEPIC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CC4898B7-84D2-906A-C083-84663FA9C42B}"/>
              </a:ext>
            </a:extLst>
          </p:cNvPr>
          <p:cNvSpPr/>
          <p:nvPr/>
        </p:nvSpPr>
        <p:spPr>
          <a:xfrm>
            <a:off x="4310103" y="1278152"/>
            <a:ext cx="722671" cy="11503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76884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6310452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SEPIC: Single Ended Primary Inductor Convertor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555786"/>
              </p:ext>
            </p:extLst>
          </p:nvPr>
        </p:nvGraphicFramePr>
        <p:xfrm>
          <a:off x="3013226" y="2058122"/>
          <a:ext cx="8493125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789798" imgH="1824031" progId="Word.Picture.8">
                  <p:embed/>
                </p:oleObj>
              </mc:Choice>
              <mc:Fallback>
                <p:oleObj name="Image" r:id="rId2" imgW="4789798" imgH="1824031" progId="Word.Picture.8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226" y="2058122"/>
                        <a:ext cx="8493125" cy="32416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3154514" y="1564409"/>
            <a:ext cx="3290888" cy="3736975"/>
            <a:chOff x="294" y="968"/>
            <a:chExt cx="2073" cy="2354"/>
          </a:xfrm>
        </p:grpSpPr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383" y="1179"/>
              <a:ext cx="1984" cy="2143"/>
            </a:xfrm>
            <a:custGeom>
              <a:avLst/>
              <a:gdLst>
                <a:gd name="T0" fmla="*/ 491 w 2234"/>
                <a:gd name="T1" fmla="*/ 1278 h 2394"/>
                <a:gd name="T2" fmla="*/ 531 w 2234"/>
                <a:gd name="T3" fmla="*/ 1257 h 2394"/>
                <a:gd name="T4" fmla="*/ 648 w 2234"/>
                <a:gd name="T5" fmla="*/ 1044 h 2394"/>
                <a:gd name="T6" fmla="*/ 684 w 2234"/>
                <a:gd name="T7" fmla="*/ 981 h 2394"/>
                <a:gd name="T8" fmla="*/ 746 w 2234"/>
                <a:gd name="T9" fmla="*/ 849 h 2394"/>
                <a:gd name="T10" fmla="*/ 769 w 2234"/>
                <a:gd name="T11" fmla="*/ 784 h 2394"/>
                <a:gd name="T12" fmla="*/ 798 w 2234"/>
                <a:gd name="T13" fmla="*/ 721 h 2394"/>
                <a:gd name="T14" fmla="*/ 820 w 2234"/>
                <a:gd name="T15" fmla="*/ 683 h 2394"/>
                <a:gd name="T16" fmla="*/ 836 w 2234"/>
                <a:gd name="T17" fmla="*/ 646 h 2394"/>
                <a:gd name="T18" fmla="*/ 876 w 2234"/>
                <a:gd name="T19" fmla="*/ 594 h 2394"/>
                <a:gd name="T20" fmla="*/ 923 w 2234"/>
                <a:gd name="T21" fmla="*/ 561 h 2394"/>
                <a:gd name="T22" fmla="*/ 952 w 2234"/>
                <a:gd name="T23" fmla="*/ 548 h 2394"/>
                <a:gd name="T24" fmla="*/ 970 w 2234"/>
                <a:gd name="T25" fmla="*/ 542 h 2394"/>
                <a:gd name="T26" fmla="*/ 1031 w 2234"/>
                <a:gd name="T27" fmla="*/ 517 h 2394"/>
                <a:gd name="T28" fmla="*/ 1082 w 2234"/>
                <a:gd name="T29" fmla="*/ 496 h 2394"/>
                <a:gd name="T30" fmla="*/ 1140 w 2234"/>
                <a:gd name="T31" fmla="*/ 456 h 2394"/>
                <a:gd name="T32" fmla="*/ 1158 w 2234"/>
                <a:gd name="T33" fmla="*/ 441 h 2394"/>
                <a:gd name="T34" fmla="*/ 1167 w 2234"/>
                <a:gd name="T35" fmla="*/ 429 h 2394"/>
                <a:gd name="T36" fmla="*/ 1175 w 2234"/>
                <a:gd name="T37" fmla="*/ 423 h 2394"/>
                <a:gd name="T38" fmla="*/ 1187 w 2234"/>
                <a:gd name="T39" fmla="*/ 410 h 2394"/>
                <a:gd name="T40" fmla="*/ 1205 w 2234"/>
                <a:gd name="T41" fmla="*/ 380 h 2394"/>
                <a:gd name="T42" fmla="*/ 1229 w 2234"/>
                <a:gd name="T43" fmla="*/ 306 h 2394"/>
                <a:gd name="T44" fmla="*/ 1209 w 2234"/>
                <a:gd name="T45" fmla="*/ 175 h 2394"/>
                <a:gd name="T46" fmla="*/ 1140 w 2234"/>
                <a:gd name="T47" fmla="*/ 133 h 2394"/>
                <a:gd name="T48" fmla="*/ 958 w 2234"/>
                <a:gd name="T49" fmla="*/ 55 h 2394"/>
                <a:gd name="T50" fmla="*/ 773 w 2234"/>
                <a:gd name="T51" fmla="*/ 5 h 2394"/>
                <a:gd name="T52" fmla="*/ 686 w 2234"/>
                <a:gd name="T53" fmla="*/ 0 h 2394"/>
                <a:gd name="T54" fmla="*/ 491 w 2234"/>
                <a:gd name="T55" fmla="*/ 10 h 2394"/>
                <a:gd name="T56" fmla="*/ 448 w 2234"/>
                <a:gd name="T57" fmla="*/ 19 h 2394"/>
                <a:gd name="T58" fmla="*/ 380 w 2234"/>
                <a:gd name="T59" fmla="*/ 49 h 2394"/>
                <a:gd name="T60" fmla="*/ 265 w 2234"/>
                <a:gd name="T61" fmla="*/ 133 h 2394"/>
                <a:gd name="T62" fmla="*/ 221 w 2234"/>
                <a:gd name="T63" fmla="*/ 189 h 2394"/>
                <a:gd name="T64" fmla="*/ 212 w 2234"/>
                <a:gd name="T65" fmla="*/ 195 h 2394"/>
                <a:gd name="T66" fmla="*/ 203 w 2234"/>
                <a:gd name="T67" fmla="*/ 205 h 2394"/>
                <a:gd name="T68" fmla="*/ 180 w 2234"/>
                <a:gd name="T69" fmla="*/ 239 h 2394"/>
                <a:gd name="T70" fmla="*/ 131 w 2234"/>
                <a:gd name="T71" fmla="*/ 343 h 2394"/>
                <a:gd name="T72" fmla="*/ 88 w 2234"/>
                <a:gd name="T73" fmla="*/ 454 h 2394"/>
                <a:gd name="T74" fmla="*/ 66 w 2234"/>
                <a:gd name="T75" fmla="*/ 531 h 2394"/>
                <a:gd name="T76" fmla="*/ 44 w 2234"/>
                <a:gd name="T77" fmla="*/ 612 h 2394"/>
                <a:gd name="T78" fmla="*/ 30 w 2234"/>
                <a:gd name="T79" fmla="*/ 677 h 2394"/>
                <a:gd name="T80" fmla="*/ 24 w 2234"/>
                <a:gd name="T81" fmla="*/ 704 h 2394"/>
                <a:gd name="T82" fmla="*/ 0 w 2234"/>
                <a:gd name="T83" fmla="*/ 892 h 2394"/>
                <a:gd name="T84" fmla="*/ 4 w 2234"/>
                <a:gd name="T85" fmla="*/ 1061 h 2394"/>
                <a:gd name="T86" fmla="*/ 12 w 2234"/>
                <a:gd name="T87" fmla="*/ 1091 h 2394"/>
                <a:gd name="T88" fmla="*/ 44 w 2234"/>
                <a:gd name="T89" fmla="*/ 1171 h 2394"/>
                <a:gd name="T90" fmla="*/ 103 w 2234"/>
                <a:gd name="T91" fmla="*/ 1244 h 2394"/>
                <a:gd name="T92" fmla="*/ 192 w 2234"/>
                <a:gd name="T93" fmla="*/ 1336 h 2394"/>
                <a:gd name="T94" fmla="*/ 229 w 2234"/>
                <a:gd name="T95" fmla="*/ 1367 h 2394"/>
                <a:gd name="T96" fmla="*/ 278 w 2234"/>
                <a:gd name="T97" fmla="*/ 1376 h 2394"/>
                <a:gd name="T98" fmla="*/ 392 w 2234"/>
                <a:gd name="T99" fmla="*/ 1362 h 2394"/>
                <a:gd name="T100" fmla="*/ 433 w 2234"/>
                <a:gd name="T101" fmla="*/ 1339 h 2394"/>
                <a:gd name="T102" fmla="*/ 466 w 2234"/>
                <a:gd name="T103" fmla="*/ 1311 h 2394"/>
                <a:gd name="T104" fmla="*/ 497 w 2234"/>
                <a:gd name="T105" fmla="*/ 1281 h 2394"/>
                <a:gd name="T106" fmla="*/ 491 w 2234"/>
                <a:gd name="T107" fmla="*/ 1278 h 239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234" h="2394">
                  <a:moveTo>
                    <a:pt x="891" y="2224"/>
                  </a:moveTo>
                  <a:cubicBezTo>
                    <a:pt x="911" y="2212"/>
                    <a:pt x="942" y="2202"/>
                    <a:pt x="960" y="2186"/>
                  </a:cubicBezTo>
                  <a:cubicBezTo>
                    <a:pt x="1062" y="2097"/>
                    <a:pt x="1125" y="1941"/>
                    <a:pt x="1174" y="1818"/>
                  </a:cubicBezTo>
                  <a:cubicBezTo>
                    <a:pt x="1186" y="1788"/>
                    <a:pt x="1231" y="1718"/>
                    <a:pt x="1238" y="1706"/>
                  </a:cubicBezTo>
                  <a:cubicBezTo>
                    <a:pt x="1281" y="1635"/>
                    <a:pt x="1313" y="1552"/>
                    <a:pt x="1350" y="1477"/>
                  </a:cubicBezTo>
                  <a:cubicBezTo>
                    <a:pt x="1365" y="1447"/>
                    <a:pt x="1375" y="1388"/>
                    <a:pt x="1392" y="1365"/>
                  </a:cubicBezTo>
                  <a:cubicBezTo>
                    <a:pt x="1419" y="1330"/>
                    <a:pt x="1427" y="1292"/>
                    <a:pt x="1446" y="1253"/>
                  </a:cubicBezTo>
                  <a:cubicBezTo>
                    <a:pt x="1457" y="1231"/>
                    <a:pt x="1472" y="1211"/>
                    <a:pt x="1483" y="1189"/>
                  </a:cubicBezTo>
                  <a:cubicBezTo>
                    <a:pt x="1489" y="1164"/>
                    <a:pt x="1501" y="1146"/>
                    <a:pt x="1515" y="1125"/>
                  </a:cubicBezTo>
                  <a:cubicBezTo>
                    <a:pt x="1525" y="1094"/>
                    <a:pt x="1553" y="1046"/>
                    <a:pt x="1584" y="1034"/>
                  </a:cubicBezTo>
                  <a:cubicBezTo>
                    <a:pt x="1608" y="1010"/>
                    <a:pt x="1637" y="986"/>
                    <a:pt x="1670" y="976"/>
                  </a:cubicBezTo>
                  <a:cubicBezTo>
                    <a:pt x="1697" y="958"/>
                    <a:pt x="1679" y="967"/>
                    <a:pt x="1723" y="954"/>
                  </a:cubicBezTo>
                  <a:cubicBezTo>
                    <a:pt x="1734" y="951"/>
                    <a:pt x="1755" y="944"/>
                    <a:pt x="1755" y="944"/>
                  </a:cubicBezTo>
                  <a:cubicBezTo>
                    <a:pt x="1790" y="920"/>
                    <a:pt x="1828" y="916"/>
                    <a:pt x="1867" y="901"/>
                  </a:cubicBezTo>
                  <a:cubicBezTo>
                    <a:pt x="1895" y="890"/>
                    <a:pt x="1928" y="871"/>
                    <a:pt x="1958" y="864"/>
                  </a:cubicBezTo>
                  <a:cubicBezTo>
                    <a:pt x="1995" y="841"/>
                    <a:pt x="2028" y="818"/>
                    <a:pt x="2064" y="794"/>
                  </a:cubicBezTo>
                  <a:cubicBezTo>
                    <a:pt x="2094" y="750"/>
                    <a:pt x="2051" y="807"/>
                    <a:pt x="2096" y="768"/>
                  </a:cubicBezTo>
                  <a:cubicBezTo>
                    <a:pt x="2103" y="762"/>
                    <a:pt x="2106" y="752"/>
                    <a:pt x="2112" y="746"/>
                  </a:cubicBezTo>
                  <a:cubicBezTo>
                    <a:pt x="2116" y="742"/>
                    <a:pt x="2123" y="740"/>
                    <a:pt x="2128" y="736"/>
                  </a:cubicBezTo>
                  <a:cubicBezTo>
                    <a:pt x="2136" y="729"/>
                    <a:pt x="2143" y="722"/>
                    <a:pt x="2150" y="714"/>
                  </a:cubicBezTo>
                  <a:cubicBezTo>
                    <a:pt x="2163" y="698"/>
                    <a:pt x="2170" y="678"/>
                    <a:pt x="2182" y="661"/>
                  </a:cubicBezTo>
                  <a:cubicBezTo>
                    <a:pt x="2195" y="618"/>
                    <a:pt x="2216" y="578"/>
                    <a:pt x="2224" y="533"/>
                  </a:cubicBezTo>
                  <a:cubicBezTo>
                    <a:pt x="2221" y="463"/>
                    <a:pt x="2234" y="367"/>
                    <a:pt x="2187" y="304"/>
                  </a:cubicBezTo>
                  <a:cubicBezTo>
                    <a:pt x="2160" y="268"/>
                    <a:pt x="2103" y="255"/>
                    <a:pt x="2064" y="234"/>
                  </a:cubicBezTo>
                  <a:cubicBezTo>
                    <a:pt x="1979" y="188"/>
                    <a:pt x="1830" y="111"/>
                    <a:pt x="1734" y="96"/>
                  </a:cubicBezTo>
                  <a:cubicBezTo>
                    <a:pt x="1630" y="44"/>
                    <a:pt x="1511" y="31"/>
                    <a:pt x="1398" y="10"/>
                  </a:cubicBezTo>
                  <a:cubicBezTo>
                    <a:pt x="1347" y="0"/>
                    <a:pt x="1243" y="0"/>
                    <a:pt x="1243" y="0"/>
                  </a:cubicBezTo>
                  <a:cubicBezTo>
                    <a:pt x="1083" y="3"/>
                    <a:pt x="1020" y="3"/>
                    <a:pt x="891" y="16"/>
                  </a:cubicBezTo>
                  <a:cubicBezTo>
                    <a:pt x="865" y="24"/>
                    <a:pt x="838" y="28"/>
                    <a:pt x="811" y="32"/>
                  </a:cubicBezTo>
                  <a:cubicBezTo>
                    <a:pt x="772" y="56"/>
                    <a:pt x="727" y="63"/>
                    <a:pt x="688" y="85"/>
                  </a:cubicBezTo>
                  <a:cubicBezTo>
                    <a:pt x="612" y="128"/>
                    <a:pt x="550" y="183"/>
                    <a:pt x="480" y="234"/>
                  </a:cubicBezTo>
                  <a:cubicBezTo>
                    <a:pt x="458" y="269"/>
                    <a:pt x="425" y="296"/>
                    <a:pt x="400" y="330"/>
                  </a:cubicBezTo>
                  <a:cubicBezTo>
                    <a:pt x="396" y="335"/>
                    <a:pt x="389" y="337"/>
                    <a:pt x="384" y="341"/>
                  </a:cubicBezTo>
                  <a:cubicBezTo>
                    <a:pt x="378" y="346"/>
                    <a:pt x="372" y="351"/>
                    <a:pt x="368" y="357"/>
                  </a:cubicBezTo>
                  <a:cubicBezTo>
                    <a:pt x="320" y="425"/>
                    <a:pt x="362" y="380"/>
                    <a:pt x="326" y="416"/>
                  </a:cubicBezTo>
                  <a:cubicBezTo>
                    <a:pt x="311" y="482"/>
                    <a:pt x="261" y="535"/>
                    <a:pt x="235" y="597"/>
                  </a:cubicBezTo>
                  <a:cubicBezTo>
                    <a:pt x="208" y="660"/>
                    <a:pt x="181" y="724"/>
                    <a:pt x="160" y="789"/>
                  </a:cubicBezTo>
                  <a:cubicBezTo>
                    <a:pt x="145" y="835"/>
                    <a:pt x="140" y="879"/>
                    <a:pt x="118" y="922"/>
                  </a:cubicBezTo>
                  <a:cubicBezTo>
                    <a:pt x="107" y="971"/>
                    <a:pt x="96" y="1019"/>
                    <a:pt x="80" y="1066"/>
                  </a:cubicBezTo>
                  <a:cubicBezTo>
                    <a:pt x="74" y="1105"/>
                    <a:pt x="62" y="1140"/>
                    <a:pt x="54" y="1178"/>
                  </a:cubicBezTo>
                  <a:cubicBezTo>
                    <a:pt x="51" y="1194"/>
                    <a:pt x="43" y="1226"/>
                    <a:pt x="43" y="1226"/>
                  </a:cubicBezTo>
                  <a:cubicBezTo>
                    <a:pt x="30" y="1335"/>
                    <a:pt x="17" y="1444"/>
                    <a:pt x="0" y="1552"/>
                  </a:cubicBezTo>
                  <a:cubicBezTo>
                    <a:pt x="2" y="1650"/>
                    <a:pt x="3" y="1747"/>
                    <a:pt x="6" y="1845"/>
                  </a:cubicBezTo>
                  <a:cubicBezTo>
                    <a:pt x="7" y="1871"/>
                    <a:pt x="13" y="1874"/>
                    <a:pt x="22" y="1898"/>
                  </a:cubicBezTo>
                  <a:cubicBezTo>
                    <a:pt x="38" y="1944"/>
                    <a:pt x="53" y="1995"/>
                    <a:pt x="80" y="2037"/>
                  </a:cubicBezTo>
                  <a:cubicBezTo>
                    <a:pt x="110" y="2084"/>
                    <a:pt x="152" y="2122"/>
                    <a:pt x="187" y="2165"/>
                  </a:cubicBezTo>
                  <a:cubicBezTo>
                    <a:pt x="217" y="2203"/>
                    <a:pt x="298" y="2310"/>
                    <a:pt x="347" y="2325"/>
                  </a:cubicBezTo>
                  <a:cubicBezTo>
                    <a:pt x="364" y="2342"/>
                    <a:pt x="391" y="2374"/>
                    <a:pt x="416" y="2378"/>
                  </a:cubicBezTo>
                  <a:cubicBezTo>
                    <a:pt x="492" y="2390"/>
                    <a:pt x="463" y="2382"/>
                    <a:pt x="502" y="2394"/>
                  </a:cubicBezTo>
                  <a:cubicBezTo>
                    <a:pt x="629" y="2389"/>
                    <a:pt x="618" y="2385"/>
                    <a:pt x="710" y="2368"/>
                  </a:cubicBezTo>
                  <a:cubicBezTo>
                    <a:pt x="733" y="2356"/>
                    <a:pt x="759" y="2339"/>
                    <a:pt x="784" y="2330"/>
                  </a:cubicBezTo>
                  <a:cubicBezTo>
                    <a:pt x="798" y="2310"/>
                    <a:pt x="820" y="2291"/>
                    <a:pt x="843" y="2282"/>
                  </a:cubicBezTo>
                  <a:cubicBezTo>
                    <a:pt x="859" y="2259"/>
                    <a:pt x="883" y="2253"/>
                    <a:pt x="902" y="2229"/>
                  </a:cubicBezTo>
                  <a:cubicBezTo>
                    <a:pt x="909" y="2207"/>
                    <a:pt x="912" y="2210"/>
                    <a:pt x="891" y="2224"/>
                  </a:cubicBez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294" y="968"/>
              <a:ext cx="10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i="1" dirty="0" err="1">
                  <a:solidFill>
                    <a:srgbClr val="FF3300"/>
                  </a:solidFill>
                  <a:latin typeface="Calibri (Corps)"/>
                </a:rPr>
                <a:t>Current</a:t>
              </a:r>
              <a:r>
                <a:rPr lang="fr-FR" altLang="fr-FR" sz="1800" i="1" dirty="0">
                  <a:solidFill>
                    <a:srgbClr val="FF3300"/>
                  </a:solidFill>
                  <a:latin typeface="Calibri (Corps)"/>
                </a:rPr>
                <a:t> source</a:t>
              </a:r>
            </a:p>
          </p:txBody>
        </p:sp>
      </p:grpSp>
      <p:grpSp>
        <p:nvGrpSpPr>
          <p:cNvPr id="12" name="Group 20"/>
          <p:cNvGrpSpPr>
            <a:grpSpLocks/>
          </p:cNvGrpSpPr>
          <p:nvPr/>
        </p:nvGrpSpPr>
        <p:grpSpPr bwMode="auto">
          <a:xfrm>
            <a:off x="5384952" y="3143972"/>
            <a:ext cx="1579562" cy="2613025"/>
            <a:chOff x="1699" y="1963"/>
            <a:chExt cx="995" cy="1646"/>
          </a:xfrm>
        </p:grpSpPr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1702" y="1963"/>
              <a:ext cx="992" cy="1344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699" y="3376"/>
              <a:ext cx="5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i="1">
                  <a:solidFill>
                    <a:srgbClr val="009900"/>
                  </a:solidFill>
                  <a:latin typeface="Calibri (Corps)"/>
                </a:rPr>
                <a:t>Switch</a:t>
              </a:r>
            </a:p>
          </p:txBody>
        </p:sp>
      </p:grpSp>
      <p:grpSp>
        <p:nvGrpSpPr>
          <p:cNvPr id="15" name="Group 21"/>
          <p:cNvGrpSpPr>
            <a:grpSpLocks/>
          </p:cNvGrpSpPr>
          <p:nvPr/>
        </p:nvGrpSpPr>
        <p:grpSpPr bwMode="auto">
          <a:xfrm>
            <a:off x="6256489" y="1678709"/>
            <a:ext cx="1485900" cy="1871663"/>
            <a:chOff x="2248" y="1040"/>
            <a:chExt cx="936" cy="1179"/>
          </a:xfrm>
        </p:grpSpPr>
        <p:sp>
          <p:nvSpPr>
            <p:cNvPr id="16" name="Oval 13"/>
            <p:cNvSpPr>
              <a:spLocks noChangeArrowheads="1"/>
            </p:cNvSpPr>
            <p:nvPr/>
          </p:nvSpPr>
          <p:spPr bwMode="auto">
            <a:xfrm>
              <a:off x="2261" y="1323"/>
              <a:ext cx="923" cy="896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248" y="1040"/>
              <a:ext cx="62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i="1">
                  <a:solidFill>
                    <a:srgbClr val="FF9900"/>
                  </a:solidFill>
                  <a:latin typeface="Calibri (Corps)"/>
                </a:rPr>
                <a:t>Storage</a:t>
              </a:r>
            </a:p>
          </p:txBody>
        </p:sp>
      </p:grpSp>
      <p:grpSp>
        <p:nvGrpSpPr>
          <p:cNvPr id="18" name="Group 22"/>
          <p:cNvGrpSpPr>
            <a:grpSpLocks/>
          </p:cNvGrpSpPr>
          <p:nvPr/>
        </p:nvGrpSpPr>
        <p:grpSpPr bwMode="auto">
          <a:xfrm>
            <a:off x="8682189" y="2339109"/>
            <a:ext cx="2354263" cy="3773488"/>
            <a:chOff x="3776" y="1456"/>
            <a:chExt cx="1483" cy="2377"/>
          </a:xfrm>
        </p:grpSpPr>
        <p:sp>
          <p:nvSpPr>
            <p:cNvPr id="19" name="Oval 15"/>
            <p:cNvSpPr>
              <a:spLocks noChangeArrowheads="1"/>
            </p:cNvSpPr>
            <p:nvPr/>
          </p:nvSpPr>
          <p:spPr bwMode="auto">
            <a:xfrm>
              <a:off x="3776" y="1456"/>
              <a:ext cx="1483" cy="2128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3875" y="3600"/>
              <a:ext cx="91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i="1">
                  <a:solidFill>
                    <a:schemeClr val="accent2"/>
                  </a:solidFill>
                  <a:latin typeface="Calibri (Corps)"/>
                </a:rPr>
                <a:t>Voltage load</a:t>
              </a:r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6824814" y="2694709"/>
            <a:ext cx="1611313" cy="3476625"/>
            <a:chOff x="2606" y="1680"/>
            <a:chExt cx="1015" cy="2190"/>
          </a:xfrm>
        </p:grpSpPr>
        <p:sp>
          <p:nvSpPr>
            <p:cNvPr id="22" name="Oval 17"/>
            <p:cNvSpPr>
              <a:spLocks noChangeArrowheads="1"/>
            </p:cNvSpPr>
            <p:nvPr/>
          </p:nvSpPr>
          <p:spPr bwMode="auto">
            <a:xfrm>
              <a:off x="2784" y="1680"/>
              <a:ext cx="837" cy="1888"/>
            </a:xfrm>
            <a:prstGeom prst="ellips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Calibri (Corps)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2606" y="3637"/>
              <a:ext cx="62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 i="1">
                  <a:solidFill>
                    <a:srgbClr val="FF00FF"/>
                  </a:solidFill>
                  <a:latin typeface="Calibri (Corps)"/>
                </a:rPr>
                <a:t>Storage</a:t>
              </a:r>
            </a:p>
          </p:txBody>
        </p:sp>
      </p:grpSp>
      <p:sp>
        <p:nvSpPr>
          <p:cNvPr id="24" name="ZoneTexte 23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SEPIC</a:t>
            </a:r>
          </a:p>
        </p:txBody>
      </p:sp>
      <p:cxnSp>
        <p:nvCxnSpPr>
          <p:cNvPr id="25" name="Connecteur droit 24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9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188234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SEPIC: Continuous mode (voltage transfer)</a:t>
            </a:r>
          </a:p>
        </p:txBody>
      </p: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4669566" y="2589835"/>
            <a:ext cx="431800" cy="549275"/>
            <a:chOff x="158" y="119"/>
            <a:chExt cx="272" cy="346"/>
          </a:xfrm>
        </p:grpSpPr>
        <p:sp>
          <p:nvSpPr>
            <p:cNvPr id="7" name="Text Box 86"/>
            <p:cNvSpPr txBox="1">
              <a:spLocks noChangeArrowheads="1"/>
            </p:cNvSpPr>
            <p:nvPr/>
          </p:nvSpPr>
          <p:spPr bwMode="auto">
            <a:xfrm>
              <a:off x="158" y="119"/>
              <a:ext cx="27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200" b="1" dirty="0">
                  <a:latin typeface="Times New Roman" panose="02020603050405020304" pitchFamily="18" charset="0"/>
                </a:rPr>
                <a:t>-V</a:t>
              </a:r>
              <a:r>
                <a:rPr lang="fr-FR" altLang="fr-FR" sz="1200" b="1" baseline="-25000" dirty="0">
                  <a:latin typeface="Times New Roman" panose="02020603050405020304" pitchFamily="18" charset="0"/>
                </a:rPr>
                <a:t>S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200" b="1" dirty="0">
                  <a:latin typeface="Times New Roman" panose="02020603050405020304" pitchFamily="18" charset="0"/>
                </a:rPr>
                <a:t>L</a:t>
              </a:r>
              <a:r>
                <a:rPr lang="fr-FR" altLang="fr-FR" sz="1200" b="1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" name="Line 87"/>
            <p:cNvSpPr>
              <a:spLocks noChangeShapeType="1"/>
            </p:cNvSpPr>
            <p:nvPr/>
          </p:nvSpPr>
          <p:spPr bwMode="auto">
            <a:xfrm>
              <a:off x="204" y="300"/>
              <a:ext cx="18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88"/>
          <p:cNvGrpSpPr>
            <a:grpSpLocks/>
          </p:cNvGrpSpPr>
          <p:nvPr/>
        </p:nvGrpSpPr>
        <p:grpSpPr bwMode="auto">
          <a:xfrm>
            <a:off x="4742591" y="1221410"/>
            <a:ext cx="431800" cy="549275"/>
            <a:chOff x="158" y="119"/>
            <a:chExt cx="272" cy="346"/>
          </a:xfrm>
        </p:grpSpPr>
        <p:sp>
          <p:nvSpPr>
            <p:cNvPr id="12" name="Text Box 89"/>
            <p:cNvSpPr txBox="1">
              <a:spLocks noChangeArrowheads="1"/>
            </p:cNvSpPr>
            <p:nvPr/>
          </p:nvSpPr>
          <p:spPr bwMode="auto">
            <a:xfrm>
              <a:off x="158" y="119"/>
              <a:ext cx="27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2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-V</a:t>
              </a:r>
              <a:r>
                <a:rPr lang="fr-FR" altLang="fr-FR" sz="1200" b="1" baseline="-25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S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2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L</a:t>
              </a:r>
              <a:r>
                <a:rPr lang="fr-FR" altLang="fr-FR" sz="1200" b="1" baseline="-25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" name="Line 90"/>
            <p:cNvSpPr>
              <a:spLocks noChangeShapeType="1"/>
            </p:cNvSpPr>
            <p:nvPr/>
          </p:nvSpPr>
          <p:spPr bwMode="auto">
            <a:xfrm>
              <a:off x="204" y="300"/>
              <a:ext cx="181" cy="1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892319"/>
              </p:ext>
            </p:extLst>
          </p:nvPr>
        </p:nvGraphicFramePr>
        <p:xfrm>
          <a:off x="6469791" y="1365872"/>
          <a:ext cx="5118100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789798" imgH="1824031" progId="Word.Picture.8">
                  <p:embed/>
                </p:oleObj>
              </mc:Choice>
              <mc:Fallback>
                <p:oleObj name="Image" r:id="rId2" imgW="4789798" imgH="1824031" progId="Word.Picture.8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791" y="1365872"/>
                        <a:ext cx="5118100" cy="19494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2942366" y="2229472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 flipV="1">
            <a:off x="3013804" y="1437310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4021866" y="1437310"/>
            <a:ext cx="0" cy="48244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5390291" y="1437310"/>
            <a:ext cx="0" cy="48244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3590066" y="2158035"/>
            <a:ext cx="4683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Symbol" panose="05050102010706020507" pitchFamily="18" charset="2"/>
              </a:rPr>
              <a:t>a</a:t>
            </a: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137879" y="2158035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 flipV="1">
            <a:off x="3013804" y="1581772"/>
            <a:ext cx="1008062" cy="3603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 flipH="1" flipV="1">
            <a:off x="4021866" y="1581772"/>
            <a:ext cx="1368425" cy="3603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 flipV="1">
            <a:off x="5390291" y="1761160"/>
            <a:ext cx="504825" cy="1809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2978879" y="1294435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00"/>
                </a:solidFill>
                <a:latin typeface="Calibri (Corps)"/>
              </a:rPr>
              <a:t>i</a:t>
            </a:r>
            <a:r>
              <a:rPr lang="fr-FR" altLang="fr-FR" sz="1800" baseline="-25000">
                <a:solidFill>
                  <a:srgbClr val="FF3300"/>
                </a:solidFill>
                <a:latin typeface="Calibri (Corps)"/>
              </a:rPr>
              <a:t>1</a:t>
            </a:r>
          </a:p>
        </p:txBody>
      </p:sp>
      <p:sp>
        <p:nvSpPr>
          <p:cNvPr id="25" name="Line 18"/>
          <p:cNvSpPr>
            <a:spLocks noChangeShapeType="1"/>
          </p:cNvSpPr>
          <p:nvPr/>
        </p:nvSpPr>
        <p:spPr bwMode="auto">
          <a:xfrm>
            <a:off x="2942366" y="3310560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 flipV="1">
            <a:off x="3013804" y="2518397"/>
            <a:ext cx="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 flipV="1">
            <a:off x="3013804" y="2805735"/>
            <a:ext cx="1008062" cy="2174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Line 23"/>
          <p:cNvSpPr>
            <a:spLocks noChangeShapeType="1"/>
          </p:cNvSpPr>
          <p:nvPr/>
        </p:nvSpPr>
        <p:spPr bwMode="auto">
          <a:xfrm flipH="1" flipV="1">
            <a:off x="4021866" y="2805735"/>
            <a:ext cx="1368425" cy="2174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 flipV="1">
            <a:off x="5390291" y="2877172"/>
            <a:ext cx="504825" cy="14605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2978879" y="2375522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chemeClr val="accent2"/>
                </a:solidFill>
                <a:latin typeface="Calibri (Corps)"/>
              </a:rPr>
              <a:t>i</a:t>
            </a:r>
            <a:r>
              <a:rPr lang="fr-FR" altLang="fr-FR" sz="1800" baseline="-25000">
                <a:solidFill>
                  <a:schemeClr val="accent2"/>
                </a:solidFill>
                <a:latin typeface="Calibri (Corps)"/>
              </a:rPr>
              <a:t>2</a:t>
            </a:r>
          </a:p>
        </p:txBody>
      </p:sp>
      <p:sp>
        <p:nvSpPr>
          <p:cNvPr id="31" name="Line 26"/>
          <p:cNvSpPr>
            <a:spLocks noChangeShapeType="1"/>
          </p:cNvSpPr>
          <p:nvPr/>
        </p:nvSpPr>
        <p:spPr bwMode="auto">
          <a:xfrm>
            <a:off x="2942366" y="4677397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 flipV="1">
            <a:off x="3013804" y="3597897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>
              <a:latin typeface="Calibri (Corps)"/>
            </a:endParaRP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3590066" y="4605960"/>
            <a:ext cx="4683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Symbol" panose="05050102010706020507" pitchFamily="18" charset="2"/>
              </a:rPr>
              <a:t>a</a:t>
            </a: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5137879" y="4605960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2869341" y="3302622"/>
            <a:ext cx="3921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Calibri (Corps)"/>
              </a:rPr>
              <a:t>v</a:t>
            </a:r>
            <a:r>
              <a:rPr lang="fr-FR" altLang="fr-FR" sz="1800" baseline="-25000">
                <a:solidFill>
                  <a:srgbClr val="009900"/>
                </a:solidFill>
                <a:latin typeface="Calibri (Corps)"/>
              </a:rPr>
              <a:t>T</a:t>
            </a: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3013804" y="4677397"/>
            <a:ext cx="1008062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>
            <a:off x="4021866" y="3740772"/>
            <a:ext cx="1368425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4021866" y="3740772"/>
            <a:ext cx="0" cy="936625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5390291" y="3740772"/>
            <a:ext cx="0" cy="936625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>
            <a:off x="5390291" y="4677397"/>
            <a:ext cx="504825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 flipH="1">
            <a:off x="2942366" y="3747122"/>
            <a:ext cx="100806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2942366" y="3675685"/>
            <a:ext cx="73930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dirty="0">
                <a:latin typeface="Calibri (Corps)"/>
              </a:rPr>
              <a:t>V</a:t>
            </a:r>
            <a:r>
              <a:rPr lang="fr-FR" altLang="fr-FR" sz="1400" baseline="-25000" dirty="0">
                <a:latin typeface="Calibri (Corps)"/>
              </a:rPr>
              <a:t>E</a:t>
            </a:r>
            <a:r>
              <a:rPr lang="fr-FR" altLang="fr-FR" sz="1400" dirty="0">
                <a:latin typeface="Calibri (Corps)"/>
              </a:rPr>
              <a:t> +V</a:t>
            </a:r>
            <a:r>
              <a:rPr lang="fr-FR" altLang="fr-FR" sz="1400" baseline="-25000" dirty="0">
                <a:latin typeface="Calibri (Corps)"/>
              </a:rPr>
              <a:t>S</a:t>
            </a: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>
            <a:off x="2942366" y="5829922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2942366" y="4893297"/>
            <a:ext cx="3850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800080"/>
                </a:solidFill>
                <a:latin typeface="Calibri (Corps)"/>
              </a:rPr>
              <a:t>v</a:t>
            </a:r>
            <a:r>
              <a:rPr lang="fr-FR" altLang="fr-FR" sz="1800" baseline="-25000">
                <a:solidFill>
                  <a:srgbClr val="800080"/>
                </a:solidFill>
                <a:latin typeface="Calibri (Corps)"/>
              </a:rPr>
              <a:t>1</a:t>
            </a:r>
          </a:p>
        </p:txBody>
      </p:sp>
      <p:sp>
        <p:nvSpPr>
          <p:cNvPr id="45" name="Text Box 52"/>
          <p:cNvSpPr txBox="1">
            <a:spLocks noChangeArrowheads="1"/>
          </p:cNvSpPr>
          <p:nvPr/>
        </p:nvSpPr>
        <p:spPr bwMode="auto">
          <a:xfrm>
            <a:off x="3013804" y="5326685"/>
            <a:ext cx="3825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>
                <a:latin typeface="Calibri (Corps)"/>
              </a:rPr>
              <a:t>V</a:t>
            </a:r>
            <a:r>
              <a:rPr lang="fr-FR" altLang="fr-FR" sz="1400" baseline="-25000">
                <a:latin typeface="Calibri (Corps)"/>
              </a:rPr>
              <a:t>E</a:t>
            </a:r>
          </a:p>
        </p:txBody>
      </p:sp>
      <p:sp>
        <p:nvSpPr>
          <p:cNvPr id="46" name="Text Box 54"/>
          <p:cNvSpPr txBox="1">
            <a:spLocks noChangeArrowheads="1"/>
          </p:cNvSpPr>
          <p:nvPr/>
        </p:nvSpPr>
        <p:spPr bwMode="auto">
          <a:xfrm>
            <a:off x="6685691" y="3597897"/>
            <a:ext cx="50610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Calibri (Corps)"/>
              </a:rPr>
              <a:t>&lt;v</a:t>
            </a:r>
            <a:r>
              <a:rPr lang="fr-FR" altLang="fr-FR" sz="1800" b="1" baseline="-25000" dirty="0">
                <a:latin typeface="Calibri (Corps)"/>
              </a:rPr>
              <a:t>1</a:t>
            </a:r>
            <a:r>
              <a:rPr lang="fr-FR" altLang="fr-FR" sz="1800" b="1" dirty="0">
                <a:latin typeface="Calibri (Corps)"/>
              </a:rPr>
              <a:t>&gt; = 0  et &lt;v</a:t>
            </a:r>
            <a:r>
              <a:rPr lang="fr-FR" altLang="fr-FR" sz="1800" b="1" baseline="-25000" dirty="0">
                <a:latin typeface="Calibri (Corps)"/>
              </a:rPr>
              <a:t>2</a:t>
            </a:r>
            <a:r>
              <a:rPr lang="fr-FR" altLang="fr-FR" sz="1800" b="1" dirty="0">
                <a:latin typeface="Calibri (Corps)"/>
              </a:rPr>
              <a:t>&gt; = 0 =&gt;  &lt;</a:t>
            </a:r>
            <a:r>
              <a:rPr lang="fr-FR" altLang="fr-FR" sz="1800" b="1" dirty="0" err="1">
                <a:latin typeface="Calibri (Corps)"/>
              </a:rPr>
              <a:t>v</a:t>
            </a:r>
            <a:r>
              <a:rPr lang="fr-FR" altLang="fr-FR" sz="1800" b="1" baseline="-25000" dirty="0" err="1">
                <a:latin typeface="Calibri (Corps)"/>
              </a:rPr>
              <a:t>C</a:t>
            </a:r>
            <a:r>
              <a:rPr lang="fr-FR" altLang="fr-FR" sz="1800" b="1" dirty="0">
                <a:latin typeface="Calibri (Corps)"/>
              </a:rPr>
              <a:t>&gt; = V</a:t>
            </a:r>
            <a:r>
              <a:rPr lang="fr-FR" altLang="fr-FR" sz="1800" b="1" baseline="-25000" dirty="0">
                <a:latin typeface="Calibri (Corps)"/>
              </a:rPr>
              <a:t>E </a:t>
            </a:r>
            <a:r>
              <a:rPr lang="fr-FR" altLang="fr-FR" sz="1800" b="1" dirty="0">
                <a:latin typeface="Calibri (Corps)"/>
              </a:rPr>
              <a:t>= </a:t>
            </a:r>
            <a:r>
              <a:rPr lang="fr-FR" altLang="fr-FR" sz="1800" b="1" dirty="0">
                <a:solidFill>
                  <a:srgbClr val="FF3300"/>
                </a:solidFill>
                <a:latin typeface="Calibri (Corps)"/>
              </a:rPr>
              <a:t>Constant</a:t>
            </a:r>
          </a:p>
        </p:txBody>
      </p:sp>
      <p:grpSp>
        <p:nvGrpSpPr>
          <p:cNvPr id="47" name="Group 62"/>
          <p:cNvGrpSpPr>
            <a:grpSpLocks/>
          </p:cNvGrpSpPr>
          <p:nvPr/>
        </p:nvGrpSpPr>
        <p:grpSpPr bwMode="auto">
          <a:xfrm>
            <a:off x="8485916" y="4820272"/>
            <a:ext cx="1800225" cy="865188"/>
            <a:chOff x="3696" y="2930"/>
            <a:chExt cx="1134" cy="545"/>
          </a:xfrm>
        </p:grpSpPr>
        <p:sp>
          <p:nvSpPr>
            <p:cNvPr id="48" name="Rectangle 58"/>
            <p:cNvSpPr>
              <a:spLocks noChangeArrowheads="1"/>
            </p:cNvSpPr>
            <p:nvPr/>
          </p:nvSpPr>
          <p:spPr bwMode="auto">
            <a:xfrm>
              <a:off x="3696" y="2930"/>
              <a:ext cx="1134" cy="545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" name="Object 56"/>
            <p:cNvGraphicFramePr>
              <a:graphicFrameLocks noChangeAspect="1"/>
            </p:cNvGraphicFramePr>
            <p:nvPr/>
          </p:nvGraphicFramePr>
          <p:xfrm>
            <a:off x="3742" y="2976"/>
            <a:ext cx="998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48975" imgH="355446" progId="Equation.3">
                    <p:embed/>
                  </p:oleObj>
                </mc:Choice>
                <mc:Fallback>
                  <p:oleObj name="Equation" r:id="rId4" imgW="748975" imgH="355446" progId="Equation.3">
                    <p:embed/>
                    <p:pic>
                      <p:nvPicPr>
                        <p:cNvPr id="49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2976"/>
                          <a:ext cx="998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Oval 63"/>
          <p:cNvSpPr>
            <a:spLocks noChangeArrowheads="1"/>
          </p:cNvSpPr>
          <p:nvPr/>
        </p:nvSpPr>
        <p:spPr bwMode="auto">
          <a:xfrm>
            <a:off x="7334979" y="1726235"/>
            <a:ext cx="360362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1" name="Oval 64"/>
          <p:cNvSpPr>
            <a:spLocks noChangeArrowheads="1"/>
          </p:cNvSpPr>
          <p:nvPr/>
        </p:nvSpPr>
        <p:spPr bwMode="auto">
          <a:xfrm>
            <a:off x="9135204" y="1869110"/>
            <a:ext cx="360362" cy="4318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2" name="Oval 65"/>
          <p:cNvSpPr>
            <a:spLocks noChangeArrowheads="1"/>
          </p:cNvSpPr>
          <p:nvPr/>
        </p:nvSpPr>
        <p:spPr bwMode="auto">
          <a:xfrm>
            <a:off x="8558941" y="2518397"/>
            <a:ext cx="360363" cy="431800"/>
          </a:xfrm>
          <a:prstGeom prst="ellips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53" name="Oval 66"/>
          <p:cNvSpPr>
            <a:spLocks noChangeArrowheads="1"/>
          </p:cNvSpPr>
          <p:nvPr/>
        </p:nvSpPr>
        <p:spPr bwMode="auto">
          <a:xfrm>
            <a:off x="7838216" y="1437310"/>
            <a:ext cx="360363" cy="431800"/>
          </a:xfrm>
          <a:prstGeom prst="ellips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54" name="Group 73"/>
          <p:cNvGrpSpPr>
            <a:grpSpLocks/>
          </p:cNvGrpSpPr>
          <p:nvPr/>
        </p:nvGrpSpPr>
        <p:grpSpPr bwMode="auto">
          <a:xfrm>
            <a:off x="3302729" y="1149972"/>
            <a:ext cx="431800" cy="549275"/>
            <a:chOff x="158" y="119"/>
            <a:chExt cx="272" cy="346"/>
          </a:xfrm>
        </p:grpSpPr>
        <p:sp>
          <p:nvSpPr>
            <p:cNvPr id="55" name="Text Box 71"/>
            <p:cNvSpPr txBox="1">
              <a:spLocks noChangeArrowheads="1"/>
            </p:cNvSpPr>
            <p:nvPr/>
          </p:nvSpPr>
          <p:spPr bwMode="auto">
            <a:xfrm>
              <a:off x="158" y="119"/>
              <a:ext cx="27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200" b="1">
                  <a:latin typeface="Calibri (Corps)"/>
                </a:rPr>
                <a:t>V</a:t>
              </a:r>
              <a:r>
                <a:rPr lang="fr-FR" altLang="fr-FR" sz="1200" b="1" baseline="-25000">
                  <a:latin typeface="Calibri (Corps)"/>
                </a:rPr>
                <a:t>E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200" b="1">
                  <a:latin typeface="Calibri (Corps)"/>
                </a:rPr>
                <a:t>L</a:t>
              </a:r>
              <a:r>
                <a:rPr lang="fr-FR" altLang="fr-FR" sz="1200" b="1" baseline="-25000">
                  <a:latin typeface="Calibri (Corps)"/>
                </a:rPr>
                <a:t>1</a:t>
              </a:r>
            </a:p>
          </p:txBody>
        </p:sp>
        <p:sp>
          <p:nvSpPr>
            <p:cNvPr id="56" name="Line 72"/>
            <p:cNvSpPr>
              <a:spLocks noChangeShapeType="1"/>
            </p:cNvSpPr>
            <p:nvPr/>
          </p:nvSpPr>
          <p:spPr bwMode="auto">
            <a:xfrm>
              <a:off x="204" y="300"/>
              <a:ext cx="18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grpSp>
        <p:nvGrpSpPr>
          <p:cNvPr id="57" name="Group 75"/>
          <p:cNvGrpSpPr>
            <a:grpSpLocks/>
          </p:cNvGrpSpPr>
          <p:nvPr/>
        </p:nvGrpSpPr>
        <p:grpSpPr bwMode="auto">
          <a:xfrm>
            <a:off x="3302729" y="2518397"/>
            <a:ext cx="431800" cy="549275"/>
            <a:chOff x="158" y="119"/>
            <a:chExt cx="272" cy="346"/>
          </a:xfrm>
        </p:grpSpPr>
        <p:sp>
          <p:nvSpPr>
            <p:cNvPr id="58" name="Text Box 76"/>
            <p:cNvSpPr txBox="1">
              <a:spLocks noChangeArrowheads="1"/>
            </p:cNvSpPr>
            <p:nvPr/>
          </p:nvSpPr>
          <p:spPr bwMode="auto">
            <a:xfrm>
              <a:off x="158" y="119"/>
              <a:ext cx="27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200" b="1">
                  <a:latin typeface="Calibri (Corps)"/>
                </a:rPr>
                <a:t>V</a:t>
              </a:r>
              <a:r>
                <a:rPr lang="fr-FR" altLang="fr-FR" sz="1200" b="1" baseline="-25000">
                  <a:latin typeface="Calibri (Corps)"/>
                </a:rPr>
                <a:t>E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fr-FR" altLang="fr-FR" sz="1200" b="1">
                  <a:latin typeface="Calibri (Corps)"/>
                </a:rPr>
                <a:t>L</a:t>
              </a:r>
              <a:r>
                <a:rPr lang="fr-FR" altLang="fr-FR" sz="1200" b="1" baseline="-25000">
                  <a:latin typeface="Calibri (Corps)"/>
                </a:rPr>
                <a:t>2</a:t>
              </a:r>
            </a:p>
          </p:txBody>
        </p:sp>
        <p:sp>
          <p:nvSpPr>
            <p:cNvPr id="59" name="Line 77"/>
            <p:cNvSpPr>
              <a:spLocks noChangeShapeType="1"/>
            </p:cNvSpPr>
            <p:nvPr/>
          </p:nvSpPr>
          <p:spPr bwMode="auto">
            <a:xfrm>
              <a:off x="204" y="300"/>
              <a:ext cx="18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>
                <a:latin typeface="Calibri (Corps)"/>
              </a:endParaRPr>
            </a:p>
          </p:txBody>
        </p:sp>
      </p:grpSp>
      <p:sp>
        <p:nvSpPr>
          <p:cNvPr id="60" name="Line 78"/>
          <p:cNvSpPr>
            <a:spLocks noChangeShapeType="1"/>
          </p:cNvSpPr>
          <p:nvPr/>
        </p:nvSpPr>
        <p:spPr bwMode="auto">
          <a:xfrm>
            <a:off x="4021866" y="6334747"/>
            <a:ext cx="1368425" cy="0"/>
          </a:xfrm>
          <a:prstGeom prst="line">
            <a:avLst/>
          </a:prstGeom>
          <a:noFill/>
          <a:ln w="19050">
            <a:solidFill>
              <a:srgbClr val="9933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" name="Line 79"/>
          <p:cNvSpPr>
            <a:spLocks noChangeShapeType="1"/>
          </p:cNvSpPr>
          <p:nvPr/>
        </p:nvSpPr>
        <p:spPr bwMode="auto">
          <a:xfrm>
            <a:off x="3013804" y="5398122"/>
            <a:ext cx="1008062" cy="0"/>
          </a:xfrm>
          <a:prstGeom prst="line">
            <a:avLst/>
          </a:prstGeom>
          <a:noFill/>
          <a:ln w="19050">
            <a:solidFill>
              <a:srgbClr val="9933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2" name="Line 80"/>
          <p:cNvSpPr>
            <a:spLocks noChangeShapeType="1"/>
          </p:cNvSpPr>
          <p:nvPr/>
        </p:nvSpPr>
        <p:spPr bwMode="auto">
          <a:xfrm>
            <a:off x="5390291" y="5398122"/>
            <a:ext cx="360363" cy="0"/>
          </a:xfrm>
          <a:prstGeom prst="line">
            <a:avLst/>
          </a:prstGeom>
          <a:noFill/>
          <a:ln w="19050">
            <a:solidFill>
              <a:srgbClr val="9933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3" name="Line 81"/>
          <p:cNvSpPr>
            <a:spLocks noChangeShapeType="1"/>
          </p:cNvSpPr>
          <p:nvPr/>
        </p:nvSpPr>
        <p:spPr bwMode="auto">
          <a:xfrm>
            <a:off x="5390291" y="5398122"/>
            <a:ext cx="0" cy="936625"/>
          </a:xfrm>
          <a:prstGeom prst="line">
            <a:avLst/>
          </a:prstGeom>
          <a:noFill/>
          <a:ln w="19050">
            <a:solidFill>
              <a:srgbClr val="9933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" name="Line 83"/>
          <p:cNvSpPr>
            <a:spLocks noChangeShapeType="1"/>
          </p:cNvSpPr>
          <p:nvPr/>
        </p:nvSpPr>
        <p:spPr bwMode="auto">
          <a:xfrm>
            <a:off x="4021866" y="5398122"/>
            <a:ext cx="0" cy="936625"/>
          </a:xfrm>
          <a:prstGeom prst="line">
            <a:avLst/>
          </a:prstGeom>
          <a:noFill/>
          <a:ln w="19050">
            <a:solidFill>
              <a:srgbClr val="9933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Rectangle 60" descr="Papier de soie bleu"/>
          <p:cNvSpPr>
            <a:spLocks noChangeArrowheads="1"/>
          </p:cNvSpPr>
          <p:nvPr/>
        </p:nvSpPr>
        <p:spPr bwMode="auto">
          <a:xfrm>
            <a:off x="3717059" y="1165990"/>
            <a:ext cx="1439863" cy="51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6" name="Rectangle 61" descr="Papier de soie bleu"/>
          <p:cNvSpPr>
            <a:spLocks noChangeArrowheads="1"/>
          </p:cNvSpPr>
          <p:nvPr/>
        </p:nvSpPr>
        <p:spPr bwMode="auto">
          <a:xfrm>
            <a:off x="5014047" y="1381890"/>
            <a:ext cx="1152525" cy="4968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67" name="ZoneTexte 6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SEPIC</a:t>
            </a:r>
          </a:p>
        </p:txBody>
      </p:sp>
      <p:cxnSp>
        <p:nvCxnSpPr>
          <p:cNvPr id="68" name="Connecteur droit 6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28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5" grpId="0" animBg="1"/>
      <p:bldP spid="66" grpId="0" animBg="1"/>
      <p:bldP spid="66" grpId="1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5631580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SEPIC: Continuous mode (coupling capacitor)</a:t>
            </a:r>
          </a:p>
        </p:txBody>
      </p:sp>
      <p:sp>
        <p:nvSpPr>
          <p:cNvPr id="6" name="Freeform 51" descr="noir)"/>
          <p:cNvSpPr>
            <a:spLocks/>
          </p:cNvSpPr>
          <p:nvPr/>
        </p:nvSpPr>
        <p:spPr bwMode="auto">
          <a:xfrm>
            <a:off x="3938732" y="3523817"/>
            <a:ext cx="1368425" cy="647700"/>
          </a:xfrm>
          <a:custGeom>
            <a:avLst/>
            <a:gdLst>
              <a:gd name="T0" fmla="*/ 0 w 862"/>
              <a:gd name="T1" fmla="*/ 2147483646 h 408"/>
              <a:gd name="T2" fmla="*/ 0 w 862"/>
              <a:gd name="T3" fmla="*/ 0 h 408"/>
              <a:gd name="T4" fmla="*/ 2147483646 w 862"/>
              <a:gd name="T5" fmla="*/ 2147483646 h 408"/>
              <a:gd name="T6" fmla="*/ 2147483646 w 862"/>
              <a:gd name="T7" fmla="*/ 2147483646 h 4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62" h="408">
                <a:moveTo>
                  <a:pt x="0" y="408"/>
                </a:moveTo>
                <a:lnTo>
                  <a:pt x="0" y="0"/>
                </a:lnTo>
                <a:lnTo>
                  <a:pt x="862" y="226"/>
                </a:lnTo>
                <a:lnTo>
                  <a:pt x="862" y="408"/>
                </a:lnTo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Freeform 50" descr="noir)"/>
          <p:cNvSpPr>
            <a:spLocks/>
          </p:cNvSpPr>
          <p:nvPr/>
        </p:nvSpPr>
        <p:spPr bwMode="auto">
          <a:xfrm>
            <a:off x="2930670" y="4171517"/>
            <a:ext cx="1008062" cy="719137"/>
          </a:xfrm>
          <a:custGeom>
            <a:avLst/>
            <a:gdLst>
              <a:gd name="T0" fmla="*/ 0 w 635"/>
              <a:gd name="T1" fmla="*/ 0 h 453"/>
              <a:gd name="T2" fmla="*/ 2147483646 w 635"/>
              <a:gd name="T3" fmla="*/ 0 h 453"/>
              <a:gd name="T4" fmla="*/ 2147483646 w 635"/>
              <a:gd name="T5" fmla="*/ 2147483646 h 453"/>
              <a:gd name="T6" fmla="*/ 0 w 635"/>
              <a:gd name="T7" fmla="*/ 2147483646 h 45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453">
                <a:moveTo>
                  <a:pt x="0" y="0"/>
                </a:moveTo>
                <a:lnTo>
                  <a:pt x="635" y="0"/>
                </a:lnTo>
                <a:lnTo>
                  <a:pt x="635" y="453"/>
                </a:lnTo>
                <a:lnTo>
                  <a:pt x="0" y="317"/>
                </a:lnTo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928327"/>
              </p:ext>
            </p:extLst>
          </p:nvPr>
        </p:nvGraphicFramePr>
        <p:xfrm>
          <a:off x="6675582" y="1363229"/>
          <a:ext cx="4038600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4789798" imgH="1824031" progId="Word.Picture.8">
                  <p:embed/>
                </p:oleObj>
              </mc:Choice>
              <mc:Fallback>
                <p:oleObj name="Image" r:id="rId4" imgW="4789798" imgH="1824031" progId="Word.Picture.8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5582" y="1363229"/>
                        <a:ext cx="4038600" cy="15382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5217"/>
              </p:ext>
            </p:extLst>
          </p:nvPr>
        </p:nvGraphicFramePr>
        <p:xfrm>
          <a:off x="8078932" y="4171517"/>
          <a:ext cx="14414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6" imgW="698500" imgH="419100" progId="Equation.3">
                  <p:embed/>
                </p:oleObj>
              </mc:Choice>
              <mc:Fallback>
                <p:oleObj name="Équation" r:id="rId6" imgW="698500" imgH="419100" progId="Equation.3">
                  <p:embed/>
                  <p:pic>
                    <p:nvPicPr>
                      <p:cNvPr id="1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8932" y="4171517"/>
                        <a:ext cx="144145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7467745" y="3307917"/>
            <a:ext cx="739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I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 = I</a:t>
            </a:r>
            <a:r>
              <a:rPr lang="fr-FR" altLang="fr-FR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>
            <a:off x="2859232" y="2226829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 flipV="1">
            <a:off x="2930670" y="1434667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3506932" y="2155392"/>
            <a:ext cx="4683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Symbol" panose="05050102010706020507" pitchFamily="18" charset="2"/>
              </a:rPr>
              <a:t>a</a:t>
            </a: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5054745" y="215539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 flipV="1">
            <a:off x="2930670" y="1579129"/>
            <a:ext cx="1008062" cy="3603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 flipH="1" flipV="1">
            <a:off x="3938732" y="1579129"/>
            <a:ext cx="1368425" cy="3603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 flipV="1">
            <a:off x="5307157" y="1758517"/>
            <a:ext cx="504825" cy="1809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2895745" y="129179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>
            <a:off x="2859232" y="3307917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 flipV="1">
            <a:off x="2930670" y="2515754"/>
            <a:ext cx="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Line 17"/>
          <p:cNvSpPr>
            <a:spLocks noChangeShapeType="1"/>
          </p:cNvSpPr>
          <p:nvPr/>
        </p:nvSpPr>
        <p:spPr bwMode="auto">
          <a:xfrm flipV="1">
            <a:off x="2930670" y="2803092"/>
            <a:ext cx="1008062" cy="2174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Line 18"/>
          <p:cNvSpPr>
            <a:spLocks noChangeShapeType="1"/>
          </p:cNvSpPr>
          <p:nvPr/>
        </p:nvSpPr>
        <p:spPr bwMode="auto">
          <a:xfrm flipH="1" flipV="1">
            <a:off x="3938732" y="2803092"/>
            <a:ext cx="1368425" cy="2174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 flipV="1">
            <a:off x="5307157" y="2874529"/>
            <a:ext cx="504825" cy="14605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2895745" y="2372879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" name="Line 21"/>
          <p:cNvSpPr>
            <a:spLocks noChangeShapeType="1"/>
          </p:cNvSpPr>
          <p:nvPr/>
        </p:nvSpPr>
        <p:spPr bwMode="auto">
          <a:xfrm>
            <a:off x="2859232" y="4171517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Line 22"/>
          <p:cNvSpPr>
            <a:spLocks noChangeShapeType="1"/>
          </p:cNvSpPr>
          <p:nvPr/>
        </p:nvSpPr>
        <p:spPr bwMode="auto">
          <a:xfrm flipV="1">
            <a:off x="2930670" y="3450792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 flipH="1" flipV="1">
            <a:off x="3938732" y="3523817"/>
            <a:ext cx="1368425" cy="360362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2930670" y="3379354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aseline="-25000">
                <a:solidFill>
                  <a:srgbClr val="009900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>
            <a:off x="2930670" y="4674754"/>
            <a:ext cx="1008062" cy="217488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" name="Line 28"/>
          <p:cNvSpPr>
            <a:spLocks noChangeShapeType="1"/>
          </p:cNvSpPr>
          <p:nvPr/>
        </p:nvSpPr>
        <p:spPr bwMode="auto">
          <a:xfrm>
            <a:off x="5307157" y="4674754"/>
            <a:ext cx="504825" cy="109538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 flipH="1" flipV="1">
            <a:off x="3938732" y="3523817"/>
            <a:ext cx="0" cy="136683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 flipH="1" flipV="1">
            <a:off x="3938732" y="3523817"/>
            <a:ext cx="0" cy="1366837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 flipH="1" flipV="1">
            <a:off x="5307157" y="3882592"/>
            <a:ext cx="0" cy="792162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6" name="Text Box 32"/>
          <p:cNvSpPr txBox="1">
            <a:spLocks noChangeArrowheads="1"/>
          </p:cNvSpPr>
          <p:nvPr/>
        </p:nvSpPr>
        <p:spPr bwMode="auto">
          <a:xfrm>
            <a:off x="4370532" y="3595254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fr-FR" altLang="fr-FR" sz="18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7" name="Text Box 33"/>
          <p:cNvSpPr txBox="1">
            <a:spLocks noChangeArrowheads="1"/>
          </p:cNvSpPr>
          <p:nvPr/>
        </p:nvSpPr>
        <p:spPr bwMode="auto">
          <a:xfrm>
            <a:off x="3291032" y="4458854"/>
            <a:ext cx="400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chemeClr val="accent2"/>
                </a:solidFill>
                <a:latin typeface="Times New Roman" panose="02020603050405020304" pitchFamily="18" charset="0"/>
              </a:rPr>
              <a:t>-i</a:t>
            </a:r>
            <a:r>
              <a:rPr lang="fr-FR" altLang="fr-FR" sz="18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>
            <a:off x="2859232" y="6187642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 flipV="1">
            <a:off x="2930670" y="4890654"/>
            <a:ext cx="0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Text Box 36"/>
          <p:cNvSpPr txBox="1">
            <a:spLocks noChangeArrowheads="1"/>
          </p:cNvSpPr>
          <p:nvPr/>
        </p:nvSpPr>
        <p:spPr bwMode="auto">
          <a:xfrm>
            <a:off x="2930670" y="4819217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FF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aseline="-25000">
                <a:solidFill>
                  <a:srgbClr val="FF00FF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1" name="Line 37"/>
          <p:cNvSpPr>
            <a:spLocks noChangeShapeType="1"/>
          </p:cNvSpPr>
          <p:nvPr/>
        </p:nvSpPr>
        <p:spPr bwMode="auto">
          <a:xfrm>
            <a:off x="3938732" y="1434667"/>
            <a:ext cx="0" cy="48244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Line 38"/>
          <p:cNvSpPr>
            <a:spLocks noChangeShapeType="1"/>
          </p:cNvSpPr>
          <p:nvPr/>
        </p:nvSpPr>
        <p:spPr bwMode="auto">
          <a:xfrm>
            <a:off x="5307157" y="1434667"/>
            <a:ext cx="0" cy="48244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Arc 39"/>
          <p:cNvSpPr>
            <a:spLocks/>
          </p:cNvSpPr>
          <p:nvPr/>
        </p:nvSpPr>
        <p:spPr bwMode="auto">
          <a:xfrm>
            <a:off x="2930670" y="5179579"/>
            <a:ext cx="1008062" cy="360363"/>
          </a:xfrm>
          <a:custGeom>
            <a:avLst/>
            <a:gdLst>
              <a:gd name="T0" fmla="*/ 0 w 18390"/>
              <a:gd name="T1" fmla="*/ 0 h 21600"/>
              <a:gd name="T2" fmla="*/ 2147483646 w 18390"/>
              <a:gd name="T3" fmla="*/ 2147483646 h 21600"/>
              <a:gd name="T4" fmla="*/ 0 w 1839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390" h="21600" fill="none" extrusionOk="0">
                <a:moveTo>
                  <a:pt x="-1" y="0"/>
                </a:moveTo>
                <a:cubicBezTo>
                  <a:pt x="7496" y="0"/>
                  <a:pt x="14457" y="3887"/>
                  <a:pt x="18389" y="10270"/>
                </a:cubicBezTo>
              </a:path>
              <a:path w="18390" h="21600" stroke="0" extrusionOk="0">
                <a:moveTo>
                  <a:pt x="-1" y="0"/>
                </a:moveTo>
                <a:cubicBezTo>
                  <a:pt x="7496" y="0"/>
                  <a:pt x="14457" y="3887"/>
                  <a:pt x="18389" y="1027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4" name="Arc 40"/>
          <p:cNvSpPr>
            <a:spLocks/>
          </p:cNvSpPr>
          <p:nvPr/>
        </p:nvSpPr>
        <p:spPr bwMode="auto">
          <a:xfrm flipH="1">
            <a:off x="3938732" y="5108142"/>
            <a:ext cx="1655763" cy="647700"/>
          </a:xfrm>
          <a:custGeom>
            <a:avLst/>
            <a:gdLst>
              <a:gd name="T0" fmla="*/ 2147483646 w 17165"/>
              <a:gd name="T1" fmla="*/ 0 h 21421"/>
              <a:gd name="T2" fmla="*/ 2147483646 w 17165"/>
              <a:gd name="T3" fmla="*/ 2147483646 h 21421"/>
              <a:gd name="T4" fmla="*/ 0 w 17165"/>
              <a:gd name="T5" fmla="*/ 2147483646 h 2142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165" h="21421" fill="none" extrusionOk="0">
                <a:moveTo>
                  <a:pt x="2772" y="-1"/>
                </a:moveTo>
                <a:cubicBezTo>
                  <a:pt x="8485" y="739"/>
                  <a:pt x="13667" y="3730"/>
                  <a:pt x="17164" y="8309"/>
                </a:cubicBezTo>
              </a:path>
              <a:path w="17165" h="21421" stroke="0" extrusionOk="0">
                <a:moveTo>
                  <a:pt x="2772" y="-1"/>
                </a:moveTo>
                <a:cubicBezTo>
                  <a:pt x="8485" y="739"/>
                  <a:pt x="13667" y="3730"/>
                  <a:pt x="17164" y="8309"/>
                </a:cubicBezTo>
                <a:lnTo>
                  <a:pt x="0" y="21421"/>
                </a:lnTo>
                <a:lnTo>
                  <a:pt x="2772" y="-1"/>
                </a:lnTo>
                <a:close/>
              </a:path>
            </a:pathLst>
          </a:cu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5" name="Arc 41"/>
          <p:cNvSpPr>
            <a:spLocks/>
          </p:cNvSpPr>
          <p:nvPr/>
        </p:nvSpPr>
        <p:spPr bwMode="auto">
          <a:xfrm>
            <a:off x="5307157" y="5108142"/>
            <a:ext cx="514350" cy="361950"/>
          </a:xfrm>
          <a:custGeom>
            <a:avLst/>
            <a:gdLst>
              <a:gd name="T0" fmla="*/ 0 w 9586"/>
              <a:gd name="T1" fmla="*/ 0 h 21600"/>
              <a:gd name="T2" fmla="*/ 2147483646 w 9586"/>
              <a:gd name="T3" fmla="*/ 2147483646 h 21600"/>
              <a:gd name="T4" fmla="*/ 0 w 9586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586" h="21600" fill="none" extrusionOk="0">
                <a:moveTo>
                  <a:pt x="-1" y="0"/>
                </a:moveTo>
                <a:cubicBezTo>
                  <a:pt x="3325" y="0"/>
                  <a:pt x="6606" y="767"/>
                  <a:pt x="9586" y="2243"/>
                </a:cubicBezTo>
              </a:path>
              <a:path w="9586" h="21600" stroke="0" extrusionOk="0">
                <a:moveTo>
                  <a:pt x="-1" y="0"/>
                </a:moveTo>
                <a:cubicBezTo>
                  <a:pt x="3325" y="0"/>
                  <a:pt x="6606" y="767"/>
                  <a:pt x="9586" y="224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graphicFrame>
        <p:nvGraphicFramePr>
          <p:cNvPr id="4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841915"/>
              </p:ext>
            </p:extLst>
          </p:nvPr>
        </p:nvGraphicFramePr>
        <p:xfrm>
          <a:off x="7863032" y="5228792"/>
          <a:ext cx="2001838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8" imgW="939392" imgH="482391" progId="Equation.3">
                  <p:embed/>
                </p:oleObj>
              </mc:Choice>
              <mc:Fallback>
                <p:oleObj name="Équation" r:id="rId8" imgW="939392" imgH="482391" progId="Equation.3">
                  <p:embed/>
                  <p:pic>
                    <p:nvPicPr>
                      <p:cNvPr id="4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3032" y="5228792"/>
                        <a:ext cx="2001838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142755"/>
              </p:ext>
            </p:extLst>
          </p:nvPr>
        </p:nvGraphicFramePr>
        <p:xfrm>
          <a:off x="8620270" y="3090429"/>
          <a:ext cx="136683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34725" imgH="355446" progId="Equation.3">
                  <p:embed/>
                </p:oleObj>
              </mc:Choice>
              <mc:Fallback>
                <p:oleObj name="Equation" r:id="rId10" imgW="634725" imgH="355446" progId="Equation.3">
                  <p:embed/>
                  <p:pic>
                    <p:nvPicPr>
                      <p:cNvPr id="47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270" y="3090429"/>
                        <a:ext cx="1366837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ZoneTexte 47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SEPIC</a:t>
            </a:r>
          </a:p>
        </p:txBody>
      </p:sp>
      <p:cxnSp>
        <p:nvCxnSpPr>
          <p:cNvPr id="49" name="Connecteur droit 48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50195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SEPIC: circuit example</a:t>
            </a:r>
            <a:b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</a:b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TPS 61170 – Texas Instrument</a:t>
            </a:r>
          </a:p>
        </p:txBody>
      </p:sp>
      <p:pic>
        <p:nvPicPr>
          <p:cNvPr id="6" name="Picture 1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620" y="1589521"/>
            <a:ext cx="8768066" cy="431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SEPIC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21858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SEPIC: circuit example</a:t>
            </a:r>
            <a:b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</a:b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TPS 61170 – Texas Instrument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501" y="1815292"/>
            <a:ext cx="4321175" cy="332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809" y="3177600"/>
            <a:ext cx="4343400" cy="301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09" y="939840"/>
            <a:ext cx="4038600" cy="198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SEPIC</a:t>
            </a:r>
          </a:p>
        </p:txBody>
      </p:sp>
      <p:cxnSp>
        <p:nvCxnSpPr>
          <p:cNvPr id="12" name="Connecteur droit 1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46958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LM3481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8356" y="1522995"/>
            <a:ext cx="9504857" cy="4046532"/>
          </a:xfrm>
          <a:prstGeom prst="rect">
            <a:avLst/>
          </a:prstGeom>
          <a:noFill/>
        </p:spPr>
      </p:pic>
      <p:sp>
        <p:nvSpPr>
          <p:cNvPr id="7" name="ZoneTexte 6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SEPIC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35648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LM3481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016" y="1714761"/>
            <a:ext cx="4380095" cy="4120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 descr="SEPIC Converter for Automotive Applica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111" y="2230438"/>
            <a:ext cx="4804991" cy="3089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SEPIC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9555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244562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LM3481: internal schematic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53" y="1112504"/>
            <a:ext cx="6385050" cy="4983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831" y="1043229"/>
            <a:ext cx="3126075" cy="159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950" y="3281361"/>
            <a:ext cx="2991282" cy="2549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0"/>
            <a:ext cx="24799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Direct conversion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Reversible choppers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Inverters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Closed loop chopper control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Energy storage based chopper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Buck-Boost</a:t>
            </a:r>
          </a:p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Cuk</a:t>
            </a:r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SEPIC</a:t>
            </a:r>
          </a:p>
        </p:txBody>
      </p:sp>
      <p:cxnSp>
        <p:nvCxnSpPr>
          <p:cNvPr id="12" name="Connecteur droit 11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389538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4FE1FB-D1B7-4A1F-B04C-9E8641A7037F}">
  <we:reference id="e849ddb8-6bbd-4833-bd4b-59030099d63e" version="1.0.0.0" store="EXCatalog" storeType="EXCatalog"/>
  <we:alternateReferences>
    <we:reference id="WA200000113" version="1.0.0.0" store="fr-FR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5FF98405D2EB4FB03838E021E8E922" ma:contentTypeVersion="17" ma:contentTypeDescription="Crée un document." ma:contentTypeScope="" ma:versionID="06956fe041c7bd772aacf0acf407fe0e">
  <xsd:schema xmlns:xsd="http://www.w3.org/2001/XMLSchema" xmlns:xs="http://www.w3.org/2001/XMLSchema" xmlns:p="http://schemas.microsoft.com/office/2006/metadata/properties" xmlns:ns3="e9c688d7-7a00-41f8-93bb-d11100185b1f" xmlns:ns4="24b93afc-5c65-45a3-8bf6-cb4c530fa63f" targetNamespace="http://schemas.microsoft.com/office/2006/metadata/properties" ma:root="true" ma:fieldsID="d25578c36a8e3077e59399043e8c088a" ns3:_="" ns4:_="">
    <xsd:import namespace="e9c688d7-7a00-41f8-93bb-d11100185b1f"/>
    <xsd:import namespace="24b93afc-5c65-45a3-8bf6-cb4c530fa63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c688d7-7a00-41f8-93bb-d11100185b1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b93afc-5c65-45a3-8bf6-cb4c530fa6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4b93afc-5c65-45a3-8bf6-cb4c530fa63f" xsi:nil="true"/>
  </documentManagement>
</p:properties>
</file>

<file path=customXml/itemProps1.xml><?xml version="1.0" encoding="utf-8"?>
<ds:datastoreItem xmlns:ds="http://schemas.openxmlformats.org/officeDocument/2006/customXml" ds:itemID="{9D18C288-231E-40D8-9F1A-E56E19B0D6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c688d7-7a00-41f8-93bb-d11100185b1f"/>
    <ds:schemaRef ds:uri="24b93afc-5c65-45a3-8bf6-cb4c530fa6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19EDE4-9752-47F3-A832-7A5F3DB43B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356A08-E661-430F-B158-7B580DE93506}">
  <ds:schemaRefs>
    <ds:schemaRef ds:uri="http://purl.org/dc/elements/1.1/"/>
    <ds:schemaRef ds:uri="http://purl.org/dc/terms/"/>
    <ds:schemaRef ds:uri="http://schemas.microsoft.com/office/2006/documentManagement/types"/>
    <ds:schemaRef ds:uri="24b93afc-5c65-45a3-8bf6-cb4c530fa63f"/>
    <ds:schemaRef ds:uri="http://schemas.microsoft.com/office/infopath/2007/PartnerControls"/>
    <ds:schemaRef ds:uri="http://purl.org/dc/dcmitype/"/>
    <ds:schemaRef ds:uri="http://www.w3.org/XML/1998/namespace"/>
    <ds:schemaRef ds:uri="e9c688d7-7a00-41f8-93bb-d11100185b1f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19276</TotalTime>
  <Words>6488</Words>
  <Application>Microsoft Office PowerPoint</Application>
  <PresentationFormat>Grand écran</PresentationFormat>
  <Paragraphs>3315</Paragraphs>
  <Slides>147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4</vt:i4>
      </vt:variant>
      <vt:variant>
        <vt:lpstr>Titres des diapositives</vt:lpstr>
      </vt:variant>
      <vt:variant>
        <vt:i4>147</vt:i4>
      </vt:variant>
    </vt:vector>
  </HeadingPairs>
  <TitlesOfParts>
    <vt:vector size="164" baseType="lpstr">
      <vt:lpstr>Arial</vt:lpstr>
      <vt:lpstr>Calibri</vt:lpstr>
      <vt:lpstr>Calibri (Corps)</vt:lpstr>
      <vt:lpstr>Cambria Math</vt:lpstr>
      <vt:lpstr>Myriad Pro</vt:lpstr>
      <vt:lpstr>Symbol</vt:lpstr>
      <vt:lpstr>Times</vt:lpstr>
      <vt:lpstr>Times New Roman</vt:lpstr>
      <vt:lpstr>Verdana</vt:lpstr>
      <vt:lpstr>Wingdings</vt:lpstr>
      <vt:lpstr>1_Thème Office</vt:lpstr>
      <vt:lpstr>Thème Office</vt:lpstr>
      <vt:lpstr>2_Thème Office</vt:lpstr>
      <vt:lpstr>Equation</vt:lpstr>
      <vt:lpstr>Image</vt:lpstr>
      <vt:lpstr>Picture</vt:lpstr>
      <vt:lpstr>Équation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ENERGEN ENERGEN</dc:creator>
  <cp:lastModifiedBy>Alexis MARTIN</cp:lastModifiedBy>
  <cp:revision>137</cp:revision>
  <dcterms:created xsi:type="dcterms:W3CDTF">2021-03-25T13:34:06Z</dcterms:created>
  <dcterms:modified xsi:type="dcterms:W3CDTF">2026-09-18T11:49:59Z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0x010100785FF98405D2EB4FB03838E021E8E922</vt:lpwstr>
  </property>
</Properties>
</file>