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4" r:id="rId2"/>
  </p:sldMasterIdLst>
  <p:notesMasterIdLst>
    <p:notesMasterId r:id="rId20"/>
  </p:notesMasterIdLst>
  <p:sldIdLst>
    <p:sldId id="257" r:id="rId3"/>
    <p:sldId id="277" r:id="rId4"/>
    <p:sldId id="278" r:id="rId5"/>
    <p:sldId id="258" r:id="rId6"/>
    <p:sldId id="275" r:id="rId7"/>
    <p:sldId id="279" r:id="rId8"/>
    <p:sldId id="280" r:id="rId9"/>
    <p:sldId id="274" r:id="rId10"/>
    <p:sldId id="264" r:id="rId11"/>
    <p:sldId id="265" r:id="rId12"/>
    <p:sldId id="266" r:id="rId13"/>
    <p:sldId id="267" r:id="rId14"/>
    <p:sldId id="272" r:id="rId15"/>
    <p:sldId id="268" r:id="rId16"/>
    <p:sldId id="273" r:id="rId17"/>
    <p:sldId id="276" r:id="rId18"/>
    <p:sldId id="270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4" autoAdjust="0"/>
    <p:restoredTop sz="89781" autoAdjust="0"/>
  </p:normalViewPr>
  <p:slideViewPr>
    <p:cSldViewPr snapToGrid="0">
      <p:cViewPr varScale="1">
        <p:scale>
          <a:sx n="66" d="100"/>
          <a:sy n="66" d="100"/>
        </p:scale>
        <p:origin x="996" y="60"/>
      </p:cViewPr>
      <p:guideLst/>
    </p:cSldViewPr>
  </p:slideViewPr>
  <p:outlineViewPr>
    <p:cViewPr>
      <p:scale>
        <a:sx n="33" d="100"/>
        <a:sy n="33" d="100"/>
      </p:scale>
      <p:origin x="0" y="-286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1E26CE-A5EE-418B-98DF-F81A968CD86C}" type="datetimeFigureOut">
              <a:rPr lang="fr-FR" smtClean="0"/>
              <a:t>21/11/2023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F6991-3A85-4424-A8A1-91662E3976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1104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takes</a:t>
            </a:r>
            <a:r>
              <a:rPr lang="fr-FR" dirty="0" smtClean="0"/>
              <a:t> place : passive components</a:t>
            </a:r>
            <a:r>
              <a:rPr lang="fr-FR" baseline="0" dirty="0" smtClean="0"/>
              <a:t> and </a:t>
            </a:r>
            <a:r>
              <a:rPr lang="fr-FR" baseline="0" dirty="0" err="1" smtClean="0"/>
              <a:t>heatsinks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4F6991-3A85-4424-A8A1-91662E3976CA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268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takes</a:t>
            </a:r>
            <a:r>
              <a:rPr lang="fr-FR" dirty="0" smtClean="0"/>
              <a:t> place : passive components</a:t>
            </a:r>
            <a:r>
              <a:rPr lang="fr-FR" baseline="0" dirty="0" smtClean="0"/>
              <a:t> and </a:t>
            </a:r>
            <a:r>
              <a:rPr lang="fr-FR" baseline="0" dirty="0" err="1" smtClean="0"/>
              <a:t>heatsinks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4F6991-3A85-4424-A8A1-91662E3976CA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625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takes</a:t>
            </a:r>
            <a:r>
              <a:rPr lang="fr-FR" dirty="0" smtClean="0"/>
              <a:t> place : passive components</a:t>
            </a:r>
            <a:r>
              <a:rPr lang="fr-FR" baseline="0" dirty="0" smtClean="0"/>
              <a:t> and </a:t>
            </a:r>
            <a:r>
              <a:rPr lang="fr-FR" baseline="0" dirty="0" err="1" smtClean="0"/>
              <a:t>heatsinks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4F6991-3A85-4424-A8A1-91662E3976CA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3417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takes</a:t>
            </a:r>
            <a:r>
              <a:rPr lang="fr-FR" dirty="0" smtClean="0"/>
              <a:t> place : passive components</a:t>
            </a:r>
            <a:r>
              <a:rPr lang="fr-FR" baseline="0" dirty="0" smtClean="0"/>
              <a:t> and </a:t>
            </a:r>
            <a:r>
              <a:rPr lang="fr-FR" baseline="0" dirty="0" err="1" smtClean="0"/>
              <a:t>heatsinks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4F6991-3A85-4424-A8A1-91662E3976CA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4871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takes</a:t>
            </a:r>
            <a:r>
              <a:rPr lang="fr-FR" dirty="0" smtClean="0"/>
              <a:t> place : passive components</a:t>
            </a:r>
            <a:r>
              <a:rPr lang="fr-FR" baseline="0" dirty="0" smtClean="0"/>
              <a:t> and </a:t>
            </a:r>
            <a:r>
              <a:rPr lang="fr-FR" baseline="0" dirty="0" err="1" smtClean="0"/>
              <a:t>heatsinks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4F6991-3A85-4424-A8A1-91662E3976CA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2591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4F6991-3A85-4424-A8A1-91662E3976CA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2552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takes</a:t>
            </a:r>
            <a:r>
              <a:rPr lang="fr-FR" dirty="0" smtClean="0"/>
              <a:t> place : passive components</a:t>
            </a:r>
            <a:r>
              <a:rPr lang="fr-FR" baseline="0" dirty="0" smtClean="0"/>
              <a:t> and </a:t>
            </a:r>
            <a:r>
              <a:rPr lang="fr-FR" baseline="0" dirty="0" err="1" smtClean="0"/>
              <a:t>heatsinks</a:t>
            </a:r>
            <a:endParaRPr lang="fr-FR" baseline="0" dirty="0" smtClean="0"/>
          </a:p>
          <a:p>
            <a:r>
              <a:rPr lang="fr-FR" baseline="0" dirty="0" err="1" smtClean="0"/>
              <a:t>Capacitor</a:t>
            </a:r>
            <a:r>
              <a:rPr lang="fr-FR" baseline="0" dirty="0" smtClean="0"/>
              <a:t> = </a:t>
            </a:r>
            <a:r>
              <a:rPr lang="fr-FR" baseline="0" dirty="0" err="1" smtClean="0"/>
              <a:t>Boost</a:t>
            </a:r>
            <a:r>
              <a:rPr lang="fr-FR" baseline="0" dirty="0" smtClean="0"/>
              <a:t> output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4F6991-3A85-4424-A8A1-91662E3976CA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5575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ouv 16-9 25-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17982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951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int 16-9 25-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40100" cy="684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483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6860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295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01462" y="3063875"/>
            <a:ext cx="9290538" cy="2214563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3759229" y="3306355"/>
            <a:ext cx="5572713" cy="1103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spcAft>
                <a:spcPct val="0"/>
              </a:spcAft>
            </a:pPr>
            <a:r>
              <a:rPr lang="en-US" altLang="fr-FR" sz="3200" b="1" dirty="0">
                <a:solidFill>
                  <a:prstClr val="white"/>
                </a:solidFill>
                <a:latin typeface="Myriad Pro" pitchFamily="125" charset="0"/>
              </a:rPr>
              <a:t>Energy Conversion I</a:t>
            </a:r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3759229" y="4444291"/>
            <a:ext cx="5572713" cy="432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base">
              <a:spcAft>
                <a:spcPct val="0"/>
              </a:spcAft>
            </a:pPr>
            <a:r>
              <a:rPr lang="en-US" altLang="fr-FR" sz="2400" dirty="0">
                <a:solidFill>
                  <a:prstClr val="white"/>
                </a:solidFill>
                <a:latin typeface="Myriad Pro" pitchFamily="125" charset="0"/>
              </a:rPr>
              <a:t>alexis.martin@ensea.fr</a:t>
            </a:r>
          </a:p>
          <a:p>
            <a:pPr algn="l" fontAlgn="base">
              <a:spcAft>
                <a:spcPct val="0"/>
              </a:spcAft>
            </a:pPr>
            <a:r>
              <a:rPr lang="en-US" altLang="fr-FR" sz="2400" dirty="0">
                <a:solidFill>
                  <a:prstClr val="white"/>
                </a:solidFill>
                <a:latin typeface="Myriad Pro" pitchFamily="125" charset="0"/>
              </a:rPr>
              <a:t>Desk D216</a:t>
            </a:r>
          </a:p>
        </p:txBody>
      </p:sp>
      <p:pic>
        <p:nvPicPr>
          <p:cNvPr id="7" name="Image 6" descr="Logo ENSEA 2021 quadri.psd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0267" y="635245"/>
            <a:ext cx="1609725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1615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00363" y="2794001"/>
            <a:ext cx="9291637" cy="1337733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re 1"/>
          <p:cNvSpPr txBox="1">
            <a:spLocks/>
          </p:cNvSpPr>
          <p:nvPr/>
        </p:nvSpPr>
        <p:spPr bwMode="auto">
          <a:xfrm>
            <a:off x="3438525" y="2760135"/>
            <a:ext cx="3984625" cy="133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lvl="0" defTabSz="457200" eaLnBrk="1" hangingPunct="1">
              <a:defRPr/>
            </a:pPr>
            <a:r>
              <a:rPr lang="en-US" sz="2200" dirty="0" smtClean="0">
                <a:solidFill>
                  <a:prstClr val="white"/>
                </a:solidFill>
                <a:latin typeface="Myriad Pro" charset="0"/>
                <a:cs typeface="Myriad Pro" charset="0"/>
              </a:rPr>
              <a:t>What to learn ?</a:t>
            </a:r>
            <a:endParaRPr lang="en-US" sz="2200" dirty="0">
              <a:solidFill>
                <a:prstClr val="white"/>
              </a:solidFill>
              <a:latin typeface="Myriad Pro" charset="0"/>
              <a:cs typeface="Myriad Pro" charset="0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/>
          <p:cNvSpPr txBox="1"/>
          <p:nvPr/>
        </p:nvSpPr>
        <p:spPr>
          <a:xfrm>
            <a:off x="0" y="0"/>
            <a:ext cx="24799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What to learn ?</a:t>
            </a:r>
          </a:p>
          <a:p>
            <a:endParaRPr lang="en-US" sz="2400" b="1" dirty="0" smtClean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Converters study</a:t>
            </a: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 smtClean="0">
                <a:solidFill>
                  <a:schemeClr val="bg2">
                    <a:lumMod val="75000"/>
                  </a:schemeClr>
                </a:solidFill>
              </a:rPr>
              <a:t>Example of converter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417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2479964" y="323850"/>
            <a:ext cx="7715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What you need to know ?</a:t>
            </a:r>
            <a:endParaRPr lang="en-US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2728685" y="1248229"/>
                <a:ext cx="8244115" cy="47763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Kirchhoff voltage and current laws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Inductor and capacitor equations	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𝐶</m:t>
                    </m:r>
                    <m:f>
                      <m:f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𝑑𝑣</m:t>
                        </m:r>
                      </m:num>
                      <m:den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2400" dirty="0" smtClean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2400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fr-FR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𝐿</m:t>
                    </m:r>
                    <m:f>
                      <m:f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sz="2400" dirty="0" smtClean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Ideal diode behavior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Average and RMS calculus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Power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Hopkinson’s law (</a:t>
                </a:r>
                <a:r>
                  <a:rPr lang="en-US" sz="2400" b="1" u="sng" dirty="0" smtClean="0"/>
                  <a:t>be careful to conventions </a:t>
                </a:r>
                <a:r>
                  <a:rPr lang="en-US" sz="2400" dirty="0" smtClean="0"/>
                  <a:t>!)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Lenz’s law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Continuous conduction mode = current or flux always positive</a:t>
                </a:r>
                <a:endParaRPr lang="en-US" sz="2400" dirty="0"/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685" y="1248229"/>
                <a:ext cx="8244115" cy="4776308"/>
              </a:xfrm>
              <a:prstGeom prst="rect">
                <a:avLst/>
              </a:prstGeom>
              <a:blipFill>
                <a:blip r:embed="rId3"/>
                <a:stretch>
                  <a:fillRect l="-1036" b="-76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ZoneTexte 9"/>
          <p:cNvSpPr txBox="1"/>
          <p:nvPr/>
        </p:nvSpPr>
        <p:spPr>
          <a:xfrm>
            <a:off x="0" y="0"/>
            <a:ext cx="24799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What to learn ?</a:t>
            </a:r>
          </a:p>
          <a:p>
            <a:endParaRPr lang="en-US" sz="2400" b="1" dirty="0" smtClean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Converters study</a:t>
            </a: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 smtClean="0">
                <a:solidFill>
                  <a:schemeClr val="bg2">
                    <a:lumMod val="75000"/>
                  </a:schemeClr>
                </a:solidFill>
              </a:rPr>
              <a:t>Example of converter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305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00363" y="2794001"/>
            <a:ext cx="9291637" cy="1337733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re 1"/>
          <p:cNvSpPr txBox="1">
            <a:spLocks/>
          </p:cNvSpPr>
          <p:nvPr/>
        </p:nvSpPr>
        <p:spPr bwMode="auto">
          <a:xfrm>
            <a:off x="3438525" y="2760135"/>
            <a:ext cx="3984625" cy="133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lvl="0" defTabSz="457200" eaLnBrk="1" hangingPunct="1">
              <a:defRPr/>
            </a:pPr>
            <a:r>
              <a:rPr lang="en-US" sz="2200" dirty="0" smtClean="0">
                <a:solidFill>
                  <a:prstClr val="white"/>
                </a:solidFill>
                <a:latin typeface="Myriad Pro" charset="0"/>
                <a:cs typeface="Myriad Pro" charset="0"/>
              </a:rPr>
              <a:t>Converters Study</a:t>
            </a:r>
            <a:endParaRPr lang="en-US" sz="2200" dirty="0">
              <a:solidFill>
                <a:prstClr val="white"/>
              </a:solidFill>
              <a:latin typeface="Myriad Pro" charset="0"/>
              <a:cs typeface="Myriad Pro" charset="0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>
            <a:off x="0" y="0"/>
            <a:ext cx="24799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What to learn </a:t>
            </a:r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  <a:p>
            <a:endParaRPr lang="en-US" sz="2400" b="1" dirty="0" smtClean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Converters study</a:t>
            </a: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 smtClean="0">
                <a:solidFill>
                  <a:schemeClr val="bg2">
                    <a:lumMod val="75000"/>
                  </a:schemeClr>
                </a:solidFill>
              </a:rPr>
              <a:t>Example of converter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995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5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2479964" y="323850"/>
            <a:ext cx="7715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How to study a converter ?</a:t>
            </a:r>
            <a:endParaRPr lang="en-US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2608215" y="1107996"/>
                <a:ext cx="9289143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If there is a transformer, write Hopkinson’s and Lenz’s laws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b="1" u="sng" dirty="0" smtClean="0"/>
                  <a:t>Be careful to conventions !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2400" b="1" u="sng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Duty cycle -&gt;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 smtClean="0"/>
                  <a:t> : transistor is « closed »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Simplify the schematic by replacing the transistor by a short-circuit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Deduce the state of diode(s)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 smtClean="0"/>
                  <a:t> -&gt; Diode is “forward”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fr-FR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-&gt; Diode is “reverse”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sz="2400" b="1" u="sng" dirty="0"/>
                  <a:t>Be careful to conventions </a:t>
                </a:r>
                <a:r>
                  <a:rPr lang="en-US" sz="2400" b="1" u="sng" dirty="0" smtClean="0"/>
                  <a:t>!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Simplify the schematic again (diode)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If there is a transformer, simply the Hopkinson’s law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Apply Kirchhoff laws</a:t>
                </a:r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8215" y="1107996"/>
                <a:ext cx="9289143" cy="4524315"/>
              </a:xfrm>
              <a:prstGeom prst="rect">
                <a:avLst/>
              </a:prstGeom>
              <a:blipFill>
                <a:blip r:embed="rId3"/>
                <a:stretch>
                  <a:fillRect l="-919" t="-1078" b="-21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e 15"/>
          <p:cNvGrpSpPr/>
          <p:nvPr/>
        </p:nvGrpSpPr>
        <p:grpSpPr>
          <a:xfrm>
            <a:off x="8418286" y="3095171"/>
            <a:ext cx="2873828" cy="1485600"/>
            <a:chOff x="8418286" y="3095171"/>
            <a:chExt cx="2873828" cy="1485600"/>
          </a:xfrm>
        </p:grpSpPr>
        <p:pic>
          <p:nvPicPr>
            <p:cNvPr id="15" name="Picture 4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37" r="10872" b="33917"/>
            <a:stretch/>
          </p:blipFill>
          <p:spPr bwMode="auto">
            <a:xfrm>
              <a:off x="8418286" y="3095171"/>
              <a:ext cx="2873828" cy="11575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cxnSp>
          <p:nvCxnSpPr>
            <p:cNvPr id="6" name="Connecteur droit avec flèche 5"/>
            <p:cNvCxnSpPr/>
            <p:nvPr/>
          </p:nvCxnSpPr>
          <p:spPr>
            <a:xfrm flipH="1">
              <a:off x="9187544" y="4252686"/>
              <a:ext cx="165462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ZoneTexte 9"/>
                <p:cNvSpPr txBox="1"/>
                <p:nvPr/>
              </p:nvSpPr>
              <p:spPr>
                <a:xfrm>
                  <a:off x="9884229" y="4272994"/>
                  <a:ext cx="363305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fr-FR" sz="2000" b="1" i="1" smtClean="0"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</m:oMath>
                    </m:oMathPara>
                  </a14:m>
                  <a:endParaRPr lang="fr-FR" sz="2000" b="1" dirty="0"/>
                </a:p>
              </p:txBody>
            </p:sp>
          </mc:Choice>
          <mc:Fallback xmlns="">
            <p:sp>
              <p:nvSpPr>
                <p:cNvPr id="10" name="ZoneTexte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84229" y="4272994"/>
                  <a:ext cx="363305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10000" r="-6667" b="-18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ZoneTexte 12"/>
          <p:cNvSpPr txBox="1"/>
          <p:nvPr/>
        </p:nvSpPr>
        <p:spPr>
          <a:xfrm>
            <a:off x="0" y="0"/>
            <a:ext cx="24799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What to learn </a:t>
            </a:r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  <a:p>
            <a:endParaRPr lang="en-US" sz="2400" b="1" dirty="0" smtClean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Converters study</a:t>
            </a: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 smtClean="0">
                <a:solidFill>
                  <a:schemeClr val="bg2">
                    <a:lumMod val="75000"/>
                  </a:schemeClr>
                </a:solidFill>
              </a:rPr>
              <a:t>Example of converter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176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6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2479964" y="323850"/>
            <a:ext cx="7715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How to study a converter ?</a:t>
            </a:r>
            <a:endParaRPr lang="en-US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2603324" y="962853"/>
                <a:ext cx="9289143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Duty cycle -&gt;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fr-FR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 smtClean="0"/>
                  <a:t> : transistor is « opened »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Simplify the schematic by replacing the transistor by a short-circuit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Deduce the state of diode(s)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 smtClean="0"/>
                  <a:t> -&gt; Diode is “forward”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fr-FR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-&gt; Diode is “reverse”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sz="2400" b="1" u="sng" dirty="0"/>
                  <a:t>Be careful to conventions </a:t>
                </a:r>
                <a:r>
                  <a:rPr lang="en-US" sz="2400" b="1" u="sng" dirty="0" smtClean="0"/>
                  <a:t>!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Simplify the schematic again (diode)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If there is a transformer, simply the Hopkinson’s law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Apply Kirchhoff laws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24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u="sng" dirty="0" smtClean="0"/>
                  <a:t>Remember : </a:t>
                </a:r>
              </a:p>
              <a:p>
                <a:pPr marL="800100" lvl="1" indent="-342900">
                  <a:buFont typeface="Wingdings" panose="05000000000000000000" pitchFamily="2" charset="2"/>
                  <a:buChar char="Ø"/>
                </a:pPr>
                <a:r>
                  <a:rPr lang="en-US" sz="2400" dirty="0" smtClean="0"/>
                  <a:t>continuity of current in inductors</a:t>
                </a:r>
              </a:p>
              <a:p>
                <a:pPr marL="800100" lvl="1" indent="-342900">
                  <a:buFont typeface="Wingdings" panose="05000000000000000000" pitchFamily="2" charset="2"/>
                  <a:buChar char="Ø"/>
                </a:pPr>
                <a:r>
                  <a:rPr lang="en-US" sz="2400" dirty="0" smtClean="0"/>
                  <a:t>continuity of flux in transformer</a:t>
                </a:r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324" y="962853"/>
                <a:ext cx="9289143" cy="5262979"/>
              </a:xfrm>
              <a:prstGeom prst="rect">
                <a:avLst/>
              </a:prstGeom>
              <a:blipFill>
                <a:blip r:embed="rId3"/>
                <a:stretch>
                  <a:fillRect l="-853" t="-927" b="-173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ZoneTexte 9"/>
          <p:cNvSpPr txBox="1"/>
          <p:nvPr/>
        </p:nvSpPr>
        <p:spPr>
          <a:xfrm>
            <a:off x="0" y="0"/>
            <a:ext cx="24799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What to learn </a:t>
            </a:r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  <a:p>
            <a:endParaRPr lang="en-US" sz="2400" b="1" dirty="0" smtClean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Converters study</a:t>
            </a: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 smtClean="0">
                <a:solidFill>
                  <a:schemeClr val="bg2">
                    <a:lumMod val="75000"/>
                  </a:schemeClr>
                </a:solidFill>
              </a:rPr>
              <a:t>Example of converter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290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7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2479964" y="323850"/>
            <a:ext cx="7715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Why study a converter ?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2603324" y="1630510"/>
            <a:ext cx="928914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First components sizing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Simulation with found values + real components (imperfection)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Resize of components 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0" y="0"/>
            <a:ext cx="24799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What to learn </a:t>
            </a:r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  <a:p>
            <a:endParaRPr lang="en-US" sz="2400" b="1" dirty="0" smtClean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Converters study</a:t>
            </a: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 smtClean="0">
                <a:solidFill>
                  <a:schemeClr val="bg2">
                    <a:lumMod val="75000"/>
                  </a:schemeClr>
                </a:solidFill>
              </a:rPr>
              <a:t>Example of converter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5427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00363" y="2794001"/>
            <a:ext cx="9291637" cy="1337733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re 1"/>
          <p:cNvSpPr txBox="1">
            <a:spLocks/>
          </p:cNvSpPr>
          <p:nvPr/>
        </p:nvSpPr>
        <p:spPr bwMode="auto">
          <a:xfrm>
            <a:off x="3438525" y="2760135"/>
            <a:ext cx="3984625" cy="133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lvl="0" defTabSz="457200" eaLnBrk="1" hangingPunct="1">
              <a:defRPr/>
            </a:pPr>
            <a:r>
              <a:rPr lang="en-US" sz="2200" dirty="0" smtClean="0">
                <a:solidFill>
                  <a:prstClr val="white"/>
                </a:solidFill>
                <a:latin typeface="Myriad Pro" charset="0"/>
                <a:cs typeface="Myriad Pro" charset="0"/>
              </a:rPr>
              <a:t>Example of a full converter</a:t>
            </a:r>
            <a:endParaRPr lang="en-US" sz="2200" dirty="0">
              <a:solidFill>
                <a:prstClr val="white"/>
              </a:solidFill>
              <a:latin typeface="Myriad Pro" charset="0"/>
              <a:cs typeface="Myriad Pro" charset="0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/>
          <p:cNvSpPr txBox="1"/>
          <p:nvPr/>
        </p:nvSpPr>
        <p:spPr>
          <a:xfrm>
            <a:off x="0" y="0"/>
            <a:ext cx="24799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What to learn </a:t>
            </a:r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  <a:p>
            <a:endParaRPr lang="en-US" sz="2400" b="1" dirty="0" smtClean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Converters study</a:t>
            </a: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 smtClean="0">
                <a:solidFill>
                  <a:srgbClr val="FF0000"/>
                </a:solidFill>
              </a:rPr>
              <a:t>Example of converter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798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933" y="58056"/>
            <a:ext cx="8622182" cy="670861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9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2479964" y="323850"/>
            <a:ext cx="7715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Example: EVL400W-80PL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0" y="0"/>
            <a:ext cx="24799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What to learn </a:t>
            </a:r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  <a:p>
            <a:endParaRPr lang="en-US" sz="2400" b="1" dirty="0" smtClean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Converters study</a:t>
            </a: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 smtClean="0">
                <a:solidFill>
                  <a:srgbClr val="FF0000"/>
                </a:solidFill>
              </a:rPr>
              <a:t>Example of converter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784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19" y="2452213"/>
            <a:ext cx="11626481" cy="361475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10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2479964" y="323850"/>
            <a:ext cx="7715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Example: EVL400W-80PL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964" y="888888"/>
            <a:ext cx="7186369" cy="1459953"/>
          </a:xfrm>
          <a:prstGeom prst="rect">
            <a:avLst/>
          </a:prstGeom>
        </p:spPr>
      </p:pic>
      <p:sp>
        <p:nvSpPr>
          <p:cNvPr id="4" name="Rectangle à coins arrondis 3"/>
          <p:cNvSpPr/>
          <p:nvPr/>
        </p:nvSpPr>
        <p:spPr>
          <a:xfrm>
            <a:off x="5119046" y="1212738"/>
            <a:ext cx="4547287" cy="43926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à coins arrondis 14"/>
          <p:cNvSpPr/>
          <p:nvPr/>
        </p:nvSpPr>
        <p:spPr>
          <a:xfrm>
            <a:off x="2489489" y="1898538"/>
            <a:ext cx="2279315" cy="43926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à coins arrondis 15"/>
          <p:cNvSpPr/>
          <p:nvPr/>
        </p:nvSpPr>
        <p:spPr>
          <a:xfrm>
            <a:off x="398811" y="2496664"/>
            <a:ext cx="7961418" cy="70399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à coins arrondis 16"/>
          <p:cNvSpPr/>
          <p:nvPr/>
        </p:nvSpPr>
        <p:spPr>
          <a:xfrm>
            <a:off x="468028" y="4601057"/>
            <a:ext cx="6440772" cy="42338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7941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5" grpId="0" animBg="1"/>
      <p:bldP spid="16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992" y="204726"/>
            <a:ext cx="9058893" cy="66492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11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à coins arrondis 14"/>
          <p:cNvSpPr/>
          <p:nvPr/>
        </p:nvSpPr>
        <p:spPr>
          <a:xfrm>
            <a:off x="1526424" y="204725"/>
            <a:ext cx="4584091" cy="1580531"/>
          </a:xfrm>
          <a:prstGeom prst="round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4243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12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74" y="1556673"/>
            <a:ext cx="11885026" cy="4074866"/>
          </a:xfrm>
          <a:prstGeom prst="rect">
            <a:avLst/>
          </a:prstGeom>
        </p:spPr>
      </p:pic>
      <p:sp>
        <p:nvSpPr>
          <p:cNvPr id="10" name="Rectangle à coins arrondis 9"/>
          <p:cNvSpPr/>
          <p:nvPr/>
        </p:nvSpPr>
        <p:spPr>
          <a:xfrm>
            <a:off x="4786542" y="1556673"/>
            <a:ext cx="798285" cy="1215551"/>
          </a:xfrm>
          <a:prstGeom prst="round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4336599" y="972453"/>
            <a:ext cx="1741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chemeClr val="accent6"/>
                </a:solidFill>
              </a:rPr>
              <a:t>Rectifier</a:t>
            </a:r>
            <a:endParaRPr lang="fr-FR" sz="2400" b="1" dirty="0">
              <a:solidFill>
                <a:schemeClr val="accent6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8914594" y="1095008"/>
            <a:ext cx="1741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accent4"/>
                </a:solidFill>
              </a:rPr>
              <a:t>Boost (PFC)</a:t>
            </a:r>
            <a:endParaRPr lang="en-US" sz="2400" b="1" dirty="0">
              <a:solidFill>
                <a:schemeClr val="accent4"/>
              </a:solidFill>
            </a:endParaRPr>
          </a:p>
        </p:txBody>
      </p:sp>
      <p:sp>
        <p:nvSpPr>
          <p:cNvPr id="6" name="Forme libre 5"/>
          <p:cNvSpPr/>
          <p:nvPr/>
        </p:nvSpPr>
        <p:spPr>
          <a:xfrm>
            <a:off x="5834743" y="1596567"/>
            <a:ext cx="5675086" cy="1843314"/>
          </a:xfrm>
          <a:custGeom>
            <a:avLst/>
            <a:gdLst>
              <a:gd name="connsiteX0" fmla="*/ 5283200 w 5675086"/>
              <a:gd name="connsiteY0" fmla="*/ 1799772 h 1843314"/>
              <a:gd name="connsiteX1" fmla="*/ 5283200 w 5675086"/>
              <a:gd name="connsiteY1" fmla="*/ 1799772 h 1843314"/>
              <a:gd name="connsiteX2" fmla="*/ 5326743 w 5675086"/>
              <a:gd name="connsiteY2" fmla="*/ 1683657 h 1843314"/>
              <a:gd name="connsiteX3" fmla="*/ 5355771 w 5675086"/>
              <a:gd name="connsiteY3" fmla="*/ 1553029 h 1843314"/>
              <a:gd name="connsiteX4" fmla="*/ 5399314 w 5675086"/>
              <a:gd name="connsiteY4" fmla="*/ 1422400 h 1843314"/>
              <a:gd name="connsiteX5" fmla="*/ 5428343 w 5675086"/>
              <a:gd name="connsiteY5" fmla="*/ 1349829 h 1843314"/>
              <a:gd name="connsiteX6" fmla="*/ 5457371 w 5675086"/>
              <a:gd name="connsiteY6" fmla="*/ 1262743 h 1843314"/>
              <a:gd name="connsiteX7" fmla="*/ 5500914 w 5675086"/>
              <a:gd name="connsiteY7" fmla="*/ 1233714 h 1843314"/>
              <a:gd name="connsiteX8" fmla="*/ 5573486 w 5675086"/>
              <a:gd name="connsiteY8" fmla="*/ 1103086 h 1843314"/>
              <a:gd name="connsiteX9" fmla="*/ 5602514 w 5675086"/>
              <a:gd name="connsiteY9" fmla="*/ 1059543 h 1843314"/>
              <a:gd name="connsiteX10" fmla="*/ 5631543 w 5675086"/>
              <a:gd name="connsiteY10" fmla="*/ 1016000 h 1843314"/>
              <a:gd name="connsiteX11" fmla="*/ 5660571 w 5675086"/>
              <a:gd name="connsiteY11" fmla="*/ 928914 h 1843314"/>
              <a:gd name="connsiteX12" fmla="*/ 5675086 w 5675086"/>
              <a:gd name="connsiteY12" fmla="*/ 885372 h 1843314"/>
              <a:gd name="connsiteX13" fmla="*/ 5660571 w 5675086"/>
              <a:gd name="connsiteY13" fmla="*/ 449943 h 1843314"/>
              <a:gd name="connsiteX14" fmla="*/ 5558971 w 5675086"/>
              <a:gd name="connsiteY14" fmla="*/ 391886 h 1843314"/>
              <a:gd name="connsiteX15" fmla="*/ 5515428 w 5675086"/>
              <a:gd name="connsiteY15" fmla="*/ 377372 h 1843314"/>
              <a:gd name="connsiteX16" fmla="*/ 5457371 w 5675086"/>
              <a:gd name="connsiteY16" fmla="*/ 362857 h 1843314"/>
              <a:gd name="connsiteX17" fmla="*/ 5399314 w 5675086"/>
              <a:gd name="connsiteY17" fmla="*/ 333829 h 1843314"/>
              <a:gd name="connsiteX18" fmla="*/ 5225143 w 5675086"/>
              <a:gd name="connsiteY18" fmla="*/ 319314 h 1843314"/>
              <a:gd name="connsiteX19" fmla="*/ 5123543 w 5675086"/>
              <a:gd name="connsiteY19" fmla="*/ 304800 h 1843314"/>
              <a:gd name="connsiteX20" fmla="*/ 4586514 w 5675086"/>
              <a:gd name="connsiteY20" fmla="*/ 319314 h 1843314"/>
              <a:gd name="connsiteX21" fmla="*/ 4542971 w 5675086"/>
              <a:gd name="connsiteY21" fmla="*/ 333829 h 1843314"/>
              <a:gd name="connsiteX22" fmla="*/ 4470400 w 5675086"/>
              <a:gd name="connsiteY22" fmla="*/ 362857 h 1843314"/>
              <a:gd name="connsiteX23" fmla="*/ 4238171 w 5675086"/>
              <a:gd name="connsiteY23" fmla="*/ 391886 h 1843314"/>
              <a:gd name="connsiteX24" fmla="*/ 3933371 w 5675086"/>
              <a:gd name="connsiteY24" fmla="*/ 377372 h 1843314"/>
              <a:gd name="connsiteX25" fmla="*/ 3410857 w 5675086"/>
              <a:gd name="connsiteY25" fmla="*/ 362857 h 1843314"/>
              <a:gd name="connsiteX26" fmla="*/ 3280228 w 5675086"/>
              <a:gd name="connsiteY26" fmla="*/ 333829 h 1843314"/>
              <a:gd name="connsiteX27" fmla="*/ 3207657 w 5675086"/>
              <a:gd name="connsiteY27" fmla="*/ 304800 h 1843314"/>
              <a:gd name="connsiteX28" fmla="*/ 3004457 w 5675086"/>
              <a:gd name="connsiteY28" fmla="*/ 275772 h 1843314"/>
              <a:gd name="connsiteX29" fmla="*/ 2786743 w 5675086"/>
              <a:gd name="connsiteY29" fmla="*/ 261257 h 1843314"/>
              <a:gd name="connsiteX30" fmla="*/ 2627086 w 5675086"/>
              <a:gd name="connsiteY30" fmla="*/ 232229 h 1843314"/>
              <a:gd name="connsiteX31" fmla="*/ 2510971 w 5675086"/>
              <a:gd name="connsiteY31" fmla="*/ 188686 h 1843314"/>
              <a:gd name="connsiteX32" fmla="*/ 2322286 w 5675086"/>
              <a:gd name="connsiteY32" fmla="*/ 159657 h 1843314"/>
              <a:gd name="connsiteX33" fmla="*/ 2133600 w 5675086"/>
              <a:gd name="connsiteY33" fmla="*/ 130629 h 1843314"/>
              <a:gd name="connsiteX34" fmla="*/ 2090057 w 5675086"/>
              <a:gd name="connsiteY34" fmla="*/ 101600 h 1843314"/>
              <a:gd name="connsiteX35" fmla="*/ 1930400 w 5675086"/>
              <a:gd name="connsiteY35" fmla="*/ 72572 h 1843314"/>
              <a:gd name="connsiteX36" fmla="*/ 1857828 w 5675086"/>
              <a:gd name="connsiteY36" fmla="*/ 58057 h 1843314"/>
              <a:gd name="connsiteX37" fmla="*/ 1494971 w 5675086"/>
              <a:gd name="connsiteY37" fmla="*/ 72572 h 1843314"/>
              <a:gd name="connsiteX38" fmla="*/ 1436914 w 5675086"/>
              <a:gd name="connsiteY38" fmla="*/ 87086 h 1843314"/>
              <a:gd name="connsiteX39" fmla="*/ 1175657 w 5675086"/>
              <a:gd name="connsiteY39" fmla="*/ 130629 h 1843314"/>
              <a:gd name="connsiteX40" fmla="*/ 1016000 w 5675086"/>
              <a:gd name="connsiteY40" fmla="*/ 159657 h 1843314"/>
              <a:gd name="connsiteX41" fmla="*/ 580571 w 5675086"/>
              <a:gd name="connsiteY41" fmla="*/ 145143 h 1843314"/>
              <a:gd name="connsiteX42" fmla="*/ 420914 w 5675086"/>
              <a:gd name="connsiteY42" fmla="*/ 101600 h 1843314"/>
              <a:gd name="connsiteX43" fmla="*/ 348343 w 5675086"/>
              <a:gd name="connsiteY43" fmla="*/ 87086 h 1843314"/>
              <a:gd name="connsiteX44" fmla="*/ 246743 w 5675086"/>
              <a:gd name="connsiteY44" fmla="*/ 43543 h 1843314"/>
              <a:gd name="connsiteX45" fmla="*/ 203200 w 5675086"/>
              <a:gd name="connsiteY45" fmla="*/ 14514 h 1843314"/>
              <a:gd name="connsiteX46" fmla="*/ 159657 w 5675086"/>
              <a:gd name="connsiteY46" fmla="*/ 0 h 1843314"/>
              <a:gd name="connsiteX47" fmla="*/ 58057 w 5675086"/>
              <a:gd name="connsiteY47" fmla="*/ 14514 h 1843314"/>
              <a:gd name="connsiteX48" fmla="*/ 43543 w 5675086"/>
              <a:gd name="connsiteY48" fmla="*/ 58057 h 1843314"/>
              <a:gd name="connsiteX49" fmla="*/ 0 w 5675086"/>
              <a:gd name="connsiteY49" fmla="*/ 159657 h 1843314"/>
              <a:gd name="connsiteX50" fmla="*/ 14514 w 5675086"/>
              <a:gd name="connsiteY50" fmla="*/ 508000 h 1843314"/>
              <a:gd name="connsiteX51" fmla="*/ 43543 w 5675086"/>
              <a:gd name="connsiteY51" fmla="*/ 624114 h 1843314"/>
              <a:gd name="connsiteX52" fmla="*/ 130628 w 5675086"/>
              <a:gd name="connsiteY52" fmla="*/ 653143 h 1843314"/>
              <a:gd name="connsiteX53" fmla="*/ 537028 w 5675086"/>
              <a:gd name="connsiteY53" fmla="*/ 667657 h 1843314"/>
              <a:gd name="connsiteX54" fmla="*/ 696686 w 5675086"/>
              <a:gd name="connsiteY54" fmla="*/ 624114 h 1843314"/>
              <a:gd name="connsiteX55" fmla="*/ 783771 w 5675086"/>
              <a:gd name="connsiteY55" fmla="*/ 595086 h 1843314"/>
              <a:gd name="connsiteX56" fmla="*/ 827314 w 5675086"/>
              <a:gd name="connsiteY56" fmla="*/ 580572 h 1843314"/>
              <a:gd name="connsiteX57" fmla="*/ 885371 w 5675086"/>
              <a:gd name="connsiteY57" fmla="*/ 551543 h 1843314"/>
              <a:gd name="connsiteX58" fmla="*/ 957943 w 5675086"/>
              <a:gd name="connsiteY58" fmla="*/ 537029 h 1843314"/>
              <a:gd name="connsiteX59" fmla="*/ 1088571 w 5675086"/>
              <a:gd name="connsiteY59" fmla="*/ 508000 h 1843314"/>
              <a:gd name="connsiteX60" fmla="*/ 1349828 w 5675086"/>
              <a:gd name="connsiteY60" fmla="*/ 478972 h 1843314"/>
              <a:gd name="connsiteX61" fmla="*/ 1727200 w 5675086"/>
              <a:gd name="connsiteY61" fmla="*/ 508000 h 1843314"/>
              <a:gd name="connsiteX62" fmla="*/ 1770743 w 5675086"/>
              <a:gd name="connsiteY62" fmla="*/ 522514 h 1843314"/>
              <a:gd name="connsiteX63" fmla="*/ 1828800 w 5675086"/>
              <a:gd name="connsiteY63" fmla="*/ 537029 h 1843314"/>
              <a:gd name="connsiteX64" fmla="*/ 1959428 w 5675086"/>
              <a:gd name="connsiteY64" fmla="*/ 595086 h 1843314"/>
              <a:gd name="connsiteX65" fmla="*/ 2017486 w 5675086"/>
              <a:gd name="connsiteY65" fmla="*/ 624114 h 1843314"/>
              <a:gd name="connsiteX66" fmla="*/ 2104571 w 5675086"/>
              <a:gd name="connsiteY66" fmla="*/ 653143 h 1843314"/>
              <a:gd name="connsiteX67" fmla="*/ 2148114 w 5675086"/>
              <a:gd name="connsiteY67" fmla="*/ 696686 h 1843314"/>
              <a:gd name="connsiteX68" fmla="*/ 2177143 w 5675086"/>
              <a:gd name="connsiteY68" fmla="*/ 740229 h 1843314"/>
              <a:gd name="connsiteX69" fmla="*/ 2235200 w 5675086"/>
              <a:gd name="connsiteY69" fmla="*/ 769257 h 1843314"/>
              <a:gd name="connsiteX70" fmla="*/ 2322286 w 5675086"/>
              <a:gd name="connsiteY70" fmla="*/ 841829 h 1843314"/>
              <a:gd name="connsiteX71" fmla="*/ 2438400 w 5675086"/>
              <a:gd name="connsiteY71" fmla="*/ 943429 h 1843314"/>
              <a:gd name="connsiteX72" fmla="*/ 2525486 w 5675086"/>
              <a:gd name="connsiteY72" fmla="*/ 972457 h 1843314"/>
              <a:gd name="connsiteX73" fmla="*/ 2583543 w 5675086"/>
              <a:gd name="connsiteY73" fmla="*/ 986972 h 1843314"/>
              <a:gd name="connsiteX74" fmla="*/ 2641600 w 5675086"/>
              <a:gd name="connsiteY74" fmla="*/ 1016000 h 1843314"/>
              <a:gd name="connsiteX75" fmla="*/ 3091543 w 5675086"/>
              <a:gd name="connsiteY75" fmla="*/ 1001486 h 1843314"/>
              <a:gd name="connsiteX76" fmla="*/ 3178628 w 5675086"/>
              <a:gd name="connsiteY76" fmla="*/ 986972 h 1843314"/>
              <a:gd name="connsiteX77" fmla="*/ 3280228 w 5675086"/>
              <a:gd name="connsiteY77" fmla="*/ 972457 h 1843314"/>
              <a:gd name="connsiteX78" fmla="*/ 3323771 w 5675086"/>
              <a:gd name="connsiteY78" fmla="*/ 957943 h 1843314"/>
              <a:gd name="connsiteX79" fmla="*/ 3381828 w 5675086"/>
              <a:gd name="connsiteY79" fmla="*/ 943429 h 1843314"/>
              <a:gd name="connsiteX80" fmla="*/ 3439886 w 5675086"/>
              <a:gd name="connsiteY80" fmla="*/ 914400 h 1843314"/>
              <a:gd name="connsiteX81" fmla="*/ 3701143 w 5675086"/>
              <a:gd name="connsiteY81" fmla="*/ 885372 h 1843314"/>
              <a:gd name="connsiteX82" fmla="*/ 3904343 w 5675086"/>
              <a:gd name="connsiteY82" fmla="*/ 841829 h 1843314"/>
              <a:gd name="connsiteX83" fmla="*/ 3947886 w 5675086"/>
              <a:gd name="connsiteY83" fmla="*/ 812800 h 1843314"/>
              <a:gd name="connsiteX84" fmla="*/ 3991428 w 5675086"/>
              <a:gd name="connsiteY84" fmla="*/ 798286 h 1843314"/>
              <a:gd name="connsiteX85" fmla="*/ 4354286 w 5675086"/>
              <a:gd name="connsiteY85" fmla="*/ 812800 h 1843314"/>
              <a:gd name="connsiteX86" fmla="*/ 4470400 w 5675086"/>
              <a:gd name="connsiteY86" fmla="*/ 827314 h 1843314"/>
              <a:gd name="connsiteX87" fmla="*/ 4557486 w 5675086"/>
              <a:gd name="connsiteY87" fmla="*/ 856343 h 1843314"/>
              <a:gd name="connsiteX88" fmla="*/ 4601028 w 5675086"/>
              <a:gd name="connsiteY88" fmla="*/ 870857 h 1843314"/>
              <a:gd name="connsiteX89" fmla="*/ 4644571 w 5675086"/>
              <a:gd name="connsiteY89" fmla="*/ 885372 h 1843314"/>
              <a:gd name="connsiteX90" fmla="*/ 4688114 w 5675086"/>
              <a:gd name="connsiteY90" fmla="*/ 899886 h 1843314"/>
              <a:gd name="connsiteX91" fmla="*/ 4731657 w 5675086"/>
              <a:gd name="connsiteY91" fmla="*/ 928914 h 1843314"/>
              <a:gd name="connsiteX92" fmla="*/ 4775200 w 5675086"/>
              <a:gd name="connsiteY92" fmla="*/ 1045029 h 1843314"/>
              <a:gd name="connsiteX93" fmla="*/ 4760686 w 5675086"/>
              <a:gd name="connsiteY93" fmla="*/ 1204686 h 1843314"/>
              <a:gd name="connsiteX94" fmla="*/ 4731657 w 5675086"/>
              <a:gd name="connsiteY94" fmla="*/ 1335314 h 1843314"/>
              <a:gd name="connsiteX95" fmla="*/ 4717143 w 5675086"/>
              <a:gd name="connsiteY95" fmla="*/ 1407886 h 1843314"/>
              <a:gd name="connsiteX96" fmla="*/ 4818743 w 5675086"/>
              <a:gd name="connsiteY96" fmla="*/ 1741714 h 1843314"/>
              <a:gd name="connsiteX97" fmla="*/ 4963886 w 5675086"/>
              <a:gd name="connsiteY97" fmla="*/ 1814286 h 1843314"/>
              <a:gd name="connsiteX98" fmla="*/ 5109028 w 5675086"/>
              <a:gd name="connsiteY98" fmla="*/ 1843314 h 1843314"/>
              <a:gd name="connsiteX99" fmla="*/ 5326743 w 5675086"/>
              <a:gd name="connsiteY99" fmla="*/ 1814286 h 1843314"/>
              <a:gd name="connsiteX100" fmla="*/ 5370286 w 5675086"/>
              <a:gd name="connsiteY100" fmla="*/ 1799772 h 1843314"/>
              <a:gd name="connsiteX101" fmla="*/ 5384800 w 5675086"/>
              <a:gd name="connsiteY101" fmla="*/ 1741714 h 1843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5675086" h="1843314">
                <a:moveTo>
                  <a:pt x="5283200" y="1799772"/>
                </a:moveTo>
                <a:lnTo>
                  <a:pt x="5283200" y="1799772"/>
                </a:lnTo>
                <a:cubicBezTo>
                  <a:pt x="5297714" y="1761067"/>
                  <a:pt x="5313671" y="1722873"/>
                  <a:pt x="5326743" y="1683657"/>
                </a:cubicBezTo>
                <a:cubicBezTo>
                  <a:pt x="5350944" y="1611053"/>
                  <a:pt x="5332764" y="1633553"/>
                  <a:pt x="5355771" y="1553029"/>
                </a:cubicBezTo>
                <a:cubicBezTo>
                  <a:pt x="5368380" y="1508897"/>
                  <a:pt x="5382267" y="1465015"/>
                  <a:pt x="5399314" y="1422400"/>
                </a:cubicBezTo>
                <a:cubicBezTo>
                  <a:pt x="5408990" y="1398210"/>
                  <a:pt x="5419439" y="1374314"/>
                  <a:pt x="5428343" y="1349829"/>
                </a:cubicBezTo>
                <a:cubicBezTo>
                  <a:pt x="5438800" y="1321072"/>
                  <a:pt x="5431911" y="1279716"/>
                  <a:pt x="5457371" y="1262743"/>
                </a:cubicBezTo>
                <a:lnTo>
                  <a:pt x="5500914" y="1233714"/>
                </a:lnTo>
                <a:cubicBezTo>
                  <a:pt x="5526461" y="1157073"/>
                  <a:pt x="5506941" y="1202904"/>
                  <a:pt x="5573486" y="1103086"/>
                </a:cubicBezTo>
                <a:lnTo>
                  <a:pt x="5602514" y="1059543"/>
                </a:lnTo>
                <a:lnTo>
                  <a:pt x="5631543" y="1016000"/>
                </a:lnTo>
                <a:lnTo>
                  <a:pt x="5660571" y="928914"/>
                </a:lnTo>
                <a:lnTo>
                  <a:pt x="5675086" y="885372"/>
                </a:lnTo>
                <a:cubicBezTo>
                  <a:pt x="5670248" y="740229"/>
                  <a:pt x="5678046" y="594111"/>
                  <a:pt x="5660571" y="449943"/>
                </a:cubicBezTo>
                <a:cubicBezTo>
                  <a:pt x="5655041" y="404320"/>
                  <a:pt x="5586292" y="399692"/>
                  <a:pt x="5558971" y="391886"/>
                </a:cubicBezTo>
                <a:cubicBezTo>
                  <a:pt x="5544260" y="387683"/>
                  <a:pt x="5530139" y="381575"/>
                  <a:pt x="5515428" y="377372"/>
                </a:cubicBezTo>
                <a:cubicBezTo>
                  <a:pt x="5496248" y="371892"/>
                  <a:pt x="5476049" y="369861"/>
                  <a:pt x="5457371" y="362857"/>
                </a:cubicBezTo>
                <a:cubicBezTo>
                  <a:pt x="5437112" y="355260"/>
                  <a:pt x="5420580" y="337816"/>
                  <a:pt x="5399314" y="333829"/>
                </a:cubicBezTo>
                <a:cubicBezTo>
                  <a:pt x="5342054" y="323093"/>
                  <a:pt x="5283081" y="325413"/>
                  <a:pt x="5225143" y="319314"/>
                </a:cubicBezTo>
                <a:cubicBezTo>
                  <a:pt x="5191120" y="315733"/>
                  <a:pt x="5157410" y="309638"/>
                  <a:pt x="5123543" y="304800"/>
                </a:cubicBezTo>
                <a:cubicBezTo>
                  <a:pt x="4944533" y="309638"/>
                  <a:pt x="4765366" y="310371"/>
                  <a:pt x="4586514" y="319314"/>
                </a:cubicBezTo>
                <a:cubicBezTo>
                  <a:pt x="4571234" y="320078"/>
                  <a:pt x="4557296" y="328457"/>
                  <a:pt x="4542971" y="333829"/>
                </a:cubicBezTo>
                <a:cubicBezTo>
                  <a:pt x="4518576" y="342977"/>
                  <a:pt x="4495536" y="356002"/>
                  <a:pt x="4470400" y="362857"/>
                </a:cubicBezTo>
                <a:cubicBezTo>
                  <a:pt x="4418270" y="377074"/>
                  <a:pt x="4275603" y="388143"/>
                  <a:pt x="4238171" y="391886"/>
                </a:cubicBezTo>
                <a:lnTo>
                  <a:pt x="3933371" y="377372"/>
                </a:lnTo>
                <a:lnTo>
                  <a:pt x="3410857" y="362857"/>
                </a:lnTo>
                <a:cubicBezTo>
                  <a:pt x="3363332" y="360594"/>
                  <a:pt x="3323277" y="349973"/>
                  <a:pt x="3280228" y="333829"/>
                </a:cubicBezTo>
                <a:cubicBezTo>
                  <a:pt x="3255833" y="324681"/>
                  <a:pt x="3232612" y="312287"/>
                  <a:pt x="3207657" y="304800"/>
                </a:cubicBezTo>
                <a:cubicBezTo>
                  <a:pt x="3156649" y="289497"/>
                  <a:pt x="3045016" y="279152"/>
                  <a:pt x="3004457" y="275772"/>
                </a:cubicBezTo>
                <a:cubicBezTo>
                  <a:pt x="2931976" y="269732"/>
                  <a:pt x="2859314" y="266095"/>
                  <a:pt x="2786743" y="261257"/>
                </a:cubicBezTo>
                <a:cubicBezTo>
                  <a:pt x="2628941" y="208658"/>
                  <a:pt x="2955341" y="314293"/>
                  <a:pt x="2627086" y="232229"/>
                </a:cubicBezTo>
                <a:cubicBezTo>
                  <a:pt x="2586983" y="222203"/>
                  <a:pt x="2551184" y="198261"/>
                  <a:pt x="2510971" y="188686"/>
                </a:cubicBezTo>
                <a:cubicBezTo>
                  <a:pt x="2449067" y="173947"/>
                  <a:pt x="2385055" y="170119"/>
                  <a:pt x="2322286" y="159657"/>
                </a:cubicBezTo>
                <a:cubicBezTo>
                  <a:pt x="2122832" y="126414"/>
                  <a:pt x="2414335" y="165720"/>
                  <a:pt x="2133600" y="130629"/>
                </a:cubicBezTo>
                <a:cubicBezTo>
                  <a:pt x="2119086" y="120953"/>
                  <a:pt x="2105659" y="109401"/>
                  <a:pt x="2090057" y="101600"/>
                </a:cubicBezTo>
                <a:cubicBezTo>
                  <a:pt x="2044002" y="78572"/>
                  <a:pt x="1973758" y="79243"/>
                  <a:pt x="1930400" y="72572"/>
                </a:cubicBezTo>
                <a:cubicBezTo>
                  <a:pt x="1906017" y="68821"/>
                  <a:pt x="1882019" y="62895"/>
                  <a:pt x="1857828" y="58057"/>
                </a:cubicBezTo>
                <a:cubicBezTo>
                  <a:pt x="1736876" y="62895"/>
                  <a:pt x="1615733" y="64243"/>
                  <a:pt x="1494971" y="72572"/>
                </a:cubicBezTo>
                <a:cubicBezTo>
                  <a:pt x="1475070" y="73944"/>
                  <a:pt x="1456540" y="83518"/>
                  <a:pt x="1436914" y="87086"/>
                </a:cubicBezTo>
                <a:cubicBezTo>
                  <a:pt x="1350051" y="102879"/>
                  <a:pt x="1263057" y="118144"/>
                  <a:pt x="1175657" y="130629"/>
                </a:cubicBezTo>
                <a:cubicBezTo>
                  <a:pt x="1054310" y="147964"/>
                  <a:pt x="1107246" y="136846"/>
                  <a:pt x="1016000" y="159657"/>
                </a:cubicBezTo>
                <a:cubicBezTo>
                  <a:pt x="870857" y="154819"/>
                  <a:pt x="725571" y="153198"/>
                  <a:pt x="580571" y="145143"/>
                </a:cubicBezTo>
                <a:cubicBezTo>
                  <a:pt x="472891" y="139161"/>
                  <a:pt x="516290" y="130213"/>
                  <a:pt x="420914" y="101600"/>
                </a:cubicBezTo>
                <a:cubicBezTo>
                  <a:pt x="397285" y="94511"/>
                  <a:pt x="372533" y="91924"/>
                  <a:pt x="348343" y="87086"/>
                </a:cubicBezTo>
                <a:cubicBezTo>
                  <a:pt x="239025" y="14207"/>
                  <a:pt x="377959" y="99779"/>
                  <a:pt x="246743" y="43543"/>
                </a:cubicBezTo>
                <a:cubicBezTo>
                  <a:pt x="230709" y="36671"/>
                  <a:pt x="218802" y="22315"/>
                  <a:pt x="203200" y="14514"/>
                </a:cubicBezTo>
                <a:cubicBezTo>
                  <a:pt x="189516" y="7672"/>
                  <a:pt x="174171" y="4838"/>
                  <a:pt x="159657" y="0"/>
                </a:cubicBezTo>
                <a:cubicBezTo>
                  <a:pt x="125790" y="4838"/>
                  <a:pt x="88656" y="-785"/>
                  <a:pt x="58057" y="14514"/>
                </a:cubicBezTo>
                <a:cubicBezTo>
                  <a:pt x="44373" y="21356"/>
                  <a:pt x="49570" y="43995"/>
                  <a:pt x="43543" y="58057"/>
                </a:cubicBezTo>
                <a:cubicBezTo>
                  <a:pt x="-10263" y="183604"/>
                  <a:pt x="34038" y="57541"/>
                  <a:pt x="0" y="159657"/>
                </a:cubicBezTo>
                <a:cubicBezTo>
                  <a:pt x="4838" y="275771"/>
                  <a:pt x="3666" y="392292"/>
                  <a:pt x="14514" y="508000"/>
                </a:cubicBezTo>
                <a:cubicBezTo>
                  <a:pt x="18238" y="547722"/>
                  <a:pt x="5695" y="611498"/>
                  <a:pt x="43543" y="624114"/>
                </a:cubicBezTo>
                <a:lnTo>
                  <a:pt x="130628" y="653143"/>
                </a:lnTo>
                <a:cubicBezTo>
                  <a:pt x="280077" y="765229"/>
                  <a:pt x="173357" y="705278"/>
                  <a:pt x="537028" y="667657"/>
                </a:cubicBezTo>
                <a:cubicBezTo>
                  <a:pt x="596526" y="661502"/>
                  <a:pt x="639629" y="643133"/>
                  <a:pt x="696686" y="624114"/>
                </a:cubicBezTo>
                <a:lnTo>
                  <a:pt x="783771" y="595086"/>
                </a:lnTo>
                <a:cubicBezTo>
                  <a:pt x="798285" y="590248"/>
                  <a:pt x="813630" y="587414"/>
                  <a:pt x="827314" y="580572"/>
                </a:cubicBezTo>
                <a:cubicBezTo>
                  <a:pt x="846666" y="570896"/>
                  <a:pt x="864845" y="558385"/>
                  <a:pt x="885371" y="551543"/>
                </a:cubicBezTo>
                <a:cubicBezTo>
                  <a:pt x="908775" y="543742"/>
                  <a:pt x="933861" y="542381"/>
                  <a:pt x="957943" y="537029"/>
                </a:cubicBezTo>
                <a:cubicBezTo>
                  <a:pt x="1022968" y="522579"/>
                  <a:pt x="1017420" y="518946"/>
                  <a:pt x="1088571" y="508000"/>
                </a:cubicBezTo>
                <a:cubicBezTo>
                  <a:pt x="1164879" y="496261"/>
                  <a:pt x="1275634" y="486391"/>
                  <a:pt x="1349828" y="478972"/>
                </a:cubicBezTo>
                <a:cubicBezTo>
                  <a:pt x="1446108" y="484321"/>
                  <a:pt x="1615736" y="487734"/>
                  <a:pt x="1727200" y="508000"/>
                </a:cubicBezTo>
                <a:cubicBezTo>
                  <a:pt x="1742253" y="510737"/>
                  <a:pt x="1756032" y="518311"/>
                  <a:pt x="1770743" y="522514"/>
                </a:cubicBezTo>
                <a:cubicBezTo>
                  <a:pt x="1789923" y="527994"/>
                  <a:pt x="1809448" y="532191"/>
                  <a:pt x="1828800" y="537029"/>
                </a:cubicBezTo>
                <a:cubicBezTo>
                  <a:pt x="1956874" y="622410"/>
                  <a:pt x="1752177" y="491464"/>
                  <a:pt x="1959428" y="595086"/>
                </a:cubicBezTo>
                <a:cubicBezTo>
                  <a:pt x="1978781" y="604762"/>
                  <a:pt x="1997397" y="616078"/>
                  <a:pt x="2017486" y="624114"/>
                </a:cubicBezTo>
                <a:cubicBezTo>
                  <a:pt x="2045896" y="635478"/>
                  <a:pt x="2104571" y="653143"/>
                  <a:pt x="2104571" y="653143"/>
                </a:cubicBezTo>
                <a:cubicBezTo>
                  <a:pt x="2119085" y="667657"/>
                  <a:pt x="2134973" y="680917"/>
                  <a:pt x="2148114" y="696686"/>
                </a:cubicBezTo>
                <a:cubicBezTo>
                  <a:pt x="2159281" y="710087"/>
                  <a:pt x="2163742" y="729062"/>
                  <a:pt x="2177143" y="740229"/>
                </a:cubicBezTo>
                <a:cubicBezTo>
                  <a:pt x="2193765" y="754080"/>
                  <a:pt x="2215848" y="759581"/>
                  <a:pt x="2235200" y="769257"/>
                </a:cubicBezTo>
                <a:cubicBezTo>
                  <a:pt x="2305922" y="875342"/>
                  <a:pt x="2211797" y="749754"/>
                  <a:pt x="2322286" y="841829"/>
                </a:cubicBezTo>
                <a:cubicBezTo>
                  <a:pt x="2401308" y="907681"/>
                  <a:pt x="2275515" y="889135"/>
                  <a:pt x="2438400" y="943429"/>
                </a:cubicBezTo>
                <a:cubicBezTo>
                  <a:pt x="2467429" y="953105"/>
                  <a:pt x="2495801" y="965035"/>
                  <a:pt x="2525486" y="972457"/>
                </a:cubicBezTo>
                <a:cubicBezTo>
                  <a:pt x="2544838" y="977295"/>
                  <a:pt x="2564865" y="979968"/>
                  <a:pt x="2583543" y="986972"/>
                </a:cubicBezTo>
                <a:cubicBezTo>
                  <a:pt x="2603802" y="994569"/>
                  <a:pt x="2622248" y="1006324"/>
                  <a:pt x="2641600" y="1016000"/>
                </a:cubicBezTo>
                <a:cubicBezTo>
                  <a:pt x="2791581" y="1011162"/>
                  <a:pt x="2941703" y="1009585"/>
                  <a:pt x="3091543" y="1001486"/>
                </a:cubicBezTo>
                <a:cubicBezTo>
                  <a:pt x="3120929" y="999898"/>
                  <a:pt x="3149541" y="991447"/>
                  <a:pt x="3178628" y="986972"/>
                </a:cubicBezTo>
                <a:cubicBezTo>
                  <a:pt x="3212441" y="981770"/>
                  <a:pt x="3246361" y="977295"/>
                  <a:pt x="3280228" y="972457"/>
                </a:cubicBezTo>
                <a:cubicBezTo>
                  <a:pt x="3294742" y="967619"/>
                  <a:pt x="3309060" y="962146"/>
                  <a:pt x="3323771" y="957943"/>
                </a:cubicBezTo>
                <a:cubicBezTo>
                  <a:pt x="3342951" y="952463"/>
                  <a:pt x="3363150" y="950433"/>
                  <a:pt x="3381828" y="943429"/>
                </a:cubicBezTo>
                <a:cubicBezTo>
                  <a:pt x="3402087" y="935832"/>
                  <a:pt x="3419011" y="920093"/>
                  <a:pt x="3439886" y="914400"/>
                </a:cubicBezTo>
                <a:cubicBezTo>
                  <a:pt x="3484028" y="902361"/>
                  <a:pt x="3679803" y="887312"/>
                  <a:pt x="3701143" y="885372"/>
                </a:cubicBezTo>
                <a:cubicBezTo>
                  <a:pt x="3865847" y="852431"/>
                  <a:pt x="3798420" y="868309"/>
                  <a:pt x="3904343" y="841829"/>
                </a:cubicBezTo>
                <a:cubicBezTo>
                  <a:pt x="3918857" y="832153"/>
                  <a:pt x="3932284" y="820601"/>
                  <a:pt x="3947886" y="812800"/>
                </a:cubicBezTo>
                <a:cubicBezTo>
                  <a:pt x="3961570" y="805958"/>
                  <a:pt x="3976129" y="798286"/>
                  <a:pt x="3991428" y="798286"/>
                </a:cubicBezTo>
                <a:cubicBezTo>
                  <a:pt x="4112477" y="798286"/>
                  <a:pt x="4233333" y="807962"/>
                  <a:pt x="4354286" y="812800"/>
                </a:cubicBezTo>
                <a:cubicBezTo>
                  <a:pt x="4392991" y="817638"/>
                  <a:pt x="4432260" y="819141"/>
                  <a:pt x="4470400" y="827314"/>
                </a:cubicBezTo>
                <a:cubicBezTo>
                  <a:pt x="4500320" y="833725"/>
                  <a:pt x="4528457" y="846667"/>
                  <a:pt x="4557486" y="856343"/>
                </a:cubicBezTo>
                <a:lnTo>
                  <a:pt x="4601028" y="870857"/>
                </a:lnTo>
                <a:lnTo>
                  <a:pt x="4644571" y="885372"/>
                </a:lnTo>
                <a:cubicBezTo>
                  <a:pt x="4659085" y="890210"/>
                  <a:pt x="4675384" y="891400"/>
                  <a:pt x="4688114" y="899886"/>
                </a:cubicBezTo>
                <a:lnTo>
                  <a:pt x="4731657" y="928914"/>
                </a:lnTo>
                <a:cubicBezTo>
                  <a:pt x="4748172" y="961944"/>
                  <a:pt x="4775200" y="1005504"/>
                  <a:pt x="4775200" y="1045029"/>
                </a:cubicBezTo>
                <a:cubicBezTo>
                  <a:pt x="4775200" y="1098467"/>
                  <a:pt x="4767314" y="1151660"/>
                  <a:pt x="4760686" y="1204686"/>
                </a:cubicBezTo>
                <a:cubicBezTo>
                  <a:pt x="4754434" y="1254704"/>
                  <a:pt x="4742309" y="1287377"/>
                  <a:pt x="4731657" y="1335314"/>
                </a:cubicBezTo>
                <a:cubicBezTo>
                  <a:pt x="4726306" y="1359396"/>
                  <a:pt x="4721981" y="1383695"/>
                  <a:pt x="4717143" y="1407886"/>
                </a:cubicBezTo>
                <a:cubicBezTo>
                  <a:pt x="4750556" y="1574954"/>
                  <a:pt x="4711387" y="1658214"/>
                  <a:pt x="4818743" y="1741714"/>
                </a:cubicBezTo>
                <a:cubicBezTo>
                  <a:pt x="4891798" y="1798535"/>
                  <a:pt x="4889494" y="1798345"/>
                  <a:pt x="4963886" y="1814286"/>
                </a:cubicBezTo>
                <a:cubicBezTo>
                  <a:pt x="5012130" y="1824624"/>
                  <a:pt x="5109028" y="1843314"/>
                  <a:pt x="5109028" y="1843314"/>
                </a:cubicBezTo>
                <a:cubicBezTo>
                  <a:pt x="5171917" y="1836327"/>
                  <a:pt x="5261593" y="1828764"/>
                  <a:pt x="5326743" y="1814286"/>
                </a:cubicBezTo>
                <a:cubicBezTo>
                  <a:pt x="5341678" y="1810967"/>
                  <a:pt x="5355772" y="1804610"/>
                  <a:pt x="5370286" y="1799772"/>
                </a:cubicBezTo>
                <a:cubicBezTo>
                  <a:pt x="5386330" y="1751639"/>
                  <a:pt x="5384800" y="1771528"/>
                  <a:pt x="5384800" y="1741714"/>
                </a:cubicBezTo>
              </a:path>
            </a:pathLst>
          </a:cu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à coins arrondis 10"/>
          <p:cNvSpPr/>
          <p:nvPr/>
        </p:nvSpPr>
        <p:spPr>
          <a:xfrm>
            <a:off x="6972300" y="2364010"/>
            <a:ext cx="901700" cy="96711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/>
          <p:cNvSpPr txBox="1"/>
          <p:nvPr/>
        </p:nvSpPr>
        <p:spPr>
          <a:xfrm>
            <a:off x="6235700" y="3566859"/>
            <a:ext cx="20583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Current measurement (PFC)</a:t>
            </a:r>
            <a:endParaRPr lang="en-US" sz="2400" b="1" dirty="0"/>
          </a:p>
        </p:txBody>
      </p:sp>
      <p:sp>
        <p:nvSpPr>
          <p:cNvPr id="17" name="Rectangle à coins arrondis 16"/>
          <p:cNvSpPr/>
          <p:nvPr/>
        </p:nvSpPr>
        <p:spPr>
          <a:xfrm>
            <a:off x="1833407" y="1596567"/>
            <a:ext cx="2589538" cy="1215551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428408" y="1065980"/>
            <a:ext cx="5649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HF filtering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354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/>
      <p:bldP spid="15" grpId="0"/>
      <p:bldP spid="11" grpId="0" animBg="1"/>
      <p:bldP spid="16" grpId="0"/>
      <p:bldP spid="17" grpId="0" animBg="1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595" y="204726"/>
            <a:ext cx="9058893" cy="66492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13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à coins arrondis 14"/>
          <p:cNvSpPr/>
          <p:nvPr/>
        </p:nvSpPr>
        <p:spPr>
          <a:xfrm>
            <a:off x="1767483" y="204725"/>
            <a:ext cx="4444635" cy="1580531"/>
          </a:xfrm>
          <a:prstGeom prst="round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à coins arrondis 9"/>
          <p:cNvSpPr/>
          <p:nvPr/>
        </p:nvSpPr>
        <p:spPr>
          <a:xfrm>
            <a:off x="6381740" y="204725"/>
            <a:ext cx="831863" cy="1580531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à coins arrondis 10"/>
          <p:cNvSpPr/>
          <p:nvPr/>
        </p:nvSpPr>
        <p:spPr>
          <a:xfrm>
            <a:off x="6797671" y="2447182"/>
            <a:ext cx="831863" cy="1580531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8610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14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/>
          <a:srcRect t="4282"/>
          <a:stretch/>
        </p:blipFill>
        <p:spPr>
          <a:xfrm>
            <a:off x="316139" y="72571"/>
            <a:ext cx="5039632" cy="583935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5770" y="920367"/>
            <a:ext cx="6642559" cy="5059519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4223659" y="5824837"/>
            <a:ext cx="3918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B</a:t>
            </a:r>
            <a:endParaRPr lang="fr-FR" sz="2000" b="1" dirty="0"/>
          </a:p>
        </p:txBody>
      </p:sp>
      <p:sp>
        <p:nvSpPr>
          <p:cNvPr id="15" name="ZoneTexte 14"/>
          <p:cNvSpPr txBox="1"/>
          <p:nvPr/>
        </p:nvSpPr>
        <p:spPr>
          <a:xfrm>
            <a:off x="3860802" y="5814929"/>
            <a:ext cx="3918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A</a:t>
            </a:r>
            <a:endParaRPr lang="fr-FR" sz="2000" b="1" dirty="0"/>
          </a:p>
        </p:txBody>
      </p:sp>
      <p:sp>
        <p:nvSpPr>
          <p:cNvPr id="16" name="ZoneTexte 15"/>
          <p:cNvSpPr txBox="1"/>
          <p:nvPr/>
        </p:nvSpPr>
        <p:spPr>
          <a:xfrm>
            <a:off x="7249888" y="609499"/>
            <a:ext cx="3918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B</a:t>
            </a:r>
            <a:endParaRPr lang="fr-FR" sz="2000" b="1" dirty="0"/>
          </a:p>
        </p:txBody>
      </p:sp>
      <p:sp>
        <p:nvSpPr>
          <p:cNvPr id="17" name="ZoneTexte 16"/>
          <p:cNvSpPr txBox="1"/>
          <p:nvPr/>
        </p:nvSpPr>
        <p:spPr>
          <a:xfrm>
            <a:off x="6887031" y="599591"/>
            <a:ext cx="3918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A</a:t>
            </a:r>
            <a:endParaRPr lang="fr-FR" sz="2000" b="1" dirty="0"/>
          </a:p>
        </p:txBody>
      </p:sp>
      <p:sp>
        <p:nvSpPr>
          <p:cNvPr id="18" name="Rectangle à coins arrondis 17"/>
          <p:cNvSpPr/>
          <p:nvPr/>
        </p:nvSpPr>
        <p:spPr>
          <a:xfrm>
            <a:off x="2629790" y="2201980"/>
            <a:ext cx="984267" cy="3066706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à coins arrondis 18"/>
          <p:cNvSpPr/>
          <p:nvPr/>
        </p:nvSpPr>
        <p:spPr>
          <a:xfrm>
            <a:off x="6541387" y="2830285"/>
            <a:ext cx="2410205" cy="1988457"/>
          </a:xfrm>
          <a:prstGeom prst="round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2043342" y="1730407"/>
            <a:ext cx="2485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Half  Bridge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6541387" y="2263494"/>
            <a:ext cx="2485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accent6"/>
                </a:solidFill>
              </a:rPr>
              <a:t>LLC</a:t>
            </a:r>
            <a:endParaRPr lang="en-US" sz="24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7112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453" y="204726"/>
            <a:ext cx="9058893" cy="66492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15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à coins arrondis 14"/>
          <p:cNvSpPr/>
          <p:nvPr/>
        </p:nvSpPr>
        <p:spPr>
          <a:xfrm>
            <a:off x="1622341" y="204725"/>
            <a:ext cx="4444635" cy="1580531"/>
          </a:xfrm>
          <a:prstGeom prst="round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à coins arrondis 9"/>
          <p:cNvSpPr/>
          <p:nvPr/>
        </p:nvSpPr>
        <p:spPr>
          <a:xfrm>
            <a:off x="6236598" y="204725"/>
            <a:ext cx="831863" cy="1580531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/>
          <p:cNvSpPr txBox="1"/>
          <p:nvPr/>
        </p:nvSpPr>
        <p:spPr>
          <a:xfrm>
            <a:off x="5531271" y="1929320"/>
            <a:ext cx="1689443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Half Bridge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LLC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Rectangle à coins arrondis 10"/>
          <p:cNvSpPr/>
          <p:nvPr/>
        </p:nvSpPr>
        <p:spPr>
          <a:xfrm>
            <a:off x="6652529" y="2447182"/>
            <a:ext cx="831863" cy="1580531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/>
          <p:cNvSpPr txBox="1"/>
          <p:nvPr/>
        </p:nvSpPr>
        <p:spPr>
          <a:xfrm>
            <a:off x="899891" y="1883153"/>
            <a:ext cx="478971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accent6"/>
                </a:solidFill>
              </a:rPr>
              <a:t>HF filtering + rectifier + Boost (PFC)</a:t>
            </a:r>
            <a:endParaRPr lang="en-US" sz="2400" b="1" dirty="0">
              <a:solidFill>
                <a:schemeClr val="accent6"/>
              </a:solidFill>
            </a:endParaRPr>
          </a:p>
        </p:txBody>
      </p:sp>
      <p:sp>
        <p:nvSpPr>
          <p:cNvPr id="16" name="Rectangle à coins arrondis 15"/>
          <p:cNvSpPr/>
          <p:nvPr/>
        </p:nvSpPr>
        <p:spPr>
          <a:xfrm>
            <a:off x="7958357" y="2760317"/>
            <a:ext cx="2549989" cy="1129512"/>
          </a:xfrm>
          <a:prstGeom prst="roundRect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10270009" y="682824"/>
            <a:ext cx="18566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Synchronous rectifier 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(for LLC)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23627" y="2929186"/>
            <a:ext cx="15762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accent6"/>
                </a:solidFill>
              </a:rPr>
              <a:t>Boost (PFC) </a:t>
            </a:r>
          </a:p>
          <a:p>
            <a:pPr algn="ctr"/>
            <a:r>
              <a:rPr lang="en-US" sz="2400" b="1" dirty="0" smtClean="0">
                <a:solidFill>
                  <a:schemeClr val="accent6"/>
                </a:solidFill>
              </a:rPr>
              <a:t>controller</a:t>
            </a:r>
          </a:p>
          <a:p>
            <a:pPr algn="ctr"/>
            <a:r>
              <a:rPr lang="en-US" sz="2400" b="1" dirty="0" smtClean="0">
                <a:solidFill>
                  <a:schemeClr val="accent6"/>
                </a:solidFill>
              </a:rPr>
              <a:t>L4985A</a:t>
            </a:r>
            <a:endParaRPr lang="en-US" sz="2400" b="1" dirty="0">
              <a:solidFill>
                <a:schemeClr val="accent6"/>
              </a:solidFill>
            </a:endParaRPr>
          </a:p>
        </p:txBody>
      </p:sp>
      <p:cxnSp>
        <p:nvCxnSpPr>
          <p:cNvPr id="20" name="Connecteur droit avec flèche 19"/>
          <p:cNvCxnSpPr/>
          <p:nvPr/>
        </p:nvCxnSpPr>
        <p:spPr>
          <a:xfrm>
            <a:off x="1219200" y="3529350"/>
            <a:ext cx="1204686" cy="113736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0" y="4414183"/>
            <a:ext cx="1425826" cy="193899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Half Bridge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LLC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controller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L6699D</a:t>
            </a:r>
            <a:endParaRPr lang="en-US" sz="2400" b="1" dirty="0">
              <a:solidFill>
                <a:srgbClr val="FF0000"/>
              </a:solidFill>
            </a:endParaRPr>
          </a:p>
        </p:txBody>
      </p:sp>
      <p:cxnSp>
        <p:nvCxnSpPr>
          <p:cNvPr id="22" name="Connecteur droit avec flèche 21"/>
          <p:cNvCxnSpPr/>
          <p:nvPr/>
        </p:nvCxnSpPr>
        <p:spPr>
          <a:xfrm flipV="1">
            <a:off x="1219200" y="5007429"/>
            <a:ext cx="1973943" cy="24975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/>
          <p:cNvSpPr txBox="1"/>
          <p:nvPr/>
        </p:nvSpPr>
        <p:spPr>
          <a:xfrm>
            <a:off x="5759937" y="5631043"/>
            <a:ext cx="34258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accent4"/>
                </a:solidFill>
              </a:rPr>
              <a:t>Output measurement + optocoupler (isolation) for Half Bridge LLC</a:t>
            </a:r>
            <a:endParaRPr lang="en-US" sz="2400" b="1" dirty="0">
              <a:solidFill>
                <a:schemeClr val="accent4"/>
              </a:solidFill>
            </a:endParaRPr>
          </a:p>
        </p:txBody>
      </p:sp>
      <p:sp>
        <p:nvSpPr>
          <p:cNvPr id="25" name="Rectangle à coins arrondis 24"/>
          <p:cNvSpPr/>
          <p:nvPr/>
        </p:nvSpPr>
        <p:spPr>
          <a:xfrm>
            <a:off x="6375992" y="3998685"/>
            <a:ext cx="2768396" cy="1632358"/>
          </a:xfrm>
          <a:prstGeom prst="round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772" y="4058754"/>
            <a:ext cx="2978884" cy="2317765"/>
          </a:xfrm>
          <a:prstGeom prst="rect">
            <a:avLst/>
          </a:prstGeom>
        </p:spPr>
      </p:pic>
      <p:sp>
        <p:nvSpPr>
          <p:cNvPr id="17" name="ZoneTexte 16"/>
          <p:cNvSpPr txBox="1"/>
          <p:nvPr/>
        </p:nvSpPr>
        <p:spPr>
          <a:xfrm>
            <a:off x="10528509" y="2883019"/>
            <a:ext cx="13639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accent1"/>
                </a:solidFill>
              </a:rPr>
              <a:t>Output filtering</a:t>
            </a:r>
            <a:endParaRPr lang="en-US"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976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/>
      <p:bldP spid="19" grpId="0"/>
      <p:bldP spid="21" grpId="0" animBg="1"/>
      <p:bldP spid="24" grpId="0"/>
      <p:bldP spid="25" grpId="0" animBg="1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933" y="58056"/>
            <a:ext cx="8622182" cy="670861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16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2479964" y="323850"/>
            <a:ext cx="3925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Example: EVL400W-80PL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10438635" y="877163"/>
            <a:ext cx="13639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accent1"/>
                </a:solidFill>
              </a:rPr>
              <a:t>Output filtering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14" name="Rectangle à coins arrondis 13"/>
          <p:cNvSpPr/>
          <p:nvPr/>
        </p:nvSpPr>
        <p:spPr>
          <a:xfrm rot="19665134">
            <a:off x="7324636" y="1658883"/>
            <a:ext cx="2091200" cy="1946691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/>
          <p:cNvSpPr txBox="1"/>
          <p:nvPr/>
        </p:nvSpPr>
        <p:spPr>
          <a:xfrm>
            <a:off x="8674369" y="3582960"/>
            <a:ext cx="1689443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Half Bridge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LLC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814737" y="-45483"/>
            <a:ext cx="2181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Synchronous rectifier 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(for LLC)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0" name="Rectangle à coins arrondis 9"/>
          <p:cNvSpPr/>
          <p:nvPr/>
        </p:nvSpPr>
        <p:spPr>
          <a:xfrm rot="18950158">
            <a:off x="9019155" y="315196"/>
            <a:ext cx="1396623" cy="3503794"/>
          </a:xfrm>
          <a:prstGeom prst="roundRect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" name="Connecteur droit avec flèche 2"/>
          <p:cNvCxnSpPr/>
          <p:nvPr/>
        </p:nvCxnSpPr>
        <p:spPr>
          <a:xfrm>
            <a:off x="7460343" y="554681"/>
            <a:ext cx="362857" cy="73762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/>
          <p:cNvSpPr txBox="1"/>
          <p:nvPr/>
        </p:nvSpPr>
        <p:spPr>
          <a:xfrm>
            <a:off x="7249946" y="5190101"/>
            <a:ext cx="34035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Half Bridge controller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+</a:t>
            </a:r>
          </a:p>
          <a:p>
            <a:pPr algn="ctr"/>
            <a:r>
              <a:rPr lang="en-US" sz="2400" b="1" dirty="0" smtClean="0">
                <a:solidFill>
                  <a:schemeClr val="accent6"/>
                </a:solidFill>
              </a:rPr>
              <a:t>Boost (PFC) controller</a:t>
            </a:r>
            <a:endParaRPr lang="en-US" sz="2400" b="1" dirty="0">
              <a:solidFill>
                <a:schemeClr val="accent6"/>
              </a:solidFill>
            </a:endParaRPr>
          </a:p>
        </p:txBody>
      </p:sp>
      <p:cxnSp>
        <p:nvCxnSpPr>
          <p:cNvPr id="19" name="Connecteur droit avec flèche 18"/>
          <p:cNvCxnSpPr/>
          <p:nvPr/>
        </p:nvCxnSpPr>
        <p:spPr>
          <a:xfrm flipH="1" flipV="1">
            <a:off x="7823200" y="4310743"/>
            <a:ext cx="976694" cy="87935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à coins arrondis 19"/>
          <p:cNvSpPr/>
          <p:nvPr/>
        </p:nvSpPr>
        <p:spPr>
          <a:xfrm rot="20535240">
            <a:off x="4927568" y="2543583"/>
            <a:ext cx="2447806" cy="3280417"/>
          </a:xfrm>
          <a:prstGeom prst="round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/>
          <p:cNvSpPr txBox="1"/>
          <p:nvPr/>
        </p:nvSpPr>
        <p:spPr>
          <a:xfrm>
            <a:off x="5440429" y="6073134"/>
            <a:ext cx="22558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accent4"/>
                </a:solidFill>
              </a:rPr>
              <a:t>HF input filtering + Boost</a:t>
            </a:r>
            <a:endParaRPr lang="en-US" sz="2400" b="1" dirty="0">
              <a:solidFill>
                <a:schemeClr val="accent4"/>
              </a:solidFill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2460047" y="5238887"/>
            <a:ext cx="1363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accent6"/>
                </a:solidFill>
              </a:rPr>
              <a:t>Rectifier</a:t>
            </a:r>
            <a:endParaRPr lang="en-US" sz="2400" b="1" dirty="0">
              <a:solidFill>
                <a:schemeClr val="accent6"/>
              </a:solidFill>
            </a:endParaRPr>
          </a:p>
        </p:txBody>
      </p:sp>
      <p:cxnSp>
        <p:nvCxnSpPr>
          <p:cNvPr id="23" name="Connecteur droit avec flèche 22"/>
          <p:cNvCxnSpPr/>
          <p:nvPr/>
        </p:nvCxnSpPr>
        <p:spPr>
          <a:xfrm flipV="1">
            <a:off x="3010990" y="4436940"/>
            <a:ext cx="1764082" cy="809079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/>
          <p:cNvSpPr txBox="1"/>
          <p:nvPr/>
        </p:nvSpPr>
        <p:spPr>
          <a:xfrm>
            <a:off x="2535506" y="1139220"/>
            <a:ext cx="3002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accent6"/>
                </a:solidFill>
              </a:rPr>
              <a:t>2 transistors of Boost</a:t>
            </a:r>
            <a:endParaRPr lang="en-US" sz="2400" b="1" dirty="0">
              <a:solidFill>
                <a:schemeClr val="accent6"/>
              </a:solidFill>
            </a:endParaRPr>
          </a:p>
        </p:txBody>
      </p:sp>
      <p:cxnSp>
        <p:nvCxnSpPr>
          <p:cNvPr id="25" name="Connecteur droit avec flèche 24"/>
          <p:cNvCxnSpPr/>
          <p:nvPr/>
        </p:nvCxnSpPr>
        <p:spPr>
          <a:xfrm>
            <a:off x="3984429" y="1600885"/>
            <a:ext cx="1864276" cy="682738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770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 animBg="1"/>
      <p:bldP spid="15" grpId="0" animBg="1"/>
      <p:bldP spid="16" grpId="0"/>
      <p:bldP spid="10" grpId="0" animBg="1"/>
      <p:bldP spid="18" grpId="0"/>
      <p:bldP spid="20" grpId="0" animBg="1"/>
      <p:bldP spid="21" grpId="0"/>
      <p:bldP spid="22" grpId="0"/>
      <p:bldP spid="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17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2479964" y="323850"/>
            <a:ext cx="7715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Example: EVL400W-80PL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601" y="956632"/>
            <a:ext cx="9936254" cy="519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387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12743</TotalTime>
  <Words>366</Words>
  <Application>Microsoft Office PowerPoint</Application>
  <PresentationFormat>Grand écran</PresentationFormat>
  <Paragraphs>190</Paragraphs>
  <Slides>17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Cambria Math</vt:lpstr>
      <vt:lpstr>Myriad Pro</vt:lpstr>
      <vt:lpstr>Wingdings</vt:lpstr>
      <vt:lpstr>ヒラギノ角ゴ Pro W3</vt:lpstr>
      <vt:lpstr>1_Thème Office</vt:lpstr>
      <vt:lpstr>2_Thème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ENERGEN ENERGEN</dc:creator>
  <cp:lastModifiedBy>Alexis MARTIN</cp:lastModifiedBy>
  <cp:revision>242</cp:revision>
  <dcterms:created xsi:type="dcterms:W3CDTF">2021-03-25T13:34:06Z</dcterms:created>
  <dcterms:modified xsi:type="dcterms:W3CDTF">2023-11-21T06:46:36Z</dcterms:modified>
</cp:coreProperties>
</file>