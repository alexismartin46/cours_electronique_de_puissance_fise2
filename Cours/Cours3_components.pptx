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59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319" r:id="rId23"/>
    <p:sldId id="285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04" r:id="rId57"/>
    <p:sldId id="318" r:id="rId5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 varScale="1">
        <p:scale>
          <a:sx n="65" d="100"/>
          <a:sy n="65" d="100"/>
        </p:scale>
        <p:origin x="1038" y="60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61" Type="http://schemas.openxmlformats.org/officeDocument/2006/relationships/viewProps" Target="viewProp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3" Type="http://schemas.openxmlformats.org/officeDocument/2006/relationships/image" Target="../media/image18.wmf"/><Relationship Id="rId7" Type="http://schemas.openxmlformats.org/officeDocument/2006/relationships/image" Target="../media/image22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Relationship Id="rId6" Type="http://schemas.openxmlformats.org/officeDocument/2006/relationships/image" Target="../media/image21.wmf"/><Relationship Id="rId5" Type="http://schemas.openxmlformats.org/officeDocument/2006/relationships/image" Target="../media/image20.wmf"/><Relationship Id="rId4" Type="http://schemas.openxmlformats.org/officeDocument/2006/relationships/image" Target="../media/image19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7.wmf"/></Relationships>
</file>

<file path=ppt/drawings/_rels/vmlDrawing7.vml.rels><?xml version="1.0" encoding="UTF-8" standalone="yes"?>
<Relationships xmlns="http://schemas.openxmlformats.org/package/2006/relationships"><Relationship Id="rId2" Type="http://schemas.openxmlformats.org/officeDocument/2006/relationships/image" Target="../media/image38.wmf"/><Relationship Id="rId1" Type="http://schemas.openxmlformats.org/officeDocument/2006/relationships/image" Target="../media/image3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02/09/2025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 smtClean="0"/>
              <a:t>Autocicatrisation</a:t>
            </a:r>
            <a:r>
              <a:rPr lang="fr-FR" dirty="0" smtClean="0"/>
              <a:t> : apparition d’un arc qui vaporise le film métallique puis apparition d’oxyde isolant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169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8.png"/><Relationship Id="rId4" Type="http://schemas.openxmlformats.org/officeDocument/2006/relationships/image" Target="../media/image4.wmf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7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wmf"/><Relationship Id="rId13" Type="http://schemas.openxmlformats.org/officeDocument/2006/relationships/oleObject" Target="../embeddings/oleObject11.bin"/><Relationship Id="rId18" Type="http://schemas.openxmlformats.org/officeDocument/2006/relationships/image" Target="../media/image23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12" Type="http://schemas.openxmlformats.org/officeDocument/2006/relationships/image" Target="../media/image20.wmf"/><Relationship Id="rId17" Type="http://schemas.openxmlformats.org/officeDocument/2006/relationships/oleObject" Target="../embeddings/oleObject13.bin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22.wmf"/><Relationship Id="rId1" Type="http://schemas.openxmlformats.org/officeDocument/2006/relationships/vmlDrawing" Target="../drawings/vmlDrawing4.vml"/><Relationship Id="rId6" Type="http://schemas.openxmlformats.org/officeDocument/2006/relationships/image" Target="../media/image17.wmf"/><Relationship Id="rId11" Type="http://schemas.openxmlformats.org/officeDocument/2006/relationships/oleObject" Target="../embeddings/oleObject10.bin"/><Relationship Id="rId5" Type="http://schemas.openxmlformats.org/officeDocument/2006/relationships/oleObject" Target="../embeddings/oleObject7.bin"/><Relationship Id="rId15" Type="http://schemas.openxmlformats.org/officeDocument/2006/relationships/oleObject" Target="../embeddings/oleObject12.bin"/><Relationship Id="rId10" Type="http://schemas.openxmlformats.org/officeDocument/2006/relationships/image" Target="../media/image19.wmf"/><Relationship Id="rId4" Type="http://schemas.openxmlformats.org/officeDocument/2006/relationships/image" Target="../media/image16.wmf"/><Relationship Id="rId9" Type="http://schemas.openxmlformats.org/officeDocument/2006/relationships/oleObject" Target="../embeddings/oleObject9.bin"/><Relationship Id="rId14" Type="http://schemas.openxmlformats.org/officeDocument/2006/relationships/image" Target="../media/image21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25.emf"/><Relationship Id="rId4" Type="http://schemas.openxmlformats.org/officeDocument/2006/relationships/image" Target="../media/image24.w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6.vml"/><Relationship Id="rId4" Type="http://schemas.openxmlformats.org/officeDocument/2006/relationships/image" Target="../media/image27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wmf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wmf"/><Relationship Id="rId3" Type="http://schemas.openxmlformats.org/officeDocument/2006/relationships/image" Target="../media/image35.emf"/><Relationship Id="rId7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37.wmf"/><Relationship Id="rId5" Type="http://schemas.openxmlformats.org/officeDocument/2006/relationships/oleObject" Target="../embeddings/oleObject16.bin"/><Relationship Id="rId4" Type="http://schemas.openxmlformats.org/officeDocument/2006/relationships/image" Target="../media/image39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w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wmf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2" Type="http://schemas.openxmlformats.org/officeDocument/2006/relationships/image" Target="../media/image48.w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w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wmf"/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wmf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wmf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image" Target="../media/image62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4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wmf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8.wmf"/><Relationship Id="rId4" Type="http://schemas.openxmlformats.org/officeDocument/2006/relationships/image" Target="../media/image67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wmf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4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emf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1.emf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emf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Energy Conversion I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Switch mode power </a:t>
            </a:r>
            <a:r>
              <a:rPr lang="en-US" sz="2400" dirty="0" smtClean="0"/>
              <a:t>supplies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FF0000"/>
                </a:solidFill>
              </a:rPr>
              <a:t>Power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Passive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Coil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Transformer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Capacitor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Active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Diodes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Transistors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Passive components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0" y="0"/>
            <a:ext cx="2479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Iron core coil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80851"/>
              </p:ext>
            </p:extLst>
          </p:nvPr>
        </p:nvGraphicFramePr>
        <p:xfrm>
          <a:off x="3416657" y="1753281"/>
          <a:ext cx="4103688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7" name="Image" r:id="rId3" imgW="3240024" imgH="1819656" progId="Word.Picture.8">
                  <p:embed/>
                </p:oleObj>
              </mc:Choice>
              <mc:Fallback>
                <p:oleObj name="Image" r:id="rId3" imgW="3240024" imgH="1819656" progId="Word.Picture.8">
                  <p:embed/>
                  <p:pic>
                    <p:nvPicPr>
                      <p:cNvPr id="717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16657" y="1753281"/>
                        <a:ext cx="4103688" cy="2305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0908420"/>
              </p:ext>
            </p:extLst>
          </p:nvPr>
        </p:nvGraphicFramePr>
        <p:xfrm>
          <a:off x="8468082" y="1858056"/>
          <a:ext cx="1727200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8" name="Equation" r:id="rId5" imgW="748975" imgH="355446" progId="Equation.3">
                  <p:embed/>
                </p:oleObj>
              </mc:Choice>
              <mc:Fallback>
                <p:oleObj name="Equation" r:id="rId5" imgW="748975" imgH="355446" progId="Equation.3">
                  <p:embed/>
                  <p:pic>
                    <p:nvPicPr>
                      <p:cNvPr id="71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68082" y="1858056"/>
                        <a:ext cx="1727200" cy="809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867202"/>
              </p:ext>
            </p:extLst>
          </p:nvPr>
        </p:nvGraphicFramePr>
        <p:xfrm>
          <a:off x="9044345" y="2723243"/>
          <a:ext cx="8636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name="Equation" r:id="rId7" imgW="368140" imgH="317362" progId="Equation.3">
                  <p:embed/>
                </p:oleObj>
              </mc:Choice>
              <mc:Fallback>
                <p:oleObj name="Equation" r:id="rId7" imgW="368140" imgH="317362" progId="Equation.3">
                  <p:embed/>
                  <p:pic>
                    <p:nvPicPr>
                      <p:cNvPr id="717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4345" y="2723243"/>
                        <a:ext cx="8636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9"/>
          <p:cNvSpPr>
            <a:spLocks noChangeArrowheads="1"/>
          </p:cNvSpPr>
          <p:nvPr/>
        </p:nvSpPr>
        <p:spPr bwMode="auto">
          <a:xfrm>
            <a:off x="3427770" y="4788581"/>
            <a:ext cx="4103687" cy="1323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= B.S  : elementary flux (real flux)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endParaRPr lang="en-CA" altLang="fr-FR" sz="20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F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</a:t>
            </a:r>
            <a:r>
              <a:rPr lang="en-CA" altLang="fr-FR" sz="2000" b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N.</a:t>
            </a:r>
            <a:r>
              <a:rPr lang="en-CA" altLang="fr-FR" sz="2000" b="1" dirty="0" err="1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L.I   : “total flux” (</a:t>
            </a:r>
            <a:r>
              <a:rPr lang="en-CA" altLang="fr-FR" sz="2000" b="1" dirty="0" smtClean="0">
                <a:solidFill>
                  <a:schemeClr val="tx1"/>
                </a:solidFill>
                <a:latin typeface="Times New Roman" panose="02020603050405020304" pitchFamily="18" charset="0"/>
              </a:rPr>
              <a:t>sawn 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by the electrical circuit)</a:t>
            </a:r>
            <a:endParaRPr lang="en-CA" altLang="fr-FR" sz="18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fr-FR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den>
                      </m:f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Hysteresis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0455507"/>
              </p:ext>
            </p:extLst>
          </p:nvPr>
        </p:nvGraphicFramePr>
        <p:xfrm>
          <a:off x="3094264" y="1426709"/>
          <a:ext cx="4895850" cy="3986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Image" r:id="rId3" imgW="4453128" imgH="3636264" progId="Word.Picture.8">
                  <p:embed/>
                </p:oleObj>
              </mc:Choice>
              <mc:Fallback>
                <p:oleObj name="Image" r:id="rId3" imgW="4453128" imgH="3636264" progId="Word.Picture.8">
                  <p:embed/>
                  <p:pic>
                    <p:nvPicPr>
                      <p:cNvPr id="8201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4264" y="1426709"/>
                        <a:ext cx="4895850" cy="3986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9"/>
          <p:cNvGrpSpPr>
            <a:grpSpLocks/>
          </p:cNvGrpSpPr>
          <p:nvPr/>
        </p:nvGrpSpPr>
        <p:grpSpPr bwMode="auto">
          <a:xfrm>
            <a:off x="8710839" y="1807709"/>
            <a:ext cx="2652713" cy="3927474"/>
            <a:chOff x="3878" y="1221"/>
            <a:chExt cx="1671" cy="2474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V="1">
              <a:off x="4604" y="1434"/>
              <a:ext cx="0" cy="16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"/>
            <p:cNvSpPr>
              <a:spLocks noChangeShapeType="1"/>
            </p:cNvSpPr>
            <p:nvPr/>
          </p:nvSpPr>
          <p:spPr bwMode="auto">
            <a:xfrm>
              <a:off x="3878" y="2296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 flipH="1">
              <a:off x="4195" y="1570"/>
              <a:ext cx="817" cy="1452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13"/>
            <p:cNvSpPr txBox="1">
              <a:spLocks noChangeArrowheads="1"/>
            </p:cNvSpPr>
            <p:nvPr/>
          </p:nvSpPr>
          <p:spPr bwMode="auto">
            <a:xfrm>
              <a:off x="4500" y="1221"/>
              <a:ext cx="2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5329" y="2024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5" name="Text Box 15"/>
            <p:cNvSpPr txBox="1">
              <a:spLocks noChangeArrowheads="1"/>
            </p:cNvSpPr>
            <p:nvPr/>
          </p:nvSpPr>
          <p:spPr bwMode="auto">
            <a:xfrm>
              <a:off x="4140" y="3249"/>
              <a:ext cx="1056" cy="4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Ideal</a:t>
              </a:r>
            </a:p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Characteristic</a:t>
              </a:r>
            </a:p>
          </p:txBody>
        </p:sp>
      </p:grpSp>
      <p:sp>
        <p:nvSpPr>
          <p:cNvPr id="16" name="ZoneTexte 1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59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Stored energy –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3190554" y="1815646"/>
            <a:ext cx="346280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Magnetic energy density stored</a:t>
            </a:r>
          </a:p>
        </p:txBody>
      </p:sp>
      <p:graphicFrame>
        <p:nvGraphicFramePr>
          <p:cNvPr id="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365152"/>
              </p:ext>
            </p:extLst>
          </p:nvPr>
        </p:nvGraphicFramePr>
        <p:xfrm>
          <a:off x="8878567" y="1599746"/>
          <a:ext cx="1403350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1" name="Equation" r:id="rId3" imgW="825142" imgH="406224" progId="Equation.3">
                  <p:embed/>
                </p:oleObj>
              </mc:Choice>
              <mc:Fallback>
                <p:oleObj name="Equation" r:id="rId3" imgW="825142" imgH="406224" progId="Equation.3">
                  <p:embed/>
                  <p:pic>
                    <p:nvPicPr>
                      <p:cNvPr id="922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8567" y="1599746"/>
                        <a:ext cx="1403350" cy="693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3261992" y="2607809"/>
            <a:ext cx="278313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Example : Ferrinox B52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B = 0,4 T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Char char="m"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=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= 2,5 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-3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-1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6556054" y="2841171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32 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3261992" y="3900034"/>
            <a:ext cx="323037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Air-gap :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0 = 4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p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-7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H.m-1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2000" b="1" i="1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6556054" y="3896859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65 kJ/m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10611" y="4987900"/>
            <a:ext cx="5880100" cy="647700"/>
            <a:chOff x="1020" y="3022"/>
            <a:chExt cx="3704" cy="408"/>
          </a:xfrm>
        </p:grpSpPr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2109" y="3067"/>
              <a:ext cx="2615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800" b="1" i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Store energy in the air-gap</a:t>
              </a:r>
            </a:p>
          </p:txBody>
        </p:sp>
        <p:sp>
          <p:nvSpPr>
            <p:cNvPr id="16" name="AutoShape 17"/>
            <p:cNvSpPr>
              <a:spLocks noChangeArrowheads="1"/>
            </p:cNvSpPr>
            <p:nvPr/>
          </p:nvSpPr>
          <p:spPr bwMode="auto">
            <a:xfrm>
              <a:off x="1020" y="3022"/>
              <a:ext cx="681" cy="408"/>
            </a:xfrm>
            <a:prstGeom prst="rightArrow">
              <a:avLst>
                <a:gd name="adj1" fmla="val 50000"/>
                <a:gd name="adj2" fmla="val 41728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CA" altLang="fr-FR" sz="2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6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6865" y="1453389"/>
            <a:ext cx="3716951" cy="3951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771" y="1324655"/>
            <a:ext cx="2866572" cy="4914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4423885" y="5648307"/>
            <a:ext cx="18272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>
                <a:solidFill>
                  <a:schemeClr val="tx1"/>
                </a:solidFill>
                <a:latin typeface="Times New Roman" panose="02020603050405020304" pitchFamily="18" charset="0"/>
              </a:rPr>
              <a:t>ETD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687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With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499179" y="2039856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4"/>
          <p:cNvSpPr>
            <a:spLocks/>
          </p:cNvSpPr>
          <p:nvPr/>
        </p:nvSpPr>
        <p:spPr bwMode="auto">
          <a:xfrm>
            <a:off x="4146878" y="3889950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 rot="10800000">
            <a:off x="4146878" y="1706481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571020" y="2582630"/>
            <a:ext cx="2049687" cy="2618650"/>
            <a:chOff x="1746" y="2001"/>
            <a:chExt cx="590" cy="816"/>
          </a:xfrm>
        </p:grpSpPr>
        <p:sp>
          <p:nvSpPr>
            <p:cNvPr id="19" name="Oval 14"/>
            <p:cNvSpPr>
              <a:spLocks noChangeArrowheads="1"/>
            </p:cNvSpPr>
            <p:nvPr/>
          </p:nvSpPr>
          <p:spPr bwMode="auto">
            <a:xfrm>
              <a:off x="1746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1746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1746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1746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Oval 18"/>
            <p:cNvSpPr>
              <a:spLocks noChangeArrowheads="1"/>
            </p:cNvSpPr>
            <p:nvPr/>
          </p:nvSpPr>
          <p:spPr bwMode="auto">
            <a:xfrm>
              <a:off x="1746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Oval 19"/>
            <p:cNvSpPr>
              <a:spLocks noChangeArrowheads="1"/>
            </p:cNvSpPr>
            <p:nvPr/>
          </p:nvSpPr>
          <p:spPr bwMode="auto">
            <a:xfrm>
              <a:off x="1746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Oval 20"/>
            <p:cNvSpPr>
              <a:spLocks noChangeArrowheads="1"/>
            </p:cNvSpPr>
            <p:nvPr/>
          </p:nvSpPr>
          <p:spPr bwMode="auto">
            <a:xfrm>
              <a:off x="1746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" name="Oval 21"/>
            <p:cNvSpPr>
              <a:spLocks noChangeArrowheads="1"/>
            </p:cNvSpPr>
            <p:nvPr/>
          </p:nvSpPr>
          <p:spPr bwMode="auto">
            <a:xfrm>
              <a:off x="1746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" name="Oval 22"/>
            <p:cNvSpPr>
              <a:spLocks noChangeArrowheads="1"/>
            </p:cNvSpPr>
            <p:nvPr/>
          </p:nvSpPr>
          <p:spPr bwMode="auto">
            <a:xfrm>
              <a:off x="1746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1746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Oval 24"/>
            <p:cNvSpPr>
              <a:spLocks noChangeArrowheads="1"/>
            </p:cNvSpPr>
            <p:nvPr/>
          </p:nvSpPr>
          <p:spPr bwMode="auto">
            <a:xfrm>
              <a:off x="1746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Oval 25"/>
            <p:cNvSpPr>
              <a:spLocks noChangeArrowheads="1"/>
            </p:cNvSpPr>
            <p:nvPr/>
          </p:nvSpPr>
          <p:spPr bwMode="auto">
            <a:xfrm>
              <a:off x="1746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1" name="Oval 26"/>
            <p:cNvSpPr>
              <a:spLocks noChangeArrowheads="1"/>
            </p:cNvSpPr>
            <p:nvPr/>
          </p:nvSpPr>
          <p:spPr bwMode="auto">
            <a:xfrm>
              <a:off x="2268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268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3" name="Oval 28"/>
            <p:cNvSpPr>
              <a:spLocks noChangeArrowheads="1"/>
            </p:cNvSpPr>
            <p:nvPr/>
          </p:nvSpPr>
          <p:spPr bwMode="auto">
            <a:xfrm>
              <a:off x="2268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4" name="Oval 29"/>
            <p:cNvSpPr>
              <a:spLocks noChangeArrowheads="1"/>
            </p:cNvSpPr>
            <p:nvPr/>
          </p:nvSpPr>
          <p:spPr bwMode="auto">
            <a:xfrm>
              <a:off x="2268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2268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2268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2268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268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268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2268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2268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2268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5131786" y="2571880"/>
            <a:ext cx="2920013" cy="2618650"/>
            <a:chOff x="1633" y="2024"/>
            <a:chExt cx="815" cy="816"/>
          </a:xfrm>
        </p:grpSpPr>
        <p:sp>
          <p:nvSpPr>
            <p:cNvPr id="44" name="AutoShape 39"/>
            <p:cNvSpPr>
              <a:spLocks noChangeArrowheads="1"/>
            </p:cNvSpPr>
            <p:nvPr/>
          </p:nvSpPr>
          <p:spPr bwMode="auto">
            <a:xfrm>
              <a:off x="1633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AutoShape 40"/>
            <p:cNvSpPr>
              <a:spLocks noChangeArrowheads="1"/>
            </p:cNvSpPr>
            <p:nvPr/>
          </p:nvSpPr>
          <p:spPr bwMode="auto">
            <a:xfrm>
              <a:off x="1633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AutoShape 41"/>
            <p:cNvSpPr>
              <a:spLocks noChangeArrowheads="1"/>
            </p:cNvSpPr>
            <p:nvPr/>
          </p:nvSpPr>
          <p:spPr bwMode="auto">
            <a:xfrm>
              <a:off x="1633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AutoShape 42"/>
            <p:cNvSpPr>
              <a:spLocks noChangeArrowheads="1"/>
            </p:cNvSpPr>
            <p:nvPr/>
          </p:nvSpPr>
          <p:spPr bwMode="auto">
            <a:xfrm>
              <a:off x="1633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3"/>
            <p:cNvSpPr>
              <a:spLocks noChangeArrowheads="1"/>
            </p:cNvSpPr>
            <p:nvPr/>
          </p:nvSpPr>
          <p:spPr bwMode="auto">
            <a:xfrm>
              <a:off x="1633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AutoShape 44"/>
            <p:cNvSpPr>
              <a:spLocks noChangeArrowheads="1"/>
            </p:cNvSpPr>
            <p:nvPr/>
          </p:nvSpPr>
          <p:spPr bwMode="auto">
            <a:xfrm>
              <a:off x="1633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AutoShape 45"/>
            <p:cNvSpPr>
              <a:spLocks noChangeArrowheads="1"/>
            </p:cNvSpPr>
            <p:nvPr/>
          </p:nvSpPr>
          <p:spPr bwMode="auto">
            <a:xfrm>
              <a:off x="2358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AutoShape 46"/>
            <p:cNvSpPr>
              <a:spLocks noChangeArrowheads="1"/>
            </p:cNvSpPr>
            <p:nvPr/>
          </p:nvSpPr>
          <p:spPr bwMode="auto">
            <a:xfrm>
              <a:off x="2358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AutoShape 47"/>
            <p:cNvSpPr>
              <a:spLocks noChangeArrowheads="1"/>
            </p:cNvSpPr>
            <p:nvPr/>
          </p:nvSpPr>
          <p:spPr bwMode="auto">
            <a:xfrm>
              <a:off x="2358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AutoShape 48"/>
            <p:cNvSpPr>
              <a:spLocks noChangeArrowheads="1"/>
            </p:cNvSpPr>
            <p:nvPr/>
          </p:nvSpPr>
          <p:spPr bwMode="auto">
            <a:xfrm>
              <a:off x="2358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AutoShape 49"/>
            <p:cNvSpPr>
              <a:spLocks noChangeArrowheads="1"/>
            </p:cNvSpPr>
            <p:nvPr/>
          </p:nvSpPr>
          <p:spPr bwMode="auto">
            <a:xfrm>
              <a:off x="2358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AutoShape 50"/>
            <p:cNvSpPr>
              <a:spLocks noChangeArrowheads="1"/>
            </p:cNvSpPr>
            <p:nvPr/>
          </p:nvSpPr>
          <p:spPr bwMode="auto">
            <a:xfrm>
              <a:off x="2358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5494722" y="2533515"/>
            <a:ext cx="2205753" cy="2766270"/>
            <a:chOff x="1723" y="2001"/>
            <a:chExt cx="636" cy="862"/>
          </a:xfrm>
        </p:grpSpPr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723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2336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4146878" y="1706480"/>
            <a:ext cx="4876240" cy="436888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4504004" y="2163969"/>
            <a:ext cx="4248501" cy="3491533"/>
            <a:chOff x="1111" y="1684"/>
            <a:chExt cx="1225" cy="1088"/>
          </a:xfrm>
        </p:grpSpPr>
        <p:sp>
          <p:nvSpPr>
            <p:cNvPr id="62" name="AutoShape 57"/>
            <p:cNvSpPr>
              <a:spLocks noChangeArrowheads="1"/>
            </p:cNvSpPr>
            <p:nvPr/>
          </p:nvSpPr>
          <p:spPr bwMode="auto">
            <a:xfrm>
              <a:off x="1769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AutoShape 58"/>
            <p:cNvSpPr>
              <a:spLocks noChangeArrowheads="1"/>
            </p:cNvSpPr>
            <p:nvPr/>
          </p:nvSpPr>
          <p:spPr bwMode="auto">
            <a:xfrm>
              <a:off x="1111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10451" y="2434610"/>
            <a:ext cx="3149094" cy="2910679"/>
            <a:chOff x="5010451" y="2434610"/>
            <a:chExt cx="3149094" cy="2910679"/>
          </a:xfrm>
          <a:solidFill>
            <a:schemeClr val="bg2">
              <a:lumMod val="75000"/>
            </a:schemeClr>
          </a:solidFill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5090219" y="2434610"/>
              <a:ext cx="2989558" cy="2910679"/>
              <a:chOff x="1610" y="1979"/>
              <a:chExt cx="862" cy="907"/>
            </a:xfrm>
            <a:grpFill/>
          </p:grpSpPr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1814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>
                <a:off x="1610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9"/>
              <p:cNvSpPr>
                <a:spLocks noChangeArrowheads="1"/>
              </p:cNvSpPr>
              <p:nvPr/>
            </p:nvSpPr>
            <p:spPr bwMode="auto">
              <a:xfrm>
                <a:off x="1610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>
                <a:off x="2268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1"/>
              <p:cNvSpPr>
                <a:spLocks noChangeArrowheads="1"/>
              </p:cNvSpPr>
              <p:nvPr/>
            </p:nvSpPr>
            <p:spPr bwMode="auto">
              <a:xfrm>
                <a:off x="2268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2"/>
              <p:cNvSpPr>
                <a:spLocks noChangeArrowheads="1"/>
              </p:cNvSpPr>
              <p:nvPr/>
            </p:nvSpPr>
            <p:spPr bwMode="auto">
              <a:xfrm>
                <a:off x="2245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5" name="Rectangle 12"/>
            <p:cNvSpPr>
              <a:spLocks noChangeArrowheads="1"/>
            </p:cNvSpPr>
            <p:nvPr/>
          </p:nvSpPr>
          <p:spPr bwMode="auto">
            <a:xfrm>
              <a:off x="8079777" y="2437929"/>
              <a:ext cx="79768" cy="2902816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Rectangle 12"/>
            <p:cNvSpPr>
              <a:spLocks noChangeArrowheads="1"/>
            </p:cNvSpPr>
            <p:nvPr/>
          </p:nvSpPr>
          <p:spPr bwMode="auto">
            <a:xfrm>
              <a:off x="5010451" y="2434610"/>
              <a:ext cx="79768" cy="290613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4" name="AutoShape 59"/>
          <p:cNvSpPr>
            <a:spLocks/>
          </p:cNvSpPr>
          <p:nvPr/>
        </p:nvSpPr>
        <p:spPr bwMode="auto">
          <a:xfrm>
            <a:off x="10195282" y="5230557"/>
            <a:ext cx="1008062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103995"/>
              <a:gd name="adj5" fmla="val -2598"/>
              <a:gd name="adj6" fmla="val -216987"/>
            </a:avLst>
          </a:prstGeom>
          <a:noFill/>
          <a:ln w="19050">
            <a:solidFill>
              <a:srgbClr val="FF99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window</a:t>
            </a:r>
          </a:p>
        </p:txBody>
      </p:sp>
      <p:sp>
        <p:nvSpPr>
          <p:cNvPr id="60" name="AutoShape 55"/>
          <p:cNvSpPr>
            <a:spLocks/>
          </p:cNvSpPr>
          <p:nvPr/>
        </p:nvSpPr>
        <p:spPr bwMode="auto">
          <a:xfrm>
            <a:off x="10195282" y="1339768"/>
            <a:ext cx="914400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95139"/>
              <a:gd name="adj5" fmla="val 664935"/>
              <a:gd name="adj6" fmla="val -401736"/>
            </a:avLst>
          </a:prstGeom>
          <a:noFill/>
          <a:ln w="19050">
            <a:solidFill>
              <a:srgbClr val="339966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65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5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4" grpId="0" animBg="1"/>
      <p:bldP spid="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 a Forward : closed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limentation-a-decoupage-reduction-du-bruit-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47" y="1323068"/>
            <a:ext cx="6596382" cy="4874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6284622" y="4544459"/>
            <a:ext cx="157003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0" name="ZoneTexte 7"/>
          <p:cNvSpPr txBox="1">
            <a:spLocks noChangeArrowheads="1"/>
          </p:cNvSpPr>
          <p:nvPr/>
        </p:nvSpPr>
        <p:spPr bwMode="auto">
          <a:xfrm>
            <a:off x="6159712" y="5366603"/>
            <a:ext cx="181985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953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pot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900" y="1701712"/>
            <a:ext cx="3438525" cy="330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313" y="1341349"/>
            <a:ext cx="3211512" cy="506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8951592" y="5423151"/>
            <a:ext cx="1459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RM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258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Torus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7" descr="pot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41" y="1830160"/>
            <a:ext cx="4712336" cy="3365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 descr="pot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277" y="1285195"/>
            <a:ext cx="2438400" cy="490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71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circuits parameters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4896303" y="1989138"/>
            <a:ext cx="3600450" cy="3529012"/>
            <a:chOff x="1202" y="1298"/>
            <a:chExt cx="2268" cy="2223"/>
          </a:xfrm>
        </p:grpSpPr>
        <p:sp>
          <p:nvSpPr>
            <p:cNvPr id="7" name="Rectangle 8"/>
            <p:cNvSpPr>
              <a:spLocks noChangeArrowheads="1"/>
            </p:cNvSpPr>
            <p:nvPr/>
          </p:nvSpPr>
          <p:spPr bwMode="auto">
            <a:xfrm>
              <a:off x="1202" y="1298"/>
              <a:ext cx="2268" cy="22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383" y="1480"/>
              <a:ext cx="1860" cy="1814"/>
              <a:chOff x="1383" y="1480"/>
              <a:chExt cx="1860" cy="1814"/>
            </a:xfrm>
          </p:grpSpPr>
          <p:sp>
            <p:nvSpPr>
              <p:cNvPr id="11" name="AutoShape 10"/>
              <p:cNvSpPr>
                <a:spLocks noChangeArrowheads="1"/>
              </p:cNvSpPr>
              <p:nvPr/>
            </p:nvSpPr>
            <p:spPr bwMode="auto">
              <a:xfrm>
                <a:off x="1429" y="1480"/>
                <a:ext cx="1814" cy="181"/>
              </a:xfrm>
              <a:prstGeom prst="parallelogram">
                <a:avLst>
                  <a:gd name="adj" fmla="val 123699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AutoShape 11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814" cy="227"/>
              </a:xfrm>
              <a:prstGeom prst="parallelogram">
                <a:avLst>
                  <a:gd name="adj" fmla="val 78395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AutoShape 14"/>
              <p:cNvSpPr>
                <a:spLocks noChangeArrowheads="1"/>
              </p:cNvSpPr>
              <p:nvPr/>
            </p:nvSpPr>
            <p:spPr bwMode="auto">
              <a:xfrm rot="5400000" flipH="1">
                <a:off x="1270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AutoShape 15"/>
              <p:cNvSpPr>
                <a:spLocks noChangeArrowheads="1"/>
              </p:cNvSpPr>
              <p:nvPr/>
            </p:nvSpPr>
            <p:spPr bwMode="auto">
              <a:xfrm>
                <a:off x="1746" y="2795"/>
                <a:ext cx="1179" cy="181"/>
              </a:xfrm>
              <a:prstGeom prst="parallelogram">
                <a:avLst>
                  <a:gd name="adj" fmla="val 12680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AutoShape 16"/>
              <p:cNvSpPr>
                <a:spLocks noChangeArrowheads="1"/>
              </p:cNvSpPr>
              <p:nvPr/>
            </p:nvSpPr>
            <p:spPr bwMode="auto">
              <a:xfrm>
                <a:off x="1746" y="1797"/>
                <a:ext cx="1179" cy="181"/>
              </a:xfrm>
              <a:prstGeom prst="parallelogram">
                <a:avLst>
                  <a:gd name="adj" fmla="val 12680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AutoShape 17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9" name="Rectangle 18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31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Rectangle 19"/>
              <p:cNvSpPr>
                <a:spLocks noChangeArrowheads="1"/>
              </p:cNvSpPr>
              <p:nvPr/>
            </p:nvSpPr>
            <p:spPr bwMode="auto">
              <a:xfrm>
                <a:off x="2699" y="1888"/>
                <a:ext cx="317" cy="131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" name="Rectangle 21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1837" y="2341"/>
                <a:ext cx="136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1383" y="2478"/>
                <a:ext cx="227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5" name="AutoShape 24"/>
              <p:cNvSpPr>
                <a:spLocks noChangeArrowheads="1"/>
              </p:cNvSpPr>
              <p:nvPr/>
            </p:nvSpPr>
            <p:spPr bwMode="auto">
              <a:xfrm>
                <a:off x="1429" y="2432"/>
                <a:ext cx="544" cy="136"/>
              </a:xfrm>
              <a:prstGeom prst="parallelogram">
                <a:avLst>
                  <a:gd name="adj" fmla="val 171574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" name="Rectangle 25"/>
              <p:cNvSpPr>
                <a:spLocks noChangeArrowheads="1"/>
              </p:cNvSpPr>
              <p:nvPr/>
            </p:nvSpPr>
            <p:spPr bwMode="auto">
              <a:xfrm>
                <a:off x="1429" y="2387"/>
                <a:ext cx="317" cy="9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>
                <a:off x="1429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>
                <a:off x="1429" y="2478"/>
                <a:ext cx="3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8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AutoShape 29"/>
              <p:cNvSpPr>
                <a:spLocks noChangeArrowheads="1"/>
              </p:cNvSpPr>
              <p:nvPr/>
            </p:nvSpPr>
            <p:spPr bwMode="auto">
              <a:xfrm rot="16200000" flipH="1">
                <a:off x="1746" y="2251"/>
                <a:ext cx="228" cy="227"/>
              </a:xfrm>
              <a:prstGeom prst="parallelogram">
                <a:avLst>
                  <a:gd name="adj" fmla="val 64752"/>
                </a:avLst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Line 30"/>
              <p:cNvSpPr>
                <a:spLocks noChangeShapeType="1"/>
              </p:cNvSpPr>
              <p:nvPr/>
            </p:nvSpPr>
            <p:spPr bwMode="auto">
              <a:xfrm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31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227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32"/>
              <p:cNvSpPr>
                <a:spLocks noChangeShapeType="1"/>
              </p:cNvSpPr>
              <p:nvPr/>
            </p:nvSpPr>
            <p:spPr bwMode="auto">
              <a:xfrm flipV="1">
                <a:off x="1973" y="2251"/>
                <a:ext cx="0" cy="9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34" name="Line 33"/>
          <p:cNvSpPr>
            <a:spLocks noChangeShapeType="1"/>
          </p:cNvSpPr>
          <p:nvPr/>
        </p:nvSpPr>
        <p:spPr bwMode="auto">
          <a:xfrm flipH="1">
            <a:off x="4175578" y="3860800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4175578" y="4005263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93066" y="3573463"/>
            <a:ext cx="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V="1">
            <a:off x="4393066" y="40052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4393066" y="378936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8"/>
          <p:cNvSpPr txBox="1">
            <a:spLocks noChangeArrowheads="1"/>
          </p:cNvSpPr>
          <p:nvPr/>
        </p:nvSpPr>
        <p:spPr bwMode="auto">
          <a:xfrm>
            <a:off x="3867603" y="3738563"/>
            <a:ext cx="285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0" name="AutoShape 39"/>
          <p:cNvSpPr>
            <a:spLocks/>
          </p:cNvSpPr>
          <p:nvPr/>
        </p:nvSpPr>
        <p:spPr bwMode="auto">
          <a:xfrm>
            <a:off x="8788853" y="1585913"/>
            <a:ext cx="1868488" cy="763587"/>
          </a:xfrm>
          <a:prstGeom prst="borderCallout2">
            <a:avLst>
              <a:gd name="adj1" fmla="val 14968"/>
              <a:gd name="adj2" fmla="val -4079"/>
              <a:gd name="adj3" fmla="val 14968"/>
              <a:gd name="adj4" fmla="val -53185"/>
              <a:gd name="adj5" fmla="val 222454"/>
              <a:gd name="adj6" fmla="val -104250"/>
            </a:avLst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Surface “coilable”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b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1" name="Text Box 40"/>
          <p:cNvSpPr txBox="1">
            <a:spLocks noChangeArrowheads="1"/>
          </p:cNvSpPr>
          <p:nvPr/>
        </p:nvSpPr>
        <p:spPr bwMode="auto">
          <a:xfrm>
            <a:off x="3240541" y="3357563"/>
            <a:ext cx="898525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42" name="AutoShape 41"/>
          <p:cNvSpPr>
            <a:spLocks noChangeArrowheads="1"/>
          </p:cNvSpPr>
          <p:nvPr/>
        </p:nvSpPr>
        <p:spPr bwMode="auto">
          <a:xfrm>
            <a:off x="7272791" y="3789363"/>
            <a:ext cx="863600" cy="215900"/>
          </a:xfrm>
          <a:prstGeom prst="parallelogram">
            <a:avLst>
              <a:gd name="adj" fmla="val 173944"/>
            </a:avLst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3" name="AutoShape 42"/>
          <p:cNvSpPr>
            <a:spLocks/>
          </p:cNvSpPr>
          <p:nvPr/>
        </p:nvSpPr>
        <p:spPr bwMode="auto">
          <a:xfrm>
            <a:off x="9220653" y="2809875"/>
            <a:ext cx="1652588" cy="763588"/>
          </a:xfrm>
          <a:prstGeom prst="borderCallout2">
            <a:avLst>
              <a:gd name="adj1" fmla="val 14968"/>
              <a:gd name="adj2" fmla="val -4611"/>
              <a:gd name="adj3" fmla="val 14968"/>
              <a:gd name="adj4" fmla="val -40921"/>
              <a:gd name="adj5" fmla="val 137630"/>
              <a:gd name="adj6" fmla="val -7867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Effective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4" name="Text Box 43"/>
          <p:cNvSpPr txBox="1">
            <a:spLocks noChangeArrowheads="1"/>
          </p:cNvSpPr>
          <p:nvPr/>
        </p:nvSpPr>
        <p:spPr bwMode="auto">
          <a:xfrm>
            <a:off x="4391478" y="5691188"/>
            <a:ext cx="5888038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Inductance factor: </a:t>
            </a: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L  </a:t>
            </a: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= Inductance obtained with ONE loop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01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Critical constraints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614058" y="1955524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Induction in the material: B &lt; </a:t>
            </a:r>
            <a:r>
              <a:rPr lang="en-CA" altLang="fr-FR" sz="2400" b="1" i="1" dirty="0" err="1">
                <a:latin typeface="Times New Roman" panose="02020603050405020304" pitchFamily="18" charset="0"/>
              </a:rPr>
              <a:t>B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sat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	0,2 to 0,5 T for classical materials</a:t>
            </a:r>
          </a:p>
          <a:p>
            <a:pPr>
              <a:spcBef>
                <a:spcPct val="0"/>
              </a:spcBef>
            </a:pPr>
            <a:endParaRPr lang="en-CA" altLang="fr-FR" sz="2400" b="1" i="1" dirty="0" smtClean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Current density in the coil: </a:t>
            </a:r>
            <a:r>
              <a:rPr lang="en-CA" altLang="fr-FR" sz="2400" b="1" i="1" dirty="0">
                <a:latin typeface="Symbol" panose="05050102010706020507" pitchFamily="18" charset="2"/>
              </a:rPr>
              <a:t>d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&lt; </a:t>
            </a:r>
            <a:r>
              <a:rPr lang="en-CA" altLang="fr-FR" sz="2400" b="1" i="1" dirty="0" err="1">
                <a:latin typeface="Symbol" panose="05050102010706020507" pitchFamily="18" charset="2"/>
              </a:rPr>
              <a:t>d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max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baseline="-25000" dirty="0">
                <a:latin typeface="Times New Roman" panose="02020603050405020304" pitchFamily="18" charset="0"/>
              </a:rPr>
              <a:t>	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5 A/mm</a:t>
            </a:r>
            <a:r>
              <a:rPr lang="en-CA" altLang="fr-FR" sz="2400" b="1" i="1" baseline="30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 copper</a:t>
            </a:r>
          </a:p>
          <a:p>
            <a:pPr>
              <a:spcBef>
                <a:spcPct val="0"/>
              </a:spcBef>
            </a:pPr>
            <a:endParaRPr lang="en-CA" altLang="fr-FR" sz="2400" b="1" i="1" dirty="0" smtClean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60521" y="4876217"/>
            <a:ext cx="3636000" cy="684000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altLang="fr-FR" sz="2800" b="1" i="1" dirty="0">
                <a:latin typeface="Times New Roman" panose="02020603050405020304" pitchFamily="18" charset="0"/>
              </a:rPr>
              <a:t>Sizing : product 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A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e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.S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b</a:t>
            </a:r>
            <a:endParaRPr lang="en-CA" altLang="fr-FR" sz="2800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957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2935650" y="1172309"/>
            <a:ext cx="3169652" cy="1889607"/>
            <a:chOff x="603" y="1355"/>
            <a:chExt cx="1642" cy="896"/>
          </a:xfrm>
        </p:grpSpPr>
        <p:grpSp>
          <p:nvGrpSpPr>
            <p:cNvPr id="7" name="Group 8"/>
            <p:cNvGrpSpPr>
              <a:grpSpLocks/>
            </p:cNvGrpSpPr>
            <p:nvPr/>
          </p:nvGrpSpPr>
          <p:grpSpPr bwMode="auto">
            <a:xfrm>
              <a:off x="1241" y="1619"/>
              <a:ext cx="360" cy="632"/>
              <a:chOff x="2767" y="1426"/>
              <a:chExt cx="360" cy="632"/>
            </a:xfrm>
          </p:grpSpPr>
          <p:grpSp>
            <p:nvGrpSpPr>
              <p:cNvPr id="24" name="Group 9"/>
              <p:cNvGrpSpPr>
                <a:grpSpLocks/>
              </p:cNvGrpSpPr>
              <p:nvPr/>
            </p:nvGrpSpPr>
            <p:grpSpPr bwMode="auto">
              <a:xfrm>
                <a:off x="2767" y="1482"/>
                <a:ext cx="120" cy="528"/>
                <a:chOff x="2767" y="1482"/>
                <a:chExt cx="120" cy="528"/>
              </a:xfrm>
            </p:grpSpPr>
            <p:grpSp>
              <p:nvGrpSpPr>
                <p:cNvPr id="78" name="Group 10"/>
                <p:cNvGrpSpPr>
                  <a:grpSpLocks/>
                </p:cNvGrpSpPr>
                <p:nvPr/>
              </p:nvGrpSpPr>
              <p:grpSpPr bwMode="auto">
                <a:xfrm>
                  <a:off x="2767" y="1854"/>
                  <a:ext cx="120" cy="64"/>
                  <a:chOff x="2767" y="1854"/>
                  <a:chExt cx="120" cy="64"/>
                </a:xfrm>
              </p:grpSpPr>
              <p:grpSp>
                <p:nvGrpSpPr>
                  <p:cNvPr id="118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767" y="1854"/>
                    <a:ext cx="120" cy="52"/>
                    <a:chOff x="2767" y="1854"/>
                    <a:chExt cx="120" cy="52"/>
                  </a:xfrm>
                </p:grpSpPr>
                <p:sp>
                  <p:nvSpPr>
                    <p:cNvPr id="122" name="Arc 12"/>
                    <p:cNvSpPr>
                      <a:spLocks/>
                    </p:cNvSpPr>
                    <p:nvPr/>
                  </p:nvSpPr>
                  <p:spPr bwMode="auto">
                    <a:xfrm>
                      <a:off x="2827" y="1854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3" name="Arc 13"/>
                    <p:cNvSpPr>
                      <a:spLocks/>
                    </p:cNvSpPr>
                    <p:nvPr/>
                  </p:nvSpPr>
                  <p:spPr bwMode="auto">
                    <a:xfrm>
                      <a:off x="2767" y="1882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9" name="Group 14"/>
                  <p:cNvGrpSpPr>
                    <a:grpSpLocks/>
                  </p:cNvGrpSpPr>
                  <p:nvPr/>
                </p:nvGrpSpPr>
                <p:grpSpPr bwMode="auto">
                  <a:xfrm>
                    <a:off x="2767" y="1866"/>
                    <a:ext cx="120" cy="52"/>
                    <a:chOff x="2767" y="1866"/>
                    <a:chExt cx="120" cy="52"/>
                  </a:xfrm>
                </p:grpSpPr>
                <p:sp>
                  <p:nvSpPr>
                    <p:cNvPr id="120" name="Arc 15"/>
                    <p:cNvSpPr>
                      <a:spLocks/>
                    </p:cNvSpPr>
                    <p:nvPr/>
                  </p:nvSpPr>
                  <p:spPr bwMode="auto">
                    <a:xfrm>
                      <a:off x="2827" y="1866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1" name="Arc 16"/>
                    <p:cNvSpPr>
                      <a:spLocks/>
                    </p:cNvSpPr>
                    <p:nvPr/>
                  </p:nvSpPr>
                  <p:spPr bwMode="auto">
                    <a:xfrm>
                      <a:off x="2767" y="1866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79" name="Group 17"/>
                <p:cNvGrpSpPr>
                  <a:grpSpLocks/>
                </p:cNvGrpSpPr>
                <p:nvPr/>
              </p:nvGrpSpPr>
              <p:grpSpPr bwMode="auto">
                <a:xfrm>
                  <a:off x="2767" y="1798"/>
                  <a:ext cx="120" cy="64"/>
                  <a:chOff x="2767" y="1798"/>
                  <a:chExt cx="120" cy="64"/>
                </a:xfrm>
              </p:grpSpPr>
              <p:grpSp>
                <p:nvGrpSpPr>
                  <p:cNvPr id="11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2767" y="1798"/>
                    <a:ext cx="120" cy="52"/>
                    <a:chOff x="2767" y="1798"/>
                    <a:chExt cx="120" cy="52"/>
                  </a:xfrm>
                </p:grpSpPr>
                <p:sp>
                  <p:nvSpPr>
                    <p:cNvPr id="116" name="Arc 19"/>
                    <p:cNvSpPr>
                      <a:spLocks/>
                    </p:cNvSpPr>
                    <p:nvPr/>
                  </p:nvSpPr>
                  <p:spPr bwMode="auto">
                    <a:xfrm>
                      <a:off x="2827" y="1798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7" name="Arc 20"/>
                    <p:cNvSpPr>
                      <a:spLocks/>
                    </p:cNvSpPr>
                    <p:nvPr/>
                  </p:nvSpPr>
                  <p:spPr bwMode="auto">
                    <a:xfrm>
                      <a:off x="2767" y="1826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3" name="Group 21"/>
                  <p:cNvGrpSpPr>
                    <a:grpSpLocks/>
                  </p:cNvGrpSpPr>
                  <p:nvPr/>
                </p:nvGrpSpPr>
                <p:grpSpPr bwMode="auto">
                  <a:xfrm>
                    <a:off x="2767" y="1810"/>
                    <a:ext cx="120" cy="52"/>
                    <a:chOff x="2767" y="1810"/>
                    <a:chExt cx="120" cy="52"/>
                  </a:xfrm>
                </p:grpSpPr>
                <p:sp>
                  <p:nvSpPr>
                    <p:cNvPr id="114" name="Arc 22"/>
                    <p:cNvSpPr>
                      <a:spLocks/>
                    </p:cNvSpPr>
                    <p:nvPr/>
                  </p:nvSpPr>
                  <p:spPr bwMode="auto">
                    <a:xfrm>
                      <a:off x="2827" y="1810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5" name="Arc 23"/>
                    <p:cNvSpPr>
                      <a:spLocks/>
                    </p:cNvSpPr>
                    <p:nvPr/>
                  </p:nvSpPr>
                  <p:spPr bwMode="auto">
                    <a:xfrm>
                      <a:off x="2767" y="1810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0" name="Group 24"/>
                <p:cNvGrpSpPr>
                  <a:grpSpLocks/>
                </p:cNvGrpSpPr>
                <p:nvPr/>
              </p:nvGrpSpPr>
              <p:grpSpPr bwMode="auto">
                <a:xfrm>
                  <a:off x="2767" y="1742"/>
                  <a:ext cx="120" cy="64"/>
                  <a:chOff x="2767" y="1742"/>
                  <a:chExt cx="120" cy="64"/>
                </a:xfrm>
              </p:grpSpPr>
              <p:grpSp>
                <p:nvGrpSpPr>
                  <p:cNvPr id="106" name="Group 25"/>
                  <p:cNvGrpSpPr>
                    <a:grpSpLocks/>
                  </p:cNvGrpSpPr>
                  <p:nvPr/>
                </p:nvGrpSpPr>
                <p:grpSpPr bwMode="auto">
                  <a:xfrm>
                    <a:off x="2767" y="1742"/>
                    <a:ext cx="120" cy="52"/>
                    <a:chOff x="2767" y="1742"/>
                    <a:chExt cx="120" cy="52"/>
                  </a:xfrm>
                </p:grpSpPr>
                <p:sp>
                  <p:nvSpPr>
                    <p:cNvPr id="110" name="Arc 26"/>
                    <p:cNvSpPr>
                      <a:spLocks/>
                    </p:cNvSpPr>
                    <p:nvPr/>
                  </p:nvSpPr>
                  <p:spPr bwMode="auto">
                    <a:xfrm>
                      <a:off x="2827" y="1742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1" name="Arc 27"/>
                    <p:cNvSpPr>
                      <a:spLocks/>
                    </p:cNvSpPr>
                    <p:nvPr/>
                  </p:nvSpPr>
                  <p:spPr bwMode="auto">
                    <a:xfrm>
                      <a:off x="2767" y="1770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7" name="Group 28"/>
                  <p:cNvGrpSpPr>
                    <a:grpSpLocks/>
                  </p:cNvGrpSpPr>
                  <p:nvPr/>
                </p:nvGrpSpPr>
                <p:grpSpPr bwMode="auto">
                  <a:xfrm>
                    <a:off x="2767" y="1754"/>
                    <a:ext cx="120" cy="52"/>
                    <a:chOff x="2767" y="1754"/>
                    <a:chExt cx="120" cy="52"/>
                  </a:xfrm>
                </p:grpSpPr>
                <p:sp>
                  <p:nvSpPr>
                    <p:cNvPr id="108" name="Arc 29"/>
                    <p:cNvSpPr>
                      <a:spLocks/>
                    </p:cNvSpPr>
                    <p:nvPr/>
                  </p:nvSpPr>
                  <p:spPr bwMode="auto">
                    <a:xfrm>
                      <a:off x="2827" y="175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9" name="Arc 30"/>
                    <p:cNvSpPr>
                      <a:spLocks/>
                    </p:cNvSpPr>
                    <p:nvPr/>
                  </p:nvSpPr>
                  <p:spPr bwMode="auto">
                    <a:xfrm>
                      <a:off x="2767" y="1754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1" name="Group 31"/>
                <p:cNvGrpSpPr>
                  <a:grpSpLocks/>
                </p:cNvGrpSpPr>
                <p:nvPr/>
              </p:nvGrpSpPr>
              <p:grpSpPr bwMode="auto">
                <a:xfrm>
                  <a:off x="2767" y="1686"/>
                  <a:ext cx="120" cy="60"/>
                  <a:chOff x="2767" y="1686"/>
                  <a:chExt cx="120" cy="60"/>
                </a:xfrm>
              </p:grpSpPr>
              <p:grpSp>
                <p:nvGrpSpPr>
                  <p:cNvPr id="100" name="Group 32"/>
                  <p:cNvGrpSpPr>
                    <a:grpSpLocks/>
                  </p:cNvGrpSpPr>
                  <p:nvPr/>
                </p:nvGrpSpPr>
                <p:grpSpPr bwMode="auto">
                  <a:xfrm>
                    <a:off x="2767" y="1686"/>
                    <a:ext cx="120" cy="52"/>
                    <a:chOff x="2767" y="1686"/>
                    <a:chExt cx="120" cy="52"/>
                  </a:xfrm>
                </p:grpSpPr>
                <p:sp>
                  <p:nvSpPr>
                    <p:cNvPr id="104" name="Arc 33"/>
                    <p:cNvSpPr>
                      <a:spLocks/>
                    </p:cNvSpPr>
                    <p:nvPr/>
                  </p:nvSpPr>
                  <p:spPr bwMode="auto">
                    <a:xfrm>
                      <a:off x="2827" y="1686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5" name="Arc 34"/>
                    <p:cNvSpPr>
                      <a:spLocks/>
                    </p:cNvSpPr>
                    <p:nvPr/>
                  </p:nvSpPr>
                  <p:spPr bwMode="auto">
                    <a:xfrm>
                      <a:off x="2767" y="171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1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2767" y="1698"/>
                    <a:ext cx="120" cy="48"/>
                    <a:chOff x="2767" y="1698"/>
                    <a:chExt cx="120" cy="48"/>
                  </a:xfrm>
                </p:grpSpPr>
                <p:sp>
                  <p:nvSpPr>
                    <p:cNvPr id="102" name="Arc 36"/>
                    <p:cNvSpPr>
                      <a:spLocks/>
                    </p:cNvSpPr>
                    <p:nvPr/>
                  </p:nvSpPr>
                  <p:spPr bwMode="auto">
                    <a:xfrm>
                      <a:off x="2827" y="1698"/>
                      <a:ext cx="60" cy="48"/>
                    </a:xfrm>
                    <a:custGeom>
                      <a:avLst/>
                      <a:gdLst>
                        <a:gd name="T0" fmla="*/ 0 w 21705"/>
                        <a:gd name="T1" fmla="*/ 0 h 21600"/>
                        <a:gd name="T2" fmla="*/ 0 w 21705"/>
                        <a:gd name="T3" fmla="*/ 0 h 21600"/>
                        <a:gd name="T4" fmla="*/ 0 w 21705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5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</a:path>
                        <a:path w="21705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  <a:lnTo>
                            <a:pt x="105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3" name="Arc 37"/>
                    <p:cNvSpPr>
                      <a:spLocks/>
                    </p:cNvSpPr>
                    <p:nvPr/>
                  </p:nvSpPr>
                  <p:spPr bwMode="auto">
                    <a:xfrm>
                      <a:off x="2767" y="1698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2" name="Group 38"/>
                <p:cNvGrpSpPr>
                  <a:grpSpLocks/>
                </p:cNvGrpSpPr>
                <p:nvPr/>
              </p:nvGrpSpPr>
              <p:grpSpPr bwMode="auto">
                <a:xfrm>
                  <a:off x="2767" y="1630"/>
                  <a:ext cx="120" cy="56"/>
                  <a:chOff x="2767" y="1630"/>
                  <a:chExt cx="120" cy="56"/>
                </a:xfrm>
              </p:grpSpPr>
              <p:grpSp>
                <p:nvGrpSpPr>
                  <p:cNvPr id="9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2767" y="1630"/>
                    <a:ext cx="120" cy="52"/>
                    <a:chOff x="2767" y="1630"/>
                    <a:chExt cx="120" cy="52"/>
                  </a:xfrm>
                </p:grpSpPr>
                <p:sp>
                  <p:nvSpPr>
                    <p:cNvPr id="98" name="Arc 40"/>
                    <p:cNvSpPr>
                      <a:spLocks/>
                    </p:cNvSpPr>
                    <p:nvPr/>
                  </p:nvSpPr>
                  <p:spPr bwMode="auto">
                    <a:xfrm>
                      <a:off x="2827" y="1630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9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2767" y="165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95" name="Group 42"/>
                  <p:cNvGrpSpPr>
                    <a:grpSpLocks/>
                  </p:cNvGrpSpPr>
                  <p:nvPr/>
                </p:nvGrpSpPr>
                <p:grpSpPr bwMode="auto">
                  <a:xfrm>
                    <a:off x="2767" y="1634"/>
                    <a:ext cx="120" cy="52"/>
                    <a:chOff x="2767" y="1634"/>
                    <a:chExt cx="120" cy="52"/>
                  </a:xfrm>
                </p:grpSpPr>
                <p:sp>
                  <p:nvSpPr>
                    <p:cNvPr id="96" name="Arc 43"/>
                    <p:cNvSpPr>
                      <a:spLocks/>
                    </p:cNvSpPr>
                    <p:nvPr/>
                  </p:nvSpPr>
                  <p:spPr bwMode="auto">
                    <a:xfrm>
                      <a:off x="2827" y="163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7" name="Arc 44"/>
                    <p:cNvSpPr>
                      <a:spLocks/>
                    </p:cNvSpPr>
                    <p:nvPr/>
                  </p:nvSpPr>
                  <p:spPr bwMode="auto">
                    <a:xfrm>
                      <a:off x="2767" y="163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3" name="Group 45"/>
                <p:cNvGrpSpPr>
                  <a:grpSpLocks/>
                </p:cNvGrpSpPr>
                <p:nvPr/>
              </p:nvGrpSpPr>
              <p:grpSpPr bwMode="auto">
                <a:xfrm>
                  <a:off x="2767" y="1570"/>
                  <a:ext cx="120" cy="60"/>
                  <a:chOff x="2767" y="1570"/>
                  <a:chExt cx="120" cy="60"/>
                </a:xfrm>
              </p:grpSpPr>
              <p:grpSp>
                <p:nvGrpSpPr>
                  <p:cNvPr id="88" name="Group 46"/>
                  <p:cNvGrpSpPr>
                    <a:grpSpLocks/>
                  </p:cNvGrpSpPr>
                  <p:nvPr/>
                </p:nvGrpSpPr>
                <p:grpSpPr bwMode="auto">
                  <a:xfrm>
                    <a:off x="2767" y="1570"/>
                    <a:ext cx="120" cy="48"/>
                    <a:chOff x="2767" y="1570"/>
                    <a:chExt cx="120" cy="48"/>
                  </a:xfrm>
                </p:grpSpPr>
                <p:sp>
                  <p:nvSpPr>
                    <p:cNvPr id="92" name="Arc 47"/>
                    <p:cNvSpPr>
                      <a:spLocks/>
                    </p:cNvSpPr>
                    <p:nvPr/>
                  </p:nvSpPr>
                  <p:spPr bwMode="auto">
                    <a:xfrm>
                      <a:off x="2827" y="1570"/>
                      <a:ext cx="60" cy="48"/>
                    </a:xfrm>
                    <a:custGeom>
                      <a:avLst/>
                      <a:gdLst>
                        <a:gd name="T0" fmla="*/ 0 w 21707"/>
                        <a:gd name="T1" fmla="*/ 0 h 21600"/>
                        <a:gd name="T2" fmla="*/ 0 w 21707"/>
                        <a:gd name="T3" fmla="*/ 0 h 21600"/>
                        <a:gd name="T4" fmla="*/ 0 w 21707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7" h="21600" fill="none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</a:path>
                        <a:path w="21707" h="21600" stroke="0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  <a:lnTo>
                            <a:pt x="107" y="0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3" name="Arc 48"/>
                    <p:cNvSpPr>
                      <a:spLocks/>
                    </p:cNvSpPr>
                    <p:nvPr/>
                  </p:nvSpPr>
                  <p:spPr bwMode="auto">
                    <a:xfrm>
                      <a:off x="2767" y="1598"/>
                      <a:ext cx="60" cy="20"/>
                    </a:xfrm>
                    <a:custGeom>
                      <a:avLst/>
                      <a:gdLst>
                        <a:gd name="T0" fmla="*/ 0 w 21600"/>
                        <a:gd name="T1" fmla="*/ 0 h 21926"/>
                        <a:gd name="T2" fmla="*/ 0 w 21600"/>
                        <a:gd name="T3" fmla="*/ 0 h 21926"/>
                        <a:gd name="T4" fmla="*/ 0 w 21600"/>
                        <a:gd name="T5" fmla="*/ 0 h 21926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26" fill="none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</a:path>
                        <a:path w="21600" h="21926" stroke="0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  <a:lnTo>
                            <a:pt x="21600" y="326"/>
                          </a:lnTo>
                          <a:lnTo>
                            <a:pt x="21509" y="21925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89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2767" y="1578"/>
                    <a:ext cx="120" cy="52"/>
                    <a:chOff x="2767" y="1578"/>
                    <a:chExt cx="120" cy="52"/>
                  </a:xfrm>
                </p:grpSpPr>
                <p:sp>
                  <p:nvSpPr>
                    <p:cNvPr id="90" name="Arc 50"/>
                    <p:cNvSpPr>
                      <a:spLocks/>
                    </p:cNvSpPr>
                    <p:nvPr/>
                  </p:nvSpPr>
                  <p:spPr bwMode="auto">
                    <a:xfrm>
                      <a:off x="2827" y="1578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1" name="Arc 51"/>
                    <p:cNvSpPr>
                      <a:spLocks/>
                    </p:cNvSpPr>
                    <p:nvPr/>
                  </p:nvSpPr>
                  <p:spPr bwMode="auto">
                    <a:xfrm>
                      <a:off x="2767" y="157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84" name="Arc 52"/>
                <p:cNvSpPr>
                  <a:spLocks/>
                </p:cNvSpPr>
                <p:nvPr/>
              </p:nvSpPr>
              <p:spPr bwMode="auto">
                <a:xfrm>
                  <a:off x="2827" y="1522"/>
                  <a:ext cx="60" cy="52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  <a:lnTo>
                        <a:pt x="106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5" name="Arc 53"/>
                <p:cNvSpPr>
                  <a:spLocks/>
                </p:cNvSpPr>
                <p:nvPr/>
              </p:nvSpPr>
              <p:spPr bwMode="auto">
                <a:xfrm>
                  <a:off x="2827" y="1910"/>
                  <a:ext cx="60" cy="52"/>
                </a:xfrm>
                <a:custGeom>
                  <a:avLst/>
                  <a:gdLst>
                    <a:gd name="T0" fmla="*/ 0 w 21708"/>
                    <a:gd name="T1" fmla="*/ 0 h 21727"/>
                    <a:gd name="T2" fmla="*/ 0 w 21708"/>
                    <a:gd name="T3" fmla="*/ 0 h 21727"/>
                    <a:gd name="T4" fmla="*/ 0 w 21708"/>
                    <a:gd name="T5" fmla="*/ 0 h 2172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8" h="21727" fill="none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</a:path>
                    <a:path w="21708" h="21727" stroke="0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  <a:lnTo>
                        <a:pt x="108" y="127"/>
                      </a:lnTo>
                      <a:lnTo>
                        <a:pt x="21707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2823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2823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5" name="Line 56"/>
              <p:cNvSpPr>
                <a:spLocks noChangeShapeType="1"/>
              </p:cNvSpPr>
              <p:nvPr/>
            </p:nvSpPr>
            <p:spPr bwMode="auto">
              <a:xfrm flipV="1">
                <a:off x="3071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26" name="Group 57"/>
              <p:cNvGrpSpPr>
                <a:grpSpLocks/>
              </p:cNvGrpSpPr>
              <p:nvPr/>
            </p:nvGrpSpPr>
            <p:grpSpPr bwMode="auto">
              <a:xfrm>
                <a:off x="3015" y="1482"/>
                <a:ext cx="112" cy="528"/>
                <a:chOff x="3015" y="1482"/>
                <a:chExt cx="112" cy="528"/>
              </a:xfrm>
            </p:grpSpPr>
            <p:grpSp>
              <p:nvGrpSpPr>
                <p:cNvPr id="32" name="Group 58"/>
                <p:cNvGrpSpPr>
                  <a:grpSpLocks/>
                </p:cNvGrpSpPr>
                <p:nvPr/>
              </p:nvGrpSpPr>
              <p:grpSpPr bwMode="auto">
                <a:xfrm>
                  <a:off x="3015" y="1854"/>
                  <a:ext cx="112" cy="64"/>
                  <a:chOff x="3015" y="1854"/>
                  <a:chExt cx="112" cy="64"/>
                </a:xfrm>
              </p:grpSpPr>
              <p:grpSp>
                <p:nvGrpSpPr>
                  <p:cNvPr id="72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3015" y="1854"/>
                    <a:ext cx="112" cy="52"/>
                    <a:chOff x="3015" y="1854"/>
                    <a:chExt cx="112" cy="52"/>
                  </a:xfrm>
                </p:grpSpPr>
                <p:sp>
                  <p:nvSpPr>
                    <p:cNvPr id="76" name="Arc 60"/>
                    <p:cNvSpPr>
                      <a:spLocks/>
                    </p:cNvSpPr>
                    <p:nvPr/>
                  </p:nvSpPr>
                  <p:spPr bwMode="auto">
                    <a:xfrm>
                      <a:off x="3015" y="18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7" name="Arc 61"/>
                    <p:cNvSpPr>
                      <a:spLocks/>
                    </p:cNvSpPr>
                    <p:nvPr/>
                  </p:nvSpPr>
                  <p:spPr bwMode="auto">
                    <a:xfrm>
                      <a:off x="3071" y="1882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3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3015" y="1866"/>
                    <a:ext cx="112" cy="52"/>
                    <a:chOff x="3015" y="1866"/>
                    <a:chExt cx="112" cy="52"/>
                  </a:xfrm>
                </p:grpSpPr>
                <p:sp>
                  <p:nvSpPr>
                    <p:cNvPr id="74" name="Arc 63"/>
                    <p:cNvSpPr>
                      <a:spLocks/>
                    </p:cNvSpPr>
                    <p:nvPr/>
                  </p:nvSpPr>
                  <p:spPr bwMode="auto">
                    <a:xfrm>
                      <a:off x="3015" y="186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5" name="Arc 64"/>
                    <p:cNvSpPr>
                      <a:spLocks/>
                    </p:cNvSpPr>
                    <p:nvPr/>
                  </p:nvSpPr>
                  <p:spPr bwMode="auto">
                    <a:xfrm>
                      <a:off x="3071" y="1866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3" name="Group 65"/>
                <p:cNvGrpSpPr>
                  <a:grpSpLocks/>
                </p:cNvGrpSpPr>
                <p:nvPr/>
              </p:nvGrpSpPr>
              <p:grpSpPr bwMode="auto">
                <a:xfrm>
                  <a:off x="3015" y="1798"/>
                  <a:ext cx="112" cy="64"/>
                  <a:chOff x="3015" y="1798"/>
                  <a:chExt cx="112" cy="64"/>
                </a:xfrm>
              </p:grpSpPr>
              <p:grpSp>
                <p:nvGrpSpPr>
                  <p:cNvPr id="66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3015" y="1798"/>
                    <a:ext cx="112" cy="52"/>
                    <a:chOff x="3015" y="1798"/>
                    <a:chExt cx="112" cy="52"/>
                  </a:xfrm>
                </p:grpSpPr>
                <p:sp>
                  <p:nvSpPr>
                    <p:cNvPr id="70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3015" y="179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1" name="Arc 68"/>
                    <p:cNvSpPr>
                      <a:spLocks/>
                    </p:cNvSpPr>
                    <p:nvPr/>
                  </p:nvSpPr>
                  <p:spPr bwMode="auto">
                    <a:xfrm>
                      <a:off x="3071" y="1826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7" name="Group 69"/>
                  <p:cNvGrpSpPr>
                    <a:grpSpLocks/>
                  </p:cNvGrpSpPr>
                  <p:nvPr/>
                </p:nvGrpSpPr>
                <p:grpSpPr bwMode="auto">
                  <a:xfrm>
                    <a:off x="3015" y="1810"/>
                    <a:ext cx="112" cy="52"/>
                    <a:chOff x="3015" y="1810"/>
                    <a:chExt cx="112" cy="52"/>
                  </a:xfrm>
                </p:grpSpPr>
                <p:sp>
                  <p:nvSpPr>
                    <p:cNvPr id="68" name="Arc 70"/>
                    <p:cNvSpPr>
                      <a:spLocks/>
                    </p:cNvSpPr>
                    <p:nvPr/>
                  </p:nvSpPr>
                  <p:spPr bwMode="auto">
                    <a:xfrm>
                      <a:off x="3015" y="181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" name="Arc 71"/>
                    <p:cNvSpPr>
                      <a:spLocks/>
                    </p:cNvSpPr>
                    <p:nvPr/>
                  </p:nvSpPr>
                  <p:spPr bwMode="auto">
                    <a:xfrm>
                      <a:off x="3071" y="1810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4" name="Group 72"/>
                <p:cNvGrpSpPr>
                  <a:grpSpLocks/>
                </p:cNvGrpSpPr>
                <p:nvPr/>
              </p:nvGrpSpPr>
              <p:grpSpPr bwMode="auto">
                <a:xfrm>
                  <a:off x="3015" y="1742"/>
                  <a:ext cx="112" cy="64"/>
                  <a:chOff x="3015" y="1742"/>
                  <a:chExt cx="112" cy="64"/>
                </a:xfrm>
              </p:grpSpPr>
              <p:grpSp>
                <p:nvGrpSpPr>
                  <p:cNvPr id="60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3015" y="1742"/>
                    <a:ext cx="112" cy="52"/>
                    <a:chOff x="3015" y="1742"/>
                    <a:chExt cx="112" cy="52"/>
                  </a:xfrm>
                </p:grpSpPr>
                <p:sp>
                  <p:nvSpPr>
                    <p:cNvPr id="64" name="Arc 74"/>
                    <p:cNvSpPr>
                      <a:spLocks/>
                    </p:cNvSpPr>
                    <p:nvPr/>
                  </p:nvSpPr>
                  <p:spPr bwMode="auto">
                    <a:xfrm>
                      <a:off x="3015" y="1742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5" name="Arc 75"/>
                    <p:cNvSpPr>
                      <a:spLocks/>
                    </p:cNvSpPr>
                    <p:nvPr/>
                  </p:nvSpPr>
                  <p:spPr bwMode="auto">
                    <a:xfrm>
                      <a:off x="3071" y="1770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1" name="Group 76"/>
                  <p:cNvGrpSpPr>
                    <a:grpSpLocks/>
                  </p:cNvGrpSpPr>
                  <p:nvPr/>
                </p:nvGrpSpPr>
                <p:grpSpPr bwMode="auto">
                  <a:xfrm>
                    <a:off x="3015" y="1754"/>
                    <a:ext cx="112" cy="52"/>
                    <a:chOff x="3015" y="1754"/>
                    <a:chExt cx="112" cy="52"/>
                  </a:xfrm>
                </p:grpSpPr>
                <p:sp>
                  <p:nvSpPr>
                    <p:cNvPr id="62" name="Arc 77"/>
                    <p:cNvSpPr>
                      <a:spLocks/>
                    </p:cNvSpPr>
                    <p:nvPr/>
                  </p:nvSpPr>
                  <p:spPr bwMode="auto">
                    <a:xfrm>
                      <a:off x="3015" y="17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3" name="Arc 78"/>
                    <p:cNvSpPr>
                      <a:spLocks/>
                    </p:cNvSpPr>
                    <p:nvPr/>
                  </p:nvSpPr>
                  <p:spPr bwMode="auto">
                    <a:xfrm>
                      <a:off x="3071" y="1754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5" name="Group 79"/>
                <p:cNvGrpSpPr>
                  <a:grpSpLocks/>
                </p:cNvGrpSpPr>
                <p:nvPr/>
              </p:nvGrpSpPr>
              <p:grpSpPr bwMode="auto">
                <a:xfrm>
                  <a:off x="3015" y="1686"/>
                  <a:ext cx="112" cy="60"/>
                  <a:chOff x="3015" y="1686"/>
                  <a:chExt cx="112" cy="60"/>
                </a:xfrm>
              </p:grpSpPr>
              <p:grpSp>
                <p:nvGrpSpPr>
                  <p:cNvPr id="54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3015" y="1686"/>
                    <a:ext cx="112" cy="52"/>
                    <a:chOff x="3015" y="1686"/>
                    <a:chExt cx="112" cy="52"/>
                  </a:xfrm>
                </p:grpSpPr>
                <p:sp>
                  <p:nvSpPr>
                    <p:cNvPr id="58" name="Arc 81"/>
                    <p:cNvSpPr>
                      <a:spLocks/>
                    </p:cNvSpPr>
                    <p:nvPr/>
                  </p:nvSpPr>
                  <p:spPr bwMode="auto">
                    <a:xfrm>
                      <a:off x="3015" y="168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9" name="Arc 82"/>
                    <p:cNvSpPr>
                      <a:spLocks/>
                    </p:cNvSpPr>
                    <p:nvPr/>
                  </p:nvSpPr>
                  <p:spPr bwMode="auto">
                    <a:xfrm>
                      <a:off x="3071" y="171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55" name="Group 83"/>
                  <p:cNvGrpSpPr>
                    <a:grpSpLocks/>
                  </p:cNvGrpSpPr>
                  <p:nvPr/>
                </p:nvGrpSpPr>
                <p:grpSpPr bwMode="auto">
                  <a:xfrm>
                    <a:off x="3015" y="1698"/>
                    <a:ext cx="112" cy="48"/>
                    <a:chOff x="3015" y="1698"/>
                    <a:chExt cx="112" cy="48"/>
                  </a:xfrm>
                </p:grpSpPr>
                <p:sp>
                  <p:nvSpPr>
                    <p:cNvPr id="56" name="Arc 84"/>
                    <p:cNvSpPr>
                      <a:spLocks/>
                    </p:cNvSpPr>
                    <p:nvPr/>
                  </p:nvSpPr>
                  <p:spPr bwMode="auto">
                    <a:xfrm>
                      <a:off x="3015" y="1698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7" name="Arc 85"/>
                    <p:cNvSpPr>
                      <a:spLocks/>
                    </p:cNvSpPr>
                    <p:nvPr/>
                  </p:nvSpPr>
                  <p:spPr bwMode="auto">
                    <a:xfrm>
                      <a:off x="3071" y="1698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6" name="Group 86"/>
                <p:cNvGrpSpPr>
                  <a:grpSpLocks/>
                </p:cNvGrpSpPr>
                <p:nvPr/>
              </p:nvGrpSpPr>
              <p:grpSpPr bwMode="auto">
                <a:xfrm>
                  <a:off x="3015" y="1630"/>
                  <a:ext cx="112" cy="56"/>
                  <a:chOff x="3015" y="1630"/>
                  <a:chExt cx="112" cy="56"/>
                </a:xfrm>
              </p:grpSpPr>
              <p:grpSp>
                <p:nvGrpSpPr>
                  <p:cNvPr id="48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3015" y="1630"/>
                    <a:ext cx="112" cy="52"/>
                    <a:chOff x="3015" y="1630"/>
                    <a:chExt cx="112" cy="52"/>
                  </a:xfrm>
                </p:grpSpPr>
                <p:sp>
                  <p:nvSpPr>
                    <p:cNvPr id="52" name="Arc 88"/>
                    <p:cNvSpPr>
                      <a:spLocks/>
                    </p:cNvSpPr>
                    <p:nvPr/>
                  </p:nvSpPr>
                  <p:spPr bwMode="auto">
                    <a:xfrm>
                      <a:off x="3015" y="163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3" name="Arc 89"/>
                    <p:cNvSpPr>
                      <a:spLocks/>
                    </p:cNvSpPr>
                    <p:nvPr/>
                  </p:nvSpPr>
                  <p:spPr bwMode="auto">
                    <a:xfrm>
                      <a:off x="3071" y="165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9" name="Group 90"/>
                  <p:cNvGrpSpPr>
                    <a:grpSpLocks/>
                  </p:cNvGrpSpPr>
                  <p:nvPr/>
                </p:nvGrpSpPr>
                <p:grpSpPr bwMode="auto">
                  <a:xfrm>
                    <a:off x="3015" y="1634"/>
                    <a:ext cx="112" cy="52"/>
                    <a:chOff x="3015" y="1634"/>
                    <a:chExt cx="112" cy="52"/>
                  </a:xfrm>
                </p:grpSpPr>
                <p:sp>
                  <p:nvSpPr>
                    <p:cNvPr id="50" name="Arc 91"/>
                    <p:cNvSpPr>
                      <a:spLocks/>
                    </p:cNvSpPr>
                    <p:nvPr/>
                  </p:nvSpPr>
                  <p:spPr bwMode="auto">
                    <a:xfrm>
                      <a:off x="3015" y="163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1" name="Arc 92"/>
                    <p:cNvSpPr>
                      <a:spLocks/>
                    </p:cNvSpPr>
                    <p:nvPr/>
                  </p:nvSpPr>
                  <p:spPr bwMode="auto">
                    <a:xfrm>
                      <a:off x="3071" y="163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7" name="Group 93"/>
                <p:cNvGrpSpPr>
                  <a:grpSpLocks/>
                </p:cNvGrpSpPr>
                <p:nvPr/>
              </p:nvGrpSpPr>
              <p:grpSpPr bwMode="auto">
                <a:xfrm>
                  <a:off x="3015" y="1570"/>
                  <a:ext cx="112" cy="60"/>
                  <a:chOff x="3015" y="1570"/>
                  <a:chExt cx="112" cy="60"/>
                </a:xfrm>
              </p:grpSpPr>
              <p:grpSp>
                <p:nvGrpSpPr>
                  <p:cNvPr id="42" name="Group 94"/>
                  <p:cNvGrpSpPr>
                    <a:grpSpLocks/>
                  </p:cNvGrpSpPr>
                  <p:nvPr/>
                </p:nvGrpSpPr>
                <p:grpSpPr bwMode="auto">
                  <a:xfrm>
                    <a:off x="3015" y="1570"/>
                    <a:ext cx="112" cy="48"/>
                    <a:chOff x="3015" y="1570"/>
                    <a:chExt cx="112" cy="48"/>
                  </a:xfrm>
                </p:grpSpPr>
                <p:sp>
                  <p:nvSpPr>
                    <p:cNvPr id="46" name="Arc 95"/>
                    <p:cNvSpPr>
                      <a:spLocks/>
                    </p:cNvSpPr>
                    <p:nvPr/>
                  </p:nvSpPr>
                  <p:spPr bwMode="auto">
                    <a:xfrm>
                      <a:off x="3015" y="1570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60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" name="Arc 96"/>
                    <p:cNvSpPr>
                      <a:spLocks/>
                    </p:cNvSpPr>
                    <p:nvPr/>
                  </p:nvSpPr>
                  <p:spPr bwMode="auto">
                    <a:xfrm>
                      <a:off x="3071" y="1598"/>
                      <a:ext cx="56" cy="20"/>
                    </a:xfrm>
                    <a:custGeom>
                      <a:avLst/>
                      <a:gdLst>
                        <a:gd name="T0" fmla="*/ 0 w 21600"/>
                        <a:gd name="T1" fmla="*/ 0 h 21905"/>
                        <a:gd name="T2" fmla="*/ 0 w 21600"/>
                        <a:gd name="T3" fmla="*/ 0 h 21905"/>
                        <a:gd name="T4" fmla="*/ 0 w 21600"/>
                        <a:gd name="T5" fmla="*/ 0 h 21905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05" fill="none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</a:path>
                        <a:path w="21600" h="21905" stroke="0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  <a:lnTo>
                            <a:pt x="0" y="305"/>
                          </a:lnTo>
                          <a:lnTo>
                            <a:pt x="2159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3" name="Group 97"/>
                  <p:cNvGrpSpPr>
                    <a:grpSpLocks/>
                  </p:cNvGrpSpPr>
                  <p:nvPr/>
                </p:nvGrpSpPr>
                <p:grpSpPr bwMode="auto">
                  <a:xfrm>
                    <a:off x="3015" y="1578"/>
                    <a:ext cx="112" cy="52"/>
                    <a:chOff x="3015" y="1578"/>
                    <a:chExt cx="112" cy="52"/>
                  </a:xfrm>
                </p:grpSpPr>
                <p:sp>
                  <p:nvSpPr>
                    <p:cNvPr id="44" name="Arc 98"/>
                    <p:cNvSpPr>
                      <a:spLocks/>
                    </p:cNvSpPr>
                    <p:nvPr/>
                  </p:nvSpPr>
                  <p:spPr bwMode="auto">
                    <a:xfrm>
                      <a:off x="3015" y="157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5" name="Arc 99"/>
                    <p:cNvSpPr>
                      <a:spLocks/>
                    </p:cNvSpPr>
                    <p:nvPr/>
                  </p:nvSpPr>
                  <p:spPr bwMode="auto">
                    <a:xfrm>
                      <a:off x="3071" y="157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38" name="Arc 100"/>
                <p:cNvSpPr>
                  <a:spLocks/>
                </p:cNvSpPr>
                <p:nvPr/>
              </p:nvSpPr>
              <p:spPr bwMode="auto">
                <a:xfrm>
                  <a:off x="3015" y="1522"/>
                  <a:ext cx="56" cy="52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</a:path>
                    <a:path w="21600" h="21600" stroke="0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3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Arc 101"/>
                <p:cNvSpPr>
                  <a:spLocks/>
                </p:cNvSpPr>
                <p:nvPr/>
              </p:nvSpPr>
              <p:spPr bwMode="auto">
                <a:xfrm>
                  <a:off x="3015" y="1910"/>
                  <a:ext cx="56" cy="52"/>
                </a:xfrm>
                <a:custGeom>
                  <a:avLst/>
                  <a:gdLst>
                    <a:gd name="T0" fmla="*/ 0 w 21600"/>
                    <a:gd name="T1" fmla="*/ 0 h 21717"/>
                    <a:gd name="T2" fmla="*/ 0 w 21600"/>
                    <a:gd name="T3" fmla="*/ 0 h 21717"/>
                    <a:gd name="T4" fmla="*/ 0 w 21600"/>
                    <a:gd name="T5" fmla="*/ 0 h 2171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17" fill="none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</a:path>
                    <a:path w="21600" h="21717" stroke="0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  <a:lnTo>
                        <a:pt x="21600" y="117"/>
                      </a:lnTo>
                      <a:lnTo>
                        <a:pt x="21600" y="21717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102"/>
                <p:cNvSpPr>
                  <a:spLocks noChangeShapeType="1"/>
                </p:cNvSpPr>
                <p:nvPr/>
              </p:nvSpPr>
              <p:spPr bwMode="auto">
                <a:xfrm flipV="1">
                  <a:off x="3071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3071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7" name="Line 104"/>
              <p:cNvSpPr>
                <a:spLocks noChangeShapeType="1"/>
              </p:cNvSpPr>
              <p:nvPr/>
            </p:nvSpPr>
            <p:spPr bwMode="auto">
              <a:xfrm>
                <a:off x="2935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05"/>
              <p:cNvSpPr>
                <a:spLocks noChangeShapeType="1"/>
              </p:cNvSpPr>
              <p:nvPr/>
            </p:nvSpPr>
            <p:spPr bwMode="auto">
              <a:xfrm>
                <a:off x="2967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06"/>
              <p:cNvSpPr>
                <a:spLocks noChangeShapeType="1"/>
              </p:cNvSpPr>
              <p:nvPr/>
            </p:nvSpPr>
            <p:spPr bwMode="auto">
              <a:xfrm flipV="1">
                <a:off x="2823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07"/>
              <p:cNvSpPr>
                <a:spLocks noChangeShapeType="1"/>
              </p:cNvSpPr>
              <p:nvPr/>
            </p:nvSpPr>
            <p:spPr bwMode="auto">
              <a:xfrm flipV="1">
                <a:off x="3071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08"/>
              <p:cNvSpPr>
                <a:spLocks noChangeShapeType="1"/>
              </p:cNvSpPr>
              <p:nvPr/>
            </p:nvSpPr>
            <p:spPr bwMode="auto">
              <a:xfrm flipV="1">
                <a:off x="2823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Line 109"/>
            <p:cNvSpPr>
              <a:spLocks noChangeShapeType="1"/>
            </p:cNvSpPr>
            <p:nvPr/>
          </p:nvSpPr>
          <p:spPr bwMode="auto">
            <a:xfrm flipH="1">
              <a:off x="827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0"/>
            <p:cNvSpPr>
              <a:spLocks noChangeShapeType="1"/>
            </p:cNvSpPr>
            <p:nvPr/>
          </p:nvSpPr>
          <p:spPr bwMode="auto">
            <a:xfrm flipH="1">
              <a:off x="82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11"/>
            <p:cNvSpPr>
              <a:spLocks noChangeShapeType="1"/>
            </p:cNvSpPr>
            <p:nvPr/>
          </p:nvSpPr>
          <p:spPr bwMode="auto">
            <a:xfrm flipH="1">
              <a:off x="1544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12"/>
            <p:cNvSpPr>
              <a:spLocks noChangeShapeType="1"/>
            </p:cNvSpPr>
            <p:nvPr/>
          </p:nvSpPr>
          <p:spPr bwMode="auto">
            <a:xfrm flipH="1">
              <a:off x="154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3"/>
            <p:cNvSpPr>
              <a:spLocks noChangeShapeType="1"/>
            </p:cNvSpPr>
            <p:nvPr/>
          </p:nvSpPr>
          <p:spPr bwMode="auto">
            <a:xfrm flipV="1">
              <a:off x="830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4"/>
            <p:cNvSpPr>
              <a:spLocks noChangeShapeType="1"/>
            </p:cNvSpPr>
            <p:nvPr/>
          </p:nvSpPr>
          <p:spPr bwMode="auto">
            <a:xfrm flipV="1">
              <a:off x="2009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5"/>
            <p:cNvSpPr>
              <a:spLocks noChangeShapeType="1"/>
            </p:cNvSpPr>
            <p:nvPr/>
          </p:nvSpPr>
          <p:spPr bwMode="auto">
            <a:xfrm>
              <a:off x="966" y="162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16"/>
            <p:cNvSpPr>
              <a:spLocks noChangeShapeType="1"/>
            </p:cNvSpPr>
            <p:nvPr/>
          </p:nvSpPr>
          <p:spPr bwMode="auto">
            <a:xfrm flipH="1">
              <a:off x="1692" y="1627"/>
              <a:ext cx="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17"/>
            <p:cNvSpPr>
              <a:spLocks noChangeArrowheads="1"/>
            </p:cNvSpPr>
            <p:nvPr/>
          </p:nvSpPr>
          <p:spPr bwMode="auto">
            <a:xfrm>
              <a:off x="1148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Oval 118"/>
            <p:cNvSpPr>
              <a:spLocks noChangeArrowheads="1"/>
            </p:cNvSpPr>
            <p:nvPr/>
          </p:nvSpPr>
          <p:spPr bwMode="auto">
            <a:xfrm>
              <a:off x="1647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Text Box 119"/>
            <p:cNvSpPr txBox="1">
              <a:spLocks noChangeArrowheads="1"/>
            </p:cNvSpPr>
            <p:nvPr/>
          </p:nvSpPr>
          <p:spPr bwMode="auto">
            <a:xfrm>
              <a:off x="1011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" name="Text Box 120"/>
            <p:cNvSpPr txBox="1">
              <a:spLocks noChangeArrowheads="1"/>
            </p:cNvSpPr>
            <p:nvPr/>
          </p:nvSpPr>
          <p:spPr bwMode="auto">
            <a:xfrm>
              <a:off x="1624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2" name="Text Box 121"/>
            <p:cNvSpPr txBox="1">
              <a:spLocks noChangeArrowheads="1"/>
            </p:cNvSpPr>
            <p:nvPr/>
          </p:nvSpPr>
          <p:spPr bwMode="auto">
            <a:xfrm>
              <a:off x="2009" y="1804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Text Box 122"/>
            <p:cNvSpPr txBox="1">
              <a:spLocks noChangeArrowheads="1"/>
            </p:cNvSpPr>
            <p:nvPr/>
          </p:nvSpPr>
          <p:spPr bwMode="auto">
            <a:xfrm>
              <a:off x="603" y="1809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124" name="Text Box 123"/>
          <p:cNvSpPr txBox="1">
            <a:spLocks noChangeArrowheads="1"/>
          </p:cNvSpPr>
          <p:nvPr/>
        </p:nvSpPr>
        <p:spPr bwMode="auto">
          <a:xfrm>
            <a:off x="7675418" y="1784320"/>
            <a:ext cx="293061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</p:txBody>
      </p:sp>
      <p:sp>
        <p:nvSpPr>
          <p:cNvPr id="125" name="Text Box 125"/>
          <p:cNvSpPr txBox="1">
            <a:spLocks noChangeArrowheads="1"/>
          </p:cNvSpPr>
          <p:nvPr/>
        </p:nvSpPr>
        <p:spPr bwMode="auto">
          <a:xfrm>
            <a:off x="2935650" y="3813385"/>
            <a:ext cx="24719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Winding direction</a:t>
            </a:r>
          </a:p>
        </p:txBody>
      </p:sp>
      <p:graphicFrame>
        <p:nvGraphicFramePr>
          <p:cNvPr id="126" name="Object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2622365"/>
              </p:ext>
            </p:extLst>
          </p:nvPr>
        </p:nvGraphicFramePr>
        <p:xfrm>
          <a:off x="6489379" y="4176625"/>
          <a:ext cx="3097213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Equation" r:id="rId3" imgW="1447172" imgH="266584" progId="Equation.3">
                  <p:embed/>
                </p:oleObj>
              </mc:Choice>
              <mc:Fallback>
                <p:oleObj name="Equation" r:id="rId3" imgW="1447172" imgH="266584" progId="Equation.3">
                  <p:embed/>
                  <p:pic>
                    <p:nvPicPr>
                      <p:cNvPr id="17422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89379" y="4176625"/>
                        <a:ext cx="3097213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" name="Object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8683054"/>
              </p:ext>
            </p:extLst>
          </p:nvPr>
        </p:nvGraphicFramePr>
        <p:xfrm>
          <a:off x="6323013" y="3262313"/>
          <a:ext cx="1198562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Équation" r:id="rId5" imgW="660240" imgH="393480" progId="Equation.3">
                  <p:embed/>
                </p:oleObj>
              </mc:Choice>
              <mc:Fallback>
                <p:oleObj name="Équation" r:id="rId5" imgW="660240" imgH="393480" progId="Equation.3">
                  <p:embed/>
                  <p:pic>
                    <p:nvPicPr>
                      <p:cNvPr id="17426" name="Object 1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3013" y="3262313"/>
                        <a:ext cx="1198562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" name="AutoShape 133"/>
          <p:cNvSpPr>
            <a:spLocks noChangeArrowheads="1"/>
          </p:cNvSpPr>
          <p:nvPr/>
        </p:nvSpPr>
        <p:spPr bwMode="auto">
          <a:xfrm rot="20505169">
            <a:off x="5379613" y="3580650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0000FF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0" name="AutoShape 134"/>
          <p:cNvSpPr>
            <a:spLocks noChangeArrowheads="1"/>
          </p:cNvSpPr>
          <p:nvPr/>
        </p:nvSpPr>
        <p:spPr bwMode="auto">
          <a:xfrm rot="906668">
            <a:off x="5379612" y="4140909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31" name="Group 136"/>
          <p:cNvGrpSpPr>
            <a:grpSpLocks/>
          </p:cNvGrpSpPr>
          <p:nvPr/>
        </p:nvGrpSpPr>
        <p:grpSpPr bwMode="auto">
          <a:xfrm>
            <a:off x="3157217" y="4891000"/>
            <a:ext cx="6356350" cy="433387"/>
            <a:chOff x="509" y="3067"/>
            <a:chExt cx="4004" cy="273"/>
          </a:xfrm>
        </p:grpSpPr>
        <p:graphicFrame>
          <p:nvGraphicFramePr>
            <p:cNvPr id="132" name="Object 137"/>
            <p:cNvGraphicFramePr>
              <a:graphicFrameLocks noChangeAspect="1"/>
            </p:cNvGraphicFramePr>
            <p:nvPr/>
          </p:nvGraphicFramePr>
          <p:xfrm>
            <a:off x="3515" y="3067"/>
            <a:ext cx="998" cy="2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27" name="Equation" r:id="rId7" imgW="698500" imgH="190500" progId="Equation.3">
                    <p:embed/>
                  </p:oleObj>
                </mc:Choice>
                <mc:Fallback>
                  <p:oleObj name="Equation" r:id="rId7" imgW="698500" imgH="190500" progId="Equation.3">
                    <p:embed/>
                    <p:pic>
                      <p:nvPicPr>
                        <p:cNvPr id="17443" name="Object 1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15" y="3067"/>
                          <a:ext cx="998" cy="2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" name="Text Box 138"/>
            <p:cNvSpPr txBox="1">
              <a:spLocks noChangeArrowheads="1"/>
            </p:cNvSpPr>
            <p:nvPr/>
          </p:nvSpPr>
          <p:spPr bwMode="auto">
            <a:xfrm>
              <a:off x="509" y="3080"/>
              <a:ext cx="2835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Magnetizing current i</a:t>
              </a:r>
              <a:r>
                <a:rPr lang="en-CA" altLang="fr-FR" sz="2000" baseline="-25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10</a:t>
              </a: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: Hopkinson’s law</a:t>
              </a:r>
            </a:p>
          </p:txBody>
        </p:sp>
      </p:grpSp>
      <p:graphicFrame>
        <p:nvGraphicFramePr>
          <p:cNvPr id="134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277065"/>
              </p:ext>
            </p:extLst>
          </p:nvPr>
        </p:nvGraphicFramePr>
        <p:xfrm>
          <a:off x="3249292" y="5395825"/>
          <a:ext cx="2305050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Equation" r:id="rId9" imgW="1104900" imgH="368300" progId="Equation.3">
                  <p:embed/>
                </p:oleObj>
              </mc:Choice>
              <mc:Fallback>
                <p:oleObj name="Equation" r:id="rId9" imgW="1104900" imgH="368300" progId="Equation.3">
                  <p:embed/>
                  <p:pic>
                    <p:nvPicPr>
                      <p:cNvPr id="336012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9292" y="5395825"/>
                        <a:ext cx="2305050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5" name="Object 1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73618"/>
              </p:ext>
            </p:extLst>
          </p:nvPr>
        </p:nvGraphicFramePr>
        <p:xfrm>
          <a:off x="6302054" y="5611725"/>
          <a:ext cx="15271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Equation" r:id="rId11" imgW="672808" imgH="190417" progId="Equation.3">
                  <p:embed/>
                </p:oleObj>
              </mc:Choice>
              <mc:Fallback>
                <p:oleObj name="Equation" r:id="rId11" imgW="672808" imgH="190417" progId="Equation.3">
                  <p:embed/>
                  <p:pic>
                    <p:nvPicPr>
                      <p:cNvPr id="336014" name="Object 1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2054" y="5611725"/>
                        <a:ext cx="15271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6" name="Group 144"/>
          <p:cNvGrpSpPr>
            <a:grpSpLocks/>
          </p:cNvGrpSpPr>
          <p:nvPr/>
        </p:nvGrpSpPr>
        <p:grpSpPr bwMode="auto">
          <a:xfrm>
            <a:off x="6396870" y="2848782"/>
            <a:ext cx="4208463" cy="3581399"/>
            <a:chOff x="2608" y="1764"/>
            <a:chExt cx="2651" cy="2256"/>
          </a:xfrm>
        </p:grpSpPr>
        <p:sp>
          <p:nvSpPr>
            <p:cNvPr id="137" name="AutoShape 145"/>
            <p:cNvSpPr>
              <a:spLocks noChangeArrowheads="1"/>
            </p:cNvSpPr>
            <p:nvPr/>
          </p:nvSpPr>
          <p:spPr bwMode="auto">
            <a:xfrm>
              <a:off x="2608" y="1764"/>
              <a:ext cx="2651" cy="1803"/>
            </a:xfrm>
            <a:custGeom>
              <a:avLst/>
              <a:gdLst>
                <a:gd name="T0" fmla="*/ 1 w 21600"/>
                <a:gd name="T1" fmla="*/ 0 h 21600"/>
                <a:gd name="T2" fmla="*/ 0 w 21600"/>
                <a:gd name="T3" fmla="*/ 0 h 21600"/>
                <a:gd name="T4" fmla="*/ 1 w 21600"/>
                <a:gd name="T5" fmla="*/ 0 h 21600"/>
                <a:gd name="T6" fmla="*/ 1 w 21600"/>
                <a:gd name="T7" fmla="*/ 0 h 21600"/>
                <a:gd name="T8" fmla="*/ 1 w 21600"/>
                <a:gd name="T9" fmla="*/ 0 h 21600"/>
                <a:gd name="T10" fmla="*/ 1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60 w 21600"/>
                <a:gd name="T19" fmla="*/ 3169 h 21600"/>
                <a:gd name="T20" fmla="*/ 18440 w 21600"/>
                <a:gd name="T21" fmla="*/ 18431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7924" y="16661"/>
                  </a:moveTo>
                  <a:cubicBezTo>
                    <a:pt x="19283" y="15010"/>
                    <a:pt x="20026" y="12938"/>
                    <a:pt x="20026" y="10800"/>
                  </a:cubicBezTo>
                  <a:cubicBezTo>
                    <a:pt x="20026" y="5704"/>
                    <a:pt x="15895" y="1574"/>
                    <a:pt x="10800" y="1574"/>
                  </a:cubicBezTo>
                  <a:cubicBezTo>
                    <a:pt x="9256" y="1573"/>
                    <a:pt x="7737" y="1961"/>
                    <a:pt x="6382" y="2700"/>
                  </a:cubicBezTo>
                  <a:lnTo>
                    <a:pt x="5628" y="1318"/>
                  </a:lnTo>
                  <a:cubicBezTo>
                    <a:pt x="7215" y="453"/>
                    <a:pt x="8993" y="-1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cubicBezTo>
                    <a:pt x="21600" y="13303"/>
                    <a:pt x="20730" y="15728"/>
                    <a:pt x="19140" y="17661"/>
                  </a:cubicBezTo>
                  <a:lnTo>
                    <a:pt x="21225" y="19377"/>
                  </a:lnTo>
                  <a:lnTo>
                    <a:pt x="16317" y="19854"/>
                  </a:lnTo>
                  <a:lnTo>
                    <a:pt x="15839" y="14946"/>
                  </a:lnTo>
                  <a:lnTo>
                    <a:pt x="17924" y="16661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8" name="AutoShape 146"/>
            <p:cNvSpPr>
              <a:spLocks noChangeArrowheads="1"/>
            </p:cNvSpPr>
            <p:nvPr/>
          </p:nvSpPr>
          <p:spPr bwMode="auto">
            <a:xfrm rot="5572555" flipV="1">
              <a:off x="3603" y="3247"/>
              <a:ext cx="544" cy="36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21600"/>
                <a:gd name="T19" fmla="*/ 3154 h 21600"/>
                <a:gd name="T20" fmla="*/ 18424 w 21600"/>
                <a:gd name="T21" fmla="*/ 1844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10716" y="5399"/>
                    <a:pt x="10633" y="5401"/>
                    <a:pt x="10550" y="5405"/>
                  </a:cubicBezTo>
                  <a:lnTo>
                    <a:pt x="10300" y="11"/>
                  </a:lnTo>
                  <a:cubicBezTo>
                    <a:pt x="10466" y="3"/>
                    <a:pt x="10633" y="-1"/>
                    <a:pt x="10800" y="0"/>
                  </a:cubicBezTo>
                  <a:cubicBezTo>
                    <a:pt x="16764" y="0"/>
                    <a:pt x="21599" y="4835"/>
                    <a:pt x="21600" y="10799"/>
                  </a:cubicBezTo>
                  <a:lnTo>
                    <a:pt x="21600" y="10800"/>
                  </a:ln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fr-FR"/>
            </a:p>
          </p:txBody>
        </p:sp>
        <p:graphicFrame>
          <p:nvGraphicFramePr>
            <p:cNvPr id="139" name="Object 147"/>
            <p:cNvGraphicFramePr>
              <a:graphicFrameLocks noChangeAspect="1"/>
            </p:cNvGraphicFramePr>
            <p:nvPr/>
          </p:nvGraphicFramePr>
          <p:xfrm>
            <a:off x="4105" y="3475"/>
            <a:ext cx="952" cy="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30" name="Equation" r:id="rId13" imgW="647419" imgH="342751" progId="Equation.3">
                    <p:embed/>
                  </p:oleObj>
                </mc:Choice>
                <mc:Fallback>
                  <p:oleObj name="Equation" r:id="rId13" imgW="647419" imgH="342751" progId="Equation.3">
                    <p:embed/>
                    <p:pic>
                      <p:nvPicPr>
                        <p:cNvPr id="17441" name="Object 1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5" y="3475"/>
                          <a:ext cx="952" cy="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ctangle 148"/>
            <p:cNvSpPr>
              <a:spLocks noChangeArrowheads="1"/>
            </p:cNvSpPr>
            <p:nvPr/>
          </p:nvSpPr>
          <p:spPr bwMode="auto">
            <a:xfrm>
              <a:off x="4059" y="3475"/>
              <a:ext cx="998" cy="54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141" name="Object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05513"/>
              </p:ext>
            </p:extLst>
          </p:nvPr>
        </p:nvGraphicFramePr>
        <p:xfrm>
          <a:off x="10525196" y="3252912"/>
          <a:ext cx="1446213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Équation" r:id="rId15" imgW="711000" imgH="431640" progId="Equation.3">
                  <p:embed/>
                </p:oleObj>
              </mc:Choice>
              <mc:Fallback>
                <p:oleObj name="Équation" r:id="rId15" imgW="711000" imgH="431640" progId="Equation.3">
                  <p:embed/>
                  <p:pic>
                    <p:nvPicPr>
                      <p:cNvPr id="17437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96" y="3252912"/>
                        <a:ext cx="1446213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Object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9486532"/>
              </p:ext>
            </p:extLst>
          </p:nvPr>
        </p:nvGraphicFramePr>
        <p:xfrm>
          <a:off x="8026873" y="3228975"/>
          <a:ext cx="1319212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Équation" r:id="rId17" imgW="698400" imgH="393480" progId="Equation.3">
                  <p:embed/>
                </p:oleObj>
              </mc:Choice>
              <mc:Fallback>
                <p:oleObj name="Équation" r:id="rId17" imgW="698400" imgH="393480" progId="Equation.3">
                  <p:embed/>
                  <p:pic>
                    <p:nvPicPr>
                      <p:cNvPr id="17424" name="Object 1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26873" y="3228975"/>
                        <a:ext cx="1319212" cy="742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2" name="ZoneTexte 14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36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: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641385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701710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>
            <a:off x="8104545" y="2284413"/>
            <a:ext cx="258762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8104545" y="3513138"/>
            <a:ext cx="258762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 flipH="1">
            <a:off x="4939070" y="2284413"/>
            <a:ext cx="1335087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H="1">
            <a:off x="4146907" y="3986213"/>
            <a:ext cx="2127250" cy="476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H="1">
            <a:off x="8363307" y="2284413"/>
            <a:ext cx="11112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H="1">
            <a:off x="8363307" y="3986213"/>
            <a:ext cx="8953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Arc 15"/>
          <p:cNvSpPr>
            <a:spLocks/>
          </p:cNvSpPr>
          <p:nvPr/>
        </p:nvSpPr>
        <p:spPr bwMode="auto">
          <a:xfrm>
            <a:off x="4802545" y="3533775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Arc 16"/>
          <p:cNvSpPr>
            <a:spLocks/>
          </p:cNvSpPr>
          <p:nvPr/>
        </p:nvSpPr>
        <p:spPr bwMode="auto">
          <a:xfrm>
            <a:off x="4942245" y="3598863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Arc 17"/>
          <p:cNvSpPr>
            <a:spLocks/>
          </p:cNvSpPr>
          <p:nvPr/>
        </p:nvSpPr>
        <p:spPr bwMode="auto">
          <a:xfrm>
            <a:off x="4802545" y="3544888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8"/>
          <p:cNvSpPr>
            <a:spLocks/>
          </p:cNvSpPr>
          <p:nvPr/>
        </p:nvSpPr>
        <p:spPr bwMode="auto">
          <a:xfrm>
            <a:off x="4942245" y="354488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Arc 19"/>
          <p:cNvSpPr>
            <a:spLocks/>
          </p:cNvSpPr>
          <p:nvPr/>
        </p:nvSpPr>
        <p:spPr bwMode="auto">
          <a:xfrm>
            <a:off x="4802545" y="3405188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Arc 20"/>
          <p:cNvSpPr>
            <a:spLocks/>
          </p:cNvSpPr>
          <p:nvPr/>
        </p:nvSpPr>
        <p:spPr bwMode="auto">
          <a:xfrm>
            <a:off x="4942245" y="3470275"/>
            <a:ext cx="141287" cy="52388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181277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21"/>
          <p:cNvSpPr>
            <a:spLocks/>
          </p:cNvSpPr>
          <p:nvPr/>
        </p:nvSpPr>
        <p:spPr bwMode="auto">
          <a:xfrm>
            <a:off x="4802545" y="3416300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22"/>
          <p:cNvSpPr>
            <a:spLocks/>
          </p:cNvSpPr>
          <p:nvPr/>
        </p:nvSpPr>
        <p:spPr bwMode="auto">
          <a:xfrm>
            <a:off x="4942245" y="3416300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23"/>
          <p:cNvSpPr>
            <a:spLocks/>
          </p:cNvSpPr>
          <p:nvPr/>
        </p:nvSpPr>
        <p:spPr bwMode="auto">
          <a:xfrm>
            <a:off x="4802545" y="3265488"/>
            <a:ext cx="139700" cy="128587"/>
          </a:xfrm>
          <a:custGeom>
            <a:avLst/>
            <a:gdLst>
              <a:gd name="T0" fmla="*/ 244437145 w 21600"/>
              <a:gd name="T1" fmla="*/ 158017727 h 21718"/>
              <a:gd name="T2" fmla="*/ 0 w 21600"/>
              <a:gd name="T3" fmla="*/ 0 h 21718"/>
              <a:gd name="T4" fmla="*/ 244437145 w 21600"/>
              <a:gd name="T5" fmla="*/ 859066 h 2171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8" fill="none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</a:path>
              <a:path w="21600" h="21718" stroke="0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  <a:lnTo>
                  <a:pt x="21600" y="118"/>
                </a:lnTo>
                <a:lnTo>
                  <a:pt x="21600" y="21718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4"/>
          <p:cNvSpPr>
            <a:spLocks/>
          </p:cNvSpPr>
          <p:nvPr/>
        </p:nvSpPr>
        <p:spPr bwMode="auto">
          <a:xfrm>
            <a:off x="4942245" y="3340100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5"/>
          <p:cNvSpPr>
            <a:spLocks/>
          </p:cNvSpPr>
          <p:nvPr/>
        </p:nvSpPr>
        <p:spPr bwMode="auto">
          <a:xfrm>
            <a:off x="4802545" y="328612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6"/>
          <p:cNvSpPr>
            <a:spLocks/>
          </p:cNvSpPr>
          <p:nvPr/>
        </p:nvSpPr>
        <p:spPr bwMode="auto">
          <a:xfrm>
            <a:off x="4942245" y="328612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7"/>
          <p:cNvSpPr>
            <a:spLocks/>
          </p:cNvSpPr>
          <p:nvPr/>
        </p:nvSpPr>
        <p:spPr bwMode="auto">
          <a:xfrm>
            <a:off x="4802545" y="3124200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8"/>
          <p:cNvSpPr>
            <a:spLocks/>
          </p:cNvSpPr>
          <p:nvPr/>
        </p:nvSpPr>
        <p:spPr bwMode="auto">
          <a:xfrm>
            <a:off x="4942245" y="3200400"/>
            <a:ext cx="141287" cy="42863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700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9"/>
          <p:cNvSpPr>
            <a:spLocks/>
          </p:cNvSpPr>
          <p:nvPr/>
        </p:nvSpPr>
        <p:spPr bwMode="auto">
          <a:xfrm>
            <a:off x="4802545" y="3157538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30"/>
          <p:cNvSpPr>
            <a:spLocks/>
          </p:cNvSpPr>
          <p:nvPr/>
        </p:nvSpPr>
        <p:spPr bwMode="auto">
          <a:xfrm>
            <a:off x="4942245" y="315753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31"/>
          <p:cNvSpPr>
            <a:spLocks/>
          </p:cNvSpPr>
          <p:nvPr/>
        </p:nvSpPr>
        <p:spPr bwMode="auto">
          <a:xfrm>
            <a:off x="4802545" y="2995613"/>
            <a:ext cx="139700" cy="119062"/>
          </a:xfrm>
          <a:custGeom>
            <a:avLst/>
            <a:gdLst>
              <a:gd name="T0" fmla="*/ 244437145 w 21600"/>
              <a:gd name="T1" fmla="*/ 1099134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32"/>
          <p:cNvSpPr>
            <a:spLocks/>
          </p:cNvSpPr>
          <p:nvPr/>
        </p:nvSpPr>
        <p:spPr bwMode="auto">
          <a:xfrm>
            <a:off x="4942245" y="3070225"/>
            <a:ext cx="141287" cy="44450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746831 h 21955"/>
              <a:gd name="T4" fmla="*/ 0 w 21600"/>
              <a:gd name="T5" fmla="*/ 12085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33"/>
          <p:cNvSpPr>
            <a:spLocks/>
          </p:cNvSpPr>
          <p:nvPr/>
        </p:nvSpPr>
        <p:spPr bwMode="auto">
          <a:xfrm>
            <a:off x="4802545" y="3027363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4"/>
          <p:cNvSpPr>
            <a:spLocks/>
          </p:cNvSpPr>
          <p:nvPr/>
        </p:nvSpPr>
        <p:spPr bwMode="auto">
          <a:xfrm>
            <a:off x="4942245" y="3027363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5"/>
          <p:cNvSpPr>
            <a:spLocks/>
          </p:cNvSpPr>
          <p:nvPr/>
        </p:nvSpPr>
        <p:spPr bwMode="auto">
          <a:xfrm>
            <a:off x="4802545" y="2867025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6"/>
          <p:cNvSpPr>
            <a:spLocks/>
          </p:cNvSpPr>
          <p:nvPr/>
        </p:nvSpPr>
        <p:spPr bwMode="auto">
          <a:xfrm>
            <a:off x="4942245" y="2941638"/>
            <a:ext cx="141287" cy="42862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628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7"/>
          <p:cNvSpPr>
            <a:spLocks/>
          </p:cNvSpPr>
          <p:nvPr/>
        </p:nvSpPr>
        <p:spPr bwMode="auto">
          <a:xfrm>
            <a:off x="4802545" y="289877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8"/>
          <p:cNvSpPr>
            <a:spLocks/>
          </p:cNvSpPr>
          <p:nvPr/>
        </p:nvSpPr>
        <p:spPr bwMode="auto">
          <a:xfrm>
            <a:off x="4942245" y="289877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9"/>
          <p:cNvSpPr>
            <a:spLocks/>
          </p:cNvSpPr>
          <p:nvPr/>
        </p:nvSpPr>
        <p:spPr bwMode="auto">
          <a:xfrm>
            <a:off x="4802545" y="2768600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40"/>
          <p:cNvSpPr>
            <a:spLocks/>
          </p:cNvSpPr>
          <p:nvPr/>
        </p:nvSpPr>
        <p:spPr bwMode="auto">
          <a:xfrm>
            <a:off x="4802545" y="3663950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 flipV="1">
            <a:off x="4921607" y="2651125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 flipV="1">
            <a:off x="4921607" y="3771900"/>
            <a:ext cx="1588" cy="1063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6274157" y="2284413"/>
            <a:ext cx="258763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 flipV="1">
            <a:off x="6274157" y="3513138"/>
            <a:ext cx="258763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4856520" y="2478088"/>
            <a:ext cx="150812" cy="301625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112"/>
                </a:moveTo>
                <a:lnTo>
                  <a:pt x="0" y="0"/>
                </a:lnTo>
                <a:lnTo>
                  <a:pt x="24" y="0"/>
                </a:lnTo>
                <a:lnTo>
                  <a:pt x="56" y="0"/>
                </a:lnTo>
                <a:lnTo>
                  <a:pt x="24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 flipV="1">
            <a:off x="4921607" y="2284413"/>
            <a:ext cx="1588" cy="1936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 flipV="1">
            <a:off x="4921607" y="3878263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Freeform 48"/>
          <p:cNvSpPr>
            <a:spLocks/>
          </p:cNvSpPr>
          <p:nvPr/>
        </p:nvSpPr>
        <p:spPr bwMode="auto">
          <a:xfrm>
            <a:off x="586458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 flipH="1" flipV="1">
            <a:off x="4146907" y="2276475"/>
            <a:ext cx="1096963" cy="79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Freeform 50"/>
          <p:cNvSpPr>
            <a:spLocks/>
          </p:cNvSpPr>
          <p:nvPr/>
        </p:nvSpPr>
        <p:spPr bwMode="auto">
          <a:xfrm>
            <a:off x="451203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 flipH="1">
            <a:off x="4318357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 flipH="1">
            <a:off x="8682395" y="2219325"/>
            <a:ext cx="349250" cy="130175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 flipH="1">
            <a:off x="8837970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4"/>
          <p:cNvSpPr>
            <a:spLocks/>
          </p:cNvSpPr>
          <p:nvPr/>
        </p:nvSpPr>
        <p:spPr bwMode="auto">
          <a:xfrm>
            <a:off x="9187220" y="2420938"/>
            <a:ext cx="150812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0"/>
                </a:moveTo>
                <a:lnTo>
                  <a:pt x="56" y="112"/>
                </a:lnTo>
                <a:lnTo>
                  <a:pt x="32" y="112"/>
                </a:lnTo>
                <a:lnTo>
                  <a:pt x="0" y="112"/>
                </a:lnTo>
                <a:lnTo>
                  <a:pt x="3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9258657" y="2552700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6"/>
          <p:cNvSpPr>
            <a:spLocks/>
          </p:cNvSpPr>
          <p:nvPr/>
        </p:nvSpPr>
        <p:spPr bwMode="auto">
          <a:xfrm>
            <a:off x="4124682" y="2413000"/>
            <a:ext cx="150813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0"/>
                </a:moveTo>
                <a:lnTo>
                  <a:pt x="56" y="112"/>
                </a:lnTo>
                <a:lnTo>
                  <a:pt x="24" y="112"/>
                </a:lnTo>
                <a:lnTo>
                  <a:pt x="0" y="112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4188182" y="2714625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Rectangle 58"/>
          <p:cNvSpPr>
            <a:spLocks noChangeArrowheads="1"/>
          </p:cNvSpPr>
          <p:nvPr/>
        </p:nvSpPr>
        <p:spPr bwMode="auto">
          <a:xfrm>
            <a:off x="7286982" y="2047875"/>
            <a:ext cx="1905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 b="1">
                <a:latin typeface="Times" panose="02020603050405020304" pitchFamily="18" charset="0"/>
              </a:rPr>
              <a:t>m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0" name="Rectangle 59"/>
          <p:cNvSpPr>
            <a:spLocks noChangeArrowheads="1"/>
          </p:cNvSpPr>
          <p:nvPr/>
        </p:nvSpPr>
        <p:spPr bwMode="auto">
          <a:xfrm>
            <a:off x="3715107" y="2909888"/>
            <a:ext cx="7461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3865920" y="3081338"/>
            <a:ext cx="57150" cy="13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2" name="Rectangle 61"/>
          <p:cNvSpPr>
            <a:spLocks noChangeArrowheads="1"/>
          </p:cNvSpPr>
          <p:nvPr/>
        </p:nvSpPr>
        <p:spPr bwMode="auto">
          <a:xfrm>
            <a:off x="8971320" y="2997200"/>
            <a:ext cx="730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3" name="Rectangle 62"/>
          <p:cNvSpPr>
            <a:spLocks noChangeArrowheads="1"/>
          </p:cNvSpPr>
          <p:nvPr/>
        </p:nvSpPr>
        <p:spPr bwMode="auto">
          <a:xfrm>
            <a:off x="9122132" y="3168650"/>
            <a:ext cx="57150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4" name="Rectangle 63"/>
          <p:cNvSpPr>
            <a:spLocks noChangeArrowheads="1"/>
          </p:cNvSpPr>
          <p:nvPr/>
        </p:nvSpPr>
        <p:spPr bwMode="auto">
          <a:xfrm>
            <a:off x="8880832" y="183197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" name="Rectangle 64"/>
          <p:cNvSpPr>
            <a:spLocks noChangeArrowheads="1"/>
          </p:cNvSpPr>
          <p:nvPr/>
        </p:nvSpPr>
        <p:spPr bwMode="auto">
          <a:xfrm>
            <a:off x="8988782" y="1960563"/>
            <a:ext cx="55563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6" name="Rectangle 65"/>
          <p:cNvSpPr>
            <a:spLocks noChangeArrowheads="1"/>
          </p:cNvSpPr>
          <p:nvPr/>
        </p:nvSpPr>
        <p:spPr bwMode="auto">
          <a:xfrm>
            <a:off x="4338995" y="1831975"/>
            <a:ext cx="4445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4446945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907445" y="1831975"/>
            <a:ext cx="714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i'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6058257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5072420" y="245745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" name="Rectangle 70"/>
          <p:cNvSpPr>
            <a:spLocks noChangeArrowheads="1"/>
          </p:cNvSpPr>
          <p:nvPr/>
        </p:nvSpPr>
        <p:spPr bwMode="auto">
          <a:xfrm>
            <a:off x="5135920" y="2563813"/>
            <a:ext cx="115887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10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2" name="Oval 71"/>
          <p:cNvSpPr>
            <a:spLocks noChangeArrowheads="1"/>
          </p:cNvSpPr>
          <p:nvPr/>
        </p:nvSpPr>
        <p:spPr bwMode="auto">
          <a:xfrm>
            <a:off x="6242407" y="2725738"/>
            <a:ext cx="107950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" name="Oval 72"/>
          <p:cNvSpPr>
            <a:spLocks noChangeArrowheads="1"/>
          </p:cNvSpPr>
          <p:nvPr/>
        </p:nvSpPr>
        <p:spPr bwMode="auto">
          <a:xfrm>
            <a:off x="8309332" y="2725738"/>
            <a:ext cx="130175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4" name="Rectangle 73"/>
          <p:cNvSpPr>
            <a:spLocks noChangeArrowheads="1"/>
          </p:cNvSpPr>
          <p:nvPr/>
        </p:nvSpPr>
        <p:spPr bwMode="auto">
          <a:xfrm>
            <a:off x="5223232" y="3038475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 b="1">
                <a:latin typeface="Times" panose="02020603050405020304" pitchFamily="18" charset="0"/>
              </a:rPr>
              <a:t>L</a:t>
            </a:r>
            <a:r>
              <a:rPr lang="fr-FR" altLang="fr-FR" sz="1200" b="1" baseline="-25000">
                <a:latin typeface="Times" panose="02020603050405020304" pitchFamily="18" charset="0"/>
              </a:rPr>
              <a:t>1</a:t>
            </a:r>
            <a:endParaRPr lang="fr-FR" altLang="fr-FR" sz="1800" baseline="-25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5515332" y="2276475"/>
            <a:ext cx="503238" cy="1728788"/>
            <a:chOff x="2064" y="1434"/>
            <a:chExt cx="317" cy="1089"/>
          </a:xfrm>
        </p:grpSpPr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2064" y="1706"/>
              <a:ext cx="181" cy="59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Line 76"/>
            <p:cNvSpPr>
              <a:spLocks noChangeShapeType="1"/>
            </p:cNvSpPr>
            <p:nvPr/>
          </p:nvSpPr>
          <p:spPr bwMode="auto">
            <a:xfrm>
              <a:off x="2154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7"/>
            <p:cNvSpPr>
              <a:spLocks noChangeShapeType="1"/>
            </p:cNvSpPr>
            <p:nvPr/>
          </p:nvSpPr>
          <p:spPr bwMode="auto">
            <a:xfrm>
              <a:off x="2154" y="2296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8"/>
            <p:cNvSpPr>
              <a:spLocks noChangeArrowheads="1"/>
            </p:cNvSpPr>
            <p:nvPr/>
          </p:nvSpPr>
          <p:spPr bwMode="auto">
            <a:xfrm>
              <a:off x="2290" y="1979"/>
              <a:ext cx="91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r>
                <a:rPr lang="fr-FR" altLang="fr-FR" sz="1200" b="1" baseline="-25000">
                  <a:latin typeface="Times" panose="02020603050405020304" pitchFamily="18" charset="0"/>
                </a:rPr>
                <a:t>f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9474557" y="1916113"/>
            <a:ext cx="720725" cy="433387"/>
            <a:chOff x="4558" y="1207"/>
            <a:chExt cx="454" cy="273"/>
          </a:xfrm>
        </p:grpSpPr>
        <p:sp>
          <p:nvSpPr>
            <p:cNvPr id="81" name="Rectangle 80"/>
            <p:cNvSpPr>
              <a:spLocks noChangeArrowheads="1"/>
            </p:cNvSpPr>
            <p:nvPr/>
          </p:nvSpPr>
          <p:spPr bwMode="auto">
            <a:xfrm>
              <a:off x="4558" y="1389"/>
              <a:ext cx="36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81"/>
            <p:cNvSpPr>
              <a:spLocks noChangeShapeType="1"/>
            </p:cNvSpPr>
            <p:nvPr/>
          </p:nvSpPr>
          <p:spPr bwMode="auto">
            <a:xfrm>
              <a:off x="4921" y="143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Rectangle 82"/>
            <p:cNvSpPr>
              <a:spLocks noChangeArrowheads="1"/>
            </p:cNvSpPr>
            <p:nvPr/>
          </p:nvSpPr>
          <p:spPr bwMode="auto">
            <a:xfrm>
              <a:off x="4694" y="1207"/>
              <a:ext cx="4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4" name="Text Box 83"/>
          <p:cNvSpPr txBox="1">
            <a:spLocks noChangeArrowheads="1"/>
          </p:cNvSpPr>
          <p:nvPr/>
        </p:nvSpPr>
        <p:spPr bwMode="auto">
          <a:xfrm>
            <a:off x="4475520" y="4827230"/>
            <a:ext cx="597791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Magnetizing inductance (at primary side)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ferromagnetic losses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Joule loss (or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ohmic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loss)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Symbol" panose="05050102010706020507" pitchFamily="18" charset="2"/>
              </a:rPr>
              <a:t>l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leakage inductance</a:t>
            </a:r>
          </a:p>
        </p:txBody>
      </p:sp>
      <p:grpSp>
        <p:nvGrpSpPr>
          <p:cNvPr id="85" name="Group 84"/>
          <p:cNvGrpSpPr>
            <a:grpSpLocks/>
          </p:cNvGrpSpPr>
          <p:nvPr/>
        </p:nvGrpSpPr>
        <p:grpSpPr bwMode="auto">
          <a:xfrm>
            <a:off x="9115782" y="3500438"/>
            <a:ext cx="935038" cy="649287"/>
            <a:chOff x="4332" y="2205"/>
            <a:chExt cx="589" cy="409"/>
          </a:xfrm>
        </p:grpSpPr>
        <p:grpSp>
          <p:nvGrpSpPr>
            <p:cNvPr id="86" name="Group 85"/>
            <p:cNvGrpSpPr>
              <a:grpSpLocks/>
            </p:cNvGrpSpPr>
            <p:nvPr/>
          </p:nvGrpSpPr>
          <p:grpSpPr bwMode="auto">
            <a:xfrm rot="5400000">
              <a:off x="4496" y="2279"/>
              <a:ext cx="171" cy="499"/>
              <a:chOff x="1122" y="3008"/>
              <a:chExt cx="177" cy="841"/>
            </a:xfrm>
          </p:grpSpPr>
          <p:sp>
            <p:nvSpPr>
              <p:cNvPr id="89" name="Arc 86"/>
              <p:cNvSpPr>
                <a:spLocks/>
              </p:cNvSpPr>
              <p:nvPr/>
            </p:nvSpPr>
            <p:spPr bwMode="auto">
              <a:xfrm>
                <a:off x="1122" y="35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Arc 87"/>
              <p:cNvSpPr>
                <a:spLocks/>
              </p:cNvSpPr>
              <p:nvPr/>
            </p:nvSpPr>
            <p:spPr bwMode="auto">
              <a:xfrm>
                <a:off x="1210" y="360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Arc 88"/>
              <p:cNvSpPr>
                <a:spLocks/>
              </p:cNvSpPr>
              <p:nvPr/>
            </p:nvSpPr>
            <p:spPr bwMode="auto">
              <a:xfrm>
                <a:off x="1122" y="3571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Arc 89"/>
              <p:cNvSpPr>
                <a:spLocks/>
              </p:cNvSpPr>
              <p:nvPr/>
            </p:nvSpPr>
            <p:spPr bwMode="auto">
              <a:xfrm>
                <a:off x="1210" y="3571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Arc 90"/>
              <p:cNvSpPr>
                <a:spLocks/>
              </p:cNvSpPr>
              <p:nvPr/>
            </p:nvSpPr>
            <p:spPr bwMode="auto">
              <a:xfrm>
                <a:off x="1122" y="3483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Arc 91"/>
              <p:cNvSpPr>
                <a:spLocks/>
              </p:cNvSpPr>
              <p:nvPr/>
            </p:nvSpPr>
            <p:spPr bwMode="auto">
              <a:xfrm>
                <a:off x="1210" y="3524"/>
                <a:ext cx="89" cy="33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Arc 92"/>
              <p:cNvSpPr>
                <a:spLocks/>
              </p:cNvSpPr>
              <p:nvPr/>
            </p:nvSpPr>
            <p:spPr bwMode="auto">
              <a:xfrm>
                <a:off x="1122" y="3490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Arc 93"/>
              <p:cNvSpPr>
                <a:spLocks/>
              </p:cNvSpPr>
              <p:nvPr/>
            </p:nvSpPr>
            <p:spPr bwMode="auto">
              <a:xfrm>
                <a:off x="1210" y="3490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Arc 94"/>
              <p:cNvSpPr>
                <a:spLocks/>
              </p:cNvSpPr>
              <p:nvPr/>
            </p:nvSpPr>
            <p:spPr bwMode="auto">
              <a:xfrm>
                <a:off x="1122" y="3395"/>
                <a:ext cx="88" cy="81"/>
              </a:xfrm>
              <a:custGeom>
                <a:avLst/>
                <a:gdLst>
                  <a:gd name="T0" fmla="*/ 0 w 21600"/>
                  <a:gd name="T1" fmla="*/ 0 h 21718"/>
                  <a:gd name="T2" fmla="*/ 0 w 21600"/>
                  <a:gd name="T3" fmla="*/ 0 h 21718"/>
                  <a:gd name="T4" fmla="*/ 0 w 21600"/>
                  <a:gd name="T5" fmla="*/ 0 h 2171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18" fill="none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</a:path>
                  <a:path w="21600" h="21718" stroke="0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  <a:lnTo>
                      <a:pt x="21600" y="118"/>
                    </a:lnTo>
                    <a:lnTo>
                      <a:pt x="21600" y="21718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Arc 95"/>
              <p:cNvSpPr>
                <a:spLocks/>
              </p:cNvSpPr>
              <p:nvPr/>
            </p:nvSpPr>
            <p:spPr bwMode="auto">
              <a:xfrm>
                <a:off x="1210" y="3442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Arc 96"/>
              <p:cNvSpPr>
                <a:spLocks/>
              </p:cNvSpPr>
              <p:nvPr/>
            </p:nvSpPr>
            <p:spPr bwMode="auto">
              <a:xfrm>
                <a:off x="1122" y="3408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Arc 97"/>
              <p:cNvSpPr>
                <a:spLocks/>
              </p:cNvSpPr>
              <p:nvPr/>
            </p:nvSpPr>
            <p:spPr bwMode="auto">
              <a:xfrm>
                <a:off x="1210" y="3408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Arc 98"/>
              <p:cNvSpPr>
                <a:spLocks/>
              </p:cNvSpPr>
              <p:nvPr/>
            </p:nvSpPr>
            <p:spPr bwMode="auto">
              <a:xfrm>
                <a:off x="1122" y="3306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Arc 99"/>
              <p:cNvSpPr>
                <a:spLocks/>
              </p:cNvSpPr>
              <p:nvPr/>
            </p:nvSpPr>
            <p:spPr bwMode="auto">
              <a:xfrm>
                <a:off x="1210" y="3354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Arc 100"/>
              <p:cNvSpPr>
                <a:spLocks/>
              </p:cNvSpPr>
              <p:nvPr/>
            </p:nvSpPr>
            <p:spPr bwMode="auto">
              <a:xfrm>
                <a:off x="1122" y="3327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Arc 101"/>
              <p:cNvSpPr>
                <a:spLocks/>
              </p:cNvSpPr>
              <p:nvPr/>
            </p:nvSpPr>
            <p:spPr bwMode="auto">
              <a:xfrm>
                <a:off x="1210" y="3327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Arc 102"/>
              <p:cNvSpPr>
                <a:spLocks/>
              </p:cNvSpPr>
              <p:nvPr/>
            </p:nvSpPr>
            <p:spPr bwMode="auto">
              <a:xfrm>
                <a:off x="1122" y="322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Arc 103"/>
              <p:cNvSpPr>
                <a:spLocks/>
              </p:cNvSpPr>
              <p:nvPr/>
            </p:nvSpPr>
            <p:spPr bwMode="auto">
              <a:xfrm>
                <a:off x="1210" y="3272"/>
                <a:ext cx="89" cy="28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Arc 104"/>
              <p:cNvSpPr>
                <a:spLocks/>
              </p:cNvSpPr>
              <p:nvPr/>
            </p:nvSpPr>
            <p:spPr bwMode="auto">
              <a:xfrm>
                <a:off x="1122" y="324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Arc 105"/>
              <p:cNvSpPr>
                <a:spLocks/>
              </p:cNvSpPr>
              <p:nvPr/>
            </p:nvSpPr>
            <p:spPr bwMode="auto">
              <a:xfrm>
                <a:off x="1210" y="324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Arc 106"/>
              <p:cNvSpPr>
                <a:spLocks/>
              </p:cNvSpPr>
              <p:nvPr/>
            </p:nvSpPr>
            <p:spPr bwMode="auto">
              <a:xfrm>
                <a:off x="1122" y="3144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Arc 107"/>
              <p:cNvSpPr>
                <a:spLocks/>
              </p:cNvSpPr>
              <p:nvPr/>
            </p:nvSpPr>
            <p:spPr bwMode="auto">
              <a:xfrm>
                <a:off x="1210" y="3191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Arc 108"/>
              <p:cNvSpPr>
                <a:spLocks/>
              </p:cNvSpPr>
              <p:nvPr/>
            </p:nvSpPr>
            <p:spPr bwMode="auto">
              <a:xfrm>
                <a:off x="1122" y="31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Arc 109"/>
              <p:cNvSpPr>
                <a:spLocks/>
              </p:cNvSpPr>
              <p:nvPr/>
            </p:nvSpPr>
            <p:spPr bwMode="auto">
              <a:xfrm>
                <a:off x="1210" y="3164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10"/>
              <p:cNvSpPr>
                <a:spLocks/>
              </p:cNvSpPr>
              <p:nvPr/>
            </p:nvSpPr>
            <p:spPr bwMode="auto">
              <a:xfrm>
                <a:off x="1122" y="3082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Arc 111"/>
              <p:cNvSpPr>
                <a:spLocks/>
              </p:cNvSpPr>
              <p:nvPr/>
            </p:nvSpPr>
            <p:spPr bwMode="auto">
              <a:xfrm>
                <a:off x="1122" y="3646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12"/>
              <p:cNvSpPr>
                <a:spLocks noChangeShapeType="1"/>
              </p:cNvSpPr>
              <p:nvPr/>
            </p:nvSpPr>
            <p:spPr bwMode="auto">
              <a:xfrm flipV="1">
                <a:off x="1197" y="3008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113"/>
              <p:cNvSpPr>
                <a:spLocks noChangeShapeType="1"/>
              </p:cNvSpPr>
              <p:nvPr/>
            </p:nvSpPr>
            <p:spPr bwMode="auto">
              <a:xfrm flipV="1">
                <a:off x="1197" y="3714"/>
                <a:ext cx="1" cy="6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4"/>
              <p:cNvSpPr>
                <a:spLocks noChangeShapeType="1"/>
              </p:cNvSpPr>
              <p:nvPr/>
            </p:nvSpPr>
            <p:spPr bwMode="auto">
              <a:xfrm flipV="1">
                <a:off x="1197" y="3781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7" name="Rectangle 115"/>
            <p:cNvSpPr>
              <a:spLocks noChangeArrowheads="1"/>
            </p:cNvSpPr>
            <p:nvPr/>
          </p:nvSpPr>
          <p:spPr bwMode="auto">
            <a:xfrm>
              <a:off x="4604" y="2205"/>
              <a:ext cx="5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Symbol" panose="05050102010706020507" pitchFamily="18" charset="2"/>
                </a:rPr>
                <a:t>l</a:t>
              </a:r>
              <a:endParaRPr lang="fr-FR" altLang="fr-FR" sz="1800" baseline="-2500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88" name="Line 116"/>
            <p:cNvSpPr>
              <a:spLocks noChangeShapeType="1"/>
            </p:cNvSpPr>
            <p:nvPr/>
          </p:nvSpPr>
          <p:spPr bwMode="auto">
            <a:xfrm>
              <a:off x="4830" y="2523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ZoneTexte 11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158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130530" y="2825297"/>
            <a:ext cx="2495550" cy="2419350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4305" y="4015922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378305" y="1920422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5378305" y="3158672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984730" y="3449185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535468" y="3387272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1555712"/>
              </p:ext>
            </p:extLst>
          </p:nvPr>
        </p:nvGraphicFramePr>
        <p:xfrm>
          <a:off x="6708630" y="1480685"/>
          <a:ext cx="1933575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Equation" r:id="rId3" imgW="926698" imgH="495085" progId="Equation.3">
                  <p:embed/>
                </p:oleObj>
              </mc:Choice>
              <mc:Fallback>
                <p:oleObj name="Equation" r:id="rId3" imgW="926698" imgH="495085" progId="Equation.3">
                  <p:embed/>
                  <p:pic>
                    <p:nvPicPr>
                      <p:cNvPr id="33792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8630" y="1480685"/>
                        <a:ext cx="1933575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Picture 10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4068" y="2985635"/>
            <a:ext cx="1901825" cy="1127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381730" y="4801735"/>
            <a:ext cx="34604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skin depth thickness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s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conductivity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permeability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f : frequency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8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3430814" y="2782208"/>
            <a:ext cx="2495550" cy="2447925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154589" y="3725183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4678589" y="1905908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4678589" y="2848883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285014" y="3139396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835752" y="3077483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5752" y="2888571"/>
            <a:ext cx="2209800" cy="2770187"/>
            <a:chOff x="643" y="1459"/>
            <a:chExt cx="1392" cy="2128"/>
          </a:xfrm>
        </p:grpSpPr>
        <p:sp useBgFill="1">
          <p:nvSpPr>
            <p:cNvPr id="15" name="Oval 10"/>
            <p:cNvSpPr>
              <a:spLocks noChangeArrowheads="1"/>
            </p:cNvSpPr>
            <p:nvPr/>
          </p:nvSpPr>
          <p:spPr bwMode="auto">
            <a:xfrm>
              <a:off x="643" y="1459"/>
              <a:ext cx="1392" cy="1722"/>
            </a:xfrm>
            <a:prstGeom prst="ellipse">
              <a:avLst/>
            </a:prstGeom>
            <a:ln w="190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 flipV="1">
              <a:off x="1620" y="3180"/>
              <a:ext cx="10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1697" y="3305"/>
              <a:ext cx="182" cy="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Symbol" panose="05050102010706020507" pitchFamily="18" charset="2"/>
                </a:rPr>
                <a:t>d</a:t>
              </a:r>
            </a:p>
          </p:txBody>
        </p:sp>
      </p:grpSp>
      <p:pic>
        <p:nvPicPr>
          <p:cNvPr id="18" name="Picture 1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7" r="50688" b="75621"/>
          <a:stretch/>
        </p:blipFill>
        <p:spPr bwMode="auto">
          <a:xfrm>
            <a:off x="7039201" y="1417410"/>
            <a:ext cx="3606328" cy="2024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7266675" y="3725183"/>
            <a:ext cx="336983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Copper at 25°C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50 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9,4 mm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100 kHz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0,21 mm</a:t>
            </a:r>
          </a:p>
        </p:txBody>
      </p:sp>
      <p:sp>
        <p:nvSpPr>
          <p:cNvPr id="20" name="Text Box 18"/>
          <p:cNvSpPr txBox="1">
            <a:spLocks noChangeArrowheads="1"/>
          </p:cNvSpPr>
          <p:nvPr/>
        </p:nvSpPr>
        <p:spPr bwMode="auto">
          <a:xfrm>
            <a:off x="6757187" y="5433718"/>
            <a:ext cx="424815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=&gt; Multi strand wire, </a:t>
            </a:r>
            <a:r>
              <a:rPr lang="en-CA" altLang="fr-FR" sz="24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Litz</a:t>
            </a: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wire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93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Winding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941837" y="2127086"/>
            <a:ext cx="2536711" cy="3156114"/>
            <a:chOff x="1383" y="1480"/>
            <a:chExt cx="1860" cy="1814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429" y="1480"/>
              <a:ext cx="1814" cy="181"/>
            </a:xfrm>
            <a:prstGeom prst="parallelogram">
              <a:avLst>
                <a:gd name="adj" fmla="val 12369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814" cy="227"/>
            </a:xfrm>
            <a:prstGeom prst="parallelogram">
              <a:avLst>
                <a:gd name="adj" fmla="val 7839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6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 rot="5400000" flipH="1">
              <a:off x="1270" y="2273"/>
              <a:ext cx="1179" cy="227"/>
            </a:xfrm>
            <a:prstGeom prst="parallelogram">
              <a:avLst>
                <a:gd name="adj" fmla="val 7927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1746" y="2795"/>
              <a:ext cx="1179" cy="181"/>
            </a:xfrm>
            <a:prstGeom prst="parallelogram">
              <a:avLst>
                <a:gd name="adj" fmla="val 12680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746" y="1797"/>
              <a:ext cx="1179" cy="181"/>
            </a:xfrm>
            <a:prstGeom prst="parallelogram">
              <a:avLst>
                <a:gd name="adj" fmla="val 12680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179" cy="227"/>
            </a:xfrm>
            <a:prstGeom prst="parallelogram">
              <a:avLst>
                <a:gd name="adj" fmla="val 7927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29" y="1661"/>
              <a:ext cx="1587" cy="3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" name="Rectangle 13"/>
            <p:cNvSpPr>
              <a:spLocks noChangeArrowheads="1"/>
            </p:cNvSpPr>
            <p:nvPr/>
          </p:nvSpPr>
          <p:spPr bwMode="auto">
            <a:xfrm>
              <a:off x="2699" y="1888"/>
              <a:ext cx="317" cy="13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Rectangle 14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1837" y="2341"/>
              <a:ext cx="136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1383" y="2478"/>
              <a:ext cx="227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1429" y="2432"/>
              <a:ext cx="544" cy="136"/>
            </a:xfrm>
            <a:prstGeom prst="parallelogram">
              <a:avLst>
                <a:gd name="adj" fmla="val 17157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1429" y="2387"/>
              <a:ext cx="317" cy="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429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429" y="2478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 rot="16200000" flipH="1">
              <a:off x="1746" y="2251"/>
              <a:ext cx="228" cy="227"/>
            </a:xfrm>
            <a:prstGeom prst="parallelogram">
              <a:avLst>
                <a:gd name="adj" fmla="val 64752"/>
              </a:avLst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1746" y="2341"/>
              <a:ext cx="227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1973" y="2251"/>
              <a:ext cx="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2" name="Group 27"/>
          <p:cNvGrpSpPr>
            <a:grpSpLocks/>
          </p:cNvGrpSpPr>
          <p:nvPr/>
        </p:nvGrpSpPr>
        <p:grpSpPr bwMode="auto">
          <a:xfrm>
            <a:off x="6586410" y="1837752"/>
            <a:ext cx="3608872" cy="4289365"/>
            <a:chOff x="1116" y="1794"/>
            <a:chExt cx="1518" cy="1916"/>
          </a:xfrm>
        </p:grpSpPr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1116" y="1794"/>
              <a:ext cx="1518" cy="161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 useBgFill="1"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1459" y="2143"/>
              <a:ext cx="828" cy="942"/>
            </a:xfrm>
            <a:prstGeom prst="rect">
              <a:avLst/>
            </a:prstGeom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1464" y="2892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1627" y="2893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1790" y="2894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1953" y="289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116" y="289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1543" y="272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1706" y="272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1869" y="272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Oval 38"/>
            <p:cNvSpPr>
              <a:spLocks noChangeArrowheads="1"/>
            </p:cNvSpPr>
            <p:nvPr/>
          </p:nvSpPr>
          <p:spPr bwMode="auto">
            <a:xfrm>
              <a:off x="2032" y="272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4" name="Oval 39"/>
            <p:cNvSpPr>
              <a:spLocks noChangeArrowheads="1"/>
            </p:cNvSpPr>
            <p:nvPr/>
          </p:nvSpPr>
          <p:spPr bwMode="auto">
            <a:xfrm>
              <a:off x="1461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Oval 40"/>
            <p:cNvSpPr>
              <a:spLocks noChangeArrowheads="1"/>
            </p:cNvSpPr>
            <p:nvPr/>
          </p:nvSpPr>
          <p:spPr bwMode="auto">
            <a:xfrm>
              <a:off x="1519" y="214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Oval 41"/>
            <p:cNvSpPr>
              <a:spLocks noChangeArrowheads="1"/>
            </p:cNvSpPr>
            <p:nvPr/>
          </p:nvSpPr>
          <p:spPr bwMode="auto">
            <a:xfrm>
              <a:off x="1577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Oval 42"/>
            <p:cNvSpPr>
              <a:spLocks noChangeArrowheads="1"/>
            </p:cNvSpPr>
            <p:nvPr/>
          </p:nvSpPr>
          <p:spPr bwMode="auto">
            <a:xfrm>
              <a:off x="1635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Oval 43"/>
            <p:cNvSpPr>
              <a:spLocks noChangeArrowheads="1"/>
            </p:cNvSpPr>
            <p:nvPr/>
          </p:nvSpPr>
          <p:spPr bwMode="auto">
            <a:xfrm>
              <a:off x="1693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Oval 44"/>
            <p:cNvSpPr>
              <a:spLocks noChangeArrowheads="1"/>
            </p:cNvSpPr>
            <p:nvPr/>
          </p:nvSpPr>
          <p:spPr bwMode="auto">
            <a:xfrm>
              <a:off x="1751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Oval 45"/>
            <p:cNvSpPr>
              <a:spLocks noChangeArrowheads="1"/>
            </p:cNvSpPr>
            <p:nvPr/>
          </p:nvSpPr>
          <p:spPr bwMode="auto">
            <a:xfrm>
              <a:off x="1809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Oval 46"/>
            <p:cNvSpPr>
              <a:spLocks noChangeArrowheads="1"/>
            </p:cNvSpPr>
            <p:nvPr/>
          </p:nvSpPr>
          <p:spPr bwMode="auto">
            <a:xfrm>
              <a:off x="1867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Oval 47"/>
            <p:cNvSpPr>
              <a:spLocks noChangeArrowheads="1"/>
            </p:cNvSpPr>
            <p:nvPr/>
          </p:nvSpPr>
          <p:spPr bwMode="auto">
            <a:xfrm>
              <a:off x="1925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Oval 48"/>
            <p:cNvSpPr>
              <a:spLocks noChangeArrowheads="1"/>
            </p:cNvSpPr>
            <p:nvPr/>
          </p:nvSpPr>
          <p:spPr bwMode="auto">
            <a:xfrm>
              <a:off x="1983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Oval 49"/>
            <p:cNvSpPr>
              <a:spLocks noChangeArrowheads="1"/>
            </p:cNvSpPr>
            <p:nvPr/>
          </p:nvSpPr>
          <p:spPr bwMode="auto">
            <a:xfrm>
              <a:off x="2041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Oval 50"/>
            <p:cNvSpPr>
              <a:spLocks noChangeArrowheads="1"/>
            </p:cNvSpPr>
            <p:nvPr/>
          </p:nvSpPr>
          <p:spPr bwMode="auto">
            <a:xfrm>
              <a:off x="2099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Oval 51"/>
            <p:cNvSpPr>
              <a:spLocks noChangeArrowheads="1"/>
            </p:cNvSpPr>
            <p:nvPr/>
          </p:nvSpPr>
          <p:spPr bwMode="auto">
            <a:xfrm>
              <a:off x="2156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7" name="Oval 52"/>
            <p:cNvSpPr>
              <a:spLocks noChangeArrowheads="1"/>
            </p:cNvSpPr>
            <p:nvPr/>
          </p:nvSpPr>
          <p:spPr bwMode="auto">
            <a:xfrm>
              <a:off x="2214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Oval 53"/>
            <p:cNvSpPr>
              <a:spLocks noChangeArrowheads="1"/>
            </p:cNvSpPr>
            <p:nvPr/>
          </p:nvSpPr>
          <p:spPr bwMode="auto">
            <a:xfrm>
              <a:off x="1492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Oval 54"/>
            <p:cNvSpPr>
              <a:spLocks noChangeArrowheads="1"/>
            </p:cNvSpPr>
            <p:nvPr/>
          </p:nvSpPr>
          <p:spPr bwMode="auto">
            <a:xfrm>
              <a:off x="1550" y="221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0" name="Oval 55"/>
            <p:cNvSpPr>
              <a:spLocks noChangeArrowheads="1"/>
            </p:cNvSpPr>
            <p:nvPr/>
          </p:nvSpPr>
          <p:spPr bwMode="auto">
            <a:xfrm>
              <a:off x="1608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1" name="Oval 56"/>
            <p:cNvSpPr>
              <a:spLocks noChangeArrowheads="1"/>
            </p:cNvSpPr>
            <p:nvPr/>
          </p:nvSpPr>
          <p:spPr bwMode="auto">
            <a:xfrm>
              <a:off x="1666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724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1782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1840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1898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956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2014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2072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2130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2187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" name="Oval 66"/>
            <p:cNvSpPr>
              <a:spLocks noChangeArrowheads="1"/>
            </p:cNvSpPr>
            <p:nvPr/>
          </p:nvSpPr>
          <p:spPr bwMode="auto">
            <a:xfrm>
              <a:off x="1462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520" y="227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1578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1636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1694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752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810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868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926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1984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Oval 76"/>
            <p:cNvSpPr>
              <a:spLocks noChangeArrowheads="1"/>
            </p:cNvSpPr>
            <p:nvPr/>
          </p:nvSpPr>
          <p:spPr bwMode="auto">
            <a:xfrm>
              <a:off x="2042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100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2157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2215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1493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551" y="233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9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67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725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1783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1" name="Oval 86"/>
            <p:cNvSpPr>
              <a:spLocks noChangeArrowheads="1"/>
            </p:cNvSpPr>
            <p:nvPr/>
          </p:nvSpPr>
          <p:spPr bwMode="auto">
            <a:xfrm>
              <a:off x="1841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Oval 87"/>
            <p:cNvSpPr>
              <a:spLocks noChangeArrowheads="1"/>
            </p:cNvSpPr>
            <p:nvPr/>
          </p:nvSpPr>
          <p:spPr bwMode="auto">
            <a:xfrm>
              <a:off x="1899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Oval 88"/>
            <p:cNvSpPr>
              <a:spLocks noChangeArrowheads="1"/>
            </p:cNvSpPr>
            <p:nvPr/>
          </p:nvSpPr>
          <p:spPr bwMode="auto">
            <a:xfrm>
              <a:off x="1957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" name="Oval 89"/>
            <p:cNvSpPr>
              <a:spLocks noChangeArrowheads="1"/>
            </p:cNvSpPr>
            <p:nvPr/>
          </p:nvSpPr>
          <p:spPr bwMode="auto">
            <a:xfrm>
              <a:off x="2015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5" name="Oval 90"/>
            <p:cNvSpPr>
              <a:spLocks noChangeArrowheads="1"/>
            </p:cNvSpPr>
            <p:nvPr/>
          </p:nvSpPr>
          <p:spPr bwMode="auto">
            <a:xfrm>
              <a:off x="2073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" name="Oval 91"/>
            <p:cNvSpPr>
              <a:spLocks noChangeArrowheads="1"/>
            </p:cNvSpPr>
            <p:nvPr/>
          </p:nvSpPr>
          <p:spPr bwMode="auto">
            <a:xfrm>
              <a:off x="2131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Oval 92"/>
            <p:cNvSpPr>
              <a:spLocks noChangeArrowheads="1"/>
            </p:cNvSpPr>
            <p:nvPr/>
          </p:nvSpPr>
          <p:spPr bwMode="auto">
            <a:xfrm>
              <a:off x="2188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" name="Oval 93"/>
            <p:cNvSpPr>
              <a:spLocks noChangeArrowheads="1"/>
            </p:cNvSpPr>
            <p:nvPr/>
          </p:nvSpPr>
          <p:spPr bwMode="auto">
            <a:xfrm>
              <a:off x="1463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9" name="Oval 94"/>
            <p:cNvSpPr>
              <a:spLocks noChangeArrowheads="1"/>
            </p:cNvSpPr>
            <p:nvPr/>
          </p:nvSpPr>
          <p:spPr bwMode="auto">
            <a:xfrm>
              <a:off x="1521" y="239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" name="Oval 95"/>
            <p:cNvSpPr>
              <a:spLocks noChangeArrowheads="1"/>
            </p:cNvSpPr>
            <p:nvPr/>
          </p:nvSpPr>
          <p:spPr bwMode="auto">
            <a:xfrm>
              <a:off x="1579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Oval 96"/>
            <p:cNvSpPr>
              <a:spLocks noChangeArrowheads="1"/>
            </p:cNvSpPr>
            <p:nvPr/>
          </p:nvSpPr>
          <p:spPr bwMode="auto">
            <a:xfrm>
              <a:off x="1637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Oval 97"/>
            <p:cNvSpPr>
              <a:spLocks noChangeArrowheads="1"/>
            </p:cNvSpPr>
            <p:nvPr/>
          </p:nvSpPr>
          <p:spPr bwMode="auto">
            <a:xfrm>
              <a:off x="1695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3" name="Oval 98"/>
            <p:cNvSpPr>
              <a:spLocks noChangeArrowheads="1"/>
            </p:cNvSpPr>
            <p:nvPr/>
          </p:nvSpPr>
          <p:spPr bwMode="auto">
            <a:xfrm>
              <a:off x="1753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4" name="Oval 99"/>
            <p:cNvSpPr>
              <a:spLocks noChangeArrowheads="1"/>
            </p:cNvSpPr>
            <p:nvPr/>
          </p:nvSpPr>
          <p:spPr bwMode="auto">
            <a:xfrm>
              <a:off x="1811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5" name="Oval 100"/>
            <p:cNvSpPr>
              <a:spLocks noChangeArrowheads="1"/>
            </p:cNvSpPr>
            <p:nvPr/>
          </p:nvSpPr>
          <p:spPr bwMode="auto">
            <a:xfrm>
              <a:off x="1869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6" name="Oval 101"/>
            <p:cNvSpPr>
              <a:spLocks noChangeArrowheads="1"/>
            </p:cNvSpPr>
            <p:nvPr/>
          </p:nvSpPr>
          <p:spPr bwMode="auto">
            <a:xfrm>
              <a:off x="1927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7" name="Oval 102"/>
            <p:cNvSpPr>
              <a:spLocks noChangeArrowheads="1"/>
            </p:cNvSpPr>
            <p:nvPr/>
          </p:nvSpPr>
          <p:spPr bwMode="auto">
            <a:xfrm>
              <a:off x="1985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8" name="Oval 103"/>
            <p:cNvSpPr>
              <a:spLocks noChangeArrowheads="1"/>
            </p:cNvSpPr>
            <p:nvPr/>
          </p:nvSpPr>
          <p:spPr bwMode="auto">
            <a:xfrm>
              <a:off x="2043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2101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2158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2216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2" name="Oval 107"/>
            <p:cNvSpPr>
              <a:spLocks noChangeArrowheads="1"/>
            </p:cNvSpPr>
            <p:nvPr/>
          </p:nvSpPr>
          <p:spPr bwMode="auto">
            <a:xfrm>
              <a:off x="1494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Oval 108"/>
            <p:cNvSpPr>
              <a:spLocks noChangeArrowheads="1"/>
            </p:cNvSpPr>
            <p:nvPr/>
          </p:nvSpPr>
          <p:spPr bwMode="auto">
            <a:xfrm>
              <a:off x="1552" y="245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4" name="Oval 109"/>
            <p:cNvSpPr>
              <a:spLocks noChangeArrowheads="1"/>
            </p:cNvSpPr>
            <p:nvPr/>
          </p:nvSpPr>
          <p:spPr bwMode="auto">
            <a:xfrm>
              <a:off x="1610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Oval 110"/>
            <p:cNvSpPr>
              <a:spLocks noChangeArrowheads="1"/>
            </p:cNvSpPr>
            <p:nvPr/>
          </p:nvSpPr>
          <p:spPr bwMode="auto">
            <a:xfrm>
              <a:off x="1668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6" name="Oval 111"/>
            <p:cNvSpPr>
              <a:spLocks noChangeArrowheads="1"/>
            </p:cNvSpPr>
            <p:nvPr/>
          </p:nvSpPr>
          <p:spPr bwMode="auto">
            <a:xfrm>
              <a:off x="1726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12"/>
            <p:cNvSpPr>
              <a:spLocks noChangeArrowheads="1"/>
            </p:cNvSpPr>
            <p:nvPr/>
          </p:nvSpPr>
          <p:spPr bwMode="auto">
            <a:xfrm>
              <a:off x="1784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13"/>
            <p:cNvSpPr>
              <a:spLocks noChangeArrowheads="1"/>
            </p:cNvSpPr>
            <p:nvPr/>
          </p:nvSpPr>
          <p:spPr bwMode="auto">
            <a:xfrm>
              <a:off x="1842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14"/>
            <p:cNvSpPr>
              <a:spLocks noChangeArrowheads="1"/>
            </p:cNvSpPr>
            <p:nvPr/>
          </p:nvSpPr>
          <p:spPr bwMode="auto">
            <a:xfrm>
              <a:off x="1900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15"/>
            <p:cNvSpPr>
              <a:spLocks noChangeArrowheads="1"/>
            </p:cNvSpPr>
            <p:nvPr/>
          </p:nvSpPr>
          <p:spPr bwMode="auto">
            <a:xfrm>
              <a:off x="1958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1" name="Oval 116"/>
            <p:cNvSpPr>
              <a:spLocks noChangeArrowheads="1"/>
            </p:cNvSpPr>
            <p:nvPr/>
          </p:nvSpPr>
          <p:spPr bwMode="auto">
            <a:xfrm>
              <a:off x="2016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2" name="Oval 117"/>
            <p:cNvSpPr>
              <a:spLocks noChangeArrowheads="1"/>
            </p:cNvSpPr>
            <p:nvPr/>
          </p:nvSpPr>
          <p:spPr bwMode="auto">
            <a:xfrm>
              <a:off x="2074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3" name="Oval 118"/>
            <p:cNvSpPr>
              <a:spLocks noChangeArrowheads="1"/>
            </p:cNvSpPr>
            <p:nvPr/>
          </p:nvSpPr>
          <p:spPr bwMode="auto">
            <a:xfrm>
              <a:off x="2132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4" name="Oval 119"/>
            <p:cNvSpPr>
              <a:spLocks noChangeArrowheads="1"/>
            </p:cNvSpPr>
            <p:nvPr/>
          </p:nvSpPr>
          <p:spPr bwMode="auto">
            <a:xfrm>
              <a:off x="2189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5" name="Oval 120"/>
            <p:cNvSpPr>
              <a:spLocks noChangeArrowheads="1"/>
            </p:cNvSpPr>
            <p:nvPr/>
          </p:nvSpPr>
          <p:spPr bwMode="auto">
            <a:xfrm>
              <a:off x="1462" y="255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1625" y="255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1788" y="2559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8" name="Oval 123"/>
            <p:cNvSpPr>
              <a:spLocks noChangeArrowheads="1"/>
            </p:cNvSpPr>
            <p:nvPr/>
          </p:nvSpPr>
          <p:spPr bwMode="auto">
            <a:xfrm>
              <a:off x="1951" y="2560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9" name="Oval 124"/>
            <p:cNvSpPr>
              <a:spLocks noChangeArrowheads="1"/>
            </p:cNvSpPr>
            <p:nvPr/>
          </p:nvSpPr>
          <p:spPr bwMode="auto">
            <a:xfrm>
              <a:off x="2114" y="2561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1574" y="3504"/>
              <a:ext cx="657" cy="2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k</a:t>
              </a:r>
              <a:r>
                <a:rPr lang="fr-FR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  <a:r>
                <a:rPr lang="fr-FR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= 0,7</a:t>
              </a:r>
            </a:p>
          </p:txBody>
        </p:sp>
      </p:grpSp>
      <p:sp>
        <p:nvSpPr>
          <p:cNvPr id="321" name="ZoneTexte 3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Capacitor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4721580" y="2712164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4361217" y="3432889"/>
            <a:ext cx="7191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4361217" y="3577351"/>
            <a:ext cx="7191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9"/>
          <p:cNvSpPr>
            <a:spLocks noChangeShapeType="1"/>
          </p:cNvSpPr>
          <p:nvPr/>
        </p:nvSpPr>
        <p:spPr bwMode="auto">
          <a:xfrm>
            <a:off x="4721580" y="3577351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3977123" y="3271261"/>
            <a:ext cx="40748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13" name="Group 11"/>
          <p:cNvGrpSpPr>
            <a:grpSpLocks/>
          </p:cNvGrpSpPr>
          <p:nvPr/>
        </p:nvGrpSpPr>
        <p:grpSpPr bwMode="auto">
          <a:xfrm>
            <a:off x="4170719" y="1488201"/>
            <a:ext cx="693738" cy="1223963"/>
            <a:chOff x="1989" y="1298"/>
            <a:chExt cx="437" cy="771"/>
          </a:xfrm>
        </p:grpSpPr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2245" y="1525"/>
              <a:ext cx="181" cy="54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Line 13"/>
            <p:cNvSpPr>
              <a:spLocks noChangeShapeType="1"/>
            </p:cNvSpPr>
            <p:nvPr/>
          </p:nvSpPr>
          <p:spPr bwMode="auto">
            <a:xfrm flipV="1">
              <a:off x="2336" y="1298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Text Box 14"/>
            <p:cNvSpPr txBox="1">
              <a:spLocks noChangeArrowheads="1"/>
            </p:cNvSpPr>
            <p:nvPr/>
          </p:nvSpPr>
          <p:spPr bwMode="auto">
            <a:xfrm>
              <a:off x="1989" y="1622"/>
              <a:ext cx="202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r</a:t>
              </a:r>
            </a:p>
          </p:txBody>
        </p:sp>
      </p:grp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4762855" y="2229564"/>
            <a:ext cx="184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8" name="Group 16"/>
          <p:cNvGrpSpPr>
            <a:grpSpLocks/>
          </p:cNvGrpSpPr>
          <p:nvPr/>
        </p:nvGrpSpPr>
        <p:grpSpPr bwMode="auto">
          <a:xfrm>
            <a:off x="6807554" y="1580519"/>
            <a:ext cx="3081338" cy="1746251"/>
            <a:chOff x="2750" y="1326"/>
            <a:chExt cx="1941" cy="1100"/>
          </a:xfrm>
        </p:grpSpPr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2750" y="1326"/>
              <a:ext cx="1941" cy="2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Losses in the capacitor</a:t>
              </a:r>
            </a:p>
          </p:txBody>
        </p:sp>
        <p:graphicFrame>
          <p:nvGraphicFramePr>
            <p:cNvPr id="2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05431554"/>
                </p:ext>
              </p:extLst>
            </p:nvPr>
          </p:nvGraphicFramePr>
          <p:xfrm>
            <a:off x="3129" y="1867"/>
            <a:ext cx="1184" cy="5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145" name="Equation" r:id="rId3" imgW="457002" imgH="215806" progId="Equation.3">
                    <p:embed/>
                  </p:oleObj>
                </mc:Choice>
                <mc:Fallback>
                  <p:oleObj name="Equation" r:id="rId3" imgW="457002" imgH="215806" progId="Equation.3">
                    <p:embed/>
                    <p:pic>
                      <p:nvPicPr>
                        <p:cNvPr id="23576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29" y="1867"/>
                          <a:ext cx="1184" cy="55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>
                          <a:solidFill>
                            <a:srgbClr val="FF33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1" name="Line 19"/>
          <p:cNvSpPr>
            <a:spLocks noChangeShapeType="1"/>
          </p:cNvSpPr>
          <p:nvPr/>
        </p:nvSpPr>
        <p:spPr bwMode="auto">
          <a:xfrm>
            <a:off x="4716817" y="3732926"/>
            <a:ext cx="0" cy="419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0"/>
          <p:cNvSpPr txBox="1">
            <a:spLocks noChangeArrowheads="1"/>
          </p:cNvSpPr>
          <p:nvPr/>
        </p:nvSpPr>
        <p:spPr bwMode="auto">
          <a:xfrm>
            <a:off x="4338992" y="3828176"/>
            <a:ext cx="26962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400">
                <a:solidFill>
                  <a:schemeClr val="tx1"/>
                </a:solidFill>
                <a:latin typeface="Times New Roman" panose="02020603050405020304" pitchFamily="18" charset="0"/>
              </a:rPr>
              <a:t>i</a:t>
            </a:r>
          </a:p>
        </p:txBody>
      </p:sp>
      <p:grpSp>
        <p:nvGrpSpPr>
          <p:cNvPr id="23" name="Group 24"/>
          <p:cNvGrpSpPr>
            <a:grpSpLocks/>
          </p:cNvGrpSpPr>
          <p:nvPr/>
        </p:nvGrpSpPr>
        <p:grpSpPr bwMode="auto">
          <a:xfrm>
            <a:off x="5374754" y="1657364"/>
            <a:ext cx="4249738" cy="2505075"/>
            <a:chOff x="1950" y="1404"/>
            <a:chExt cx="2677" cy="1578"/>
          </a:xfrm>
        </p:grpSpPr>
        <p:sp>
          <p:nvSpPr>
            <p:cNvPr id="24" name="Text Box 21"/>
            <p:cNvSpPr txBox="1">
              <a:spLocks noChangeArrowheads="1"/>
            </p:cNvSpPr>
            <p:nvPr/>
          </p:nvSpPr>
          <p:spPr bwMode="auto">
            <a:xfrm>
              <a:off x="3008" y="2628"/>
              <a:ext cx="1619" cy="29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Rated voltage: </a:t>
              </a:r>
              <a:r>
                <a:rPr lang="en-CA" altLang="fr-FR" sz="2400" dirty="0" err="1" smtClean="0">
                  <a:solidFill>
                    <a:schemeClr val="tx1"/>
                  </a:solidFill>
                  <a:latin typeface="Times New Roman" panose="02020603050405020304" pitchFamily="18" charset="0"/>
                </a:rPr>
                <a:t>U</a:t>
              </a:r>
              <a:r>
                <a:rPr lang="en-CA" altLang="fr-FR" sz="2400" baseline="-25000" dirty="0" err="1" smtClean="0">
                  <a:solidFill>
                    <a:schemeClr val="tx1"/>
                  </a:solidFill>
                  <a:latin typeface="Times New Roman" panose="02020603050405020304" pitchFamily="18" charset="0"/>
                </a:rPr>
                <a:t>eff</a:t>
              </a:r>
              <a:endPara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2"/>
            <p:cNvSpPr>
              <a:spLocks noChangeShapeType="1"/>
            </p:cNvSpPr>
            <p:nvPr/>
          </p:nvSpPr>
          <p:spPr bwMode="auto">
            <a:xfrm flipV="1">
              <a:off x="1950" y="1404"/>
              <a:ext cx="0" cy="1578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Text Box 23"/>
            <p:cNvSpPr txBox="1">
              <a:spLocks noChangeArrowheads="1"/>
            </p:cNvSpPr>
            <p:nvPr/>
          </p:nvSpPr>
          <p:spPr bwMode="auto">
            <a:xfrm>
              <a:off x="2017" y="2031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u</a:t>
              </a:r>
            </a:p>
          </p:txBody>
        </p:sp>
      </p:grp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4032498" y="5689535"/>
            <a:ext cx="64219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Multiple technologies : depends on the frequency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4864457" y="4784116"/>
            <a:ext cx="4758034" cy="46166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smtClean="0">
                <a:solidFill>
                  <a:schemeClr val="tx1"/>
                </a:solidFill>
                <a:latin typeface="Times New Roman" panose="02020603050405020304" pitchFamily="18" charset="0"/>
              </a:rPr>
              <a:t>r : ESR (Equivalent Series Resistor)</a:t>
            </a:r>
            <a:endParaRPr lang="en-CA" altLang="fr-FR" sz="2400" b="1" i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Capacitor</a:t>
            </a:r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51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/>
          <p:cNvSpPr/>
          <p:nvPr/>
        </p:nvSpPr>
        <p:spPr>
          <a:xfrm rot="16200000">
            <a:off x="9313225" y="2635893"/>
            <a:ext cx="1094884" cy="24684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Passive components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Capacitor</a:t>
            </a:r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830285" y="1335314"/>
            <a:ext cx="53889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Electrolytic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smtClean="0"/>
              <a:t>High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smtClean="0"/>
              <a:t>Polarized -&gt; DC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rgbClr val="FF0000"/>
                </a:solidFill>
              </a:rPr>
              <a:t>Lifetime depends on temperature</a:t>
            </a:r>
            <a:endParaRPr lang="en-US" sz="2800" dirty="0" smtClean="0"/>
          </a:p>
          <a:p>
            <a:endParaRPr lang="en-US" sz="28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Ceramic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“low”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High frequency</a:t>
            </a:r>
            <a:endParaRPr lang="en-US" sz="32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 smtClean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Films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Self-healing</a:t>
            </a:r>
            <a:endParaRPr lang="en-US" sz="2400" dirty="0"/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855" y="295562"/>
            <a:ext cx="1570038" cy="1290134"/>
          </a:xfrm>
          <a:prstGeom prst="rect">
            <a:avLst/>
          </a:prstGeom>
        </p:spPr>
      </p:pic>
      <p:grpSp>
        <p:nvGrpSpPr>
          <p:cNvPr id="59" name="Groupe 58"/>
          <p:cNvGrpSpPr/>
          <p:nvPr/>
        </p:nvGrpSpPr>
        <p:grpSpPr>
          <a:xfrm>
            <a:off x="7675418" y="0"/>
            <a:ext cx="3553320" cy="3140424"/>
            <a:chOff x="7062839" y="65582"/>
            <a:chExt cx="3553320" cy="3140424"/>
          </a:xfrm>
        </p:grpSpPr>
        <p:sp>
          <p:nvSpPr>
            <p:cNvPr id="32" name="Rectangle 31"/>
            <p:cNvSpPr/>
            <p:nvPr/>
          </p:nvSpPr>
          <p:spPr>
            <a:xfrm>
              <a:off x="8025740" y="620209"/>
              <a:ext cx="809078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834818" y="620209"/>
              <a:ext cx="175832" cy="187130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010650" y="620209"/>
              <a:ext cx="419100" cy="187130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448800" y="620209"/>
              <a:ext cx="241300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37"/>
            <p:cNvCxnSpPr>
              <a:stCxn id="32" idx="1"/>
            </p:cNvCxnSpPr>
            <p:nvPr/>
          </p:nvCxnSpPr>
          <p:spPr>
            <a:xfrm flipH="1" flipV="1">
              <a:off x="7248187" y="1549400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 flipH="1" flipV="1">
              <a:off x="9704781" y="1555862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ZoneTexte 40"/>
            <p:cNvSpPr txBox="1"/>
            <p:nvPr/>
          </p:nvSpPr>
          <p:spPr>
            <a:xfrm>
              <a:off x="7062839" y="971087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 smtClean="0"/>
                <a:t>+</a:t>
              </a:r>
              <a:endParaRPr lang="fr-FR" sz="3200" b="1" dirty="0"/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10306459" y="977549"/>
              <a:ext cx="3097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 smtClean="0"/>
                <a:t>-</a:t>
              </a:r>
              <a:endParaRPr lang="fr-FR" sz="3200" b="1" dirty="0"/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8785860" y="65582"/>
              <a:ext cx="396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 smtClean="0"/>
                <a:t>Al</a:t>
              </a:r>
              <a:endParaRPr lang="fr-FR" b="1" i="1" dirty="0"/>
            </a:p>
          </p:txBody>
        </p:sp>
        <p:cxnSp>
          <p:nvCxnSpPr>
            <p:cNvPr id="45" name="Connecteur droit 44"/>
            <p:cNvCxnSpPr/>
            <p:nvPr/>
          </p:nvCxnSpPr>
          <p:spPr>
            <a:xfrm flipH="1">
              <a:off x="8442326" y="346075"/>
              <a:ext cx="392492" cy="4667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9093200" y="346075"/>
              <a:ext cx="476250" cy="415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ZoneTexte 50"/>
            <p:cNvSpPr txBox="1"/>
            <p:nvPr/>
          </p:nvSpPr>
          <p:spPr>
            <a:xfrm>
              <a:off x="8402047" y="2698175"/>
              <a:ext cx="767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 smtClean="0"/>
                <a:t>Al</a:t>
              </a:r>
              <a:r>
                <a:rPr lang="fr-FR" b="1" i="1" baseline="-25000" dirty="0" smtClean="0"/>
                <a:t>2</a:t>
              </a:r>
              <a:r>
                <a:rPr lang="fr-FR" b="1" i="1" dirty="0" smtClean="0"/>
                <a:t>O</a:t>
              </a:r>
              <a:r>
                <a:rPr lang="fr-FR" b="1" i="1" baseline="-25000" dirty="0" smtClean="0"/>
                <a:t>3</a:t>
              </a:r>
              <a:endParaRPr lang="fr-FR" b="1" i="1" baseline="-25000" dirty="0"/>
            </a:p>
          </p:txBody>
        </p:sp>
        <p:cxnSp>
          <p:nvCxnSpPr>
            <p:cNvPr id="52" name="Connecteur droit 51"/>
            <p:cNvCxnSpPr/>
            <p:nvPr/>
          </p:nvCxnSpPr>
          <p:spPr>
            <a:xfrm flipH="1">
              <a:off x="8726488" y="2308324"/>
              <a:ext cx="220263" cy="482743"/>
            </a:xfrm>
            <a:prstGeom prst="line">
              <a:avLst/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ZoneTexte 53"/>
            <p:cNvSpPr txBox="1"/>
            <p:nvPr/>
          </p:nvSpPr>
          <p:spPr>
            <a:xfrm>
              <a:off x="9319074" y="2559675"/>
              <a:ext cx="1297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 smtClean="0"/>
                <a:t>Electrolytic paper</a:t>
              </a:r>
              <a:endParaRPr lang="en-US" b="1" i="1" baseline="-25000" dirty="0"/>
            </a:p>
          </p:txBody>
        </p:sp>
        <p:cxnSp>
          <p:nvCxnSpPr>
            <p:cNvPr id="55" name="Connecteur droit 54"/>
            <p:cNvCxnSpPr/>
            <p:nvPr/>
          </p:nvCxnSpPr>
          <p:spPr>
            <a:xfrm>
              <a:off x="9278003" y="2353474"/>
              <a:ext cx="365893" cy="280817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0" name="Image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020" y="3126212"/>
            <a:ext cx="1793398" cy="1490436"/>
          </a:xfrm>
          <a:prstGeom prst="rect">
            <a:avLst/>
          </a:prstGeom>
        </p:spPr>
      </p:pic>
      <p:pic>
        <p:nvPicPr>
          <p:cNvPr id="61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020" y="5183731"/>
            <a:ext cx="1514737" cy="1163204"/>
          </a:xfrm>
          <a:prstGeom prst="rect">
            <a:avLst/>
          </a:prstGeom>
        </p:spPr>
      </p:pic>
      <p:cxnSp>
        <p:nvCxnSpPr>
          <p:cNvPr id="63" name="Connecteur droit 62"/>
          <p:cNvCxnSpPr/>
          <p:nvPr/>
        </p:nvCxnSpPr>
        <p:spPr>
          <a:xfrm>
            <a:off x="8638319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1094913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H="1">
            <a:off x="8626421" y="3338090"/>
            <a:ext cx="229261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884761" y="3525704"/>
            <a:ext cx="21891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 flipH="1">
            <a:off x="8659344" y="3686877"/>
            <a:ext cx="225969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H="1">
            <a:off x="8884761" y="3874491"/>
            <a:ext cx="22220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H="1">
            <a:off x="8652611" y="4069813"/>
            <a:ext cx="22664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flipH="1">
            <a:off x="8870070" y="4257427"/>
            <a:ext cx="223953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H="1" flipV="1">
            <a:off x="8646632" y="4412239"/>
            <a:ext cx="1963710" cy="534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480425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/>
          <p:cNvSpPr/>
          <p:nvPr/>
        </p:nvSpPr>
        <p:spPr>
          <a:xfrm>
            <a:off x="11141121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ZoneTexte 84"/>
          <p:cNvSpPr txBox="1"/>
          <p:nvPr/>
        </p:nvSpPr>
        <p:spPr>
          <a:xfrm>
            <a:off x="10356794" y="4567050"/>
            <a:ext cx="129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 smtClean="0"/>
              <a:t>Ceramic</a:t>
            </a:r>
            <a:endParaRPr lang="en-US" b="1" i="1" baseline="-25000" dirty="0"/>
          </a:p>
        </p:txBody>
      </p:sp>
      <p:sp>
        <p:nvSpPr>
          <p:cNvPr id="86" name="ZoneTexte 85"/>
          <p:cNvSpPr txBox="1"/>
          <p:nvPr/>
        </p:nvSpPr>
        <p:spPr>
          <a:xfrm>
            <a:off x="7376184" y="4504964"/>
            <a:ext cx="1297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 smtClean="0"/>
              <a:t>External contact</a:t>
            </a:r>
            <a:endParaRPr lang="en-US" b="1" i="1" baseline="-25000" dirty="0"/>
          </a:p>
        </p:txBody>
      </p:sp>
      <p:cxnSp>
        <p:nvCxnSpPr>
          <p:cNvPr id="87" name="Connecteur droit 86"/>
          <p:cNvCxnSpPr/>
          <p:nvPr/>
        </p:nvCxnSpPr>
        <p:spPr>
          <a:xfrm flipV="1">
            <a:off x="8040930" y="4257427"/>
            <a:ext cx="439495" cy="263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10751937" y="4354204"/>
            <a:ext cx="365893" cy="28081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6816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Active components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560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Active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649890" y="1765981"/>
            <a:ext cx="1368425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PN junction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553" y="1527856"/>
            <a:ext cx="294322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990" y="3472543"/>
            <a:ext cx="271462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813403" y="3688443"/>
            <a:ext cx="752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Diode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𝐴𝐾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10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static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8063035" y="113030"/>
            <a:ext cx="3681413" cy="4373563"/>
            <a:chOff x="3112" y="196"/>
            <a:chExt cx="2319" cy="2755"/>
          </a:xfrm>
        </p:grpSpPr>
        <p:sp>
          <p:nvSpPr>
            <p:cNvPr id="7" name="Freeform 3"/>
            <p:cNvSpPr>
              <a:spLocks noChangeArrowheads="1"/>
            </p:cNvSpPr>
            <p:nvPr/>
          </p:nvSpPr>
          <p:spPr bwMode="auto">
            <a:xfrm>
              <a:off x="4257" y="1264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4289" y="1328"/>
              <a:ext cx="0" cy="156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5"/>
            <p:cNvSpPr>
              <a:spLocks noChangeArrowheads="1"/>
            </p:cNvSpPr>
            <p:nvPr/>
          </p:nvSpPr>
          <p:spPr bwMode="auto">
            <a:xfrm>
              <a:off x="5081" y="2360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>
              <a:off x="3112" y="2400"/>
              <a:ext cx="1985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4177" y="1152"/>
              <a:ext cx="53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5217" y="2152"/>
              <a:ext cx="95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329" y="2280"/>
              <a:ext cx="102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AK</a:t>
              </a:r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4153" y="2256"/>
              <a:ext cx="56" cy="1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3852" y="1872"/>
              <a:ext cx="617" cy="55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2 w 21600"/>
                <a:gd name="T19" fmla="*/ 10781 h 21600"/>
                <a:gd name="T20" fmla="*/ 17469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  <a:lnTo>
                    <a:pt x="10800" y="10800"/>
                  </a:lnTo>
                  <a:lnTo>
                    <a:pt x="17348" y="19387"/>
                  </a:lnTo>
                  <a:close/>
                </a:path>
                <a:path w="21600" h="21600" fill="none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utoShape 12"/>
            <p:cNvSpPr>
              <a:spLocks noChangeArrowheads="1"/>
            </p:cNvSpPr>
            <p:nvPr/>
          </p:nvSpPr>
          <p:spPr bwMode="auto">
            <a:xfrm>
              <a:off x="3908" y="196"/>
              <a:ext cx="719" cy="22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5 w 21600"/>
                <a:gd name="T19" fmla="*/ 10604 h 21600"/>
                <a:gd name="T20" fmla="*/ 21600 w 21600"/>
                <a:gd name="T21" fmla="*/ 2130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  <a:lnTo>
                    <a:pt x="10800" y="10800"/>
                  </a:lnTo>
                  <a:lnTo>
                    <a:pt x="21599" y="10759"/>
                  </a:lnTo>
                  <a:close/>
                </a:path>
                <a:path w="21600" h="21600" fill="none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3279" y="2424"/>
              <a:ext cx="905" cy="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>
              <a:off x="3177" y="2436"/>
              <a:ext cx="255" cy="20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58 w 21600"/>
                <a:gd name="T21" fmla="*/ 10748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  <a:lnTo>
                    <a:pt x="10800" y="10800"/>
                  </a:lnTo>
                  <a:lnTo>
                    <a:pt x="0" y="10733"/>
                  </a:lnTo>
                  <a:close/>
                </a:path>
                <a:path w="21600" h="21600" fill="none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177" y="2544"/>
              <a:ext cx="0" cy="40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177" y="2376"/>
              <a:ext cx="0" cy="5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273" y="1624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513" y="2376"/>
              <a:ext cx="0" cy="4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273" y="2448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20"/>
            <p:cNvSpPr>
              <a:spLocks noChangeArrowheads="1"/>
            </p:cNvSpPr>
            <p:nvPr/>
          </p:nvSpPr>
          <p:spPr bwMode="auto">
            <a:xfrm>
              <a:off x="4121" y="2448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7" name="Rectangle 21"/>
            <p:cNvSpPr>
              <a:spLocks noChangeArrowheads="1"/>
            </p:cNvSpPr>
            <p:nvPr/>
          </p:nvSpPr>
          <p:spPr bwMode="auto">
            <a:xfrm>
              <a:off x="4169" y="2488"/>
              <a:ext cx="27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8" name="Rectangle 22"/>
            <p:cNvSpPr>
              <a:spLocks noChangeArrowheads="1"/>
            </p:cNvSpPr>
            <p:nvPr/>
          </p:nvSpPr>
          <p:spPr bwMode="auto">
            <a:xfrm>
              <a:off x="4097" y="1536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23"/>
            <p:cNvSpPr>
              <a:spLocks noChangeArrowheads="1"/>
            </p:cNvSpPr>
            <p:nvPr/>
          </p:nvSpPr>
          <p:spPr bwMode="auto">
            <a:xfrm>
              <a:off x="4153" y="1576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0" name="Rectangle 24"/>
            <p:cNvSpPr>
              <a:spLocks noChangeArrowheads="1"/>
            </p:cNvSpPr>
            <p:nvPr/>
          </p:nvSpPr>
          <p:spPr bwMode="auto">
            <a:xfrm>
              <a:off x="4497" y="2440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1" name="Rectangle 25"/>
            <p:cNvSpPr>
              <a:spLocks noChangeArrowheads="1"/>
            </p:cNvSpPr>
            <p:nvPr/>
          </p:nvSpPr>
          <p:spPr bwMode="auto">
            <a:xfrm>
              <a:off x="4569" y="2480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2" name="Rectangle 26"/>
            <p:cNvSpPr>
              <a:spLocks noChangeArrowheads="1"/>
            </p:cNvSpPr>
            <p:nvPr/>
          </p:nvSpPr>
          <p:spPr bwMode="auto">
            <a:xfrm>
              <a:off x="3193" y="2216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3265" y="2272"/>
              <a:ext cx="95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BR</a:t>
              </a:r>
            </a:p>
          </p:txBody>
        </p:sp>
      </p:grpSp>
      <p:sp>
        <p:nvSpPr>
          <p:cNvPr id="34" name="Text Box 28"/>
          <p:cNvSpPr txBox="1">
            <a:spLocks noChangeArrowheads="1"/>
          </p:cNvSpPr>
          <p:nvPr/>
        </p:nvSpPr>
        <p:spPr bwMode="auto">
          <a:xfrm>
            <a:off x="2759426" y="1670259"/>
            <a:ext cx="5215059" cy="157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Average forward current, or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,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AV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FSM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surge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Reverse repetitive current</a:t>
            </a:r>
          </a:p>
        </p:txBody>
      </p:sp>
      <p:sp>
        <p:nvSpPr>
          <p:cNvPr id="35" name="Text Box 29"/>
          <p:cNvSpPr txBox="1">
            <a:spLocks noChangeArrowheads="1"/>
          </p:cNvSpPr>
          <p:nvPr/>
        </p:nvSpPr>
        <p:spPr bwMode="auto">
          <a:xfrm>
            <a:off x="2903889" y="4767471"/>
            <a:ext cx="5159146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Forward voltage or 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BR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Breakdown reverse voltage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repetitive reverse voltage</a:t>
            </a:r>
          </a:p>
        </p:txBody>
      </p:sp>
      <p:pic>
        <p:nvPicPr>
          <p:cNvPr id="36" name="Picture 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245" y="5003064"/>
            <a:ext cx="2875594" cy="1372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7" name="ZoneTexte 3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344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simplified static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2"/>
          <p:cNvSpPr>
            <a:spLocks noChangeShapeType="1"/>
          </p:cNvSpPr>
          <p:nvPr/>
        </p:nvSpPr>
        <p:spPr bwMode="auto">
          <a:xfrm>
            <a:off x="3407682" y="4003675"/>
            <a:ext cx="3527425" cy="1588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352370" y="1914525"/>
            <a:ext cx="1587" cy="3603625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 flipV="1">
            <a:off x="5566682" y="1985963"/>
            <a:ext cx="360363" cy="2019300"/>
          </a:xfrm>
          <a:prstGeom prst="line">
            <a:avLst/>
          </a:prstGeom>
          <a:noFill/>
          <a:ln w="28440" cap="sq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3695020" y="4003675"/>
            <a:ext cx="1871662" cy="1588"/>
          </a:xfrm>
          <a:prstGeom prst="line">
            <a:avLst/>
          </a:prstGeom>
          <a:noFill/>
          <a:ln w="28440" cap="sq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3695020" y="4003675"/>
            <a:ext cx="1587" cy="1439863"/>
          </a:xfrm>
          <a:prstGeom prst="line">
            <a:avLst/>
          </a:prstGeom>
          <a:noFill/>
          <a:ln w="28440" cap="sq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382532" y="1700213"/>
            <a:ext cx="244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93795" y="3567113"/>
            <a:ext cx="485775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5095195" y="3998913"/>
            <a:ext cx="2952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0"/>
          <p:cNvSpPr>
            <a:spLocks/>
          </p:cNvSpPr>
          <p:nvPr/>
        </p:nvSpPr>
        <p:spPr bwMode="auto">
          <a:xfrm>
            <a:off x="7043057" y="1946275"/>
            <a:ext cx="2957286" cy="403225"/>
          </a:xfrm>
          <a:prstGeom prst="borderCallout1">
            <a:avLst>
              <a:gd name="adj1" fmla="val 28347"/>
              <a:gd name="adj2" fmla="val -3787"/>
              <a:gd name="adj3" fmla="val 256578"/>
              <a:gd name="adj4" fmla="val -39608"/>
            </a:avLst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AK</a:t>
            </a:r>
            <a:r>
              <a:rPr lang="fr-FR" altLang="fr-FR" sz="2400" b="1" dirty="0">
                <a:latin typeface="Times New Roman" panose="02020603050405020304" pitchFamily="18" charset="0"/>
              </a:rPr>
              <a:t> = 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r</a:t>
            </a:r>
            <a:r>
              <a:rPr lang="fr-FR" altLang="fr-FR" sz="2400" b="1" baseline="-25000" dirty="0" err="1">
                <a:latin typeface="Times New Roman" panose="02020603050405020304" pitchFamily="18" charset="0"/>
              </a:rPr>
              <a:t>on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.i</a:t>
            </a:r>
            <a:r>
              <a:rPr lang="fr-FR" altLang="fr-FR" sz="2400" b="1" dirty="0">
                <a:latin typeface="Times New Roman" panose="02020603050405020304" pitchFamily="18" charset="0"/>
              </a:rPr>
              <a:t> + 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AutoShape 11"/>
          <p:cNvSpPr>
            <a:spLocks/>
          </p:cNvSpPr>
          <p:nvPr/>
        </p:nvSpPr>
        <p:spPr bwMode="auto">
          <a:xfrm>
            <a:off x="5742895" y="4797425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56411"/>
              <a:gd name="adj4" fmla="val -101866"/>
            </a:avLst>
          </a:prstGeom>
          <a:noFill/>
          <a:ln w="9360" cap="sq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</a:p>
        </p:txBody>
      </p:sp>
      <p:sp>
        <p:nvSpPr>
          <p:cNvPr id="18" name="AutoShape 12"/>
          <p:cNvSpPr>
            <a:spLocks/>
          </p:cNvSpPr>
          <p:nvPr/>
        </p:nvSpPr>
        <p:spPr bwMode="auto">
          <a:xfrm>
            <a:off x="5742895" y="5734050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74296"/>
              <a:gd name="adj4" fmla="val -121943"/>
            </a:avLst>
          </a:prstGeom>
          <a:noFill/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7897376" y="2708275"/>
            <a:ext cx="3333262" cy="833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Linearized characteristic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3 segments</a:t>
            </a:r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7543120" y="4337505"/>
            <a:ext cx="4272272" cy="1017844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Conduction loss calculation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r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on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eff</a:t>
            </a:r>
            <a:r>
              <a:rPr lang="en-CA" altLang="fr-FR" b="1" i="1" baseline="30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+ V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 </a:t>
            </a:r>
            <a:r>
              <a:rPr lang="en-CA" altLang="fr-FR" b="1" i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b="1" i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av</a:t>
            </a:r>
            <a:endParaRPr lang="en-CA" altLang="fr-FR" b="1" i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AutoShape 15"/>
          <p:cNvSpPr>
            <a:spLocks noChangeArrowheads="1"/>
          </p:cNvSpPr>
          <p:nvPr/>
        </p:nvSpPr>
        <p:spPr bwMode="auto">
          <a:xfrm>
            <a:off x="9391919" y="3647815"/>
            <a:ext cx="287337" cy="504825"/>
          </a:xfrm>
          <a:prstGeom prst="downArrow">
            <a:avLst>
              <a:gd name="adj1" fmla="val 50000"/>
              <a:gd name="adj2" fmla="val 43923"/>
            </a:avLst>
          </a:prstGeom>
          <a:solidFill>
            <a:srgbClr val="0000FF"/>
          </a:solidFill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774965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Diode on commutation mode: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equivalent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3832225" y="2493038"/>
            <a:ext cx="1179513" cy="228600"/>
          </a:xfrm>
          <a:prstGeom prst="rect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grpSp>
        <p:nvGrpSpPr>
          <p:cNvPr id="7" name="Group 3"/>
          <p:cNvGrpSpPr>
            <a:grpSpLocks/>
          </p:cNvGrpSpPr>
          <p:nvPr/>
        </p:nvGrpSpPr>
        <p:grpSpPr bwMode="auto">
          <a:xfrm>
            <a:off x="5930900" y="3183601"/>
            <a:ext cx="474663" cy="350837"/>
            <a:chOff x="2072" y="2065"/>
            <a:chExt cx="299" cy="221"/>
          </a:xfrm>
        </p:grpSpPr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2072" y="2065"/>
              <a:ext cx="299" cy="0"/>
            </a:xfrm>
            <a:prstGeom prst="line">
              <a:avLst/>
            </a:prstGeom>
            <a:noFill/>
            <a:ln w="2052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5"/>
            <p:cNvSpPr>
              <a:spLocks noChangeShapeType="1"/>
            </p:cNvSpPr>
            <p:nvPr/>
          </p:nvSpPr>
          <p:spPr bwMode="auto">
            <a:xfrm flipH="1">
              <a:off x="2228" y="2065"/>
              <a:ext cx="144" cy="220"/>
            </a:xfrm>
            <a:prstGeom prst="line">
              <a:avLst/>
            </a:prstGeom>
            <a:noFill/>
            <a:ln w="2052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 flipV="1">
              <a:off x="2071" y="2064"/>
              <a:ext cx="158" cy="222"/>
            </a:xfrm>
            <a:prstGeom prst="line">
              <a:avLst/>
            </a:prstGeom>
            <a:noFill/>
            <a:ln w="2052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>
              <a:off x="2072" y="2286"/>
              <a:ext cx="299" cy="0"/>
            </a:xfrm>
            <a:prstGeom prst="line">
              <a:avLst/>
            </a:prstGeom>
            <a:noFill/>
            <a:ln w="41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3243263" y="2607338"/>
            <a:ext cx="579437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5000625" y="2607338"/>
            <a:ext cx="1179513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0"/>
          <p:cNvSpPr>
            <a:spLocks noChangeShapeType="1"/>
          </p:cNvSpPr>
          <p:nvPr/>
        </p:nvSpPr>
        <p:spPr bwMode="auto">
          <a:xfrm>
            <a:off x="6180138" y="2607338"/>
            <a:ext cx="1587" cy="576263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>
            <a:off x="6180138" y="3534438"/>
            <a:ext cx="1587" cy="577850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flipH="1">
            <a:off x="3241675" y="4112288"/>
            <a:ext cx="2940050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7947025" y="2493038"/>
            <a:ext cx="1158875" cy="228600"/>
          </a:xfrm>
          <a:prstGeom prst="rect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7337425" y="2607338"/>
            <a:ext cx="600075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9094788" y="2607338"/>
            <a:ext cx="1406525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>
            <a:off x="10501313" y="2607338"/>
            <a:ext cx="1587" cy="227013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>
            <a:off x="10501313" y="3885276"/>
            <a:ext cx="1587" cy="227012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8"/>
          <p:cNvSpPr>
            <a:spLocks noChangeShapeType="1"/>
          </p:cNvSpPr>
          <p:nvPr/>
        </p:nvSpPr>
        <p:spPr bwMode="auto">
          <a:xfrm flipH="1">
            <a:off x="7335838" y="4112288"/>
            <a:ext cx="3167062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Rectangle 19"/>
          <p:cNvSpPr>
            <a:spLocks noChangeArrowheads="1"/>
          </p:cNvSpPr>
          <p:nvPr/>
        </p:nvSpPr>
        <p:spPr bwMode="auto">
          <a:xfrm>
            <a:off x="10407650" y="2843876"/>
            <a:ext cx="228600" cy="1052512"/>
          </a:xfrm>
          <a:prstGeom prst="rect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6" name="Line 20"/>
          <p:cNvSpPr>
            <a:spLocks noChangeShapeType="1"/>
          </p:cNvSpPr>
          <p:nvPr/>
        </p:nvSpPr>
        <p:spPr bwMode="auto">
          <a:xfrm>
            <a:off x="9694863" y="2607338"/>
            <a:ext cx="1587" cy="7000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21"/>
          <p:cNvSpPr>
            <a:spLocks noChangeShapeType="1"/>
          </p:cNvSpPr>
          <p:nvPr/>
        </p:nvSpPr>
        <p:spPr bwMode="auto">
          <a:xfrm>
            <a:off x="9344025" y="3307426"/>
            <a:ext cx="703263" cy="1587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>
            <a:off x="9344025" y="3534438"/>
            <a:ext cx="703263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3"/>
          <p:cNvSpPr>
            <a:spLocks noChangeShapeType="1"/>
          </p:cNvSpPr>
          <p:nvPr/>
        </p:nvSpPr>
        <p:spPr bwMode="auto">
          <a:xfrm>
            <a:off x="9694863" y="3534438"/>
            <a:ext cx="1587" cy="577850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Freeform 24"/>
          <p:cNvSpPr>
            <a:spLocks noChangeArrowheads="1"/>
          </p:cNvSpPr>
          <p:nvPr/>
        </p:nvSpPr>
        <p:spPr bwMode="auto">
          <a:xfrm>
            <a:off x="5373688" y="2504151"/>
            <a:ext cx="227012" cy="185737"/>
          </a:xfrm>
          <a:custGeom>
            <a:avLst/>
            <a:gdLst>
              <a:gd name="T0" fmla="*/ 425895149 w 11"/>
              <a:gd name="T1" fmla="*/ 0 h 9"/>
              <a:gd name="T2" fmla="*/ 425895149 w 11"/>
              <a:gd name="T3" fmla="*/ 1703621039 h 9"/>
              <a:gd name="T4" fmla="*/ 425895149 w 11"/>
              <a:gd name="T5" fmla="*/ 2147483646 h 9"/>
              <a:gd name="T6" fmla="*/ 2147483646 w 11"/>
              <a:gd name="T7" fmla="*/ 2129515980 h 9"/>
              <a:gd name="T8" fmla="*/ 425895149 w 11"/>
              <a:gd name="T9" fmla="*/ 0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" h="9">
                <a:moveTo>
                  <a:pt x="1" y="0"/>
                </a:moveTo>
                <a:cubicBezTo>
                  <a:pt x="1" y="2"/>
                  <a:pt x="1" y="3"/>
                  <a:pt x="1" y="4"/>
                </a:cubicBezTo>
                <a:cubicBezTo>
                  <a:pt x="0" y="6"/>
                  <a:pt x="1" y="7"/>
                  <a:pt x="1" y="9"/>
                </a:cubicBezTo>
                <a:lnTo>
                  <a:pt x="11" y="5"/>
                </a:lnTo>
                <a:lnTo>
                  <a:pt x="1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>
            <a:off x="5229225" y="2607338"/>
            <a:ext cx="185738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5435600" y="2173951"/>
            <a:ext cx="714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33" name="Freeform 27"/>
          <p:cNvSpPr>
            <a:spLocks noChangeArrowheads="1"/>
          </p:cNvSpPr>
          <p:nvPr/>
        </p:nvSpPr>
        <p:spPr bwMode="auto">
          <a:xfrm>
            <a:off x="9240838" y="2504151"/>
            <a:ext cx="227012" cy="185737"/>
          </a:xfrm>
          <a:custGeom>
            <a:avLst/>
            <a:gdLst>
              <a:gd name="T0" fmla="*/ 425895149 w 11"/>
              <a:gd name="T1" fmla="*/ 0 h 9"/>
              <a:gd name="T2" fmla="*/ 425895149 w 11"/>
              <a:gd name="T3" fmla="*/ 1703621039 h 9"/>
              <a:gd name="T4" fmla="*/ 425895149 w 11"/>
              <a:gd name="T5" fmla="*/ 2147483646 h 9"/>
              <a:gd name="T6" fmla="*/ 2147483646 w 11"/>
              <a:gd name="T7" fmla="*/ 2129515980 h 9"/>
              <a:gd name="T8" fmla="*/ 425895149 w 11"/>
              <a:gd name="T9" fmla="*/ 0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" h="9">
                <a:moveTo>
                  <a:pt x="1" y="0"/>
                </a:moveTo>
                <a:cubicBezTo>
                  <a:pt x="1" y="2"/>
                  <a:pt x="1" y="3"/>
                  <a:pt x="1" y="4"/>
                </a:cubicBezTo>
                <a:cubicBezTo>
                  <a:pt x="0" y="6"/>
                  <a:pt x="1" y="7"/>
                  <a:pt x="1" y="9"/>
                </a:cubicBezTo>
                <a:lnTo>
                  <a:pt x="11" y="5"/>
                </a:lnTo>
                <a:lnTo>
                  <a:pt x="1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4" name="Line 28"/>
          <p:cNvSpPr>
            <a:spLocks noChangeShapeType="1"/>
          </p:cNvSpPr>
          <p:nvPr/>
        </p:nvSpPr>
        <p:spPr bwMode="auto">
          <a:xfrm>
            <a:off x="9094788" y="2607338"/>
            <a:ext cx="187325" cy="1588"/>
          </a:xfrm>
          <a:prstGeom prst="line">
            <a:avLst/>
          </a:prstGeom>
          <a:noFill/>
          <a:ln w="2052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9344025" y="2173951"/>
            <a:ext cx="714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36" name="Freeform 30"/>
          <p:cNvSpPr>
            <a:spLocks noChangeArrowheads="1"/>
          </p:cNvSpPr>
          <p:nvPr/>
        </p:nvSpPr>
        <p:spPr bwMode="auto">
          <a:xfrm>
            <a:off x="3160713" y="2710526"/>
            <a:ext cx="185737" cy="185737"/>
          </a:xfrm>
          <a:custGeom>
            <a:avLst/>
            <a:gdLst>
              <a:gd name="T0" fmla="*/ 0 w 9"/>
              <a:gd name="T1" fmla="*/ 2147483646 h 9"/>
              <a:gd name="T2" fmla="*/ 2129515980 w 9"/>
              <a:gd name="T3" fmla="*/ 2147483646 h 9"/>
              <a:gd name="T4" fmla="*/ 2147483646 w 9"/>
              <a:gd name="T5" fmla="*/ 2147483646 h 9"/>
              <a:gd name="T6" fmla="*/ 2129515980 w 9"/>
              <a:gd name="T7" fmla="*/ 0 h 9"/>
              <a:gd name="T8" fmla="*/ 0 w 9"/>
              <a:gd name="T9" fmla="*/ 2147483646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9" h="9">
                <a:moveTo>
                  <a:pt x="0" y="9"/>
                </a:moveTo>
                <a:cubicBezTo>
                  <a:pt x="2" y="9"/>
                  <a:pt x="3" y="9"/>
                  <a:pt x="5" y="9"/>
                </a:cubicBezTo>
                <a:cubicBezTo>
                  <a:pt x="6" y="9"/>
                  <a:pt x="7" y="9"/>
                  <a:pt x="9" y="9"/>
                </a:cubicBezTo>
                <a:lnTo>
                  <a:pt x="5" y="0"/>
                </a:lnTo>
                <a:lnTo>
                  <a:pt x="0" y="9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7" name="Line 31"/>
          <p:cNvSpPr>
            <a:spLocks noChangeShapeType="1"/>
          </p:cNvSpPr>
          <p:nvPr/>
        </p:nvSpPr>
        <p:spPr bwMode="auto">
          <a:xfrm>
            <a:off x="3243263" y="2875626"/>
            <a:ext cx="1587" cy="1133475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Freeform 32"/>
          <p:cNvSpPr>
            <a:spLocks noChangeArrowheads="1"/>
          </p:cNvSpPr>
          <p:nvPr/>
        </p:nvSpPr>
        <p:spPr bwMode="auto">
          <a:xfrm>
            <a:off x="5621338" y="2710526"/>
            <a:ext cx="185737" cy="185737"/>
          </a:xfrm>
          <a:custGeom>
            <a:avLst/>
            <a:gdLst>
              <a:gd name="T0" fmla="*/ 0 w 9"/>
              <a:gd name="T1" fmla="*/ 2147483646 h 9"/>
              <a:gd name="T2" fmla="*/ 2129515980 w 9"/>
              <a:gd name="T3" fmla="*/ 2147483646 h 9"/>
              <a:gd name="T4" fmla="*/ 2147483646 w 9"/>
              <a:gd name="T5" fmla="*/ 2147483646 h 9"/>
              <a:gd name="T6" fmla="*/ 2129515980 w 9"/>
              <a:gd name="T7" fmla="*/ 0 h 9"/>
              <a:gd name="T8" fmla="*/ 0 w 9"/>
              <a:gd name="T9" fmla="*/ 2147483646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9" h="9">
                <a:moveTo>
                  <a:pt x="0" y="9"/>
                </a:moveTo>
                <a:cubicBezTo>
                  <a:pt x="2" y="9"/>
                  <a:pt x="3" y="9"/>
                  <a:pt x="5" y="9"/>
                </a:cubicBezTo>
                <a:cubicBezTo>
                  <a:pt x="6" y="9"/>
                  <a:pt x="7" y="9"/>
                  <a:pt x="9" y="9"/>
                </a:cubicBezTo>
                <a:lnTo>
                  <a:pt x="5" y="0"/>
                </a:lnTo>
                <a:lnTo>
                  <a:pt x="0" y="9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>
            <a:off x="5703888" y="2875626"/>
            <a:ext cx="1587" cy="1133475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Rectangle 34"/>
          <p:cNvSpPr>
            <a:spLocks noChangeArrowheads="1"/>
          </p:cNvSpPr>
          <p:nvPr/>
        </p:nvSpPr>
        <p:spPr bwMode="auto">
          <a:xfrm>
            <a:off x="5456238" y="3142326"/>
            <a:ext cx="128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v</a:t>
            </a:r>
          </a:p>
        </p:txBody>
      </p:sp>
      <p:sp>
        <p:nvSpPr>
          <p:cNvPr id="41" name="Rectangle 35"/>
          <p:cNvSpPr>
            <a:spLocks noChangeArrowheads="1"/>
          </p:cNvSpPr>
          <p:nvPr/>
        </p:nvSpPr>
        <p:spPr bwMode="auto">
          <a:xfrm>
            <a:off x="3408363" y="3224876"/>
            <a:ext cx="1127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2" name="Freeform 36"/>
          <p:cNvSpPr>
            <a:spLocks noChangeArrowheads="1"/>
          </p:cNvSpPr>
          <p:nvPr/>
        </p:nvSpPr>
        <p:spPr bwMode="auto">
          <a:xfrm>
            <a:off x="7254875" y="2710526"/>
            <a:ext cx="185738" cy="185737"/>
          </a:xfrm>
          <a:custGeom>
            <a:avLst/>
            <a:gdLst>
              <a:gd name="T0" fmla="*/ 0 w 9"/>
              <a:gd name="T1" fmla="*/ 2147483646 h 9"/>
              <a:gd name="T2" fmla="*/ 2129548083 w 9"/>
              <a:gd name="T3" fmla="*/ 2147483646 h 9"/>
              <a:gd name="T4" fmla="*/ 2147483646 w 9"/>
              <a:gd name="T5" fmla="*/ 2147483646 h 9"/>
              <a:gd name="T6" fmla="*/ 2129548083 w 9"/>
              <a:gd name="T7" fmla="*/ 0 h 9"/>
              <a:gd name="T8" fmla="*/ 0 w 9"/>
              <a:gd name="T9" fmla="*/ 2147483646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9" h="9">
                <a:moveTo>
                  <a:pt x="0" y="9"/>
                </a:moveTo>
                <a:cubicBezTo>
                  <a:pt x="2" y="9"/>
                  <a:pt x="3" y="9"/>
                  <a:pt x="5" y="9"/>
                </a:cubicBezTo>
                <a:cubicBezTo>
                  <a:pt x="6" y="9"/>
                  <a:pt x="7" y="9"/>
                  <a:pt x="9" y="9"/>
                </a:cubicBezTo>
                <a:lnTo>
                  <a:pt x="5" y="0"/>
                </a:lnTo>
                <a:lnTo>
                  <a:pt x="0" y="9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3" name="Line 37"/>
          <p:cNvSpPr>
            <a:spLocks noChangeShapeType="1"/>
          </p:cNvSpPr>
          <p:nvPr/>
        </p:nvSpPr>
        <p:spPr bwMode="auto">
          <a:xfrm>
            <a:off x="7337425" y="2875626"/>
            <a:ext cx="1588" cy="1133475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Rectangle 38"/>
          <p:cNvSpPr>
            <a:spLocks noChangeArrowheads="1"/>
          </p:cNvSpPr>
          <p:nvPr/>
        </p:nvSpPr>
        <p:spPr bwMode="auto">
          <a:xfrm>
            <a:off x="7545388" y="3224876"/>
            <a:ext cx="1127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5" name="Freeform 39"/>
          <p:cNvSpPr>
            <a:spLocks noChangeArrowheads="1"/>
          </p:cNvSpPr>
          <p:nvPr/>
        </p:nvSpPr>
        <p:spPr bwMode="auto">
          <a:xfrm>
            <a:off x="10191750" y="2710526"/>
            <a:ext cx="185738" cy="185737"/>
          </a:xfrm>
          <a:custGeom>
            <a:avLst/>
            <a:gdLst>
              <a:gd name="T0" fmla="*/ 0 w 9"/>
              <a:gd name="T1" fmla="*/ 2147483646 h 9"/>
              <a:gd name="T2" fmla="*/ 2129548083 w 9"/>
              <a:gd name="T3" fmla="*/ 2147483646 h 9"/>
              <a:gd name="T4" fmla="*/ 2147483646 w 9"/>
              <a:gd name="T5" fmla="*/ 2147483646 h 9"/>
              <a:gd name="T6" fmla="*/ 2129548083 w 9"/>
              <a:gd name="T7" fmla="*/ 0 h 9"/>
              <a:gd name="T8" fmla="*/ 0 w 9"/>
              <a:gd name="T9" fmla="*/ 2147483646 h 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9" h="9">
                <a:moveTo>
                  <a:pt x="0" y="9"/>
                </a:moveTo>
                <a:cubicBezTo>
                  <a:pt x="2" y="9"/>
                  <a:pt x="3" y="9"/>
                  <a:pt x="5" y="9"/>
                </a:cubicBezTo>
                <a:cubicBezTo>
                  <a:pt x="6" y="9"/>
                  <a:pt x="7" y="9"/>
                  <a:pt x="9" y="9"/>
                </a:cubicBezTo>
                <a:lnTo>
                  <a:pt x="5" y="0"/>
                </a:lnTo>
                <a:lnTo>
                  <a:pt x="0" y="9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6" name="Line 40"/>
          <p:cNvSpPr>
            <a:spLocks noChangeShapeType="1"/>
          </p:cNvSpPr>
          <p:nvPr/>
        </p:nvSpPr>
        <p:spPr bwMode="auto">
          <a:xfrm>
            <a:off x="10274300" y="2875626"/>
            <a:ext cx="1588" cy="1133475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Rectangle 41"/>
          <p:cNvSpPr>
            <a:spLocks noChangeArrowheads="1"/>
          </p:cNvSpPr>
          <p:nvPr/>
        </p:nvSpPr>
        <p:spPr bwMode="auto">
          <a:xfrm>
            <a:off x="10129838" y="3142326"/>
            <a:ext cx="128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>
                <a:latin typeface="Times New Roman" panose="02020603050405020304" pitchFamily="18" charset="0"/>
              </a:rPr>
              <a:t>v</a:t>
            </a:r>
          </a:p>
        </p:txBody>
      </p:sp>
      <p:sp>
        <p:nvSpPr>
          <p:cNvPr id="48" name="Rectangle 42"/>
          <p:cNvSpPr>
            <a:spLocks noChangeArrowheads="1"/>
          </p:cNvSpPr>
          <p:nvPr/>
        </p:nvSpPr>
        <p:spPr bwMode="auto">
          <a:xfrm>
            <a:off x="4318000" y="2173951"/>
            <a:ext cx="1857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R</a:t>
            </a:r>
          </a:p>
        </p:txBody>
      </p:sp>
      <p:sp>
        <p:nvSpPr>
          <p:cNvPr id="49" name="Rectangle 43"/>
          <p:cNvSpPr>
            <a:spLocks noChangeArrowheads="1"/>
          </p:cNvSpPr>
          <p:nvPr/>
        </p:nvSpPr>
        <p:spPr bwMode="auto">
          <a:xfrm>
            <a:off x="8496300" y="2153313"/>
            <a:ext cx="1857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R</a:t>
            </a:r>
          </a:p>
        </p:txBody>
      </p:sp>
      <p:sp>
        <p:nvSpPr>
          <p:cNvPr id="50" name="Rectangle 44"/>
          <p:cNvSpPr>
            <a:spLocks noChangeArrowheads="1"/>
          </p:cNvSpPr>
          <p:nvPr/>
        </p:nvSpPr>
        <p:spPr bwMode="auto">
          <a:xfrm>
            <a:off x="6324600" y="2874038"/>
            <a:ext cx="1857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51" name="Rectangle 45"/>
          <p:cNvSpPr>
            <a:spLocks noChangeArrowheads="1"/>
          </p:cNvSpPr>
          <p:nvPr/>
        </p:nvSpPr>
        <p:spPr bwMode="auto">
          <a:xfrm>
            <a:off x="10812463" y="3431251"/>
            <a:ext cx="1127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r</a:t>
            </a:r>
          </a:p>
        </p:txBody>
      </p:sp>
      <p:sp>
        <p:nvSpPr>
          <p:cNvPr id="52" name="Rectangle 46"/>
          <p:cNvSpPr>
            <a:spLocks noChangeArrowheads="1"/>
          </p:cNvSpPr>
          <p:nvPr/>
        </p:nvSpPr>
        <p:spPr bwMode="auto">
          <a:xfrm>
            <a:off x="9364663" y="3575713"/>
            <a:ext cx="18573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53" name="AutoShape 47"/>
          <p:cNvSpPr>
            <a:spLocks noChangeArrowheads="1"/>
          </p:cNvSpPr>
          <p:nvPr/>
        </p:nvSpPr>
        <p:spPr bwMode="auto">
          <a:xfrm flipV="1">
            <a:off x="5629275" y="4558376"/>
            <a:ext cx="2736850" cy="720725"/>
          </a:xfrm>
          <a:prstGeom prst="curvedDownArrow">
            <a:avLst>
              <a:gd name="adj1" fmla="val 75947"/>
              <a:gd name="adj2" fmla="val 151894"/>
              <a:gd name="adj3" fmla="val 33333"/>
            </a:avLst>
          </a:prstGeom>
          <a:solidFill>
            <a:srgbClr val="BBE0E3"/>
          </a:solidFill>
          <a:ln w="936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54" name="Line 48"/>
          <p:cNvSpPr>
            <a:spLocks noChangeShapeType="1"/>
          </p:cNvSpPr>
          <p:nvPr/>
        </p:nvSpPr>
        <p:spPr bwMode="auto">
          <a:xfrm flipH="1">
            <a:off x="9299575" y="2607338"/>
            <a:ext cx="328613" cy="1588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49"/>
          <p:cNvSpPr>
            <a:spLocks noChangeShapeType="1"/>
          </p:cNvSpPr>
          <p:nvPr/>
        </p:nvSpPr>
        <p:spPr bwMode="auto">
          <a:xfrm flipH="1">
            <a:off x="5195888" y="2607338"/>
            <a:ext cx="328612" cy="1588"/>
          </a:xfrm>
          <a:prstGeom prst="line">
            <a:avLst/>
          </a:prstGeom>
          <a:noFill/>
          <a:ln w="20880" cap="sq">
            <a:solidFill>
              <a:srgbClr val="000000"/>
            </a:solidFill>
            <a:miter lim="800000"/>
            <a:headEnd type="stealth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ZoneTexte 5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1774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Conduction switch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521" y="1270681"/>
            <a:ext cx="4178300" cy="4967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21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 Ideal » turn off diode with voltage source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2"/>
          <p:cNvSpPr>
            <a:spLocks noChangeArrowheads="1"/>
          </p:cNvSpPr>
          <p:nvPr/>
        </p:nvSpPr>
        <p:spPr bwMode="auto">
          <a:xfrm>
            <a:off x="6741384" y="4925177"/>
            <a:ext cx="2552802" cy="961708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1600"/>
              <a:gd name="T19" fmla="*/ 10799 h 21600"/>
              <a:gd name="T20" fmla="*/ 107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10743" y="21599"/>
                </a:moveTo>
                <a:cubicBezTo>
                  <a:pt x="4801" y="21569"/>
                  <a:pt x="0" y="16742"/>
                  <a:pt x="0" y="10800"/>
                </a:cubicBezTo>
                <a:cubicBezTo>
                  <a:pt x="0" y="10781"/>
                  <a:pt x="0" y="10763"/>
                  <a:pt x="0" y="10745"/>
                </a:cubicBezTo>
                <a:lnTo>
                  <a:pt x="10800" y="10800"/>
                </a:lnTo>
                <a:lnTo>
                  <a:pt x="10743" y="21599"/>
                </a:lnTo>
                <a:close/>
              </a:path>
              <a:path w="21600" h="21600" fill="none">
                <a:moveTo>
                  <a:pt x="10743" y="21599"/>
                </a:moveTo>
                <a:cubicBezTo>
                  <a:pt x="4801" y="21569"/>
                  <a:pt x="0" y="16742"/>
                  <a:pt x="0" y="10800"/>
                </a:cubicBezTo>
                <a:cubicBezTo>
                  <a:pt x="0" y="10781"/>
                  <a:pt x="0" y="10763"/>
                  <a:pt x="0" y="10745"/>
                </a:cubicBezTo>
              </a:path>
            </a:pathLst>
          </a:cu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pSp>
        <p:nvGrpSpPr>
          <p:cNvPr id="7" name="Group 3"/>
          <p:cNvGrpSpPr>
            <a:grpSpLocks/>
          </p:cNvGrpSpPr>
          <p:nvPr/>
        </p:nvGrpSpPr>
        <p:grpSpPr bwMode="auto">
          <a:xfrm>
            <a:off x="5578381" y="1324410"/>
            <a:ext cx="95250" cy="1260475"/>
            <a:chOff x="2060" y="823"/>
            <a:chExt cx="60" cy="794"/>
          </a:xfrm>
        </p:grpSpPr>
        <p:sp>
          <p:nvSpPr>
            <p:cNvPr id="10" name="Freeform 4"/>
            <p:cNvSpPr>
              <a:spLocks noChangeArrowheads="1"/>
            </p:cNvSpPr>
            <p:nvPr/>
          </p:nvSpPr>
          <p:spPr bwMode="auto">
            <a:xfrm>
              <a:off x="2060" y="823"/>
              <a:ext cx="60" cy="121"/>
            </a:xfrm>
            <a:custGeom>
              <a:avLst/>
              <a:gdLst>
                <a:gd name="T0" fmla="*/ 33 w 61"/>
                <a:gd name="T1" fmla="*/ 0 h 122"/>
                <a:gd name="T2" fmla="*/ 59 w 61"/>
                <a:gd name="T3" fmla="*/ 120 h 122"/>
                <a:gd name="T4" fmla="*/ 33 w 61"/>
                <a:gd name="T5" fmla="*/ 120 h 122"/>
                <a:gd name="T6" fmla="*/ 0 w 61"/>
                <a:gd name="T7" fmla="*/ 120 h 122"/>
                <a:gd name="T8" fmla="*/ 33 w 61"/>
                <a:gd name="T9" fmla="*/ 0 h 1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61" h="122">
                  <a:moveTo>
                    <a:pt x="35" y="0"/>
                  </a:moveTo>
                  <a:lnTo>
                    <a:pt x="61" y="122"/>
                  </a:lnTo>
                  <a:lnTo>
                    <a:pt x="35" y="122"/>
                  </a:lnTo>
                  <a:lnTo>
                    <a:pt x="0" y="12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Line 5"/>
            <p:cNvSpPr>
              <a:spLocks noChangeShapeType="1"/>
            </p:cNvSpPr>
            <p:nvPr/>
          </p:nvSpPr>
          <p:spPr bwMode="auto">
            <a:xfrm>
              <a:off x="2095" y="945"/>
              <a:ext cx="8" cy="672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6"/>
          <p:cNvGrpSpPr>
            <a:grpSpLocks/>
          </p:cNvGrpSpPr>
          <p:nvPr/>
        </p:nvGrpSpPr>
        <p:grpSpPr bwMode="auto">
          <a:xfrm>
            <a:off x="4857656" y="2045135"/>
            <a:ext cx="3784600" cy="109537"/>
            <a:chOff x="1606" y="1277"/>
            <a:chExt cx="2384" cy="69"/>
          </a:xfrm>
        </p:grpSpPr>
        <p:sp>
          <p:nvSpPr>
            <p:cNvPr id="13" name="Freeform 7"/>
            <p:cNvSpPr>
              <a:spLocks noChangeArrowheads="1"/>
            </p:cNvSpPr>
            <p:nvPr/>
          </p:nvSpPr>
          <p:spPr bwMode="auto">
            <a:xfrm>
              <a:off x="3860" y="1277"/>
              <a:ext cx="130" cy="69"/>
            </a:xfrm>
            <a:custGeom>
              <a:avLst/>
              <a:gdLst>
                <a:gd name="T0" fmla="*/ 129 w 131"/>
                <a:gd name="T1" fmla="*/ 35 h 70"/>
                <a:gd name="T2" fmla="*/ 0 w 131"/>
                <a:gd name="T3" fmla="*/ 68 h 70"/>
                <a:gd name="T4" fmla="*/ 0 w 131"/>
                <a:gd name="T5" fmla="*/ 35 h 70"/>
                <a:gd name="T6" fmla="*/ 0 w 131"/>
                <a:gd name="T7" fmla="*/ 0 h 70"/>
                <a:gd name="T8" fmla="*/ 129 w 131"/>
                <a:gd name="T9" fmla="*/ 35 h 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1" h="70">
                  <a:moveTo>
                    <a:pt x="131" y="35"/>
                  </a:moveTo>
                  <a:lnTo>
                    <a:pt x="0" y="70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31" y="3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4" name="Line 8"/>
            <p:cNvSpPr>
              <a:spLocks noChangeShapeType="1"/>
            </p:cNvSpPr>
            <p:nvPr/>
          </p:nvSpPr>
          <p:spPr bwMode="auto">
            <a:xfrm>
              <a:off x="1606" y="1312"/>
              <a:ext cx="2253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Rectangle 9"/>
          <p:cNvSpPr>
            <a:spLocks noChangeArrowheads="1"/>
          </p:cNvSpPr>
          <p:nvPr/>
        </p:nvSpPr>
        <p:spPr bwMode="auto">
          <a:xfrm>
            <a:off x="5481544" y="2141972"/>
            <a:ext cx="82550" cy="198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8600981" y="1905435"/>
            <a:ext cx="46038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Rectangle 11"/>
          <p:cNvSpPr>
            <a:spLocks noChangeArrowheads="1"/>
          </p:cNvSpPr>
          <p:nvPr/>
        </p:nvSpPr>
        <p:spPr bwMode="auto">
          <a:xfrm>
            <a:off x="5703794" y="1114860"/>
            <a:ext cx="73025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 b="1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>
            <a:off x="5633944" y="2488047"/>
            <a:ext cx="2911475" cy="1588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>
            <a:off x="4857656" y="1559360"/>
            <a:ext cx="776288" cy="1587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" name="Group 14"/>
          <p:cNvGrpSpPr>
            <a:grpSpLocks/>
          </p:cNvGrpSpPr>
          <p:nvPr/>
        </p:nvGrpSpPr>
        <p:grpSpPr bwMode="auto">
          <a:xfrm>
            <a:off x="5273581" y="2376922"/>
            <a:ext cx="242888" cy="276225"/>
            <a:chOff x="1868" y="1486"/>
            <a:chExt cx="153" cy="174"/>
          </a:xfrm>
        </p:grpSpPr>
        <p:sp>
          <p:nvSpPr>
            <p:cNvPr id="21" name="Rectangle 15"/>
            <p:cNvSpPr>
              <a:spLocks noChangeArrowheads="1"/>
            </p:cNvSpPr>
            <p:nvPr/>
          </p:nvSpPr>
          <p:spPr bwMode="auto">
            <a:xfrm>
              <a:off x="1868" y="1486"/>
              <a:ext cx="97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-E</a:t>
              </a:r>
            </a:p>
          </p:txBody>
        </p:sp>
        <p:sp>
          <p:nvSpPr>
            <p:cNvPr id="22" name="Rectangle 16"/>
            <p:cNvSpPr>
              <a:spLocks noChangeArrowheads="1"/>
            </p:cNvSpPr>
            <p:nvPr/>
          </p:nvSpPr>
          <p:spPr bwMode="auto">
            <a:xfrm>
              <a:off x="1981" y="1565"/>
              <a:ext cx="40" cy="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1</a:t>
              </a:r>
            </a:p>
          </p:txBody>
        </p:sp>
      </p:grpSp>
      <p:grpSp>
        <p:nvGrpSpPr>
          <p:cNvPr id="23" name="Group 17"/>
          <p:cNvGrpSpPr>
            <a:grpSpLocks/>
          </p:cNvGrpSpPr>
          <p:nvPr/>
        </p:nvGrpSpPr>
        <p:grpSpPr bwMode="auto">
          <a:xfrm>
            <a:off x="5689506" y="1351397"/>
            <a:ext cx="188913" cy="261938"/>
            <a:chOff x="2130" y="840"/>
            <a:chExt cx="119" cy="165"/>
          </a:xfrm>
        </p:grpSpPr>
        <p:sp>
          <p:nvSpPr>
            <p:cNvPr id="24" name="Rectangle 18"/>
            <p:cNvSpPr>
              <a:spLocks noChangeArrowheads="1"/>
            </p:cNvSpPr>
            <p:nvPr/>
          </p:nvSpPr>
          <p:spPr bwMode="auto">
            <a:xfrm>
              <a:off x="2130" y="840"/>
              <a:ext cx="63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25" name="Rectangle 19"/>
            <p:cNvSpPr>
              <a:spLocks noChangeArrowheads="1"/>
            </p:cNvSpPr>
            <p:nvPr/>
          </p:nvSpPr>
          <p:spPr bwMode="auto">
            <a:xfrm>
              <a:off x="2209" y="910"/>
              <a:ext cx="40" cy="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5578381" y="4789922"/>
            <a:ext cx="95250" cy="1330325"/>
            <a:chOff x="2060" y="3006"/>
            <a:chExt cx="60" cy="838"/>
          </a:xfrm>
        </p:grpSpPr>
        <p:sp>
          <p:nvSpPr>
            <p:cNvPr id="27" name="Freeform 21"/>
            <p:cNvSpPr>
              <a:spLocks noChangeArrowheads="1"/>
            </p:cNvSpPr>
            <p:nvPr/>
          </p:nvSpPr>
          <p:spPr bwMode="auto">
            <a:xfrm>
              <a:off x="2060" y="3006"/>
              <a:ext cx="60" cy="122"/>
            </a:xfrm>
            <a:custGeom>
              <a:avLst/>
              <a:gdLst>
                <a:gd name="T0" fmla="*/ 33 w 61"/>
                <a:gd name="T1" fmla="*/ 0 h 123"/>
                <a:gd name="T2" fmla="*/ 59 w 61"/>
                <a:gd name="T3" fmla="*/ 121 h 123"/>
                <a:gd name="T4" fmla="*/ 33 w 61"/>
                <a:gd name="T5" fmla="*/ 121 h 123"/>
                <a:gd name="T6" fmla="*/ 0 w 61"/>
                <a:gd name="T7" fmla="*/ 121 h 123"/>
                <a:gd name="T8" fmla="*/ 33 w 61"/>
                <a:gd name="T9" fmla="*/ 0 h 12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61" h="123">
                  <a:moveTo>
                    <a:pt x="35" y="0"/>
                  </a:moveTo>
                  <a:lnTo>
                    <a:pt x="61" y="123"/>
                  </a:lnTo>
                  <a:lnTo>
                    <a:pt x="35" y="123"/>
                  </a:lnTo>
                  <a:lnTo>
                    <a:pt x="0" y="123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2095" y="3129"/>
              <a:ext cx="8" cy="715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3"/>
          <p:cNvGrpSpPr>
            <a:grpSpLocks/>
          </p:cNvGrpSpPr>
          <p:nvPr/>
        </p:nvGrpSpPr>
        <p:grpSpPr bwMode="auto">
          <a:xfrm>
            <a:off x="4857656" y="5415397"/>
            <a:ext cx="3784600" cy="107950"/>
            <a:chOff x="1606" y="3400"/>
            <a:chExt cx="2384" cy="68"/>
          </a:xfrm>
        </p:grpSpPr>
        <p:sp>
          <p:nvSpPr>
            <p:cNvPr id="30" name="Freeform 24"/>
            <p:cNvSpPr>
              <a:spLocks noChangeArrowheads="1"/>
            </p:cNvSpPr>
            <p:nvPr/>
          </p:nvSpPr>
          <p:spPr bwMode="auto">
            <a:xfrm>
              <a:off x="3860" y="3400"/>
              <a:ext cx="130" cy="68"/>
            </a:xfrm>
            <a:custGeom>
              <a:avLst/>
              <a:gdLst>
                <a:gd name="T0" fmla="*/ 129 w 131"/>
                <a:gd name="T1" fmla="*/ 34 h 69"/>
                <a:gd name="T2" fmla="*/ 0 w 131"/>
                <a:gd name="T3" fmla="*/ 67 h 69"/>
                <a:gd name="T4" fmla="*/ 0 w 131"/>
                <a:gd name="T5" fmla="*/ 34 h 69"/>
                <a:gd name="T6" fmla="*/ 0 w 131"/>
                <a:gd name="T7" fmla="*/ 0 h 69"/>
                <a:gd name="T8" fmla="*/ 129 w 131"/>
                <a:gd name="T9" fmla="*/ 34 h 6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1" h="69">
                  <a:moveTo>
                    <a:pt x="131" y="35"/>
                  </a:moveTo>
                  <a:lnTo>
                    <a:pt x="0" y="69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31" y="3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1606" y="3435"/>
              <a:ext cx="2253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5522819" y="5497947"/>
            <a:ext cx="82550" cy="198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33" name="Rectangle 27"/>
          <p:cNvSpPr>
            <a:spLocks noChangeArrowheads="1"/>
          </p:cNvSpPr>
          <p:nvPr/>
        </p:nvSpPr>
        <p:spPr bwMode="auto">
          <a:xfrm>
            <a:off x="8559706" y="5178860"/>
            <a:ext cx="46038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5662519" y="4610535"/>
            <a:ext cx="82550" cy="198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 b="1">
                <a:latin typeface="Times New Roman" panose="02020603050405020304" pitchFamily="18" charset="0"/>
              </a:rPr>
              <a:t>v</a:t>
            </a:r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5633944" y="5886885"/>
            <a:ext cx="2773362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36" name="Rectangle 30"/>
          <p:cNvSpPr>
            <a:spLocks noChangeArrowheads="1"/>
          </p:cNvSpPr>
          <p:nvPr/>
        </p:nvSpPr>
        <p:spPr bwMode="auto">
          <a:xfrm>
            <a:off x="5730781" y="2751572"/>
            <a:ext cx="46038" cy="198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 b="1">
                <a:latin typeface="Times New Roman" panose="02020603050405020304" pitchFamily="18" charset="0"/>
              </a:rPr>
              <a:t>i</a:t>
            </a:r>
          </a:p>
        </p:txBody>
      </p:sp>
      <p:grpSp>
        <p:nvGrpSpPr>
          <p:cNvPr id="37" name="Group 31"/>
          <p:cNvGrpSpPr>
            <a:grpSpLocks/>
          </p:cNvGrpSpPr>
          <p:nvPr/>
        </p:nvGrpSpPr>
        <p:grpSpPr bwMode="auto">
          <a:xfrm>
            <a:off x="5578381" y="2903972"/>
            <a:ext cx="95250" cy="1566863"/>
            <a:chOff x="2060" y="1818"/>
            <a:chExt cx="60" cy="987"/>
          </a:xfrm>
        </p:grpSpPr>
        <p:sp>
          <p:nvSpPr>
            <p:cNvPr id="38" name="Freeform 32"/>
            <p:cNvSpPr>
              <a:spLocks noChangeArrowheads="1"/>
            </p:cNvSpPr>
            <p:nvPr/>
          </p:nvSpPr>
          <p:spPr bwMode="auto">
            <a:xfrm>
              <a:off x="2060" y="1818"/>
              <a:ext cx="60" cy="122"/>
            </a:xfrm>
            <a:custGeom>
              <a:avLst/>
              <a:gdLst>
                <a:gd name="T0" fmla="*/ 33 w 61"/>
                <a:gd name="T1" fmla="*/ 0 h 123"/>
                <a:gd name="T2" fmla="*/ 59 w 61"/>
                <a:gd name="T3" fmla="*/ 121 h 123"/>
                <a:gd name="T4" fmla="*/ 33 w 61"/>
                <a:gd name="T5" fmla="*/ 121 h 123"/>
                <a:gd name="T6" fmla="*/ 0 w 61"/>
                <a:gd name="T7" fmla="*/ 121 h 123"/>
                <a:gd name="T8" fmla="*/ 33 w 61"/>
                <a:gd name="T9" fmla="*/ 0 h 12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61" h="123">
                  <a:moveTo>
                    <a:pt x="35" y="0"/>
                  </a:moveTo>
                  <a:lnTo>
                    <a:pt x="61" y="123"/>
                  </a:lnTo>
                  <a:lnTo>
                    <a:pt x="35" y="123"/>
                  </a:lnTo>
                  <a:lnTo>
                    <a:pt x="0" y="123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9" name="Line 33"/>
            <p:cNvSpPr>
              <a:spLocks noChangeShapeType="1"/>
            </p:cNvSpPr>
            <p:nvPr/>
          </p:nvSpPr>
          <p:spPr bwMode="auto">
            <a:xfrm>
              <a:off x="2095" y="1941"/>
              <a:ext cx="8" cy="864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0" name="Group 34"/>
          <p:cNvGrpSpPr>
            <a:grpSpLocks/>
          </p:cNvGrpSpPr>
          <p:nvPr/>
        </p:nvGrpSpPr>
        <p:grpSpPr bwMode="auto">
          <a:xfrm>
            <a:off x="4773519" y="3778685"/>
            <a:ext cx="3784600" cy="109537"/>
            <a:chOff x="1553" y="2369"/>
            <a:chExt cx="2384" cy="69"/>
          </a:xfrm>
        </p:grpSpPr>
        <p:sp>
          <p:nvSpPr>
            <p:cNvPr id="41" name="Freeform 35"/>
            <p:cNvSpPr>
              <a:spLocks noChangeArrowheads="1"/>
            </p:cNvSpPr>
            <p:nvPr/>
          </p:nvSpPr>
          <p:spPr bwMode="auto">
            <a:xfrm>
              <a:off x="3807" y="2369"/>
              <a:ext cx="130" cy="69"/>
            </a:xfrm>
            <a:custGeom>
              <a:avLst/>
              <a:gdLst>
                <a:gd name="T0" fmla="*/ 129 w 131"/>
                <a:gd name="T1" fmla="*/ 35 h 70"/>
                <a:gd name="T2" fmla="*/ 0 w 131"/>
                <a:gd name="T3" fmla="*/ 68 h 70"/>
                <a:gd name="T4" fmla="*/ 0 w 131"/>
                <a:gd name="T5" fmla="*/ 35 h 70"/>
                <a:gd name="T6" fmla="*/ 0 w 131"/>
                <a:gd name="T7" fmla="*/ 0 h 70"/>
                <a:gd name="T8" fmla="*/ 129 w 131"/>
                <a:gd name="T9" fmla="*/ 35 h 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1" h="70">
                  <a:moveTo>
                    <a:pt x="131" y="35"/>
                  </a:moveTo>
                  <a:lnTo>
                    <a:pt x="0" y="70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31" y="3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Line 36"/>
            <p:cNvSpPr>
              <a:spLocks noChangeShapeType="1"/>
            </p:cNvSpPr>
            <p:nvPr/>
          </p:nvSpPr>
          <p:spPr bwMode="auto">
            <a:xfrm>
              <a:off x="1553" y="2404"/>
              <a:ext cx="2253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Rectangle 37"/>
          <p:cNvSpPr>
            <a:spLocks noChangeArrowheads="1"/>
          </p:cNvSpPr>
          <p:nvPr/>
        </p:nvSpPr>
        <p:spPr bwMode="auto">
          <a:xfrm>
            <a:off x="5495831" y="3875522"/>
            <a:ext cx="82550" cy="198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44" name="Rectangle 38"/>
          <p:cNvSpPr>
            <a:spLocks noChangeArrowheads="1"/>
          </p:cNvSpPr>
          <p:nvPr/>
        </p:nvSpPr>
        <p:spPr bwMode="auto">
          <a:xfrm>
            <a:off x="8532719" y="3542147"/>
            <a:ext cx="46037" cy="198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3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5" name="Line 39"/>
          <p:cNvSpPr>
            <a:spLocks noChangeShapeType="1"/>
          </p:cNvSpPr>
          <p:nvPr/>
        </p:nvSpPr>
        <p:spPr bwMode="auto">
          <a:xfrm>
            <a:off x="4842416" y="3196072"/>
            <a:ext cx="790575" cy="1588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6" name="Group 40"/>
          <p:cNvGrpSpPr>
            <a:grpSpLocks/>
          </p:cNvGrpSpPr>
          <p:nvPr/>
        </p:nvGrpSpPr>
        <p:grpSpPr bwMode="auto">
          <a:xfrm>
            <a:off x="5800631" y="2918260"/>
            <a:ext cx="233363" cy="446087"/>
            <a:chOff x="2200" y="1827"/>
            <a:chExt cx="147" cy="281"/>
          </a:xfrm>
        </p:grpSpPr>
        <p:grpSp>
          <p:nvGrpSpPr>
            <p:cNvPr id="47" name="Group 41"/>
            <p:cNvGrpSpPr>
              <a:grpSpLocks/>
            </p:cNvGrpSpPr>
            <p:nvPr/>
          </p:nvGrpSpPr>
          <p:grpSpPr bwMode="auto">
            <a:xfrm>
              <a:off x="2200" y="1827"/>
              <a:ext cx="118" cy="165"/>
              <a:chOff x="2200" y="1827"/>
              <a:chExt cx="118" cy="165"/>
            </a:xfrm>
          </p:grpSpPr>
          <p:sp>
            <p:nvSpPr>
              <p:cNvPr id="50" name="Rectangle 42"/>
              <p:cNvSpPr>
                <a:spLocks noChangeArrowheads="1"/>
              </p:cNvSpPr>
              <p:nvPr/>
            </p:nvSpPr>
            <p:spPr bwMode="auto">
              <a:xfrm>
                <a:off x="2200" y="1827"/>
                <a:ext cx="63" cy="12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fr-FR" altLang="fr-FR" sz="1300">
                    <a:latin typeface="Times New Roman" panose="02020603050405020304" pitchFamily="18" charset="0"/>
                  </a:rPr>
                  <a:t>E</a:t>
                </a:r>
              </a:p>
            </p:txBody>
          </p:sp>
          <p:sp>
            <p:nvSpPr>
              <p:cNvPr id="51" name="Rectangle 43"/>
              <p:cNvSpPr>
                <a:spLocks noChangeArrowheads="1"/>
              </p:cNvSpPr>
              <p:nvPr/>
            </p:nvSpPr>
            <p:spPr bwMode="auto">
              <a:xfrm>
                <a:off x="2278" y="1897"/>
                <a:ext cx="40" cy="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fr-FR" altLang="fr-FR" sz="1000">
                    <a:latin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48" name="Line 44"/>
            <p:cNvSpPr>
              <a:spLocks noChangeShapeType="1"/>
            </p:cNvSpPr>
            <p:nvPr/>
          </p:nvSpPr>
          <p:spPr bwMode="auto">
            <a:xfrm>
              <a:off x="2200" y="2002"/>
              <a:ext cx="147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Rectangle 45"/>
            <p:cNvSpPr>
              <a:spLocks noChangeArrowheads="1"/>
            </p:cNvSpPr>
            <p:nvPr/>
          </p:nvSpPr>
          <p:spPr bwMode="auto">
            <a:xfrm>
              <a:off x="2209" y="1984"/>
              <a:ext cx="69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R</a:t>
              </a:r>
            </a:p>
          </p:txBody>
        </p:sp>
      </p:grpSp>
      <p:sp>
        <p:nvSpPr>
          <p:cNvPr id="52" name="Line 46"/>
          <p:cNvSpPr>
            <a:spLocks noChangeShapeType="1"/>
          </p:cNvSpPr>
          <p:nvPr/>
        </p:nvSpPr>
        <p:spPr bwMode="auto">
          <a:xfrm>
            <a:off x="5633944" y="3210360"/>
            <a:ext cx="1587" cy="1108075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7"/>
          <p:cNvSpPr>
            <a:spLocks noChangeShapeType="1"/>
          </p:cNvSpPr>
          <p:nvPr/>
        </p:nvSpPr>
        <p:spPr bwMode="auto">
          <a:xfrm>
            <a:off x="7838981" y="3846947"/>
            <a:ext cx="554038" cy="1588"/>
          </a:xfrm>
          <a:prstGeom prst="line">
            <a:avLst/>
          </a:prstGeom>
          <a:noFill/>
          <a:ln w="144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8"/>
          <p:cNvSpPr>
            <a:spLocks noChangeShapeType="1"/>
          </p:cNvSpPr>
          <p:nvPr/>
        </p:nvSpPr>
        <p:spPr bwMode="auto">
          <a:xfrm>
            <a:off x="6743606" y="3764397"/>
            <a:ext cx="1588" cy="152400"/>
          </a:xfrm>
          <a:prstGeom prst="line">
            <a:avLst/>
          </a:prstGeom>
          <a:noFill/>
          <a:ln w="144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5" name="Group 49"/>
          <p:cNvGrpSpPr>
            <a:grpSpLocks/>
          </p:cNvGrpSpPr>
          <p:nvPr/>
        </p:nvGrpSpPr>
        <p:grpSpPr bwMode="auto">
          <a:xfrm>
            <a:off x="6770594" y="3486585"/>
            <a:ext cx="117475" cy="234950"/>
            <a:chOff x="2811" y="2185"/>
            <a:chExt cx="74" cy="148"/>
          </a:xfrm>
        </p:grpSpPr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2811" y="2185"/>
              <a:ext cx="28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2855" y="2238"/>
              <a:ext cx="30" cy="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58" name="Group 52"/>
          <p:cNvGrpSpPr>
            <a:grpSpLocks/>
          </p:cNvGrpSpPr>
          <p:nvPr/>
        </p:nvGrpSpPr>
        <p:grpSpPr bwMode="auto">
          <a:xfrm>
            <a:off x="5203731" y="5691622"/>
            <a:ext cx="244475" cy="276225"/>
            <a:chOff x="1824" y="3574"/>
            <a:chExt cx="154" cy="174"/>
          </a:xfrm>
        </p:grpSpPr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1824" y="3574"/>
              <a:ext cx="97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-E</a:t>
              </a: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1938" y="3653"/>
              <a:ext cx="40" cy="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61" name="Line 55"/>
          <p:cNvSpPr>
            <a:spLocks noChangeShapeType="1"/>
          </p:cNvSpPr>
          <p:nvPr/>
        </p:nvSpPr>
        <p:spPr bwMode="auto">
          <a:xfrm>
            <a:off x="5633944" y="1559360"/>
            <a:ext cx="1587" cy="942975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AutoShape 56"/>
          <p:cNvSpPr>
            <a:spLocks noChangeArrowheads="1"/>
          </p:cNvSpPr>
          <p:nvPr/>
        </p:nvSpPr>
        <p:spPr bwMode="auto">
          <a:xfrm>
            <a:off x="6751544" y="3846948"/>
            <a:ext cx="2419350" cy="925512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1600"/>
              <a:gd name="T19" fmla="*/ 0 h 21600"/>
              <a:gd name="T20" fmla="*/ 10799 w 21600"/>
              <a:gd name="T21" fmla="*/ 107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0" y="10739"/>
                </a:moveTo>
                <a:cubicBezTo>
                  <a:pt x="33" y="4798"/>
                  <a:pt x="4858" y="0"/>
                  <a:pt x="10799" y="0"/>
                </a:cubicBezTo>
                <a:lnTo>
                  <a:pt x="10800" y="10800"/>
                </a:lnTo>
                <a:lnTo>
                  <a:pt x="0" y="10739"/>
                </a:lnTo>
                <a:close/>
              </a:path>
              <a:path w="21600" h="21600" fill="none">
                <a:moveTo>
                  <a:pt x="0" y="10739"/>
                </a:moveTo>
                <a:cubicBezTo>
                  <a:pt x="33" y="4798"/>
                  <a:pt x="4858" y="0"/>
                  <a:pt x="10799" y="0"/>
                </a:cubicBezTo>
              </a:path>
            </a:pathLst>
          </a:cu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63" name="Rectangle 57"/>
          <p:cNvSpPr>
            <a:spLocks noChangeArrowheads="1"/>
          </p:cNvSpPr>
          <p:nvPr/>
        </p:nvSpPr>
        <p:spPr bwMode="auto">
          <a:xfrm>
            <a:off x="6340381" y="4324785"/>
            <a:ext cx="411163" cy="1096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64" name="Line 58"/>
          <p:cNvSpPr>
            <a:spLocks noChangeShapeType="1"/>
          </p:cNvSpPr>
          <p:nvPr/>
        </p:nvSpPr>
        <p:spPr bwMode="auto">
          <a:xfrm>
            <a:off x="5633944" y="4318435"/>
            <a:ext cx="1109662" cy="1587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59"/>
          <p:cNvSpPr>
            <a:spLocks noChangeArrowheads="1"/>
          </p:cNvSpPr>
          <p:nvPr/>
        </p:nvSpPr>
        <p:spPr bwMode="auto">
          <a:xfrm>
            <a:off x="6743606" y="3681847"/>
            <a:ext cx="14288" cy="25368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66" name="Line 60"/>
          <p:cNvSpPr>
            <a:spLocks noChangeShapeType="1"/>
          </p:cNvSpPr>
          <p:nvPr/>
        </p:nvSpPr>
        <p:spPr bwMode="auto">
          <a:xfrm>
            <a:off x="4857656" y="5401110"/>
            <a:ext cx="1885950" cy="1587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1"/>
          <p:cNvSpPr>
            <a:spLocks noChangeShapeType="1"/>
          </p:cNvSpPr>
          <p:nvPr/>
        </p:nvSpPr>
        <p:spPr bwMode="auto">
          <a:xfrm>
            <a:off x="7921531" y="5886885"/>
            <a:ext cx="541338" cy="1587"/>
          </a:xfrm>
          <a:prstGeom prst="line">
            <a:avLst/>
          </a:prstGeom>
          <a:noFill/>
          <a:ln w="270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8" name="Group 62"/>
          <p:cNvGrpSpPr>
            <a:grpSpLocks/>
          </p:cNvGrpSpPr>
          <p:nvPr/>
        </p:nvGrpSpPr>
        <p:grpSpPr bwMode="auto">
          <a:xfrm>
            <a:off x="4995769" y="4054910"/>
            <a:ext cx="358775" cy="447675"/>
            <a:chOff x="1693" y="2543"/>
            <a:chExt cx="226" cy="282"/>
          </a:xfrm>
        </p:grpSpPr>
        <p:sp>
          <p:nvSpPr>
            <p:cNvPr id="69" name="Rectangle 63"/>
            <p:cNvSpPr>
              <a:spLocks noChangeArrowheads="1"/>
            </p:cNvSpPr>
            <p:nvPr/>
          </p:nvSpPr>
          <p:spPr bwMode="auto">
            <a:xfrm>
              <a:off x="1781" y="2543"/>
              <a:ext cx="63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70" name="Rectangle 64"/>
            <p:cNvSpPr>
              <a:spLocks noChangeArrowheads="1"/>
            </p:cNvSpPr>
            <p:nvPr/>
          </p:nvSpPr>
          <p:spPr bwMode="auto">
            <a:xfrm>
              <a:off x="1868" y="2614"/>
              <a:ext cx="40" cy="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1" name="Line 65"/>
            <p:cNvSpPr>
              <a:spLocks noChangeShapeType="1"/>
            </p:cNvSpPr>
            <p:nvPr/>
          </p:nvSpPr>
          <p:spPr bwMode="auto">
            <a:xfrm>
              <a:off x="1772" y="2718"/>
              <a:ext cx="147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Rectangle 66"/>
            <p:cNvSpPr>
              <a:spLocks noChangeArrowheads="1"/>
            </p:cNvSpPr>
            <p:nvPr/>
          </p:nvSpPr>
          <p:spPr bwMode="auto">
            <a:xfrm>
              <a:off x="1789" y="2701"/>
              <a:ext cx="69" cy="1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300">
                  <a:latin typeface="Times New Roman" panose="02020603050405020304" pitchFamily="18" charset="0"/>
                </a:rPr>
                <a:t>R</a:t>
              </a:r>
            </a:p>
          </p:txBody>
        </p:sp>
        <p:sp>
          <p:nvSpPr>
            <p:cNvPr id="73" name="Line 67"/>
            <p:cNvSpPr>
              <a:spLocks noChangeShapeType="1"/>
            </p:cNvSpPr>
            <p:nvPr/>
          </p:nvSpPr>
          <p:spPr bwMode="auto">
            <a:xfrm>
              <a:off x="1693" y="2727"/>
              <a:ext cx="52" cy="0"/>
            </a:xfrm>
            <a:prstGeom prst="line">
              <a:avLst/>
            </a:prstGeom>
            <a:noFill/>
            <a:ln w="144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4" name="ZoneTexte 7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1744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« real » turn off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4650" y="2166938"/>
            <a:ext cx="3889375" cy="2030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363" y="1590675"/>
            <a:ext cx="4248150" cy="410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31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 additive="repl"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Simplified study of the turn off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7120" y="454652"/>
            <a:ext cx="2693184" cy="14067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907" y="1285139"/>
            <a:ext cx="5262563" cy="5148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0" name="Group 4"/>
          <p:cNvGrpSpPr>
            <a:grpSpLocks/>
          </p:cNvGrpSpPr>
          <p:nvPr/>
        </p:nvGrpSpPr>
        <p:grpSpPr bwMode="auto">
          <a:xfrm>
            <a:off x="5854020" y="1716939"/>
            <a:ext cx="6038447" cy="4752975"/>
            <a:chOff x="1731" y="935"/>
            <a:chExt cx="5199" cy="2994"/>
          </a:xfrm>
        </p:grpSpPr>
        <p:graphicFrame>
          <p:nvGraphicFramePr>
            <p:cNvPr id="11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1136820"/>
                </p:ext>
              </p:extLst>
            </p:nvPr>
          </p:nvGraphicFramePr>
          <p:xfrm>
            <a:off x="4473" y="935"/>
            <a:ext cx="564" cy="7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0184" r:id="rId5" imgW="491247" imgH="491247" progId="">
                    <p:embed/>
                  </p:oleObj>
                </mc:Choice>
                <mc:Fallback>
                  <p:oleObj r:id="rId5" imgW="491247" imgH="491247" progId="">
                    <p:embed/>
                    <p:pic>
                      <p:nvPicPr>
                        <p:cNvPr id="40974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73" y="935"/>
                          <a:ext cx="564" cy="7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blipFill dpi="0" rotWithShape="0">
                                <a:blip/>
                                <a:srcRect/>
                                <a:stretch>
                                  <a:fillRect/>
                                </a:stretch>
                              </a:blip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AutoShape 6"/>
            <p:cNvSpPr>
              <a:spLocks/>
            </p:cNvSpPr>
            <p:nvPr/>
          </p:nvSpPr>
          <p:spPr bwMode="auto">
            <a:xfrm flipH="1">
              <a:off x="1731" y="1570"/>
              <a:ext cx="5199" cy="235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8 w 21600"/>
                <a:gd name="T19" fmla="*/ 0 h 21600"/>
                <a:gd name="T20" fmla="*/ 20030 w 21600"/>
                <a:gd name="T21" fmla="*/ 1079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4542" y="0"/>
                    <a:pt x="18017" y="1937"/>
                    <a:pt x="19985" y="5120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4542" y="0"/>
                    <a:pt x="18017" y="1937"/>
                    <a:pt x="19985" y="5120"/>
                  </a:cubicBezTo>
                </a:path>
              </a:pathLst>
            </a:custGeom>
            <a:noFill/>
            <a:ln w="25560" cap="sq">
              <a:solidFill>
                <a:srgbClr val="FF0000"/>
              </a:solidFill>
              <a:miter lim="800000"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AutoShape 7"/>
            <p:cNvSpPr>
              <a:spLocks/>
            </p:cNvSpPr>
            <p:nvPr/>
          </p:nvSpPr>
          <p:spPr bwMode="auto">
            <a:xfrm flipH="1">
              <a:off x="2155" y="1117"/>
              <a:ext cx="4352" cy="281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800 w 21600"/>
                <a:gd name="T19" fmla="*/ 0 h 21600"/>
                <a:gd name="T20" fmla="*/ 20027 w 21600"/>
                <a:gd name="T21" fmla="*/ 1079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4542" y="0"/>
                    <a:pt x="18017" y="1937"/>
                    <a:pt x="19985" y="5120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4542" y="0"/>
                    <a:pt x="18017" y="1937"/>
                    <a:pt x="19985" y="5120"/>
                  </a:cubicBezTo>
                </a:path>
              </a:pathLst>
            </a:custGeom>
            <a:noFill/>
            <a:ln w="25560" cap="sq">
              <a:solidFill>
                <a:srgbClr val="0000FF"/>
              </a:solidFill>
              <a:miter lim="800000"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3071428"/>
              </p:ext>
            </p:extLst>
          </p:nvPr>
        </p:nvGraphicFramePr>
        <p:xfrm>
          <a:off x="9511069" y="3428583"/>
          <a:ext cx="1368425" cy="841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185" r:id="rId7" imgW="490981" imgH="380594" progId="">
                  <p:embed/>
                </p:oleObj>
              </mc:Choice>
              <mc:Fallback>
                <p:oleObj r:id="rId7" imgW="490981" imgH="380594" progId="">
                  <p:embed/>
                  <p:pic>
                    <p:nvPicPr>
                      <p:cNvPr id="1229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11069" y="3428583"/>
                        <a:ext cx="1368425" cy="841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9046754" y="5108914"/>
            <a:ext cx="211017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dirty="0" err="1">
                <a:latin typeface="Times New Roman" panose="02020603050405020304" pitchFamily="18" charset="0"/>
              </a:rPr>
              <a:t>W</a:t>
            </a:r>
            <a:r>
              <a:rPr lang="fr-FR" altLang="fr-FR" sz="2400" baseline="-25000" dirty="0" err="1">
                <a:latin typeface="Times New Roman" panose="02020603050405020304" pitchFamily="18" charset="0"/>
              </a:rPr>
              <a:t>bloc</a:t>
            </a:r>
            <a:r>
              <a:rPr lang="fr-FR" altLang="fr-FR" sz="2400" dirty="0">
                <a:latin typeface="Times New Roman" panose="02020603050405020304" pitchFamily="18" charset="0"/>
              </a:rPr>
              <a:t> = E</a:t>
            </a:r>
            <a:r>
              <a:rPr lang="fr-FR" altLang="fr-FR" sz="2400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2400" dirty="0">
                <a:latin typeface="Times New Roman" panose="02020603050405020304" pitchFamily="18" charset="0"/>
              </a:rPr>
              <a:t>. Q</a:t>
            </a:r>
            <a:r>
              <a:rPr lang="fr-FR" altLang="fr-FR" sz="2400" baseline="-25000" dirty="0">
                <a:latin typeface="Times New Roman" panose="02020603050405020304" pitchFamily="18" charset="0"/>
              </a:rPr>
              <a:t>R</a:t>
            </a:r>
            <a:r>
              <a:rPr lang="fr-FR" altLang="fr-FR" sz="2400" dirty="0">
                <a:latin typeface="Times New Roman" panose="02020603050405020304" pitchFamily="18" charset="0"/>
              </a:rPr>
              <a:t>  </a:t>
            </a:r>
          </a:p>
        </p:txBody>
      </p:sp>
      <p:sp>
        <p:nvSpPr>
          <p:cNvPr id="16" name="Rectangle 12"/>
          <p:cNvSpPr>
            <a:spLocks noChangeArrowheads="1"/>
          </p:cNvSpPr>
          <p:nvPr/>
        </p:nvSpPr>
        <p:spPr bwMode="auto">
          <a:xfrm>
            <a:off x="9046754" y="5672040"/>
            <a:ext cx="2547790" cy="586957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b="1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fr-FR" altLang="fr-FR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b</a:t>
            </a:r>
            <a:r>
              <a:rPr lang="fr-FR" altLang="fr-FR" b="1">
                <a:solidFill>
                  <a:srgbClr val="FF3300"/>
                </a:solidFill>
                <a:latin typeface="Times New Roman" panose="02020603050405020304" pitchFamily="18" charset="0"/>
              </a:rPr>
              <a:t> = f.E</a:t>
            </a:r>
            <a:r>
              <a:rPr lang="fr-FR" altLang="fr-FR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fr-FR" altLang="fr-FR" b="1">
                <a:solidFill>
                  <a:srgbClr val="FF3300"/>
                </a:solidFill>
                <a:latin typeface="Times New Roman" panose="02020603050405020304" pitchFamily="18" charset="0"/>
              </a:rPr>
              <a:t>. Q</a:t>
            </a:r>
            <a:r>
              <a:rPr lang="fr-FR" altLang="fr-FR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R</a:t>
            </a: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  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63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 additive="repl"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Heat sink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22" t="17381" r="40886" b="28439"/>
          <a:stretch/>
        </p:blipFill>
        <p:spPr bwMode="auto">
          <a:xfrm>
            <a:off x="7421879" y="2148840"/>
            <a:ext cx="2087881" cy="1950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784533" y="1388031"/>
            <a:ext cx="4539008" cy="2920066"/>
            <a:chOff x="350" y="1016"/>
            <a:chExt cx="1754" cy="1229"/>
          </a:xfrm>
        </p:grpSpPr>
        <p:sp>
          <p:nvSpPr>
            <p:cNvPr id="14" name="Oval 8"/>
            <p:cNvSpPr>
              <a:spLocks noChangeArrowheads="1"/>
            </p:cNvSpPr>
            <p:nvPr/>
          </p:nvSpPr>
          <p:spPr bwMode="auto">
            <a:xfrm>
              <a:off x="590" y="1637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998" y="1275"/>
              <a:ext cx="294" cy="89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1588" y="1569"/>
              <a:ext cx="90" cy="294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 flipV="1">
              <a:off x="1634" y="1319"/>
              <a:ext cx="0" cy="25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 flipH="1">
              <a:off x="1292" y="1320"/>
              <a:ext cx="342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680" y="1320"/>
              <a:ext cx="31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 flipV="1">
              <a:off x="681" y="1319"/>
              <a:ext cx="0" cy="31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V="1">
              <a:off x="681" y="1931"/>
              <a:ext cx="0" cy="1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V="1">
              <a:off x="1634" y="1863"/>
              <a:ext cx="0" cy="183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17"/>
            <p:cNvSpPr>
              <a:spLocks noChangeArrowheads="1"/>
            </p:cNvSpPr>
            <p:nvPr/>
          </p:nvSpPr>
          <p:spPr bwMode="auto">
            <a:xfrm>
              <a:off x="590" y="1751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 flipH="1">
              <a:off x="952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 flipH="1">
              <a:off x="680" y="2046"/>
              <a:ext cx="954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 flipH="1">
              <a:off x="1179" y="1524"/>
              <a:ext cx="160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1180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1135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1339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953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 flipH="1">
              <a:off x="1451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1452" y="1524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1360" y="1728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>
              <a:off x="1360" y="177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>
              <a:off x="1452" y="1774"/>
              <a:ext cx="0" cy="27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 flipV="1">
              <a:off x="681" y="1659"/>
              <a:ext cx="0" cy="228"/>
            </a:xfrm>
            <a:prstGeom prst="line">
              <a:avLst/>
            </a:prstGeom>
            <a:noFill/>
            <a:ln w="1908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350" y="1652"/>
              <a:ext cx="158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8" name="Text Box 32"/>
            <p:cNvSpPr txBox="1">
              <a:spLocks noChangeArrowheads="1"/>
            </p:cNvSpPr>
            <p:nvPr/>
          </p:nvSpPr>
          <p:spPr bwMode="auto">
            <a:xfrm>
              <a:off x="499" y="1144"/>
              <a:ext cx="209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j</a:t>
              </a:r>
            </a:p>
          </p:txBody>
        </p:sp>
        <p:sp>
          <p:nvSpPr>
            <p:cNvPr id="39" name="Text Box 33"/>
            <p:cNvSpPr txBox="1">
              <a:spLocks noChangeArrowheads="1"/>
            </p:cNvSpPr>
            <p:nvPr/>
          </p:nvSpPr>
          <p:spPr bwMode="auto">
            <a:xfrm>
              <a:off x="560" y="1998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Text Box 34"/>
            <p:cNvSpPr txBox="1">
              <a:spLocks noChangeArrowheads="1"/>
            </p:cNvSpPr>
            <p:nvPr/>
          </p:nvSpPr>
          <p:spPr bwMode="auto">
            <a:xfrm>
              <a:off x="1519" y="1049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Symbol" panose="05050102010706020507" pitchFamily="18" charset="2"/>
                </a:rPr>
                <a:t></a:t>
              </a:r>
              <a:r>
                <a:rPr lang="fr-FR" altLang="fr-FR" baseline="-250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962" y="1016"/>
              <a:ext cx="405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j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/c</a:t>
              </a:r>
            </a:p>
          </p:txBody>
        </p:sp>
        <p:sp>
          <p:nvSpPr>
            <p:cNvPr id="42" name="Text Box 36"/>
            <p:cNvSpPr txBox="1">
              <a:spLocks noChangeArrowheads="1"/>
            </p:cNvSpPr>
            <p:nvPr/>
          </p:nvSpPr>
          <p:spPr bwMode="auto">
            <a:xfrm>
              <a:off x="1681" y="1585"/>
              <a:ext cx="423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/a</a:t>
              </a:r>
            </a:p>
          </p:txBody>
        </p:sp>
      </p:grpSp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4368483" y="5266372"/>
            <a:ext cx="1584000" cy="612000"/>
          </a:xfrm>
          <a:prstGeom prst="rect">
            <a:avLst/>
          </a:prstGeom>
          <a:noFill/>
          <a:ln w="3810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</a:t>
            </a:r>
            <a:r>
              <a:rPr lang="fr-FR" altLang="fr-FR" sz="2800" b="1">
                <a:latin typeface="Times New Roman" panose="02020603050405020304" pitchFamily="18" charset="0"/>
              </a:rPr>
              <a:t> &lt; </a:t>
            </a: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jmax</a:t>
            </a:r>
          </a:p>
        </p:txBody>
      </p:sp>
      <p:sp>
        <p:nvSpPr>
          <p:cNvPr id="44" name="Text Box 38"/>
          <p:cNvSpPr txBox="1">
            <a:spLocks noChangeArrowheads="1"/>
          </p:cNvSpPr>
          <p:nvPr/>
        </p:nvSpPr>
        <p:spPr bwMode="auto">
          <a:xfrm>
            <a:off x="3936683" y="4186873"/>
            <a:ext cx="175860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>
                <a:latin typeface="Times New Roman" panose="02020603050405020304" pitchFamily="18" charset="0"/>
              </a:rPr>
              <a:t>P =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+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5" name="Text Box 39"/>
          <p:cNvSpPr txBox="1">
            <a:spLocks noChangeArrowheads="1"/>
          </p:cNvSpPr>
          <p:nvPr/>
        </p:nvSpPr>
        <p:spPr bwMode="auto">
          <a:xfrm>
            <a:off x="7271225" y="5034598"/>
            <a:ext cx="3493562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36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Rth</a:t>
            </a:r>
            <a:r>
              <a:rPr lang="en-CA" altLang="fr-FR" sz="3600" b="1" i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36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/a</a:t>
            </a:r>
            <a:r>
              <a:rPr lang="en-CA" altLang="fr-FR" sz="36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21" t="28588" r="13585" b="37126"/>
          <a:stretch/>
        </p:blipFill>
        <p:spPr bwMode="auto">
          <a:xfrm>
            <a:off x="9819399" y="2581910"/>
            <a:ext cx="1343898" cy="1234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14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Specific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137128" y="2299717"/>
            <a:ext cx="8216900" cy="277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Low threshold diode: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Schottky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High voltage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Power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Zener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diodes (« Transient-voltage-suppression diode »)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Fast diodes (low Q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Light-emitting diodes (high threshold)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824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err="1" smtClean="0">
                <a:solidFill>
                  <a:srgbClr val="9E003B"/>
                </a:solidFill>
                <a:latin typeface="Myriad Pro"/>
                <a:cs typeface="Myriad Pro"/>
              </a:rPr>
              <a:t>Schottky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471" y="451091"/>
            <a:ext cx="4968875" cy="5932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5625" y="2526528"/>
            <a:ext cx="4160569" cy="1781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2143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Bipolar power transistor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7888" y="1596073"/>
            <a:ext cx="1790700" cy="2257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3346450" y="5097336"/>
            <a:ext cx="376447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 err="1">
                <a:latin typeface="Times New Roman" panose="02020603050405020304" pitchFamily="18" charset="0"/>
              </a:rPr>
              <a:t>i</a:t>
            </a:r>
            <a:r>
              <a:rPr lang="fr-FR" altLang="fr-FR" sz="2800" baseline="-25000" dirty="0" err="1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= </a:t>
            </a:r>
            <a:r>
              <a:rPr lang="fr-FR" altLang="fr-FR" sz="2800" dirty="0">
                <a:latin typeface="Symbol" panose="05050102010706020507" pitchFamily="18" charset="2"/>
              </a:rPr>
              <a:t></a:t>
            </a:r>
            <a:r>
              <a:rPr lang="fr-FR" altLang="fr-FR" sz="2800" dirty="0">
                <a:latin typeface="Times New Roman" panose="02020603050405020304" pitchFamily="18" charset="0"/>
              </a:rPr>
              <a:t>.</a:t>
            </a:r>
            <a:r>
              <a:rPr lang="fr-FR" altLang="fr-FR" sz="2800" dirty="0" err="1">
                <a:latin typeface="Times New Roman" panose="02020603050405020304" pitchFamily="18" charset="0"/>
              </a:rPr>
              <a:t>i</a:t>
            </a:r>
            <a:r>
              <a:rPr lang="fr-FR" altLang="fr-FR" sz="2800" baseline="-25000" dirty="0" err="1">
                <a:latin typeface="Times New Roman" panose="02020603050405020304" pitchFamily="18" charset="0"/>
              </a:rPr>
              <a:t>E</a:t>
            </a:r>
            <a:r>
              <a:rPr lang="fr-FR" altLang="fr-FR" sz="2800" dirty="0">
                <a:latin typeface="Times New Roman" panose="02020603050405020304" pitchFamily="18" charset="0"/>
              </a:rPr>
              <a:t> ;  </a:t>
            </a:r>
            <a:r>
              <a:rPr lang="fr-FR" altLang="fr-FR" sz="2800" dirty="0" err="1">
                <a:latin typeface="Times New Roman" panose="02020603050405020304" pitchFamily="18" charset="0"/>
              </a:rPr>
              <a:t>i</a:t>
            </a:r>
            <a:r>
              <a:rPr lang="fr-FR" altLang="fr-FR" sz="2800" baseline="-25000" dirty="0" err="1">
                <a:latin typeface="Times New Roman" panose="02020603050405020304" pitchFamily="18" charset="0"/>
              </a:rPr>
              <a:t>B</a:t>
            </a:r>
            <a:r>
              <a:rPr lang="fr-FR" altLang="fr-FR" sz="2800" dirty="0">
                <a:latin typeface="Times New Roman" panose="02020603050405020304" pitchFamily="18" charset="0"/>
              </a:rPr>
              <a:t> = (1 - </a:t>
            </a:r>
            <a:r>
              <a:rPr lang="fr-FR" altLang="fr-FR" sz="2800" dirty="0">
                <a:latin typeface="Symbol" panose="05050102010706020507" pitchFamily="18" charset="2"/>
              </a:rPr>
              <a:t></a:t>
            </a:r>
            <a:r>
              <a:rPr lang="fr-FR" altLang="fr-FR" sz="2800" dirty="0">
                <a:latin typeface="Times New Roman" panose="02020603050405020304" pitchFamily="18" charset="0"/>
              </a:rPr>
              <a:t>).</a:t>
            </a:r>
            <a:r>
              <a:rPr lang="fr-FR" altLang="fr-FR" sz="2800" dirty="0" err="1">
                <a:latin typeface="Times New Roman" panose="02020603050405020304" pitchFamily="18" charset="0"/>
              </a:rPr>
              <a:t>i</a:t>
            </a:r>
            <a:r>
              <a:rPr lang="fr-FR" altLang="fr-FR" sz="2800" baseline="-25000" dirty="0" err="1">
                <a:latin typeface="Times New Roman" panose="02020603050405020304" pitchFamily="18" charset="0"/>
              </a:rPr>
              <a:t>E</a:t>
            </a:r>
            <a:r>
              <a:rPr lang="fr-FR" altLang="fr-FR" sz="2800" dirty="0">
                <a:latin typeface="Times New Roman" panose="02020603050405020304" pitchFamily="18" charset="0"/>
              </a:rPr>
              <a:t> </a:t>
            </a:r>
          </a:p>
        </p:txBody>
      </p:sp>
      <p:sp>
        <p:nvSpPr>
          <p:cNvPr id="11" name="AutoShape 5"/>
          <p:cNvSpPr>
            <a:spLocks noChangeArrowheads="1"/>
          </p:cNvSpPr>
          <p:nvPr/>
        </p:nvSpPr>
        <p:spPr bwMode="auto">
          <a:xfrm>
            <a:off x="7273480" y="5304198"/>
            <a:ext cx="1079500" cy="288925"/>
          </a:xfrm>
          <a:prstGeom prst="rightArrow">
            <a:avLst>
              <a:gd name="adj1" fmla="val 50000"/>
              <a:gd name="adj2" fmla="val 93407"/>
            </a:avLst>
          </a:prstGeom>
          <a:solidFill>
            <a:srgbClr val="BBE0E3"/>
          </a:solidFill>
          <a:ln w="936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6496050" y="1792923"/>
            <a:ext cx="1154113" cy="1863725"/>
          </a:xfrm>
          <a:prstGeom prst="rect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6419850" y="1856423"/>
            <a:ext cx="76200" cy="1724025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10810875" y="1856423"/>
            <a:ext cx="76200" cy="1724025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5" name="Rectangle 9"/>
          <p:cNvSpPr>
            <a:spLocks noChangeArrowheads="1"/>
          </p:cNvSpPr>
          <p:nvPr/>
        </p:nvSpPr>
        <p:spPr bwMode="auto">
          <a:xfrm>
            <a:off x="7650163" y="1792923"/>
            <a:ext cx="711200" cy="1863725"/>
          </a:xfrm>
          <a:prstGeom prst="rect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8361363" y="1792923"/>
            <a:ext cx="2449512" cy="1863725"/>
          </a:xfrm>
          <a:prstGeom prst="rect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7" name="Rectangle 11"/>
          <p:cNvSpPr>
            <a:spLocks noChangeArrowheads="1"/>
          </p:cNvSpPr>
          <p:nvPr/>
        </p:nvSpPr>
        <p:spPr bwMode="auto">
          <a:xfrm>
            <a:off x="10093325" y="1786573"/>
            <a:ext cx="12700" cy="1800225"/>
          </a:xfrm>
          <a:prstGeom prst="rect">
            <a:avLst/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7010400" y="1977073"/>
            <a:ext cx="128588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7897813" y="1977073"/>
            <a:ext cx="100012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P</a:t>
            </a:r>
          </a:p>
        </p:txBody>
      </p:sp>
      <p:sp>
        <p:nvSpPr>
          <p:cNvPr id="20" name="Rectangle 14"/>
          <p:cNvSpPr>
            <a:spLocks noChangeArrowheads="1"/>
          </p:cNvSpPr>
          <p:nvPr/>
        </p:nvSpPr>
        <p:spPr bwMode="auto">
          <a:xfrm>
            <a:off x="8964613" y="1977073"/>
            <a:ext cx="128587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21" name="Rectangle 15"/>
          <p:cNvSpPr>
            <a:spLocks noChangeArrowheads="1"/>
          </p:cNvSpPr>
          <p:nvPr/>
        </p:nvSpPr>
        <p:spPr bwMode="auto">
          <a:xfrm>
            <a:off x="10347325" y="1977073"/>
            <a:ext cx="128588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22" name="Rectangle 16"/>
          <p:cNvSpPr>
            <a:spLocks noChangeArrowheads="1"/>
          </p:cNvSpPr>
          <p:nvPr/>
        </p:nvSpPr>
        <p:spPr bwMode="auto">
          <a:xfrm>
            <a:off x="9167813" y="1900873"/>
            <a:ext cx="50800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-</a:t>
            </a:r>
          </a:p>
        </p:txBody>
      </p:sp>
      <p:sp>
        <p:nvSpPr>
          <p:cNvPr id="23" name="Rectangle 17"/>
          <p:cNvSpPr>
            <a:spLocks noChangeArrowheads="1"/>
          </p:cNvSpPr>
          <p:nvPr/>
        </p:nvSpPr>
        <p:spPr bwMode="auto">
          <a:xfrm>
            <a:off x="10474325" y="1913573"/>
            <a:ext cx="85725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+</a:t>
            </a:r>
          </a:p>
        </p:txBody>
      </p:sp>
      <p:sp>
        <p:nvSpPr>
          <p:cNvPr id="24" name="Rectangle 18"/>
          <p:cNvSpPr>
            <a:spLocks noChangeArrowheads="1"/>
          </p:cNvSpPr>
          <p:nvPr/>
        </p:nvSpPr>
        <p:spPr bwMode="auto">
          <a:xfrm>
            <a:off x="6743700" y="1596073"/>
            <a:ext cx="439738" cy="184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200">
                <a:latin typeface="Times New Roman" panose="02020603050405020304" pitchFamily="18" charset="0"/>
              </a:rPr>
              <a:t>emitter</a:t>
            </a:r>
          </a:p>
        </p:txBody>
      </p:sp>
      <p:sp>
        <p:nvSpPr>
          <p:cNvPr id="25" name="Rectangle 19"/>
          <p:cNvSpPr>
            <a:spLocks noChangeArrowheads="1"/>
          </p:cNvSpPr>
          <p:nvPr/>
        </p:nvSpPr>
        <p:spPr bwMode="auto">
          <a:xfrm>
            <a:off x="7796213" y="1596073"/>
            <a:ext cx="274637" cy="184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200">
                <a:latin typeface="Times New Roman" panose="02020603050405020304" pitchFamily="18" charset="0"/>
              </a:rPr>
              <a:t>base</a:t>
            </a:r>
          </a:p>
        </p:txBody>
      </p:sp>
      <p:sp>
        <p:nvSpPr>
          <p:cNvPr id="26" name="Rectangle 20"/>
          <p:cNvSpPr>
            <a:spLocks noChangeArrowheads="1"/>
          </p:cNvSpPr>
          <p:nvPr/>
        </p:nvSpPr>
        <p:spPr bwMode="auto">
          <a:xfrm>
            <a:off x="9307513" y="1596073"/>
            <a:ext cx="541337" cy="184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200">
                <a:latin typeface="Times New Roman" panose="02020603050405020304" pitchFamily="18" charset="0"/>
              </a:rPr>
              <a:t>collector</a:t>
            </a:r>
          </a:p>
        </p:txBody>
      </p:sp>
      <p:sp>
        <p:nvSpPr>
          <p:cNvPr id="27" name="Rectangle 21"/>
          <p:cNvSpPr>
            <a:spLocks noChangeArrowheads="1"/>
          </p:cNvSpPr>
          <p:nvPr/>
        </p:nvSpPr>
        <p:spPr bwMode="auto">
          <a:xfrm>
            <a:off x="7713663" y="3656648"/>
            <a:ext cx="584200" cy="762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>
            <a:off x="6565900" y="2356485"/>
            <a:ext cx="3236913" cy="15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3"/>
          <p:cNvSpPr>
            <a:spLocks noChangeShapeType="1"/>
          </p:cNvSpPr>
          <p:nvPr/>
        </p:nvSpPr>
        <p:spPr bwMode="auto">
          <a:xfrm>
            <a:off x="6629400" y="3220085"/>
            <a:ext cx="1077913" cy="15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4"/>
          <p:cNvSpPr>
            <a:spLocks noChangeShapeType="1"/>
          </p:cNvSpPr>
          <p:nvPr/>
        </p:nvSpPr>
        <p:spPr bwMode="auto">
          <a:xfrm>
            <a:off x="7707313" y="3080385"/>
            <a:ext cx="2095500" cy="15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 flipV="1">
            <a:off x="9802813" y="2140585"/>
            <a:ext cx="1587" cy="2174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6"/>
          <p:cNvSpPr>
            <a:spLocks noChangeShapeType="1"/>
          </p:cNvSpPr>
          <p:nvPr/>
        </p:nvSpPr>
        <p:spPr bwMode="auto">
          <a:xfrm>
            <a:off x="9802813" y="2142173"/>
            <a:ext cx="569912" cy="569912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7"/>
          <p:cNvSpPr>
            <a:spLocks noChangeShapeType="1"/>
          </p:cNvSpPr>
          <p:nvPr/>
        </p:nvSpPr>
        <p:spPr bwMode="auto">
          <a:xfrm>
            <a:off x="9802813" y="3080385"/>
            <a:ext cx="1587" cy="215900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28"/>
          <p:cNvSpPr>
            <a:spLocks noChangeShapeType="1"/>
          </p:cNvSpPr>
          <p:nvPr/>
        </p:nvSpPr>
        <p:spPr bwMode="auto">
          <a:xfrm flipV="1">
            <a:off x="9802813" y="2710498"/>
            <a:ext cx="569912" cy="587375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utoShape 29"/>
          <p:cNvSpPr>
            <a:spLocks noChangeArrowheads="1"/>
          </p:cNvSpPr>
          <p:nvPr/>
        </p:nvSpPr>
        <p:spPr bwMode="auto">
          <a:xfrm>
            <a:off x="7502525" y="3226435"/>
            <a:ext cx="427038" cy="431800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601 w 21600"/>
              <a:gd name="T19" fmla="*/ 0 h 21600"/>
              <a:gd name="T20" fmla="*/ 21597 w 21600"/>
              <a:gd name="T21" fmla="*/ 107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10746" y="0"/>
                </a:moveTo>
                <a:cubicBezTo>
                  <a:pt x="10764" y="0"/>
                  <a:pt x="10782" y="0"/>
                  <a:pt x="10800" y="0"/>
                </a:cubicBezTo>
                <a:cubicBezTo>
                  <a:pt x="16742" y="0"/>
                  <a:pt x="21569" y="4801"/>
                  <a:pt x="21599" y="10743"/>
                </a:cubicBezTo>
                <a:lnTo>
                  <a:pt x="10800" y="10800"/>
                </a:lnTo>
                <a:lnTo>
                  <a:pt x="10746" y="0"/>
                </a:lnTo>
                <a:close/>
              </a:path>
              <a:path w="21600" h="21600" fill="none">
                <a:moveTo>
                  <a:pt x="10746" y="0"/>
                </a:moveTo>
                <a:cubicBezTo>
                  <a:pt x="10764" y="0"/>
                  <a:pt x="10782" y="0"/>
                  <a:pt x="10800" y="0"/>
                </a:cubicBezTo>
                <a:cubicBezTo>
                  <a:pt x="16742" y="0"/>
                  <a:pt x="21569" y="4801"/>
                  <a:pt x="21599" y="10743"/>
                </a:cubicBezTo>
              </a:path>
            </a:pathLst>
          </a:cu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6" name="AutoShape 30"/>
          <p:cNvSpPr>
            <a:spLocks noChangeArrowheads="1"/>
          </p:cNvSpPr>
          <p:nvPr/>
        </p:nvSpPr>
        <p:spPr bwMode="auto">
          <a:xfrm>
            <a:off x="7358063" y="3086735"/>
            <a:ext cx="723900" cy="711200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0 h 21600"/>
              <a:gd name="T20" fmla="*/ 21597 w 21600"/>
              <a:gd name="T21" fmla="*/ 107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10799" y="0"/>
                </a:moveTo>
                <a:cubicBezTo>
                  <a:pt x="10799" y="0"/>
                  <a:pt x="10799" y="0"/>
                  <a:pt x="10800" y="0"/>
                </a:cubicBezTo>
                <a:cubicBezTo>
                  <a:pt x="16742" y="0"/>
                  <a:pt x="21569" y="4801"/>
                  <a:pt x="21599" y="10743"/>
                </a:cubicBezTo>
                <a:lnTo>
                  <a:pt x="10800" y="10800"/>
                </a:lnTo>
                <a:lnTo>
                  <a:pt x="10799" y="0"/>
                </a:lnTo>
                <a:close/>
              </a:path>
              <a:path w="21600" h="21600" fill="none">
                <a:moveTo>
                  <a:pt x="10799" y="0"/>
                </a:moveTo>
                <a:cubicBezTo>
                  <a:pt x="10799" y="0"/>
                  <a:pt x="10799" y="0"/>
                  <a:pt x="10800" y="0"/>
                </a:cubicBezTo>
                <a:cubicBezTo>
                  <a:pt x="16742" y="0"/>
                  <a:pt x="21569" y="4801"/>
                  <a:pt x="21599" y="10743"/>
                </a:cubicBezTo>
              </a:path>
            </a:pathLst>
          </a:cu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7" name="Line 31"/>
          <p:cNvSpPr>
            <a:spLocks noChangeShapeType="1"/>
          </p:cNvSpPr>
          <p:nvPr/>
        </p:nvSpPr>
        <p:spPr bwMode="auto">
          <a:xfrm flipH="1">
            <a:off x="7858125" y="3435985"/>
            <a:ext cx="66675" cy="15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2"/>
          <p:cNvSpPr>
            <a:spLocks noChangeShapeType="1"/>
          </p:cNvSpPr>
          <p:nvPr/>
        </p:nvSpPr>
        <p:spPr bwMode="auto">
          <a:xfrm>
            <a:off x="8075613" y="3435985"/>
            <a:ext cx="63500" cy="1588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 flipH="1">
            <a:off x="7997825" y="3435985"/>
            <a:ext cx="142875" cy="138113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4"/>
          <p:cNvSpPr>
            <a:spLocks noChangeShapeType="1"/>
          </p:cNvSpPr>
          <p:nvPr/>
        </p:nvSpPr>
        <p:spPr bwMode="auto">
          <a:xfrm flipH="1" flipV="1">
            <a:off x="7858125" y="3434398"/>
            <a:ext cx="142875" cy="141287"/>
          </a:xfrm>
          <a:prstGeom prst="line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Rectangle 35"/>
          <p:cNvSpPr>
            <a:spLocks noChangeArrowheads="1"/>
          </p:cNvSpPr>
          <p:nvPr/>
        </p:nvSpPr>
        <p:spPr bwMode="auto">
          <a:xfrm rot="16200000">
            <a:off x="6415882" y="2646204"/>
            <a:ext cx="558800" cy="185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200">
                <a:latin typeface="Times New Roman" panose="02020603050405020304" pitchFamily="18" charset="0"/>
              </a:rPr>
              <a:t>electrons</a:t>
            </a:r>
          </a:p>
        </p:txBody>
      </p:sp>
      <p:sp>
        <p:nvSpPr>
          <p:cNvPr id="42" name="Freeform 36"/>
          <p:cNvSpPr>
            <a:spLocks noChangeArrowheads="1"/>
          </p:cNvSpPr>
          <p:nvPr/>
        </p:nvSpPr>
        <p:spPr bwMode="auto">
          <a:xfrm>
            <a:off x="8012113" y="2129473"/>
            <a:ext cx="190500" cy="163512"/>
          </a:xfrm>
          <a:custGeom>
            <a:avLst/>
            <a:gdLst>
              <a:gd name="T0" fmla="*/ 2096770000 w 15"/>
              <a:gd name="T1" fmla="*/ 2056628780 h 13"/>
              <a:gd name="T2" fmla="*/ 2147483646 w 15"/>
              <a:gd name="T3" fmla="*/ 1107416465 h 13"/>
              <a:gd name="T4" fmla="*/ 2096770000 w 15"/>
              <a:gd name="T5" fmla="*/ 0 h 13"/>
              <a:gd name="T6" fmla="*/ 0 w 15"/>
              <a:gd name="T7" fmla="*/ 1107416465 h 13"/>
              <a:gd name="T8" fmla="*/ 2096770000 w 15"/>
              <a:gd name="T9" fmla="*/ 2056628780 h 1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5" h="13">
                <a:moveTo>
                  <a:pt x="13" y="13"/>
                </a:moveTo>
                <a:cubicBezTo>
                  <a:pt x="14" y="11"/>
                  <a:pt x="15" y="9"/>
                  <a:pt x="15" y="7"/>
                </a:cubicBezTo>
                <a:cubicBezTo>
                  <a:pt x="15" y="4"/>
                  <a:pt x="14" y="2"/>
                  <a:pt x="13" y="0"/>
                </a:cubicBezTo>
                <a:lnTo>
                  <a:pt x="0" y="7"/>
                </a:lnTo>
                <a:lnTo>
                  <a:pt x="13" y="13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3" name="Freeform 37"/>
          <p:cNvSpPr>
            <a:spLocks noChangeArrowheads="1"/>
          </p:cNvSpPr>
          <p:nvPr/>
        </p:nvSpPr>
        <p:spPr bwMode="auto">
          <a:xfrm>
            <a:off x="6159500" y="2597785"/>
            <a:ext cx="266700" cy="215900"/>
          </a:xfrm>
          <a:custGeom>
            <a:avLst/>
            <a:gdLst>
              <a:gd name="T0" fmla="*/ 322580000 w 21"/>
              <a:gd name="T1" fmla="*/ 0 h 17"/>
              <a:gd name="T2" fmla="*/ 161290000 w 21"/>
              <a:gd name="T3" fmla="*/ 1290320000 h 17"/>
              <a:gd name="T4" fmla="*/ 322580000 w 21"/>
              <a:gd name="T5" fmla="*/ 2147483646 h 17"/>
              <a:gd name="T6" fmla="*/ 2147483646 w 21"/>
              <a:gd name="T7" fmla="*/ 1451610000 h 17"/>
              <a:gd name="T8" fmla="*/ 322580000 w 21"/>
              <a:gd name="T9" fmla="*/ 0 h 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21" h="17">
                <a:moveTo>
                  <a:pt x="2" y="0"/>
                </a:moveTo>
                <a:cubicBezTo>
                  <a:pt x="1" y="3"/>
                  <a:pt x="1" y="6"/>
                  <a:pt x="1" y="8"/>
                </a:cubicBezTo>
                <a:cubicBezTo>
                  <a:pt x="0" y="11"/>
                  <a:pt x="1" y="14"/>
                  <a:pt x="2" y="17"/>
                </a:cubicBezTo>
                <a:lnTo>
                  <a:pt x="21" y="9"/>
                </a:lnTo>
                <a:lnTo>
                  <a:pt x="2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4" name="Line 38"/>
          <p:cNvSpPr>
            <a:spLocks noChangeShapeType="1"/>
          </p:cNvSpPr>
          <p:nvPr/>
        </p:nvSpPr>
        <p:spPr bwMode="auto">
          <a:xfrm flipH="1">
            <a:off x="5916613" y="2712085"/>
            <a:ext cx="269875" cy="1588"/>
          </a:xfrm>
          <a:prstGeom prst="line">
            <a:avLst/>
          </a:prstGeom>
          <a:noFill/>
          <a:ln w="5076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Freeform 39"/>
          <p:cNvSpPr>
            <a:spLocks noChangeArrowheads="1"/>
          </p:cNvSpPr>
          <p:nvPr/>
        </p:nvSpPr>
        <p:spPr bwMode="auto">
          <a:xfrm>
            <a:off x="7923213" y="3726498"/>
            <a:ext cx="165100" cy="177800"/>
          </a:xfrm>
          <a:custGeom>
            <a:avLst/>
            <a:gdLst>
              <a:gd name="T0" fmla="*/ 0 w 13"/>
              <a:gd name="T1" fmla="*/ 2096770000 h 14"/>
              <a:gd name="T2" fmla="*/ 1129030000 w 13"/>
              <a:gd name="T3" fmla="*/ 2147483646 h 14"/>
              <a:gd name="T4" fmla="*/ 2096770000 w 13"/>
              <a:gd name="T5" fmla="*/ 2096770000 h 14"/>
              <a:gd name="T6" fmla="*/ 1129030000 w 13"/>
              <a:gd name="T7" fmla="*/ 0 h 14"/>
              <a:gd name="T8" fmla="*/ 0 w 13"/>
              <a:gd name="T9" fmla="*/ 2096770000 h 1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" h="14">
                <a:moveTo>
                  <a:pt x="0" y="13"/>
                </a:moveTo>
                <a:cubicBezTo>
                  <a:pt x="2" y="14"/>
                  <a:pt x="4" y="14"/>
                  <a:pt x="7" y="14"/>
                </a:cubicBezTo>
                <a:cubicBezTo>
                  <a:pt x="9" y="14"/>
                  <a:pt x="11" y="14"/>
                  <a:pt x="13" y="13"/>
                </a:cubicBezTo>
                <a:lnTo>
                  <a:pt x="7" y="0"/>
                </a:lnTo>
                <a:lnTo>
                  <a:pt x="0" y="13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6" name="Line 40"/>
          <p:cNvSpPr>
            <a:spLocks noChangeShapeType="1"/>
          </p:cNvSpPr>
          <p:nvPr/>
        </p:nvSpPr>
        <p:spPr bwMode="auto">
          <a:xfrm>
            <a:off x="7999413" y="3891598"/>
            <a:ext cx="1587" cy="266700"/>
          </a:xfrm>
          <a:prstGeom prst="line">
            <a:avLst/>
          </a:prstGeom>
          <a:noFill/>
          <a:ln w="25560" cap="sq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Rectangle 41"/>
          <p:cNvSpPr>
            <a:spLocks noChangeArrowheads="1"/>
          </p:cNvSpPr>
          <p:nvPr/>
        </p:nvSpPr>
        <p:spPr bwMode="auto">
          <a:xfrm>
            <a:off x="6019800" y="2204085"/>
            <a:ext cx="65088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8" name="Rectangle 42"/>
          <p:cNvSpPr>
            <a:spLocks noChangeArrowheads="1"/>
          </p:cNvSpPr>
          <p:nvPr/>
        </p:nvSpPr>
        <p:spPr bwMode="auto">
          <a:xfrm>
            <a:off x="11147425" y="2280285"/>
            <a:ext cx="65088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9" name="Rectangle 43"/>
          <p:cNvSpPr>
            <a:spLocks noChangeArrowheads="1"/>
          </p:cNvSpPr>
          <p:nvPr/>
        </p:nvSpPr>
        <p:spPr bwMode="auto">
          <a:xfrm>
            <a:off x="8151813" y="3815398"/>
            <a:ext cx="65087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50" name="Rectangle 44"/>
          <p:cNvSpPr>
            <a:spLocks noChangeArrowheads="1"/>
          </p:cNvSpPr>
          <p:nvPr/>
        </p:nvSpPr>
        <p:spPr bwMode="auto">
          <a:xfrm>
            <a:off x="8240713" y="3967798"/>
            <a:ext cx="103187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200" b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51" name="Rectangle 45"/>
          <p:cNvSpPr>
            <a:spLocks noChangeArrowheads="1"/>
          </p:cNvSpPr>
          <p:nvPr/>
        </p:nvSpPr>
        <p:spPr bwMode="auto">
          <a:xfrm>
            <a:off x="6121400" y="2318385"/>
            <a:ext cx="103188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200" b="1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52" name="Rectangle 46"/>
          <p:cNvSpPr>
            <a:spLocks noChangeArrowheads="1"/>
          </p:cNvSpPr>
          <p:nvPr/>
        </p:nvSpPr>
        <p:spPr bwMode="auto">
          <a:xfrm>
            <a:off x="11236325" y="2407285"/>
            <a:ext cx="1111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200" b="1"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53" name="Line 47"/>
          <p:cNvSpPr>
            <a:spLocks noChangeShapeType="1"/>
          </p:cNvSpPr>
          <p:nvPr/>
        </p:nvSpPr>
        <p:spPr bwMode="auto">
          <a:xfrm flipH="1">
            <a:off x="5868988" y="2705735"/>
            <a:ext cx="508000" cy="1588"/>
          </a:xfrm>
          <a:prstGeom prst="line">
            <a:avLst/>
          </a:prstGeom>
          <a:noFill/>
          <a:ln w="5724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8"/>
          <p:cNvSpPr>
            <a:spLocks noChangeShapeType="1"/>
          </p:cNvSpPr>
          <p:nvPr/>
        </p:nvSpPr>
        <p:spPr bwMode="auto">
          <a:xfrm flipH="1">
            <a:off x="10890250" y="2697798"/>
            <a:ext cx="508000" cy="1587"/>
          </a:xfrm>
          <a:prstGeom prst="line">
            <a:avLst/>
          </a:prstGeom>
          <a:noFill/>
          <a:ln w="5724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49"/>
          <p:cNvSpPr>
            <a:spLocks noChangeShapeType="1"/>
          </p:cNvSpPr>
          <p:nvPr/>
        </p:nvSpPr>
        <p:spPr bwMode="auto">
          <a:xfrm flipV="1">
            <a:off x="8001000" y="3736023"/>
            <a:ext cx="1588" cy="403225"/>
          </a:xfrm>
          <a:prstGeom prst="line">
            <a:avLst/>
          </a:prstGeom>
          <a:noFill/>
          <a:ln w="2844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Text Box 50"/>
          <p:cNvSpPr txBox="1">
            <a:spLocks noChangeArrowheads="1"/>
          </p:cNvSpPr>
          <p:nvPr/>
        </p:nvSpPr>
        <p:spPr bwMode="auto">
          <a:xfrm>
            <a:off x="3155393" y="3923348"/>
            <a:ext cx="4774169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i="1" dirty="0">
                <a:solidFill>
                  <a:srgbClr val="0033CC"/>
                </a:solidFill>
                <a:latin typeface="Times New Roman" panose="02020603050405020304" pitchFamily="18" charset="0"/>
              </a:rPr>
              <a:t>Base-emitter junction forward biased</a:t>
            </a:r>
          </a:p>
        </p:txBody>
      </p:sp>
      <p:grpSp>
        <p:nvGrpSpPr>
          <p:cNvPr id="57" name="Group 51"/>
          <p:cNvGrpSpPr>
            <a:grpSpLocks/>
          </p:cNvGrpSpPr>
          <p:nvPr/>
        </p:nvGrpSpPr>
        <p:grpSpPr bwMode="auto">
          <a:xfrm>
            <a:off x="3078163" y="1951673"/>
            <a:ext cx="5643562" cy="3044826"/>
            <a:chOff x="307" y="1431"/>
            <a:chExt cx="3555" cy="1918"/>
          </a:xfrm>
        </p:grpSpPr>
        <p:sp>
          <p:nvSpPr>
            <p:cNvPr id="58" name="Line 52"/>
            <p:cNvSpPr>
              <a:spLocks noChangeShapeType="1"/>
            </p:cNvSpPr>
            <p:nvPr/>
          </p:nvSpPr>
          <p:spPr bwMode="auto">
            <a:xfrm>
              <a:off x="3511" y="1599"/>
              <a:ext cx="351" cy="0"/>
            </a:xfrm>
            <a:prstGeom prst="line">
              <a:avLst/>
            </a:prstGeom>
            <a:noFill/>
            <a:ln w="25560" cap="sq">
              <a:solidFill>
                <a:srgbClr val="FF3300"/>
              </a:solidFill>
              <a:miter lim="800000"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3647" y="1431"/>
              <a:ext cx="65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3687" y="1495"/>
              <a:ext cx="101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CB</a:t>
              </a:r>
            </a:p>
          </p:txBody>
        </p:sp>
        <p:sp>
          <p:nvSpPr>
            <p:cNvPr id="61" name="Text Box 55"/>
            <p:cNvSpPr txBox="1">
              <a:spLocks noChangeArrowheads="1"/>
            </p:cNvSpPr>
            <p:nvPr/>
          </p:nvSpPr>
          <p:spPr bwMode="auto">
            <a:xfrm>
              <a:off x="307" y="3057"/>
              <a:ext cx="3092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400" i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Base-collector junction reverse biased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610527" y="4671781"/>
                <a:ext cx="1393971" cy="632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527" y="4671781"/>
                <a:ext cx="1393971" cy="6324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604250" y="5622737"/>
                <a:ext cx="13036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4250" y="5622737"/>
                <a:ext cx="1303690" cy="369332"/>
              </a:xfrm>
              <a:prstGeom prst="rect">
                <a:avLst/>
              </a:prstGeom>
              <a:blipFill>
                <a:blip r:embed="rId6"/>
                <a:stretch>
                  <a:fillRect l="-4673" r="-1402" b="-344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ZoneTexte 6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796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Transistor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9097" y="2019618"/>
            <a:ext cx="5705911" cy="35715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8231823" y="2019618"/>
            <a:ext cx="3063875" cy="92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I</a:t>
            </a:r>
            <a:r>
              <a:rPr lang="en-CA" altLang="fr-FR" sz="1800" baseline="-25000">
                <a:latin typeface="Times New Roman" panose="02020603050405020304" pitchFamily="18" charset="0"/>
              </a:rPr>
              <a:t>c</a:t>
            </a:r>
            <a:r>
              <a:rPr lang="en-CA" altLang="fr-FR" sz="1800">
                <a:latin typeface="Times New Roman" panose="02020603050405020304" pitchFamily="18" charset="0"/>
              </a:rPr>
              <a:t> = average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I</a:t>
            </a:r>
            <a:r>
              <a:rPr lang="en-CA" altLang="fr-FR" sz="1800" baseline="-25000">
                <a:latin typeface="Times New Roman" panose="02020603050405020304" pitchFamily="18" charset="0"/>
              </a:rPr>
              <a:t>cm</a:t>
            </a:r>
            <a:r>
              <a:rPr lang="en-CA" altLang="fr-FR" sz="1800">
                <a:latin typeface="Times New Roman" panose="02020603050405020304" pitchFamily="18" charset="0"/>
              </a:rPr>
              <a:t> : maximum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Vce</a:t>
            </a:r>
            <a:r>
              <a:rPr lang="en-CA" altLang="fr-FR" sz="1800" baseline="-25000">
                <a:latin typeface="Times New Roman" panose="02020603050405020304" pitchFamily="18" charset="0"/>
              </a:rPr>
              <a:t>sat</a:t>
            </a:r>
            <a:r>
              <a:rPr lang="en-CA" altLang="fr-FR" sz="1800">
                <a:latin typeface="Times New Roman" panose="02020603050405020304" pitchFamily="18" charset="0"/>
              </a:rPr>
              <a:t> : saturation voltage</a:t>
            </a:r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8819198" y="4035743"/>
            <a:ext cx="2224087" cy="833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Conduction loss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 = Vce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sat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400" b="1" i="1">
                <a:solidFill>
                  <a:srgbClr val="0033CC"/>
                </a:solidFill>
                <a:latin typeface="Symbol" panose="05050102010706020507" pitchFamily="18" charset="2"/>
              </a:rPr>
              <a:t></a:t>
            </a:r>
          </a:p>
        </p:txBody>
      </p:sp>
      <p:grpSp>
        <p:nvGrpSpPr>
          <p:cNvPr id="11" name="Group 5"/>
          <p:cNvGrpSpPr>
            <a:grpSpLocks/>
          </p:cNvGrpSpPr>
          <p:nvPr/>
        </p:nvGrpSpPr>
        <p:grpSpPr bwMode="auto">
          <a:xfrm>
            <a:off x="3043873" y="2945131"/>
            <a:ext cx="1509712" cy="2890838"/>
            <a:chOff x="247" y="1836"/>
            <a:chExt cx="951" cy="1821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47" y="1836"/>
              <a:ext cx="206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Text Box 7"/>
            <p:cNvSpPr txBox="1">
              <a:spLocks noChangeArrowheads="1"/>
            </p:cNvSpPr>
            <p:nvPr/>
          </p:nvSpPr>
          <p:spPr bwMode="auto">
            <a:xfrm>
              <a:off x="835" y="3402"/>
              <a:ext cx="363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cesat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Line 8"/>
            <p:cNvSpPr>
              <a:spLocks noChangeShapeType="1"/>
            </p:cNvSpPr>
            <p:nvPr/>
          </p:nvSpPr>
          <p:spPr bwMode="auto">
            <a:xfrm>
              <a:off x="998" y="1956"/>
              <a:ext cx="0" cy="1467"/>
            </a:xfrm>
            <a:prstGeom prst="line">
              <a:avLst/>
            </a:prstGeom>
            <a:noFill/>
            <a:ln w="12600" cap="sq">
              <a:solidFill>
                <a:srgbClr val="FF0000"/>
              </a:solidFill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9"/>
            <p:cNvSpPr>
              <a:spLocks noChangeShapeType="1"/>
            </p:cNvSpPr>
            <p:nvPr/>
          </p:nvSpPr>
          <p:spPr bwMode="auto">
            <a:xfrm flipH="1">
              <a:off x="465" y="1958"/>
              <a:ext cx="552" cy="0"/>
            </a:xfrm>
            <a:prstGeom prst="line">
              <a:avLst/>
            </a:prstGeom>
            <a:noFill/>
            <a:ln w="12600" cap="sq">
              <a:solidFill>
                <a:srgbClr val="FF0000"/>
              </a:solidFill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0"/>
          <p:cNvGrpSpPr>
            <a:grpSpLocks/>
          </p:cNvGrpSpPr>
          <p:nvPr/>
        </p:nvGrpSpPr>
        <p:grpSpPr bwMode="auto">
          <a:xfrm>
            <a:off x="6169561" y="1515540"/>
            <a:ext cx="1316037" cy="4601013"/>
            <a:chOff x="2100" y="958"/>
            <a:chExt cx="829" cy="2621"/>
          </a:xfrm>
        </p:grpSpPr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389" y="1054"/>
              <a:ext cx="0" cy="2154"/>
            </a:xfrm>
            <a:prstGeom prst="line">
              <a:avLst/>
            </a:prstGeom>
            <a:noFill/>
            <a:ln w="19080" cap="sq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2205" y="3259"/>
              <a:ext cx="724" cy="3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500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24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ce0</a:t>
              </a:r>
            </a:p>
          </p:txBody>
        </p:sp>
        <p:sp>
          <p:nvSpPr>
            <p:cNvPr id="19" name="AutoShape 13"/>
            <p:cNvSpPr>
              <a:spLocks noChangeArrowheads="1"/>
            </p:cNvSpPr>
            <p:nvPr/>
          </p:nvSpPr>
          <p:spPr bwMode="auto">
            <a:xfrm flipV="1">
              <a:off x="2100" y="2424"/>
              <a:ext cx="499" cy="72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78 w 21600"/>
                <a:gd name="T19" fmla="*/ 0 h 21600"/>
                <a:gd name="T20" fmla="*/ 21600 w 21600"/>
                <a:gd name="T21" fmla="*/ 1078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 flipV="1">
              <a:off x="2107" y="2040"/>
              <a:ext cx="500" cy="72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800 w 21600"/>
                <a:gd name="T19" fmla="*/ 0 h 21600"/>
                <a:gd name="T20" fmla="*/ 21600 w 21600"/>
                <a:gd name="T21" fmla="*/ 1078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AutoShape 15"/>
            <p:cNvSpPr>
              <a:spLocks noChangeArrowheads="1"/>
            </p:cNvSpPr>
            <p:nvPr/>
          </p:nvSpPr>
          <p:spPr bwMode="auto">
            <a:xfrm flipV="1">
              <a:off x="2110" y="1689"/>
              <a:ext cx="499" cy="72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78 w 21600"/>
                <a:gd name="T19" fmla="*/ 0 h 21600"/>
                <a:gd name="T20" fmla="*/ 21600 w 21600"/>
                <a:gd name="T21" fmla="*/ 1078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2" name="AutoShape 16"/>
            <p:cNvSpPr>
              <a:spLocks noChangeArrowheads="1"/>
            </p:cNvSpPr>
            <p:nvPr/>
          </p:nvSpPr>
          <p:spPr bwMode="auto">
            <a:xfrm flipV="1">
              <a:off x="2107" y="1185"/>
              <a:ext cx="500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800 w 21600"/>
                <a:gd name="T19" fmla="*/ 0 h 21600"/>
                <a:gd name="T20" fmla="*/ 21600 w 21600"/>
                <a:gd name="T21" fmla="*/ 10787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AutoShape 17"/>
            <p:cNvSpPr>
              <a:spLocks noChangeArrowheads="1"/>
            </p:cNvSpPr>
            <p:nvPr/>
          </p:nvSpPr>
          <p:spPr bwMode="auto">
            <a:xfrm flipV="1">
              <a:off x="2107" y="958"/>
              <a:ext cx="500" cy="72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800 w 21600"/>
                <a:gd name="T19" fmla="*/ 0 h 21600"/>
                <a:gd name="T20" fmla="*/ 21600 w 21600"/>
                <a:gd name="T21" fmla="*/ 1078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  <a:lnTo>
                    <a:pt x="10800" y="10800"/>
                  </a:lnTo>
                  <a:lnTo>
                    <a:pt x="10799" y="0"/>
                  </a:lnTo>
                  <a:close/>
                </a:path>
                <a:path w="21600" h="21600" fill="none">
                  <a:moveTo>
                    <a:pt x="10799" y="0"/>
                  </a:moveTo>
                  <a:cubicBezTo>
                    <a:pt x="10799" y="0"/>
                    <a:pt x="10799" y="0"/>
                    <a:pt x="10800" y="0"/>
                  </a:cubicBezTo>
                  <a:cubicBezTo>
                    <a:pt x="16553" y="0"/>
                    <a:pt x="21297" y="4511"/>
                    <a:pt x="21586" y="10257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4" name="ZoneTexte 2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9373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  <p:tav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 additive="repl"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Transistor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3747861" y="1456417"/>
            <a:ext cx="6447421" cy="4378325"/>
            <a:chOff x="1218" y="1146"/>
            <a:chExt cx="2931" cy="2145"/>
          </a:xfrm>
        </p:grpSpPr>
        <p:grpSp>
          <p:nvGrpSpPr>
            <p:cNvPr id="7" name="Group 3"/>
            <p:cNvGrpSpPr>
              <a:grpSpLocks/>
            </p:cNvGrpSpPr>
            <p:nvPr/>
          </p:nvGrpSpPr>
          <p:grpSpPr bwMode="auto">
            <a:xfrm>
              <a:off x="1442" y="1258"/>
              <a:ext cx="55" cy="1857"/>
              <a:chOff x="1442" y="1258"/>
              <a:chExt cx="55" cy="1857"/>
            </a:xfrm>
          </p:grpSpPr>
          <p:sp>
            <p:nvSpPr>
              <p:cNvPr id="52" name="Freeform 4"/>
              <p:cNvSpPr>
                <a:spLocks noChangeArrowheads="1"/>
              </p:cNvSpPr>
              <p:nvPr/>
            </p:nvSpPr>
            <p:spPr bwMode="auto">
              <a:xfrm>
                <a:off x="1442" y="1258"/>
                <a:ext cx="55" cy="111"/>
              </a:xfrm>
              <a:custGeom>
                <a:avLst/>
                <a:gdLst>
                  <a:gd name="T0" fmla="*/ 30 w 56"/>
                  <a:gd name="T1" fmla="*/ 0 h 112"/>
                  <a:gd name="T2" fmla="*/ 54 w 56"/>
                  <a:gd name="T3" fmla="*/ 110 h 112"/>
                  <a:gd name="T4" fmla="*/ 30 w 56"/>
                  <a:gd name="T5" fmla="*/ 110 h 112"/>
                  <a:gd name="T6" fmla="*/ 0 w 56"/>
                  <a:gd name="T7" fmla="*/ 110 h 112"/>
                  <a:gd name="T8" fmla="*/ 30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53" name="Line 5"/>
              <p:cNvSpPr>
                <a:spLocks noChangeShapeType="1"/>
              </p:cNvSpPr>
              <p:nvPr/>
            </p:nvSpPr>
            <p:spPr bwMode="auto">
              <a:xfrm>
                <a:off x="1474" y="1370"/>
                <a:ext cx="0" cy="1745"/>
              </a:xfrm>
              <a:prstGeom prst="line">
                <a:avLst/>
              </a:prstGeom>
              <a:noFill/>
              <a:ln w="12600" cap="sq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6"/>
            <p:cNvGrpSpPr>
              <a:grpSpLocks/>
            </p:cNvGrpSpPr>
            <p:nvPr/>
          </p:nvGrpSpPr>
          <p:grpSpPr bwMode="auto">
            <a:xfrm>
              <a:off x="1426" y="3044"/>
              <a:ext cx="2719" cy="63"/>
              <a:chOff x="1426" y="3044"/>
              <a:chExt cx="2719" cy="63"/>
            </a:xfrm>
          </p:grpSpPr>
          <p:sp>
            <p:nvSpPr>
              <p:cNvPr id="50" name="Freeform 7"/>
              <p:cNvSpPr>
                <a:spLocks noChangeArrowheads="1"/>
              </p:cNvSpPr>
              <p:nvPr/>
            </p:nvSpPr>
            <p:spPr bwMode="auto">
              <a:xfrm>
                <a:off x="4034" y="3044"/>
                <a:ext cx="111" cy="63"/>
              </a:xfrm>
              <a:custGeom>
                <a:avLst/>
                <a:gdLst>
                  <a:gd name="T0" fmla="*/ 110 w 112"/>
                  <a:gd name="T1" fmla="*/ 32 h 64"/>
                  <a:gd name="T2" fmla="*/ 0 w 112"/>
                  <a:gd name="T3" fmla="*/ 62 h 64"/>
                  <a:gd name="T4" fmla="*/ 0 w 112"/>
                  <a:gd name="T5" fmla="*/ 32 h 64"/>
                  <a:gd name="T6" fmla="*/ 0 w 112"/>
                  <a:gd name="T7" fmla="*/ 0 h 64"/>
                  <a:gd name="T8" fmla="*/ 110 w 112"/>
                  <a:gd name="T9" fmla="*/ 32 h 6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64">
                    <a:moveTo>
                      <a:pt x="112" y="32"/>
                    </a:moveTo>
                    <a:lnTo>
                      <a:pt x="0" y="64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51" name="Line 8"/>
              <p:cNvSpPr>
                <a:spLocks noChangeShapeType="1"/>
              </p:cNvSpPr>
              <p:nvPr/>
            </p:nvSpPr>
            <p:spPr bwMode="auto">
              <a:xfrm>
                <a:off x="1426" y="3076"/>
                <a:ext cx="2607" cy="0"/>
              </a:xfrm>
              <a:prstGeom prst="line">
                <a:avLst/>
              </a:prstGeom>
              <a:noFill/>
              <a:ln w="12600" cap="sq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3962" y="2876"/>
              <a:ext cx="48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4018" y="2932"/>
              <a:ext cx="93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>
                  <a:latin typeface="Times New Roman" panose="02020603050405020304" pitchFamily="18" charset="0"/>
                </a:rPr>
                <a:t>CE</a:t>
              </a:r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490" y="3148"/>
              <a:ext cx="48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538" y="3204"/>
              <a:ext cx="129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>
                  <a:latin typeface="Times New Roman" panose="02020603050405020304" pitchFamily="18" charset="0"/>
                </a:rPr>
                <a:t>CE0</a:t>
              </a:r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1354" y="1146"/>
              <a:ext cx="27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1394" y="1202"/>
              <a:ext cx="48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17" name="Freeform 15"/>
            <p:cNvSpPr>
              <a:spLocks noChangeArrowheads="1"/>
            </p:cNvSpPr>
            <p:nvPr/>
          </p:nvSpPr>
          <p:spPr bwMode="auto">
            <a:xfrm>
              <a:off x="1474" y="1851"/>
              <a:ext cx="2039" cy="1224"/>
            </a:xfrm>
            <a:custGeom>
              <a:avLst/>
              <a:gdLst>
                <a:gd name="T0" fmla="*/ 0 w 2040"/>
                <a:gd name="T1" fmla="*/ 1223 h 1225"/>
                <a:gd name="T2" fmla="*/ 0 w 2040"/>
                <a:gd name="T3" fmla="*/ 0 h 1225"/>
                <a:gd name="T4" fmla="*/ 904 w 2040"/>
                <a:gd name="T5" fmla="*/ 0 h 1225"/>
                <a:gd name="T6" fmla="*/ 1358 w 2040"/>
                <a:gd name="T7" fmla="*/ 312 h 1225"/>
                <a:gd name="T8" fmla="*/ 2038 w 2040"/>
                <a:gd name="T9" fmla="*/ 766 h 1225"/>
                <a:gd name="T10" fmla="*/ 2038 w 2040"/>
                <a:gd name="T11" fmla="*/ 1223 h 1225"/>
                <a:gd name="T12" fmla="*/ 0 w 2040"/>
                <a:gd name="T13" fmla="*/ 1223 h 1225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040" h="1225">
                  <a:moveTo>
                    <a:pt x="0" y="1225"/>
                  </a:moveTo>
                  <a:lnTo>
                    <a:pt x="0" y="0"/>
                  </a:lnTo>
                  <a:lnTo>
                    <a:pt x="904" y="0"/>
                  </a:lnTo>
                  <a:lnTo>
                    <a:pt x="1360" y="312"/>
                  </a:lnTo>
                  <a:lnTo>
                    <a:pt x="2040" y="768"/>
                  </a:lnTo>
                  <a:lnTo>
                    <a:pt x="2040" y="1225"/>
                  </a:lnTo>
                  <a:lnTo>
                    <a:pt x="0" y="12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Freeform 16"/>
            <p:cNvSpPr>
              <a:spLocks noChangeArrowheads="1"/>
            </p:cNvSpPr>
            <p:nvPr/>
          </p:nvSpPr>
          <p:spPr bwMode="auto">
            <a:xfrm>
              <a:off x="1474" y="1851"/>
              <a:ext cx="2039" cy="1224"/>
            </a:xfrm>
            <a:custGeom>
              <a:avLst/>
              <a:gdLst>
                <a:gd name="T0" fmla="*/ 0 w 2040"/>
                <a:gd name="T1" fmla="*/ 1223 h 1225"/>
                <a:gd name="T2" fmla="*/ 0 w 2040"/>
                <a:gd name="T3" fmla="*/ 0 h 1225"/>
                <a:gd name="T4" fmla="*/ 904 w 2040"/>
                <a:gd name="T5" fmla="*/ 0 h 1225"/>
                <a:gd name="T6" fmla="*/ 1358 w 2040"/>
                <a:gd name="T7" fmla="*/ 312 h 1225"/>
                <a:gd name="T8" fmla="*/ 2038 w 2040"/>
                <a:gd name="T9" fmla="*/ 766 h 1225"/>
                <a:gd name="T10" fmla="*/ 2038 w 2040"/>
                <a:gd name="T11" fmla="*/ 1223 h 122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2040" h="1225">
                  <a:moveTo>
                    <a:pt x="0" y="1225"/>
                  </a:moveTo>
                  <a:lnTo>
                    <a:pt x="0" y="0"/>
                  </a:lnTo>
                  <a:lnTo>
                    <a:pt x="904" y="0"/>
                  </a:lnTo>
                  <a:lnTo>
                    <a:pt x="1360" y="312"/>
                  </a:lnTo>
                  <a:lnTo>
                    <a:pt x="2040" y="768"/>
                  </a:lnTo>
                  <a:lnTo>
                    <a:pt x="2040" y="1225"/>
                  </a:lnTo>
                </a:path>
              </a:pathLst>
            </a:custGeom>
            <a:noFill/>
            <a:ln w="12600" cap="sq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Oval 17"/>
            <p:cNvSpPr>
              <a:spLocks noChangeArrowheads="1"/>
            </p:cNvSpPr>
            <p:nvPr/>
          </p:nvSpPr>
          <p:spPr bwMode="auto">
            <a:xfrm>
              <a:off x="2882" y="1626"/>
              <a:ext cx="1215" cy="9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0" name="AutoShape 18"/>
            <p:cNvSpPr>
              <a:spLocks noChangeArrowheads="1"/>
            </p:cNvSpPr>
            <p:nvPr/>
          </p:nvSpPr>
          <p:spPr bwMode="auto">
            <a:xfrm>
              <a:off x="2878" y="1622"/>
              <a:ext cx="1271" cy="100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0789 h 21600"/>
                <a:gd name="T20" fmla="*/ 10792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800" y="21599"/>
                  </a:moveTo>
                  <a:cubicBezTo>
                    <a:pt x="4835" y="21599"/>
                    <a:pt x="0" y="16764"/>
                    <a:pt x="0" y="10800"/>
                  </a:cubicBezTo>
                  <a:lnTo>
                    <a:pt x="10800" y="10800"/>
                  </a:lnTo>
                  <a:lnTo>
                    <a:pt x="10800" y="21599"/>
                  </a:lnTo>
                  <a:close/>
                </a:path>
                <a:path w="21600" h="21600" fill="none">
                  <a:moveTo>
                    <a:pt x="10800" y="21599"/>
                  </a:moveTo>
                  <a:cubicBezTo>
                    <a:pt x="4835" y="21599"/>
                    <a:pt x="0" y="16764"/>
                    <a:pt x="0" y="1080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Rectangle 21"/>
            <p:cNvSpPr>
              <a:spLocks noChangeArrowheads="1"/>
            </p:cNvSpPr>
            <p:nvPr/>
          </p:nvSpPr>
          <p:spPr bwMode="auto">
            <a:xfrm>
              <a:off x="1868" y="2571"/>
              <a:ext cx="468" cy="1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Steady state</a:t>
              </a:r>
            </a:p>
          </p:txBody>
        </p:sp>
        <p:sp>
          <p:nvSpPr>
            <p:cNvPr id="22" name="Rectangle 22"/>
            <p:cNvSpPr>
              <a:spLocks noChangeArrowheads="1"/>
            </p:cNvSpPr>
            <p:nvPr/>
          </p:nvSpPr>
          <p:spPr bwMode="auto">
            <a:xfrm>
              <a:off x="1474" y="1570"/>
              <a:ext cx="911" cy="7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3" name="Rectangle 24"/>
            <p:cNvSpPr>
              <a:spLocks noChangeArrowheads="1"/>
            </p:cNvSpPr>
            <p:nvPr/>
          </p:nvSpPr>
          <p:spPr bwMode="auto">
            <a:xfrm>
              <a:off x="3518" y="2351"/>
              <a:ext cx="175" cy="183"/>
            </a:xfrm>
            <a:prstGeom prst="rect">
              <a:avLst/>
            </a:prstGeom>
            <a:solidFill>
              <a:srgbClr val="FFFFFF"/>
            </a:solidFill>
            <a:ln w="12600" cap="sq">
              <a:solidFill>
                <a:srgbClr val="FFFF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4" name="Rectangle 25"/>
            <p:cNvSpPr>
              <a:spLocks noChangeArrowheads="1"/>
            </p:cNvSpPr>
            <p:nvPr/>
          </p:nvSpPr>
          <p:spPr bwMode="auto">
            <a:xfrm>
              <a:off x="1474" y="1394"/>
              <a:ext cx="1367" cy="7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5" name="Rectangle 27"/>
            <p:cNvSpPr>
              <a:spLocks noChangeArrowheads="1"/>
            </p:cNvSpPr>
            <p:nvPr/>
          </p:nvSpPr>
          <p:spPr bwMode="auto">
            <a:xfrm>
              <a:off x="3514" y="2211"/>
              <a:ext cx="7" cy="415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6" name="Rectangle 28"/>
            <p:cNvSpPr>
              <a:spLocks noChangeArrowheads="1"/>
            </p:cNvSpPr>
            <p:nvPr/>
          </p:nvSpPr>
          <p:spPr bwMode="auto">
            <a:xfrm>
              <a:off x="2466" y="1410"/>
              <a:ext cx="214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10 µs</a:t>
              </a:r>
            </a:p>
          </p:txBody>
        </p:sp>
        <p:sp>
          <p:nvSpPr>
            <p:cNvPr id="27" name="Rectangle 29"/>
            <p:cNvSpPr>
              <a:spLocks noChangeArrowheads="1"/>
            </p:cNvSpPr>
            <p:nvPr/>
          </p:nvSpPr>
          <p:spPr bwMode="auto">
            <a:xfrm>
              <a:off x="1930" y="1594"/>
              <a:ext cx="186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1 ms</a:t>
              </a:r>
            </a:p>
          </p:txBody>
        </p:sp>
        <p:sp>
          <p:nvSpPr>
            <p:cNvPr id="28" name="Rectangle 30"/>
            <p:cNvSpPr>
              <a:spLocks noChangeArrowheads="1"/>
            </p:cNvSpPr>
            <p:nvPr/>
          </p:nvSpPr>
          <p:spPr bwMode="auto">
            <a:xfrm>
              <a:off x="1266" y="1731"/>
              <a:ext cx="37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 b="1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31"/>
            <p:cNvSpPr>
              <a:spLocks noChangeArrowheads="1"/>
            </p:cNvSpPr>
            <p:nvPr/>
          </p:nvSpPr>
          <p:spPr bwMode="auto">
            <a:xfrm>
              <a:off x="1330" y="1787"/>
              <a:ext cx="113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 b="1">
                  <a:latin typeface="Times New Roman" panose="02020603050405020304" pitchFamily="18" charset="0"/>
                </a:rPr>
                <a:t>FM</a:t>
              </a:r>
            </a:p>
          </p:txBody>
        </p:sp>
        <p:sp>
          <p:nvSpPr>
            <p:cNvPr id="30" name="Rectangle 32"/>
            <p:cNvSpPr>
              <a:spLocks noChangeArrowheads="1"/>
            </p:cNvSpPr>
            <p:nvPr/>
          </p:nvSpPr>
          <p:spPr bwMode="auto">
            <a:xfrm>
              <a:off x="2578" y="1851"/>
              <a:ext cx="71" cy="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31" name="Rectangle 33"/>
            <p:cNvSpPr>
              <a:spLocks noChangeArrowheads="1"/>
            </p:cNvSpPr>
            <p:nvPr/>
          </p:nvSpPr>
          <p:spPr bwMode="auto">
            <a:xfrm>
              <a:off x="2586" y="1827"/>
              <a:ext cx="67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 b="1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2" name="Rectangle 34"/>
            <p:cNvSpPr>
              <a:spLocks noChangeArrowheads="1"/>
            </p:cNvSpPr>
            <p:nvPr/>
          </p:nvSpPr>
          <p:spPr bwMode="auto">
            <a:xfrm>
              <a:off x="2642" y="1875"/>
              <a:ext cx="133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 b="1">
                  <a:latin typeface="Times New Roman" panose="02020603050405020304" pitchFamily="18" charset="0"/>
                </a:rPr>
                <a:t>max</a:t>
              </a:r>
            </a:p>
          </p:txBody>
        </p:sp>
        <p:sp>
          <p:nvSpPr>
            <p:cNvPr id="33" name="Rectangle 35"/>
            <p:cNvSpPr>
              <a:spLocks noChangeArrowheads="1"/>
            </p:cNvSpPr>
            <p:nvPr/>
          </p:nvSpPr>
          <p:spPr bwMode="auto">
            <a:xfrm>
              <a:off x="3570" y="1763"/>
              <a:ext cx="45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Second</a:t>
              </a:r>
            </a:p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breakdown </a:t>
              </a:r>
            </a:p>
          </p:txBody>
        </p:sp>
        <p:grpSp>
          <p:nvGrpSpPr>
            <p:cNvPr id="34" name="Group 37"/>
            <p:cNvGrpSpPr>
              <a:grpSpLocks/>
            </p:cNvGrpSpPr>
            <p:nvPr/>
          </p:nvGrpSpPr>
          <p:grpSpPr bwMode="auto">
            <a:xfrm>
              <a:off x="3282" y="2027"/>
              <a:ext cx="319" cy="271"/>
              <a:chOff x="3282" y="2027"/>
              <a:chExt cx="319" cy="271"/>
            </a:xfrm>
          </p:grpSpPr>
          <p:sp>
            <p:nvSpPr>
              <p:cNvPr id="48" name="Freeform 38"/>
              <p:cNvSpPr>
                <a:spLocks noChangeArrowheads="1"/>
              </p:cNvSpPr>
              <p:nvPr/>
            </p:nvSpPr>
            <p:spPr bwMode="auto">
              <a:xfrm>
                <a:off x="3282" y="2203"/>
                <a:ext cx="103" cy="95"/>
              </a:xfrm>
              <a:custGeom>
                <a:avLst/>
                <a:gdLst>
                  <a:gd name="T0" fmla="*/ 0 w 104"/>
                  <a:gd name="T1" fmla="*/ 94 h 96"/>
                  <a:gd name="T2" fmla="*/ 62 w 104"/>
                  <a:gd name="T3" fmla="*/ 0 h 96"/>
                  <a:gd name="T4" fmla="*/ 78 w 104"/>
                  <a:gd name="T5" fmla="*/ 24 h 96"/>
                  <a:gd name="T6" fmla="*/ 102 w 104"/>
                  <a:gd name="T7" fmla="*/ 48 h 96"/>
                  <a:gd name="T8" fmla="*/ 0 w 104"/>
                  <a:gd name="T9" fmla="*/ 94 h 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04" h="96">
                    <a:moveTo>
                      <a:pt x="0" y="96"/>
                    </a:moveTo>
                    <a:lnTo>
                      <a:pt x="64" y="0"/>
                    </a:lnTo>
                    <a:lnTo>
                      <a:pt x="80" y="24"/>
                    </a:lnTo>
                    <a:lnTo>
                      <a:pt x="104" y="48"/>
                    </a:lnTo>
                    <a:lnTo>
                      <a:pt x="0" y="9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49" name="Line 39"/>
              <p:cNvSpPr>
                <a:spLocks noChangeShapeType="1"/>
              </p:cNvSpPr>
              <p:nvPr/>
            </p:nvSpPr>
            <p:spPr bwMode="auto">
              <a:xfrm flipH="1">
                <a:off x="3361" y="2027"/>
                <a:ext cx="241" cy="199"/>
              </a:xfrm>
              <a:prstGeom prst="line">
                <a:avLst/>
              </a:prstGeom>
              <a:noFill/>
              <a:ln w="12600" cap="sq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Rectangle 40"/>
            <p:cNvSpPr>
              <a:spLocks noChangeArrowheads="1"/>
            </p:cNvSpPr>
            <p:nvPr/>
          </p:nvSpPr>
          <p:spPr bwMode="auto">
            <a:xfrm>
              <a:off x="1530" y="1883"/>
              <a:ext cx="87" cy="1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36" name="Rectangle 41"/>
            <p:cNvSpPr>
              <a:spLocks noChangeArrowheads="1"/>
            </p:cNvSpPr>
            <p:nvPr/>
          </p:nvSpPr>
          <p:spPr bwMode="auto">
            <a:xfrm>
              <a:off x="1538" y="1875"/>
              <a:ext cx="76" cy="1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400" b="1" i="1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37" name="Rectangle 42"/>
            <p:cNvSpPr>
              <a:spLocks noChangeArrowheads="1"/>
            </p:cNvSpPr>
            <p:nvPr/>
          </p:nvSpPr>
          <p:spPr bwMode="auto">
            <a:xfrm>
              <a:off x="2266" y="1883"/>
              <a:ext cx="87" cy="1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38" name="Rectangle 43"/>
            <p:cNvSpPr>
              <a:spLocks noChangeArrowheads="1"/>
            </p:cNvSpPr>
            <p:nvPr/>
          </p:nvSpPr>
          <p:spPr bwMode="auto">
            <a:xfrm>
              <a:off x="2274" y="1875"/>
              <a:ext cx="76" cy="1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400" b="1" i="1"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39" name="Rectangle 44"/>
            <p:cNvSpPr>
              <a:spLocks noChangeArrowheads="1"/>
            </p:cNvSpPr>
            <p:nvPr/>
          </p:nvSpPr>
          <p:spPr bwMode="auto">
            <a:xfrm>
              <a:off x="2722" y="2203"/>
              <a:ext cx="87" cy="1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40" name="Rectangle 45"/>
            <p:cNvSpPr>
              <a:spLocks noChangeArrowheads="1"/>
            </p:cNvSpPr>
            <p:nvPr/>
          </p:nvSpPr>
          <p:spPr bwMode="auto">
            <a:xfrm>
              <a:off x="2730" y="2195"/>
              <a:ext cx="76" cy="1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400" b="1" i="1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3362" y="2667"/>
              <a:ext cx="95" cy="1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42" name="Rectangle 47"/>
            <p:cNvSpPr>
              <a:spLocks noChangeArrowheads="1"/>
            </p:cNvSpPr>
            <p:nvPr/>
          </p:nvSpPr>
          <p:spPr bwMode="auto">
            <a:xfrm>
              <a:off x="3370" y="2659"/>
              <a:ext cx="82" cy="1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400" b="1" i="1"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43" name="Rectangle 48"/>
            <p:cNvSpPr>
              <a:spLocks noChangeArrowheads="1"/>
            </p:cNvSpPr>
            <p:nvPr/>
          </p:nvSpPr>
          <p:spPr bwMode="auto">
            <a:xfrm>
              <a:off x="3354" y="2932"/>
              <a:ext cx="87" cy="1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44" name="Rectangle 49"/>
            <p:cNvSpPr>
              <a:spLocks noChangeArrowheads="1"/>
            </p:cNvSpPr>
            <p:nvPr/>
          </p:nvSpPr>
          <p:spPr bwMode="auto">
            <a:xfrm>
              <a:off x="3362" y="2924"/>
              <a:ext cx="76" cy="1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400" b="1" i="1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45" name="Rectangle 50"/>
            <p:cNvSpPr>
              <a:spLocks noChangeArrowheads="1"/>
            </p:cNvSpPr>
            <p:nvPr/>
          </p:nvSpPr>
          <p:spPr bwMode="auto">
            <a:xfrm>
              <a:off x="1402" y="3092"/>
              <a:ext cx="48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46" name="Rectangle 51"/>
            <p:cNvSpPr>
              <a:spLocks noChangeArrowheads="1"/>
            </p:cNvSpPr>
            <p:nvPr/>
          </p:nvSpPr>
          <p:spPr bwMode="auto">
            <a:xfrm>
              <a:off x="1218" y="1298"/>
              <a:ext cx="37" cy="1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1200" b="1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47" name="Rectangle 52"/>
            <p:cNvSpPr>
              <a:spLocks noChangeArrowheads="1"/>
            </p:cNvSpPr>
            <p:nvPr/>
          </p:nvSpPr>
          <p:spPr bwMode="auto">
            <a:xfrm>
              <a:off x="1258" y="1354"/>
              <a:ext cx="166" cy="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900" b="1">
                  <a:latin typeface="Times New Roman" panose="02020603050405020304" pitchFamily="18" charset="0"/>
                </a:rPr>
                <a:t>FRM</a:t>
              </a:r>
            </a:p>
          </p:txBody>
        </p:sp>
      </p:grpSp>
      <p:sp>
        <p:nvSpPr>
          <p:cNvPr id="54" name="ZoneTexte 5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087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Transistor switching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2333023" y="1709495"/>
            <a:ext cx="4933998" cy="3759379"/>
            <a:chOff x="203" y="1544"/>
            <a:chExt cx="2165" cy="1725"/>
          </a:xfrm>
        </p:grpSpPr>
        <p:sp>
          <p:nvSpPr>
            <p:cNvPr id="7" name="Text Box 3"/>
            <p:cNvSpPr txBox="1">
              <a:spLocks noChangeArrowheads="1"/>
            </p:cNvSpPr>
            <p:nvPr/>
          </p:nvSpPr>
          <p:spPr bwMode="auto">
            <a:xfrm>
              <a:off x="891" y="1544"/>
              <a:ext cx="537" cy="2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400" b="1" i="1" dirty="0">
                  <a:latin typeface="Times New Roman" panose="02020603050405020304" pitchFamily="18" charset="0"/>
                </a:rPr>
                <a:t>Turn on</a:t>
              </a:r>
            </a:p>
          </p:txBody>
        </p:sp>
        <p:sp>
          <p:nvSpPr>
            <p:cNvPr id="10" name="Freeform 4"/>
            <p:cNvSpPr>
              <a:spLocks noChangeArrowheads="1"/>
            </p:cNvSpPr>
            <p:nvPr/>
          </p:nvSpPr>
          <p:spPr bwMode="auto">
            <a:xfrm>
              <a:off x="372" y="1847"/>
              <a:ext cx="63" cy="63"/>
            </a:xfrm>
            <a:custGeom>
              <a:avLst/>
              <a:gdLst>
                <a:gd name="T0" fmla="*/ 0 w 9"/>
                <a:gd name="T1" fmla="*/ 441 h 9"/>
                <a:gd name="T2" fmla="*/ 245 w 9"/>
                <a:gd name="T3" fmla="*/ 441 h 9"/>
                <a:gd name="T4" fmla="*/ 441 w 9"/>
                <a:gd name="T5" fmla="*/ 441 h 9"/>
                <a:gd name="T6" fmla="*/ 245 w 9"/>
                <a:gd name="T7" fmla="*/ 0 h 9"/>
                <a:gd name="T8" fmla="*/ 0 w 9"/>
                <a:gd name="T9" fmla="*/ 441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Line 5"/>
            <p:cNvSpPr>
              <a:spLocks noChangeShapeType="1"/>
            </p:cNvSpPr>
            <p:nvPr/>
          </p:nvSpPr>
          <p:spPr bwMode="auto">
            <a:xfrm>
              <a:off x="400" y="1904"/>
              <a:ext cx="0" cy="1233"/>
            </a:xfrm>
            <a:prstGeom prst="line">
              <a:avLst/>
            </a:prstGeom>
            <a:noFill/>
            <a:ln w="11160" cap="sq">
              <a:solidFill>
                <a:srgbClr val="000000"/>
              </a:solidFill>
              <a:miter lim="800000"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6"/>
            <p:cNvSpPr>
              <a:spLocks noChangeArrowheads="1"/>
            </p:cNvSpPr>
            <p:nvPr/>
          </p:nvSpPr>
          <p:spPr bwMode="auto">
            <a:xfrm>
              <a:off x="2290" y="2938"/>
              <a:ext cx="78" cy="63"/>
            </a:xfrm>
            <a:custGeom>
              <a:avLst/>
              <a:gdLst>
                <a:gd name="T0" fmla="*/ 50 w 11"/>
                <a:gd name="T1" fmla="*/ 0 h 9"/>
                <a:gd name="T2" fmla="*/ 50 w 11"/>
                <a:gd name="T3" fmla="*/ 196 h 9"/>
                <a:gd name="T4" fmla="*/ 50 w 11"/>
                <a:gd name="T5" fmla="*/ 441 h 9"/>
                <a:gd name="T6" fmla="*/ 553 w 11"/>
                <a:gd name="T7" fmla="*/ 245 h 9"/>
                <a:gd name="T8" fmla="*/ 5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>
              <a:off x="357" y="2974"/>
              <a:ext cx="1955" cy="1"/>
            </a:xfrm>
            <a:prstGeom prst="line">
              <a:avLst/>
            </a:prstGeom>
            <a:noFill/>
            <a:ln w="1116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2271" y="2810"/>
              <a:ext cx="31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38" name="Rectangle 10"/>
            <p:cNvSpPr>
              <a:spLocks noChangeArrowheads="1"/>
            </p:cNvSpPr>
            <p:nvPr/>
          </p:nvSpPr>
          <p:spPr bwMode="auto">
            <a:xfrm>
              <a:off x="399" y="1757"/>
              <a:ext cx="81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i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C</a:t>
              </a:r>
              <a:endParaRPr lang="en-CA" altLang="fr-FR" sz="11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2"/>
            <p:cNvSpPr>
              <a:spLocks noChangeArrowheads="1"/>
            </p:cNvSpPr>
            <p:nvPr/>
          </p:nvSpPr>
          <p:spPr bwMode="auto">
            <a:xfrm>
              <a:off x="203" y="2791"/>
              <a:ext cx="380" cy="18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73 w 21600"/>
                <a:gd name="T19" fmla="*/ 10766 h 21600"/>
                <a:gd name="T20" fmla="*/ 21600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600" y="10800"/>
                  </a:move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94" y="21599"/>
                    <a:pt x="10789" y="21599"/>
                    <a:pt x="10783" y="21599"/>
                  </a:cubicBezTo>
                  <a:lnTo>
                    <a:pt x="10800" y="10800"/>
                  </a:lnTo>
                  <a:lnTo>
                    <a:pt x="21600" y="10800"/>
                  </a:lnTo>
                  <a:close/>
                </a:path>
                <a:path w="21600" h="21600" fill="none">
                  <a:moveTo>
                    <a:pt x="21600" y="10800"/>
                  </a:move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94" y="21599"/>
                    <a:pt x="10789" y="21599"/>
                    <a:pt x="10783" y="21599"/>
                  </a:cubicBezTo>
                </a:path>
              </a:pathLst>
            </a:custGeom>
            <a:noFill/>
            <a:ln w="1116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7" name="AutoShape 13"/>
            <p:cNvSpPr>
              <a:spLocks noChangeArrowheads="1"/>
            </p:cNvSpPr>
            <p:nvPr/>
          </p:nvSpPr>
          <p:spPr bwMode="auto">
            <a:xfrm>
              <a:off x="940" y="2032"/>
              <a:ext cx="681" cy="2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84 w 21600"/>
                <a:gd name="T21" fmla="*/ 10773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695"/>
                  </a:moveTo>
                  <a:cubicBezTo>
                    <a:pt x="57" y="4795"/>
                    <a:pt x="4839" y="33"/>
                    <a:pt x="10739" y="0"/>
                  </a:cubicBezTo>
                  <a:lnTo>
                    <a:pt x="10800" y="10800"/>
                  </a:lnTo>
                  <a:lnTo>
                    <a:pt x="0" y="10695"/>
                  </a:lnTo>
                  <a:close/>
                </a:path>
                <a:path w="21600" h="21600" fill="none">
                  <a:moveTo>
                    <a:pt x="0" y="10695"/>
                  </a:moveTo>
                  <a:cubicBezTo>
                    <a:pt x="57" y="4795"/>
                    <a:pt x="4839" y="33"/>
                    <a:pt x="10739" y="0"/>
                  </a:cubicBezTo>
                </a:path>
              </a:pathLst>
            </a:custGeom>
            <a:noFill/>
            <a:ln w="1116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Line 14"/>
            <p:cNvSpPr>
              <a:spLocks noChangeShapeType="1"/>
            </p:cNvSpPr>
            <p:nvPr/>
          </p:nvSpPr>
          <p:spPr bwMode="auto">
            <a:xfrm>
              <a:off x="1255" y="2032"/>
              <a:ext cx="782" cy="0"/>
            </a:xfrm>
            <a:prstGeom prst="line">
              <a:avLst/>
            </a:prstGeom>
            <a:noFill/>
            <a:ln w="1116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Oval 15"/>
            <p:cNvSpPr>
              <a:spLocks noChangeArrowheads="1"/>
            </p:cNvSpPr>
            <p:nvPr/>
          </p:nvSpPr>
          <p:spPr bwMode="auto">
            <a:xfrm>
              <a:off x="930" y="2178"/>
              <a:ext cx="93" cy="128"/>
            </a:xfrm>
            <a:prstGeom prst="ellipse">
              <a:avLst/>
            </a:prstGeom>
            <a:noFill/>
            <a:ln w="11160" cap="sq">
              <a:solidFill>
                <a:srgbClr val="FFFF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0" name="Oval 16"/>
            <p:cNvSpPr>
              <a:spLocks noChangeArrowheads="1"/>
            </p:cNvSpPr>
            <p:nvPr/>
          </p:nvSpPr>
          <p:spPr bwMode="auto">
            <a:xfrm>
              <a:off x="524" y="2748"/>
              <a:ext cx="86" cy="12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1" name="Line 17"/>
            <p:cNvSpPr>
              <a:spLocks noChangeShapeType="1"/>
            </p:cNvSpPr>
            <p:nvPr/>
          </p:nvSpPr>
          <p:spPr bwMode="auto">
            <a:xfrm flipV="1">
              <a:off x="585" y="2181"/>
              <a:ext cx="355" cy="700"/>
            </a:xfrm>
            <a:prstGeom prst="line">
              <a:avLst/>
            </a:prstGeom>
            <a:noFill/>
            <a:ln w="1116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Rectangle 18"/>
            <p:cNvSpPr>
              <a:spLocks noChangeArrowheads="1"/>
            </p:cNvSpPr>
            <p:nvPr/>
          </p:nvSpPr>
          <p:spPr bwMode="auto">
            <a:xfrm>
              <a:off x="557" y="1968"/>
              <a:ext cx="6" cy="117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3" name="Rectangle 19"/>
            <p:cNvSpPr>
              <a:spLocks noChangeArrowheads="1"/>
            </p:cNvSpPr>
            <p:nvPr/>
          </p:nvSpPr>
          <p:spPr bwMode="auto">
            <a:xfrm>
              <a:off x="1084" y="1968"/>
              <a:ext cx="6" cy="117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24" name="Freeform 20"/>
            <p:cNvSpPr>
              <a:spLocks noChangeArrowheads="1"/>
            </p:cNvSpPr>
            <p:nvPr/>
          </p:nvSpPr>
          <p:spPr bwMode="auto">
            <a:xfrm>
              <a:off x="1013" y="3059"/>
              <a:ext cx="77" cy="63"/>
            </a:xfrm>
            <a:custGeom>
              <a:avLst/>
              <a:gdLst>
                <a:gd name="T0" fmla="*/ 49 w 11"/>
                <a:gd name="T1" fmla="*/ 0 h 9"/>
                <a:gd name="T2" fmla="*/ 49 w 11"/>
                <a:gd name="T3" fmla="*/ 196 h 9"/>
                <a:gd name="T4" fmla="*/ 49 w 11"/>
                <a:gd name="T5" fmla="*/ 441 h 9"/>
                <a:gd name="T6" fmla="*/ 539 w 11"/>
                <a:gd name="T7" fmla="*/ 245 h 9"/>
                <a:gd name="T8" fmla="*/ 49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Freeform 21"/>
            <p:cNvSpPr>
              <a:spLocks noChangeArrowheads="1"/>
            </p:cNvSpPr>
            <p:nvPr/>
          </p:nvSpPr>
          <p:spPr bwMode="auto">
            <a:xfrm>
              <a:off x="564" y="3059"/>
              <a:ext cx="70" cy="63"/>
            </a:xfrm>
            <a:custGeom>
              <a:avLst/>
              <a:gdLst>
                <a:gd name="T0" fmla="*/ 441 w 10"/>
                <a:gd name="T1" fmla="*/ 441 h 9"/>
                <a:gd name="T2" fmla="*/ 490 w 10"/>
                <a:gd name="T3" fmla="*/ 245 h 9"/>
                <a:gd name="T4" fmla="*/ 441 w 10"/>
                <a:gd name="T5" fmla="*/ 0 h 9"/>
                <a:gd name="T6" fmla="*/ 0 w 10"/>
                <a:gd name="T7" fmla="*/ 245 h 9"/>
                <a:gd name="T8" fmla="*/ 441 w 10"/>
                <a:gd name="T9" fmla="*/ 441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0" h="9">
                  <a:moveTo>
                    <a:pt x="9" y="9"/>
                  </a:moveTo>
                  <a:cubicBezTo>
                    <a:pt x="9" y="7"/>
                    <a:pt x="10" y="6"/>
                    <a:pt x="10" y="5"/>
                  </a:cubicBezTo>
                  <a:cubicBezTo>
                    <a:pt x="10" y="3"/>
                    <a:pt x="9" y="2"/>
                    <a:pt x="9" y="0"/>
                  </a:cubicBezTo>
                  <a:lnTo>
                    <a:pt x="0" y="5"/>
                  </a:lnTo>
                  <a:lnTo>
                    <a:pt x="9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Rectangle 23"/>
            <p:cNvSpPr>
              <a:spLocks noChangeArrowheads="1"/>
            </p:cNvSpPr>
            <p:nvPr/>
          </p:nvSpPr>
          <p:spPr bwMode="auto">
            <a:xfrm>
              <a:off x="746" y="2987"/>
              <a:ext cx="56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r</a:t>
              </a:r>
              <a:endParaRPr lang="en-CA" altLang="fr-FR" sz="11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6" name="Rectangle 26"/>
            <p:cNvSpPr>
              <a:spLocks noChangeArrowheads="1"/>
            </p:cNvSpPr>
            <p:nvPr/>
          </p:nvSpPr>
          <p:spPr bwMode="auto">
            <a:xfrm>
              <a:off x="438" y="2989"/>
              <a:ext cx="68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smtClean="0">
                  <a:latin typeface="Times New Roman" panose="02020603050405020304" pitchFamily="18" charset="0"/>
                </a:rPr>
                <a:t>d</a:t>
              </a:r>
              <a:endParaRPr lang="en-CA" altLang="fr-FR" sz="11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28"/>
            <p:cNvSpPr>
              <a:spLocks noChangeArrowheads="1"/>
            </p:cNvSpPr>
            <p:nvPr/>
          </p:nvSpPr>
          <p:spPr bwMode="auto">
            <a:xfrm>
              <a:off x="1050" y="3128"/>
              <a:ext cx="139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ON</a:t>
              </a:r>
              <a:endParaRPr lang="en-CA" altLang="fr-FR" sz="20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30"/>
            <p:cNvSpPr>
              <a:spLocks noChangeArrowheads="1"/>
            </p:cNvSpPr>
            <p:nvPr/>
          </p:nvSpPr>
          <p:spPr bwMode="auto">
            <a:xfrm>
              <a:off x="326" y="2947"/>
              <a:ext cx="56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3" name="Rectangle 31"/>
            <p:cNvSpPr>
              <a:spLocks noChangeArrowheads="1"/>
            </p:cNvSpPr>
            <p:nvPr/>
          </p:nvSpPr>
          <p:spPr bwMode="auto">
            <a:xfrm>
              <a:off x="357" y="2047"/>
              <a:ext cx="854" cy="6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34" name="Rectangle 32"/>
            <p:cNvSpPr>
              <a:spLocks noChangeArrowheads="1"/>
            </p:cNvSpPr>
            <p:nvPr/>
          </p:nvSpPr>
          <p:spPr bwMode="auto">
            <a:xfrm>
              <a:off x="236" y="1976"/>
              <a:ext cx="136" cy="14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 err="1" smtClean="0">
                  <a:latin typeface="Times New Roman" panose="02020603050405020304" pitchFamily="18" charset="0"/>
                </a:rPr>
                <a:t>I</a:t>
              </a:r>
              <a:r>
                <a:rPr lang="en-CA" altLang="fr-FR" sz="2000" b="1" baseline="-25000" dirty="0" err="1" smtClean="0">
                  <a:latin typeface="Times New Roman" panose="02020603050405020304" pitchFamily="18" charset="0"/>
                </a:rPr>
                <a:t>sat</a:t>
              </a:r>
              <a:endParaRPr lang="en-CA" altLang="fr-FR" sz="2000" b="1" baseline="-25000" dirty="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0" name="Group 34"/>
          <p:cNvGrpSpPr>
            <a:grpSpLocks/>
          </p:cNvGrpSpPr>
          <p:nvPr/>
        </p:nvGrpSpPr>
        <p:grpSpPr bwMode="auto">
          <a:xfrm>
            <a:off x="7309806" y="1748466"/>
            <a:ext cx="4692698" cy="3639639"/>
            <a:chOff x="2689" y="1355"/>
            <a:chExt cx="2742" cy="1923"/>
          </a:xfrm>
        </p:grpSpPr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3891" y="1355"/>
              <a:ext cx="731" cy="2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400" b="1" i="1" dirty="0">
                  <a:latin typeface="Times New Roman" panose="02020603050405020304" pitchFamily="18" charset="0"/>
                </a:rPr>
                <a:t>Turn off</a:t>
              </a:r>
            </a:p>
          </p:txBody>
        </p:sp>
        <p:sp>
          <p:nvSpPr>
            <p:cNvPr id="42" name="Freeform 36"/>
            <p:cNvSpPr>
              <a:spLocks noChangeArrowheads="1"/>
            </p:cNvSpPr>
            <p:nvPr/>
          </p:nvSpPr>
          <p:spPr bwMode="auto">
            <a:xfrm>
              <a:off x="2864" y="1549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Line 37"/>
            <p:cNvSpPr>
              <a:spLocks noChangeShapeType="1"/>
            </p:cNvSpPr>
            <p:nvPr/>
          </p:nvSpPr>
          <p:spPr bwMode="auto">
            <a:xfrm>
              <a:off x="2896" y="1613"/>
              <a:ext cx="0" cy="156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Freeform 38"/>
            <p:cNvSpPr>
              <a:spLocks noChangeArrowheads="1"/>
            </p:cNvSpPr>
            <p:nvPr/>
          </p:nvSpPr>
          <p:spPr bwMode="auto">
            <a:xfrm>
              <a:off x="5344" y="2939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5" name="Line 39"/>
            <p:cNvSpPr>
              <a:spLocks noChangeShapeType="1"/>
            </p:cNvSpPr>
            <p:nvPr/>
          </p:nvSpPr>
          <p:spPr bwMode="auto">
            <a:xfrm>
              <a:off x="2832" y="2979"/>
              <a:ext cx="2527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5353" y="2828"/>
              <a:ext cx="41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72" name="Rectangle 42"/>
            <p:cNvSpPr>
              <a:spLocks noChangeArrowheads="1"/>
            </p:cNvSpPr>
            <p:nvPr/>
          </p:nvSpPr>
          <p:spPr bwMode="auto">
            <a:xfrm>
              <a:off x="2913" y="1477"/>
              <a:ext cx="108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i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C</a:t>
              </a:r>
              <a:endParaRPr lang="en-CA" altLang="fr-FR" sz="12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4"/>
            <p:cNvSpPr>
              <a:spLocks noChangeArrowheads="1"/>
            </p:cNvSpPr>
            <p:nvPr/>
          </p:nvSpPr>
          <p:spPr bwMode="auto">
            <a:xfrm>
              <a:off x="4508" y="2736"/>
              <a:ext cx="455" cy="24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0770 h 21600"/>
                <a:gd name="T20" fmla="*/ 10776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800" y="21599"/>
                  </a:moveTo>
                  <a:cubicBezTo>
                    <a:pt x="4835" y="21600"/>
                    <a:pt x="0" y="16764"/>
                    <a:pt x="0" y="10800"/>
                  </a:cubicBezTo>
                  <a:cubicBezTo>
                    <a:pt x="0" y="10794"/>
                    <a:pt x="0" y="10788"/>
                    <a:pt x="0" y="10782"/>
                  </a:cubicBezTo>
                  <a:lnTo>
                    <a:pt x="10800" y="10800"/>
                  </a:lnTo>
                  <a:lnTo>
                    <a:pt x="10800" y="21599"/>
                  </a:lnTo>
                  <a:close/>
                </a:path>
                <a:path w="21600" h="21600" fill="none">
                  <a:moveTo>
                    <a:pt x="10800" y="21599"/>
                  </a:moveTo>
                  <a:cubicBezTo>
                    <a:pt x="4835" y="21600"/>
                    <a:pt x="0" y="16764"/>
                    <a:pt x="0" y="10800"/>
                  </a:cubicBezTo>
                  <a:cubicBezTo>
                    <a:pt x="0" y="10794"/>
                    <a:pt x="0" y="10788"/>
                    <a:pt x="0" y="10782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9" name="AutoShape 45"/>
            <p:cNvSpPr>
              <a:spLocks noChangeArrowheads="1"/>
            </p:cNvSpPr>
            <p:nvPr/>
          </p:nvSpPr>
          <p:spPr bwMode="auto">
            <a:xfrm>
              <a:off x="3366" y="1925"/>
              <a:ext cx="745" cy="344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615 w 21600"/>
                <a:gd name="T19" fmla="*/ 0 h 21600"/>
                <a:gd name="T20" fmla="*/ 21600 w 21600"/>
                <a:gd name="T21" fmla="*/ 1077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0746" y="0"/>
                  </a:moveTo>
                  <a:cubicBezTo>
                    <a:pt x="10764" y="0"/>
                    <a:pt x="10782" y="0"/>
                    <a:pt x="10800" y="0"/>
                  </a:cubicBezTo>
                  <a:cubicBezTo>
                    <a:pt x="16718" y="0"/>
                    <a:pt x="21534" y="4763"/>
                    <a:pt x="21599" y="10681"/>
                  </a:cubicBezTo>
                  <a:lnTo>
                    <a:pt x="10800" y="10800"/>
                  </a:lnTo>
                  <a:lnTo>
                    <a:pt x="10746" y="0"/>
                  </a:lnTo>
                  <a:close/>
                </a:path>
                <a:path w="21600" h="21600" fill="none">
                  <a:moveTo>
                    <a:pt x="10746" y="0"/>
                  </a:moveTo>
                  <a:cubicBezTo>
                    <a:pt x="10764" y="0"/>
                    <a:pt x="10782" y="0"/>
                    <a:pt x="10800" y="0"/>
                  </a:cubicBezTo>
                  <a:cubicBezTo>
                    <a:pt x="16718" y="0"/>
                    <a:pt x="21534" y="4763"/>
                    <a:pt x="21599" y="10681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0" name="Line 46"/>
            <p:cNvSpPr>
              <a:spLocks noChangeShapeType="1"/>
            </p:cNvSpPr>
            <p:nvPr/>
          </p:nvSpPr>
          <p:spPr bwMode="auto">
            <a:xfrm flipH="1">
              <a:off x="2879" y="1925"/>
              <a:ext cx="881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Oval 47"/>
            <p:cNvSpPr>
              <a:spLocks noChangeArrowheads="1"/>
            </p:cNvSpPr>
            <p:nvPr/>
          </p:nvSpPr>
          <p:spPr bwMode="auto">
            <a:xfrm>
              <a:off x="4028" y="2088"/>
              <a:ext cx="103" cy="143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52" name="Oval 48"/>
            <p:cNvSpPr>
              <a:spLocks noChangeArrowheads="1"/>
            </p:cNvSpPr>
            <p:nvPr/>
          </p:nvSpPr>
          <p:spPr bwMode="auto">
            <a:xfrm>
              <a:off x="4492" y="2728"/>
              <a:ext cx="95" cy="134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53" name="Line 49"/>
            <p:cNvSpPr>
              <a:spLocks noChangeShapeType="1"/>
            </p:cNvSpPr>
            <p:nvPr/>
          </p:nvSpPr>
          <p:spPr bwMode="auto">
            <a:xfrm flipH="1" flipV="1">
              <a:off x="4111" y="2091"/>
              <a:ext cx="401" cy="78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Rectangle 50"/>
            <p:cNvSpPr>
              <a:spLocks noChangeArrowheads="1"/>
            </p:cNvSpPr>
            <p:nvPr/>
          </p:nvSpPr>
          <p:spPr bwMode="auto">
            <a:xfrm>
              <a:off x="3936" y="1821"/>
              <a:ext cx="7" cy="1317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55" name="Rectangle 51"/>
            <p:cNvSpPr>
              <a:spLocks noChangeArrowheads="1"/>
            </p:cNvSpPr>
            <p:nvPr/>
          </p:nvSpPr>
          <p:spPr bwMode="auto">
            <a:xfrm>
              <a:off x="4528" y="2724"/>
              <a:ext cx="7" cy="414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CA" altLang="fr-FR"/>
            </a:p>
          </p:txBody>
        </p:sp>
        <p:sp>
          <p:nvSpPr>
            <p:cNvPr id="56" name="Freeform 52"/>
            <p:cNvSpPr>
              <a:spLocks noChangeArrowheads="1"/>
            </p:cNvSpPr>
            <p:nvPr/>
          </p:nvSpPr>
          <p:spPr bwMode="auto">
            <a:xfrm>
              <a:off x="3856" y="3091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7" name="Freeform 53"/>
            <p:cNvSpPr>
              <a:spLocks noChangeArrowheads="1"/>
            </p:cNvSpPr>
            <p:nvPr/>
          </p:nvSpPr>
          <p:spPr bwMode="auto">
            <a:xfrm>
              <a:off x="2904" y="3091"/>
              <a:ext cx="79" cy="71"/>
            </a:xfrm>
            <a:custGeom>
              <a:avLst/>
              <a:gdLst>
                <a:gd name="T0" fmla="*/ 561 w 10"/>
                <a:gd name="T1" fmla="*/ 560 h 9"/>
                <a:gd name="T2" fmla="*/ 624 w 10"/>
                <a:gd name="T3" fmla="*/ 308 h 9"/>
                <a:gd name="T4" fmla="*/ 561 w 10"/>
                <a:gd name="T5" fmla="*/ 0 h 9"/>
                <a:gd name="T6" fmla="*/ 0 w 10"/>
                <a:gd name="T7" fmla="*/ 308 h 9"/>
                <a:gd name="T8" fmla="*/ 561 w 10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0" h="9">
                  <a:moveTo>
                    <a:pt x="9" y="9"/>
                  </a:moveTo>
                  <a:cubicBezTo>
                    <a:pt x="9" y="7"/>
                    <a:pt x="10" y="6"/>
                    <a:pt x="10" y="5"/>
                  </a:cubicBezTo>
                  <a:cubicBezTo>
                    <a:pt x="10" y="3"/>
                    <a:pt x="9" y="2"/>
                    <a:pt x="9" y="0"/>
                  </a:cubicBezTo>
                  <a:lnTo>
                    <a:pt x="0" y="5"/>
                  </a:lnTo>
                  <a:lnTo>
                    <a:pt x="9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9" name="Rectangle 55"/>
            <p:cNvSpPr>
              <a:spLocks noChangeArrowheads="1"/>
            </p:cNvSpPr>
            <p:nvPr/>
          </p:nvSpPr>
          <p:spPr bwMode="auto">
            <a:xfrm>
              <a:off x="3336" y="3013"/>
              <a:ext cx="81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s</a:t>
              </a:r>
              <a:endParaRPr lang="en-CA" altLang="fr-FR" sz="20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57"/>
            <p:cNvSpPr>
              <a:spLocks noChangeArrowheads="1"/>
            </p:cNvSpPr>
            <p:nvPr/>
          </p:nvSpPr>
          <p:spPr bwMode="auto">
            <a:xfrm>
              <a:off x="4499" y="3115"/>
              <a:ext cx="156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smtClean="0">
                  <a:latin typeface="Times New Roman" panose="02020603050405020304" pitchFamily="18" charset="0"/>
                </a:rPr>
                <a:t>off</a:t>
              </a:r>
              <a:endParaRPr lang="en-CA" altLang="fr-FR" sz="12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59"/>
            <p:cNvSpPr>
              <a:spLocks noChangeArrowheads="1"/>
            </p:cNvSpPr>
            <p:nvPr/>
          </p:nvSpPr>
          <p:spPr bwMode="auto">
            <a:xfrm>
              <a:off x="2801" y="2963"/>
              <a:ext cx="75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64" name="Rectangle 60"/>
            <p:cNvSpPr>
              <a:spLocks noChangeArrowheads="1"/>
            </p:cNvSpPr>
            <p:nvPr/>
          </p:nvSpPr>
          <p:spPr bwMode="auto">
            <a:xfrm>
              <a:off x="2689" y="1848"/>
              <a:ext cx="181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 err="1" smtClean="0">
                  <a:latin typeface="Times New Roman" panose="02020603050405020304" pitchFamily="18" charset="0"/>
                </a:rPr>
                <a:t>I</a:t>
              </a:r>
              <a:r>
                <a:rPr lang="en-CA" altLang="fr-FR" sz="2000" b="1" baseline="-25000" dirty="0" err="1" smtClean="0">
                  <a:latin typeface="Times New Roman" panose="02020603050405020304" pitchFamily="18" charset="0"/>
                </a:rPr>
                <a:t>sat</a:t>
              </a:r>
              <a:endParaRPr lang="en-CA" altLang="fr-FR" sz="1200" b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70" name="Rectangle 63"/>
            <p:cNvSpPr>
              <a:spLocks noChangeArrowheads="1"/>
            </p:cNvSpPr>
            <p:nvPr/>
          </p:nvSpPr>
          <p:spPr bwMode="auto">
            <a:xfrm>
              <a:off x="4209" y="2997"/>
              <a:ext cx="75" cy="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dirty="0" err="1" smtClean="0">
                  <a:latin typeface="Times New Roman" panose="02020603050405020304" pitchFamily="18" charset="0"/>
                </a:rPr>
                <a:t>t</a:t>
              </a:r>
              <a:r>
                <a:rPr lang="en-CA" altLang="fr-FR" sz="2000" baseline="-25000" dirty="0" err="1" smtClean="0">
                  <a:latin typeface="Times New Roman" panose="02020603050405020304" pitchFamily="18" charset="0"/>
                </a:rPr>
                <a:t>f</a:t>
              </a:r>
              <a:endParaRPr lang="en-CA" altLang="fr-FR" sz="20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67" name="Freeform 65"/>
            <p:cNvSpPr>
              <a:spLocks noChangeArrowheads="1"/>
            </p:cNvSpPr>
            <p:nvPr/>
          </p:nvSpPr>
          <p:spPr bwMode="auto">
            <a:xfrm>
              <a:off x="4448" y="3091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8" name="Freeform 66"/>
            <p:cNvSpPr>
              <a:spLocks noChangeArrowheads="1"/>
            </p:cNvSpPr>
            <p:nvPr/>
          </p:nvSpPr>
          <p:spPr bwMode="auto">
            <a:xfrm>
              <a:off x="3944" y="3091"/>
              <a:ext cx="79" cy="71"/>
            </a:xfrm>
            <a:custGeom>
              <a:avLst/>
              <a:gdLst>
                <a:gd name="T0" fmla="*/ 561 w 10"/>
                <a:gd name="T1" fmla="*/ 560 h 9"/>
                <a:gd name="T2" fmla="*/ 624 w 10"/>
                <a:gd name="T3" fmla="*/ 308 h 9"/>
                <a:gd name="T4" fmla="*/ 561 w 10"/>
                <a:gd name="T5" fmla="*/ 0 h 9"/>
                <a:gd name="T6" fmla="*/ 0 w 10"/>
                <a:gd name="T7" fmla="*/ 308 h 9"/>
                <a:gd name="T8" fmla="*/ 561 w 10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0" h="9">
                  <a:moveTo>
                    <a:pt x="9" y="9"/>
                  </a:moveTo>
                  <a:cubicBezTo>
                    <a:pt x="9" y="7"/>
                    <a:pt x="10" y="6"/>
                    <a:pt x="10" y="5"/>
                  </a:cubicBezTo>
                  <a:cubicBezTo>
                    <a:pt x="10" y="3"/>
                    <a:pt x="9" y="2"/>
                    <a:pt x="9" y="0"/>
                  </a:cubicBezTo>
                  <a:lnTo>
                    <a:pt x="0" y="5"/>
                  </a:lnTo>
                  <a:lnTo>
                    <a:pt x="9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74" name="ZoneTexte 7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753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Switching cycle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9013" y="1370466"/>
            <a:ext cx="2236787" cy="2811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288" y="1297441"/>
            <a:ext cx="4670425" cy="480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0" name="Group 4"/>
          <p:cNvGrpSpPr>
            <a:grpSpLocks/>
          </p:cNvGrpSpPr>
          <p:nvPr/>
        </p:nvGrpSpPr>
        <p:grpSpPr bwMode="auto">
          <a:xfrm>
            <a:off x="2879725" y="4751841"/>
            <a:ext cx="9531350" cy="1368425"/>
            <a:chOff x="22" y="2975"/>
            <a:chExt cx="6004" cy="862"/>
          </a:xfrm>
        </p:grpSpPr>
        <p:pic>
          <p:nvPicPr>
            <p:cNvPr id="11" name="Picture 5"/>
            <p:cNvPicPr>
              <a:picLocks noChangeAspect="1" noChangeArrowheads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" y="2975"/>
              <a:ext cx="5914" cy="4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12" name="Picture 6"/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" y="3294"/>
              <a:ext cx="6004" cy="5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295" y="3067"/>
              <a:ext cx="1722" cy="770"/>
            </a:xfrm>
            <a:prstGeom prst="rect">
              <a:avLst/>
            </a:prstGeom>
            <a:noFill/>
            <a:ln w="9360" cap="sq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 sz="2000"/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5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 additive="repl"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circuit: driver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4707" y="2125091"/>
            <a:ext cx="6086475" cy="2886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4623707" y="2353691"/>
            <a:ext cx="1152525" cy="5222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200">
                <a:solidFill>
                  <a:schemeClr val="tx1"/>
                </a:solidFill>
              </a:rPr>
              <a:t>Supply monitoring</a:t>
            </a:r>
            <a:r>
              <a:rPr lang="en-CA" altLang="fr-FR" sz="1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0" name="ZoneTexte 2"/>
          <p:cNvSpPr txBox="1">
            <a:spLocks noChangeArrowheads="1"/>
          </p:cNvSpPr>
          <p:nvPr/>
        </p:nvSpPr>
        <p:spPr bwMode="auto">
          <a:xfrm>
            <a:off x="4598307" y="3164903"/>
            <a:ext cx="1152525" cy="4302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100">
                <a:solidFill>
                  <a:schemeClr val="tx1"/>
                </a:solidFill>
              </a:rPr>
              <a:t>Minimum time conduction</a:t>
            </a:r>
          </a:p>
        </p:txBody>
      </p:sp>
      <p:sp>
        <p:nvSpPr>
          <p:cNvPr id="11" name="ZoneTexte 9"/>
          <p:cNvSpPr txBox="1">
            <a:spLocks noChangeArrowheads="1"/>
          </p:cNvSpPr>
          <p:nvPr/>
        </p:nvSpPr>
        <p:spPr bwMode="auto">
          <a:xfrm>
            <a:off x="4611007" y="3739578"/>
            <a:ext cx="1152525" cy="4302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100">
                <a:solidFill>
                  <a:schemeClr val="tx1"/>
                </a:solidFill>
              </a:rPr>
              <a:t>Maximum time conduction</a:t>
            </a:r>
          </a:p>
        </p:txBody>
      </p:sp>
      <p:sp>
        <p:nvSpPr>
          <p:cNvPr id="12" name="ZoneTexte 10"/>
          <p:cNvSpPr txBox="1">
            <a:spLocks noChangeArrowheads="1"/>
          </p:cNvSpPr>
          <p:nvPr/>
        </p:nvSpPr>
        <p:spPr bwMode="auto">
          <a:xfrm>
            <a:off x="6273120" y="3452241"/>
            <a:ext cx="1047750" cy="11699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400" b="1">
                <a:solidFill>
                  <a:schemeClr val="tx1"/>
                </a:solidFill>
              </a:rPr>
              <a:t>Transistor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400" b="1">
              <a:solidFill>
                <a:schemeClr val="tx1"/>
              </a:solidFill>
            </a:endParaRP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400" b="1">
                <a:solidFill>
                  <a:schemeClr val="tx1"/>
                </a:solidFill>
              </a:rPr>
              <a:t>base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400" b="1">
              <a:solidFill>
                <a:schemeClr val="tx1"/>
              </a:solidFill>
            </a:endParaRP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400" b="1">
                <a:solidFill>
                  <a:schemeClr val="tx1"/>
                </a:solidFill>
              </a:rPr>
              <a:t>control</a:t>
            </a:r>
            <a:endParaRPr lang="en-CA" altLang="fr-FR" b="1">
              <a:solidFill>
                <a:schemeClr val="tx1"/>
              </a:solidFill>
            </a:endParaRPr>
          </a:p>
        </p:txBody>
      </p:sp>
      <p:sp>
        <p:nvSpPr>
          <p:cNvPr id="13" name="ZoneTexte 11"/>
          <p:cNvSpPr txBox="1">
            <a:spLocks noChangeArrowheads="1"/>
          </p:cNvSpPr>
          <p:nvPr/>
        </p:nvSpPr>
        <p:spPr bwMode="auto">
          <a:xfrm>
            <a:off x="7839982" y="2299716"/>
            <a:ext cx="1150938" cy="4619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200">
                <a:solidFill>
                  <a:schemeClr val="tx1"/>
                </a:solidFill>
              </a:rPr>
              <a:t>Desaturation detection</a:t>
            </a:r>
            <a:endParaRPr lang="en-CA" altLang="fr-FR" sz="1600">
              <a:solidFill>
                <a:schemeClr val="tx1"/>
              </a:solidFill>
            </a:endParaRPr>
          </a:p>
        </p:txBody>
      </p:sp>
      <p:sp>
        <p:nvSpPr>
          <p:cNvPr id="14" name="ZoneTexte 12"/>
          <p:cNvSpPr txBox="1">
            <a:spLocks noChangeArrowheads="1"/>
          </p:cNvSpPr>
          <p:nvPr/>
        </p:nvSpPr>
        <p:spPr bwMode="auto">
          <a:xfrm>
            <a:off x="7839982" y="3096641"/>
            <a:ext cx="1150938" cy="4619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200">
                <a:solidFill>
                  <a:schemeClr val="tx1"/>
                </a:solidFill>
              </a:rPr>
              <a:t>Current limitation</a:t>
            </a:r>
            <a:endParaRPr lang="en-CA" altLang="fr-FR" sz="1600">
              <a:solidFill>
                <a:schemeClr val="tx1"/>
              </a:solidFill>
            </a:endParaRPr>
          </a:p>
        </p:txBody>
      </p:sp>
      <p:sp>
        <p:nvSpPr>
          <p:cNvPr id="15" name="ZoneTexte 13"/>
          <p:cNvSpPr txBox="1">
            <a:spLocks noChangeArrowheads="1"/>
          </p:cNvSpPr>
          <p:nvPr/>
        </p:nvSpPr>
        <p:spPr bwMode="auto">
          <a:xfrm>
            <a:off x="7909832" y="4023741"/>
            <a:ext cx="1152525" cy="4619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200">
                <a:solidFill>
                  <a:schemeClr val="tx1"/>
                </a:solidFill>
              </a:rPr>
              <a:t>Output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1200">
                <a:solidFill>
                  <a:schemeClr val="tx1"/>
                </a:solidFill>
              </a:rPr>
              <a:t>amplification</a:t>
            </a:r>
            <a:endParaRPr lang="en-CA" altLang="fr-FR" sz="1600">
              <a:solidFill>
                <a:schemeClr val="tx1"/>
              </a:solidFill>
            </a:endParaRPr>
          </a:p>
        </p:txBody>
      </p:sp>
      <p:sp>
        <p:nvSpPr>
          <p:cNvPr id="16" name="ZoneTexte 14"/>
          <p:cNvSpPr txBox="1">
            <a:spLocks noChangeArrowheads="1"/>
          </p:cNvSpPr>
          <p:nvPr/>
        </p:nvSpPr>
        <p:spPr bwMode="auto">
          <a:xfrm>
            <a:off x="9421132" y="3973207"/>
            <a:ext cx="774150" cy="707886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000" dirty="0">
              <a:solidFill>
                <a:schemeClr val="tx1"/>
              </a:solidFill>
            </a:endParaRP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000" b="1" dirty="0">
                <a:solidFill>
                  <a:schemeClr val="tx1"/>
                </a:solidFill>
              </a:rPr>
              <a:t>Base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000" dirty="0">
              <a:solidFill>
                <a:schemeClr val="tx1"/>
              </a:solidFill>
            </a:endParaRPr>
          </a:p>
        </p:txBody>
      </p:sp>
      <p:sp>
        <p:nvSpPr>
          <p:cNvPr id="17" name="ZoneTexte 16"/>
          <p:cNvSpPr txBox="1">
            <a:spLocks noChangeArrowheads="1"/>
          </p:cNvSpPr>
          <p:nvPr/>
        </p:nvSpPr>
        <p:spPr bwMode="auto">
          <a:xfrm>
            <a:off x="9379419" y="3031341"/>
            <a:ext cx="1085850" cy="64633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 dirty="0">
                <a:solidFill>
                  <a:schemeClr val="tx1"/>
                </a:solidFill>
              </a:rPr>
              <a:t>Current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 dirty="0">
                <a:solidFill>
                  <a:schemeClr val="tx1"/>
                </a:solidFill>
              </a:rPr>
              <a:t>sensor</a:t>
            </a:r>
            <a:endParaRPr lang="en-CA" altLang="fr-FR" sz="2400" b="1" dirty="0">
              <a:solidFill>
                <a:schemeClr val="tx1"/>
              </a:solidFill>
            </a:endParaRPr>
          </a:p>
        </p:txBody>
      </p:sp>
      <p:sp>
        <p:nvSpPr>
          <p:cNvPr id="18" name="ZoneTexte 17"/>
          <p:cNvSpPr txBox="1">
            <a:spLocks noChangeArrowheads="1"/>
          </p:cNvSpPr>
          <p:nvPr/>
        </p:nvSpPr>
        <p:spPr bwMode="auto">
          <a:xfrm>
            <a:off x="9345289" y="2175944"/>
            <a:ext cx="1249362" cy="7232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050" dirty="0">
              <a:solidFill>
                <a:schemeClr val="tx1"/>
              </a:solidFill>
            </a:endParaRP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000" b="1" dirty="0">
                <a:solidFill>
                  <a:schemeClr val="tx1"/>
                </a:solidFill>
              </a:rPr>
              <a:t>Collector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050" dirty="0">
              <a:solidFill>
                <a:schemeClr val="tx1"/>
              </a:solidFill>
            </a:endParaRPr>
          </a:p>
        </p:txBody>
      </p:sp>
      <p:sp>
        <p:nvSpPr>
          <p:cNvPr id="19" name="ZoneTexte 18"/>
          <p:cNvSpPr txBox="1">
            <a:spLocks noChangeArrowheads="1"/>
          </p:cNvSpPr>
          <p:nvPr/>
        </p:nvSpPr>
        <p:spPr bwMode="auto">
          <a:xfrm>
            <a:off x="2955245" y="2113978"/>
            <a:ext cx="1223962" cy="97719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100" b="1">
              <a:solidFill>
                <a:schemeClr val="tx1"/>
              </a:solidFill>
            </a:endParaRP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>
                <a:solidFill>
                  <a:schemeClr val="tx1"/>
                </a:solidFill>
              </a:rPr>
              <a:t>Symmetric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>
                <a:solidFill>
                  <a:schemeClr val="tx1"/>
                </a:solidFill>
              </a:rPr>
              <a:t>Supplies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CA" altLang="fr-FR" sz="1100" b="1">
              <a:solidFill>
                <a:schemeClr val="tx1"/>
              </a:solidFill>
            </a:endParaRPr>
          </a:p>
        </p:txBody>
      </p:sp>
      <p:sp>
        <p:nvSpPr>
          <p:cNvPr id="20" name="ZoneTexte 19"/>
          <p:cNvSpPr txBox="1">
            <a:spLocks noChangeArrowheads="1"/>
          </p:cNvSpPr>
          <p:nvPr/>
        </p:nvSpPr>
        <p:spPr bwMode="auto">
          <a:xfrm>
            <a:off x="3090620" y="3377410"/>
            <a:ext cx="1029169" cy="64633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 dirty="0">
                <a:solidFill>
                  <a:schemeClr val="tx1"/>
                </a:solidFill>
              </a:rPr>
              <a:t>External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 dirty="0">
                <a:solidFill>
                  <a:schemeClr val="tx1"/>
                </a:solidFill>
              </a:rPr>
              <a:t>settings</a:t>
            </a:r>
          </a:p>
        </p:txBody>
      </p:sp>
      <p:sp>
        <p:nvSpPr>
          <p:cNvPr id="21" name="ZoneTexte 20"/>
          <p:cNvSpPr txBox="1">
            <a:spLocks noChangeArrowheads="1"/>
          </p:cNvSpPr>
          <p:nvPr/>
        </p:nvSpPr>
        <p:spPr bwMode="auto">
          <a:xfrm rot="16200000">
            <a:off x="3408476" y="4349456"/>
            <a:ext cx="954088" cy="36933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b="1">
                <a:solidFill>
                  <a:schemeClr val="tx1"/>
                </a:solidFill>
              </a:rPr>
              <a:t>Control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403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454" y="2264456"/>
            <a:ext cx="2962275" cy="221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1592" y="1256393"/>
            <a:ext cx="1922462" cy="1876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142" y="3777343"/>
            <a:ext cx="2276475" cy="1905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9409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MOS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947" y="1915887"/>
            <a:ext cx="5440445" cy="27962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510" y="1915887"/>
            <a:ext cx="2595003" cy="2798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9600196" y="1895579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 smtClean="0"/>
              <a:t>Drain</a:t>
            </a:r>
            <a:endParaRPr lang="fr-FR" sz="2400" b="1" dirty="0"/>
          </a:p>
        </p:txBody>
      </p:sp>
      <p:sp>
        <p:nvSpPr>
          <p:cNvPr id="10" name="ZoneTexte 9"/>
          <p:cNvSpPr txBox="1"/>
          <p:nvPr/>
        </p:nvSpPr>
        <p:spPr>
          <a:xfrm>
            <a:off x="8106231" y="1952173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/>
              <a:t>Grid</a:t>
            </a:r>
            <a:endParaRPr lang="en-US" sz="2400" b="1" dirty="0"/>
          </a:p>
        </p:txBody>
      </p:sp>
      <p:sp>
        <p:nvSpPr>
          <p:cNvPr id="11" name="ZoneTexte 10"/>
          <p:cNvSpPr txBox="1"/>
          <p:nvPr/>
        </p:nvSpPr>
        <p:spPr>
          <a:xfrm>
            <a:off x="7873328" y="4301294"/>
            <a:ext cx="17268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/>
              <a:t>Substrate</a:t>
            </a:r>
            <a:endParaRPr lang="en-US" sz="2400" b="1" dirty="0"/>
          </a:p>
        </p:txBody>
      </p:sp>
      <p:sp>
        <p:nvSpPr>
          <p:cNvPr id="12" name="ZoneTexte 11"/>
          <p:cNvSpPr txBox="1"/>
          <p:nvPr/>
        </p:nvSpPr>
        <p:spPr>
          <a:xfrm>
            <a:off x="6547387" y="1895579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 smtClean="0"/>
              <a:t>Source</a:t>
            </a:r>
            <a:endParaRPr lang="fr-FR" sz="2400" b="1" dirty="0"/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549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4519291" y="1645331"/>
            <a:ext cx="6409965" cy="4363583"/>
            <a:chOff x="4519292" y="1645331"/>
            <a:chExt cx="4432300" cy="3375025"/>
          </a:xfrm>
        </p:grpSpPr>
        <p:sp>
          <p:nvSpPr>
            <p:cNvPr id="6" name="Freeform 2"/>
            <p:cNvSpPr>
              <a:spLocks noChangeArrowheads="1"/>
            </p:cNvSpPr>
            <p:nvPr/>
          </p:nvSpPr>
          <p:spPr bwMode="auto">
            <a:xfrm>
              <a:off x="4849492" y="1824718"/>
              <a:ext cx="1208087" cy="2943225"/>
            </a:xfrm>
            <a:custGeom>
              <a:avLst/>
              <a:gdLst>
                <a:gd name="T0" fmla="*/ 0 w 95"/>
                <a:gd name="T1" fmla="*/ 2147483646 h 232"/>
                <a:gd name="T2" fmla="*/ 161718341 w 95"/>
                <a:gd name="T3" fmla="*/ 2147483646 h 232"/>
                <a:gd name="T4" fmla="*/ 2147483646 w 95"/>
                <a:gd name="T5" fmla="*/ 160938588 h 232"/>
                <a:gd name="T6" fmla="*/ 2147483646 w 95"/>
                <a:gd name="T7" fmla="*/ 0 h 232"/>
                <a:gd name="T8" fmla="*/ 161718341 w 95"/>
                <a:gd name="T9" fmla="*/ 160938588 h 232"/>
                <a:gd name="T10" fmla="*/ 0 w 95"/>
                <a:gd name="T11" fmla="*/ 2147483646 h 2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95" h="232">
                  <a:moveTo>
                    <a:pt x="0" y="231"/>
                  </a:moveTo>
                  <a:cubicBezTo>
                    <a:pt x="1" y="231"/>
                    <a:pt x="1" y="231"/>
                    <a:pt x="1" y="231"/>
                  </a:cubicBezTo>
                  <a:cubicBezTo>
                    <a:pt x="53" y="232"/>
                    <a:pt x="95" y="128"/>
                    <a:pt x="95" y="1"/>
                  </a:cubicBezTo>
                  <a:cubicBezTo>
                    <a:pt x="95" y="1"/>
                    <a:pt x="94" y="1"/>
                    <a:pt x="94" y="0"/>
                  </a:cubicBezTo>
                  <a:lnTo>
                    <a:pt x="1" y="1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4760592" y="1888218"/>
              <a:ext cx="114300" cy="114300"/>
            </a:xfrm>
            <a:custGeom>
              <a:avLst/>
              <a:gdLst>
                <a:gd name="T0" fmla="*/ 0 w 9"/>
                <a:gd name="T1" fmla="*/ 1451610000 h 9"/>
                <a:gd name="T2" fmla="*/ 806450000 w 9"/>
                <a:gd name="T3" fmla="*/ 1451610000 h 9"/>
                <a:gd name="T4" fmla="*/ 1451610000 w 9"/>
                <a:gd name="T5" fmla="*/ 1451610000 h 9"/>
                <a:gd name="T6" fmla="*/ 806450000 w 9"/>
                <a:gd name="T7" fmla="*/ 0 h 9"/>
                <a:gd name="T8" fmla="*/ 0 w 9"/>
                <a:gd name="T9" fmla="*/ 145161000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4811392" y="1989818"/>
              <a:ext cx="1587" cy="285432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6"/>
            <p:cNvSpPr>
              <a:spLocks noChangeArrowheads="1"/>
            </p:cNvSpPr>
            <p:nvPr/>
          </p:nvSpPr>
          <p:spPr bwMode="auto">
            <a:xfrm>
              <a:off x="8726167" y="4704443"/>
              <a:ext cx="139700" cy="114300"/>
            </a:xfrm>
            <a:custGeom>
              <a:avLst/>
              <a:gdLst>
                <a:gd name="T0" fmla="*/ 161290000 w 11"/>
                <a:gd name="T1" fmla="*/ 0 h 9"/>
                <a:gd name="T2" fmla="*/ 161290000 w 11"/>
                <a:gd name="T3" fmla="*/ 645160000 h 9"/>
                <a:gd name="T4" fmla="*/ 161290000 w 11"/>
                <a:gd name="T5" fmla="*/ 1451610000 h 9"/>
                <a:gd name="T6" fmla="*/ 1774190000 w 11"/>
                <a:gd name="T7" fmla="*/ 806450000 h 9"/>
                <a:gd name="T8" fmla="*/ 16129000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4747892" y="4767943"/>
              <a:ext cx="4003675" cy="1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4519292" y="1862818"/>
              <a:ext cx="50800" cy="212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9"/>
            <p:cNvSpPr>
              <a:spLocks noChangeArrowheads="1"/>
            </p:cNvSpPr>
            <p:nvPr/>
          </p:nvSpPr>
          <p:spPr bwMode="auto">
            <a:xfrm>
              <a:off x="4570092" y="1989818"/>
              <a:ext cx="92075" cy="152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15" name="Rectangle 10"/>
            <p:cNvSpPr>
              <a:spLocks noChangeArrowheads="1"/>
            </p:cNvSpPr>
            <p:nvPr/>
          </p:nvSpPr>
          <p:spPr bwMode="auto">
            <a:xfrm>
              <a:off x="8688067" y="4425043"/>
              <a:ext cx="90487" cy="212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6" name="Rectangle 11"/>
            <p:cNvSpPr>
              <a:spLocks noChangeArrowheads="1"/>
            </p:cNvSpPr>
            <p:nvPr/>
          </p:nvSpPr>
          <p:spPr bwMode="auto">
            <a:xfrm>
              <a:off x="8789667" y="4552043"/>
              <a:ext cx="161925" cy="152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DS</a:t>
              </a: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811392" y="2534331"/>
              <a:ext cx="723900" cy="223520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5493661" y="2179300"/>
              <a:ext cx="1095375" cy="11557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  <a:lnTo>
                    <a:pt x="10800" y="10800"/>
                  </a:lnTo>
                  <a:lnTo>
                    <a:pt x="0" y="10786"/>
                  </a:lnTo>
                  <a:close/>
                </a:path>
                <a:path w="21600" h="21600" fill="none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6006779" y="2115231"/>
              <a:ext cx="2173288" cy="666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5638479" y="4198031"/>
              <a:ext cx="63500" cy="40481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4811392" y="3015343"/>
              <a:ext cx="903287" cy="17541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5666462" y="2749213"/>
              <a:ext cx="1066800" cy="9144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  <a:lnTo>
                    <a:pt x="10800" y="10800"/>
                  </a:lnTo>
                  <a:lnTo>
                    <a:pt x="0" y="10736"/>
                  </a:lnTo>
                  <a:close/>
                </a:path>
                <a:path w="21600" h="21600" fill="none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6146479" y="2634343"/>
              <a:ext cx="2008188" cy="1174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4811392" y="3612243"/>
              <a:ext cx="852487" cy="11572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5619429" y="3391581"/>
              <a:ext cx="1219200" cy="7366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  <a:lnTo>
                    <a:pt x="10800" y="10800"/>
                  </a:lnTo>
                  <a:lnTo>
                    <a:pt x="0" y="10710"/>
                  </a:lnTo>
                  <a:close/>
                </a:path>
                <a:path w="21600" h="21600" fill="none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6159179" y="3243943"/>
              <a:ext cx="1982788" cy="1428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5609904" y="3653643"/>
              <a:ext cx="114300" cy="190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4811392" y="4132943"/>
              <a:ext cx="877887" cy="636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5638479" y="3990129"/>
              <a:ext cx="1143238" cy="47624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  <a:lnTo>
                    <a:pt x="10800" y="10800"/>
                  </a:lnTo>
                  <a:lnTo>
                    <a:pt x="0" y="10704"/>
                  </a:lnTo>
                  <a:close/>
                </a:path>
                <a:path w="21600" h="21600" fill="none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6070279" y="3840843"/>
              <a:ext cx="2071688" cy="1555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5497192" y="4223431"/>
              <a:ext cx="280987" cy="32861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3" name="AutoShape 28"/>
            <p:cNvSpPr>
              <a:spLocks noChangeArrowheads="1"/>
            </p:cNvSpPr>
            <p:nvPr/>
          </p:nvSpPr>
          <p:spPr bwMode="auto">
            <a:xfrm>
              <a:off x="7916542" y="1645331"/>
              <a:ext cx="485775" cy="47783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AutoShape 29"/>
            <p:cNvSpPr>
              <a:spLocks noChangeArrowheads="1"/>
            </p:cNvSpPr>
            <p:nvPr/>
          </p:nvSpPr>
          <p:spPr bwMode="auto">
            <a:xfrm>
              <a:off x="7903842" y="2162400"/>
              <a:ext cx="485775" cy="47307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3"/>
                  </a:lnTo>
                  <a:close/>
                </a:path>
                <a:path w="21600" h="21600" fill="none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AutoShape 30"/>
            <p:cNvSpPr>
              <a:spLocks noChangeArrowheads="1"/>
            </p:cNvSpPr>
            <p:nvPr/>
          </p:nvSpPr>
          <p:spPr bwMode="auto">
            <a:xfrm>
              <a:off x="7891142" y="2763843"/>
              <a:ext cx="485775" cy="47625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AutoShape 31"/>
            <p:cNvSpPr>
              <a:spLocks noChangeArrowheads="1"/>
            </p:cNvSpPr>
            <p:nvPr/>
          </p:nvSpPr>
          <p:spPr bwMode="auto">
            <a:xfrm>
              <a:off x="7903842" y="3359155"/>
              <a:ext cx="485775" cy="47783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Rectangle 32"/>
            <p:cNvSpPr>
              <a:spLocks noChangeArrowheads="1"/>
            </p:cNvSpPr>
            <p:nvPr/>
          </p:nvSpPr>
          <p:spPr bwMode="auto">
            <a:xfrm>
              <a:off x="8421367" y="1723118"/>
              <a:ext cx="12700" cy="310832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9" name="Rectangle 34"/>
            <p:cNvSpPr>
              <a:spLocks noChangeArrowheads="1"/>
            </p:cNvSpPr>
            <p:nvPr/>
          </p:nvSpPr>
          <p:spPr bwMode="auto">
            <a:xfrm>
              <a:off x="8345167" y="4806043"/>
              <a:ext cx="111125" cy="1825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40" name="Rectangle 35"/>
            <p:cNvSpPr>
              <a:spLocks noChangeArrowheads="1"/>
            </p:cNvSpPr>
            <p:nvPr/>
          </p:nvSpPr>
          <p:spPr bwMode="auto">
            <a:xfrm>
              <a:off x="8459467" y="4882243"/>
              <a:ext cx="363537" cy="138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 dirty="0">
                  <a:latin typeface="Times New Roman" panose="02020603050405020304" pitchFamily="18" charset="0"/>
                </a:rPr>
                <a:t>BRDSS</a:t>
              </a:r>
            </a:p>
          </p:txBody>
        </p:sp>
        <p:sp>
          <p:nvSpPr>
            <p:cNvPr id="41" name="Rectangle 42"/>
            <p:cNvSpPr>
              <a:spLocks noChangeArrowheads="1"/>
            </p:cNvSpPr>
            <p:nvPr/>
          </p:nvSpPr>
          <p:spPr bwMode="auto">
            <a:xfrm>
              <a:off x="6540179" y="2966131"/>
              <a:ext cx="1054558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 area</a:t>
              </a:r>
            </a:p>
          </p:txBody>
        </p:sp>
        <p:sp>
          <p:nvSpPr>
            <p:cNvPr id="42" name="Rectangle 43"/>
            <p:cNvSpPr>
              <a:spLocks noChangeArrowheads="1"/>
            </p:cNvSpPr>
            <p:nvPr/>
          </p:nvSpPr>
          <p:spPr bwMode="auto">
            <a:xfrm>
              <a:off x="6616379" y="4493306"/>
              <a:ext cx="778131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Off state</a:t>
              </a:r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4876479" y="1969181"/>
              <a:ext cx="838200" cy="7141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Variable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Linear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resistance</a:t>
              </a:r>
            </a:p>
          </p:txBody>
        </p:sp>
      </p:grpSp>
      <p:sp>
        <p:nvSpPr>
          <p:cNvPr id="44" name="Oval 23"/>
          <p:cNvSpPr>
            <a:spLocks noChangeArrowheads="1"/>
          </p:cNvSpPr>
          <p:nvPr/>
        </p:nvSpPr>
        <p:spPr bwMode="auto">
          <a:xfrm>
            <a:off x="6110302" y="4900070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5" name="Oval 23"/>
          <p:cNvSpPr>
            <a:spLocks noChangeArrowheads="1"/>
          </p:cNvSpPr>
          <p:nvPr/>
        </p:nvSpPr>
        <p:spPr bwMode="auto">
          <a:xfrm>
            <a:off x="6156165" y="3522619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6" name="Oval 23"/>
          <p:cNvSpPr>
            <a:spLocks noChangeArrowheads="1"/>
          </p:cNvSpPr>
          <p:nvPr/>
        </p:nvSpPr>
        <p:spPr bwMode="auto">
          <a:xfrm>
            <a:off x="5910012" y="2937503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7" name="AutoShape 3"/>
          <p:cNvSpPr>
            <a:spLocks noChangeArrowheads="1"/>
          </p:cNvSpPr>
          <p:nvPr/>
        </p:nvSpPr>
        <p:spPr bwMode="auto">
          <a:xfrm>
            <a:off x="3171551" y="-1538514"/>
            <a:ext cx="3592546" cy="7224091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10601 h 21600"/>
              <a:gd name="T20" fmla="*/ 215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  <a:lnTo>
                  <a:pt x="10800" y="10800"/>
                </a:lnTo>
                <a:lnTo>
                  <a:pt x="21599" y="10775"/>
                </a:lnTo>
                <a:close/>
              </a:path>
              <a:path w="21600" h="21600" fill="none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</a:path>
            </a:pathLst>
          </a:custGeom>
          <a:noFill/>
          <a:ln w="12600" cap="sq">
            <a:solidFill>
              <a:srgbClr val="3F3F3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8" name="ZoneTexte 4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9278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122" y="1283493"/>
            <a:ext cx="5616177" cy="4554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476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parasitic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149" y="1616075"/>
            <a:ext cx="6635777" cy="3781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9124057" y="3763962"/>
            <a:ext cx="2142450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400" b="1" dirty="0">
                <a:solidFill>
                  <a:schemeClr val="tx1"/>
                </a:solidFill>
              </a:rPr>
              <a:t>Free-wheeling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400" b="1" dirty="0">
                <a:solidFill>
                  <a:schemeClr val="tx1"/>
                </a:solidFill>
              </a:rPr>
              <a:t>diode</a:t>
            </a:r>
          </a:p>
        </p:txBody>
      </p:sp>
      <p:sp>
        <p:nvSpPr>
          <p:cNvPr id="10" name="ZoneTexte 8"/>
          <p:cNvSpPr txBox="1">
            <a:spLocks noChangeArrowheads="1"/>
          </p:cNvSpPr>
          <p:nvPr/>
        </p:nvSpPr>
        <p:spPr bwMode="auto">
          <a:xfrm>
            <a:off x="3740149" y="2155825"/>
            <a:ext cx="2228851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400" b="1" dirty="0">
                <a:solidFill>
                  <a:schemeClr val="tx1"/>
                </a:solidFill>
              </a:rPr>
              <a:t>One-way</a:t>
            </a:r>
          </a:p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CA" altLang="fr-FR" sz="2400" b="1" dirty="0">
                <a:solidFill>
                  <a:schemeClr val="tx1"/>
                </a:solidFill>
              </a:rPr>
              <a:t>diode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398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Bipolar-MOS comparison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264160"/>
              </p:ext>
            </p:extLst>
          </p:nvPr>
        </p:nvGraphicFramePr>
        <p:xfrm>
          <a:off x="3187700" y="1473200"/>
          <a:ext cx="8231188" cy="4525965"/>
        </p:xfrm>
        <a:graphic>
          <a:graphicData uri="http://schemas.openxmlformats.org/drawingml/2006/table">
            <a:tbl>
              <a:tblPr/>
              <a:tblGrid>
                <a:gridCol w="4391025">
                  <a:extLst>
                    <a:ext uri="{9D8B030D-6E8A-4147-A177-3AD203B41FA5}">
                      <a16:colId xmlns:a16="http://schemas.microsoft.com/office/drawing/2014/main" val="1974102434"/>
                    </a:ext>
                  </a:extLst>
                </a:gridCol>
                <a:gridCol w="1646238">
                  <a:extLst>
                    <a:ext uri="{9D8B030D-6E8A-4147-A177-3AD203B41FA5}">
                      <a16:colId xmlns:a16="http://schemas.microsoft.com/office/drawing/2014/main" val="3772074747"/>
                    </a:ext>
                  </a:extLst>
                </a:gridCol>
                <a:gridCol w="549275">
                  <a:extLst>
                    <a:ext uri="{9D8B030D-6E8A-4147-A177-3AD203B41FA5}">
                      <a16:colId xmlns:a16="http://schemas.microsoft.com/office/drawing/2014/main" val="2712659380"/>
                    </a:ext>
                  </a:extLst>
                </a:gridCol>
                <a:gridCol w="1644650">
                  <a:extLst>
                    <a:ext uri="{9D8B030D-6E8A-4147-A177-3AD203B41FA5}">
                      <a16:colId xmlns:a16="http://schemas.microsoft.com/office/drawing/2014/main" val="2344289386"/>
                    </a:ext>
                  </a:extLst>
                </a:gridCol>
              </a:tblGrid>
              <a:tr h="758824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Criteria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Bipolar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8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0" marR="0" lvl="0" indent="0" algn="l" defTabSz="449263" rtl="0" eaLnBrk="1" fontAlgn="base" latinLnBrk="0" hangingPunct="1">
                        <a:lnSpc>
                          <a:spcPct val="93000"/>
                        </a:lnSpc>
                        <a:spcBef>
                          <a:spcPts val="4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fr-FR" altLang="fr-FR" sz="1600" b="1" i="0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Microsoft YaHei" panose="020B0503020204020204" pitchFamily="34" charset="-122"/>
                      </a:endParaRPr>
                    </a:p>
                  </a:txBody>
                  <a:tcPr marL="90000" marR="90000" marT="60912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MOSFET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2246140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Voltage withstand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1000 V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500 V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690479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Switched current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100 A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10 A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0549792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Control speed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kHz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&lt;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MHz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291340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Ease of control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Current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&lt;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Voltage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2200966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Safety circuit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Snubber</a:t>
                      </a:r>
                      <a:endParaRPr kumimoji="0" lang="en-CA" altLang="fr-FR" sz="1600" b="1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&lt;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Zener</a:t>
                      </a:r>
                      <a:endParaRPr kumimoji="0" lang="en-CA" altLang="fr-FR" sz="1600" b="1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886035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Conduction loss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GB" altLang="fr-FR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W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GB" altLang="fr-FR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&lt;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GB" altLang="fr-FR" sz="16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kumimoji="0" lang="en-GB" altLang="fr-FR" sz="1600" b="1" i="0" u="none" strike="noStrike" cap="none" normalizeH="0" baseline="-2500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DSon</a:t>
                      </a:r>
                      <a:endParaRPr kumimoji="0" lang="en-GB" altLang="fr-FR" sz="1600" b="1" i="0" u="none" strike="noStrike" cap="none" normalizeH="0" baseline="-2500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3137602"/>
                  </a:ext>
                </a:extLst>
              </a:tr>
              <a:tr h="538163"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en-CA" altLang="fr-FR" sz="16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Switching loss (at fixed frequency)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10 W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1313">
                        <a:spcBef>
                          <a:spcPts val="8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8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1pPr>
                      <a:lvl2pPr>
                        <a:spcBef>
                          <a:spcPts val="7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4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2pPr>
                      <a:lvl3pPr>
                        <a:spcBef>
                          <a:spcPts val="6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 sz="200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3pPr>
                      <a:lvl4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4pPr>
                      <a:lvl5pPr>
                        <a:spcBef>
                          <a:spcPts val="500"/>
                        </a:spcBef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5pPr>
                      <a:lvl6pPr marL="25146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6pPr>
                      <a:lvl7pPr marL="29718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7pPr>
                      <a:lvl8pPr marL="34290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8pPr>
                      <a:lvl9pPr marL="3886200" indent="-228600" defTabSz="449263" fontAlgn="base">
                        <a:spcBef>
                          <a:spcPts val="50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  <a:defRPr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Microsoft YaHei" panose="020B0503020204020204" pitchFamily="34" charset="-122"/>
                        </a:defRPr>
                      </a:lvl9pPr>
                    </a:lstStyle>
                    <a:p>
                      <a:pPr marL="342900" marR="0" lvl="0" indent="-341313" algn="ctr" defTabSz="449263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342900" algn="l"/>
                          <a:tab pos="1257300" algn="l"/>
                          <a:tab pos="2171700" algn="l"/>
                          <a:tab pos="3086100" algn="l"/>
                          <a:tab pos="4000500" algn="l"/>
                          <a:tab pos="4914900" algn="l"/>
                          <a:tab pos="5829300" algn="l"/>
                          <a:tab pos="6743700" algn="l"/>
                          <a:tab pos="7658100" algn="l"/>
                          <a:tab pos="8572500" algn="l"/>
                          <a:tab pos="9486900" algn="l"/>
                          <a:tab pos="10401300" algn="l"/>
                        </a:tabLst>
                      </a:pPr>
                      <a:r>
                        <a:rPr kumimoji="0" lang="fr-FR" altLang="fr-FR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Microsoft YaHei" panose="020B0503020204020204" pitchFamily="34" charset="-122"/>
                          <a:cs typeface="Times New Roman" panose="02020603050405020304" pitchFamily="18" charset="0"/>
                        </a:rPr>
                        <a:t>few W</a:t>
                      </a:r>
                    </a:p>
                  </a:txBody>
                  <a:tcPr marL="90000" marR="90000" marT="56880" marB="46800" horzOverflow="overflow"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208618"/>
                  </a:ext>
                </a:extLst>
              </a:tr>
            </a:tbl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492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I.G.B.T. : Insulated-Gate Bipolar Transistor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112" y="1971675"/>
            <a:ext cx="2478087" cy="33970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0275" y="1755775"/>
            <a:ext cx="5759856" cy="3565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5717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IGBT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3" y="1597464"/>
            <a:ext cx="2676525" cy="2360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4" y="4460988"/>
            <a:ext cx="2676525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525" y="2626519"/>
            <a:ext cx="6373789" cy="1834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73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I.G.B.T. half bridge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5625" y="1552349"/>
            <a:ext cx="2643187" cy="233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1968" y="1517423"/>
            <a:ext cx="6469544" cy="2067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912" y="3795571"/>
            <a:ext cx="6627623" cy="2463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3575" y="4468586"/>
            <a:ext cx="2643187" cy="1455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ZoneTexte 1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445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Modules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407" y="2615366"/>
            <a:ext cx="4207543" cy="2307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006" y="3937765"/>
            <a:ext cx="2643187" cy="2344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85655" y="5126802"/>
            <a:ext cx="485480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1200 V – 231 A at 25°C – </a:t>
            </a:r>
            <a:r>
              <a:rPr lang="fr-FR" altLang="fr-FR" sz="24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f</a:t>
            </a: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500ns</a:t>
            </a:r>
          </a:p>
        </p:txBody>
      </p:sp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3617006" y="1094552"/>
            <a:ext cx="8197849" cy="2317750"/>
            <a:chOff x="907" y="278"/>
            <a:chExt cx="5164" cy="1460"/>
          </a:xfrm>
        </p:grpSpPr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" y="278"/>
              <a:ext cx="1644" cy="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2993" y="867"/>
              <a:ext cx="307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125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1200 V – 39 A at 25°C – </a:t>
              </a:r>
              <a:r>
                <a:rPr lang="fr-FR" altLang="fr-FR" sz="24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f</a:t>
              </a: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 &lt; 200ns</a:t>
              </a:r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72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IGBT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equivalent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5606" y="1393598"/>
            <a:ext cx="4490907" cy="38029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7531652" y="2273747"/>
            <a:ext cx="4360815" cy="23105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Control: MOS’s one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Forward voltage: bipolar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Voltage withstand: MOS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Switch off : MOS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Switch on : bipolar (dragging)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3044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IGBT model: commutation mode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334" y="1114859"/>
            <a:ext cx="5775569" cy="35297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4444" y="1243797"/>
            <a:ext cx="1687561" cy="24244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4404" y="3429000"/>
            <a:ext cx="4474709" cy="293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28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Commutation on a BUCK chopper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3520" y="1933482"/>
            <a:ext cx="6941844" cy="42496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5" y="1094552"/>
            <a:ext cx="4291697" cy="2272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452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74191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Commutation on a BUCK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chopper: Turn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3" r="4294" b="4957"/>
          <a:stretch/>
        </p:blipFill>
        <p:spPr bwMode="auto">
          <a:xfrm>
            <a:off x="8507090" y="156095"/>
            <a:ext cx="3048001" cy="6518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2600936" y="1912468"/>
            <a:ext cx="6056795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[0..t</a:t>
            </a:r>
            <a:r>
              <a:rPr lang="en-CA" altLang="fr-FR" sz="2400" baseline="-28000" dirty="0"/>
              <a:t>1</a:t>
            </a:r>
            <a:r>
              <a:rPr lang="en-CA" altLang="fr-FR" sz="2400" dirty="0"/>
              <a:t>] : the transistor is still off state</a:t>
            </a:r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3680436" y="2236318"/>
            <a:ext cx="4635962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fr-FR" altLang="fr-FR" sz="2400" dirty="0">
                <a:solidFill>
                  <a:srgbClr val="FF3333"/>
                </a:solidFill>
              </a:rPr>
              <a:t>t</a:t>
            </a:r>
            <a:r>
              <a:rPr lang="fr-FR" altLang="fr-FR" sz="2400" baseline="-28000" dirty="0">
                <a:solidFill>
                  <a:srgbClr val="FF3333"/>
                </a:solidFill>
              </a:rPr>
              <a:t>1</a:t>
            </a:r>
            <a:r>
              <a:rPr lang="fr-FR" altLang="fr-FR" sz="2400" dirty="0">
                <a:solidFill>
                  <a:srgbClr val="FF3333"/>
                </a:solidFill>
              </a:rPr>
              <a:t> : </a:t>
            </a:r>
            <a:r>
              <a:rPr lang="fr-FR" altLang="fr-FR" sz="2400" dirty="0" err="1">
                <a:solidFill>
                  <a:srgbClr val="FF3333"/>
                </a:solidFill>
              </a:rPr>
              <a:t>v</a:t>
            </a:r>
            <a:r>
              <a:rPr lang="fr-FR" altLang="fr-FR" sz="2400" baseline="-33000" dirty="0" err="1">
                <a:solidFill>
                  <a:srgbClr val="FF3333"/>
                </a:solidFill>
              </a:rPr>
              <a:t>GS</a:t>
            </a:r>
            <a:r>
              <a:rPr lang="fr-FR" altLang="fr-FR" sz="2400" dirty="0">
                <a:solidFill>
                  <a:srgbClr val="FF3333"/>
                </a:solidFill>
              </a:rPr>
              <a:t> = </a:t>
            </a:r>
            <a:r>
              <a:rPr lang="fr-FR" altLang="fr-FR" sz="2400" dirty="0" err="1">
                <a:solidFill>
                  <a:srgbClr val="FF3333"/>
                </a:solidFill>
              </a:rPr>
              <a:t>v</a:t>
            </a:r>
            <a:r>
              <a:rPr lang="fr-FR" altLang="fr-FR" sz="2400" baseline="-33000" dirty="0" err="1">
                <a:solidFill>
                  <a:srgbClr val="FF3333"/>
                </a:solidFill>
              </a:rPr>
              <a:t>GSTH</a:t>
            </a:r>
            <a:endParaRPr lang="fr-FR" altLang="fr-FR" sz="2400" baseline="-33000" dirty="0">
              <a:solidFill>
                <a:srgbClr val="FF3333"/>
              </a:solidFill>
            </a:endParaRP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2600936" y="2973794"/>
            <a:ext cx="605679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[t</a:t>
            </a:r>
            <a:r>
              <a:rPr lang="en-CA" altLang="fr-FR" sz="2400" baseline="-28000" dirty="0"/>
              <a:t>1</a:t>
            </a:r>
            <a:r>
              <a:rPr lang="en-CA" altLang="fr-FR" sz="2400" dirty="0"/>
              <a:t>..t</a:t>
            </a:r>
            <a:r>
              <a:rPr lang="en-CA" altLang="fr-FR" sz="2400" baseline="-28000" dirty="0"/>
              <a:t>2</a:t>
            </a:r>
            <a:r>
              <a:rPr lang="en-CA" altLang="fr-FR" sz="2400" dirty="0"/>
              <a:t>] : </a:t>
            </a:r>
            <a:r>
              <a:rPr lang="en-CA" altLang="fr-FR" sz="2400" dirty="0" err="1"/>
              <a:t>v</a:t>
            </a:r>
            <a:r>
              <a:rPr lang="en-CA" altLang="fr-FR" sz="2400" baseline="-33000" dirty="0" err="1"/>
              <a:t>GS</a:t>
            </a:r>
            <a:r>
              <a:rPr lang="en-CA" altLang="fr-FR" sz="2400" dirty="0"/>
              <a:t> and </a:t>
            </a:r>
            <a:r>
              <a:rPr lang="en-CA" altLang="fr-FR" sz="2400" dirty="0" err="1"/>
              <a:t>i</a:t>
            </a:r>
            <a:r>
              <a:rPr lang="en-CA" altLang="fr-FR" sz="2400" baseline="-33000" dirty="0" err="1"/>
              <a:t>G</a:t>
            </a:r>
            <a:r>
              <a:rPr lang="en-CA" altLang="fr-FR" sz="2400" dirty="0"/>
              <a:t> are still evolving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680436" y="3299231"/>
            <a:ext cx="4635962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fr-FR" altLang="fr-FR" sz="2400">
                <a:solidFill>
                  <a:srgbClr val="FF3333"/>
                </a:solidFill>
              </a:rPr>
              <a:t>t</a:t>
            </a:r>
            <a:r>
              <a:rPr lang="fr-FR" altLang="fr-FR" sz="2400" baseline="-28000">
                <a:solidFill>
                  <a:srgbClr val="FF3333"/>
                </a:solidFill>
              </a:rPr>
              <a:t>2</a:t>
            </a:r>
            <a:r>
              <a:rPr lang="fr-FR" altLang="fr-FR" sz="2400">
                <a:solidFill>
                  <a:srgbClr val="FF3333"/>
                </a:solidFill>
              </a:rPr>
              <a:t> : i</a:t>
            </a:r>
            <a:r>
              <a:rPr lang="fr-FR" altLang="fr-FR" sz="2400" baseline="-33000">
                <a:solidFill>
                  <a:srgbClr val="FF3333"/>
                </a:solidFill>
              </a:rPr>
              <a:t>DRL</a:t>
            </a:r>
            <a:r>
              <a:rPr lang="fr-FR" altLang="fr-FR" sz="2400">
                <a:solidFill>
                  <a:srgbClr val="FF3333"/>
                </a:solidFill>
              </a:rPr>
              <a:t> = 0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2600936" y="4168511"/>
            <a:ext cx="6056795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[t</a:t>
            </a:r>
            <a:r>
              <a:rPr lang="en-CA" altLang="fr-FR" sz="2400" baseline="-28000" dirty="0"/>
              <a:t>2</a:t>
            </a:r>
            <a:r>
              <a:rPr lang="en-CA" altLang="fr-FR" sz="2400" dirty="0"/>
              <a:t>..t</a:t>
            </a:r>
            <a:r>
              <a:rPr lang="en-CA" altLang="fr-FR" sz="2400" baseline="-28000" dirty="0"/>
              <a:t>3</a:t>
            </a:r>
            <a:r>
              <a:rPr lang="en-CA" altLang="fr-FR" sz="2400" dirty="0"/>
              <a:t>] : diode reverse recovery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3680436" y="4455849"/>
            <a:ext cx="4635962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>
                <a:solidFill>
                  <a:srgbClr val="FF3333"/>
                </a:solidFill>
              </a:rPr>
              <a:t>t</a:t>
            </a:r>
            <a:r>
              <a:rPr lang="en-CA" altLang="fr-FR" sz="2400" baseline="-28000">
                <a:solidFill>
                  <a:srgbClr val="FF3333"/>
                </a:solidFill>
              </a:rPr>
              <a:t>3</a:t>
            </a:r>
            <a:r>
              <a:rPr lang="en-CA" altLang="fr-FR" sz="2400">
                <a:solidFill>
                  <a:srgbClr val="FF3333"/>
                </a:solidFill>
              </a:rPr>
              <a:t> : end of recovery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2600936" y="5260960"/>
            <a:ext cx="6056795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[t</a:t>
            </a:r>
            <a:r>
              <a:rPr lang="en-CA" altLang="fr-FR" sz="2400" baseline="-28000" dirty="0"/>
              <a:t>3</a:t>
            </a:r>
            <a:r>
              <a:rPr lang="en-CA" altLang="fr-FR" sz="2400" dirty="0"/>
              <a:t>..t</a:t>
            </a:r>
            <a:r>
              <a:rPr lang="en-CA" altLang="fr-FR" sz="2400" baseline="-28000" dirty="0"/>
              <a:t>4</a:t>
            </a:r>
            <a:r>
              <a:rPr lang="en-CA" altLang="fr-FR" sz="2400" dirty="0"/>
              <a:t>] : </a:t>
            </a:r>
            <a:r>
              <a:rPr lang="en-CA" altLang="fr-FR" sz="2400" dirty="0" err="1"/>
              <a:t>v</a:t>
            </a:r>
            <a:r>
              <a:rPr lang="en-CA" altLang="fr-FR" sz="2400" baseline="-33000" dirty="0" err="1"/>
              <a:t>DS</a:t>
            </a:r>
            <a:r>
              <a:rPr lang="en-CA" altLang="fr-FR" sz="2400" dirty="0"/>
              <a:t> relaxation</a:t>
            </a:r>
          </a:p>
        </p:txBody>
      </p:sp>
      <p:sp>
        <p:nvSpPr>
          <p:cNvPr id="16" name="Text Box 10"/>
          <p:cNvSpPr txBox="1">
            <a:spLocks noChangeArrowheads="1"/>
          </p:cNvSpPr>
          <p:nvPr/>
        </p:nvSpPr>
        <p:spPr bwMode="auto">
          <a:xfrm>
            <a:off x="3680436" y="5584810"/>
            <a:ext cx="4635962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>
                <a:solidFill>
                  <a:srgbClr val="FF3333"/>
                </a:solidFill>
              </a:rPr>
              <a:t>t</a:t>
            </a:r>
            <a:r>
              <a:rPr lang="en-CA" altLang="fr-FR" sz="2400" baseline="-28000">
                <a:solidFill>
                  <a:srgbClr val="FF3333"/>
                </a:solidFill>
              </a:rPr>
              <a:t>4</a:t>
            </a:r>
            <a:r>
              <a:rPr lang="en-CA" altLang="fr-FR" sz="2400">
                <a:solidFill>
                  <a:srgbClr val="FF3333"/>
                </a:solidFill>
              </a:rPr>
              <a:t> : end of switching i</a:t>
            </a:r>
            <a:r>
              <a:rPr lang="en-CA" altLang="fr-FR" sz="2400" baseline="-33000">
                <a:solidFill>
                  <a:srgbClr val="FF3333"/>
                </a:solidFill>
              </a:rPr>
              <a:t>D</a:t>
            </a:r>
            <a:r>
              <a:rPr lang="en-CA" altLang="fr-FR" sz="2400">
                <a:solidFill>
                  <a:srgbClr val="FF3333"/>
                </a:solidFill>
              </a:rPr>
              <a:t>,v</a:t>
            </a:r>
            <a:r>
              <a:rPr lang="en-CA" altLang="fr-FR" sz="2400" baseline="-33000">
                <a:solidFill>
                  <a:srgbClr val="FF3333"/>
                </a:solidFill>
              </a:rPr>
              <a:t>DS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2908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Commutation on a BUCK chopper: Turn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off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74"/>
          <a:stretch/>
        </p:blipFill>
        <p:spPr bwMode="auto">
          <a:xfrm>
            <a:off x="8274141" y="170543"/>
            <a:ext cx="3279775" cy="65169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2731631" y="1757817"/>
            <a:ext cx="556803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/>
              <a:t>[0..t'</a:t>
            </a:r>
            <a:r>
              <a:rPr lang="en-CA" altLang="fr-FR" sz="2400" baseline="-28000"/>
              <a:t>1</a:t>
            </a:r>
            <a:r>
              <a:rPr lang="en-CA" altLang="fr-FR" sz="2400"/>
              <a:t>] : the transistor is still on state</a:t>
            </a:r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3811131" y="2081667"/>
            <a:ext cx="4261854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fr-FR" altLang="fr-FR" sz="2400">
                <a:solidFill>
                  <a:srgbClr val="FF3333"/>
                </a:solidFill>
              </a:rPr>
              <a:t>v</a:t>
            </a:r>
            <a:r>
              <a:rPr lang="fr-FR" altLang="fr-FR" sz="2400" baseline="-33000">
                <a:solidFill>
                  <a:srgbClr val="FF3333"/>
                </a:solidFill>
              </a:rPr>
              <a:t>DS</a:t>
            </a:r>
            <a:r>
              <a:rPr lang="fr-FR" altLang="fr-FR" sz="2400">
                <a:solidFill>
                  <a:srgbClr val="FF3333"/>
                </a:solidFill>
              </a:rPr>
              <a:t> = v</a:t>
            </a:r>
            <a:r>
              <a:rPr lang="fr-FR" altLang="fr-FR" sz="2400" baseline="-33000">
                <a:solidFill>
                  <a:srgbClr val="FF3333"/>
                </a:solidFill>
              </a:rPr>
              <a:t>DSO</a:t>
            </a: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2704643" y="3276486"/>
            <a:ext cx="5829760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[t'</a:t>
            </a:r>
            <a:r>
              <a:rPr lang="en-CA" altLang="fr-FR" sz="2400" baseline="-28000" dirty="0"/>
              <a:t>1</a:t>
            </a:r>
            <a:r>
              <a:rPr lang="en-CA" altLang="fr-FR" sz="2400" dirty="0"/>
              <a:t>..t'</a:t>
            </a:r>
            <a:r>
              <a:rPr lang="en-CA" altLang="fr-FR" sz="2400" baseline="-28000" dirty="0"/>
              <a:t>3</a:t>
            </a:r>
            <a:r>
              <a:rPr lang="en-CA" altLang="fr-FR" sz="2400" dirty="0"/>
              <a:t>] : </a:t>
            </a:r>
            <a:r>
              <a:rPr lang="en-CA" altLang="fr-FR" sz="2400" dirty="0" err="1"/>
              <a:t>v</a:t>
            </a:r>
            <a:r>
              <a:rPr lang="en-CA" altLang="fr-FR" sz="2400" baseline="-33000" dirty="0" err="1"/>
              <a:t>DS</a:t>
            </a:r>
            <a:r>
              <a:rPr lang="en-CA" altLang="fr-FR" sz="2400" dirty="0"/>
              <a:t> increases, transistor on state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2669485" y="4767147"/>
            <a:ext cx="5568030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 dirty="0"/>
              <a:t>[t'</a:t>
            </a:r>
            <a:r>
              <a:rPr lang="en-CA" altLang="fr-FR" sz="2400" baseline="-28000" dirty="0"/>
              <a:t>3</a:t>
            </a:r>
            <a:r>
              <a:rPr lang="en-CA" altLang="fr-FR" sz="2400" dirty="0"/>
              <a:t>..t'</a:t>
            </a:r>
            <a:r>
              <a:rPr lang="en-CA" altLang="fr-FR" sz="2400" baseline="-28000" dirty="0"/>
              <a:t>4</a:t>
            </a:r>
            <a:r>
              <a:rPr lang="en-CA" altLang="fr-FR" sz="2400" dirty="0"/>
              <a:t>] : </a:t>
            </a:r>
            <a:r>
              <a:rPr lang="en-CA" altLang="fr-FR" sz="2400" dirty="0" err="1"/>
              <a:t>i</a:t>
            </a:r>
            <a:r>
              <a:rPr lang="en-CA" altLang="fr-FR" sz="2400" baseline="-33000" dirty="0" err="1"/>
              <a:t>D</a:t>
            </a:r>
            <a:r>
              <a:rPr lang="en-CA" altLang="fr-FR" sz="2400" dirty="0"/>
              <a:t> decreases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3748985" y="5056072"/>
            <a:ext cx="4261854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>
                <a:solidFill>
                  <a:srgbClr val="FF3333"/>
                </a:solidFill>
              </a:rPr>
              <a:t>t'</a:t>
            </a:r>
            <a:r>
              <a:rPr lang="en-CA" altLang="fr-FR" sz="2400" baseline="-28000">
                <a:solidFill>
                  <a:srgbClr val="FF3333"/>
                </a:solidFill>
              </a:rPr>
              <a:t>4</a:t>
            </a:r>
            <a:r>
              <a:rPr lang="en-CA" altLang="fr-FR" sz="2400">
                <a:solidFill>
                  <a:srgbClr val="FF3333"/>
                </a:solidFill>
              </a:rPr>
              <a:t> : end of switching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3811131" y="3640024"/>
            <a:ext cx="4261854" cy="44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CA" altLang="fr-FR" sz="2400">
                <a:solidFill>
                  <a:srgbClr val="FF3333"/>
                </a:solidFill>
              </a:rPr>
              <a:t>t'</a:t>
            </a:r>
            <a:r>
              <a:rPr lang="en-CA" altLang="fr-FR" sz="2400" baseline="-28000">
                <a:solidFill>
                  <a:srgbClr val="FF3333"/>
                </a:solidFill>
              </a:rPr>
              <a:t>3</a:t>
            </a:r>
            <a:r>
              <a:rPr lang="en-CA" altLang="fr-FR" sz="2400">
                <a:solidFill>
                  <a:srgbClr val="FF3333"/>
                </a:solidFill>
              </a:rPr>
              <a:t> : DRL forwards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317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3986" y="1800906"/>
            <a:ext cx="3987459" cy="20163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40" y="1731963"/>
            <a:ext cx="4614470" cy="2330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218" y="3957184"/>
            <a:ext cx="4061922" cy="2264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79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Driver MC33153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554" y="334875"/>
            <a:ext cx="5838825" cy="6069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 smtClean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10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3891</TotalTime>
  <Words>1624</Words>
  <Application>Microsoft Office PowerPoint</Application>
  <PresentationFormat>Grand écran</PresentationFormat>
  <Paragraphs>985</Paragraphs>
  <Slides>55</Slides>
  <Notes>1</Notes>
  <HiddenSlides>1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3</vt:i4>
      </vt:variant>
      <vt:variant>
        <vt:lpstr>Titres des diapositives</vt:lpstr>
      </vt:variant>
      <vt:variant>
        <vt:i4>55</vt:i4>
      </vt:variant>
    </vt:vector>
  </HeadingPairs>
  <TitlesOfParts>
    <vt:vector size="71" baseType="lpstr">
      <vt:lpstr>Microsoft YaHei</vt:lpstr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ヒラギノ角ゴ Pro W3</vt:lpstr>
      <vt:lpstr>1_Thème Office</vt:lpstr>
      <vt:lpstr>Thème Office</vt:lpstr>
      <vt:lpstr>2_Thème Office</vt:lpstr>
      <vt:lpstr>Equation</vt:lpstr>
      <vt:lpstr>Équation</vt:lpstr>
      <vt:lpstr>Image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165</cp:revision>
  <dcterms:created xsi:type="dcterms:W3CDTF">2021-03-25T13:34:06Z</dcterms:created>
  <dcterms:modified xsi:type="dcterms:W3CDTF">2025-09-02T08:38:40Z</dcterms:modified>
</cp:coreProperties>
</file>