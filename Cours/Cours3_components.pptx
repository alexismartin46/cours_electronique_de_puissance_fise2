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  <p:sldMasterId id="2147483664" r:id="rId3"/>
  </p:sldMasterIdLst>
  <p:notesMasterIdLst>
    <p:notesMasterId r:id="rId44"/>
  </p:notesMasterIdLst>
  <p:sldIdLst>
    <p:sldId id="257" r:id="rId4"/>
    <p:sldId id="256" r:id="rId5"/>
    <p:sldId id="258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319" r:id="rId23"/>
    <p:sldId id="285" r:id="rId24"/>
    <p:sldId id="279" r:id="rId25"/>
    <p:sldId id="280" r:id="rId26"/>
    <p:sldId id="281" r:id="rId27"/>
    <p:sldId id="288" r:id="rId28"/>
    <p:sldId id="289" r:id="rId29"/>
    <p:sldId id="290" r:id="rId30"/>
    <p:sldId id="324" r:id="rId31"/>
    <p:sldId id="325" r:id="rId32"/>
    <p:sldId id="298" r:id="rId33"/>
    <p:sldId id="299" r:id="rId34"/>
    <p:sldId id="300" r:id="rId35"/>
    <p:sldId id="305" r:id="rId36"/>
    <p:sldId id="306" r:id="rId37"/>
    <p:sldId id="307" r:id="rId38"/>
    <p:sldId id="304" r:id="rId39"/>
    <p:sldId id="318" r:id="rId40"/>
    <p:sldId id="320" r:id="rId41"/>
    <p:sldId id="321" r:id="rId42"/>
    <p:sldId id="322" r:id="rId4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F279DC-EFA7-47CC-9EDB-8E0B4D92D538}" v="22" dt="2026-06-01T14:52:21.6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74" autoAdjust="0"/>
    <p:restoredTop sz="89781" autoAdjust="0"/>
  </p:normalViewPr>
  <p:slideViewPr>
    <p:cSldViewPr snapToGrid="0">
      <p:cViewPr>
        <p:scale>
          <a:sx n="100" d="100"/>
          <a:sy n="100" d="100"/>
        </p:scale>
        <p:origin x="1128" y="66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microsoft.com/office/2016/11/relationships/changesInfo" Target="changesInfos/changesInfo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tableStyles" Target="tableStyle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undo redo custSel addSld delSld modSld">
      <pc:chgData name="Alexis MARTIN" userId="ec32c3d9-5957-42d0-8757-996fd533d25b" providerId="ADAL" clId="{B76BE869-635B-4DC9-A437-AFDC8BC5A345}" dt="2026-06-02T08:37:15.378" v="762" actId="1036"/>
      <pc:docMkLst>
        <pc:docMk/>
      </pc:docMkLst>
      <pc:sldChg chg="add del">
        <pc:chgData name="Alexis MARTIN" userId="ec32c3d9-5957-42d0-8757-996fd533d25b" providerId="ADAL" clId="{B76BE869-635B-4DC9-A437-AFDC8BC5A345}" dt="2026-06-01T11:26:19.128" v="11" actId="47"/>
        <pc:sldMkLst>
          <pc:docMk/>
          <pc:sldMk cId="4071774496" sldId="282"/>
        </pc:sldMkLst>
      </pc:sldChg>
      <pc:sldChg chg="add del">
        <pc:chgData name="Alexis MARTIN" userId="ec32c3d9-5957-42d0-8757-996fd533d25b" providerId="ADAL" clId="{B76BE869-635B-4DC9-A437-AFDC8BC5A345}" dt="2026-06-01T11:26:19.128" v="11" actId="47"/>
        <pc:sldMkLst>
          <pc:docMk/>
          <pc:sldMk cId="461221439" sldId="283"/>
        </pc:sldMkLst>
      </pc:sldChg>
      <pc:sldChg chg="add del">
        <pc:chgData name="Alexis MARTIN" userId="ec32c3d9-5957-42d0-8757-996fd533d25b" providerId="ADAL" clId="{B76BE869-635B-4DC9-A437-AFDC8BC5A345}" dt="2026-06-01T11:26:19.128" v="11" actId="47"/>
        <pc:sldMkLst>
          <pc:docMk/>
          <pc:sldMk cId="2691744261" sldId="284"/>
        </pc:sldMkLst>
      </pc:sldChg>
      <pc:sldChg chg="add del">
        <pc:chgData name="Alexis MARTIN" userId="ec32c3d9-5957-42d0-8757-996fd533d25b" providerId="ADAL" clId="{B76BE869-635B-4DC9-A437-AFDC8BC5A345}" dt="2026-06-01T11:26:19.128" v="11" actId="47"/>
        <pc:sldMkLst>
          <pc:docMk/>
          <pc:sldMk cId="4008319470" sldId="286"/>
        </pc:sldMkLst>
      </pc:sldChg>
      <pc:sldChg chg="add del">
        <pc:chgData name="Alexis MARTIN" userId="ec32c3d9-5957-42d0-8757-996fd533d25b" providerId="ADAL" clId="{B76BE869-635B-4DC9-A437-AFDC8BC5A345}" dt="2026-06-01T11:26:19.128" v="11" actId="47"/>
        <pc:sldMkLst>
          <pc:docMk/>
          <pc:sldMk cId="2169635203" sldId="287"/>
        </pc:sldMkLst>
      </pc:sldChg>
      <pc:sldChg chg="addSp modSp mod">
        <pc:chgData name="Alexis MARTIN" userId="ec32c3d9-5957-42d0-8757-996fd533d25b" providerId="ADAL" clId="{B76BE869-635B-4DC9-A437-AFDC8BC5A345}" dt="2026-06-01T11:50:22.302" v="284" actId="20577"/>
        <pc:sldMkLst>
          <pc:docMk/>
          <pc:sldMk cId="3402143349" sldId="290"/>
        </pc:sldMkLst>
        <pc:spChg chg="add mod">
          <ac:chgData name="Alexis MARTIN" userId="ec32c3d9-5957-42d0-8757-996fd533d25b" providerId="ADAL" clId="{B76BE869-635B-4DC9-A437-AFDC8BC5A345}" dt="2026-06-01T11:50:22.302" v="284" actId="20577"/>
          <ac:spMkLst>
            <pc:docMk/>
            <pc:sldMk cId="3402143349" sldId="290"/>
            <ac:spMk id="2" creationId="{BAD93DB3-7C55-CB12-987F-5C0C88B8BA06}"/>
          </ac:spMkLst>
        </pc:spChg>
        <pc:picChg chg="mod">
          <ac:chgData name="Alexis MARTIN" userId="ec32c3d9-5957-42d0-8757-996fd533d25b" providerId="ADAL" clId="{B76BE869-635B-4DC9-A437-AFDC8BC5A345}" dt="2026-06-01T11:48:24.070" v="179" actId="1076"/>
          <ac:picMkLst>
            <pc:docMk/>
            <pc:sldMk cId="3402143349" sldId="290"/>
            <ac:picMk id="7" creationId="{00000000-0000-0000-0000-000000000000}"/>
          </ac:picMkLst>
        </pc:picChg>
      </pc:sldChg>
      <pc:sldChg chg="del">
        <pc:chgData name="Alexis MARTIN" userId="ec32c3d9-5957-42d0-8757-996fd533d25b" providerId="ADAL" clId="{B76BE869-635B-4DC9-A437-AFDC8BC5A345}" dt="2026-06-01T11:26:25.601" v="12" actId="47"/>
        <pc:sldMkLst>
          <pc:docMk/>
          <pc:sldMk cId="202796023" sldId="291"/>
        </pc:sldMkLst>
      </pc:sldChg>
      <pc:sldChg chg="del">
        <pc:chgData name="Alexis MARTIN" userId="ec32c3d9-5957-42d0-8757-996fd533d25b" providerId="ADAL" clId="{B76BE869-635B-4DC9-A437-AFDC8BC5A345}" dt="2026-06-01T11:26:25.601" v="12" actId="47"/>
        <pc:sldMkLst>
          <pc:docMk/>
          <pc:sldMk cId="1709373621" sldId="292"/>
        </pc:sldMkLst>
      </pc:sldChg>
      <pc:sldChg chg="del">
        <pc:chgData name="Alexis MARTIN" userId="ec32c3d9-5957-42d0-8757-996fd533d25b" providerId="ADAL" clId="{B76BE869-635B-4DC9-A437-AFDC8BC5A345}" dt="2026-06-01T11:26:25.601" v="12" actId="47"/>
        <pc:sldMkLst>
          <pc:docMk/>
          <pc:sldMk cId="261087434" sldId="293"/>
        </pc:sldMkLst>
      </pc:sldChg>
      <pc:sldChg chg="add del">
        <pc:chgData name="Alexis MARTIN" userId="ec32c3d9-5957-42d0-8757-996fd533d25b" providerId="ADAL" clId="{B76BE869-635B-4DC9-A437-AFDC8BC5A345}" dt="2026-06-01T11:26:18.605" v="10" actId="47"/>
        <pc:sldMkLst>
          <pc:docMk/>
          <pc:sldMk cId="2845753892" sldId="294"/>
        </pc:sldMkLst>
      </pc:sldChg>
      <pc:sldChg chg="add del">
        <pc:chgData name="Alexis MARTIN" userId="ec32c3d9-5957-42d0-8757-996fd533d25b" providerId="ADAL" clId="{B76BE869-635B-4DC9-A437-AFDC8BC5A345}" dt="2026-06-01T11:26:18.605" v="10" actId="47"/>
        <pc:sldMkLst>
          <pc:docMk/>
          <pc:sldMk cId="99453885" sldId="295"/>
        </pc:sldMkLst>
      </pc:sldChg>
      <pc:sldChg chg="add del">
        <pc:chgData name="Alexis MARTIN" userId="ec32c3d9-5957-42d0-8757-996fd533d25b" providerId="ADAL" clId="{B76BE869-635B-4DC9-A437-AFDC8BC5A345}" dt="2026-06-01T11:26:18.605" v="10" actId="47"/>
        <pc:sldMkLst>
          <pc:docMk/>
          <pc:sldMk cId="1290403518" sldId="296"/>
        </pc:sldMkLst>
      </pc:sldChg>
      <pc:sldChg chg="add del">
        <pc:chgData name="Alexis MARTIN" userId="ec32c3d9-5957-42d0-8757-996fd533d25b" providerId="ADAL" clId="{B76BE869-635B-4DC9-A437-AFDC8BC5A345}" dt="2026-06-01T11:26:18.605" v="10" actId="47"/>
        <pc:sldMkLst>
          <pc:docMk/>
          <pc:sldMk cId="459409139" sldId="297"/>
        </pc:sldMkLst>
      </pc:sldChg>
      <pc:sldChg chg="del">
        <pc:chgData name="Alexis MARTIN" userId="ec32c3d9-5957-42d0-8757-996fd533d25b" providerId="ADAL" clId="{B76BE869-635B-4DC9-A437-AFDC8BC5A345}" dt="2026-06-01T11:23:58.592" v="3" actId="47"/>
        <pc:sldMkLst>
          <pc:docMk/>
          <pc:sldMk cId="2621398263" sldId="301"/>
        </pc:sldMkLst>
      </pc:sldChg>
      <pc:sldChg chg="del">
        <pc:chgData name="Alexis MARTIN" userId="ec32c3d9-5957-42d0-8757-996fd533d25b" providerId="ADAL" clId="{B76BE869-635B-4DC9-A437-AFDC8BC5A345}" dt="2026-06-01T11:23:58.592" v="3" actId="47"/>
        <pc:sldMkLst>
          <pc:docMk/>
          <pc:sldMk cId="646492494" sldId="302"/>
        </pc:sldMkLst>
      </pc:sldChg>
      <pc:sldChg chg="del">
        <pc:chgData name="Alexis MARTIN" userId="ec32c3d9-5957-42d0-8757-996fd533d25b" providerId="ADAL" clId="{B76BE869-635B-4DC9-A437-AFDC8BC5A345}" dt="2026-06-01T11:23:58.592" v="3" actId="47"/>
        <pc:sldMkLst>
          <pc:docMk/>
          <pc:sldMk cId="1475717248" sldId="303"/>
        </pc:sldMkLst>
      </pc:sldChg>
      <pc:sldChg chg="del">
        <pc:chgData name="Alexis MARTIN" userId="ec32c3d9-5957-42d0-8757-996fd533d25b" providerId="ADAL" clId="{B76BE869-635B-4DC9-A437-AFDC8BC5A345}" dt="2026-06-01T11:22:51.004" v="2" actId="47"/>
        <pc:sldMkLst>
          <pc:docMk/>
          <pc:sldMk cId="1173044222" sldId="308"/>
        </pc:sldMkLst>
      </pc:sldChg>
      <pc:sldChg chg="del">
        <pc:chgData name="Alexis MARTIN" userId="ec32c3d9-5957-42d0-8757-996fd533d25b" providerId="ADAL" clId="{B76BE869-635B-4DC9-A437-AFDC8BC5A345}" dt="2026-06-01T11:22:51.004" v="2" actId="47"/>
        <pc:sldMkLst>
          <pc:docMk/>
          <pc:sldMk cId="246128663" sldId="309"/>
        </pc:sldMkLst>
      </pc:sldChg>
      <pc:sldChg chg="del">
        <pc:chgData name="Alexis MARTIN" userId="ec32c3d9-5957-42d0-8757-996fd533d25b" providerId="ADAL" clId="{B76BE869-635B-4DC9-A437-AFDC8BC5A345}" dt="2026-06-01T11:22:51.004" v="2" actId="47"/>
        <pc:sldMkLst>
          <pc:docMk/>
          <pc:sldMk cId="1069452088" sldId="310"/>
        </pc:sldMkLst>
      </pc:sldChg>
      <pc:sldChg chg="del">
        <pc:chgData name="Alexis MARTIN" userId="ec32c3d9-5957-42d0-8757-996fd533d25b" providerId="ADAL" clId="{B76BE869-635B-4DC9-A437-AFDC8BC5A345}" dt="2026-06-01T11:22:51.004" v="2" actId="47"/>
        <pc:sldMkLst>
          <pc:docMk/>
          <pc:sldMk cId="2342908652" sldId="311"/>
        </pc:sldMkLst>
      </pc:sldChg>
      <pc:sldChg chg="del">
        <pc:chgData name="Alexis MARTIN" userId="ec32c3d9-5957-42d0-8757-996fd533d25b" providerId="ADAL" clId="{B76BE869-635B-4DC9-A437-AFDC8BC5A345}" dt="2026-06-01T11:22:51.004" v="2" actId="47"/>
        <pc:sldMkLst>
          <pc:docMk/>
          <pc:sldMk cId="2158317110" sldId="312"/>
        </pc:sldMkLst>
      </pc:sldChg>
      <pc:sldChg chg="modSp add mod">
        <pc:chgData name="Alexis MARTIN" userId="ec32c3d9-5957-42d0-8757-996fd533d25b" providerId="ADAL" clId="{B76BE869-635B-4DC9-A437-AFDC8BC5A345}" dt="2026-06-01T11:28:08.758" v="39" actId="20577"/>
        <pc:sldMkLst>
          <pc:docMk/>
          <pc:sldMk cId="4040949202" sldId="320"/>
        </pc:sldMkLst>
        <pc:spChg chg="mod">
          <ac:chgData name="Alexis MARTIN" userId="ec32c3d9-5957-42d0-8757-996fd533d25b" providerId="ADAL" clId="{B76BE869-635B-4DC9-A437-AFDC8BC5A345}" dt="2026-06-01T11:28:08.758" v="39" actId="20577"/>
          <ac:spMkLst>
            <pc:docMk/>
            <pc:sldMk cId="4040949202" sldId="320"/>
            <ac:spMk id="5" creationId="{E68E3FD7-27D7-B9A0-D801-480A2B3BBBA5}"/>
          </ac:spMkLst>
        </pc:spChg>
        <pc:spChg chg="mod">
          <ac:chgData name="Alexis MARTIN" userId="ec32c3d9-5957-42d0-8757-996fd533d25b" providerId="ADAL" clId="{B76BE869-635B-4DC9-A437-AFDC8BC5A345}" dt="2026-06-01T11:28:07.590" v="38" actId="20577"/>
          <ac:spMkLst>
            <pc:docMk/>
            <pc:sldMk cId="4040949202" sldId="320"/>
            <ac:spMk id="7" creationId="{98F2C7FF-37DF-1937-6D45-2D861C32235D}"/>
          </ac:spMkLst>
        </pc:spChg>
      </pc:sldChg>
      <pc:sldChg chg="addSp delSp modSp add mod">
        <pc:chgData name="Alexis MARTIN" userId="ec32c3d9-5957-42d0-8757-996fd533d25b" providerId="ADAL" clId="{B76BE869-635B-4DC9-A437-AFDC8BC5A345}" dt="2026-06-01T11:29:41.086" v="60" actId="207"/>
        <pc:sldMkLst>
          <pc:docMk/>
          <pc:sldMk cId="4111354504" sldId="321"/>
        </pc:sldMkLst>
        <pc:spChg chg="add mod">
          <ac:chgData name="Alexis MARTIN" userId="ec32c3d9-5957-42d0-8757-996fd533d25b" providerId="ADAL" clId="{B76BE869-635B-4DC9-A437-AFDC8BC5A345}" dt="2026-06-01T11:28:34.580" v="43"/>
          <ac:spMkLst>
            <pc:docMk/>
            <pc:sldMk cId="4111354504" sldId="321"/>
            <ac:spMk id="2" creationId="{8B21C3DB-B8EE-FDE8-4430-C2BD9F509872}"/>
          </ac:spMkLst>
        </pc:spChg>
        <pc:spChg chg="add mod">
          <ac:chgData name="Alexis MARTIN" userId="ec32c3d9-5957-42d0-8757-996fd533d25b" providerId="ADAL" clId="{B76BE869-635B-4DC9-A437-AFDC8BC5A345}" dt="2026-06-01T11:28:34.580" v="43"/>
          <ac:spMkLst>
            <pc:docMk/>
            <pc:sldMk cId="4111354504" sldId="321"/>
            <ac:spMk id="3" creationId="{60B5D67A-0197-FCF5-2488-23DBBF29E6C3}"/>
          </ac:spMkLst>
        </pc:spChg>
        <pc:spChg chg="add mod">
          <ac:chgData name="Alexis MARTIN" userId="ec32c3d9-5957-42d0-8757-996fd533d25b" providerId="ADAL" clId="{B76BE869-635B-4DC9-A437-AFDC8BC5A345}" dt="2026-06-01T11:29:15.030" v="49" actId="20577"/>
          <ac:spMkLst>
            <pc:docMk/>
            <pc:sldMk cId="4111354504" sldId="321"/>
            <ac:spMk id="4" creationId="{A49DC8BF-DC79-751D-B84C-BC84B454169B}"/>
          </ac:spMkLst>
        </pc:spChg>
        <pc:spChg chg="mod">
          <ac:chgData name="Alexis MARTIN" userId="ec32c3d9-5957-42d0-8757-996fd533d25b" providerId="ADAL" clId="{B76BE869-635B-4DC9-A437-AFDC8BC5A345}" dt="2026-06-01T11:29:41.086" v="60" actId="207"/>
          <ac:spMkLst>
            <pc:docMk/>
            <pc:sldMk cId="4111354504" sldId="321"/>
            <ac:spMk id="5" creationId="{D7220A14-EAFF-0C9D-2B7C-E5DDE83CF1F4}"/>
          </ac:spMkLst>
        </pc:spChg>
        <pc:spChg chg="del">
          <ac:chgData name="Alexis MARTIN" userId="ec32c3d9-5957-42d0-8757-996fd533d25b" providerId="ADAL" clId="{B76BE869-635B-4DC9-A437-AFDC8BC5A345}" dt="2026-06-01T11:28:21.248" v="41" actId="478"/>
          <ac:spMkLst>
            <pc:docMk/>
            <pc:sldMk cId="4111354504" sldId="321"/>
            <ac:spMk id="6" creationId="{61A19D6C-CB61-4ED6-1C20-7F55F5C9EBC2}"/>
          </ac:spMkLst>
        </pc:spChg>
        <pc:spChg chg="del">
          <ac:chgData name="Alexis MARTIN" userId="ec32c3d9-5957-42d0-8757-996fd533d25b" providerId="ADAL" clId="{B76BE869-635B-4DC9-A437-AFDC8BC5A345}" dt="2026-06-01T11:28:23.152" v="42" actId="478"/>
          <ac:spMkLst>
            <pc:docMk/>
            <pc:sldMk cId="4111354504" sldId="321"/>
            <ac:spMk id="7" creationId="{A205E252-1556-87D4-23F2-7839758B67D1}"/>
          </ac:spMkLst>
        </pc:spChg>
      </pc:sldChg>
      <pc:sldChg chg="modSp add mod">
        <pc:chgData name="Alexis MARTIN" userId="ec32c3d9-5957-42d0-8757-996fd533d25b" providerId="ADAL" clId="{B76BE869-635B-4DC9-A437-AFDC8BC5A345}" dt="2026-06-01T11:30:45.076" v="119" actId="20577"/>
        <pc:sldMkLst>
          <pc:docMk/>
          <pc:sldMk cId="352103231" sldId="322"/>
        </pc:sldMkLst>
        <pc:spChg chg="mod">
          <ac:chgData name="Alexis MARTIN" userId="ec32c3d9-5957-42d0-8757-996fd533d25b" providerId="ADAL" clId="{B76BE869-635B-4DC9-A437-AFDC8BC5A345}" dt="2026-06-01T11:30:45.076" v="119" actId="20577"/>
          <ac:spMkLst>
            <pc:docMk/>
            <pc:sldMk cId="352103231" sldId="322"/>
            <ac:spMk id="4" creationId="{C638A2BB-A669-277E-DE24-A8167C4781A0}"/>
          </ac:spMkLst>
        </pc:spChg>
        <pc:spChg chg="mod">
          <ac:chgData name="Alexis MARTIN" userId="ec32c3d9-5957-42d0-8757-996fd533d25b" providerId="ADAL" clId="{B76BE869-635B-4DC9-A437-AFDC8BC5A345}" dt="2026-06-01T11:30:40.585" v="108" actId="20577"/>
          <ac:spMkLst>
            <pc:docMk/>
            <pc:sldMk cId="352103231" sldId="322"/>
            <ac:spMk id="5" creationId="{C72BA5C2-A7F9-C0FF-E098-1AAA3E1A4CCB}"/>
          </ac:spMkLst>
        </pc:spChg>
      </pc:sldChg>
      <pc:sldChg chg="new del">
        <pc:chgData name="Alexis MARTIN" userId="ec32c3d9-5957-42d0-8757-996fd533d25b" providerId="ADAL" clId="{B76BE869-635B-4DC9-A437-AFDC8BC5A345}" dt="2026-06-01T11:31:35.998" v="122" actId="47"/>
        <pc:sldMkLst>
          <pc:docMk/>
          <pc:sldMk cId="2976530055" sldId="323"/>
        </pc:sldMkLst>
      </pc:sldChg>
      <pc:sldChg chg="addSp delSp modSp add mod">
        <pc:chgData name="Alexis MARTIN" userId="ec32c3d9-5957-42d0-8757-996fd533d25b" providerId="ADAL" clId="{B76BE869-635B-4DC9-A437-AFDC8BC5A345}" dt="2026-06-02T08:37:15.378" v="762" actId="1036"/>
        <pc:sldMkLst>
          <pc:docMk/>
          <pc:sldMk cId="343268090" sldId="324"/>
        </pc:sldMkLst>
        <pc:spChg chg="mod">
          <ac:chgData name="Alexis MARTIN" userId="ec32c3d9-5957-42d0-8757-996fd533d25b" providerId="ADAL" clId="{B76BE869-635B-4DC9-A437-AFDC8BC5A345}" dt="2026-06-01T11:31:40.058" v="127" actId="20577"/>
          <ac:spMkLst>
            <pc:docMk/>
            <pc:sldMk cId="343268090" sldId="324"/>
            <ac:spMk id="4" creationId="{E636336A-CA73-9924-1B5C-E50292CF4EE7}"/>
          </ac:spMkLst>
        </pc:spChg>
        <pc:spChg chg="add mod">
          <ac:chgData name="Alexis MARTIN" userId="ec32c3d9-5957-42d0-8757-996fd533d25b" providerId="ADAL" clId="{B76BE869-635B-4DC9-A437-AFDC8BC5A345}" dt="2026-06-01T14:46:12.600" v="603" actId="1076"/>
          <ac:spMkLst>
            <pc:docMk/>
            <pc:sldMk cId="343268090" sldId="324"/>
            <ac:spMk id="13" creationId="{6057AADE-CFBB-F3AE-97B4-C5C2A00FADD3}"/>
          </ac:spMkLst>
        </pc:spChg>
        <pc:spChg chg="add mod">
          <ac:chgData name="Alexis MARTIN" userId="ec32c3d9-5957-42d0-8757-996fd533d25b" providerId="ADAL" clId="{B76BE869-635B-4DC9-A437-AFDC8BC5A345}" dt="2026-06-01T14:46:41.024" v="622" actId="1035"/>
          <ac:spMkLst>
            <pc:docMk/>
            <pc:sldMk cId="343268090" sldId="324"/>
            <ac:spMk id="15" creationId="{FDC13273-C51A-3D62-452F-AA935756220F}"/>
          </ac:spMkLst>
        </pc:spChg>
        <pc:spChg chg="add mod">
          <ac:chgData name="Alexis MARTIN" userId="ec32c3d9-5957-42d0-8757-996fd533d25b" providerId="ADAL" clId="{B76BE869-635B-4DC9-A437-AFDC8BC5A345}" dt="2026-06-01T11:42:38.658" v="172" actId="1076"/>
          <ac:spMkLst>
            <pc:docMk/>
            <pc:sldMk cId="343268090" sldId="324"/>
            <ac:spMk id="17" creationId="{AD1088D2-3286-E1FB-DFF7-C60B9AF5DC37}"/>
          </ac:spMkLst>
        </pc:spChg>
        <pc:spChg chg="add mod">
          <ac:chgData name="Alexis MARTIN" userId="ec32c3d9-5957-42d0-8757-996fd533d25b" providerId="ADAL" clId="{B76BE869-635B-4DC9-A437-AFDC8BC5A345}" dt="2026-06-01T11:42:48.377" v="176" actId="1076"/>
          <ac:spMkLst>
            <pc:docMk/>
            <pc:sldMk cId="343268090" sldId="324"/>
            <ac:spMk id="19" creationId="{C1FD3DB5-C3E6-CC11-A9BC-0BAE588C59C2}"/>
          </ac:spMkLst>
        </pc:spChg>
        <pc:spChg chg="add mod">
          <ac:chgData name="Alexis MARTIN" userId="ec32c3d9-5957-42d0-8757-996fd533d25b" providerId="ADAL" clId="{B76BE869-635B-4DC9-A437-AFDC8BC5A345}" dt="2026-06-01T14:53:06.551" v="691" actId="1076"/>
          <ac:spMkLst>
            <pc:docMk/>
            <pc:sldMk cId="343268090" sldId="324"/>
            <ac:spMk id="20" creationId="{4427CFCB-7195-236D-369C-B6A9FCC49710}"/>
          </ac:spMkLst>
        </pc:spChg>
        <pc:spChg chg="add mod">
          <ac:chgData name="Alexis MARTIN" userId="ec32c3d9-5957-42d0-8757-996fd533d25b" providerId="ADAL" clId="{B76BE869-635B-4DC9-A437-AFDC8BC5A345}" dt="2026-06-02T08:37:08.953" v="759" actId="20577"/>
          <ac:spMkLst>
            <pc:docMk/>
            <pc:sldMk cId="343268090" sldId="324"/>
            <ac:spMk id="24" creationId="{637A31F7-EF17-9715-BC84-2D747BC05EA0}"/>
          </ac:spMkLst>
        </pc:spChg>
        <pc:spChg chg="add mod">
          <ac:chgData name="Alexis MARTIN" userId="ec32c3d9-5957-42d0-8757-996fd533d25b" providerId="ADAL" clId="{B76BE869-635B-4DC9-A437-AFDC8BC5A345}" dt="2026-06-01T14:49:31.211" v="647" actId="1035"/>
          <ac:spMkLst>
            <pc:docMk/>
            <pc:sldMk cId="343268090" sldId="324"/>
            <ac:spMk id="31" creationId="{D1BA060F-97B8-AD8D-3D35-B69169A3842D}"/>
          </ac:spMkLst>
        </pc:spChg>
        <pc:picChg chg="add mod modCrop">
          <ac:chgData name="Alexis MARTIN" userId="ec32c3d9-5957-42d0-8757-996fd533d25b" providerId="ADAL" clId="{B76BE869-635B-4DC9-A437-AFDC8BC5A345}" dt="2026-06-01T11:42:57.073" v="178" actId="732"/>
          <ac:picMkLst>
            <pc:docMk/>
            <pc:sldMk cId="343268090" sldId="324"/>
            <ac:picMk id="3" creationId="{EAAD5D8B-DAFA-F0BF-6A8E-6C4C2892076C}"/>
          </ac:picMkLst>
        </pc:picChg>
        <pc:picChg chg="del">
          <ac:chgData name="Alexis MARTIN" userId="ec32c3d9-5957-42d0-8757-996fd533d25b" providerId="ADAL" clId="{B76BE869-635B-4DC9-A437-AFDC8BC5A345}" dt="2026-06-01T11:33:49.844" v="137" actId="478"/>
          <ac:picMkLst>
            <pc:docMk/>
            <pc:sldMk cId="343268090" sldId="324"/>
            <ac:picMk id="6" creationId="{2977DF74-0E64-B097-97E0-1EEE3496CF57}"/>
          </ac:picMkLst>
        </pc:picChg>
        <pc:picChg chg="del">
          <ac:chgData name="Alexis MARTIN" userId="ec32c3d9-5957-42d0-8757-996fd533d25b" providerId="ADAL" clId="{B76BE869-635B-4DC9-A437-AFDC8BC5A345}" dt="2026-06-01T11:33:14.751" v="128" actId="478"/>
          <ac:picMkLst>
            <pc:docMk/>
            <pc:sldMk cId="343268090" sldId="324"/>
            <ac:picMk id="7" creationId="{075C9C61-BE16-728A-FEF7-F1DC97B4AD2D}"/>
          </ac:picMkLst>
        </pc:picChg>
        <pc:picChg chg="add mod modCrop">
          <ac:chgData name="Alexis MARTIN" userId="ec32c3d9-5957-42d0-8757-996fd533d25b" providerId="ADAL" clId="{B76BE869-635B-4DC9-A437-AFDC8BC5A345}" dt="2026-06-01T11:57:04.689" v="341" actId="1076"/>
          <ac:picMkLst>
            <pc:docMk/>
            <pc:sldMk cId="343268090" sldId="324"/>
            <ac:picMk id="12" creationId="{7A0895B4-EEE4-6B51-0886-D734E44FCBD9}"/>
          </ac:picMkLst>
        </pc:picChg>
        <pc:picChg chg="add mod">
          <ac:chgData name="Alexis MARTIN" userId="ec32c3d9-5957-42d0-8757-996fd533d25b" providerId="ADAL" clId="{B76BE869-635B-4DC9-A437-AFDC8BC5A345}" dt="2026-06-01T14:48:12.727" v="631" actId="1076"/>
          <ac:picMkLst>
            <pc:docMk/>
            <pc:sldMk cId="343268090" sldId="324"/>
            <ac:picMk id="22" creationId="{B3086B16-C710-02A7-23CB-96FB9ED5639F}"/>
          </ac:picMkLst>
        </pc:picChg>
        <pc:picChg chg="add mod">
          <ac:chgData name="Alexis MARTIN" userId="ec32c3d9-5957-42d0-8757-996fd533d25b" providerId="ADAL" clId="{B76BE869-635B-4DC9-A437-AFDC8BC5A345}" dt="2026-06-01T14:49:23.141" v="642" actId="1076"/>
          <ac:picMkLst>
            <pc:docMk/>
            <pc:sldMk cId="343268090" sldId="324"/>
            <ac:picMk id="26" creationId="{D9F75E87-8C13-52C4-9CA6-F1836E789B2A}"/>
          </ac:picMkLst>
        </pc:picChg>
        <pc:picChg chg="add del mod">
          <ac:chgData name="Alexis MARTIN" userId="ec32c3d9-5957-42d0-8757-996fd533d25b" providerId="ADAL" clId="{B76BE869-635B-4DC9-A437-AFDC8BC5A345}" dt="2026-06-01T14:48:57.575" v="635" actId="478"/>
          <ac:picMkLst>
            <pc:docMk/>
            <pc:sldMk cId="343268090" sldId="324"/>
            <ac:picMk id="28" creationId="{19EFB33B-10BF-6299-1B48-A1FD127CCD11}"/>
          </ac:picMkLst>
        </pc:picChg>
        <pc:picChg chg="add mod">
          <ac:chgData name="Alexis MARTIN" userId="ec32c3d9-5957-42d0-8757-996fd533d25b" providerId="ADAL" clId="{B76BE869-635B-4DC9-A437-AFDC8BC5A345}" dt="2026-06-01T14:49:07.366" v="639" actId="1035"/>
          <ac:picMkLst>
            <pc:docMk/>
            <pc:sldMk cId="343268090" sldId="324"/>
            <ac:picMk id="30" creationId="{06442AFA-9697-41C9-65EA-14A2FF96A3AC}"/>
          </ac:picMkLst>
        </pc:picChg>
        <pc:picChg chg="add mod">
          <ac:chgData name="Alexis MARTIN" userId="ec32c3d9-5957-42d0-8757-996fd533d25b" providerId="ADAL" clId="{B76BE869-635B-4DC9-A437-AFDC8BC5A345}" dt="2026-06-02T08:37:15.378" v="762" actId="1036"/>
          <ac:picMkLst>
            <pc:docMk/>
            <pc:sldMk cId="343268090" sldId="324"/>
            <ac:picMk id="33" creationId="{AA36D8A4-67BF-D3B9-ECE2-AC8C124E45A5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1T14:53:46.764" v="746" actId="20577"/>
        <pc:sldMkLst>
          <pc:docMk/>
          <pc:sldMk cId="2348186127" sldId="325"/>
        </pc:sldMkLst>
        <pc:spChg chg="mod">
          <ac:chgData name="Alexis MARTIN" userId="ec32c3d9-5957-42d0-8757-996fd533d25b" providerId="ADAL" clId="{B76BE869-635B-4DC9-A437-AFDC8BC5A345}" dt="2026-06-01T12:00:23.277" v="392" actId="20577"/>
          <ac:spMkLst>
            <pc:docMk/>
            <pc:sldMk cId="2348186127" sldId="325"/>
            <ac:spMk id="4" creationId="{7CECAADA-BB1F-AA9E-C906-10513A6B2556}"/>
          </ac:spMkLst>
        </pc:spChg>
        <pc:spChg chg="add del mod">
          <ac:chgData name="Alexis MARTIN" userId="ec32c3d9-5957-42d0-8757-996fd533d25b" providerId="ADAL" clId="{B76BE869-635B-4DC9-A437-AFDC8BC5A345}" dt="2026-06-01T14:31:03.493" v="404" actId="22"/>
          <ac:spMkLst>
            <pc:docMk/>
            <pc:sldMk cId="2348186127" sldId="325"/>
            <ac:spMk id="11" creationId="{AF6B04E7-0136-300B-EFAF-8CC3F3719B01}"/>
          </ac:spMkLst>
        </pc:spChg>
        <pc:spChg chg="del">
          <ac:chgData name="Alexis MARTIN" userId="ec32c3d9-5957-42d0-8757-996fd533d25b" providerId="ADAL" clId="{B76BE869-635B-4DC9-A437-AFDC8BC5A345}" dt="2026-06-01T14:29:45.860" v="396" actId="478"/>
          <ac:spMkLst>
            <pc:docMk/>
            <pc:sldMk cId="2348186127" sldId="325"/>
            <ac:spMk id="13" creationId="{A36BDCEE-F349-E2EF-DC6E-398FC7C1FAD0}"/>
          </ac:spMkLst>
        </pc:spChg>
        <pc:spChg chg="del">
          <ac:chgData name="Alexis MARTIN" userId="ec32c3d9-5957-42d0-8757-996fd533d25b" providerId="ADAL" clId="{B76BE869-635B-4DC9-A437-AFDC8BC5A345}" dt="2026-06-01T14:29:51.775" v="397" actId="478"/>
          <ac:spMkLst>
            <pc:docMk/>
            <pc:sldMk cId="2348186127" sldId="325"/>
            <ac:spMk id="15" creationId="{00FE3FDB-4D67-BB9B-C84E-17BFCFC01CF7}"/>
          </ac:spMkLst>
        </pc:spChg>
        <pc:spChg chg="add del">
          <ac:chgData name="Alexis MARTIN" userId="ec32c3d9-5957-42d0-8757-996fd533d25b" providerId="ADAL" clId="{B76BE869-635B-4DC9-A437-AFDC8BC5A345}" dt="2026-06-01T14:31:08.959" v="408" actId="22"/>
          <ac:spMkLst>
            <pc:docMk/>
            <pc:sldMk cId="2348186127" sldId="325"/>
            <ac:spMk id="16" creationId="{A39FF17A-072D-751B-61CD-771D58B4197C}"/>
          </ac:spMkLst>
        </pc:spChg>
        <pc:spChg chg="del">
          <ac:chgData name="Alexis MARTIN" userId="ec32c3d9-5957-42d0-8757-996fd533d25b" providerId="ADAL" clId="{B76BE869-635B-4DC9-A437-AFDC8BC5A345}" dt="2026-06-01T14:29:51.775" v="397" actId="478"/>
          <ac:spMkLst>
            <pc:docMk/>
            <pc:sldMk cId="2348186127" sldId="325"/>
            <ac:spMk id="17" creationId="{C2A58DBF-E7C1-1A5C-E271-B6DFA32AEF80}"/>
          </ac:spMkLst>
        </pc:spChg>
        <pc:spChg chg="del">
          <ac:chgData name="Alexis MARTIN" userId="ec32c3d9-5957-42d0-8757-996fd533d25b" providerId="ADAL" clId="{B76BE869-635B-4DC9-A437-AFDC8BC5A345}" dt="2026-06-01T14:29:51.775" v="397" actId="478"/>
          <ac:spMkLst>
            <pc:docMk/>
            <pc:sldMk cId="2348186127" sldId="325"/>
            <ac:spMk id="19" creationId="{CBDE0639-DDA0-ADE7-B3BB-22C4E38328D5}"/>
          </ac:spMkLst>
        </pc:spChg>
        <pc:spChg chg="del mod">
          <ac:chgData name="Alexis MARTIN" userId="ec32c3d9-5957-42d0-8757-996fd533d25b" providerId="ADAL" clId="{B76BE869-635B-4DC9-A437-AFDC8BC5A345}" dt="2026-06-01T14:29:45.860" v="396" actId="478"/>
          <ac:spMkLst>
            <pc:docMk/>
            <pc:sldMk cId="2348186127" sldId="325"/>
            <ac:spMk id="20" creationId="{A767D116-8DEC-1341-13CB-C7756740EB8E}"/>
          </ac:spMkLst>
        </pc:spChg>
        <pc:spChg chg="add mod">
          <ac:chgData name="Alexis MARTIN" userId="ec32c3d9-5957-42d0-8757-996fd533d25b" providerId="ADAL" clId="{B76BE869-635B-4DC9-A437-AFDC8BC5A345}" dt="2026-06-01T14:32:58.347" v="448" actId="1076"/>
          <ac:spMkLst>
            <pc:docMk/>
            <pc:sldMk cId="2348186127" sldId="325"/>
            <ac:spMk id="21" creationId="{67242651-21F8-CC27-320D-8D17F785A19C}"/>
          </ac:spMkLst>
        </pc:spChg>
        <pc:spChg chg="del">
          <ac:chgData name="Alexis MARTIN" userId="ec32c3d9-5957-42d0-8757-996fd533d25b" providerId="ADAL" clId="{B76BE869-635B-4DC9-A437-AFDC8BC5A345}" dt="2026-06-01T14:29:45.860" v="396" actId="478"/>
          <ac:spMkLst>
            <pc:docMk/>
            <pc:sldMk cId="2348186127" sldId="325"/>
            <ac:spMk id="24" creationId="{04B98B0D-3E92-5199-9593-28702C6D36B6}"/>
          </ac:spMkLst>
        </pc:spChg>
        <pc:spChg chg="add mod">
          <ac:chgData name="Alexis MARTIN" userId="ec32c3d9-5957-42d0-8757-996fd533d25b" providerId="ADAL" clId="{B76BE869-635B-4DC9-A437-AFDC8BC5A345}" dt="2026-06-01T14:53:46.764" v="746" actId="20577"/>
          <ac:spMkLst>
            <pc:docMk/>
            <pc:sldMk cId="2348186127" sldId="325"/>
            <ac:spMk id="28" creationId="{E7F09AB5-DD23-8D13-C49B-820694032D7F}"/>
          </ac:spMkLst>
        </pc:spChg>
        <pc:spChg chg="add mod">
          <ac:chgData name="Alexis MARTIN" userId="ec32c3d9-5957-42d0-8757-996fd533d25b" providerId="ADAL" clId="{B76BE869-635B-4DC9-A437-AFDC8BC5A345}" dt="2026-06-01T14:42:54.711" v="602" actId="1582"/>
          <ac:spMkLst>
            <pc:docMk/>
            <pc:sldMk cId="2348186127" sldId="325"/>
            <ac:spMk id="31" creationId="{D3FADE3E-CFB8-6516-D3B7-E173888D5C62}"/>
          </ac:spMkLst>
        </pc:spChg>
        <pc:picChg chg="del">
          <ac:chgData name="Alexis MARTIN" userId="ec32c3d9-5957-42d0-8757-996fd533d25b" providerId="ADAL" clId="{B76BE869-635B-4DC9-A437-AFDC8BC5A345}" dt="2026-06-01T14:29:45.860" v="396" actId="478"/>
          <ac:picMkLst>
            <pc:docMk/>
            <pc:sldMk cId="2348186127" sldId="325"/>
            <ac:picMk id="3" creationId="{412DF52C-C737-F9F4-3655-E4BAD6A8CEBE}"/>
          </ac:picMkLst>
        </pc:picChg>
        <pc:picChg chg="add mod">
          <ac:chgData name="Alexis MARTIN" userId="ec32c3d9-5957-42d0-8757-996fd533d25b" providerId="ADAL" clId="{B76BE869-635B-4DC9-A437-AFDC8BC5A345}" dt="2026-06-01T14:32:51.690" v="446" actId="1076"/>
          <ac:picMkLst>
            <pc:docMk/>
            <pc:sldMk cId="2348186127" sldId="325"/>
            <ac:picMk id="6" creationId="{6D5A5864-5767-711A-B1F8-F6C46BBFEE2F}"/>
          </ac:picMkLst>
        </pc:picChg>
        <pc:picChg chg="del">
          <ac:chgData name="Alexis MARTIN" userId="ec32c3d9-5957-42d0-8757-996fd533d25b" providerId="ADAL" clId="{B76BE869-635B-4DC9-A437-AFDC8BC5A345}" dt="2026-06-01T14:29:45.860" v="396" actId="478"/>
          <ac:picMkLst>
            <pc:docMk/>
            <pc:sldMk cId="2348186127" sldId="325"/>
            <ac:picMk id="12" creationId="{56D2A177-69FC-C1CA-0A8C-EA2F2642BF33}"/>
          </ac:picMkLst>
        </pc:picChg>
        <pc:picChg chg="del mod">
          <ac:chgData name="Alexis MARTIN" userId="ec32c3d9-5957-42d0-8757-996fd533d25b" providerId="ADAL" clId="{B76BE869-635B-4DC9-A437-AFDC8BC5A345}" dt="2026-06-01T14:29:45.860" v="396" actId="478"/>
          <ac:picMkLst>
            <pc:docMk/>
            <pc:sldMk cId="2348186127" sldId="325"/>
            <ac:picMk id="22" creationId="{C0BEFA8C-DE2F-6B00-8A66-A2909582A559}"/>
          </ac:picMkLst>
        </pc:picChg>
        <pc:picChg chg="add mod modCrop">
          <ac:chgData name="Alexis MARTIN" userId="ec32c3d9-5957-42d0-8757-996fd533d25b" providerId="ADAL" clId="{B76BE869-635B-4DC9-A437-AFDC8BC5A345}" dt="2026-06-01T14:41:40.523" v="590" actId="732"/>
          <ac:picMkLst>
            <pc:docMk/>
            <pc:sldMk cId="2348186127" sldId="325"/>
            <ac:picMk id="25" creationId="{420A00E3-F84C-05BB-2A34-C2643297B112}"/>
          </ac:picMkLst>
        </pc:picChg>
        <pc:picChg chg="add mod">
          <ac:chgData name="Alexis MARTIN" userId="ec32c3d9-5957-42d0-8757-996fd533d25b" providerId="ADAL" clId="{B76BE869-635B-4DC9-A437-AFDC8BC5A345}" dt="2026-06-01T14:41:34.666" v="589" actId="1037"/>
          <ac:picMkLst>
            <pc:docMk/>
            <pc:sldMk cId="2348186127" sldId="325"/>
            <ac:picMk id="27" creationId="{BF128E95-0726-E054-9FB7-1EF4E6EB904E}"/>
          </ac:picMkLst>
        </pc:picChg>
        <pc:picChg chg="add mod">
          <ac:chgData name="Alexis MARTIN" userId="ec32c3d9-5957-42d0-8757-996fd533d25b" providerId="ADAL" clId="{B76BE869-635B-4DC9-A437-AFDC8BC5A345}" dt="2026-06-01T14:41:24.736" v="561" actId="1076"/>
          <ac:picMkLst>
            <pc:docMk/>
            <pc:sldMk cId="2348186127" sldId="325"/>
            <ac:picMk id="30" creationId="{09ADD774-E35A-B58F-4D99-7CCD0B97183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1E26CE-A5EE-418B-98DF-F81A968CD86C}" type="datetimeFigureOut">
              <a:rPr lang="fr-FR" smtClean="0"/>
              <a:t>28/05/2026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4F6991-3A85-4424-A8A1-91662E3976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104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Autocicatrisation</a:t>
            </a:r>
            <a:r>
              <a:rPr lang="fr-FR" dirty="0"/>
              <a:t> : apparition d’un arc qui vaporise le film métallique puis apparition d’oxyde isolant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0169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5.wmf"/><Relationship Id="rId10" Type="http://schemas.openxmlformats.org/officeDocument/2006/relationships/image" Target="../media/image8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13" Type="http://schemas.openxmlformats.org/officeDocument/2006/relationships/image" Target="../media/image21.wmf"/><Relationship Id="rId3" Type="http://schemas.openxmlformats.org/officeDocument/2006/relationships/image" Target="../media/image16.wmf"/><Relationship Id="rId7" Type="http://schemas.openxmlformats.org/officeDocument/2006/relationships/image" Target="../media/image18.wmf"/><Relationship Id="rId12" Type="http://schemas.openxmlformats.org/officeDocument/2006/relationships/oleObject" Target="../embeddings/oleObject11.bin"/><Relationship Id="rId17" Type="http://schemas.openxmlformats.org/officeDocument/2006/relationships/image" Target="../media/image23.wmf"/><Relationship Id="rId2" Type="http://schemas.openxmlformats.org/officeDocument/2006/relationships/oleObject" Target="../embeddings/oleObject6.bin"/><Relationship Id="rId16" Type="http://schemas.openxmlformats.org/officeDocument/2006/relationships/oleObject" Target="../embeddings/oleObject13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8.bin"/><Relationship Id="rId11" Type="http://schemas.openxmlformats.org/officeDocument/2006/relationships/image" Target="../media/image20.wmf"/><Relationship Id="rId5" Type="http://schemas.openxmlformats.org/officeDocument/2006/relationships/image" Target="../media/image17.wmf"/><Relationship Id="rId15" Type="http://schemas.openxmlformats.org/officeDocument/2006/relationships/image" Target="../media/image22.wmf"/><Relationship Id="rId10" Type="http://schemas.openxmlformats.org/officeDocument/2006/relationships/oleObject" Target="../embeddings/oleObject10.bin"/><Relationship Id="rId4" Type="http://schemas.openxmlformats.org/officeDocument/2006/relationships/oleObject" Target="../embeddings/oleObject7.bin"/><Relationship Id="rId9" Type="http://schemas.openxmlformats.org/officeDocument/2006/relationships/image" Target="../media/image19.wmf"/><Relationship Id="rId14" Type="http://schemas.openxmlformats.org/officeDocument/2006/relationships/oleObject" Target="../embeddings/oleObject12.bin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wmf"/><Relationship Id="rId2" Type="http://schemas.openxmlformats.org/officeDocument/2006/relationships/oleObject" Target="../embeddings/oleObject14.bin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wmf"/><Relationship Id="rId2" Type="http://schemas.openxmlformats.org/officeDocument/2006/relationships/oleObject" Target="../embeddings/oleObject15.bin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4.wmf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wmf"/><Relationship Id="rId2" Type="http://schemas.openxmlformats.org/officeDocument/2006/relationships/image" Target="../media/image47.wmf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wmf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wmf"/><Relationship Id="rId2" Type="http://schemas.openxmlformats.org/officeDocument/2006/relationships/image" Target="../media/image51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w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wmf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7.wmf"/><Relationship Id="rId4" Type="http://schemas.openxmlformats.org/officeDocument/2006/relationships/image" Target="../media/image56.w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wmf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3.emf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>
                <a:solidFill>
                  <a:prstClr val="white"/>
                </a:solidFill>
                <a:latin typeface="Myriad Pro" pitchFamily="125" charset="0"/>
              </a:rPr>
              <a:t>Energy Conversion I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747906"/>
            <a:ext cx="808461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Non isolated choppers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Switch mode power supplies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Power components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Passive components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Coil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Transformer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Capacitor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Active components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Diodes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Transistors</a:t>
            </a:r>
            <a:endParaRPr lang="fr-FR" sz="2400" dirty="0"/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Passive components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/>
          <p:cNvSpPr txBox="1"/>
          <p:nvPr/>
        </p:nvSpPr>
        <p:spPr>
          <a:xfrm>
            <a:off x="0" y="0"/>
            <a:ext cx="24799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Iron core coil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580851"/>
              </p:ext>
            </p:extLst>
          </p:nvPr>
        </p:nvGraphicFramePr>
        <p:xfrm>
          <a:off x="3416657" y="1753281"/>
          <a:ext cx="4103688" cy="2305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3240024" imgH="1819656" progId="Word.Picture.8">
                  <p:embed/>
                </p:oleObj>
              </mc:Choice>
              <mc:Fallback>
                <p:oleObj name="Image" r:id="rId2" imgW="3240024" imgH="1819656" progId="Word.Picture.8">
                  <p:embed/>
                  <p:pic>
                    <p:nvPicPr>
                      <p:cNvPr id="2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16657" y="1753281"/>
                        <a:ext cx="4103688" cy="2305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50908420"/>
              </p:ext>
            </p:extLst>
          </p:nvPr>
        </p:nvGraphicFramePr>
        <p:xfrm>
          <a:off x="8468082" y="1858056"/>
          <a:ext cx="1727200" cy="80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48975" imgH="355446" progId="Equation.3">
                  <p:embed/>
                </p:oleObj>
              </mc:Choice>
              <mc:Fallback>
                <p:oleObj name="Equation" r:id="rId4" imgW="748975" imgH="355446" progId="Equation.3">
                  <p:embed/>
                  <p:pic>
                    <p:nvPicPr>
                      <p:cNvPr id="23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68082" y="1858056"/>
                        <a:ext cx="1727200" cy="809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6867202"/>
              </p:ext>
            </p:extLst>
          </p:nvPr>
        </p:nvGraphicFramePr>
        <p:xfrm>
          <a:off x="9044345" y="2723243"/>
          <a:ext cx="863600" cy="730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17362" progId="Equation.3">
                  <p:embed/>
                </p:oleObj>
              </mc:Choice>
              <mc:Fallback>
                <p:oleObj name="Equation" r:id="rId6" imgW="368140" imgH="317362" progId="Equation.3">
                  <p:embed/>
                  <p:pic>
                    <p:nvPicPr>
                      <p:cNvPr id="24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44345" y="2723243"/>
                        <a:ext cx="863600" cy="730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Rectangle 9"/>
          <p:cNvSpPr>
            <a:spLocks noChangeArrowheads="1"/>
          </p:cNvSpPr>
          <p:nvPr/>
        </p:nvSpPr>
        <p:spPr bwMode="auto">
          <a:xfrm>
            <a:off x="3427770" y="4788581"/>
            <a:ext cx="4103687" cy="1323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r>
              <a:rPr lang="en-CA" altLang="fr-FR" sz="1800" b="1" dirty="0">
                <a:solidFill>
                  <a:schemeClr val="tx1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= B.S  : elementary flux (real flux)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endParaRPr lang="en-CA" altLang="fr-FR" sz="2000" b="1" dirty="0">
              <a:solidFill>
                <a:schemeClr val="tx1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r>
              <a:rPr lang="en-CA" altLang="fr-FR" sz="1800" b="1" dirty="0">
                <a:solidFill>
                  <a:schemeClr val="tx1"/>
                </a:solidFill>
                <a:latin typeface="Symbol" panose="05050102010706020507" pitchFamily="18" charset="2"/>
              </a:rPr>
              <a:t>F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= </a:t>
            </a:r>
            <a:r>
              <a:rPr lang="en-CA" altLang="fr-FR" sz="2000" b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N.</a:t>
            </a:r>
            <a:r>
              <a:rPr lang="en-CA" altLang="fr-FR" sz="2000" b="1" dirty="0" err="1">
                <a:solidFill>
                  <a:schemeClr val="tx1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= L.I   : “total flux” (sawn by the electrical circuit)</a:t>
            </a:r>
            <a:endParaRPr lang="en-CA" altLang="fr-FR" sz="1800" b="1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8031662" y="3618146"/>
                <a:ext cx="3214791" cy="9782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ctrlPr>
                                <a:rPr lang="fr-FR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𝒊𝒓𝒄𝒖𝒊𝒕</m:t>
                              </m:r>
                            </m:sub>
                            <m:sup>
                              <m: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𝒅𝒍</m:t>
                                  </m:r>
                                </m:num>
                                <m:den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𝝁</m:t>
                                  </m:r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662" y="3618146"/>
                <a:ext cx="3214791" cy="9782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ZoneTexte 2"/>
              <p:cNvSpPr txBox="1"/>
              <p:nvPr/>
            </p:nvSpPr>
            <p:spPr>
              <a:xfrm>
                <a:off x="8031662" y="5030224"/>
                <a:ext cx="3562323" cy="1152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num>
                        <m:den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den>
                      </m:f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 . </m:t>
                      </m:r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3200" b="1" dirty="0"/>
              </a:p>
            </p:txBody>
          </p:sp>
        </mc:Choice>
        <mc:Fallback xmlns="">
          <p:sp>
            <p:nvSpPr>
              <p:cNvPr id="3" name="ZoneTexte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662" y="5030224"/>
                <a:ext cx="3562323" cy="1152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ZoneTexte 2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Hysteresis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00455507"/>
              </p:ext>
            </p:extLst>
          </p:nvPr>
        </p:nvGraphicFramePr>
        <p:xfrm>
          <a:off x="3094264" y="1426709"/>
          <a:ext cx="4895850" cy="3986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453128" imgH="3636264" progId="Word.Picture.8">
                  <p:embed/>
                </p:oleObj>
              </mc:Choice>
              <mc:Fallback>
                <p:oleObj name="Image" r:id="rId2" imgW="4453128" imgH="3636264" progId="Word.Picture.8">
                  <p:embed/>
                  <p:pic>
                    <p:nvPicPr>
                      <p:cNvPr id="6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4264" y="1426709"/>
                        <a:ext cx="4895850" cy="3986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9"/>
          <p:cNvGrpSpPr>
            <a:grpSpLocks/>
          </p:cNvGrpSpPr>
          <p:nvPr/>
        </p:nvGrpSpPr>
        <p:grpSpPr bwMode="auto">
          <a:xfrm>
            <a:off x="8710839" y="1807709"/>
            <a:ext cx="2652713" cy="3927474"/>
            <a:chOff x="3878" y="1221"/>
            <a:chExt cx="1671" cy="2474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V="1">
              <a:off x="4604" y="1434"/>
              <a:ext cx="0" cy="167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Line 11"/>
            <p:cNvSpPr>
              <a:spLocks noChangeShapeType="1"/>
            </p:cNvSpPr>
            <p:nvPr/>
          </p:nvSpPr>
          <p:spPr bwMode="auto">
            <a:xfrm>
              <a:off x="3878" y="2296"/>
              <a:ext cx="15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12"/>
            <p:cNvSpPr>
              <a:spLocks noChangeShapeType="1"/>
            </p:cNvSpPr>
            <p:nvPr/>
          </p:nvSpPr>
          <p:spPr bwMode="auto">
            <a:xfrm flipH="1">
              <a:off x="4195" y="1570"/>
              <a:ext cx="817" cy="1452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Box 13"/>
            <p:cNvSpPr txBox="1">
              <a:spLocks noChangeArrowheads="1"/>
            </p:cNvSpPr>
            <p:nvPr/>
          </p:nvSpPr>
          <p:spPr bwMode="auto">
            <a:xfrm>
              <a:off x="4500" y="1221"/>
              <a:ext cx="2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14" name="Text Box 14"/>
            <p:cNvSpPr txBox="1">
              <a:spLocks noChangeArrowheads="1"/>
            </p:cNvSpPr>
            <p:nvPr/>
          </p:nvSpPr>
          <p:spPr bwMode="auto">
            <a:xfrm>
              <a:off x="5329" y="2024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5" name="Text Box 15"/>
            <p:cNvSpPr txBox="1">
              <a:spLocks noChangeArrowheads="1"/>
            </p:cNvSpPr>
            <p:nvPr/>
          </p:nvSpPr>
          <p:spPr bwMode="auto">
            <a:xfrm>
              <a:off x="4140" y="3249"/>
              <a:ext cx="1056" cy="4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Ideal</a:t>
              </a:r>
            </a:p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Characteristic</a:t>
              </a:r>
            </a:p>
          </p:txBody>
        </p:sp>
      </p:grpSp>
      <p:sp>
        <p:nvSpPr>
          <p:cNvPr id="16" name="ZoneTexte 15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4596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Stored energy – Air-gap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8"/>
          <p:cNvSpPr txBox="1">
            <a:spLocks noChangeArrowheads="1"/>
          </p:cNvSpPr>
          <p:nvPr/>
        </p:nvSpPr>
        <p:spPr bwMode="auto">
          <a:xfrm>
            <a:off x="3190554" y="1815646"/>
            <a:ext cx="346280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Magnetic energy density stored</a:t>
            </a:r>
          </a:p>
        </p:txBody>
      </p:sp>
      <p:graphicFrame>
        <p:nvGraphicFramePr>
          <p:cNvPr id="7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86365152"/>
              </p:ext>
            </p:extLst>
          </p:nvPr>
        </p:nvGraphicFramePr>
        <p:xfrm>
          <a:off x="8878567" y="1599746"/>
          <a:ext cx="1403350" cy="693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142" imgH="406224" progId="Equation.3">
                  <p:embed/>
                </p:oleObj>
              </mc:Choice>
              <mc:Fallback>
                <p:oleObj name="Equation" r:id="rId2" imgW="825142" imgH="406224" progId="Equation.3">
                  <p:embed/>
                  <p:pic>
                    <p:nvPicPr>
                      <p:cNvPr id="7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78567" y="1599746"/>
                        <a:ext cx="1403350" cy="693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Box 11"/>
          <p:cNvSpPr txBox="1">
            <a:spLocks noChangeArrowheads="1"/>
          </p:cNvSpPr>
          <p:nvPr/>
        </p:nvSpPr>
        <p:spPr bwMode="auto">
          <a:xfrm>
            <a:off x="3261992" y="2607809"/>
            <a:ext cx="2783134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Example : Ferrinox B52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B = 0,4 T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Char char="m"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= 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="1" i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.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="1" i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 = 2,5 10</a:t>
            </a:r>
            <a:r>
              <a:rPr lang="en-CA" altLang="fr-FR" sz="2000" b="1" i="1" baseline="30000">
                <a:solidFill>
                  <a:schemeClr val="tx1"/>
                </a:solidFill>
                <a:latin typeface="Times New Roman" panose="02020603050405020304" pitchFamily="18" charset="0"/>
              </a:rPr>
              <a:t>-3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 H.m</a:t>
            </a:r>
            <a:r>
              <a:rPr lang="en-CA" altLang="fr-FR" sz="2000" b="1" i="1" baseline="30000">
                <a:solidFill>
                  <a:schemeClr val="tx1"/>
                </a:solidFill>
                <a:latin typeface="Times New Roman" panose="02020603050405020304" pitchFamily="18" charset="0"/>
              </a:rPr>
              <a:t>-1</a:t>
            </a:r>
          </a:p>
        </p:txBody>
      </p:sp>
      <p:sp>
        <p:nvSpPr>
          <p:cNvPr id="11" name="Text Box 12"/>
          <p:cNvSpPr txBox="1">
            <a:spLocks noChangeArrowheads="1"/>
          </p:cNvSpPr>
          <p:nvPr/>
        </p:nvSpPr>
        <p:spPr bwMode="auto">
          <a:xfrm>
            <a:off x="6556054" y="2841171"/>
            <a:ext cx="239553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mag</a:t>
            </a: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 = 32 J/m</a:t>
            </a:r>
            <a:r>
              <a:rPr lang="fr-FR" altLang="fr-FR" sz="2000" b="1" baseline="30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2" name="Text Box 13"/>
          <p:cNvSpPr txBox="1">
            <a:spLocks noChangeArrowheads="1"/>
          </p:cNvSpPr>
          <p:nvPr/>
        </p:nvSpPr>
        <p:spPr bwMode="auto">
          <a:xfrm>
            <a:off x="3261992" y="3900034"/>
            <a:ext cx="3230372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Air-gap : 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0 = 4</a:t>
            </a:r>
            <a:r>
              <a:rPr lang="en-CA" altLang="fr-FR" sz="2000" b="1" i="1">
                <a:solidFill>
                  <a:schemeClr val="tx1"/>
                </a:solidFill>
                <a:latin typeface="Symbol" panose="05050102010706020507" pitchFamily="18" charset="2"/>
              </a:rPr>
              <a:t>p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.10</a:t>
            </a:r>
            <a:r>
              <a:rPr lang="en-CA" altLang="fr-FR" sz="2000" b="1" i="1" baseline="30000">
                <a:solidFill>
                  <a:schemeClr val="tx1"/>
                </a:solidFill>
                <a:latin typeface="Times New Roman" panose="02020603050405020304" pitchFamily="18" charset="0"/>
              </a:rPr>
              <a:t>-7</a:t>
            </a:r>
            <a:r>
              <a:rPr lang="en-CA" altLang="fr-FR" sz="2000" b="1" i="1">
                <a:solidFill>
                  <a:schemeClr val="tx1"/>
                </a:solidFill>
                <a:latin typeface="Times New Roman" panose="02020603050405020304" pitchFamily="18" charset="0"/>
              </a:rPr>
              <a:t> H.m-1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CA" altLang="fr-FR" sz="2000" b="1" i="1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>
            <a:off x="6556054" y="3896859"/>
            <a:ext cx="239553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mag</a:t>
            </a: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 = 65 kJ/m</a:t>
            </a:r>
            <a:r>
              <a:rPr lang="fr-FR" altLang="fr-FR" sz="2000" b="1" baseline="30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grpSp>
        <p:nvGrpSpPr>
          <p:cNvPr id="14" name="Group 15"/>
          <p:cNvGrpSpPr>
            <a:grpSpLocks/>
          </p:cNvGrpSpPr>
          <p:nvPr/>
        </p:nvGrpSpPr>
        <p:grpSpPr bwMode="auto">
          <a:xfrm>
            <a:off x="4010611" y="4987900"/>
            <a:ext cx="5880100" cy="647700"/>
            <a:chOff x="1020" y="3022"/>
            <a:chExt cx="3704" cy="408"/>
          </a:xfrm>
        </p:grpSpPr>
        <p:sp>
          <p:nvSpPr>
            <p:cNvPr id="15" name="Text Box 16"/>
            <p:cNvSpPr txBox="1">
              <a:spLocks noChangeArrowheads="1"/>
            </p:cNvSpPr>
            <p:nvPr/>
          </p:nvSpPr>
          <p:spPr bwMode="auto">
            <a:xfrm>
              <a:off x="2109" y="3067"/>
              <a:ext cx="2615" cy="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800" b="1" i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Store energy in the air-gap</a:t>
              </a:r>
            </a:p>
          </p:txBody>
        </p:sp>
        <p:sp>
          <p:nvSpPr>
            <p:cNvPr id="16" name="AutoShape 17"/>
            <p:cNvSpPr>
              <a:spLocks noChangeArrowheads="1"/>
            </p:cNvSpPr>
            <p:nvPr/>
          </p:nvSpPr>
          <p:spPr bwMode="auto">
            <a:xfrm>
              <a:off x="1020" y="3022"/>
              <a:ext cx="681" cy="408"/>
            </a:xfrm>
            <a:prstGeom prst="rightArrow">
              <a:avLst>
                <a:gd name="adj1" fmla="val 50000"/>
                <a:gd name="adj2" fmla="val 41728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CA" altLang="fr-FR" sz="2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17" name="ZoneTexte 1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0659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circuit 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7" descr="pot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6865" y="1453389"/>
            <a:ext cx="3716951" cy="3951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8" descr="pot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9771" y="1324655"/>
            <a:ext cx="2866572" cy="4914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4423885" y="5648307"/>
            <a:ext cx="182729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>
                <a:solidFill>
                  <a:schemeClr val="tx1"/>
                </a:solidFill>
                <a:latin typeface="Times New Roman" panose="02020603050405020304" pitchFamily="18" charset="0"/>
              </a:rPr>
              <a:t>ETD series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687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With air-gap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499179" y="2039856"/>
            <a:ext cx="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Freeform 4"/>
          <p:cNvSpPr>
            <a:spLocks/>
          </p:cNvSpPr>
          <p:nvPr/>
        </p:nvSpPr>
        <p:spPr bwMode="auto">
          <a:xfrm>
            <a:off x="4146878" y="3889950"/>
            <a:ext cx="4876240" cy="2185418"/>
          </a:xfrm>
          <a:custGeom>
            <a:avLst/>
            <a:gdLst>
              <a:gd name="T0" fmla="*/ 2147483646 w 1406"/>
              <a:gd name="T1" fmla="*/ 0 h 681"/>
              <a:gd name="T2" fmla="*/ 2147483646 w 1406"/>
              <a:gd name="T3" fmla="*/ 0 h 681"/>
              <a:gd name="T4" fmla="*/ 2147483646 w 1406"/>
              <a:gd name="T5" fmla="*/ 2147483646 h 681"/>
              <a:gd name="T6" fmla="*/ 2147483646 w 1406"/>
              <a:gd name="T7" fmla="*/ 2147483646 h 681"/>
              <a:gd name="T8" fmla="*/ 2147483646 w 1406"/>
              <a:gd name="T9" fmla="*/ 2147483646 h 681"/>
              <a:gd name="T10" fmla="*/ 2147483646 w 1406"/>
              <a:gd name="T11" fmla="*/ 2147483646 h 681"/>
              <a:gd name="T12" fmla="*/ 2147483646 w 1406"/>
              <a:gd name="T13" fmla="*/ 2147483646 h 681"/>
              <a:gd name="T14" fmla="*/ 2147483646 w 1406"/>
              <a:gd name="T15" fmla="*/ 2147483646 h 681"/>
              <a:gd name="T16" fmla="*/ 2147483646 w 1406"/>
              <a:gd name="T17" fmla="*/ 0 h 681"/>
              <a:gd name="T18" fmla="*/ 2147483646 w 1406"/>
              <a:gd name="T19" fmla="*/ 0 h 681"/>
              <a:gd name="T20" fmla="*/ 2147483646 w 1406"/>
              <a:gd name="T21" fmla="*/ 0 h 681"/>
              <a:gd name="T22" fmla="*/ 2147483646 w 1406"/>
              <a:gd name="T23" fmla="*/ 2147483646 h 681"/>
              <a:gd name="T24" fmla="*/ 0 w 1406"/>
              <a:gd name="T25" fmla="*/ 2147483646 h 681"/>
              <a:gd name="T26" fmla="*/ 0 w 1406"/>
              <a:gd name="T27" fmla="*/ 0 h 681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406" h="681">
                <a:moveTo>
                  <a:pt x="45" y="0"/>
                </a:moveTo>
                <a:lnTo>
                  <a:pt x="272" y="0"/>
                </a:lnTo>
                <a:lnTo>
                  <a:pt x="272" y="454"/>
                </a:lnTo>
                <a:lnTo>
                  <a:pt x="499" y="454"/>
                </a:lnTo>
                <a:lnTo>
                  <a:pt x="499" y="46"/>
                </a:lnTo>
                <a:lnTo>
                  <a:pt x="907" y="46"/>
                </a:lnTo>
                <a:lnTo>
                  <a:pt x="907" y="454"/>
                </a:lnTo>
                <a:lnTo>
                  <a:pt x="1134" y="454"/>
                </a:lnTo>
                <a:lnTo>
                  <a:pt x="1134" y="0"/>
                </a:lnTo>
                <a:lnTo>
                  <a:pt x="1361" y="0"/>
                </a:lnTo>
                <a:lnTo>
                  <a:pt x="1406" y="0"/>
                </a:lnTo>
                <a:lnTo>
                  <a:pt x="1406" y="681"/>
                </a:lnTo>
                <a:lnTo>
                  <a:pt x="0" y="681"/>
                </a:lnTo>
                <a:lnTo>
                  <a:pt x="0" y="0"/>
                </a:lnTo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0" name="Freeform 5"/>
          <p:cNvSpPr>
            <a:spLocks/>
          </p:cNvSpPr>
          <p:nvPr/>
        </p:nvSpPr>
        <p:spPr bwMode="auto">
          <a:xfrm rot="10800000">
            <a:off x="4146878" y="1706481"/>
            <a:ext cx="4876240" cy="2185418"/>
          </a:xfrm>
          <a:custGeom>
            <a:avLst/>
            <a:gdLst>
              <a:gd name="T0" fmla="*/ 2147483646 w 1406"/>
              <a:gd name="T1" fmla="*/ 0 h 681"/>
              <a:gd name="T2" fmla="*/ 2147483646 w 1406"/>
              <a:gd name="T3" fmla="*/ 0 h 681"/>
              <a:gd name="T4" fmla="*/ 2147483646 w 1406"/>
              <a:gd name="T5" fmla="*/ 2147483646 h 681"/>
              <a:gd name="T6" fmla="*/ 2147483646 w 1406"/>
              <a:gd name="T7" fmla="*/ 2147483646 h 681"/>
              <a:gd name="T8" fmla="*/ 2147483646 w 1406"/>
              <a:gd name="T9" fmla="*/ 2147483646 h 681"/>
              <a:gd name="T10" fmla="*/ 2147483646 w 1406"/>
              <a:gd name="T11" fmla="*/ 2147483646 h 681"/>
              <a:gd name="T12" fmla="*/ 2147483646 w 1406"/>
              <a:gd name="T13" fmla="*/ 2147483646 h 681"/>
              <a:gd name="T14" fmla="*/ 2147483646 w 1406"/>
              <a:gd name="T15" fmla="*/ 2147483646 h 681"/>
              <a:gd name="T16" fmla="*/ 2147483646 w 1406"/>
              <a:gd name="T17" fmla="*/ 0 h 681"/>
              <a:gd name="T18" fmla="*/ 2147483646 w 1406"/>
              <a:gd name="T19" fmla="*/ 0 h 681"/>
              <a:gd name="T20" fmla="*/ 2147483646 w 1406"/>
              <a:gd name="T21" fmla="*/ 0 h 681"/>
              <a:gd name="T22" fmla="*/ 2147483646 w 1406"/>
              <a:gd name="T23" fmla="*/ 2147483646 h 681"/>
              <a:gd name="T24" fmla="*/ 0 w 1406"/>
              <a:gd name="T25" fmla="*/ 2147483646 h 681"/>
              <a:gd name="T26" fmla="*/ 0 w 1406"/>
              <a:gd name="T27" fmla="*/ 0 h 681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406" h="681">
                <a:moveTo>
                  <a:pt x="45" y="0"/>
                </a:moveTo>
                <a:lnTo>
                  <a:pt x="272" y="0"/>
                </a:lnTo>
                <a:lnTo>
                  <a:pt x="272" y="454"/>
                </a:lnTo>
                <a:lnTo>
                  <a:pt x="499" y="454"/>
                </a:lnTo>
                <a:lnTo>
                  <a:pt x="499" y="46"/>
                </a:lnTo>
                <a:lnTo>
                  <a:pt x="907" y="46"/>
                </a:lnTo>
                <a:lnTo>
                  <a:pt x="907" y="454"/>
                </a:lnTo>
                <a:lnTo>
                  <a:pt x="1134" y="454"/>
                </a:lnTo>
                <a:lnTo>
                  <a:pt x="1134" y="0"/>
                </a:lnTo>
                <a:lnTo>
                  <a:pt x="1361" y="0"/>
                </a:lnTo>
                <a:lnTo>
                  <a:pt x="1406" y="0"/>
                </a:lnTo>
                <a:lnTo>
                  <a:pt x="1406" y="681"/>
                </a:lnTo>
                <a:lnTo>
                  <a:pt x="0" y="681"/>
                </a:lnTo>
                <a:lnTo>
                  <a:pt x="0" y="0"/>
                </a:lnTo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endParaRPr lang="fr-FR"/>
          </a:p>
        </p:txBody>
      </p:sp>
      <p:grpSp>
        <p:nvGrpSpPr>
          <p:cNvPr id="18" name="Group 13"/>
          <p:cNvGrpSpPr>
            <a:grpSpLocks/>
          </p:cNvGrpSpPr>
          <p:nvPr/>
        </p:nvGrpSpPr>
        <p:grpSpPr bwMode="auto">
          <a:xfrm>
            <a:off x="5571020" y="2582630"/>
            <a:ext cx="2049687" cy="2618650"/>
            <a:chOff x="1746" y="2001"/>
            <a:chExt cx="590" cy="816"/>
          </a:xfrm>
        </p:grpSpPr>
        <p:sp>
          <p:nvSpPr>
            <p:cNvPr id="19" name="Oval 14"/>
            <p:cNvSpPr>
              <a:spLocks noChangeArrowheads="1"/>
            </p:cNvSpPr>
            <p:nvPr/>
          </p:nvSpPr>
          <p:spPr bwMode="auto">
            <a:xfrm>
              <a:off x="1746" y="200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Oval 15"/>
            <p:cNvSpPr>
              <a:spLocks noChangeArrowheads="1"/>
            </p:cNvSpPr>
            <p:nvPr/>
          </p:nvSpPr>
          <p:spPr bwMode="auto">
            <a:xfrm>
              <a:off x="1746" y="206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Oval 16"/>
            <p:cNvSpPr>
              <a:spLocks noChangeArrowheads="1"/>
            </p:cNvSpPr>
            <p:nvPr/>
          </p:nvSpPr>
          <p:spPr bwMode="auto">
            <a:xfrm>
              <a:off x="1746" y="213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2" name="Oval 17"/>
            <p:cNvSpPr>
              <a:spLocks noChangeArrowheads="1"/>
            </p:cNvSpPr>
            <p:nvPr/>
          </p:nvSpPr>
          <p:spPr bwMode="auto">
            <a:xfrm>
              <a:off x="1746" y="220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3" name="Oval 18"/>
            <p:cNvSpPr>
              <a:spLocks noChangeArrowheads="1"/>
            </p:cNvSpPr>
            <p:nvPr/>
          </p:nvSpPr>
          <p:spPr bwMode="auto">
            <a:xfrm>
              <a:off x="1746" y="227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4" name="Oval 19"/>
            <p:cNvSpPr>
              <a:spLocks noChangeArrowheads="1"/>
            </p:cNvSpPr>
            <p:nvPr/>
          </p:nvSpPr>
          <p:spPr bwMode="auto">
            <a:xfrm>
              <a:off x="1746" y="234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Oval 20"/>
            <p:cNvSpPr>
              <a:spLocks noChangeArrowheads="1"/>
            </p:cNvSpPr>
            <p:nvPr/>
          </p:nvSpPr>
          <p:spPr bwMode="auto">
            <a:xfrm>
              <a:off x="1746" y="240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" name="Oval 21"/>
            <p:cNvSpPr>
              <a:spLocks noChangeArrowheads="1"/>
            </p:cNvSpPr>
            <p:nvPr/>
          </p:nvSpPr>
          <p:spPr bwMode="auto">
            <a:xfrm>
              <a:off x="1746" y="247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" name="Oval 22"/>
            <p:cNvSpPr>
              <a:spLocks noChangeArrowheads="1"/>
            </p:cNvSpPr>
            <p:nvPr/>
          </p:nvSpPr>
          <p:spPr bwMode="auto">
            <a:xfrm>
              <a:off x="1746" y="254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8" name="Oval 23"/>
            <p:cNvSpPr>
              <a:spLocks noChangeArrowheads="1"/>
            </p:cNvSpPr>
            <p:nvPr/>
          </p:nvSpPr>
          <p:spPr bwMode="auto">
            <a:xfrm>
              <a:off x="1746" y="261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9" name="Oval 24"/>
            <p:cNvSpPr>
              <a:spLocks noChangeArrowheads="1"/>
            </p:cNvSpPr>
            <p:nvPr/>
          </p:nvSpPr>
          <p:spPr bwMode="auto">
            <a:xfrm>
              <a:off x="1746" y="268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Oval 25"/>
            <p:cNvSpPr>
              <a:spLocks noChangeArrowheads="1"/>
            </p:cNvSpPr>
            <p:nvPr/>
          </p:nvSpPr>
          <p:spPr bwMode="auto">
            <a:xfrm>
              <a:off x="1746" y="274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1" name="Oval 26"/>
            <p:cNvSpPr>
              <a:spLocks noChangeArrowheads="1"/>
            </p:cNvSpPr>
            <p:nvPr/>
          </p:nvSpPr>
          <p:spPr bwMode="auto">
            <a:xfrm>
              <a:off x="2268" y="200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2268" y="206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3" name="Oval 28"/>
            <p:cNvSpPr>
              <a:spLocks noChangeArrowheads="1"/>
            </p:cNvSpPr>
            <p:nvPr/>
          </p:nvSpPr>
          <p:spPr bwMode="auto">
            <a:xfrm>
              <a:off x="2268" y="213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4" name="Oval 29"/>
            <p:cNvSpPr>
              <a:spLocks noChangeArrowheads="1"/>
            </p:cNvSpPr>
            <p:nvPr/>
          </p:nvSpPr>
          <p:spPr bwMode="auto">
            <a:xfrm>
              <a:off x="2268" y="220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5" name="Oval 30"/>
            <p:cNvSpPr>
              <a:spLocks noChangeArrowheads="1"/>
            </p:cNvSpPr>
            <p:nvPr/>
          </p:nvSpPr>
          <p:spPr bwMode="auto">
            <a:xfrm>
              <a:off x="2268" y="227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6" name="Oval 31"/>
            <p:cNvSpPr>
              <a:spLocks noChangeArrowheads="1"/>
            </p:cNvSpPr>
            <p:nvPr/>
          </p:nvSpPr>
          <p:spPr bwMode="auto">
            <a:xfrm>
              <a:off x="2268" y="234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Oval 32"/>
            <p:cNvSpPr>
              <a:spLocks noChangeArrowheads="1"/>
            </p:cNvSpPr>
            <p:nvPr/>
          </p:nvSpPr>
          <p:spPr bwMode="auto">
            <a:xfrm>
              <a:off x="2268" y="240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2268" y="247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9" name="Oval 34"/>
            <p:cNvSpPr>
              <a:spLocks noChangeArrowheads="1"/>
            </p:cNvSpPr>
            <p:nvPr/>
          </p:nvSpPr>
          <p:spPr bwMode="auto">
            <a:xfrm>
              <a:off x="2268" y="254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0" name="Oval 35"/>
            <p:cNvSpPr>
              <a:spLocks noChangeArrowheads="1"/>
            </p:cNvSpPr>
            <p:nvPr/>
          </p:nvSpPr>
          <p:spPr bwMode="auto">
            <a:xfrm>
              <a:off x="2268" y="261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1" name="Oval 36"/>
            <p:cNvSpPr>
              <a:spLocks noChangeArrowheads="1"/>
            </p:cNvSpPr>
            <p:nvPr/>
          </p:nvSpPr>
          <p:spPr bwMode="auto">
            <a:xfrm>
              <a:off x="2268" y="268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2" name="Oval 37"/>
            <p:cNvSpPr>
              <a:spLocks noChangeArrowheads="1"/>
            </p:cNvSpPr>
            <p:nvPr/>
          </p:nvSpPr>
          <p:spPr bwMode="auto">
            <a:xfrm>
              <a:off x="2268" y="274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43" name="Group 38"/>
          <p:cNvGrpSpPr>
            <a:grpSpLocks/>
          </p:cNvGrpSpPr>
          <p:nvPr/>
        </p:nvGrpSpPr>
        <p:grpSpPr bwMode="auto">
          <a:xfrm>
            <a:off x="5131786" y="2571880"/>
            <a:ext cx="2920013" cy="2618650"/>
            <a:chOff x="1633" y="2024"/>
            <a:chExt cx="815" cy="816"/>
          </a:xfrm>
        </p:grpSpPr>
        <p:sp>
          <p:nvSpPr>
            <p:cNvPr id="44" name="AutoShape 39"/>
            <p:cNvSpPr>
              <a:spLocks noChangeArrowheads="1"/>
            </p:cNvSpPr>
            <p:nvPr/>
          </p:nvSpPr>
          <p:spPr bwMode="auto">
            <a:xfrm>
              <a:off x="1633" y="202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5" name="AutoShape 40"/>
            <p:cNvSpPr>
              <a:spLocks noChangeArrowheads="1"/>
            </p:cNvSpPr>
            <p:nvPr/>
          </p:nvSpPr>
          <p:spPr bwMode="auto">
            <a:xfrm>
              <a:off x="1633" y="2160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" name="AutoShape 41"/>
            <p:cNvSpPr>
              <a:spLocks noChangeArrowheads="1"/>
            </p:cNvSpPr>
            <p:nvPr/>
          </p:nvSpPr>
          <p:spPr bwMode="auto">
            <a:xfrm>
              <a:off x="1633" y="2296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" name="AutoShape 42"/>
            <p:cNvSpPr>
              <a:spLocks noChangeArrowheads="1"/>
            </p:cNvSpPr>
            <p:nvPr/>
          </p:nvSpPr>
          <p:spPr bwMode="auto">
            <a:xfrm>
              <a:off x="1633" y="2432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8" name="AutoShape 43"/>
            <p:cNvSpPr>
              <a:spLocks noChangeArrowheads="1"/>
            </p:cNvSpPr>
            <p:nvPr/>
          </p:nvSpPr>
          <p:spPr bwMode="auto">
            <a:xfrm>
              <a:off x="1633" y="2568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9" name="AutoShape 44"/>
            <p:cNvSpPr>
              <a:spLocks noChangeArrowheads="1"/>
            </p:cNvSpPr>
            <p:nvPr/>
          </p:nvSpPr>
          <p:spPr bwMode="auto">
            <a:xfrm>
              <a:off x="1633" y="270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0" name="AutoShape 45"/>
            <p:cNvSpPr>
              <a:spLocks noChangeArrowheads="1"/>
            </p:cNvSpPr>
            <p:nvPr/>
          </p:nvSpPr>
          <p:spPr bwMode="auto">
            <a:xfrm>
              <a:off x="2358" y="202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AutoShape 46"/>
            <p:cNvSpPr>
              <a:spLocks noChangeArrowheads="1"/>
            </p:cNvSpPr>
            <p:nvPr/>
          </p:nvSpPr>
          <p:spPr bwMode="auto">
            <a:xfrm>
              <a:off x="2358" y="2160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2" name="AutoShape 47"/>
            <p:cNvSpPr>
              <a:spLocks noChangeArrowheads="1"/>
            </p:cNvSpPr>
            <p:nvPr/>
          </p:nvSpPr>
          <p:spPr bwMode="auto">
            <a:xfrm>
              <a:off x="2358" y="2296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3" name="AutoShape 48"/>
            <p:cNvSpPr>
              <a:spLocks noChangeArrowheads="1"/>
            </p:cNvSpPr>
            <p:nvPr/>
          </p:nvSpPr>
          <p:spPr bwMode="auto">
            <a:xfrm>
              <a:off x="2358" y="2432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AutoShape 49"/>
            <p:cNvSpPr>
              <a:spLocks noChangeArrowheads="1"/>
            </p:cNvSpPr>
            <p:nvPr/>
          </p:nvSpPr>
          <p:spPr bwMode="auto">
            <a:xfrm>
              <a:off x="2358" y="2568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5" name="AutoShape 50"/>
            <p:cNvSpPr>
              <a:spLocks noChangeArrowheads="1"/>
            </p:cNvSpPr>
            <p:nvPr/>
          </p:nvSpPr>
          <p:spPr bwMode="auto">
            <a:xfrm>
              <a:off x="2358" y="270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5494722" y="2533515"/>
            <a:ext cx="2205753" cy="2766270"/>
            <a:chOff x="1723" y="2001"/>
            <a:chExt cx="636" cy="862"/>
          </a:xfrm>
        </p:grpSpPr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1723" y="2001"/>
              <a:ext cx="23" cy="862"/>
            </a:xfrm>
            <a:prstGeom prst="rect">
              <a:avLst/>
            </a:pr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FF99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2336" y="2001"/>
              <a:ext cx="23" cy="862"/>
            </a:xfrm>
            <a:prstGeom prst="rect">
              <a:avLst/>
            </a:pr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FF99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59" name="Rectangle 54"/>
          <p:cNvSpPr>
            <a:spLocks noChangeArrowheads="1"/>
          </p:cNvSpPr>
          <p:nvPr/>
        </p:nvSpPr>
        <p:spPr bwMode="auto">
          <a:xfrm>
            <a:off x="4146878" y="1706480"/>
            <a:ext cx="4876240" cy="4368888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61" name="Group 56"/>
          <p:cNvGrpSpPr>
            <a:grpSpLocks/>
          </p:cNvGrpSpPr>
          <p:nvPr/>
        </p:nvGrpSpPr>
        <p:grpSpPr bwMode="auto">
          <a:xfrm>
            <a:off x="4504004" y="2163969"/>
            <a:ext cx="4248501" cy="3491533"/>
            <a:chOff x="1111" y="1684"/>
            <a:chExt cx="1225" cy="1088"/>
          </a:xfrm>
        </p:grpSpPr>
        <p:sp>
          <p:nvSpPr>
            <p:cNvPr id="62" name="AutoShape 57"/>
            <p:cNvSpPr>
              <a:spLocks noChangeArrowheads="1"/>
            </p:cNvSpPr>
            <p:nvPr/>
          </p:nvSpPr>
          <p:spPr bwMode="auto">
            <a:xfrm>
              <a:off x="1769" y="1684"/>
              <a:ext cx="567" cy="1088"/>
            </a:xfrm>
            <a:prstGeom prst="roundRect">
              <a:avLst>
                <a:gd name="adj" fmla="val 22926"/>
              </a:avLst>
            </a:prstGeom>
            <a:noFill/>
            <a:ln w="19050">
              <a:solidFill>
                <a:schemeClr val="fol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3" name="AutoShape 58"/>
            <p:cNvSpPr>
              <a:spLocks noChangeArrowheads="1"/>
            </p:cNvSpPr>
            <p:nvPr/>
          </p:nvSpPr>
          <p:spPr bwMode="auto">
            <a:xfrm>
              <a:off x="1111" y="1684"/>
              <a:ext cx="567" cy="1088"/>
            </a:xfrm>
            <a:prstGeom prst="roundRect">
              <a:avLst>
                <a:gd name="adj" fmla="val 22926"/>
              </a:avLst>
            </a:prstGeom>
            <a:noFill/>
            <a:ln w="19050">
              <a:solidFill>
                <a:schemeClr val="fol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" name="Groupe 1"/>
          <p:cNvGrpSpPr/>
          <p:nvPr/>
        </p:nvGrpSpPr>
        <p:grpSpPr>
          <a:xfrm>
            <a:off x="5010451" y="2434610"/>
            <a:ext cx="3149094" cy="2910679"/>
            <a:chOff x="5010451" y="2434610"/>
            <a:chExt cx="3149094" cy="2910679"/>
          </a:xfrm>
          <a:solidFill>
            <a:schemeClr val="bg2">
              <a:lumMod val="75000"/>
            </a:schemeClr>
          </a:solidFill>
        </p:grpSpPr>
        <p:grpSp>
          <p:nvGrpSpPr>
            <p:cNvPr id="11" name="Group 6"/>
            <p:cNvGrpSpPr>
              <a:grpSpLocks/>
            </p:cNvGrpSpPr>
            <p:nvPr/>
          </p:nvGrpSpPr>
          <p:grpSpPr bwMode="auto">
            <a:xfrm>
              <a:off x="5090219" y="2434610"/>
              <a:ext cx="2989558" cy="2910679"/>
              <a:chOff x="1610" y="1979"/>
              <a:chExt cx="862" cy="907"/>
            </a:xfrm>
            <a:grpFill/>
          </p:grpSpPr>
          <p:sp>
            <p:nvSpPr>
              <p:cNvPr id="12" name="Rectangle 7"/>
              <p:cNvSpPr>
                <a:spLocks noChangeArrowheads="1"/>
              </p:cNvSpPr>
              <p:nvPr/>
            </p:nvSpPr>
            <p:spPr bwMode="auto">
              <a:xfrm>
                <a:off x="1814" y="1979"/>
                <a:ext cx="23" cy="907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8"/>
              <p:cNvSpPr>
                <a:spLocks noChangeArrowheads="1"/>
              </p:cNvSpPr>
              <p:nvPr/>
            </p:nvSpPr>
            <p:spPr bwMode="auto">
              <a:xfrm>
                <a:off x="1610" y="1979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9"/>
              <p:cNvSpPr>
                <a:spLocks noChangeArrowheads="1"/>
              </p:cNvSpPr>
              <p:nvPr/>
            </p:nvSpPr>
            <p:spPr bwMode="auto">
              <a:xfrm>
                <a:off x="1610" y="2863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Rectangle 10"/>
              <p:cNvSpPr>
                <a:spLocks noChangeArrowheads="1"/>
              </p:cNvSpPr>
              <p:nvPr/>
            </p:nvSpPr>
            <p:spPr bwMode="auto">
              <a:xfrm>
                <a:off x="2268" y="1979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Rectangle 11"/>
              <p:cNvSpPr>
                <a:spLocks noChangeArrowheads="1"/>
              </p:cNvSpPr>
              <p:nvPr/>
            </p:nvSpPr>
            <p:spPr bwMode="auto">
              <a:xfrm>
                <a:off x="2268" y="2863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Rectangle 12"/>
              <p:cNvSpPr>
                <a:spLocks noChangeArrowheads="1"/>
              </p:cNvSpPr>
              <p:nvPr/>
            </p:nvSpPr>
            <p:spPr bwMode="auto">
              <a:xfrm>
                <a:off x="2245" y="1979"/>
                <a:ext cx="23" cy="907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65" name="Rectangle 12"/>
            <p:cNvSpPr>
              <a:spLocks noChangeArrowheads="1"/>
            </p:cNvSpPr>
            <p:nvPr/>
          </p:nvSpPr>
          <p:spPr bwMode="auto">
            <a:xfrm>
              <a:off x="8079777" y="2437929"/>
              <a:ext cx="79768" cy="2902816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6" name="Rectangle 12"/>
            <p:cNvSpPr>
              <a:spLocks noChangeArrowheads="1"/>
            </p:cNvSpPr>
            <p:nvPr/>
          </p:nvSpPr>
          <p:spPr bwMode="auto">
            <a:xfrm>
              <a:off x="5010451" y="2434610"/>
              <a:ext cx="79768" cy="2906135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64" name="AutoShape 59"/>
          <p:cNvSpPr>
            <a:spLocks/>
          </p:cNvSpPr>
          <p:nvPr/>
        </p:nvSpPr>
        <p:spPr bwMode="auto">
          <a:xfrm>
            <a:off x="10195282" y="5230557"/>
            <a:ext cx="1008062" cy="366712"/>
          </a:xfrm>
          <a:prstGeom prst="callout2">
            <a:avLst>
              <a:gd name="adj1" fmla="val 31167"/>
              <a:gd name="adj2" fmla="val -8333"/>
              <a:gd name="adj3" fmla="val 31167"/>
              <a:gd name="adj4" fmla="val -103995"/>
              <a:gd name="adj5" fmla="val -2598"/>
              <a:gd name="adj6" fmla="val -216987"/>
            </a:avLst>
          </a:prstGeom>
          <a:noFill/>
          <a:ln w="19050">
            <a:solidFill>
              <a:srgbClr val="FF99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window</a:t>
            </a:r>
          </a:p>
        </p:txBody>
      </p:sp>
      <p:sp>
        <p:nvSpPr>
          <p:cNvPr id="60" name="AutoShape 55"/>
          <p:cNvSpPr>
            <a:spLocks/>
          </p:cNvSpPr>
          <p:nvPr/>
        </p:nvSpPr>
        <p:spPr bwMode="auto">
          <a:xfrm>
            <a:off x="10195282" y="1339768"/>
            <a:ext cx="914400" cy="366712"/>
          </a:xfrm>
          <a:prstGeom prst="callout2">
            <a:avLst>
              <a:gd name="adj1" fmla="val 31167"/>
              <a:gd name="adj2" fmla="val -8333"/>
              <a:gd name="adj3" fmla="val 31167"/>
              <a:gd name="adj4" fmla="val -95139"/>
              <a:gd name="adj5" fmla="val 664935"/>
              <a:gd name="adj6" fmla="val -401736"/>
            </a:avLst>
          </a:prstGeom>
          <a:noFill/>
          <a:ln w="19050">
            <a:solidFill>
              <a:srgbClr val="339966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Air-gap</a:t>
            </a: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465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45" dur="5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64" grpId="0" animBg="1"/>
      <p:bldP spid="6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For a Forward : closed core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limentation-a-decoupage-reduction-du-bruit-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447" y="1323068"/>
            <a:ext cx="6596382" cy="4874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1"/>
          <p:cNvSpPr txBox="1">
            <a:spLocks noChangeArrowheads="1"/>
          </p:cNvSpPr>
          <p:nvPr/>
        </p:nvSpPr>
        <p:spPr bwMode="auto">
          <a:xfrm>
            <a:off x="6284622" y="4544459"/>
            <a:ext cx="1570032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Primary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coil</a:t>
            </a:r>
          </a:p>
        </p:txBody>
      </p:sp>
      <p:sp>
        <p:nvSpPr>
          <p:cNvPr id="10" name="ZoneTexte 7"/>
          <p:cNvSpPr txBox="1">
            <a:spLocks noChangeArrowheads="1"/>
          </p:cNvSpPr>
          <p:nvPr/>
        </p:nvSpPr>
        <p:spPr bwMode="auto">
          <a:xfrm>
            <a:off x="6159712" y="5366603"/>
            <a:ext cx="1819852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Secondary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coil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4953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pot core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7" descr="pot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900" y="1701712"/>
            <a:ext cx="3438525" cy="3305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8" descr="pot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6313" y="1341349"/>
            <a:ext cx="3211512" cy="5062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8951592" y="5423151"/>
            <a:ext cx="145905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RM series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8258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Torus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7" descr="pot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641" y="1830160"/>
            <a:ext cx="4712336" cy="3365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8" descr="pot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5277" y="1285195"/>
            <a:ext cx="2438400" cy="490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0671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circuits parameters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4896303" y="1989138"/>
            <a:ext cx="3600450" cy="3529012"/>
            <a:chOff x="1202" y="1298"/>
            <a:chExt cx="2268" cy="2223"/>
          </a:xfrm>
        </p:grpSpPr>
        <p:sp>
          <p:nvSpPr>
            <p:cNvPr id="7" name="Rectangle 8"/>
            <p:cNvSpPr>
              <a:spLocks noChangeArrowheads="1"/>
            </p:cNvSpPr>
            <p:nvPr/>
          </p:nvSpPr>
          <p:spPr bwMode="auto">
            <a:xfrm>
              <a:off x="1202" y="1298"/>
              <a:ext cx="2268" cy="222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grpSp>
          <p:nvGrpSpPr>
            <p:cNvPr id="10" name="Group 9"/>
            <p:cNvGrpSpPr>
              <a:grpSpLocks/>
            </p:cNvGrpSpPr>
            <p:nvPr/>
          </p:nvGrpSpPr>
          <p:grpSpPr bwMode="auto">
            <a:xfrm>
              <a:off x="1383" y="1480"/>
              <a:ext cx="1860" cy="1814"/>
              <a:chOff x="1383" y="1480"/>
              <a:chExt cx="1860" cy="1814"/>
            </a:xfrm>
          </p:grpSpPr>
          <p:sp>
            <p:nvSpPr>
              <p:cNvPr id="11" name="AutoShape 10"/>
              <p:cNvSpPr>
                <a:spLocks noChangeArrowheads="1"/>
              </p:cNvSpPr>
              <p:nvPr/>
            </p:nvSpPr>
            <p:spPr bwMode="auto">
              <a:xfrm>
                <a:off x="1429" y="1480"/>
                <a:ext cx="1814" cy="181"/>
              </a:xfrm>
              <a:prstGeom prst="parallelogram">
                <a:avLst>
                  <a:gd name="adj" fmla="val 123699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" name="AutoShape 11"/>
              <p:cNvSpPr>
                <a:spLocks noChangeArrowheads="1"/>
              </p:cNvSpPr>
              <p:nvPr/>
            </p:nvSpPr>
            <p:spPr bwMode="auto">
              <a:xfrm rot="5400000" flipH="1">
                <a:off x="2223" y="2273"/>
                <a:ext cx="1814" cy="227"/>
              </a:xfrm>
              <a:prstGeom prst="parallelogram">
                <a:avLst>
                  <a:gd name="adj" fmla="val 78395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12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163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13"/>
              <p:cNvSpPr>
                <a:spLocks noChangeArrowheads="1"/>
              </p:cNvSpPr>
              <p:nvPr/>
            </p:nvSpPr>
            <p:spPr bwMode="auto">
              <a:xfrm>
                <a:off x="1746" y="1979"/>
                <a:ext cx="953" cy="997"/>
              </a:xfrm>
              <a:prstGeom prst="rect">
                <a:avLst/>
              </a:prstGeom>
              <a:solidFill>
                <a:srgbClr val="FF99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AutoShape 14"/>
              <p:cNvSpPr>
                <a:spLocks noChangeArrowheads="1"/>
              </p:cNvSpPr>
              <p:nvPr/>
            </p:nvSpPr>
            <p:spPr bwMode="auto">
              <a:xfrm rot="5400000" flipH="1">
                <a:off x="1270" y="2273"/>
                <a:ext cx="1179" cy="227"/>
              </a:xfrm>
              <a:prstGeom prst="parallelogram">
                <a:avLst>
                  <a:gd name="adj" fmla="val 79278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AutoShape 15"/>
              <p:cNvSpPr>
                <a:spLocks noChangeArrowheads="1"/>
              </p:cNvSpPr>
              <p:nvPr/>
            </p:nvSpPr>
            <p:spPr bwMode="auto">
              <a:xfrm>
                <a:off x="1746" y="2795"/>
                <a:ext cx="1179" cy="181"/>
              </a:xfrm>
              <a:prstGeom prst="parallelogram">
                <a:avLst>
                  <a:gd name="adj" fmla="val 126808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AutoShape 16"/>
              <p:cNvSpPr>
                <a:spLocks noChangeArrowheads="1"/>
              </p:cNvSpPr>
              <p:nvPr/>
            </p:nvSpPr>
            <p:spPr bwMode="auto">
              <a:xfrm>
                <a:off x="1746" y="1797"/>
                <a:ext cx="1179" cy="181"/>
              </a:xfrm>
              <a:prstGeom prst="parallelogram">
                <a:avLst>
                  <a:gd name="adj" fmla="val 126808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" name="AutoShape 17"/>
              <p:cNvSpPr>
                <a:spLocks noChangeArrowheads="1"/>
              </p:cNvSpPr>
              <p:nvPr/>
            </p:nvSpPr>
            <p:spPr bwMode="auto">
              <a:xfrm rot="5400000" flipH="1">
                <a:off x="2223" y="2273"/>
                <a:ext cx="1179" cy="227"/>
              </a:xfrm>
              <a:prstGeom prst="parallelogram">
                <a:avLst>
                  <a:gd name="adj" fmla="val 79278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9" name="Rectangle 18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31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" name="Rectangle 19"/>
              <p:cNvSpPr>
                <a:spLocks noChangeArrowheads="1"/>
              </p:cNvSpPr>
              <p:nvPr/>
            </p:nvSpPr>
            <p:spPr bwMode="auto">
              <a:xfrm>
                <a:off x="2699" y="1888"/>
                <a:ext cx="317" cy="1315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" name="Rectangle 20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1633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2" name="Rectangle 21"/>
              <p:cNvSpPr>
                <a:spLocks noChangeArrowheads="1"/>
              </p:cNvSpPr>
              <p:nvPr/>
            </p:nvSpPr>
            <p:spPr bwMode="auto">
              <a:xfrm>
                <a:off x="1746" y="1979"/>
                <a:ext cx="953" cy="997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3" name="Rectangle 22"/>
              <p:cNvSpPr>
                <a:spLocks noChangeArrowheads="1"/>
              </p:cNvSpPr>
              <p:nvPr/>
            </p:nvSpPr>
            <p:spPr bwMode="auto">
              <a:xfrm>
                <a:off x="1837" y="2341"/>
                <a:ext cx="136" cy="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" name="Rectangle 23"/>
              <p:cNvSpPr>
                <a:spLocks noChangeArrowheads="1"/>
              </p:cNvSpPr>
              <p:nvPr/>
            </p:nvSpPr>
            <p:spPr bwMode="auto">
              <a:xfrm>
                <a:off x="1383" y="2478"/>
                <a:ext cx="227" cy="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5" name="AutoShape 24"/>
              <p:cNvSpPr>
                <a:spLocks noChangeArrowheads="1"/>
              </p:cNvSpPr>
              <p:nvPr/>
            </p:nvSpPr>
            <p:spPr bwMode="auto">
              <a:xfrm>
                <a:off x="1429" y="2432"/>
                <a:ext cx="544" cy="136"/>
              </a:xfrm>
              <a:prstGeom prst="parallelogram">
                <a:avLst>
                  <a:gd name="adj" fmla="val 171574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6" name="Rectangle 25"/>
              <p:cNvSpPr>
                <a:spLocks noChangeArrowheads="1"/>
              </p:cNvSpPr>
              <p:nvPr/>
            </p:nvSpPr>
            <p:spPr bwMode="auto">
              <a:xfrm>
                <a:off x="1429" y="2387"/>
                <a:ext cx="317" cy="91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7" name="Line 26"/>
              <p:cNvSpPr>
                <a:spLocks noChangeShapeType="1"/>
              </p:cNvSpPr>
              <p:nvPr/>
            </p:nvSpPr>
            <p:spPr bwMode="auto">
              <a:xfrm>
                <a:off x="1429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27"/>
              <p:cNvSpPr>
                <a:spLocks noChangeShapeType="1"/>
              </p:cNvSpPr>
              <p:nvPr/>
            </p:nvSpPr>
            <p:spPr bwMode="auto">
              <a:xfrm>
                <a:off x="1429" y="2478"/>
                <a:ext cx="31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28"/>
              <p:cNvSpPr>
                <a:spLocks noChangeShapeType="1"/>
              </p:cNvSpPr>
              <p:nvPr/>
            </p:nvSpPr>
            <p:spPr bwMode="auto">
              <a:xfrm flipV="1">
                <a:off x="1746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AutoShape 29"/>
              <p:cNvSpPr>
                <a:spLocks noChangeArrowheads="1"/>
              </p:cNvSpPr>
              <p:nvPr/>
            </p:nvSpPr>
            <p:spPr bwMode="auto">
              <a:xfrm rot="16200000" flipH="1">
                <a:off x="1746" y="2251"/>
                <a:ext cx="228" cy="227"/>
              </a:xfrm>
              <a:prstGeom prst="parallelogram">
                <a:avLst>
                  <a:gd name="adj" fmla="val 64752"/>
                </a:avLst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Line 30"/>
              <p:cNvSpPr>
                <a:spLocks noChangeShapeType="1"/>
              </p:cNvSpPr>
              <p:nvPr/>
            </p:nvSpPr>
            <p:spPr bwMode="auto">
              <a:xfrm>
                <a:off x="1746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31"/>
              <p:cNvSpPr>
                <a:spLocks noChangeShapeType="1"/>
              </p:cNvSpPr>
              <p:nvPr/>
            </p:nvSpPr>
            <p:spPr bwMode="auto">
              <a:xfrm flipV="1">
                <a:off x="1746" y="2341"/>
                <a:ext cx="227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32"/>
              <p:cNvSpPr>
                <a:spLocks noChangeShapeType="1"/>
              </p:cNvSpPr>
              <p:nvPr/>
            </p:nvSpPr>
            <p:spPr bwMode="auto">
              <a:xfrm flipV="1">
                <a:off x="1973" y="2251"/>
                <a:ext cx="0" cy="9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34" name="Line 33"/>
          <p:cNvSpPr>
            <a:spLocks noChangeShapeType="1"/>
          </p:cNvSpPr>
          <p:nvPr/>
        </p:nvSpPr>
        <p:spPr bwMode="auto">
          <a:xfrm flipH="1">
            <a:off x="4175578" y="3860800"/>
            <a:ext cx="10810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4"/>
          <p:cNvSpPr>
            <a:spLocks noChangeShapeType="1"/>
          </p:cNvSpPr>
          <p:nvPr/>
        </p:nvSpPr>
        <p:spPr bwMode="auto">
          <a:xfrm flipH="1">
            <a:off x="4175578" y="4005263"/>
            <a:ext cx="10810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35"/>
          <p:cNvSpPr>
            <a:spLocks noChangeShapeType="1"/>
          </p:cNvSpPr>
          <p:nvPr/>
        </p:nvSpPr>
        <p:spPr bwMode="auto">
          <a:xfrm>
            <a:off x="4393066" y="3573463"/>
            <a:ext cx="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6"/>
          <p:cNvSpPr>
            <a:spLocks noChangeShapeType="1"/>
          </p:cNvSpPr>
          <p:nvPr/>
        </p:nvSpPr>
        <p:spPr bwMode="auto">
          <a:xfrm flipV="1">
            <a:off x="4393066" y="4005263"/>
            <a:ext cx="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7"/>
          <p:cNvSpPr>
            <a:spLocks noChangeShapeType="1"/>
          </p:cNvSpPr>
          <p:nvPr/>
        </p:nvSpPr>
        <p:spPr bwMode="auto">
          <a:xfrm>
            <a:off x="4393066" y="3789363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Text Box 38"/>
          <p:cNvSpPr txBox="1">
            <a:spLocks noChangeArrowheads="1"/>
          </p:cNvSpPr>
          <p:nvPr/>
        </p:nvSpPr>
        <p:spPr bwMode="auto">
          <a:xfrm>
            <a:off x="3867603" y="3738563"/>
            <a:ext cx="285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0" name="AutoShape 39"/>
          <p:cNvSpPr>
            <a:spLocks/>
          </p:cNvSpPr>
          <p:nvPr/>
        </p:nvSpPr>
        <p:spPr bwMode="auto">
          <a:xfrm>
            <a:off x="8788853" y="1585913"/>
            <a:ext cx="1868488" cy="763587"/>
          </a:xfrm>
          <a:prstGeom prst="borderCallout2">
            <a:avLst>
              <a:gd name="adj1" fmla="val 14968"/>
              <a:gd name="adj2" fmla="val -4079"/>
              <a:gd name="adj3" fmla="val 14968"/>
              <a:gd name="adj4" fmla="val -53185"/>
              <a:gd name="adj5" fmla="val 222454"/>
              <a:gd name="adj6" fmla="val -104250"/>
            </a:avLst>
          </a:prstGeom>
          <a:noFill/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Surface “coilable”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b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CA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41" name="Text Box 40"/>
          <p:cNvSpPr txBox="1">
            <a:spLocks noChangeArrowheads="1"/>
          </p:cNvSpPr>
          <p:nvPr/>
        </p:nvSpPr>
        <p:spPr bwMode="auto">
          <a:xfrm>
            <a:off x="3240541" y="3357563"/>
            <a:ext cx="898525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Air-gap</a:t>
            </a:r>
          </a:p>
        </p:txBody>
      </p:sp>
      <p:sp>
        <p:nvSpPr>
          <p:cNvPr id="42" name="AutoShape 41"/>
          <p:cNvSpPr>
            <a:spLocks noChangeArrowheads="1"/>
          </p:cNvSpPr>
          <p:nvPr/>
        </p:nvSpPr>
        <p:spPr bwMode="auto">
          <a:xfrm>
            <a:off x="7272791" y="3789363"/>
            <a:ext cx="863600" cy="215900"/>
          </a:xfrm>
          <a:prstGeom prst="parallelogram">
            <a:avLst>
              <a:gd name="adj" fmla="val 173944"/>
            </a:avLst>
          </a:prstGeom>
          <a:solidFill>
            <a:srgbClr val="3366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43" name="AutoShape 42"/>
          <p:cNvSpPr>
            <a:spLocks/>
          </p:cNvSpPr>
          <p:nvPr/>
        </p:nvSpPr>
        <p:spPr bwMode="auto">
          <a:xfrm>
            <a:off x="9220653" y="2809875"/>
            <a:ext cx="1652588" cy="763588"/>
          </a:xfrm>
          <a:prstGeom prst="borderCallout2">
            <a:avLst>
              <a:gd name="adj1" fmla="val 14968"/>
              <a:gd name="adj2" fmla="val -4611"/>
              <a:gd name="adj3" fmla="val 14968"/>
              <a:gd name="adj4" fmla="val -40921"/>
              <a:gd name="adj5" fmla="val 137630"/>
              <a:gd name="adj6" fmla="val -78676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Effective area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A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4" name="Text Box 43"/>
          <p:cNvSpPr txBox="1">
            <a:spLocks noChangeArrowheads="1"/>
          </p:cNvSpPr>
          <p:nvPr/>
        </p:nvSpPr>
        <p:spPr bwMode="auto">
          <a:xfrm>
            <a:off x="4391478" y="5691188"/>
            <a:ext cx="5888038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Inductance factor: </a:t>
            </a: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A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L  </a:t>
            </a: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= Inductance obtained with ONE loop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4017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Critical constraints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3614058" y="1955524"/>
            <a:ext cx="6096000" cy="304698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Induction in the material: B &lt; </a:t>
            </a:r>
            <a:r>
              <a:rPr lang="en-CA" altLang="fr-FR" sz="2400" b="1" i="1" dirty="0" err="1">
                <a:latin typeface="Times New Roman" panose="02020603050405020304" pitchFamily="18" charset="0"/>
              </a:rPr>
              <a:t>B</a:t>
            </a:r>
            <a:r>
              <a:rPr lang="en-CA" altLang="fr-FR" sz="2400" b="1" i="1" baseline="-25000" dirty="0" err="1">
                <a:latin typeface="Times New Roman" panose="02020603050405020304" pitchFamily="18" charset="0"/>
              </a:rPr>
              <a:t>sat</a:t>
            </a:r>
            <a:endParaRPr lang="en-CA" altLang="fr-FR" sz="2400" b="1" i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	0,2 to 0,5 T for classical materials</a:t>
            </a: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Current density in the coil: </a:t>
            </a:r>
            <a:r>
              <a:rPr lang="en-CA" altLang="fr-FR" sz="2400" b="1" i="1" dirty="0">
                <a:latin typeface="Symbol" panose="05050102010706020507" pitchFamily="18" charset="2"/>
              </a:rPr>
              <a:t>d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&lt; </a:t>
            </a:r>
            <a:r>
              <a:rPr lang="en-CA" altLang="fr-FR" sz="2400" b="1" i="1" dirty="0" err="1">
                <a:latin typeface="Symbol" panose="05050102010706020507" pitchFamily="18" charset="2"/>
              </a:rPr>
              <a:t>d</a:t>
            </a:r>
            <a:r>
              <a:rPr lang="en-CA" altLang="fr-FR" sz="2400" b="1" i="1" baseline="-25000" dirty="0" err="1">
                <a:latin typeface="Times New Roman" panose="02020603050405020304" pitchFamily="18" charset="0"/>
              </a:rPr>
              <a:t>max</a:t>
            </a:r>
            <a:endParaRPr lang="en-CA" altLang="fr-FR" sz="2400" b="1" i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baseline="-25000" dirty="0">
                <a:latin typeface="Times New Roman" panose="02020603050405020304" pitchFamily="18" charset="0"/>
              </a:rPr>
              <a:t>	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5 A/mm</a:t>
            </a:r>
            <a:r>
              <a:rPr lang="en-CA" altLang="fr-FR" sz="2400" b="1" i="1" baseline="30000" dirty="0">
                <a:latin typeface="Times New Roman" panose="02020603050405020304" pitchFamily="18" charset="0"/>
              </a:rPr>
              <a:t>2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for copper</a:t>
            </a: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60521" y="4876217"/>
            <a:ext cx="3636000" cy="684000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>
            <a:spAutoFit/>
          </a:bodyPr>
          <a:lstStyle/>
          <a:p>
            <a:pPr algn="ctr">
              <a:spcBef>
                <a:spcPct val="0"/>
              </a:spcBef>
            </a:pPr>
            <a:r>
              <a:rPr lang="en-CA" altLang="fr-FR" sz="2800" b="1" i="1" dirty="0">
                <a:latin typeface="Times New Roman" panose="02020603050405020304" pitchFamily="18" charset="0"/>
              </a:rPr>
              <a:t>Sizing : product </a:t>
            </a:r>
            <a:r>
              <a:rPr lang="en-CA" altLang="fr-FR" sz="2800" b="1" i="1" dirty="0" err="1">
                <a:latin typeface="Times New Roman" panose="02020603050405020304" pitchFamily="18" charset="0"/>
              </a:rPr>
              <a:t>A</a:t>
            </a:r>
            <a:r>
              <a:rPr lang="en-CA" altLang="fr-FR" sz="2800" b="1" i="1" baseline="-25000" dirty="0" err="1">
                <a:latin typeface="Times New Roman" panose="02020603050405020304" pitchFamily="18" charset="0"/>
              </a:rPr>
              <a:t>e</a:t>
            </a:r>
            <a:r>
              <a:rPr lang="en-CA" altLang="fr-FR" sz="2800" b="1" i="1" dirty="0" err="1">
                <a:latin typeface="Times New Roman" panose="02020603050405020304" pitchFamily="18" charset="0"/>
              </a:rPr>
              <a:t>.S</a:t>
            </a:r>
            <a:r>
              <a:rPr lang="en-CA" altLang="fr-FR" sz="2800" b="1" i="1" baseline="-25000" dirty="0" err="1">
                <a:latin typeface="Times New Roman" panose="02020603050405020304" pitchFamily="18" charset="0"/>
              </a:rPr>
              <a:t>b</a:t>
            </a:r>
            <a:endParaRPr lang="en-CA" altLang="fr-FR" sz="2800" b="1" i="1" baseline="-25000" dirty="0">
              <a:latin typeface="Times New Roman" panose="02020603050405020304" pitchFamily="18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9578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2935650" y="1172309"/>
            <a:ext cx="3169652" cy="1889607"/>
            <a:chOff x="603" y="1355"/>
            <a:chExt cx="1642" cy="896"/>
          </a:xfrm>
        </p:grpSpPr>
        <p:grpSp>
          <p:nvGrpSpPr>
            <p:cNvPr id="7" name="Group 8"/>
            <p:cNvGrpSpPr>
              <a:grpSpLocks/>
            </p:cNvGrpSpPr>
            <p:nvPr/>
          </p:nvGrpSpPr>
          <p:grpSpPr bwMode="auto">
            <a:xfrm>
              <a:off x="1241" y="1619"/>
              <a:ext cx="360" cy="632"/>
              <a:chOff x="2767" y="1426"/>
              <a:chExt cx="360" cy="632"/>
            </a:xfrm>
          </p:grpSpPr>
          <p:grpSp>
            <p:nvGrpSpPr>
              <p:cNvPr id="24" name="Group 9"/>
              <p:cNvGrpSpPr>
                <a:grpSpLocks/>
              </p:cNvGrpSpPr>
              <p:nvPr/>
            </p:nvGrpSpPr>
            <p:grpSpPr bwMode="auto">
              <a:xfrm>
                <a:off x="2767" y="1482"/>
                <a:ext cx="120" cy="528"/>
                <a:chOff x="2767" y="1482"/>
                <a:chExt cx="120" cy="528"/>
              </a:xfrm>
            </p:grpSpPr>
            <p:grpSp>
              <p:nvGrpSpPr>
                <p:cNvPr id="78" name="Group 10"/>
                <p:cNvGrpSpPr>
                  <a:grpSpLocks/>
                </p:cNvGrpSpPr>
                <p:nvPr/>
              </p:nvGrpSpPr>
              <p:grpSpPr bwMode="auto">
                <a:xfrm>
                  <a:off x="2767" y="1854"/>
                  <a:ext cx="120" cy="64"/>
                  <a:chOff x="2767" y="1854"/>
                  <a:chExt cx="120" cy="64"/>
                </a:xfrm>
              </p:grpSpPr>
              <p:grpSp>
                <p:nvGrpSpPr>
                  <p:cNvPr id="118" name="Group 11"/>
                  <p:cNvGrpSpPr>
                    <a:grpSpLocks/>
                  </p:cNvGrpSpPr>
                  <p:nvPr/>
                </p:nvGrpSpPr>
                <p:grpSpPr bwMode="auto">
                  <a:xfrm>
                    <a:off x="2767" y="1854"/>
                    <a:ext cx="120" cy="52"/>
                    <a:chOff x="2767" y="1854"/>
                    <a:chExt cx="120" cy="52"/>
                  </a:xfrm>
                </p:grpSpPr>
                <p:sp>
                  <p:nvSpPr>
                    <p:cNvPr id="122" name="Arc 12"/>
                    <p:cNvSpPr>
                      <a:spLocks/>
                    </p:cNvSpPr>
                    <p:nvPr/>
                  </p:nvSpPr>
                  <p:spPr bwMode="auto">
                    <a:xfrm>
                      <a:off x="2827" y="1854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23" name="Arc 13"/>
                    <p:cNvSpPr>
                      <a:spLocks/>
                    </p:cNvSpPr>
                    <p:nvPr/>
                  </p:nvSpPr>
                  <p:spPr bwMode="auto">
                    <a:xfrm>
                      <a:off x="2767" y="1882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19" name="Group 14"/>
                  <p:cNvGrpSpPr>
                    <a:grpSpLocks/>
                  </p:cNvGrpSpPr>
                  <p:nvPr/>
                </p:nvGrpSpPr>
                <p:grpSpPr bwMode="auto">
                  <a:xfrm>
                    <a:off x="2767" y="1866"/>
                    <a:ext cx="120" cy="52"/>
                    <a:chOff x="2767" y="1866"/>
                    <a:chExt cx="120" cy="52"/>
                  </a:xfrm>
                </p:grpSpPr>
                <p:sp>
                  <p:nvSpPr>
                    <p:cNvPr id="120" name="Arc 15"/>
                    <p:cNvSpPr>
                      <a:spLocks/>
                    </p:cNvSpPr>
                    <p:nvPr/>
                  </p:nvSpPr>
                  <p:spPr bwMode="auto">
                    <a:xfrm>
                      <a:off x="2827" y="1866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21" name="Arc 16"/>
                    <p:cNvSpPr>
                      <a:spLocks/>
                    </p:cNvSpPr>
                    <p:nvPr/>
                  </p:nvSpPr>
                  <p:spPr bwMode="auto">
                    <a:xfrm>
                      <a:off x="2767" y="1866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79" name="Group 17"/>
                <p:cNvGrpSpPr>
                  <a:grpSpLocks/>
                </p:cNvGrpSpPr>
                <p:nvPr/>
              </p:nvGrpSpPr>
              <p:grpSpPr bwMode="auto">
                <a:xfrm>
                  <a:off x="2767" y="1798"/>
                  <a:ext cx="120" cy="64"/>
                  <a:chOff x="2767" y="1798"/>
                  <a:chExt cx="120" cy="64"/>
                </a:xfrm>
              </p:grpSpPr>
              <p:grpSp>
                <p:nvGrpSpPr>
                  <p:cNvPr id="112" name="Group 18"/>
                  <p:cNvGrpSpPr>
                    <a:grpSpLocks/>
                  </p:cNvGrpSpPr>
                  <p:nvPr/>
                </p:nvGrpSpPr>
                <p:grpSpPr bwMode="auto">
                  <a:xfrm>
                    <a:off x="2767" y="1798"/>
                    <a:ext cx="120" cy="52"/>
                    <a:chOff x="2767" y="1798"/>
                    <a:chExt cx="120" cy="52"/>
                  </a:xfrm>
                </p:grpSpPr>
                <p:sp>
                  <p:nvSpPr>
                    <p:cNvPr id="116" name="Arc 19"/>
                    <p:cNvSpPr>
                      <a:spLocks/>
                    </p:cNvSpPr>
                    <p:nvPr/>
                  </p:nvSpPr>
                  <p:spPr bwMode="auto">
                    <a:xfrm>
                      <a:off x="2827" y="1798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7" name="Arc 20"/>
                    <p:cNvSpPr>
                      <a:spLocks/>
                    </p:cNvSpPr>
                    <p:nvPr/>
                  </p:nvSpPr>
                  <p:spPr bwMode="auto">
                    <a:xfrm>
                      <a:off x="2767" y="1826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13" name="Group 21"/>
                  <p:cNvGrpSpPr>
                    <a:grpSpLocks/>
                  </p:cNvGrpSpPr>
                  <p:nvPr/>
                </p:nvGrpSpPr>
                <p:grpSpPr bwMode="auto">
                  <a:xfrm>
                    <a:off x="2767" y="1810"/>
                    <a:ext cx="120" cy="52"/>
                    <a:chOff x="2767" y="1810"/>
                    <a:chExt cx="120" cy="52"/>
                  </a:xfrm>
                </p:grpSpPr>
                <p:sp>
                  <p:nvSpPr>
                    <p:cNvPr id="114" name="Arc 22"/>
                    <p:cNvSpPr>
                      <a:spLocks/>
                    </p:cNvSpPr>
                    <p:nvPr/>
                  </p:nvSpPr>
                  <p:spPr bwMode="auto">
                    <a:xfrm>
                      <a:off x="2827" y="1810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5" name="Arc 23"/>
                    <p:cNvSpPr>
                      <a:spLocks/>
                    </p:cNvSpPr>
                    <p:nvPr/>
                  </p:nvSpPr>
                  <p:spPr bwMode="auto">
                    <a:xfrm>
                      <a:off x="2767" y="1810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0" name="Group 24"/>
                <p:cNvGrpSpPr>
                  <a:grpSpLocks/>
                </p:cNvGrpSpPr>
                <p:nvPr/>
              </p:nvGrpSpPr>
              <p:grpSpPr bwMode="auto">
                <a:xfrm>
                  <a:off x="2767" y="1742"/>
                  <a:ext cx="120" cy="64"/>
                  <a:chOff x="2767" y="1742"/>
                  <a:chExt cx="120" cy="64"/>
                </a:xfrm>
              </p:grpSpPr>
              <p:grpSp>
                <p:nvGrpSpPr>
                  <p:cNvPr id="106" name="Group 25"/>
                  <p:cNvGrpSpPr>
                    <a:grpSpLocks/>
                  </p:cNvGrpSpPr>
                  <p:nvPr/>
                </p:nvGrpSpPr>
                <p:grpSpPr bwMode="auto">
                  <a:xfrm>
                    <a:off x="2767" y="1742"/>
                    <a:ext cx="120" cy="52"/>
                    <a:chOff x="2767" y="1742"/>
                    <a:chExt cx="120" cy="52"/>
                  </a:xfrm>
                </p:grpSpPr>
                <p:sp>
                  <p:nvSpPr>
                    <p:cNvPr id="110" name="Arc 26"/>
                    <p:cNvSpPr>
                      <a:spLocks/>
                    </p:cNvSpPr>
                    <p:nvPr/>
                  </p:nvSpPr>
                  <p:spPr bwMode="auto">
                    <a:xfrm>
                      <a:off x="2827" y="1742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1" name="Arc 27"/>
                    <p:cNvSpPr>
                      <a:spLocks/>
                    </p:cNvSpPr>
                    <p:nvPr/>
                  </p:nvSpPr>
                  <p:spPr bwMode="auto">
                    <a:xfrm>
                      <a:off x="2767" y="1770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7" name="Group 28"/>
                  <p:cNvGrpSpPr>
                    <a:grpSpLocks/>
                  </p:cNvGrpSpPr>
                  <p:nvPr/>
                </p:nvGrpSpPr>
                <p:grpSpPr bwMode="auto">
                  <a:xfrm>
                    <a:off x="2767" y="1754"/>
                    <a:ext cx="120" cy="52"/>
                    <a:chOff x="2767" y="1754"/>
                    <a:chExt cx="120" cy="52"/>
                  </a:xfrm>
                </p:grpSpPr>
                <p:sp>
                  <p:nvSpPr>
                    <p:cNvPr id="108" name="Arc 29"/>
                    <p:cNvSpPr>
                      <a:spLocks/>
                    </p:cNvSpPr>
                    <p:nvPr/>
                  </p:nvSpPr>
                  <p:spPr bwMode="auto">
                    <a:xfrm>
                      <a:off x="2827" y="1754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9" name="Arc 30"/>
                    <p:cNvSpPr>
                      <a:spLocks/>
                    </p:cNvSpPr>
                    <p:nvPr/>
                  </p:nvSpPr>
                  <p:spPr bwMode="auto">
                    <a:xfrm>
                      <a:off x="2767" y="1754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1" name="Group 31"/>
                <p:cNvGrpSpPr>
                  <a:grpSpLocks/>
                </p:cNvGrpSpPr>
                <p:nvPr/>
              </p:nvGrpSpPr>
              <p:grpSpPr bwMode="auto">
                <a:xfrm>
                  <a:off x="2767" y="1686"/>
                  <a:ext cx="120" cy="60"/>
                  <a:chOff x="2767" y="1686"/>
                  <a:chExt cx="120" cy="60"/>
                </a:xfrm>
              </p:grpSpPr>
              <p:grpSp>
                <p:nvGrpSpPr>
                  <p:cNvPr id="100" name="Group 32"/>
                  <p:cNvGrpSpPr>
                    <a:grpSpLocks/>
                  </p:cNvGrpSpPr>
                  <p:nvPr/>
                </p:nvGrpSpPr>
                <p:grpSpPr bwMode="auto">
                  <a:xfrm>
                    <a:off x="2767" y="1686"/>
                    <a:ext cx="120" cy="52"/>
                    <a:chOff x="2767" y="1686"/>
                    <a:chExt cx="120" cy="52"/>
                  </a:xfrm>
                </p:grpSpPr>
                <p:sp>
                  <p:nvSpPr>
                    <p:cNvPr id="104" name="Arc 33"/>
                    <p:cNvSpPr>
                      <a:spLocks/>
                    </p:cNvSpPr>
                    <p:nvPr/>
                  </p:nvSpPr>
                  <p:spPr bwMode="auto">
                    <a:xfrm>
                      <a:off x="2827" y="1686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5" name="Arc 34"/>
                    <p:cNvSpPr>
                      <a:spLocks/>
                    </p:cNvSpPr>
                    <p:nvPr/>
                  </p:nvSpPr>
                  <p:spPr bwMode="auto">
                    <a:xfrm>
                      <a:off x="2767" y="1714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1" name="Group 35"/>
                  <p:cNvGrpSpPr>
                    <a:grpSpLocks/>
                  </p:cNvGrpSpPr>
                  <p:nvPr/>
                </p:nvGrpSpPr>
                <p:grpSpPr bwMode="auto">
                  <a:xfrm>
                    <a:off x="2767" y="1698"/>
                    <a:ext cx="120" cy="48"/>
                    <a:chOff x="2767" y="1698"/>
                    <a:chExt cx="120" cy="48"/>
                  </a:xfrm>
                </p:grpSpPr>
                <p:sp>
                  <p:nvSpPr>
                    <p:cNvPr id="102" name="Arc 36"/>
                    <p:cNvSpPr>
                      <a:spLocks/>
                    </p:cNvSpPr>
                    <p:nvPr/>
                  </p:nvSpPr>
                  <p:spPr bwMode="auto">
                    <a:xfrm>
                      <a:off x="2827" y="1698"/>
                      <a:ext cx="60" cy="48"/>
                    </a:xfrm>
                    <a:custGeom>
                      <a:avLst/>
                      <a:gdLst>
                        <a:gd name="T0" fmla="*/ 0 w 21705"/>
                        <a:gd name="T1" fmla="*/ 0 h 21600"/>
                        <a:gd name="T2" fmla="*/ 0 w 21705"/>
                        <a:gd name="T3" fmla="*/ 0 h 21600"/>
                        <a:gd name="T4" fmla="*/ 0 w 21705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5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5" y="0"/>
                          </a:cubicBezTo>
                          <a:cubicBezTo>
                            <a:pt x="12034" y="0"/>
                            <a:pt x="21705" y="9670"/>
                            <a:pt x="21705" y="21600"/>
                          </a:cubicBezTo>
                        </a:path>
                        <a:path w="21705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5" y="0"/>
                          </a:cubicBezTo>
                          <a:cubicBezTo>
                            <a:pt x="12034" y="0"/>
                            <a:pt x="21705" y="9670"/>
                            <a:pt x="21705" y="21600"/>
                          </a:cubicBezTo>
                          <a:lnTo>
                            <a:pt x="105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3" name="Arc 37"/>
                    <p:cNvSpPr>
                      <a:spLocks/>
                    </p:cNvSpPr>
                    <p:nvPr/>
                  </p:nvSpPr>
                  <p:spPr bwMode="auto">
                    <a:xfrm>
                      <a:off x="2767" y="1698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2" name="Group 38"/>
                <p:cNvGrpSpPr>
                  <a:grpSpLocks/>
                </p:cNvGrpSpPr>
                <p:nvPr/>
              </p:nvGrpSpPr>
              <p:grpSpPr bwMode="auto">
                <a:xfrm>
                  <a:off x="2767" y="1630"/>
                  <a:ext cx="120" cy="56"/>
                  <a:chOff x="2767" y="1630"/>
                  <a:chExt cx="120" cy="56"/>
                </a:xfrm>
              </p:grpSpPr>
              <p:grpSp>
                <p:nvGrpSpPr>
                  <p:cNvPr id="94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2767" y="1630"/>
                    <a:ext cx="120" cy="52"/>
                    <a:chOff x="2767" y="1630"/>
                    <a:chExt cx="120" cy="52"/>
                  </a:xfrm>
                </p:grpSpPr>
                <p:sp>
                  <p:nvSpPr>
                    <p:cNvPr id="98" name="Arc 40"/>
                    <p:cNvSpPr>
                      <a:spLocks/>
                    </p:cNvSpPr>
                    <p:nvPr/>
                  </p:nvSpPr>
                  <p:spPr bwMode="auto">
                    <a:xfrm>
                      <a:off x="2827" y="1630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9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2767" y="1658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95" name="Group 42"/>
                  <p:cNvGrpSpPr>
                    <a:grpSpLocks/>
                  </p:cNvGrpSpPr>
                  <p:nvPr/>
                </p:nvGrpSpPr>
                <p:grpSpPr bwMode="auto">
                  <a:xfrm>
                    <a:off x="2767" y="1634"/>
                    <a:ext cx="120" cy="52"/>
                    <a:chOff x="2767" y="1634"/>
                    <a:chExt cx="120" cy="52"/>
                  </a:xfrm>
                </p:grpSpPr>
                <p:sp>
                  <p:nvSpPr>
                    <p:cNvPr id="96" name="Arc 43"/>
                    <p:cNvSpPr>
                      <a:spLocks/>
                    </p:cNvSpPr>
                    <p:nvPr/>
                  </p:nvSpPr>
                  <p:spPr bwMode="auto">
                    <a:xfrm>
                      <a:off x="2827" y="1634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7" name="Arc 44"/>
                    <p:cNvSpPr>
                      <a:spLocks/>
                    </p:cNvSpPr>
                    <p:nvPr/>
                  </p:nvSpPr>
                  <p:spPr bwMode="auto">
                    <a:xfrm>
                      <a:off x="2767" y="1634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3" name="Group 45"/>
                <p:cNvGrpSpPr>
                  <a:grpSpLocks/>
                </p:cNvGrpSpPr>
                <p:nvPr/>
              </p:nvGrpSpPr>
              <p:grpSpPr bwMode="auto">
                <a:xfrm>
                  <a:off x="2767" y="1570"/>
                  <a:ext cx="120" cy="60"/>
                  <a:chOff x="2767" y="1570"/>
                  <a:chExt cx="120" cy="60"/>
                </a:xfrm>
              </p:grpSpPr>
              <p:grpSp>
                <p:nvGrpSpPr>
                  <p:cNvPr id="88" name="Group 46"/>
                  <p:cNvGrpSpPr>
                    <a:grpSpLocks/>
                  </p:cNvGrpSpPr>
                  <p:nvPr/>
                </p:nvGrpSpPr>
                <p:grpSpPr bwMode="auto">
                  <a:xfrm>
                    <a:off x="2767" y="1570"/>
                    <a:ext cx="120" cy="48"/>
                    <a:chOff x="2767" y="1570"/>
                    <a:chExt cx="120" cy="48"/>
                  </a:xfrm>
                </p:grpSpPr>
                <p:sp>
                  <p:nvSpPr>
                    <p:cNvPr id="92" name="Arc 47"/>
                    <p:cNvSpPr>
                      <a:spLocks/>
                    </p:cNvSpPr>
                    <p:nvPr/>
                  </p:nvSpPr>
                  <p:spPr bwMode="auto">
                    <a:xfrm>
                      <a:off x="2827" y="1570"/>
                      <a:ext cx="60" cy="48"/>
                    </a:xfrm>
                    <a:custGeom>
                      <a:avLst/>
                      <a:gdLst>
                        <a:gd name="T0" fmla="*/ 0 w 21707"/>
                        <a:gd name="T1" fmla="*/ 0 h 21600"/>
                        <a:gd name="T2" fmla="*/ 0 w 21707"/>
                        <a:gd name="T3" fmla="*/ 0 h 21600"/>
                        <a:gd name="T4" fmla="*/ 0 w 21707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7" h="21600" fill="none" extrusionOk="0">
                          <a:moveTo>
                            <a:pt x="21707" y="0"/>
                          </a:moveTo>
                          <a:cubicBezTo>
                            <a:pt x="21707" y="11929"/>
                            <a:pt x="12036" y="21600"/>
                            <a:pt x="107" y="21600"/>
                          </a:cubicBezTo>
                          <a:cubicBezTo>
                            <a:pt x="71" y="21600"/>
                            <a:pt x="35" y="21599"/>
                            <a:pt x="0" y="21599"/>
                          </a:cubicBezTo>
                        </a:path>
                        <a:path w="21707" h="21600" stroke="0" extrusionOk="0">
                          <a:moveTo>
                            <a:pt x="21707" y="0"/>
                          </a:moveTo>
                          <a:cubicBezTo>
                            <a:pt x="21707" y="11929"/>
                            <a:pt x="12036" y="21600"/>
                            <a:pt x="107" y="21600"/>
                          </a:cubicBezTo>
                          <a:cubicBezTo>
                            <a:pt x="71" y="21600"/>
                            <a:pt x="35" y="21599"/>
                            <a:pt x="0" y="21599"/>
                          </a:cubicBezTo>
                          <a:lnTo>
                            <a:pt x="107" y="0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3" name="Arc 48"/>
                    <p:cNvSpPr>
                      <a:spLocks/>
                    </p:cNvSpPr>
                    <p:nvPr/>
                  </p:nvSpPr>
                  <p:spPr bwMode="auto">
                    <a:xfrm>
                      <a:off x="2767" y="1598"/>
                      <a:ext cx="60" cy="20"/>
                    </a:xfrm>
                    <a:custGeom>
                      <a:avLst/>
                      <a:gdLst>
                        <a:gd name="T0" fmla="*/ 0 w 21600"/>
                        <a:gd name="T1" fmla="*/ 0 h 21926"/>
                        <a:gd name="T2" fmla="*/ 0 w 21600"/>
                        <a:gd name="T3" fmla="*/ 0 h 21926"/>
                        <a:gd name="T4" fmla="*/ 0 w 21600"/>
                        <a:gd name="T5" fmla="*/ 0 h 21926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926" fill="none" extrusionOk="0">
                          <a:moveTo>
                            <a:pt x="21509" y="21925"/>
                          </a:moveTo>
                          <a:cubicBezTo>
                            <a:pt x="9615" y="21875"/>
                            <a:pt x="0" y="12219"/>
                            <a:pt x="0" y="326"/>
                          </a:cubicBezTo>
                          <a:cubicBezTo>
                            <a:pt x="-1" y="217"/>
                            <a:pt x="0" y="108"/>
                            <a:pt x="2" y="0"/>
                          </a:cubicBezTo>
                        </a:path>
                        <a:path w="21600" h="21926" stroke="0" extrusionOk="0">
                          <a:moveTo>
                            <a:pt x="21509" y="21925"/>
                          </a:moveTo>
                          <a:cubicBezTo>
                            <a:pt x="9615" y="21875"/>
                            <a:pt x="0" y="12219"/>
                            <a:pt x="0" y="326"/>
                          </a:cubicBezTo>
                          <a:cubicBezTo>
                            <a:pt x="-1" y="217"/>
                            <a:pt x="0" y="108"/>
                            <a:pt x="2" y="0"/>
                          </a:cubicBezTo>
                          <a:lnTo>
                            <a:pt x="21600" y="326"/>
                          </a:lnTo>
                          <a:lnTo>
                            <a:pt x="21509" y="21925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89" name="Group 49"/>
                  <p:cNvGrpSpPr>
                    <a:grpSpLocks/>
                  </p:cNvGrpSpPr>
                  <p:nvPr/>
                </p:nvGrpSpPr>
                <p:grpSpPr bwMode="auto">
                  <a:xfrm>
                    <a:off x="2767" y="1578"/>
                    <a:ext cx="120" cy="52"/>
                    <a:chOff x="2767" y="1578"/>
                    <a:chExt cx="120" cy="52"/>
                  </a:xfrm>
                </p:grpSpPr>
                <p:sp>
                  <p:nvSpPr>
                    <p:cNvPr id="90" name="Arc 50"/>
                    <p:cNvSpPr>
                      <a:spLocks/>
                    </p:cNvSpPr>
                    <p:nvPr/>
                  </p:nvSpPr>
                  <p:spPr bwMode="auto">
                    <a:xfrm>
                      <a:off x="2827" y="1578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1" name="Arc 51"/>
                    <p:cNvSpPr>
                      <a:spLocks/>
                    </p:cNvSpPr>
                    <p:nvPr/>
                  </p:nvSpPr>
                  <p:spPr bwMode="auto">
                    <a:xfrm>
                      <a:off x="2767" y="1578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84" name="Arc 52"/>
                <p:cNvSpPr>
                  <a:spLocks/>
                </p:cNvSpPr>
                <p:nvPr/>
              </p:nvSpPr>
              <p:spPr bwMode="auto">
                <a:xfrm>
                  <a:off x="2827" y="1522"/>
                  <a:ext cx="60" cy="52"/>
                </a:xfrm>
                <a:custGeom>
                  <a:avLst/>
                  <a:gdLst>
                    <a:gd name="T0" fmla="*/ 0 w 21706"/>
                    <a:gd name="T1" fmla="*/ 0 h 21600"/>
                    <a:gd name="T2" fmla="*/ 0 w 21706"/>
                    <a:gd name="T3" fmla="*/ 0 h 21600"/>
                    <a:gd name="T4" fmla="*/ 0 w 21706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6" h="21600" fill="none" extrusionOk="0">
                      <a:moveTo>
                        <a:pt x="0" y="0"/>
                      </a:moveTo>
                      <a:cubicBezTo>
                        <a:pt x="35" y="0"/>
                        <a:pt x="70" y="-1"/>
                        <a:pt x="106" y="0"/>
                      </a:cubicBezTo>
                      <a:cubicBezTo>
                        <a:pt x="11985" y="0"/>
                        <a:pt x="21635" y="9593"/>
                        <a:pt x="21705" y="21473"/>
                      </a:cubicBezTo>
                    </a:path>
                    <a:path w="21706" h="21600" stroke="0" extrusionOk="0">
                      <a:moveTo>
                        <a:pt x="0" y="0"/>
                      </a:moveTo>
                      <a:cubicBezTo>
                        <a:pt x="35" y="0"/>
                        <a:pt x="70" y="-1"/>
                        <a:pt x="106" y="0"/>
                      </a:cubicBezTo>
                      <a:cubicBezTo>
                        <a:pt x="11985" y="0"/>
                        <a:pt x="21635" y="9593"/>
                        <a:pt x="21705" y="21473"/>
                      </a:cubicBezTo>
                      <a:lnTo>
                        <a:pt x="106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5" name="Arc 53"/>
                <p:cNvSpPr>
                  <a:spLocks/>
                </p:cNvSpPr>
                <p:nvPr/>
              </p:nvSpPr>
              <p:spPr bwMode="auto">
                <a:xfrm>
                  <a:off x="2827" y="1910"/>
                  <a:ext cx="60" cy="52"/>
                </a:xfrm>
                <a:custGeom>
                  <a:avLst/>
                  <a:gdLst>
                    <a:gd name="T0" fmla="*/ 0 w 21708"/>
                    <a:gd name="T1" fmla="*/ 0 h 21727"/>
                    <a:gd name="T2" fmla="*/ 0 w 21708"/>
                    <a:gd name="T3" fmla="*/ 0 h 21727"/>
                    <a:gd name="T4" fmla="*/ 0 w 21708"/>
                    <a:gd name="T5" fmla="*/ 0 h 2172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8" h="21727" fill="none" extrusionOk="0">
                      <a:moveTo>
                        <a:pt x="21707" y="0"/>
                      </a:moveTo>
                      <a:cubicBezTo>
                        <a:pt x="21707" y="42"/>
                        <a:pt x="21708" y="84"/>
                        <a:pt x="21708" y="127"/>
                      </a:cubicBezTo>
                      <a:cubicBezTo>
                        <a:pt x="21708" y="12056"/>
                        <a:pt x="12037" y="21727"/>
                        <a:pt x="108" y="21727"/>
                      </a:cubicBezTo>
                      <a:cubicBezTo>
                        <a:pt x="72" y="21727"/>
                        <a:pt x="36" y="21726"/>
                        <a:pt x="0" y="21726"/>
                      </a:cubicBezTo>
                    </a:path>
                    <a:path w="21708" h="21727" stroke="0" extrusionOk="0">
                      <a:moveTo>
                        <a:pt x="21707" y="0"/>
                      </a:moveTo>
                      <a:cubicBezTo>
                        <a:pt x="21707" y="42"/>
                        <a:pt x="21708" y="84"/>
                        <a:pt x="21708" y="127"/>
                      </a:cubicBezTo>
                      <a:cubicBezTo>
                        <a:pt x="21708" y="12056"/>
                        <a:pt x="12037" y="21727"/>
                        <a:pt x="108" y="21727"/>
                      </a:cubicBezTo>
                      <a:cubicBezTo>
                        <a:pt x="72" y="21727"/>
                        <a:pt x="36" y="21726"/>
                        <a:pt x="0" y="21726"/>
                      </a:cubicBezTo>
                      <a:lnTo>
                        <a:pt x="108" y="127"/>
                      </a:lnTo>
                      <a:lnTo>
                        <a:pt x="21707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6" name="Line 54"/>
                <p:cNvSpPr>
                  <a:spLocks noChangeShapeType="1"/>
                </p:cNvSpPr>
                <p:nvPr/>
              </p:nvSpPr>
              <p:spPr bwMode="auto">
                <a:xfrm flipV="1">
                  <a:off x="2823" y="1482"/>
                  <a:ext cx="1" cy="40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7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2823" y="1962"/>
                  <a:ext cx="1" cy="48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25" name="Line 56"/>
              <p:cNvSpPr>
                <a:spLocks noChangeShapeType="1"/>
              </p:cNvSpPr>
              <p:nvPr/>
            </p:nvSpPr>
            <p:spPr bwMode="auto">
              <a:xfrm flipV="1">
                <a:off x="3071" y="1426"/>
                <a:ext cx="1" cy="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26" name="Group 57"/>
              <p:cNvGrpSpPr>
                <a:grpSpLocks/>
              </p:cNvGrpSpPr>
              <p:nvPr/>
            </p:nvGrpSpPr>
            <p:grpSpPr bwMode="auto">
              <a:xfrm>
                <a:off x="3015" y="1482"/>
                <a:ext cx="112" cy="528"/>
                <a:chOff x="3015" y="1482"/>
                <a:chExt cx="112" cy="528"/>
              </a:xfrm>
            </p:grpSpPr>
            <p:grpSp>
              <p:nvGrpSpPr>
                <p:cNvPr id="32" name="Group 58"/>
                <p:cNvGrpSpPr>
                  <a:grpSpLocks/>
                </p:cNvGrpSpPr>
                <p:nvPr/>
              </p:nvGrpSpPr>
              <p:grpSpPr bwMode="auto">
                <a:xfrm>
                  <a:off x="3015" y="1854"/>
                  <a:ext cx="112" cy="64"/>
                  <a:chOff x="3015" y="1854"/>
                  <a:chExt cx="112" cy="64"/>
                </a:xfrm>
              </p:grpSpPr>
              <p:grpSp>
                <p:nvGrpSpPr>
                  <p:cNvPr id="72" name="Group 59"/>
                  <p:cNvGrpSpPr>
                    <a:grpSpLocks/>
                  </p:cNvGrpSpPr>
                  <p:nvPr/>
                </p:nvGrpSpPr>
                <p:grpSpPr bwMode="auto">
                  <a:xfrm>
                    <a:off x="3015" y="1854"/>
                    <a:ext cx="112" cy="52"/>
                    <a:chOff x="3015" y="1854"/>
                    <a:chExt cx="112" cy="52"/>
                  </a:xfrm>
                </p:grpSpPr>
                <p:sp>
                  <p:nvSpPr>
                    <p:cNvPr id="76" name="Arc 60"/>
                    <p:cNvSpPr>
                      <a:spLocks/>
                    </p:cNvSpPr>
                    <p:nvPr/>
                  </p:nvSpPr>
                  <p:spPr bwMode="auto">
                    <a:xfrm>
                      <a:off x="3015" y="185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7" name="Arc 61"/>
                    <p:cNvSpPr>
                      <a:spLocks/>
                    </p:cNvSpPr>
                    <p:nvPr/>
                  </p:nvSpPr>
                  <p:spPr bwMode="auto">
                    <a:xfrm>
                      <a:off x="3071" y="1882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73" name="Group 62"/>
                  <p:cNvGrpSpPr>
                    <a:grpSpLocks/>
                  </p:cNvGrpSpPr>
                  <p:nvPr/>
                </p:nvGrpSpPr>
                <p:grpSpPr bwMode="auto">
                  <a:xfrm>
                    <a:off x="3015" y="1866"/>
                    <a:ext cx="112" cy="52"/>
                    <a:chOff x="3015" y="1866"/>
                    <a:chExt cx="112" cy="52"/>
                  </a:xfrm>
                </p:grpSpPr>
                <p:sp>
                  <p:nvSpPr>
                    <p:cNvPr id="74" name="Arc 63"/>
                    <p:cNvSpPr>
                      <a:spLocks/>
                    </p:cNvSpPr>
                    <p:nvPr/>
                  </p:nvSpPr>
                  <p:spPr bwMode="auto">
                    <a:xfrm>
                      <a:off x="3015" y="1866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5" name="Arc 64"/>
                    <p:cNvSpPr>
                      <a:spLocks/>
                    </p:cNvSpPr>
                    <p:nvPr/>
                  </p:nvSpPr>
                  <p:spPr bwMode="auto">
                    <a:xfrm>
                      <a:off x="3071" y="1866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3" name="Group 65"/>
                <p:cNvGrpSpPr>
                  <a:grpSpLocks/>
                </p:cNvGrpSpPr>
                <p:nvPr/>
              </p:nvGrpSpPr>
              <p:grpSpPr bwMode="auto">
                <a:xfrm>
                  <a:off x="3015" y="1798"/>
                  <a:ext cx="112" cy="64"/>
                  <a:chOff x="3015" y="1798"/>
                  <a:chExt cx="112" cy="64"/>
                </a:xfrm>
              </p:grpSpPr>
              <p:grpSp>
                <p:nvGrpSpPr>
                  <p:cNvPr id="66" name="Group 66"/>
                  <p:cNvGrpSpPr>
                    <a:grpSpLocks/>
                  </p:cNvGrpSpPr>
                  <p:nvPr/>
                </p:nvGrpSpPr>
                <p:grpSpPr bwMode="auto">
                  <a:xfrm>
                    <a:off x="3015" y="1798"/>
                    <a:ext cx="112" cy="52"/>
                    <a:chOff x="3015" y="1798"/>
                    <a:chExt cx="112" cy="52"/>
                  </a:xfrm>
                </p:grpSpPr>
                <p:sp>
                  <p:nvSpPr>
                    <p:cNvPr id="70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3015" y="1798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1" name="Arc 68"/>
                    <p:cNvSpPr>
                      <a:spLocks/>
                    </p:cNvSpPr>
                    <p:nvPr/>
                  </p:nvSpPr>
                  <p:spPr bwMode="auto">
                    <a:xfrm>
                      <a:off x="3071" y="1826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7" name="Group 69"/>
                  <p:cNvGrpSpPr>
                    <a:grpSpLocks/>
                  </p:cNvGrpSpPr>
                  <p:nvPr/>
                </p:nvGrpSpPr>
                <p:grpSpPr bwMode="auto">
                  <a:xfrm>
                    <a:off x="3015" y="1810"/>
                    <a:ext cx="112" cy="52"/>
                    <a:chOff x="3015" y="1810"/>
                    <a:chExt cx="112" cy="52"/>
                  </a:xfrm>
                </p:grpSpPr>
                <p:sp>
                  <p:nvSpPr>
                    <p:cNvPr id="68" name="Arc 70"/>
                    <p:cNvSpPr>
                      <a:spLocks/>
                    </p:cNvSpPr>
                    <p:nvPr/>
                  </p:nvSpPr>
                  <p:spPr bwMode="auto">
                    <a:xfrm>
                      <a:off x="3015" y="1810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" name="Arc 71"/>
                    <p:cNvSpPr>
                      <a:spLocks/>
                    </p:cNvSpPr>
                    <p:nvPr/>
                  </p:nvSpPr>
                  <p:spPr bwMode="auto">
                    <a:xfrm>
                      <a:off x="3071" y="1810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4" name="Group 72"/>
                <p:cNvGrpSpPr>
                  <a:grpSpLocks/>
                </p:cNvGrpSpPr>
                <p:nvPr/>
              </p:nvGrpSpPr>
              <p:grpSpPr bwMode="auto">
                <a:xfrm>
                  <a:off x="3015" y="1742"/>
                  <a:ext cx="112" cy="64"/>
                  <a:chOff x="3015" y="1742"/>
                  <a:chExt cx="112" cy="64"/>
                </a:xfrm>
              </p:grpSpPr>
              <p:grpSp>
                <p:nvGrpSpPr>
                  <p:cNvPr id="60" name="Group 73"/>
                  <p:cNvGrpSpPr>
                    <a:grpSpLocks/>
                  </p:cNvGrpSpPr>
                  <p:nvPr/>
                </p:nvGrpSpPr>
                <p:grpSpPr bwMode="auto">
                  <a:xfrm>
                    <a:off x="3015" y="1742"/>
                    <a:ext cx="112" cy="52"/>
                    <a:chOff x="3015" y="1742"/>
                    <a:chExt cx="112" cy="52"/>
                  </a:xfrm>
                </p:grpSpPr>
                <p:sp>
                  <p:nvSpPr>
                    <p:cNvPr id="64" name="Arc 74"/>
                    <p:cNvSpPr>
                      <a:spLocks/>
                    </p:cNvSpPr>
                    <p:nvPr/>
                  </p:nvSpPr>
                  <p:spPr bwMode="auto">
                    <a:xfrm>
                      <a:off x="3015" y="1742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5" name="Arc 75"/>
                    <p:cNvSpPr>
                      <a:spLocks/>
                    </p:cNvSpPr>
                    <p:nvPr/>
                  </p:nvSpPr>
                  <p:spPr bwMode="auto">
                    <a:xfrm>
                      <a:off x="3071" y="1770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1" name="Group 76"/>
                  <p:cNvGrpSpPr>
                    <a:grpSpLocks/>
                  </p:cNvGrpSpPr>
                  <p:nvPr/>
                </p:nvGrpSpPr>
                <p:grpSpPr bwMode="auto">
                  <a:xfrm>
                    <a:off x="3015" y="1754"/>
                    <a:ext cx="112" cy="52"/>
                    <a:chOff x="3015" y="1754"/>
                    <a:chExt cx="112" cy="52"/>
                  </a:xfrm>
                </p:grpSpPr>
                <p:sp>
                  <p:nvSpPr>
                    <p:cNvPr id="62" name="Arc 77"/>
                    <p:cNvSpPr>
                      <a:spLocks/>
                    </p:cNvSpPr>
                    <p:nvPr/>
                  </p:nvSpPr>
                  <p:spPr bwMode="auto">
                    <a:xfrm>
                      <a:off x="3015" y="175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3" name="Arc 78"/>
                    <p:cNvSpPr>
                      <a:spLocks/>
                    </p:cNvSpPr>
                    <p:nvPr/>
                  </p:nvSpPr>
                  <p:spPr bwMode="auto">
                    <a:xfrm>
                      <a:off x="3071" y="1754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5" name="Group 79"/>
                <p:cNvGrpSpPr>
                  <a:grpSpLocks/>
                </p:cNvGrpSpPr>
                <p:nvPr/>
              </p:nvGrpSpPr>
              <p:grpSpPr bwMode="auto">
                <a:xfrm>
                  <a:off x="3015" y="1686"/>
                  <a:ext cx="112" cy="60"/>
                  <a:chOff x="3015" y="1686"/>
                  <a:chExt cx="112" cy="60"/>
                </a:xfrm>
              </p:grpSpPr>
              <p:grpSp>
                <p:nvGrpSpPr>
                  <p:cNvPr id="54" name="Group 80"/>
                  <p:cNvGrpSpPr>
                    <a:grpSpLocks/>
                  </p:cNvGrpSpPr>
                  <p:nvPr/>
                </p:nvGrpSpPr>
                <p:grpSpPr bwMode="auto">
                  <a:xfrm>
                    <a:off x="3015" y="1686"/>
                    <a:ext cx="112" cy="52"/>
                    <a:chOff x="3015" y="1686"/>
                    <a:chExt cx="112" cy="52"/>
                  </a:xfrm>
                </p:grpSpPr>
                <p:sp>
                  <p:nvSpPr>
                    <p:cNvPr id="58" name="Arc 81"/>
                    <p:cNvSpPr>
                      <a:spLocks/>
                    </p:cNvSpPr>
                    <p:nvPr/>
                  </p:nvSpPr>
                  <p:spPr bwMode="auto">
                    <a:xfrm>
                      <a:off x="3015" y="1686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9" name="Arc 82"/>
                    <p:cNvSpPr>
                      <a:spLocks/>
                    </p:cNvSpPr>
                    <p:nvPr/>
                  </p:nvSpPr>
                  <p:spPr bwMode="auto">
                    <a:xfrm>
                      <a:off x="3071" y="1714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55" name="Group 83"/>
                  <p:cNvGrpSpPr>
                    <a:grpSpLocks/>
                  </p:cNvGrpSpPr>
                  <p:nvPr/>
                </p:nvGrpSpPr>
                <p:grpSpPr bwMode="auto">
                  <a:xfrm>
                    <a:off x="3015" y="1698"/>
                    <a:ext cx="112" cy="48"/>
                    <a:chOff x="3015" y="1698"/>
                    <a:chExt cx="112" cy="48"/>
                  </a:xfrm>
                </p:grpSpPr>
                <p:sp>
                  <p:nvSpPr>
                    <p:cNvPr id="56" name="Arc 84"/>
                    <p:cNvSpPr>
                      <a:spLocks/>
                    </p:cNvSpPr>
                    <p:nvPr/>
                  </p:nvSpPr>
                  <p:spPr bwMode="auto">
                    <a:xfrm>
                      <a:off x="3015" y="1698"/>
                      <a:ext cx="56" cy="48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670"/>
                            <a:pt x="9670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670"/>
                            <a:pt x="9670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7" name="Arc 85"/>
                    <p:cNvSpPr>
                      <a:spLocks/>
                    </p:cNvSpPr>
                    <p:nvPr/>
                  </p:nvSpPr>
                  <p:spPr bwMode="auto">
                    <a:xfrm>
                      <a:off x="3071" y="1698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6" name="Group 86"/>
                <p:cNvGrpSpPr>
                  <a:grpSpLocks/>
                </p:cNvGrpSpPr>
                <p:nvPr/>
              </p:nvGrpSpPr>
              <p:grpSpPr bwMode="auto">
                <a:xfrm>
                  <a:off x="3015" y="1630"/>
                  <a:ext cx="112" cy="56"/>
                  <a:chOff x="3015" y="1630"/>
                  <a:chExt cx="112" cy="56"/>
                </a:xfrm>
              </p:grpSpPr>
              <p:grpSp>
                <p:nvGrpSpPr>
                  <p:cNvPr id="48" name="Group 87"/>
                  <p:cNvGrpSpPr>
                    <a:grpSpLocks/>
                  </p:cNvGrpSpPr>
                  <p:nvPr/>
                </p:nvGrpSpPr>
                <p:grpSpPr bwMode="auto">
                  <a:xfrm>
                    <a:off x="3015" y="1630"/>
                    <a:ext cx="112" cy="52"/>
                    <a:chOff x="3015" y="1630"/>
                    <a:chExt cx="112" cy="52"/>
                  </a:xfrm>
                </p:grpSpPr>
                <p:sp>
                  <p:nvSpPr>
                    <p:cNvPr id="52" name="Arc 88"/>
                    <p:cNvSpPr>
                      <a:spLocks/>
                    </p:cNvSpPr>
                    <p:nvPr/>
                  </p:nvSpPr>
                  <p:spPr bwMode="auto">
                    <a:xfrm>
                      <a:off x="3015" y="1630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3" name="Arc 89"/>
                    <p:cNvSpPr>
                      <a:spLocks/>
                    </p:cNvSpPr>
                    <p:nvPr/>
                  </p:nvSpPr>
                  <p:spPr bwMode="auto">
                    <a:xfrm>
                      <a:off x="3071" y="1658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9" name="Group 90"/>
                  <p:cNvGrpSpPr>
                    <a:grpSpLocks/>
                  </p:cNvGrpSpPr>
                  <p:nvPr/>
                </p:nvGrpSpPr>
                <p:grpSpPr bwMode="auto">
                  <a:xfrm>
                    <a:off x="3015" y="1634"/>
                    <a:ext cx="112" cy="52"/>
                    <a:chOff x="3015" y="1634"/>
                    <a:chExt cx="112" cy="52"/>
                  </a:xfrm>
                </p:grpSpPr>
                <p:sp>
                  <p:nvSpPr>
                    <p:cNvPr id="50" name="Arc 91"/>
                    <p:cNvSpPr>
                      <a:spLocks/>
                    </p:cNvSpPr>
                    <p:nvPr/>
                  </p:nvSpPr>
                  <p:spPr bwMode="auto">
                    <a:xfrm>
                      <a:off x="3015" y="163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1" name="Arc 92"/>
                    <p:cNvSpPr>
                      <a:spLocks/>
                    </p:cNvSpPr>
                    <p:nvPr/>
                  </p:nvSpPr>
                  <p:spPr bwMode="auto">
                    <a:xfrm>
                      <a:off x="3071" y="1634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7" name="Group 93"/>
                <p:cNvGrpSpPr>
                  <a:grpSpLocks/>
                </p:cNvGrpSpPr>
                <p:nvPr/>
              </p:nvGrpSpPr>
              <p:grpSpPr bwMode="auto">
                <a:xfrm>
                  <a:off x="3015" y="1570"/>
                  <a:ext cx="112" cy="60"/>
                  <a:chOff x="3015" y="1570"/>
                  <a:chExt cx="112" cy="60"/>
                </a:xfrm>
              </p:grpSpPr>
              <p:grpSp>
                <p:nvGrpSpPr>
                  <p:cNvPr id="42" name="Group 94"/>
                  <p:cNvGrpSpPr>
                    <a:grpSpLocks/>
                  </p:cNvGrpSpPr>
                  <p:nvPr/>
                </p:nvGrpSpPr>
                <p:grpSpPr bwMode="auto">
                  <a:xfrm>
                    <a:off x="3015" y="1570"/>
                    <a:ext cx="112" cy="48"/>
                    <a:chOff x="3015" y="1570"/>
                    <a:chExt cx="112" cy="48"/>
                  </a:xfrm>
                </p:grpSpPr>
                <p:sp>
                  <p:nvSpPr>
                    <p:cNvPr id="46" name="Arc 95"/>
                    <p:cNvSpPr>
                      <a:spLocks/>
                    </p:cNvSpPr>
                    <p:nvPr/>
                  </p:nvSpPr>
                  <p:spPr bwMode="auto">
                    <a:xfrm>
                      <a:off x="3015" y="1570"/>
                      <a:ext cx="56" cy="48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21600"/>
                          </a:moveTo>
                          <a:cubicBezTo>
                            <a:pt x="9670" y="21600"/>
                            <a:pt x="0" y="11929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600" y="21600"/>
                          </a:moveTo>
                          <a:cubicBezTo>
                            <a:pt x="9670" y="21600"/>
                            <a:pt x="0" y="11929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60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" name="Arc 96"/>
                    <p:cNvSpPr>
                      <a:spLocks/>
                    </p:cNvSpPr>
                    <p:nvPr/>
                  </p:nvSpPr>
                  <p:spPr bwMode="auto">
                    <a:xfrm>
                      <a:off x="3071" y="1598"/>
                      <a:ext cx="56" cy="20"/>
                    </a:xfrm>
                    <a:custGeom>
                      <a:avLst/>
                      <a:gdLst>
                        <a:gd name="T0" fmla="*/ 0 w 21600"/>
                        <a:gd name="T1" fmla="*/ 0 h 21905"/>
                        <a:gd name="T2" fmla="*/ 0 w 21600"/>
                        <a:gd name="T3" fmla="*/ 0 h 21905"/>
                        <a:gd name="T4" fmla="*/ 0 w 21600"/>
                        <a:gd name="T5" fmla="*/ 0 h 21905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905" fill="none" extrusionOk="0">
                          <a:moveTo>
                            <a:pt x="21597" y="0"/>
                          </a:moveTo>
                          <a:cubicBezTo>
                            <a:pt x="21599" y="101"/>
                            <a:pt x="21600" y="203"/>
                            <a:pt x="21600" y="305"/>
                          </a:cubicBezTo>
                          <a:cubicBezTo>
                            <a:pt x="21600" y="12234"/>
                            <a:pt x="11929" y="21904"/>
                            <a:pt x="0" y="21905"/>
                          </a:cubicBezTo>
                        </a:path>
                        <a:path w="21600" h="21905" stroke="0" extrusionOk="0">
                          <a:moveTo>
                            <a:pt x="21597" y="0"/>
                          </a:moveTo>
                          <a:cubicBezTo>
                            <a:pt x="21599" y="101"/>
                            <a:pt x="21600" y="203"/>
                            <a:pt x="21600" y="305"/>
                          </a:cubicBezTo>
                          <a:cubicBezTo>
                            <a:pt x="21600" y="12234"/>
                            <a:pt x="11929" y="21904"/>
                            <a:pt x="0" y="21905"/>
                          </a:cubicBezTo>
                          <a:lnTo>
                            <a:pt x="0" y="305"/>
                          </a:lnTo>
                          <a:lnTo>
                            <a:pt x="2159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3" name="Group 97"/>
                  <p:cNvGrpSpPr>
                    <a:grpSpLocks/>
                  </p:cNvGrpSpPr>
                  <p:nvPr/>
                </p:nvGrpSpPr>
                <p:grpSpPr bwMode="auto">
                  <a:xfrm>
                    <a:off x="3015" y="1578"/>
                    <a:ext cx="112" cy="52"/>
                    <a:chOff x="3015" y="1578"/>
                    <a:chExt cx="112" cy="52"/>
                  </a:xfrm>
                </p:grpSpPr>
                <p:sp>
                  <p:nvSpPr>
                    <p:cNvPr id="44" name="Arc 98"/>
                    <p:cNvSpPr>
                      <a:spLocks/>
                    </p:cNvSpPr>
                    <p:nvPr/>
                  </p:nvSpPr>
                  <p:spPr bwMode="auto">
                    <a:xfrm>
                      <a:off x="3015" y="1578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5" name="Arc 99"/>
                    <p:cNvSpPr>
                      <a:spLocks/>
                    </p:cNvSpPr>
                    <p:nvPr/>
                  </p:nvSpPr>
                  <p:spPr bwMode="auto">
                    <a:xfrm>
                      <a:off x="3071" y="1578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38" name="Arc 100"/>
                <p:cNvSpPr>
                  <a:spLocks/>
                </p:cNvSpPr>
                <p:nvPr/>
              </p:nvSpPr>
              <p:spPr bwMode="auto">
                <a:xfrm>
                  <a:off x="3015" y="1522"/>
                  <a:ext cx="56" cy="52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483"/>
                      </a:moveTo>
                      <a:cubicBezTo>
                        <a:pt x="64" y="9599"/>
                        <a:pt x="9716" y="0"/>
                        <a:pt x="21599" y="0"/>
                      </a:cubicBezTo>
                    </a:path>
                    <a:path w="21600" h="21600" stroke="0" extrusionOk="0">
                      <a:moveTo>
                        <a:pt x="0" y="21483"/>
                      </a:moveTo>
                      <a:cubicBezTo>
                        <a:pt x="64" y="9599"/>
                        <a:pt x="9716" y="0"/>
                        <a:pt x="21599" y="0"/>
                      </a:cubicBezTo>
                      <a:lnTo>
                        <a:pt x="21600" y="21600"/>
                      </a:lnTo>
                      <a:lnTo>
                        <a:pt x="0" y="21483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9" name="Arc 101"/>
                <p:cNvSpPr>
                  <a:spLocks/>
                </p:cNvSpPr>
                <p:nvPr/>
              </p:nvSpPr>
              <p:spPr bwMode="auto">
                <a:xfrm>
                  <a:off x="3015" y="1910"/>
                  <a:ext cx="56" cy="52"/>
                </a:xfrm>
                <a:custGeom>
                  <a:avLst/>
                  <a:gdLst>
                    <a:gd name="T0" fmla="*/ 0 w 21600"/>
                    <a:gd name="T1" fmla="*/ 0 h 21717"/>
                    <a:gd name="T2" fmla="*/ 0 w 21600"/>
                    <a:gd name="T3" fmla="*/ 0 h 21717"/>
                    <a:gd name="T4" fmla="*/ 0 w 21600"/>
                    <a:gd name="T5" fmla="*/ 0 h 2171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717" fill="none" extrusionOk="0">
                      <a:moveTo>
                        <a:pt x="21600" y="21717"/>
                      </a:moveTo>
                      <a:cubicBezTo>
                        <a:pt x="9670" y="21717"/>
                        <a:pt x="0" y="12046"/>
                        <a:pt x="0" y="117"/>
                      </a:cubicBezTo>
                      <a:cubicBezTo>
                        <a:pt x="-1" y="78"/>
                        <a:pt x="0" y="39"/>
                        <a:pt x="0" y="0"/>
                      </a:cubicBezTo>
                    </a:path>
                    <a:path w="21600" h="21717" stroke="0" extrusionOk="0">
                      <a:moveTo>
                        <a:pt x="21600" y="21717"/>
                      </a:moveTo>
                      <a:cubicBezTo>
                        <a:pt x="9670" y="21717"/>
                        <a:pt x="0" y="12046"/>
                        <a:pt x="0" y="117"/>
                      </a:cubicBezTo>
                      <a:cubicBezTo>
                        <a:pt x="-1" y="78"/>
                        <a:pt x="0" y="39"/>
                        <a:pt x="0" y="0"/>
                      </a:cubicBezTo>
                      <a:lnTo>
                        <a:pt x="21600" y="117"/>
                      </a:lnTo>
                      <a:lnTo>
                        <a:pt x="21600" y="21717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0" name="Line 102"/>
                <p:cNvSpPr>
                  <a:spLocks noChangeShapeType="1"/>
                </p:cNvSpPr>
                <p:nvPr/>
              </p:nvSpPr>
              <p:spPr bwMode="auto">
                <a:xfrm flipV="1">
                  <a:off x="3071" y="1482"/>
                  <a:ext cx="1" cy="40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Line 103"/>
                <p:cNvSpPr>
                  <a:spLocks noChangeShapeType="1"/>
                </p:cNvSpPr>
                <p:nvPr/>
              </p:nvSpPr>
              <p:spPr bwMode="auto">
                <a:xfrm flipV="1">
                  <a:off x="3071" y="1962"/>
                  <a:ext cx="1" cy="48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27" name="Line 104"/>
              <p:cNvSpPr>
                <a:spLocks noChangeShapeType="1"/>
              </p:cNvSpPr>
              <p:nvPr/>
            </p:nvSpPr>
            <p:spPr bwMode="auto">
              <a:xfrm>
                <a:off x="2935" y="1530"/>
                <a:ext cx="1" cy="46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105"/>
              <p:cNvSpPr>
                <a:spLocks noChangeShapeType="1"/>
              </p:cNvSpPr>
              <p:nvPr/>
            </p:nvSpPr>
            <p:spPr bwMode="auto">
              <a:xfrm>
                <a:off x="2967" y="1530"/>
                <a:ext cx="1" cy="46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106"/>
              <p:cNvSpPr>
                <a:spLocks noChangeShapeType="1"/>
              </p:cNvSpPr>
              <p:nvPr/>
            </p:nvSpPr>
            <p:spPr bwMode="auto">
              <a:xfrm flipV="1">
                <a:off x="2823" y="1426"/>
                <a:ext cx="1" cy="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Line 107"/>
              <p:cNvSpPr>
                <a:spLocks noChangeShapeType="1"/>
              </p:cNvSpPr>
              <p:nvPr/>
            </p:nvSpPr>
            <p:spPr bwMode="auto">
              <a:xfrm flipV="1">
                <a:off x="3071" y="1994"/>
                <a:ext cx="1" cy="6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08"/>
              <p:cNvSpPr>
                <a:spLocks noChangeShapeType="1"/>
              </p:cNvSpPr>
              <p:nvPr/>
            </p:nvSpPr>
            <p:spPr bwMode="auto">
              <a:xfrm flipV="1">
                <a:off x="2823" y="1994"/>
                <a:ext cx="1" cy="6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" name="Line 109"/>
            <p:cNvSpPr>
              <a:spLocks noChangeShapeType="1"/>
            </p:cNvSpPr>
            <p:nvPr/>
          </p:nvSpPr>
          <p:spPr bwMode="auto">
            <a:xfrm flipH="1">
              <a:off x="827" y="1624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Line 110"/>
            <p:cNvSpPr>
              <a:spLocks noChangeShapeType="1"/>
            </p:cNvSpPr>
            <p:nvPr/>
          </p:nvSpPr>
          <p:spPr bwMode="auto">
            <a:xfrm flipH="1">
              <a:off x="824" y="2246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111"/>
            <p:cNvSpPr>
              <a:spLocks noChangeShapeType="1"/>
            </p:cNvSpPr>
            <p:nvPr/>
          </p:nvSpPr>
          <p:spPr bwMode="auto">
            <a:xfrm flipH="1">
              <a:off x="1544" y="1624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112"/>
            <p:cNvSpPr>
              <a:spLocks noChangeShapeType="1"/>
            </p:cNvSpPr>
            <p:nvPr/>
          </p:nvSpPr>
          <p:spPr bwMode="auto">
            <a:xfrm flipH="1">
              <a:off x="1544" y="2246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13"/>
            <p:cNvSpPr>
              <a:spLocks noChangeShapeType="1"/>
            </p:cNvSpPr>
            <p:nvPr/>
          </p:nvSpPr>
          <p:spPr bwMode="auto">
            <a:xfrm flipV="1">
              <a:off x="830" y="1673"/>
              <a:ext cx="0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14"/>
            <p:cNvSpPr>
              <a:spLocks noChangeShapeType="1"/>
            </p:cNvSpPr>
            <p:nvPr/>
          </p:nvSpPr>
          <p:spPr bwMode="auto">
            <a:xfrm flipV="1">
              <a:off x="2009" y="1673"/>
              <a:ext cx="0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5"/>
            <p:cNvSpPr>
              <a:spLocks noChangeShapeType="1"/>
            </p:cNvSpPr>
            <p:nvPr/>
          </p:nvSpPr>
          <p:spPr bwMode="auto">
            <a:xfrm>
              <a:off x="966" y="162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16"/>
            <p:cNvSpPr>
              <a:spLocks noChangeShapeType="1"/>
            </p:cNvSpPr>
            <p:nvPr/>
          </p:nvSpPr>
          <p:spPr bwMode="auto">
            <a:xfrm flipH="1">
              <a:off x="1692" y="1627"/>
              <a:ext cx="1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Oval 117"/>
            <p:cNvSpPr>
              <a:spLocks noChangeArrowheads="1"/>
            </p:cNvSpPr>
            <p:nvPr/>
          </p:nvSpPr>
          <p:spPr bwMode="auto">
            <a:xfrm>
              <a:off x="1148" y="1718"/>
              <a:ext cx="45" cy="45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9" name="Oval 118"/>
            <p:cNvSpPr>
              <a:spLocks noChangeArrowheads="1"/>
            </p:cNvSpPr>
            <p:nvPr/>
          </p:nvSpPr>
          <p:spPr bwMode="auto">
            <a:xfrm>
              <a:off x="1647" y="1718"/>
              <a:ext cx="45" cy="45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Text Box 119"/>
            <p:cNvSpPr txBox="1">
              <a:spLocks noChangeArrowheads="1"/>
            </p:cNvSpPr>
            <p:nvPr/>
          </p:nvSpPr>
          <p:spPr bwMode="auto">
            <a:xfrm>
              <a:off x="1011" y="1355"/>
              <a:ext cx="20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1" name="Text Box 120"/>
            <p:cNvSpPr txBox="1">
              <a:spLocks noChangeArrowheads="1"/>
            </p:cNvSpPr>
            <p:nvPr/>
          </p:nvSpPr>
          <p:spPr bwMode="auto">
            <a:xfrm>
              <a:off x="1624" y="1355"/>
              <a:ext cx="20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2" name="Text Box 121"/>
            <p:cNvSpPr txBox="1">
              <a:spLocks noChangeArrowheads="1"/>
            </p:cNvSpPr>
            <p:nvPr/>
          </p:nvSpPr>
          <p:spPr bwMode="auto">
            <a:xfrm>
              <a:off x="2009" y="1804"/>
              <a:ext cx="23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3" name="Text Box 122"/>
            <p:cNvSpPr txBox="1">
              <a:spLocks noChangeArrowheads="1"/>
            </p:cNvSpPr>
            <p:nvPr/>
          </p:nvSpPr>
          <p:spPr bwMode="auto">
            <a:xfrm>
              <a:off x="603" y="1809"/>
              <a:ext cx="23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</p:grpSp>
      <p:sp>
        <p:nvSpPr>
          <p:cNvPr id="124" name="Text Box 123"/>
          <p:cNvSpPr txBox="1">
            <a:spLocks noChangeArrowheads="1"/>
          </p:cNvSpPr>
          <p:nvPr/>
        </p:nvSpPr>
        <p:spPr bwMode="auto">
          <a:xfrm>
            <a:off x="7675418" y="1784320"/>
            <a:ext cx="293061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Primary : N</a:t>
            </a:r>
            <a:r>
              <a:rPr lang="en-CA" altLang="fr-FR" sz="2400" b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turns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Secondary : N</a:t>
            </a:r>
            <a:r>
              <a:rPr lang="en-CA" altLang="fr-FR" sz="2400" b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turns</a:t>
            </a:r>
          </a:p>
        </p:txBody>
      </p:sp>
      <p:sp>
        <p:nvSpPr>
          <p:cNvPr id="125" name="Text Box 125"/>
          <p:cNvSpPr txBox="1">
            <a:spLocks noChangeArrowheads="1"/>
          </p:cNvSpPr>
          <p:nvPr/>
        </p:nvSpPr>
        <p:spPr bwMode="auto">
          <a:xfrm>
            <a:off x="2935650" y="3813385"/>
            <a:ext cx="247195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Winding direction</a:t>
            </a:r>
          </a:p>
        </p:txBody>
      </p:sp>
      <p:graphicFrame>
        <p:nvGraphicFramePr>
          <p:cNvPr id="126" name="Object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42622365"/>
              </p:ext>
            </p:extLst>
          </p:nvPr>
        </p:nvGraphicFramePr>
        <p:xfrm>
          <a:off x="6489379" y="4176625"/>
          <a:ext cx="3097213" cy="569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47172" imgH="266584" progId="Equation.3">
                  <p:embed/>
                </p:oleObj>
              </mc:Choice>
              <mc:Fallback>
                <p:oleObj name="Equation" r:id="rId2" imgW="1447172" imgH="266584" progId="Equation.3">
                  <p:embed/>
                  <p:pic>
                    <p:nvPicPr>
                      <p:cNvPr id="126" name="Object 1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89379" y="4176625"/>
                        <a:ext cx="3097213" cy="569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8" name="Object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8683054"/>
              </p:ext>
            </p:extLst>
          </p:nvPr>
        </p:nvGraphicFramePr>
        <p:xfrm>
          <a:off x="6323013" y="3262313"/>
          <a:ext cx="1198562" cy="709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660240" imgH="393480" progId="Equation.3">
                  <p:embed/>
                </p:oleObj>
              </mc:Choice>
              <mc:Fallback>
                <p:oleObj name="Équation" r:id="rId4" imgW="660240" imgH="393480" progId="Equation.3">
                  <p:embed/>
                  <p:pic>
                    <p:nvPicPr>
                      <p:cNvPr id="128" name="Object 1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3013" y="3262313"/>
                        <a:ext cx="1198562" cy="709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" name="AutoShape 133"/>
          <p:cNvSpPr>
            <a:spLocks noChangeArrowheads="1"/>
          </p:cNvSpPr>
          <p:nvPr/>
        </p:nvSpPr>
        <p:spPr bwMode="auto">
          <a:xfrm rot="20505169">
            <a:off x="5379613" y="3580650"/>
            <a:ext cx="935037" cy="360362"/>
          </a:xfrm>
          <a:prstGeom prst="rightArrow">
            <a:avLst>
              <a:gd name="adj1" fmla="val 50000"/>
              <a:gd name="adj2" fmla="val 64868"/>
            </a:avLst>
          </a:prstGeom>
          <a:solidFill>
            <a:srgbClr val="0000FF"/>
          </a:solidFill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0" name="AutoShape 134"/>
          <p:cNvSpPr>
            <a:spLocks noChangeArrowheads="1"/>
          </p:cNvSpPr>
          <p:nvPr/>
        </p:nvSpPr>
        <p:spPr bwMode="auto">
          <a:xfrm rot="906668">
            <a:off x="5379612" y="4140909"/>
            <a:ext cx="935037" cy="360362"/>
          </a:xfrm>
          <a:prstGeom prst="rightArrow">
            <a:avLst>
              <a:gd name="adj1" fmla="val 50000"/>
              <a:gd name="adj2" fmla="val 64868"/>
            </a:avLst>
          </a:prstGeom>
          <a:solidFill>
            <a:srgbClr val="FF3300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31" name="Group 136"/>
          <p:cNvGrpSpPr>
            <a:grpSpLocks/>
          </p:cNvGrpSpPr>
          <p:nvPr/>
        </p:nvGrpSpPr>
        <p:grpSpPr bwMode="auto">
          <a:xfrm>
            <a:off x="3157217" y="4891000"/>
            <a:ext cx="6356350" cy="433387"/>
            <a:chOff x="509" y="3067"/>
            <a:chExt cx="4004" cy="273"/>
          </a:xfrm>
        </p:grpSpPr>
        <p:graphicFrame>
          <p:nvGraphicFramePr>
            <p:cNvPr id="132" name="Object 137"/>
            <p:cNvGraphicFramePr>
              <a:graphicFrameLocks noChangeAspect="1"/>
            </p:cNvGraphicFramePr>
            <p:nvPr/>
          </p:nvGraphicFramePr>
          <p:xfrm>
            <a:off x="3515" y="3067"/>
            <a:ext cx="998" cy="27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698500" imgH="190500" progId="Equation.3">
                    <p:embed/>
                  </p:oleObj>
                </mc:Choice>
                <mc:Fallback>
                  <p:oleObj name="Equation" r:id="rId6" imgW="698500" imgH="190500" progId="Equation.3">
                    <p:embed/>
                    <p:pic>
                      <p:nvPicPr>
                        <p:cNvPr id="132" name="Object 1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15" y="3067"/>
                          <a:ext cx="998" cy="27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" name="Text Box 138"/>
            <p:cNvSpPr txBox="1">
              <a:spLocks noChangeArrowheads="1"/>
            </p:cNvSpPr>
            <p:nvPr/>
          </p:nvSpPr>
          <p:spPr bwMode="auto">
            <a:xfrm>
              <a:off x="509" y="3080"/>
              <a:ext cx="2835" cy="2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Magnetizing current i</a:t>
              </a:r>
              <a:r>
                <a:rPr lang="en-CA" altLang="fr-FR" sz="2000" baseline="-25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10</a:t>
              </a:r>
              <a:r>
                <a:rPr lang="en-CA" altLang="fr-FR" sz="2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 : Hopkinson’s law</a:t>
              </a:r>
            </a:p>
          </p:txBody>
        </p:sp>
      </p:grpSp>
      <p:graphicFrame>
        <p:nvGraphicFramePr>
          <p:cNvPr id="134" name="Object 1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7277065"/>
              </p:ext>
            </p:extLst>
          </p:nvPr>
        </p:nvGraphicFramePr>
        <p:xfrm>
          <a:off x="3249292" y="5395825"/>
          <a:ext cx="2305050" cy="77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04900" imgH="368300" progId="Equation.3">
                  <p:embed/>
                </p:oleObj>
              </mc:Choice>
              <mc:Fallback>
                <p:oleObj name="Equation" r:id="rId8" imgW="1104900" imgH="368300" progId="Equation.3">
                  <p:embed/>
                  <p:pic>
                    <p:nvPicPr>
                      <p:cNvPr id="134" name="Object 1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49292" y="5395825"/>
                        <a:ext cx="2305050" cy="774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5" name="Object 1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073618"/>
              </p:ext>
            </p:extLst>
          </p:nvPr>
        </p:nvGraphicFramePr>
        <p:xfrm>
          <a:off x="6302054" y="5611725"/>
          <a:ext cx="1527175" cy="433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72808" imgH="190417" progId="Equation.3">
                  <p:embed/>
                </p:oleObj>
              </mc:Choice>
              <mc:Fallback>
                <p:oleObj name="Equation" r:id="rId10" imgW="672808" imgH="190417" progId="Equation.3">
                  <p:embed/>
                  <p:pic>
                    <p:nvPicPr>
                      <p:cNvPr id="135" name="Object 1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02054" y="5611725"/>
                        <a:ext cx="1527175" cy="433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6" name="Group 144"/>
          <p:cNvGrpSpPr>
            <a:grpSpLocks/>
          </p:cNvGrpSpPr>
          <p:nvPr/>
        </p:nvGrpSpPr>
        <p:grpSpPr bwMode="auto">
          <a:xfrm>
            <a:off x="6396870" y="2848782"/>
            <a:ext cx="4208463" cy="3581399"/>
            <a:chOff x="2608" y="1764"/>
            <a:chExt cx="2651" cy="2256"/>
          </a:xfrm>
        </p:grpSpPr>
        <p:sp>
          <p:nvSpPr>
            <p:cNvPr id="137" name="AutoShape 145"/>
            <p:cNvSpPr>
              <a:spLocks noChangeArrowheads="1"/>
            </p:cNvSpPr>
            <p:nvPr/>
          </p:nvSpPr>
          <p:spPr bwMode="auto">
            <a:xfrm>
              <a:off x="2608" y="1764"/>
              <a:ext cx="2651" cy="1803"/>
            </a:xfrm>
            <a:custGeom>
              <a:avLst/>
              <a:gdLst>
                <a:gd name="T0" fmla="*/ 1 w 21600"/>
                <a:gd name="T1" fmla="*/ 0 h 21600"/>
                <a:gd name="T2" fmla="*/ 0 w 21600"/>
                <a:gd name="T3" fmla="*/ 0 h 21600"/>
                <a:gd name="T4" fmla="*/ 1 w 21600"/>
                <a:gd name="T5" fmla="*/ 0 h 21600"/>
                <a:gd name="T6" fmla="*/ 1 w 21600"/>
                <a:gd name="T7" fmla="*/ 0 h 21600"/>
                <a:gd name="T8" fmla="*/ 1 w 21600"/>
                <a:gd name="T9" fmla="*/ 0 h 21600"/>
                <a:gd name="T10" fmla="*/ 1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60 w 21600"/>
                <a:gd name="T19" fmla="*/ 3169 h 21600"/>
                <a:gd name="T20" fmla="*/ 18440 w 21600"/>
                <a:gd name="T21" fmla="*/ 18431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>
                  <a:moveTo>
                    <a:pt x="17924" y="16661"/>
                  </a:moveTo>
                  <a:cubicBezTo>
                    <a:pt x="19283" y="15010"/>
                    <a:pt x="20026" y="12938"/>
                    <a:pt x="20026" y="10800"/>
                  </a:cubicBezTo>
                  <a:cubicBezTo>
                    <a:pt x="20026" y="5704"/>
                    <a:pt x="15895" y="1574"/>
                    <a:pt x="10800" y="1574"/>
                  </a:cubicBezTo>
                  <a:cubicBezTo>
                    <a:pt x="9256" y="1573"/>
                    <a:pt x="7737" y="1961"/>
                    <a:pt x="6382" y="2700"/>
                  </a:cubicBezTo>
                  <a:lnTo>
                    <a:pt x="5628" y="1318"/>
                  </a:lnTo>
                  <a:cubicBezTo>
                    <a:pt x="7215" y="453"/>
                    <a:pt x="8993" y="-1"/>
                    <a:pt x="10800" y="0"/>
                  </a:cubicBezTo>
                  <a:cubicBezTo>
                    <a:pt x="16764" y="0"/>
                    <a:pt x="21600" y="4835"/>
                    <a:pt x="21600" y="10800"/>
                  </a:cubicBezTo>
                  <a:cubicBezTo>
                    <a:pt x="21600" y="13303"/>
                    <a:pt x="20730" y="15728"/>
                    <a:pt x="19140" y="17661"/>
                  </a:cubicBezTo>
                  <a:lnTo>
                    <a:pt x="21225" y="19377"/>
                  </a:lnTo>
                  <a:lnTo>
                    <a:pt x="16317" y="19854"/>
                  </a:lnTo>
                  <a:lnTo>
                    <a:pt x="15839" y="14946"/>
                  </a:lnTo>
                  <a:lnTo>
                    <a:pt x="17924" y="16661"/>
                  </a:lnTo>
                  <a:close/>
                </a:path>
              </a:pathLst>
            </a:cu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38" name="AutoShape 146"/>
            <p:cNvSpPr>
              <a:spLocks noChangeArrowheads="1"/>
            </p:cNvSpPr>
            <p:nvPr/>
          </p:nvSpPr>
          <p:spPr bwMode="auto">
            <a:xfrm rot="5572555" flipV="1">
              <a:off x="3603" y="3247"/>
              <a:ext cx="544" cy="363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76 w 21600"/>
                <a:gd name="T19" fmla="*/ 3154 h 21600"/>
                <a:gd name="T20" fmla="*/ 18424 w 21600"/>
                <a:gd name="T21" fmla="*/ 18446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>
                  <a:moveTo>
                    <a:pt x="16200" y="10800"/>
                  </a:moveTo>
                  <a:cubicBezTo>
                    <a:pt x="16200" y="7817"/>
                    <a:pt x="13782" y="5400"/>
                    <a:pt x="10800" y="5400"/>
                  </a:cubicBezTo>
                  <a:cubicBezTo>
                    <a:pt x="10716" y="5399"/>
                    <a:pt x="10633" y="5401"/>
                    <a:pt x="10550" y="5405"/>
                  </a:cubicBezTo>
                  <a:lnTo>
                    <a:pt x="10300" y="11"/>
                  </a:lnTo>
                  <a:cubicBezTo>
                    <a:pt x="10466" y="3"/>
                    <a:pt x="10633" y="-1"/>
                    <a:pt x="10800" y="0"/>
                  </a:cubicBezTo>
                  <a:cubicBezTo>
                    <a:pt x="16764" y="0"/>
                    <a:pt x="21599" y="4835"/>
                    <a:pt x="21600" y="10799"/>
                  </a:cubicBezTo>
                  <a:lnTo>
                    <a:pt x="21600" y="10800"/>
                  </a:lnTo>
                  <a:lnTo>
                    <a:pt x="24300" y="10800"/>
                  </a:lnTo>
                  <a:lnTo>
                    <a:pt x="18900" y="16200"/>
                  </a:lnTo>
                  <a:lnTo>
                    <a:pt x="13500" y="10800"/>
                  </a:lnTo>
                  <a:lnTo>
                    <a:pt x="16200" y="10800"/>
                  </a:lnTo>
                  <a:close/>
                </a:path>
              </a:pathLst>
            </a:cu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endParaRPr lang="fr-FR"/>
            </a:p>
          </p:txBody>
        </p:sp>
        <p:graphicFrame>
          <p:nvGraphicFramePr>
            <p:cNvPr id="139" name="Object 147"/>
            <p:cNvGraphicFramePr>
              <a:graphicFrameLocks noChangeAspect="1"/>
            </p:cNvGraphicFramePr>
            <p:nvPr/>
          </p:nvGraphicFramePr>
          <p:xfrm>
            <a:off x="4105" y="3475"/>
            <a:ext cx="952" cy="5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647419" imgH="342751" progId="Equation.3">
                    <p:embed/>
                  </p:oleObj>
                </mc:Choice>
                <mc:Fallback>
                  <p:oleObj name="Equation" r:id="rId12" imgW="647419" imgH="342751" progId="Equation.3">
                    <p:embed/>
                    <p:pic>
                      <p:nvPicPr>
                        <p:cNvPr id="139" name="Object 1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05" y="3475"/>
                          <a:ext cx="952" cy="5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0" name="Rectangle 148"/>
            <p:cNvSpPr>
              <a:spLocks noChangeArrowheads="1"/>
            </p:cNvSpPr>
            <p:nvPr/>
          </p:nvSpPr>
          <p:spPr bwMode="auto">
            <a:xfrm>
              <a:off x="4059" y="3475"/>
              <a:ext cx="998" cy="54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141" name="Object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9505513"/>
              </p:ext>
            </p:extLst>
          </p:nvPr>
        </p:nvGraphicFramePr>
        <p:xfrm>
          <a:off x="10525196" y="3252912"/>
          <a:ext cx="1446213" cy="874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4" imgW="711000" imgH="431640" progId="Equation.3">
                  <p:embed/>
                </p:oleObj>
              </mc:Choice>
              <mc:Fallback>
                <p:oleObj name="Équation" r:id="rId14" imgW="711000" imgH="431640" progId="Equation.3">
                  <p:embed/>
                  <p:pic>
                    <p:nvPicPr>
                      <p:cNvPr id="141" name="Object 1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25196" y="3252912"/>
                        <a:ext cx="1446213" cy="874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Object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9486532"/>
              </p:ext>
            </p:extLst>
          </p:nvPr>
        </p:nvGraphicFramePr>
        <p:xfrm>
          <a:off x="8026873" y="3228975"/>
          <a:ext cx="1319212" cy="742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6" imgW="698400" imgH="393480" progId="Equation.3">
                  <p:embed/>
                </p:oleObj>
              </mc:Choice>
              <mc:Fallback>
                <p:oleObj name="Équation" r:id="rId16" imgW="698400" imgH="393480" progId="Equation.3">
                  <p:embed/>
                  <p:pic>
                    <p:nvPicPr>
                      <p:cNvPr id="127" name="Object 1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26873" y="3228975"/>
                        <a:ext cx="1319212" cy="742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2" name="ZoneTexte 14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369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: equivalent scheme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7"/>
          <p:cNvSpPr>
            <a:spLocks noChangeArrowheads="1"/>
          </p:cNvSpPr>
          <p:nvPr/>
        </p:nvSpPr>
        <p:spPr bwMode="auto">
          <a:xfrm>
            <a:off x="6413857" y="2532063"/>
            <a:ext cx="1228725" cy="1228725"/>
          </a:xfrm>
          <a:prstGeom prst="ellips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7017107" y="2532063"/>
            <a:ext cx="1228725" cy="1228725"/>
          </a:xfrm>
          <a:prstGeom prst="ellips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Line 9"/>
          <p:cNvSpPr>
            <a:spLocks noChangeShapeType="1"/>
          </p:cNvSpPr>
          <p:nvPr/>
        </p:nvSpPr>
        <p:spPr bwMode="auto">
          <a:xfrm flipH="1">
            <a:off x="8104545" y="2284413"/>
            <a:ext cx="258762" cy="4953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10"/>
          <p:cNvSpPr>
            <a:spLocks noChangeShapeType="1"/>
          </p:cNvSpPr>
          <p:nvPr/>
        </p:nvSpPr>
        <p:spPr bwMode="auto">
          <a:xfrm flipH="1" flipV="1">
            <a:off x="8104545" y="3513138"/>
            <a:ext cx="258762" cy="473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1"/>
          <p:cNvSpPr>
            <a:spLocks noChangeShapeType="1"/>
          </p:cNvSpPr>
          <p:nvPr/>
        </p:nvSpPr>
        <p:spPr bwMode="auto">
          <a:xfrm flipH="1">
            <a:off x="4939070" y="2284413"/>
            <a:ext cx="1335087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2"/>
          <p:cNvSpPr>
            <a:spLocks noChangeShapeType="1"/>
          </p:cNvSpPr>
          <p:nvPr/>
        </p:nvSpPr>
        <p:spPr bwMode="auto">
          <a:xfrm flipH="1">
            <a:off x="4146907" y="3986213"/>
            <a:ext cx="2127250" cy="476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3"/>
          <p:cNvSpPr>
            <a:spLocks noChangeShapeType="1"/>
          </p:cNvSpPr>
          <p:nvPr/>
        </p:nvSpPr>
        <p:spPr bwMode="auto">
          <a:xfrm flipH="1">
            <a:off x="8363307" y="2284413"/>
            <a:ext cx="1111250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4"/>
          <p:cNvSpPr>
            <a:spLocks noChangeShapeType="1"/>
          </p:cNvSpPr>
          <p:nvPr/>
        </p:nvSpPr>
        <p:spPr bwMode="auto">
          <a:xfrm flipH="1">
            <a:off x="8363307" y="3986213"/>
            <a:ext cx="895350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Arc 15"/>
          <p:cNvSpPr>
            <a:spLocks/>
          </p:cNvSpPr>
          <p:nvPr/>
        </p:nvSpPr>
        <p:spPr bwMode="auto">
          <a:xfrm>
            <a:off x="4802545" y="3533775"/>
            <a:ext cx="139700" cy="119063"/>
          </a:xfrm>
          <a:custGeom>
            <a:avLst/>
            <a:gdLst>
              <a:gd name="T0" fmla="*/ 244437145 w 21600"/>
              <a:gd name="T1" fmla="*/ 109918036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Arc 16"/>
          <p:cNvSpPr>
            <a:spLocks/>
          </p:cNvSpPr>
          <p:nvPr/>
        </p:nvSpPr>
        <p:spPr bwMode="auto">
          <a:xfrm>
            <a:off x="4942245" y="3598863"/>
            <a:ext cx="141287" cy="53975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2104493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Arc 17"/>
          <p:cNvSpPr>
            <a:spLocks/>
          </p:cNvSpPr>
          <p:nvPr/>
        </p:nvSpPr>
        <p:spPr bwMode="auto">
          <a:xfrm>
            <a:off x="4802545" y="3544888"/>
            <a:ext cx="139700" cy="119062"/>
          </a:xfrm>
          <a:custGeom>
            <a:avLst/>
            <a:gdLst>
              <a:gd name="T0" fmla="*/ 0 w 21600"/>
              <a:gd name="T1" fmla="*/ 109913425 h 21600"/>
              <a:gd name="T2" fmla="*/ 244437145 w 21600"/>
              <a:gd name="T3" fmla="*/ 0 h 21600"/>
              <a:gd name="T4" fmla="*/ 244437145 w 21600"/>
              <a:gd name="T5" fmla="*/ 1099134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Arc 18"/>
          <p:cNvSpPr>
            <a:spLocks/>
          </p:cNvSpPr>
          <p:nvPr/>
        </p:nvSpPr>
        <p:spPr bwMode="auto">
          <a:xfrm>
            <a:off x="4942245" y="3544888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Arc 19"/>
          <p:cNvSpPr>
            <a:spLocks/>
          </p:cNvSpPr>
          <p:nvPr/>
        </p:nvSpPr>
        <p:spPr bwMode="auto">
          <a:xfrm>
            <a:off x="4802545" y="3405188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Arc 20"/>
          <p:cNvSpPr>
            <a:spLocks/>
          </p:cNvSpPr>
          <p:nvPr/>
        </p:nvSpPr>
        <p:spPr bwMode="auto">
          <a:xfrm>
            <a:off x="4942245" y="3470275"/>
            <a:ext cx="141287" cy="52388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1812775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Arc 21"/>
          <p:cNvSpPr>
            <a:spLocks/>
          </p:cNvSpPr>
          <p:nvPr/>
        </p:nvSpPr>
        <p:spPr bwMode="auto">
          <a:xfrm>
            <a:off x="4802545" y="3416300"/>
            <a:ext cx="139700" cy="117475"/>
          </a:xfrm>
          <a:custGeom>
            <a:avLst/>
            <a:gdLst>
              <a:gd name="T0" fmla="*/ 0 w 21600"/>
              <a:gd name="T1" fmla="*/ 102780825 h 21600"/>
              <a:gd name="T2" fmla="*/ 244437145 w 21600"/>
              <a:gd name="T3" fmla="*/ 0 h 21600"/>
              <a:gd name="T4" fmla="*/ 244437145 w 21600"/>
              <a:gd name="T5" fmla="*/ 1027808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Arc 22"/>
          <p:cNvSpPr>
            <a:spLocks/>
          </p:cNvSpPr>
          <p:nvPr/>
        </p:nvSpPr>
        <p:spPr bwMode="auto">
          <a:xfrm>
            <a:off x="4942245" y="3416300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Arc 23"/>
          <p:cNvSpPr>
            <a:spLocks/>
          </p:cNvSpPr>
          <p:nvPr/>
        </p:nvSpPr>
        <p:spPr bwMode="auto">
          <a:xfrm>
            <a:off x="4802545" y="3265488"/>
            <a:ext cx="139700" cy="128587"/>
          </a:xfrm>
          <a:custGeom>
            <a:avLst/>
            <a:gdLst>
              <a:gd name="T0" fmla="*/ 244437145 w 21600"/>
              <a:gd name="T1" fmla="*/ 158017727 h 21718"/>
              <a:gd name="T2" fmla="*/ 0 w 21600"/>
              <a:gd name="T3" fmla="*/ 0 h 21718"/>
              <a:gd name="T4" fmla="*/ 244437145 w 21600"/>
              <a:gd name="T5" fmla="*/ 859066 h 21718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718" fill="none" extrusionOk="0">
                <a:moveTo>
                  <a:pt x="21600" y="21718"/>
                </a:moveTo>
                <a:cubicBezTo>
                  <a:pt x="9670" y="21718"/>
                  <a:pt x="0" y="12047"/>
                  <a:pt x="0" y="118"/>
                </a:cubicBezTo>
                <a:cubicBezTo>
                  <a:pt x="-1" y="78"/>
                  <a:pt x="0" y="39"/>
                  <a:pt x="0" y="0"/>
                </a:cubicBezTo>
              </a:path>
              <a:path w="21600" h="21718" stroke="0" extrusionOk="0">
                <a:moveTo>
                  <a:pt x="21600" y="21718"/>
                </a:moveTo>
                <a:cubicBezTo>
                  <a:pt x="9670" y="21718"/>
                  <a:pt x="0" y="12047"/>
                  <a:pt x="0" y="118"/>
                </a:cubicBezTo>
                <a:cubicBezTo>
                  <a:pt x="-1" y="78"/>
                  <a:pt x="0" y="39"/>
                  <a:pt x="0" y="0"/>
                </a:cubicBezTo>
                <a:lnTo>
                  <a:pt x="21600" y="118"/>
                </a:lnTo>
                <a:lnTo>
                  <a:pt x="21600" y="21718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Arc 24"/>
          <p:cNvSpPr>
            <a:spLocks/>
          </p:cNvSpPr>
          <p:nvPr/>
        </p:nvSpPr>
        <p:spPr bwMode="auto">
          <a:xfrm>
            <a:off x="4942245" y="3340100"/>
            <a:ext cx="141287" cy="53975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2104493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Arc 25"/>
          <p:cNvSpPr>
            <a:spLocks/>
          </p:cNvSpPr>
          <p:nvPr/>
        </p:nvSpPr>
        <p:spPr bwMode="auto">
          <a:xfrm>
            <a:off x="4802545" y="3286125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Arc 26"/>
          <p:cNvSpPr>
            <a:spLocks/>
          </p:cNvSpPr>
          <p:nvPr/>
        </p:nvSpPr>
        <p:spPr bwMode="auto">
          <a:xfrm>
            <a:off x="4942245" y="3286125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rc 27"/>
          <p:cNvSpPr>
            <a:spLocks/>
          </p:cNvSpPr>
          <p:nvPr/>
        </p:nvSpPr>
        <p:spPr bwMode="auto">
          <a:xfrm>
            <a:off x="4802545" y="3124200"/>
            <a:ext cx="139700" cy="119063"/>
          </a:xfrm>
          <a:custGeom>
            <a:avLst/>
            <a:gdLst>
              <a:gd name="T0" fmla="*/ 244437145 w 21600"/>
              <a:gd name="T1" fmla="*/ 109918036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Arc 28"/>
          <p:cNvSpPr>
            <a:spLocks/>
          </p:cNvSpPr>
          <p:nvPr/>
        </p:nvSpPr>
        <p:spPr bwMode="auto">
          <a:xfrm>
            <a:off x="4942245" y="3200400"/>
            <a:ext cx="141287" cy="42863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622700 h 21955"/>
              <a:gd name="T4" fmla="*/ 0 w 21600"/>
              <a:gd name="T5" fmla="*/ 10066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Arc 29"/>
          <p:cNvSpPr>
            <a:spLocks/>
          </p:cNvSpPr>
          <p:nvPr/>
        </p:nvSpPr>
        <p:spPr bwMode="auto">
          <a:xfrm>
            <a:off x="4802545" y="3157538"/>
            <a:ext cx="139700" cy="117475"/>
          </a:xfrm>
          <a:custGeom>
            <a:avLst/>
            <a:gdLst>
              <a:gd name="T0" fmla="*/ 0 w 21600"/>
              <a:gd name="T1" fmla="*/ 102780825 h 21600"/>
              <a:gd name="T2" fmla="*/ 244437145 w 21600"/>
              <a:gd name="T3" fmla="*/ 0 h 21600"/>
              <a:gd name="T4" fmla="*/ 244437145 w 21600"/>
              <a:gd name="T5" fmla="*/ 1027808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Arc 30"/>
          <p:cNvSpPr>
            <a:spLocks/>
          </p:cNvSpPr>
          <p:nvPr/>
        </p:nvSpPr>
        <p:spPr bwMode="auto">
          <a:xfrm>
            <a:off x="4942245" y="3157538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Arc 31"/>
          <p:cNvSpPr>
            <a:spLocks/>
          </p:cNvSpPr>
          <p:nvPr/>
        </p:nvSpPr>
        <p:spPr bwMode="auto">
          <a:xfrm>
            <a:off x="4802545" y="2995613"/>
            <a:ext cx="139700" cy="119062"/>
          </a:xfrm>
          <a:custGeom>
            <a:avLst/>
            <a:gdLst>
              <a:gd name="T0" fmla="*/ 244437145 w 21600"/>
              <a:gd name="T1" fmla="*/ 1099134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Arc 32"/>
          <p:cNvSpPr>
            <a:spLocks/>
          </p:cNvSpPr>
          <p:nvPr/>
        </p:nvSpPr>
        <p:spPr bwMode="auto">
          <a:xfrm>
            <a:off x="4942245" y="3070225"/>
            <a:ext cx="141287" cy="44450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746831 h 21955"/>
              <a:gd name="T4" fmla="*/ 0 w 21600"/>
              <a:gd name="T5" fmla="*/ 12085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Arc 33"/>
          <p:cNvSpPr>
            <a:spLocks/>
          </p:cNvSpPr>
          <p:nvPr/>
        </p:nvSpPr>
        <p:spPr bwMode="auto">
          <a:xfrm>
            <a:off x="4802545" y="3027363"/>
            <a:ext cx="139700" cy="119062"/>
          </a:xfrm>
          <a:custGeom>
            <a:avLst/>
            <a:gdLst>
              <a:gd name="T0" fmla="*/ 0 w 21600"/>
              <a:gd name="T1" fmla="*/ 109913425 h 21600"/>
              <a:gd name="T2" fmla="*/ 244437145 w 21600"/>
              <a:gd name="T3" fmla="*/ 0 h 21600"/>
              <a:gd name="T4" fmla="*/ 244437145 w 21600"/>
              <a:gd name="T5" fmla="*/ 1099134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Arc 34"/>
          <p:cNvSpPr>
            <a:spLocks/>
          </p:cNvSpPr>
          <p:nvPr/>
        </p:nvSpPr>
        <p:spPr bwMode="auto">
          <a:xfrm>
            <a:off x="4942245" y="3027363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Arc 35"/>
          <p:cNvSpPr>
            <a:spLocks/>
          </p:cNvSpPr>
          <p:nvPr/>
        </p:nvSpPr>
        <p:spPr bwMode="auto">
          <a:xfrm>
            <a:off x="4802545" y="2867025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Arc 36"/>
          <p:cNvSpPr>
            <a:spLocks/>
          </p:cNvSpPr>
          <p:nvPr/>
        </p:nvSpPr>
        <p:spPr bwMode="auto">
          <a:xfrm>
            <a:off x="4942245" y="2941638"/>
            <a:ext cx="141287" cy="42862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622628 h 21955"/>
              <a:gd name="T4" fmla="*/ 0 w 21600"/>
              <a:gd name="T5" fmla="*/ 10066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Arc 37"/>
          <p:cNvSpPr>
            <a:spLocks/>
          </p:cNvSpPr>
          <p:nvPr/>
        </p:nvSpPr>
        <p:spPr bwMode="auto">
          <a:xfrm>
            <a:off x="4802545" y="2898775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Arc 38"/>
          <p:cNvSpPr>
            <a:spLocks/>
          </p:cNvSpPr>
          <p:nvPr/>
        </p:nvSpPr>
        <p:spPr bwMode="auto">
          <a:xfrm>
            <a:off x="4942245" y="2898775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Arc 39"/>
          <p:cNvSpPr>
            <a:spLocks/>
          </p:cNvSpPr>
          <p:nvPr/>
        </p:nvSpPr>
        <p:spPr bwMode="auto">
          <a:xfrm>
            <a:off x="4802545" y="2768600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Arc 40"/>
          <p:cNvSpPr>
            <a:spLocks/>
          </p:cNvSpPr>
          <p:nvPr/>
        </p:nvSpPr>
        <p:spPr bwMode="auto">
          <a:xfrm>
            <a:off x="4802545" y="3663950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41"/>
          <p:cNvSpPr>
            <a:spLocks noChangeShapeType="1"/>
          </p:cNvSpPr>
          <p:nvPr/>
        </p:nvSpPr>
        <p:spPr bwMode="auto">
          <a:xfrm flipV="1">
            <a:off x="4921607" y="2651125"/>
            <a:ext cx="1588" cy="10795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42"/>
          <p:cNvSpPr>
            <a:spLocks noChangeShapeType="1"/>
          </p:cNvSpPr>
          <p:nvPr/>
        </p:nvSpPr>
        <p:spPr bwMode="auto">
          <a:xfrm flipV="1">
            <a:off x="4921607" y="3771900"/>
            <a:ext cx="1588" cy="106363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43"/>
          <p:cNvSpPr>
            <a:spLocks noChangeShapeType="1"/>
          </p:cNvSpPr>
          <p:nvPr/>
        </p:nvSpPr>
        <p:spPr bwMode="auto">
          <a:xfrm>
            <a:off x="6274157" y="2284413"/>
            <a:ext cx="258763" cy="4953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4"/>
          <p:cNvSpPr>
            <a:spLocks noChangeShapeType="1"/>
          </p:cNvSpPr>
          <p:nvPr/>
        </p:nvSpPr>
        <p:spPr bwMode="auto">
          <a:xfrm flipV="1">
            <a:off x="6274157" y="3513138"/>
            <a:ext cx="258763" cy="473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Freeform 45"/>
          <p:cNvSpPr>
            <a:spLocks/>
          </p:cNvSpPr>
          <p:nvPr/>
        </p:nvSpPr>
        <p:spPr bwMode="auto">
          <a:xfrm>
            <a:off x="4856520" y="2478088"/>
            <a:ext cx="150812" cy="301625"/>
          </a:xfrm>
          <a:custGeom>
            <a:avLst/>
            <a:gdLst>
              <a:gd name="T0" fmla="*/ 2147483646 w 56"/>
              <a:gd name="T1" fmla="*/ 2147483646 h 112"/>
              <a:gd name="T2" fmla="*/ 0 w 56"/>
              <a:gd name="T3" fmla="*/ 0 h 112"/>
              <a:gd name="T4" fmla="*/ 2147483646 w 56"/>
              <a:gd name="T5" fmla="*/ 0 h 112"/>
              <a:gd name="T6" fmla="*/ 2147483646 w 56"/>
              <a:gd name="T7" fmla="*/ 0 h 112"/>
              <a:gd name="T8" fmla="*/ 2147483646 w 56"/>
              <a:gd name="T9" fmla="*/ 2147483646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24" y="112"/>
                </a:moveTo>
                <a:lnTo>
                  <a:pt x="0" y="0"/>
                </a:lnTo>
                <a:lnTo>
                  <a:pt x="24" y="0"/>
                </a:lnTo>
                <a:lnTo>
                  <a:pt x="56" y="0"/>
                </a:lnTo>
                <a:lnTo>
                  <a:pt x="24" y="11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6"/>
          <p:cNvSpPr>
            <a:spLocks noChangeShapeType="1"/>
          </p:cNvSpPr>
          <p:nvPr/>
        </p:nvSpPr>
        <p:spPr bwMode="auto">
          <a:xfrm flipV="1">
            <a:off x="4921607" y="2284413"/>
            <a:ext cx="1588" cy="1936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7"/>
          <p:cNvSpPr>
            <a:spLocks noChangeShapeType="1"/>
          </p:cNvSpPr>
          <p:nvPr/>
        </p:nvSpPr>
        <p:spPr bwMode="auto">
          <a:xfrm flipV="1">
            <a:off x="4921607" y="3878263"/>
            <a:ext cx="1588" cy="10795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Freeform 48"/>
          <p:cNvSpPr>
            <a:spLocks/>
          </p:cNvSpPr>
          <p:nvPr/>
        </p:nvSpPr>
        <p:spPr bwMode="auto">
          <a:xfrm>
            <a:off x="5864582" y="2219325"/>
            <a:ext cx="301625" cy="150813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9"/>
          <p:cNvSpPr>
            <a:spLocks noChangeShapeType="1"/>
          </p:cNvSpPr>
          <p:nvPr/>
        </p:nvSpPr>
        <p:spPr bwMode="auto">
          <a:xfrm flipH="1" flipV="1">
            <a:off x="4146907" y="2276475"/>
            <a:ext cx="1096963" cy="79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Freeform 50"/>
          <p:cNvSpPr>
            <a:spLocks/>
          </p:cNvSpPr>
          <p:nvPr/>
        </p:nvSpPr>
        <p:spPr bwMode="auto">
          <a:xfrm>
            <a:off x="4512032" y="2219325"/>
            <a:ext cx="301625" cy="150813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51"/>
          <p:cNvSpPr>
            <a:spLocks noChangeShapeType="1"/>
          </p:cNvSpPr>
          <p:nvPr/>
        </p:nvSpPr>
        <p:spPr bwMode="auto">
          <a:xfrm flipH="1">
            <a:off x="4318357" y="2284413"/>
            <a:ext cx="193675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Freeform 52"/>
          <p:cNvSpPr>
            <a:spLocks/>
          </p:cNvSpPr>
          <p:nvPr/>
        </p:nvSpPr>
        <p:spPr bwMode="auto">
          <a:xfrm flipH="1">
            <a:off x="8682395" y="2219325"/>
            <a:ext cx="349250" cy="130175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53"/>
          <p:cNvSpPr>
            <a:spLocks noChangeShapeType="1"/>
          </p:cNvSpPr>
          <p:nvPr/>
        </p:nvSpPr>
        <p:spPr bwMode="auto">
          <a:xfrm flipH="1">
            <a:off x="8837970" y="2284413"/>
            <a:ext cx="193675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54"/>
          <p:cNvSpPr>
            <a:spLocks/>
          </p:cNvSpPr>
          <p:nvPr/>
        </p:nvSpPr>
        <p:spPr bwMode="auto">
          <a:xfrm>
            <a:off x="9187220" y="2420938"/>
            <a:ext cx="150812" cy="301625"/>
          </a:xfrm>
          <a:custGeom>
            <a:avLst/>
            <a:gdLst>
              <a:gd name="T0" fmla="*/ 2147483646 w 56"/>
              <a:gd name="T1" fmla="*/ 0 h 112"/>
              <a:gd name="T2" fmla="*/ 2147483646 w 56"/>
              <a:gd name="T3" fmla="*/ 2147483646 h 112"/>
              <a:gd name="T4" fmla="*/ 2147483646 w 56"/>
              <a:gd name="T5" fmla="*/ 2147483646 h 112"/>
              <a:gd name="T6" fmla="*/ 0 w 56"/>
              <a:gd name="T7" fmla="*/ 2147483646 h 112"/>
              <a:gd name="T8" fmla="*/ 2147483646 w 56"/>
              <a:gd name="T9" fmla="*/ 0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32" y="0"/>
                </a:moveTo>
                <a:lnTo>
                  <a:pt x="56" y="112"/>
                </a:lnTo>
                <a:lnTo>
                  <a:pt x="32" y="112"/>
                </a:lnTo>
                <a:lnTo>
                  <a:pt x="0" y="112"/>
                </a:lnTo>
                <a:lnTo>
                  <a:pt x="3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5"/>
          <p:cNvSpPr>
            <a:spLocks noChangeShapeType="1"/>
          </p:cNvSpPr>
          <p:nvPr/>
        </p:nvSpPr>
        <p:spPr bwMode="auto">
          <a:xfrm>
            <a:off x="9258657" y="2552700"/>
            <a:ext cx="3175" cy="11636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Freeform 56"/>
          <p:cNvSpPr>
            <a:spLocks/>
          </p:cNvSpPr>
          <p:nvPr/>
        </p:nvSpPr>
        <p:spPr bwMode="auto">
          <a:xfrm>
            <a:off x="4124682" y="2413000"/>
            <a:ext cx="150813" cy="301625"/>
          </a:xfrm>
          <a:custGeom>
            <a:avLst/>
            <a:gdLst>
              <a:gd name="T0" fmla="*/ 2147483646 w 56"/>
              <a:gd name="T1" fmla="*/ 0 h 112"/>
              <a:gd name="T2" fmla="*/ 2147483646 w 56"/>
              <a:gd name="T3" fmla="*/ 2147483646 h 112"/>
              <a:gd name="T4" fmla="*/ 2147483646 w 56"/>
              <a:gd name="T5" fmla="*/ 2147483646 h 112"/>
              <a:gd name="T6" fmla="*/ 0 w 56"/>
              <a:gd name="T7" fmla="*/ 2147483646 h 112"/>
              <a:gd name="T8" fmla="*/ 2147483646 w 56"/>
              <a:gd name="T9" fmla="*/ 0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24" y="0"/>
                </a:moveTo>
                <a:lnTo>
                  <a:pt x="56" y="112"/>
                </a:lnTo>
                <a:lnTo>
                  <a:pt x="24" y="112"/>
                </a:lnTo>
                <a:lnTo>
                  <a:pt x="0" y="112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7"/>
          <p:cNvSpPr>
            <a:spLocks noChangeShapeType="1"/>
          </p:cNvSpPr>
          <p:nvPr/>
        </p:nvSpPr>
        <p:spPr bwMode="auto">
          <a:xfrm>
            <a:off x="4188182" y="2714625"/>
            <a:ext cx="3175" cy="11636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Rectangle 58"/>
          <p:cNvSpPr>
            <a:spLocks noChangeArrowheads="1"/>
          </p:cNvSpPr>
          <p:nvPr/>
        </p:nvSpPr>
        <p:spPr bwMode="auto">
          <a:xfrm>
            <a:off x="7286982" y="2047875"/>
            <a:ext cx="1905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800" b="1">
                <a:latin typeface="Times" panose="02020603050405020304" pitchFamily="18" charset="0"/>
              </a:rPr>
              <a:t>m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0" name="Rectangle 59"/>
          <p:cNvSpPr>
            <a:spLocks noChangeArrowheads="1"/>
          </p:cNvSpPr>
          <p:nvPr/>
        </p:nvSpPr>
        <p:spPr bwMode="auto">
          <a:xfrm>
            <a:off x="3715107" y="2909888"/>
            <a:ext cx="7461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v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1" name="Rectangle 60"/>
          <p:cNvSpPr>
            <a:spLocks noChangeArrowheads="1"/>
          </p:cNvSpPr>
          <p:nvPr/>
        </p:nvSpPr>
        <p:spPr bwMode="auto">
          <a:xfrm>
            <a:off x="3865920" y="3081338"/>
            <a:ext cx="57150" cy="13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2" name="Rectangle 61"/>
          <p:cNvSpPr>
            <a:spLocks noChangeArrowheads="1"/>
          </p:cNvSpPr>
          <p:nvPr/>
        </p:nvSpPr>
        <p:spPr bwMode="auto">
          <a:xfrm>
            <a:off x="8971320" y="2997200"/>
            <a:ext cx="73025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v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3" name="Rectangle 62"/>
          <p:cNvSpPr>
            <a:spLocks noChangeArrowheads="1"/>
          </p:cNvSpPr>
          <p:nvPr/>
        </p:nvSpPr>
        <p:spPr bwMode="auto">
          <a:xfrm>
            <a:off x="9122132" y="3168650"/>
            <a:ext cx="57150" cy="13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2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4" name="Rectangle 63"/>
          <p:cNvSpPr>
            <a:spLocks noChangeArrowheads="1"/>
          </p:cNvSpPr>
          <p:nvPr/>
        </p:nvSpPr>
        <p:spPr bwMode="auto">
          <a:xfrm>
            <a:off x="8880832" y="1831975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5" name="Rectangle 64"/>
          <p:cNvSpPr>
            <a:spLocks noChangeArrowheads="1"/>
          </p:cNvSpPr>
          <p:nvPr/>
        </p:nvSpPr>
        <p:spPr bwMode="auto">
          <a:xfrm>
            <a:off x="8988782" y="1960563"/>
            <a:ext cx="55563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2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6" name="Rectangle 65"/>
          <p:cNvSpPr>
            <a:spLocks noChangeArrowheads="1"/>
          </p:cNvSpPr>
          <p:nvPr/>
        </p:nvSpPr>
        <p:spPr bwMode="auto">
          <a:xfrm>
            <a:off x="4338995" y="1831975"/>
            <a:ext cx="4445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7" name="Rectangle 66"/>
          <p:cNvSpPr>
            <a:spLocks noChangeArrowheads="1"/>
          </p:cNvSpPr>
          <p:nvPr/>
        </p:nvSpPr>
        <p:spPr bwMode="auto">
          <a:xfrm>
            <a:off x="4446945" y="1960563"/>
            <a:ext cx="57150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8" name="Rectangle 67"/>
          <p:cNvSpPr>
            <a:spLocks noChangeArrowheads="1"/>
          </p:cNvSpPr>
          <p:nvPr/>
        </p:nvSpPr>
        <p:spPr bwMode="auto">
          <a:xfrm>
            <a:off x="5907445" y="1831975"/>
            <a:ext cx="714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i'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9" name="Rectangle 68"/>
          <p:cNvSpPr>
            <a:spLocks noChangeArrowheads="1"/>
          </p:cNvSpPr>
          <p:nvPr/>
        </p:nvSpPr>
        <p:spPr bwMode="auto">
          <a:xfrm>
            <a:off x="6058257" y="1960563"/>
            <a:ext cx="57150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0" name="Rectangle 69"/>
          <p:cNvSpPr>
            <a:spLocks noChangeArrowheads="1"/>
          </p:cNvSpPr>
          <p:nvPr/>
        </p:nvSpPr>
        <p:spPr bwMode="auto">
          <a:xfrm>
            <a:off x="5072420" y="2457450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" name="Rectangle 70"/>
          <p:cNvSpPr>
            <a:spLocks noChangeArrowheads="1"/>
          </p:cNvSpPr>
          <p:nvPr/>
        </p:nvSpPr>
        <p:spPr bwMode="auto">
          <a:xfrm>
            <a:off x="5135920" y="2563813"/>
            <a:ext cx="115887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10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2" name="Oval 71"/>
          <p:cNvSpPr>
            <a:spLocks noChangeArrowheads="1"/>
          </p:cNvSpPr>
          <p:nvPr/>
        </p:nvSpPr>
        <p:spPr bwMode="auto">
          <a:xfrm>
            <a:off x="6242407" y="2725738"/>
            <a:ext cx="107950" cy="130175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" name="Oval 72"/>
          <p:cNvSpPr>
            <a:spLocks noChangeArrowheads="1"/>
          </p:cNvSpPr>
          <p:nvPr/>
        </p:nvSpPr>
        <p:spPr bwMode="auto">
          <a:xfrm>
            <a:off x="8309332" y="2725738"/>
            <a:ext cx="130175" cy="130175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4" name="Rectangle 73"/>
          <p:cNvSpPr>
            <a:spLocks noChangeArrowheads="1"/>
          </p:cNvSpPr>
          <p:nvPr/>
        </p:nvSpPr>
        <p:spPr bwMode="auto">
          <a:xfrm>
            <a:off x="5223232" y="3038475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 b="1">
                <a:latin typeface="Times" panose="02020603050405020304" pitchFamily="18" charset="0"/>
              </a:rPr>
              <a:t>L</a:t>
            </a:r>
            <a:r>
              <a:rPr lang="fr-FR" altLang="fr-FR" sz="1200" b="1" baseline="-25000">
                <a:latin typeface="Times" panose="02020603050405020304" pitchFamily="18" charset="0"/>
              </a:rPr>
              <a:t>1</a:t>
            </a:r>
            <a:endParaRPr lang="fr-FR" altLang="fr-FR" sz="1800" baseline="-25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75" name="Group 74"/>
          <p:cNvGrpSpPr>
            <a:grpSpLocks/>
          </p:cNvGrpSpPr>
          <p:nvPr/>
        </p:nvGrpSpPr>
        <p:grpSpPr bwMode="auto">
          <a:xfrm>
            <a:off x="5515332" y="2276475"/>
            <a:ext cx="503238" cy="1728788"/>
            <a:chOff x="2064" y="1434"/>
            <a:chExt cx="317" cy="1089"/>
          </a:xfrm>
        </p:grpSpPr>
        <p:sp>
          <p:nvSpPr>
            <p:cNvPr id="76" name="Rectangle 75"/>
            <p:cNvSpPr>
              <a:spLocks noChangeArrowheads="1"/>
            </p:cNvSpPr>
            <p:nvPr/>
          </p:nvSpPr>
          <p:spPr bwMode="auto">
            <a:xfrm>
              <a:off x="2064" y="1706"/>
              <a:ext cx="181" cy="59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" name="Line 76"/>
            <p:cNvSpPr>
              <a:spLocks noChangeShapeType="1"/>
            </p:cNvSpPr>
            <p:nvPr/>
          </p:nvSpPr>
          <p:spPr bwMode="auto">
            <a:xfrm>
              <a:off x="2154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7"/>
            <p:cNvSpPr>
              <a:spLocks noChangeShapeType="1"/>
            </p:cNvSpPr>
            <p:nvPr/>
          </p:nvSpPr>
          <p:spPr bwMode="auto">
            <a:xfrm>
              <a:off x="2154" y="2296"/>
              <a:ext cx="0" cy="22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Rectangle 78"/>
            <p:cNvSpPr>
              <a:spLocks noChangeArrowheads="1"/>
            </p:cNvSpPr>
            <p:nvPr/>
          </p:nvSpPr>
          <p:spPr bwMode="auto">
            <a:xfrm>
              <a:off x="2290" y="1979"/>
              <a:ext cx="91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Times" panose="02020603050405020304" pitchFamily="18" charset="0"/>
                </a:rPr>
                <a:t>R</a:t>
              </a:r>
              <a:r>
                <a:rPr lang="fr-FR" altLang="fr-FR" sz="1200" b="1" baseline="-25000">
                  <a:latin typeface="Times" panose="02020603050405020304" pitchFamily="18" charset="0"/>
                </a:rPr>
                <a:t>f</a:t>
              </a:r>
              <a:endParaRPr lang="fr-FR" altLang="fr-FR" sz="1800" baseline="-25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80" name="Group 79"/>
          <p:cNvGrpSpPr>
            <a:grpSpLocks/>
          </p:cNvGrpSpPr>
          <p:nvPr/>
        </p:nvGrpSpPr>
        <p:grpSpPr bwMode="auto">
          <a:xfrm>
            <a:off x="9474557" y="1916113"/>
            <a:ext cx="720725" cy="433387"/>
            <a:chOff x="4558" y="1207"/>
            <a:chExt cx="454" cy="273"/>
          </a:xfrm>
        </p:grpSpPr>
        <p:sp>
          <p:nvSpPr>
            <p:cNvPr id="81" name="Rectangle 80"/>
            <p:cNvSpPr>
              <a:spLocks noChangeArrowheads="1"/>
            </p:cNvSpPr>
            <p:nvPr/>
          </p:nvSpPr>
          <p:spPr bwMode="auto">
            <a:xfrm>
              <a:off x="4558" y="1389"/>
              <a:ext cx="36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Line 81"/>
            <p:cNvSpPr>
              <a:spLocks noChangeShapeType="1"/>
            </p:cNvSpPr>
            <p:nvPr/>
          </p:nvSpPr>
          <p:spPr bwMode="auto">
            <a:xfrm>
              <a:off x="4921" y="1434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Rectangle 82"/>
            <p:cNvSpPr>
              <a:spLocks noChangeArrowheads="1"/>
            </p:cNvSpPr>
            <p:nvPr/>
          </p:nvSpPr>
          <p:spPr bwMode="auto">
            <a:xfrm>
              <a:off x="4694" y="1207"/>
              <a:ext cx="43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Times" panose="02020603050405020304" pitchFamily="18" charset="0"/>
                </a:rPr>
                <a:t>r</a:t>
              </a:r>
              <a:endParaRPr lang="fr-FR" altLang="fr-FR" sz="1800" baseline="-25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84" name="Text Box 83"/>
          <p:cNvSpPr txBox="1">
            <a:spLocks noChangeArrowheads="1"/>
          </p:cNvSpPr>
          <p:nvPr/>
        </p:nvSpPr>
        <p:spPr bwMode="auto">
          <a:xfrm>
            <a:off x="4475520" y="4827230"/>
            <a:ext cx="5977919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L</a:t>
            </a:r>
            <a:r>
              <a:rPr lang="en-CA" altLang="fr-FR" sz="2400" b="1" i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Magnetizing inductance (at primary side)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400" b="1" i="1" baseline="-25000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f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ferromagnetic losses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 : Joule loss (or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ohmic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loss)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Symbol" panose="05050102010706020507" pitchFamily="18" charset="2"/>
              </a:rPr>
              <a:t>l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leakage inductance</a:t>
            </a:r>
          </a:p>
        </p:txBody>
      </p:sp>
      <p:grpSp>
        <p:nvGrpSpPr>
          <p:cNvPr id="85" name="Group 84"/>
          <p:cNvGrpSpPr>
            <a:grpSpLocks/>
          </p:cNvGrpSpPr>
          <p:nvPr/>
        </p:nvGrpSpPr>
        <p:grpSpPr bwMode="auto">
          <a:xfrm>
            <a:off x="9115782" y="3500438"/>
            <a:ext cx="935038" cy="649287"/>
            <a:chOff x="4332" y="2205"/>
            <a:chExt cx="589" cy="409"/>
          </a:xfrm>
        </p:grpSpPr>
        <p:grpSp>
          <p:nvGrpSpPr>
            <p:cNvPr id="86" name="Group 85"/>
            <p:cNvGrpSpPr>
              <a:grpSpLocks/>
            </p:cNvGrpSpPr>
            <p:nvPr/>
          </p:nvGrpSpPr>
          <p:grpSpPr bwMode="auto">
            <a:xfrm rot="5400000">
              <a:off x="4496" y="2279"/>
              <a:ext cx="171" cy="499"/>
              <a:chOff x="1122" y="3008"/>
              <a:chExt cx="177" cy="841"/>
            </a:xfrm>
          </p:grpSpPr>
          <p:sp>
            <p:nvSpPr>
              <p:cNvPr id="89" name="Arc 86"/>
              <p:cNvSpPr>
                <a:spLocks/>
              </p:cNvSpPr>
              <p:nvPr/>
            </p:nvSpPr>
            <p:spPr bwMode="auto">
              <a:xfrm>
                <a:off x="1122" y="3564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Arc 87"/>
              <p:cNvSpPr>
                <a:spLocks/>
              </p:cNvSpPr>
              <p:nvPr/>
            </p:nvSpPr>
            <p:spPr bwMode="auto">
              <a:xfrm>
                <a:off x="1210" y="3605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Arc 88"/>
              <p:cNvSpPr>
                <a:spLocks/>
              </p:cNvSpPr>
              <p:nvPr/>
            </p:nvSpPr>
            <p:spPr bwMode="auto">
              <a:xfrm>
                <a:off x="1122" y="3571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Arc 89"/>
              <p:cNvSpPr>
                <a:spLocks/>
              </p:cNvSpPr>
              <p:nvPr/>
            </p:nvSpPr>
            <p:spPr bwMode="auto">
              <a:xfrm>
                <a:off x="1210" y="3571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Arc 90"/>
              <p:cNvSpPr>
                <a:spLocks/>
              </p:cNvSpPr>
              <p:nvPr/>
            </p:nvSpPr>
            <p:spPr bwMode="auto">
              <a:xfrm>
                <a:off x="1122" y="3483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Arc 91"/>
              <p:cNvSpPr>
                <a:spLocks/>
              </p:cNvSpPr>
              <p:nvPr/>
            </p:nvSpPr>
            <p:spPr bwMode="auto">
              <a:xfrm>
                <a:off x="1210" y="3524"/>
                <a:ext cx="89" cy="33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Arc 92"/>
              <p:cNvSpPr>
                <a:spLocks/>
              </p:cNvSpPr>
              <p:nvPr/>
            </p:nvSpPr>
            <p:spPr bwMode="auto">
              <a:xfrm>
                <a:off x="1122" y="3490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Arc 93"/>
              <p:cNvSpPr>
                <a:spLocks/>
              </p:cNvSpPr>
              <p:nvPr/>
            </p:nvSpPr>
            <p:spPr bwMode="auto">
              <a:xfrm>
                <a:off x="1210" y="3490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Arc 94"/>
              <p:cNvSpPr>
                <a:spLocks/>
              </p:cNvSpPr>
              <p:nvPr/>
            </p:nvSpPr>
            <p:spPr bwMode="auto">
              <a:xfrm>
                <a:off x="1122" y="3395"/>
                <a:ext cx="88" cy="81"/>
              </a:xfrm>
              <a:custGeom>
                <a:avLst/>
                <a:gdLst>
                  <a:gd name="T0" fmla="*/ 0 w 21600"/>
                  <a:gd name="T1" fmla="*/ 0 h 21718"/>
                  <a:gd name="T2" fmla="*/ 0 w 21600"/>
                  <a:gd name="T3" fmla="*/ 0 h 21718"/>
                  <a:gd name="T4" fmla="*/ 0 w 21600"/>
                  <a:gd name="T5" fmla="*/ 0 h 21718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18" fill="none" extrusionOk="0">
                    <a:moveTo>
                      <a:pt x="21600" y="21718"/>
                    </a:moveTo>
                    <a:cubicBezTo>
                      <a:pt x="9670" y="21718"/>
                      <a:pt x="0" y="12047"/>
                      <a:pt x="0" y="118"/>
                    </a:cubicBezTo>
                    <a:cubicBezTo>
                      <a:pt x="-1" y="78"/>
                      <a:pt x="0" y="39"/>
                      <a:pt x="0" y="0"/>
                    </a:cubicBezTo>
                  </a:path>
                  <a:path w="21600" h="21718" stroke="0" extrusionOk="0">
                    <a:moveTo>
                      <a:pt x="21600" y="21718"/>
                    </a:moveTo>
                    <a:cubicBezTo>
                      <a:pt x="9670" y="21718"/>
                      <a:pt x="0" y="12047"/>
                      <a:pt x="0" y="118"/>
                    </a:cubicBezTo>
                    <a:cubicBezTo>
                      <a:pt x="-1" y="78"/>
                      <a:pt x="0" y="39"/>
                      <a:pt x="0" y="0"/>
                    </a:cubicBezTo>
                    <a:lnTo>
                      <a:pt x="21600" y="118"/>
                    </a:lnTo>
                    <a:lnTo>
                      <a:pt x="21600" y="21718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Arc 95"/>
              <p:cNvSpPr>
                <a:spLocks/>
              </p:cNvSpPr>
              <p:nvPr/>
            </p:nvSpPr>
            <p:spPr bwMode="auto">
              <a:xfrm>
                <a:off x="1210" y="3442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Arc 96"/>
              <p:cNvSpPr>
                <a:spLocks/>
              </p:cNvSpPr>
              <p:nvPr/>
            </p:nvSpPr>
            <p:spPr bwMode="auto">
              <a:xfrm>
                <a:off x="1122" y="3408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Arc 97"/>
              <p:cNvSpPr>
                <a:spLocks/>
              </p:cNvSpPr>
              <p:nvPr/>
            </p:nvSpPr>
            <p:spPr bwMode="auto">
              <a:xfrm>
                <a:off x="1210" y="3408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Arc 98"/>
              <p:cNvSpPr>
                <a:spLocks/>
              </p:cNvSpPr>
              <p:nvPr/>
            </p:nvSpPr>
            <p:spPr bwMode="auto">
              <a:xfrm>
                <a:off x="1122" y="3306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Arc 99"/>
              <p:cNvSpPr>
                <a:spLocks/>
              </p:cNvSpPr>
              <p:nvPr/>
            </p:nvSpPr>
            <p:spPr bwMode="auto">
              <a:xfrm>
                <a:off x="1210" y="3354"/>
                <a:ext cx="89" cy="27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Arc 100"/>
              <p:cNvSpPr>
                <a:spLocks/>
              </p:cNvSpPr>
              <p:nvPr/>
            </p:nvSpPr>
            <p:spPr bwMode="auto">
              <a:xfrm>
                <a:off x="1122" y="3327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Arc 101"/>
              <p:cNvSpPr>
                <a:spLocks/>
              </p:cNvSpPr>
              <p:nvPr/>
            </p:nvSpPr>
            <p:spPr bwMode="auto">
              <a:xfrm>
                <a:off x="1210" y="3327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Arc 102"/>
              <p:cNvSpPr>
                <a:spLocks/>
              </p:cNvSpPr>
              <p:nvPr/>
            </p:nvSpPr>
            <p:spPr bwMode="auto">
              <a:xfrm>
                <a:off x="1122" y="3225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Arc 103"/>
              <p:cNvSpPr>
                <a:spLocks/>
              </p:cNvSpPr>
              <p:nvPr/>
            </p:nvSpPr>
            <p:spPr bwMode="auto">
              <a:xfrm>
                <a:off x="1210" y="3272"/>
                <a:ext cx="89" cy="28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Arc 104"/>
              <p:cNvSpPr>
                <a:spLocks/>
              </p:cNvSpPr>
              <p:nvPr/>
            </p:nvSpPr>
            <p:spPr bwMode="auto">
              <a:xfrm>
                <a:off x="1122" y="3245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Arc 105"/>
              <p:cNvSpPr>
                <a:spLocks/>
              </p:cNvSpPr>
              <p:nvPr/>
            </p:nvSpPr>
            <p:spPr bwMode="auto">
              <a:xfrm>
                <a:off x="1210" y="3245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Arc 106"/>
              <p:cNvSpPr>
                <a:spLocks/>
              </p:cNvSpPr>
              <p:nvPr/>
            </p:nvSpPr>
            <p:spPr bwMode="auto">
              <a:xfrm>
                <a:off x="1122" y="3144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Arc 107"/>
              <p:cNvSpPr>
                <a:spLocks/>
              </p:cNvSpPr>
              <p:nvPr/>
            </p:nvSpPr>
            <p:spPr bwMode="auto">
              <a:xfrm>
                <a:off x="1210" y="3191"/>
                <a:ext cx="89" cy="27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Arc 108"/>
              <p:cNvSpPr>
                <a:spLocks/>
              </p:cNvSpPr>
              <p:nvPr/>
            </p:nvSpPr>
            <p:spPr bwMode="auto">
              <a:xfrm>
                <a:off x="1122" y="3164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Arc 109"/>
              <p:cNvSpPr>
                <a:spLocks/>
              </p:cNvSpPr>
              <p:nvPr/>
            </p:nvSpPr>
            <p:spPr bwMode="auto">
              <a:xfrm>
                <a:off x="1210" y="3164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Arc 110"/>
              <p:cNvSpPr>
                <a:spLocks/>
              </p:cNvSpPr>
              <p:nvPr/>
            </p:nvSpPr>
            <p:spPr bwMode="auto">
              <a:xfrm>
                <a:off x="1122" y="3082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Arc 111"/>
              <p:cNvSpPr>
                <a:spLocks/>
              </p:cNvSpPr>
              <p:nvPr/>
            </p:nvSpPr>
            <p:spPr bwMode="auto">
              <a:xfrm>
                <a:off x="1122" y="3646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12"/>
              <p:cNvSpPr>
                <a:spLocks noChangeShapeType="1"/>
              </p:cNvSpPr>
              <p:nvPr/>
            </p:nvSpPr>
            <p:spPr bwMode="auto">
              <a:xfrm flipV="1">
                <a:off x="1197" y="3008"/>
                <a:ext cx="1" cy="6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113"/>
              <p:cNvSpPr>
                <a:spLocks noChangeShapeType="1"/>
              </p:cNvSpPr>
              <p:nvPr/>
            </p:nvSpPr>
            <p:spPr bwMode="auto">
              <a:xfrm flipV="1">
                <a:off x="1197" y="3714"/>
                <a:ext cx="1" cy="67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7" name="Line 114"/>
              <p:cNvSpPr>
                <a:spLocks noChangeShapeType="1"/>
              </p:cNvSpPr>
              <p:nvPr/>
            </p:nvSpPr>
            <p:spPr bwMode="auto">
              <a:xfrm flipV="1">
                <a:off x="1197" y="3781"/>
                <a:ext cx="1" cy="6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87" name="Rectangle 115"/>
            <p:cNvSpPr>
              <a:spLocks noChangeArrowheads="1"/>
            </p:cNvSpPr>
            <p:nvPr/>
          </p:nvSpPr>
          <p:spPr bwMode="auto">
            <a:xfrm>
              <a:off x="4604" y="2205"/>
              <a:ext cx="53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Symbol" panose="05050102010706020507" pitchFamily="18" charset="2"/>
                </a:rPr>
                <a:t>l</a:t>
              </a:r>
              <a:endParaRPr lang="fr-FR" altLang="fr-FR" sz="1800" baseline="-25000">
                <a:solidFill>
                  <a:schemeClr val="tx1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88" name="Line 116"/>
            <p:cNvSpPr>
              <a:spLocks noChangeShapeType="1"/>
            </p:cNvSpPr>
            <p:nvPr/>
          </p:nvSpPr>
          <p:spPr bwMode="auto">
            <a:xfrm>
              <a:off x="4830" y="2523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8" name="ZoneTexte 11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1581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Skin effect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4130530" y="2825297"/>
            <a:ext cx="2495550" cy="2419350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54305" y="4015922"/>
            <a:ext cx="3514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5378305" y="1920422"/>
            <a:ext cx="0" cy="3629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6"/>
          <p:cNvSpPr>
            <a:spLocks noChangeShapeType="1"/>
          </p:cNvSpPr>
          <p:nvPr/>
        </p:nvSpPr>
        <p:spPr bwMode="auto">
          <a:xfrm flipV="1">
            <a:off x="5378305" y="3158672"/>
            <a:ext cx="1028700" cy="866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Oval 7"/>
          <p:cNvSpPr>
            <a:spLocks noChangeArrowheads="1"/>
          </p:cNvSpPr>
          <p:nvPr/>
        </p:nvSpPr>
        <p:spPr bwMode="auto">
          <a:xfrm>
            <a:off x="5984730" y="3449185"/>
            <a:ext cx="55563" cy="6508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5535468" y="3387272"/>
            <a:ext cx="2952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</a:p>
        </p:txBody>
      </p:sp>
      <p:graphicFrame>
        <p:nvGraphicFramePr>
          <p:cNvPr id="14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41555712"/>
              </p:ext>
            </p:extLst>
          </p:nvPr>
        </p:nvGraphicFramePr>
        <p:xfrm>
          <a:off x="6708630" y="1480685"/>
          <a:ext cx="1933575" cy="103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26698" imgH="495085" progId="Equation.3">
                  <p:embed/>
                </p:oleObj>
              </mc:Choice>
              <mc:Fallback>
                <p:oleObj name="Equation" r:id="rId2" imgW="926698" imgH="495085" progId="Equation.3">
                  <p:embed/>
                  <p:pic>
                    <p:nvPicPr>
                      <p:cNvPr id="14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08630" y="1480685"/>
                        <a:ext cx="1933575" cy="1031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Picture 10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4068" y="2985635"/>
            <a:ext cx="1901825" cy="1127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7381730" y="4801735"/>
            <a:ext cx="346044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d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skin depth thickness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s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conductivity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permeability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f : frequency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88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6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Skin effect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3430814" y="2782208"/>
            <a:ext cx="2495550" cy="2447925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154589" y="3725183"/>
            <a:ext cx="3514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4678589" y="1905908"/>
            <a:ext cx="0" cy="3629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6"/>
          <p:cNvSpPr>
            <a:spLocks noChangeShapeType="1"/>
          </p:cNvSpPr>
          <p:nvPr/>
        </p:nvSpPr>
        <p:spPr bwMode="auto">
          <a:xfrm flipV="1">
            <a:off x="4678589" y="2848883"/>
            <a:ext cx="1028700" cy="866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Oval 7"/>
          <p:cNvSpPr>
            <a:spLocks noChangeArrowheads="1"/>
          </p:cNvSpPr>
          <p:nvPr/>
        </p:nvSpPr>
        <p:spPr bwMode="auto">
          <a:xfrm>
            <a:off x="5285014" y="3139396"/>
            <a:ext cx="55563" cy="6508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4835752" y="3077483"/>
            <a:ext cx="2952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3565752" y="2888571"/>
            <a:ext cx="2209800" cy="2770187"/>
            <a:chOff x="643" y="1459"/>
            <a:chExt cx="1392" cy="2128"/>
          </a:xfrm>
        </p:grpSpPr>
        <p:sp useBgFill="1">
          <p:nvSpPr>
            <p:cNvPr id="15" name="Oval 10"/>
            <p:cNvSpPr>
              <a:spLocks noChangeArrowheads="1"/>
            </p:cNvSpPr>
            <p:nvPr/>
          </p:nvSpPr>
          <p:spPr bwMode="auto">
            <a:xfrm>
              <a:off x="643" y="1459"/>
              <a:ext cx="1392" cy="1722"/>
            </a:xfrm>
            <a:prstGeom prst="ellipse">
              <a:avLst/>
            </a:prstGeom>
            <a:ln w="190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 flipH="1" flipV="1">
              <a:off x="1620" y="3180"/>
              <a:ext cx="108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Text Box 12"/>
            <p:cNvSpPr txBox="1">
              <a:spLocks noChangeArrowheads="1"/>
            </p:cNvSpPr>
            <p:nvPr/>
          </p:nvSpPr>
          <p:spPr bwMode="auto">
            <a:xfrm>
              <a:off x="1697" y="3305"/>
              <a:ext cx="182" cy="2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Symbol" panose="05050102010706020507" pitchFamily="18" charset="2"/>
                </a:rPr>
                <a:t>d</a:t>
              </a:r>
            </a:p>
          </p:txBody>
        </p:sp>
      </p:grpSp>
      <p:pic>
        <p:nvPicPr>
          <p:cNvPr id="18" name="Picture 1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7" r="50688" b="75621"/>
          <a:stretch/>
        </p:blipFill>
        <p:spPr bwMode="auto">
          <a:xfrm>
            <a:off x="7039201" y="1417410"/>
            <a:ext cx="3606328" cy="20246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7266675" y="3725183"/>
            <a:ext cx="336983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Copper at 25°C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Ø"/>
            </a:pP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50 Hz : </a:t>
            </a:r>
            <a:r>
              <a:rPr lang="en-CA" altLang="fr-FR" sz="2400" dirty="0">
                <a:solidFill>
                  <a:srgbClr val="FF3300"/>
                </a:solidFill>
                <a:latin typeface="Symbol" panose="05050102010706020507" pitchFamily="18" charset="2"/>
              </a:rPr>
              <a:t>d</a:t>
            </a: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= 9,4 mm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Ø"/>
            </a:pP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100 kHz : </a:t>
            </a:r>
            <a:r>
              <a:rPr lang="en-CA" altLang="fr-FR" sz="2400" dirty="0">
                <a:solidFill>
                  <a:srgbClr val="FF3300"/>
                </a:solidFill>
                <a:latin typeface="Symbol" panose="05050102010706020507" pitchFamily="18" charset="2"/>
              </a:rPr>
              <a:t>d</a:t>
            </a:r>
            <a:r>
              <a:rPr lang="en-CA" altLang="fr-FR" sz="2400" dirty="0">
                <a:solidFill>
                  <a:srgbClr val="FF3300"/>
                </a:solidFill>
                <a:latin typeface="Times New Roman" panose="02020603050405020304" pitchFamily="18" charset="0"/>
              </a:rPr>
              <a:t> = 0,21 mm</a:t>
            </a:r>
          </a:p>
        </p:txBody>
      </p:sp>
      <p:sp>
        <p:nvSpPr>
          <p:cNvPr id="20" name="Text Box 18"/>
          <p:cNvSpPr txBox="1">
            <a:spLocks noChangeArrowheads="1"/>
          </p:cNvSpPr>
          <p:nvPr/>
        </p:nvSpPr>
        <p:spPr bwMode="auto">
          <a:xfrm>
            <a:off x="6757187" y="5433718"/>
            <a:ext cx="4248150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=&gt; Multi strand wire, </a:t>
            </a:r>
            <a:r>
              <a:rPr lang="en-CA" altLang="fr-FR" sz="2400" b="1" i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Litz</a:t>
            </a: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 wire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938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Winding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2941837" y="2127086"/>
            <a:ext cx="2536711" cy="3156114"/>
            <a:chOff x="1383" y="1480"/>
            <a:chExt cx="1860" cy="1814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429" y="1480"/>
              <a:ext cx="1814" cy="181"/>
            </a:xfrm>
            <a:prstGeom prst="parallelogram">
              <a:avLst>
                <a:gd name="adj" fmla="val 123699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" name="AutoShape 5"/>
            <p:cNvSpPr>
              <a:spLocks noChangeArrowheads="1"/>
            </p:cNvSpPr>
            <p:nvPr/>
          </p:nvSpPr>
          <p:spPr bwMode="auto">
            <a:xfrm rot="5400000" flipH="1">
              <a:off x="2223" y="2273"/>
              <a:ext cx="1814" cy="227"/>
            </a:xfrm>
            <a:prstGeom prst="parallelogram">
              <a:avLst>
                <a:gd name="adj" fmla="val 7839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" name="Rectangle 6"/>
            <p:cNvSpPr>
              <a:spLocks noChangeArrowheads="1"/>
            </p:cNvSpPr>
            <p:nvPr/>
          </p:nvSpPr>
          <p:spPr bwMode="auto">
            <a:xfrm>
              <a:off x="1429" y="1661"/>
              <a:ext cx="1587" cy="163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" name="Rectangle 7"/>
            <p:cNvSpPr>
              <a:spLocks noChangeArrowheads="1"/>
            </p:cNvSpPr>
            <p:nvPr/>
          </p:nvSpPr>
          <p:spPr bwMode="auto">
            <a:xfrm>
              <a:off x="1746" y="1979"/>
              <a:ext cx="953" cy="997"/>
            </a:xfrm>
            <a:prstGeom prst="rect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 rot="5400000" flipH="1">
              <a:off x="1270" y="2273"/>
              <a:ext cx="1179" cy="227"/>
            </a:xfrm>
            <a:prstGeom prst="parallelogram">
              <a:avLst>
                <a:gd name="adj" fmla="val 7927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4" name="AutoShape 9"/>
            <p:cNvSpPr>
              <a:spLocks noChangeArrowheads="1"/>
            </p:cNvSpPr>
            <p:nvPr/>
          </p:nvSpPr>
          <p:spPr bwMode="auto">
            <a:xfrm>
              <a:off x="1746" y="2795"/>
              <a:ext cx="1179" cy="181"/>
            </a:xfrm>
            <a:prstGeom prst="parallelogram">
              <a:avLst>
                <a:gd name="adj" fmla="val 12680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5" name="AutoShape 10"/>
            <p:cNvSpPr>
              <a:spLocks noChangeArrowheads="1"/>
            </p:cNvSpPr>
            <p:nvPr/>
          </p:nvSpPr>
          <p:spPr bwMode="auto">
            <a:xfrm>
              <a:off x="1746" y="1797"/>
              <a:ext cx="1179" cy="181"/>
            </a:xfrm>
            <a:prstGeom prst="parallelogram">
              <a:avLst>
                <a:gd name="adj" fmla="val 126808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5400000" flipH="1">
              <a:off x="2223" y="2273"/>
              <a:ext cx="1179" cy="227"/>
            </a:xfrm>
            <a:prstGeom prst="parallelogram">
              <a:avLst>
                <a:gd name="adj" fmla="val 79278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7" name="Rectangle 12"/>
            <p:cNvSpPr>
              <a:spLocks noChangeArrowheads="1"/>
            </p:cNvSpPr>
            <p:nvPr/>
          </p:nvSpPr>
          <p:spPr bwMode="auto">
            <a:xfrm>
              <a:off x="1429" y="1661"/>
              <a:ext cx="1587" cy="31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" name="Rectangle 13"/>
            <p:cNvSpPr>
              <a:spLocks noChangeArrowheads="1"/>
            </p:cNvSpPr>
            <p:nvPr/>
          </p:nvSpPr>
          <p:spPr bwMode="auto">
            <a:xfrm>
              <a:off x="2699" y="1888"/>
              <a:ext cx="317" cy="131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9" name="Rectangle 14"/>
            <p:cNvSpPr>
              <a:spLocks noChangeArrowheads="1"/>
            </p:cNvSpPr>
            <p:nvPr/>
          </p:nvSpPr>
          <p:spPr bwMode="auto">
            <a:xfrm>
              <a:off x="1429" y="1661"/>
              <a:ext cx="1587" cy="163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>
              <a:off x="1746" y="1979"/>
              <a:ext cx="953" cy="99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6"/>
            <p:cNvSpPr>
              <a:spLocks noChangeArrowheads="1"/>
            </p:cNvSpPr>
            <p:nvPr/>
          </p:nvSpPr>
          <p:spPr bwMode="auto">
            <a:xfrm>
              <a:off x="1837" y="2341"/>
              <a:ext cx="136" cy="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>
              <a:off x="1383" y="2478"/>
              <a:ext cx="227" cy="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3" name="AutoShape 18"/>
            <p:cNvSpPr>
              <a:spLocks noChangeArrowheads="1"/>
            </p:cNvSpPr>
            <p:nvPr/>
          </p:nvSpPr>
          <p:spPr bwMode="auto">
            <a:xfrm>
              <a:off x="1429" y="2432"/>
              <a:ext cx="544" cy="136"/>
            </a:xfrm>
            <a:prstGeom prst="parallelogram">
              <a:avLst>
                <a:gd name="adj" fmla="val 17157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19"/>
            <p:cNvSpPr>
              <a:spLocks noChangeArrowheads="1"/>
            </p:cNvSpPr>
            <p:nvPr/>
          </p:nvSpPr>
          <p:spPr bwMode="auto">
            <a:xfrm>
              <a:off x="1429" y="2387"/>
              <a:ext cx="317" cy="9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429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1429" y="2478"/>
              <a:ext cx="31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1746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AutoShape 23"/>
            <p:cNvSpPr>
              <a:spLocks noChangeArrowheads="1"/>
            </p:cNvSpPr>
            <p:nvPr/>
          </p:nvSpPr>
          <p:spPr bwMode="auto">
            <a:xfrm rot="16200000" flipH="1">
              <a:off x="1746" y="2251"/>
              <a:ext cx="228" cy="227"/>
            </a:xfrm>
            <a:prstGeom prst="parallelogram">
              <a:avLst>
                <a:gd name="adj" fmla="val 64752"/>
              </a:avLst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746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1746" y="2341"/>
              <a:ext cx="227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1973" y="2251"/>
              <a:ext cx="0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2" name="Group 27"/>
          <p:cNvGrpSpPr>
            <a:grpSpLocks/>
          </p:cNvGrpSpPr>
          <p:nvPr/>
        </p:nvGrpSpPr>
        <p:grpSpPr bwMode="auto">
          <a:xfrm>
            <a:off x="6586410" y="1837752"/>
            <a:ext cx="3608872" cy="4289365"/>
            <a:chOff x="1116" y="1794"/>
            <a:chExt cx="1518" cy="1916"/>
          </a:xfrm>
        </p:grpSpPr>
        <p:sp>
          <p:nvSpPr>
            <p:cNvPr id="33" name="Rectangle 28"/>
            <p:cNvSpPr>
              <a:spLocks noChangeArrowheads="1"/>
            </p:cNvSpPr>
            <p:nvPr/>
          </p:nvSpPr>
          <p:spPr bwMode="auto">
            <a:xfrm>
              <a:off x="1116" y="1794"/>
              <a:ext cx="1518" cy="161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 useBgFill="1">
          <p:nvSpPr>
            <p:cNvPr id="34" name="Rectangle 29"/>
            <p:cNvSpPr>
              <a:spLocks noChangeArrowheads="1"/>
            </p:cNvSpPr>
            <p:nvPr/>
          </p:nvSpPr>
          <p:spPr bwMode="auto">
            <a:xfrm>
              <a:off x="1459" y="2143"/>
              <a:ext cx="828" cy="942"/>
            </a:xfrm>
            <a:prstGeom prst="rect">
              <a:avLst/>
            </a:prstGeom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5" name="Oval 30"/>
            <p:cNvSpPr>
              <a:spLocks noChangeArrowheads="1"/>
            </p:cNvSpPr>
            <p:nvPr/>
          </p:nvSpPr>
          <p:spPr bwMode="auto">
            <a:xfrm>
              <a:off x="1464" y="2892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6" name="Oval 31"/>
            <p:cNvSpPr>
              <a:spLocks noChangeArrowheads="1"/>
            </p:cNvSpPr>
            <p:nvPr/>
          </p:nvSpPr>
          <p:spPr bwMode="auto">
            <a:xfrm>
              <a:off x="1627" y="2893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Oval 32"/>
            <p:cNvSpPr>
              <a:spLocks noChangeArrowheads="1"/>
            </p:cNvSpPr>
            <p:nvPr/>
          </p:nvSpPr>
          <p:spPr bwMode="auto">
            <a:xfrm>
              <a:off x="1790" y="2894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1953" y="2895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9" name="Oval 34"/>
            <p:cNvSpPr>
              <a:spLocks noChangeArrowheads="1"/>
            </p:cNvSpPr>
            <p:nvPr/>
          </p:nvSpPr>
          <p:spPr bwMode="auto">
            <a:xfrm>
              <a:off x="2116" y="2896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0" name="Oval 35"/>
            <p:cNvSpPr>
              <a:spLocks noChangeArrowheads="1"/>
            </p:cNvSpPr>
            <p:nvPr/>
          </p:nvSpPr>
          <p:spPr bwMode="auto">
            <a:xfrm>
              <a:off x="1543" y="2725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1" name="Oval 36"/>
            <p:cNvSpPr>
              <a:spLocks noChangeArrowheads="1"/>
            </p:cNvSpPr>
            <p:nvPr/>
          </p:nvSpPr>
          <p:spPr bwMode="auto">
            <a:xfrm>
              <a:off x="1706" y="2726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2" name="Oval 37"/>
            <p:cNvSpPr>
              <a:spLocks noChangeArrowheads="1"/>
            </p:cNvSpPr>
            <p:nvPr/>
          </p:nvSpPr>
          <p:spPr bwMode="auto">
            <a:xfrm>
              <a:off x="1869" y="2727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3" name="Oval 38"/>
            <p:cNvSpPr>
              <a:spLocks noChangeArrowheads="1"/>
            </p:cNvSpPr>
            <p:nvPr/>
          </p:nvSpPr>
          <p:spPr bwMode="auto">
            <a:xfrm>
              <a:off x="2032" y="2728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4" name="Oval 39"/>
            <p:cNvSpPr>
              <a:spLocks noChangeArrowheads="1"/>
            </p:cNvSpPr>
            <p:nvPr/>
          </p:nvSpPr>
          <p:spPr bwMode="auto">
            <a:xfrm>
              <a:off x="1461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5" name="Oval 40"/>
            <p:cNvSpPr>
              <a:spLocks noChangeArrowheads="1"/>
            </p:cNvSpPr>
            <p:nvPr/>
          </p:nvSpPr>
          <p:spPr bwMode="auto">
            <a:xfrm>
              <a:off x="1519" y="214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" name="Oval 41"/>
            <p:cNvSpPr>
              <a:spLocks noChangeArrowheads="1"/>
            </p:cNvSpPr>
            <p:nvPr/>
          </p:nvSpPr>
          <p:spPr bwMode="auto">
            <a:xfrm>
              <a:off x="1577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" name="Oval 42"/>
            <p:cNvSpPr>
              <a:spLocks noChangeArrowheads="1"/>
            </p:cNvSpPr>
            <p:nvPr/>
          </p:nvSpPr>
          <p:spPr bwMode="auto">
            <a:xfrm>
              <a:off x="1635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8" name="Oval 43"/>
            <p:cNvSpPr>
              <a:spLocks noChangeArrowheads="1"/>
            </p:cNvSpPr>
            <p:nvPr/>
          </p:nvSpPr>
          <p:spPr bwMode="auto">
            <a:xfrm>
              <a:off x="1693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9" name="Oval 44"/>
            <p:cNvSpPr>
              <a:spLocks noChangeArrowheads="1"/>
            </p:cNvSpPr>
            <p:nvPr/>
          </p:nvSpPr>
          <p:spPr bwMode="auto">
            <a:xfrm>
              <a:off x="1751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0" name="Oval 45"/>
            <p:cNvSpPr>
              <a:spLocks noChangeArrowheads="1"/>
            </p:cNvSpPr>
            <p:nvPr/>
          </p:nvSpPr>
          <p:spPr bwMode="auto">
            <a:xfrm>
              <a:off x="1809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Oval 46"/>
            <p:cNvSpPr>
              <a:spLocks noChangeArrowheads="1"/>
            </p:cNvSpPr>
            <p:nvPr/>
          </p:nvSpPr>
          <p:spPr bwMode="auto">
            <a:xfrm>
              <a:off x="1867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2" name="Oval 47"/>
            <p:cNvSpPr>
              <a:spLocks noChangeArrowheads="1"/>
            </p:cNvSpPr>
            <p:nvPr/>
          </p:nvSpPr>
          <p:spPr bwMode="auto">
            <a:xfrm>
              <a:off x="1925" y="215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3" name="Oval 48"/>
            <p:cNvSpPr>
              <a:spLocks noChangeArrowheads="1"/>
            </p:cNvSpPr>
            <p:nvPr/>
          </p:nvSpPr>
          <p:spPr bwMode="auto">
            <a:xfrm>
              <a:off x="1983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Oval 49"/>
            <p:cNvSpPr>
              <a:spLocks noChangeArrowheads="1"/>
            </p:cNvSpPr>
            <p:nvPr/>
          </p:nvSpPr>
          <p:spPr bwMode="auto">
            <a:xfrm>
              <a:off x="2041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5" name="Oval 50"/>
            <p:cNvSpPr>
              <a:spLocks noChangeArrowheads="1"/>
            </p:cNvSpPr>
            <p:nvPr/>
          </p:nvSpPr>
          <p:spPr bwMode="auto">
            <a:xfrm>
              <a:off x="2099" y="215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6" name="Oval 51"/>
            <p:cNvSpPr>
              <a:spLocks noChangeArrowheads="1"/>
            </p:cNvSpPr>
            <p:nvPr/>
          </p:nvSpPr>
          <p:spPr bwMode="auto">
            <a:xfrm>
              <a:off x="2156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7" name="Oval 52"/>
            <p:cNvSpPr>
              <a:spLocks noChangeArrowheads="1"/>
            </p:cNvSpPr>
            <p:nvPr/>
          </p:nvSpPr>
          <p:spPr bwMode="auto">
            <a:xfrm>
              <a:off x="2214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8" name="Oval 53"/>
            <p:cNvSpPr>
              <a:spLocks noChangeArrowheads="1"/>
            </p:cNvSpPr>
            <p:nvPr/>
          </p:nvSpPr>
          <p:spPr bwMode="auto">
            <a:xfrm>
              <a:off x="1492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9" name="Oval 54"/>
            <p:cNvSpPr>
              <a:spLocks noChangeArrowheads="1"/>
            </p:cNvSpPr>
            <p:nvPr/>
          </p:nvSpPr>
          <p:spPr bwMode="auto">
            <a:xfrm>
              <a:off x="1550" y="221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0" name="Oval 55"/>
            <p:cNvSpPr>
              <a:spLocks noChangeArrowheads="1"/>
            </p:cNvSpPr>
            <p:nvPr/>
          </p:nvSpPr>
          <p:spPr bwMode="auto">
            <a:xfrm>
              <a:off x="1608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1" name="Oval 56"/>
            <p:cNvSpPr>
              <a:spLocks noChangeArrowheads="1"/>
            </p:cNvSpPr>
            <p:nvPr/>
          </p:nvSpPr>
          <p:spPr bwMode="auto">
            <a:xfrm>
              <a:off x="1666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2" name="Oval 57"/>
            <p:cNvSpPr>
              <a:spLocks noChangeArrowheads="1"/>
            </p:cNvSpPr>
            <p:nvPr/>
          </p:nvSpPr>
          <p:spPr bwMode="auto">
            <a:xfrm>
              <a:off x="1724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3" name="Oval 58"/>
            <p:cNvSpPr>
              <a:spLocks noChangeArrowheads="1"/>
            </p:cNvSpPr>
            <p:nvPr/>
          </p:nvSpPr>
          <p:spPr bwMode="auto">
            <a:xfrm>
              <a:off x="1782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1840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5" name="Oval 60"/>
            <p:cNvSpPr>
              <a:spLocks noChangeArrowheads="1"/>
            </p:cNvSpPr>
            <p:nvPr/>
          </p:nvSpPr>
          <p:spPr bwMode="auto">
            <a:xfrm>
              <a:off x="1898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6" name="Oval 61"/>
            <p:cNvSpPr>
              <a:spLocks noChangeArrowheads="1"/>
            </p:cNvSpPr>
            <p:nvPr/>
          </p:nvSpPr>
          <p:spPr bwMode="auto">
            <a:xfrm>
              <a:off x="1956" y="221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7" name="Oval 62"/>
            <p:cNvSpPr>
              <a:spLocks noChangeArrowheads="1"/>
            </p:cNvSpPr>
            <p:nvPr/>
          </p:nvSpPr>
          <p:spPr bwMode="auto">
            <a:xfrm>
              <a:off x="2014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8" name="Oval 63"/>
            <p:cNvSpPr>
              <a:spLocks noChangeArrowheads="1"/>
            </p:cNvSpPr>
            <p:nvPr/>
          </p:nvSpPr>
          <p:spPr bwMode="auto">
            <a:xfrm>
              <a:off x="2072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9" name="Oval 64"/>
            <p:cNvSpPr>
              <a:spLocks noChangeArrowheads="1"/>
            </p:cNvSpPr>
            <p:nvPr/>
          </p:nvSpPr>
          <p:spPr bwMode="auto">
            <a:xfrm>
              <a:off x="2130" y="221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0" name="Oval 65"/>
            <p:cNvSpPr>
              <a:spLocks noChangeArrowheads="1"/>
            </p:cNvSpPr>
            <p:nvPr/>
          </p:nvSpPr>
          <p:spPr bwMode="auto">
            <a:xfrm>
              <a:off x="2187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1" name="Oval 66"/>
            <p:cNvSpPr>
              <a:spLocks noChangeArrowheads="1"/>
            </p:cNvSpPr>
            <p:nvPr/>
          </p:nvSpPr>
          <p:spPr bwMode="auto">
            <a:xfrm>
              <a:off x="1462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2" name="Oval 67"/>
            <p:cNvSpPr>
              <a:spLocks noChangeArrowheads="1"/>
            </p:cNvSpPr>
            <p:nvPr/>
          </p:nvSpPr>
          <p:spPr bwMode="auto">
            <a:xfrm>
              <a:off x="1520" y="227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3" name="Oval 68"/>
            <p:cNvSpPr>
              <a:spLocks noChangeArrowheads="1"/>
            </p:cNvSpPr>
            <p:nvPr/>
          </p:nvSpPr>
          <p:spPr bwMode="auto">
            <a:xfrm>
              <a:off x="1578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4" name="Oval 69"/>
            <p:cNvSpPr>
              <a:spLocks noChangeArrowheads="1"/>
            </p:cNvSpPr>
            <p:nvPr/>
          </p:nvSpPr>
          <p:spPr bwMode="auto">
            <a:xfrm>
              <a:off x="1636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5" name="Oval 70"/>
            <p:cNvSpPr>
              <a:spLocks noChangeArrowheads="1"/>
            </p:cNvSpPr>
            <p:nvPr/>
          </p:nvSpPr>
          <p:spPr bwMode="auto">
            <a:xfrm>
              <a:off x="1694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6" name="Oval 71"/>
            <p:cNvSpPr>
              <a:spLocks noChangeArrowheads="1"/>
            </p:cNvSpPr>
            <p:nvPr/>
          </p:nvSpPr>
          <p:spPr bwMode="auto">
            <a:xfrm>
              <a:off x="1752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" name="Oval 72"/>
            <p:cNvSpPr>
              <a:spLocks noChangeArrowheads="1"/>
            </p:cNvSpPr>
            <p:nvPr/>
          </p:nvSpPr>
          <p:spPr bwMode="auto">
            <a:xfrm>
              <a:off x="1810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8" name="Oval 73"/>
            <p:cNvSpPr>
              <a:spLocks noChangeArrowheads="1"/>
            </p:cNvSpPr>
            <p:nvPr/>
          </p:nvSpPr>
          <p:spPr bwMode="auto">
            <a:xfrm>
              <a:off x="1868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9" name="Oval 74"/>
            <p:cNvSpPr>
              <a:spLocks noChangeArrowheads="1"/>
            </p:cNvSpPr>
            <p:nvPr/>
          </p:nvSpPr>
          <p:spPr bwMode="auto">
            <a:xfrm>
              <a:off x="1926" y="227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0" name="Oval 75"/>
            <p:cNvSpPr>
              <a:spLocks noChangeArrowheads="1"/>
            </p:cNvSpPr>
            <p:nvPr/>
          </p:nvSpPr>
          <p:spPr bwMode="auto">
            <a:xfrm>
              <a:off x="1984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1" name="Oval 76"/>
            <p:cNvSpPr>
              <a:spLocks noChangeArrowheads="1"/>
            </p:cNvSpPr>
            <p:nvPr/>
          </p:nvSpPr>
          <p:spPr bwMode="auto">
            <a:xfrm>
              <a:off x="2042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2100" y="227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>
              <a:off x="2157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4" name="Oval 79"/>
            <p:cNvSpPr>
              <a:spLocks noChangeArrowheads="1"/>
            </p:cNvSpPr>
            <p:nvPr/>
          </p:nvSpPr>
          <p:spPr bwMode="auto">
            <a:xfrm>
              <a:off x="2215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5" name="Oval 80"/>
            <p:cNvSpPr>
              <a:spLocks noChangeArrowheads="1"/>
            </p:cNvSpPr>
            <p:nvPr/>
          </p:nvSpPr>
          <p:spPr bwMode="auto">
            <a:xfrm>
              <a:off x="1493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1551" y="233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7" name="Oval 82"/>
            <p:cNvSpPr>
              <a:spLocks noChangeArrowheads="1"/>
            </p:cNvSpPr>
            <p:nvPr/>
          </p:nvSpPr>
          <p:spPr bwMode="auto">
            <a:xfrm>
              <a:off x="1609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8" name="Oval 83"/>
            <p:cNvSpPr>
              <a:spLocks noChangeArrowheads="1"/>
            </p:cNvSpPr>
            <p:nvPr/>
          </p:nvSpPr>
          <p:spPr bwMode="auto">
            <a:xfrm>
              <a:off x="1667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9" name="Oval 84"/>
            <p:cNvSpPr>
              <a:spLocks noChangeArrowheads="1"/>
            </p:cNvSpPr>
            <p:nvPr/>
          </p:nvSpPr>
          <p:spPr bwMode="auto">
            <a:xfrm>
              <a:off x="1725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0" name="Oval 85"/>
            <p:cNvSpPr>
              <a:spLocks noChangeArrowheads="1"/>
            </p:cNvSpPr>
            <p:nvPr/>
          </p:nvSpPr>
          <p:spPr bwMode="auto">
            <a:xfrm>
              <a:off x="1783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1" name="Oval 86"/>
            <p:cNvSpPr>
              <a:spLocks noChangeArrowheads="1"/>
            </p:cNvSpPr>
            <p:nvPr/>
          </p:nvSpPr>
          <p:spPr bwMode="auto">
            <a:xfrm>
              <a:off x="1841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2" name="Oval 87"/>
            <p:cNvSpPr>
              <a:spLocks noChangeArrowheads="1"/>
            </p:cNvSpPr>
            <p:nvPr/>
          </p:nvSpPr>
          <p:spPr bwMode="auto">
            <a:xfrm>
              <a:off x="1899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3" name="Oval 88"/>
            <p:cNvSpPr>
              <a:spLocks noChangeArrowheads="1"/>
            </p:cNvSpPr>
            <p:nvPr/>
          </p:nvSpPr>
          <p:spPr bwMode="auto">
            <a:xfrm>
              <a:off x="1957" y="233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4" name="Oval 89"/>
            <p:cNvSpPr>
              <a:spLocks noChangeArrowheads="1"/>
            </p:cNvSpPr>
            <p:nvPr/>
          </p:nvSpPr>
          <p:spPr bwMode="auto">
            <a:xfrm>
              <a:off x="2015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5" name="Oval 90"/>
            <p:cNvSpPr>
              <a:spLocks noChangeArrowheads="1"/>
            </p:cNvSpPr>
            <p:nvPr/>
          </p:nvSpPr>
          <p:spPr bwMode="auto">
            <a:xfrm>
              <a:off x="2073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" name="Oval 91"/>
            <p:cNvSpPr>
              <a:spLocks noChangeArrowheads="1"/>
            </p:cNvSpPr>
            <p:nvPr/>
          </p:nvSpPr>
          <p:spPr bwMode="auto">
            <a:xfrm>
              <a:off x="2131" y="233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7" name="Oval 92"/>
            <p:cNvSpPr>
              <a:spLocks noChangeArrowheads="1"/>
            </p:cNvSpPr>
            <p:nvPr/>
          </p:nvSpPr>
          <p:spPr bwMode="auto">
            <a:xfrm>
              <a:off x="2188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8" name="Oval 93"/>
            <p:cNvSpPr>
              <a:spLocks noChangeArrowheads="1"/>
            </p:cNvSpPr>
            <p:nvPr/>
          </p:nvSpPr>
          <p:spPr bwMode="auto">
            <a:xfrm>
              <a:off x="1463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9" name="Oval 94"/>
            <p:cNvSpPr>
              <a:spLocks noChangeArrowheads="1"/>
            </p:cNvSpPr>
            <p:nvPr/>
          </p:nvSpPr>
          <p:spPr bwMode="auto">
            <a:xfrm>
              <a:off x="1521" y="239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0" name="Oval 95"/>
            <p:cNvSpPr>
              <a:spLocks noChangeArrowheads="1"/>
            </p:cNvSpPr>
            <p:nvPr/>
          </p:nvSpPr>
          <p:spPr bwMode="auto">
            <a:xfrm>
              <a:off x="1579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1" name="Oval 96"/>
            <p:cNvSpPr>
              <a:spLocks noChangeArrowheads="1"/>
            </p:cNvSpPr>
            <p:nvPr/>
          </p:nvSpPr>
          <p:spPr bwMode="auto">
            <a:xfrm>
              <a:off x="1637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2" name="Oval 97"/>
            <p:cNvSpPr>
              <a:spLocks noChangeArrowheads="1"/>
            </p:cNvSpPr>
            <p:nvPr/>
          </p:nvSpPr>
          <p:spPr bwMode="auto">
            <a:xfrm>
              <a:off x="1695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3" name="Oval 98"/>
            <p:cNvSpPr>
              <a:spLocks noChangeArrowheads="1"/>
            </p:cNvSpPr>
            <p:nvPr/>
          </p:nvSpPr>
          <p:spPr bwMode="auto">
            <a:xfrm>
              <a:off x="1753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4" name="Oval 99"/>
            <p:cNvSpPr>
              <a:spLocks noChangeArrowheads="1"/>
            </p:cNvSpPr>
            <p:nvPr/>
          </p:nvSpPr>
          <p:spPr bwMode="auto">
            <a:xfrm>
              <a:off x="1811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5" name="Oval 100"/>
            <p:cNvSpPr>
              <a:spLocks noChangeArrowheads="1"/>
            </p:cNvSpPr>
            <p:nvPr/>
          </p:nvSpPr>
          <p:spPr bwMode="auto">
            <a:xfrm>
              <a:off x="1869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6" name="Oval 101"/>
            <p:cNvSpPr>
              <a:spLocks noChangeArrowheads="1"/>
            </p:cNvSpPr>
            <p:nvPr/>
          </p:nvSpPr>
          <p:spPr bwMode="auto">
            <a:xfrm>
              <a:off x="1927" y="240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7" name="Oval 102"/>
            <p:cNvSpPr>
              <a:spLocks noChangeArrowheads="1"/>
            </p:cNvSpPr>
            <p:nvPr/>
          </p:nvSpPr>
          <p:spPr bwMode="auto">
            <a:xfrm>
              <a:off x="1985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8" name="Oval 103"/>
            <p:cNvSpPr>
              <a:spLocks noChangeArrowheads="1"/>
            </p:cNvSpPr>
            <p:nvPr/>
          </p:nvSpPr>
          <p:spPr bwMode="auto">
            <a:xfrm>
              <a:off x="2043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9" name="Oval 104"/>
            <p:cNvSpPr>
              <a:spLocks noChangeArrowheads="1"/>
            </p:cNvSpPr>
            <p:nvPr/>
          </p:nvSpPr>
          <p:spPr bwMode="auto">
            <a:xfrm>
              <a:off x="2101" y="240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0" name="Oval 105"/>
            <p:cNvSpPr>
              <a:spLocks noChangeArrowheads="1"/>
            </p:cNvSpPr>
            <p:nvPr/>
          </p:nvSpPr>
          <p:spPr bwMode="auto">
            <a:xfrm>
              <a:off x="2158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1" name="Oval 106"/>
            <p:cNvSpPr>
              <a:spLocks noChangeArrowheads="1"/>
            </p:cNvSpPr>
            <p:nvPr/>
          </p:nvSpPr>
          <p:spPr bwMode="auto">
            <a:xfrm>
              <a:off x="2216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2" name="Oval 107"/>
            <p:cNvSpPr>
              <a:spLocks noChangeArrowheads="1"/>
            </p:cNvSpPr>
            <p:nvPr/>
          </p:nvSpPr>
          <p:spPr bwMode="auto">
            <a:xfrm>
              <a:off x="1494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3" name="Oval 108"/>
            <p:cNvSpPr>
              <a:spLocks noChangeArrowheads="1"/>
            </p:cNvSpPr>
            <p:nvPr/>
          </p:nvSpPr>
          <p:spPr bwMode="auto">
            <a:xfrm>
              <a:off x="1552" y="245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4" name="Oval 109"/>
            <p:cNvSpPr>
              <a:spLocks noChangeArrowheads="1"/>
            </p:cNvSpPr>
            <p:nvPr/>
          </p:nvSpPr>
          <p:spPr bwMode="auto">
            <a:xfrm>
              <a:off x="1610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5" name="Oval 110"/>
            <p:cNvSpPr>
              <a:spLocks noChangeArrowheads="1"/>
            </p:cNvSpPr>
            <p:nvPr/>
          </p:nvSpPr>
          <p:spPr bwMode="auto">
            <a:xfrm>
              <a:off x="1668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6" name="Oval 111"/>
            <p:cNvSpPr>
              <a:spLocks noChangeArrowheads="1"/>
            </p:cNvSpPr>
            <p:nvPr/>
          </p:nvSpPr>
          <p:spPr bwMode="auto">
            <a:xfrm>
              <a:off x="1726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7" name="Oval 112"/>
            <p:cNvSpPr>
              <a:spLocks noChangeArrowheads="1"/>
            </p:cNvSpPr>
            <p:nvPr/>
          </p:nvSpPr>
          <p:spPr bwMode="auto">
            <a:xfrm>
              <a:off x="1784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8" name="Oval 113"/>
            <p:cNvSpPr>
              <a:spLocks noChangeArrowheads="1"/>
            </p:cNvSpPr>
            <p:nvPr/>
          </p:nvSpPr>
          <p:spPr bwMode="auto">
            <a:xfrm>
              <a:off x="1842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9" name="Oval 114"/>
            <p:cNvSpPr>
              <a:spLocks noChangeArrowheads="1"/>
            </p:cNvSpPr>
            <p:nvPr/>
          </p:nvSpPr>
          <p:spPr bwMode="auto">
            <a:xfrm>
              <a:off x="1900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0" name="Oval 115"/>
            <p:cNvSpPr>
              <a:spLocks noChangeArrowheads="1"/>
            </p:cNvSpPr>
            <p:nvPr/>
          </p:nvSpPr>
          <p:spPr bwMode="auto">
            <a:xfrm>
              <a:off x="1958" y="246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1" name="Oval 116"/>
            <p:cNvSpPr>
              <a:spLocks noChangeArrowheads="1"/>
            </p:cNvSpPr>
            <p:nvPr/>
          </p:nvSpPr>
          <p:spPr bwMode="auto">
            <a:xfrm>
              <a:off x="2016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2" name="Oval 117"/>
            <p:cNvSpPr>
              <a:spLocks noChangeArrowheads="1"/>
            </p:cNvSpPr>
            <p:nvPr/>
          </p:nvSpPr>
          <p:spPr bwMode="auto">
            <a:xfrm>
              <a:off x="2074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3" name="Oval 118"/>
            <p:cNvSpPr>
              <a:spLocks noChangeArrowheads="1"/>
            </p:cNvSpPr>
            <p:nvPr/>
          </p:nvSpPr>
          <p:spPr bwMode="auto">
            <a:xfrm>
              <a:off x="2132" y="246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4" name="Oval 119"/>
            <p:cNvSpPr>
              <a:spLocks noChangeArrowheads="1"/>
            </p:cNvSpPr>
            <p:nvPr/>
          </p:nvSpPr>
          <p:spPr bwMode="auto">
            <a:xfrm>
              <a:off x="2189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5" name="Oval 120"/>
            <p:cNvSpPr>
              <a:spLocks noChangeArrowheads="1"/>
            </p:cNvSpPr>
            <p:nvPr/>
          </p:nvSpPr>
          <p:spPr bwMode="auto">
            <a:xfrm>
              <a:off x="1462" y="2557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6" name="Oval 121"/>
            <p:cNvSpPr>
              <a:spLocks noChangeArrowheads="1"/>
            </p:cNvSpPr>
            <p:nvPr/>
          </p:nvSpPr>
          <p:spPr bwMode="auto">
            <a:xfrm>
              <a:off x="1625" y="2558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7" name="Oval 122"/>
            <p:cNvSpPr>
              <a:spLocks noChangeArrowheads="1"/>
            </p:cNvSpPr>
            <p:nvPr/>
          </p:nvSpPr>
          <p:spPr bwMode="auto">
            <a:xfrm>
              <a:off x="1788" y="2559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8" name="Oval 123"/>
            <p:cNvSpPr>
              <a:spLocks noChangeArrowheads="1"/>
            </p:cNvSpPr>
            <p:nvPr/>
          </p:nvSpPr>
          <p:spPr bwMode="auto">
            <a:xfrm>
              <a:off x="1951" y="2560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9" name="Oval 124"/>
            <p:cNvSpPr>
              <a:spLocks noChangeArrowheads="1"/>
            </p:cNvSpPr>
            <p:nvPr/>
          </p:nvSpPr>
          <p:spPr bwMode="auto">
            <a:xfrm>
              <a:off x="2114" y="2561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0" name="Text Box 125"/>
            <p:cNvSpPr txBox="1">
              <a:spLocks noChangeArrowheads="1"/>
            </p:cNvSpPr>
            <p:nvPr/>
          </p:nvSpPr>
          <p:spPr bwMode="auto">
            <a:xfrm>
              <a:off x="1574" y="3504"/>
              <a:ext cx="657" cy="2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2400" dirty="0" err="1">
                  <a:solidFill>
                    <a:schemeClr val="tx1"/>
                  </a:solidFill>
                  <a:latin typeface="Times New Roman" panose="02020603050405020304" pitchFamily="18" charset="0"/>
                </a:rPr>
                <a:t>k</a:t>
              </a:r>
              <a:r>
                <a:rPr lang="fr-FR" altLang="fr-FR" sz="2400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</a:rPr>
                <a:t>B</a:t>
              </a:r>
              <a:r>
                <a:rPr lang="fr-FR" altLang="fr-FR" sz="24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 = 0,7</a:t>
              </a:r>
            </a:p>
          </p:txBody>
        </p:sp>
      </p:grpSp>
      <p:sp>
        <p:nvSpPr>
          <p:cNvPr id="321" name="ZoneTexte 32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1084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4721580" y="2712164"/>
            <a:ext cx="0" cy="7207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>
            <a:off x="4361217" y="3432889"/>
            <a:ext cx="7191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4361217" y="3577351"/>
            <a:ext cx="7191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9"/>
          <p:cNvSpPr>
            <a:spLocks noChangeShapeType="1"/>
          </p:cNvSpPr>
          <p:nvPr/>
        </p:nvSpPr>
        <p:spPr bwMode="auto">
          <a:xfrm>
            <a:off x="4721580" y="3577351"/>
            <a:ext cx="0" cy="7207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10"/>
          <p:cNvSpPr txBox="1">
            <a:spLocks noChangeArrowheads="1"/>
          </p:cNvSpPr>
          <p:nvPr/>
        </p:nvSpPr>
        <p:spPr bwMode="auto">
          <a:xfrm>
            <a:off x="3977123" y="3271261"/>
            <a:ext cx="40748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C</a:t>
            </a:r>
          </a:p>
        </p:txBody>
      </p:sp>
      <p:grpSp>
        <p:nvGrpSpPr>
          <p:cNvPr id="13" name="Group 11"/>
          <p:cNvGrpSpPr>
            <a:grpSpLocks/>
          </p:cNvGrpSpPr>
          <p:nvPr/>
        </p:nvGrpSpPr>
        <p:grpSpPr bwMode="auto">
          <a:xfrm>
            <a:off x="4170719" y="1488201"/>
            <a:ext cx="693738" cy="1223963"/>
            <a:chOff x="1989" y="1298"/>
            <a:chExt cx="437" cy="771"/>
          </a:xfrm>
        </p:grpSpPr>
        <p:sp>
          <p:nvSpPr>
            <p:cNvPr id="14" name="Rectangle 12"/>
            <p:cNvSpPr>
              <a:spLocks noChangeArrowheads="1"/>
            </p:cNvSpPr>
            <p:nvPr/>
          </p:nvSpPr>
          <p:spPr bwMode="auto">
            <a:xfrm>
              <a:off x="2245" y="1525"/>
              <a:ext cx="181" cy="54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5" name="Line 13"/>
            <p:cNvSpPr>
              <a:spLocks noChangeShapeType="1"/>
            </p:cNvSpPr>
            <p:nvPr/>
          </p:nvSpPr>
          <p:spPr bwMode="auto">
            <a:xfrm flipV="1">
              <a:off x="2336" y="1298"/>
              <a:ext cx="0" cy="22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Text Box 14"/>
            <p:cNvSpPr txBox="1">
              <a:spLocks noChangeArrowheads="1"/>
            </p:cNvSpPr>
            <p:nvPr/>
          </p:nvSpPr>
          <p:spPr bwMode="auto">
            <a:xfrm>
              <a:off x="1989" y="1622"/>
              <a:ext cx="202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24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r</a:t>
              </a:r>
            </a:p>
          </p:txBody>
        </p:sp>
      </p:grp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4762855" y="2229564"/>
            <a:ext cx="184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8" name="Group 16"/>
          <p:cNvGrpSpPr>
            <a:grpSpLocks/>
          </p:cNvGrpSpPr>
          <p:nvPr/>
        </p:nvGrpSpPr>
        <p:grpSpPr bwMode="auto">
          <a:xfrm>
            <a:off x="6807554" y="1580519"/>
            <a:ext cx="3081338" cy="1746251"/>
            <a:chOff x="2750" y="1326"/>
            <a:chExt cx="1941" cy="1100"/>
          </a:xfrm>
        </p:grpSpPr>
        <p:sp>
          <p:nvSpPr>
            <p:cNvPr id="19" name="Text Box 17"/>
            <p:cNvSpPr txBox="1">
              <a:spLocks noChangeArrowheads="1"/>
            </p:cNvSpPr>
            <p:nvPr/>
          </p:nvSpPr>
          <p:spPr bwMode="auto">
            <a:xfrm>
              <a:off x="2750" y="1326"/>
              <a:ext cx="1941" cy="29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4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Losses in the capacitor</a:t>
              </a:r>
            </a:p>
          </p:txBody>
        </p:sp>
        <p:graphicFrame>
          <p:nvGraphicFramePr>
            <p:cNvPr id="20" name="Object 1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05431554"/>
                </p:ext>
              </p:extLst>
            </p:nvPr>
          </p:nvGraphicFramePr>
          <p:xfrm>
            <a:off x="3129" y="1867"/>
            <a:ext cx="1184" cy="5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57002" imgH="215806" progId="Equation.3">
                    <p:embed/>
                  </p:oleObj>
                </mc:Choice>
                <mc:Fallback>
                  <p:oleObj name="Equation" r:id="rId2" imgW="457002" imgH="215806" progId="Equation.3">
                    <p:embed/>
                    <p:pic>
                      <p:nvPicPr>
                        <p:cNvPr id="20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29" y="1867"/>
                          <a:ext cx="1184" cy="559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9525">
                          <a:solidFill>
                            <a:srgbClr val="FF3300"/>
                          </a:solidFill>
                          <a:miter lim="800000"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1" name="Line 19"/>
          <p:cNvSpPr>
            <a:spLocks noChangeShapeType="1"/>
          </p:cNvSpPr>
          <p:nvPr/>
        </p:nvSpPr>
        <p:spPr bwMode="auto">
          <a:xfrm>
            <a:off x="4716817" y="3732926"/>
            <a:ext cx="0" cy="419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20"/>
          <p:cNvSpPr txBox="1">
            <a:spLocks noChangeArrowheads="1"/>
          </p:cNvSpPr>
          <p:nvPr/>
        </p:nvSpPr>
        <p:spPr bwMode="auto">
          <a:xfrm>
            <a:off x="4338992" y="3828176"/>
            <a:ext cx="26962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400">
                <a:solidFill>
                  <a:schemeClr val="tx1"/>
                </a:solidFill>
                <a:latin typeface="Times New Roman" panose="02020603050405020304" pitchFamily="18" charset="0"/>
              </a:rPr>
              <a:t>i</a:t>
            </a:r>
          </a:p>
        </p:txBody>
      </p:sp>
      <p:grpSp>
        <p:nvGrpSpPr>
          <p:cNvPr id="23" name="Group 24"/>
          <p:cNvGrpSpPr>
            <a:grpSpLocks/>
          </p:cNvGrpSpPr>
          <p:nvPr/>
        </p:nvGrpSpPr>
        <p:grpSpPr bwMode="auto">
          <a:xfrm>
            <a:off x="5374754" y="1657364"/>
            <a:ext cx="4249738" cy="2505075"/>
            <a:chOff x="1950" y="1404"/>
            <a:chExt cx="2677" cy="1578"/>
          </a:xfrm>
        </p:grpSpPr>
        <p:sp>
          <p:nvSpPr>
            <p:cNvPr id="24" name="Text Box 21"/>
            <p:cNvSpPr txBox="1">
              <a:spLocks noChangeArrowheads="1"/>
            </p:cNvSpPr>
            <p:nvPr/>
          </p:nvSpPr>
          <p:spPr bwMode="auto">
            <a:xfrm>
              <a:off x="3008" y="2628"/>
              <a:ext cx="1619" cy="29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4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Rated voltage: </a:t>
              </a:r>
              <a:r>
                <a:rPr lang="en-CA" altLang="fr-FR" sz="2400" dirty="0" err="1">
                  <a:solidFill>
                    <a:schemeClr val="tx1"/>
                  </a:solidFill>
                  <a:latin typeface="Times New Roman" panose="02020603050405020304" pitchFamily="18" charset="0"/>
                </a:rPr>
                <a:t>U</a:t>
              </a:r>
              <a:r>
                <a:rPr lang="en-CA" altLang="fr-FR" sz="2400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</a:rPr>
                <a:t>eff</a:t>
              </a:r>
              <a:endPara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Line 22"/>
            <p:cNvSpPr>
              <a:spLocks noChangeShapeType="1"/>
            </p:cNvSpPr>
            <p:nvPr/>
          </p:nvSpPr>
          <p:spPr bwMode="auto">
            <a:xfrm flipV="1">
              <a:off x="1950" y="1404"/>
              <a:ext cx="0" cy="1578"/>
            </a:xfrm>
            <a:prstGeom prst="line">
              <a:avLst/>
            </a:prstGeom>
            <a:noFill/>
            <a:ln w="12700">
              <a:solidFill>
                <a:srgbClr val="FF33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Text Box 23"/>
            <p:cNvSpPr txBox="1">
              <a:spLocks noChangeArrowheads="1"/>
            </p:cNvSpPr>
            <p:nvPr/>
          </p:nvSpPr>
          <p:spPr bwMode="auto">
            <a:xfrm>
              <a:off x="2017" y="2031"/>
              <a:ext cx="213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400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u</a:t>
              </a:r>
            </a:p>
          </p:txBody>
        </p:sp>
      </p:grp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4032498" y="5689535"/>
            <a:ext cx="64219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Multiple technologies : depends on the frequency</a:t>
            </a:r>
          </a:p>
        </p:txBody>
      </p:sp>
      <p:sp>
        <p:nvSpPr>
          <p:cNvPr id="28" name="Text Box 17"/>
          <p:cNvSpPr txBox="1">
            <a:spLocks noChangeArrowheads="1"/>
          </p:cNvSpPr>
          <p:nvPr/>
        </p:nvSpPr>
        <p:spPr bwMode="auto">
          <a:xfrm>
            <a:off x="4864457" y="4784116"/>
            <a:ext cx="4758034" cy="46166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 : ESR (Equivalent Series Resistor)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651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69"/>
          <p:cNvSpPr/>
          <p:nvPr/>
        </p:nvSpPr>
        <p:spPr>
          <a:xfrm rot="16200000">
            <a:off x="9313225" y="2635893"/>
            <a:ext cx="1094884" cy="246849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Coil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2830285" y="1335314"/>
            <a:ext cx="538893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Electrolytic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High voltage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Polarized -&gt; DC voltage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Lifetime depends on temperature</a:t>
            </a:r>
            <a:endParaRPr lang="en-US" sz="2800" dirty="0"/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Ceramic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“low” values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High frequency</a:t>
            </a:r>
            <a:endParaRPr lang="en-US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Films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Self-healing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855" y="295562"/>
            <a:ext cx="1570038" cy="1290134"/>
          </a:xfrm>
          <a:prstGeom prst="rect">
            <a:avLst/>
          </a:prstGeom>
        </p:spPr>
      </p:pic>
      <p:grpSp>
        <p:nvGrpSpPr>
          <p:cNvPr id="59" name="Groupe 58"/>
          <p:cNvGrpSpPr/>
          <p:nvPr/>
        </p:nvGrpSpPr>
        <p:grpSpPr>
          <a:xfrm>
            <a:off x="7675418" y="0"/>
            <a:ext cx="3553320" cy="3140424"/>
            <a:chOff x="7062839" y="65582"/>
            <a:chExt cx="3553320" cy="3140424"/>
          </a:xfrm>
        </p:grpSpPr>
        <p:sp>
          <p:nvSpPr>
            <p:cNvPr id="32" name="Rectangle 31"/>
            <p:cNvSpPr/>
            <p:nvPr/>
          </p:nvSpPr>
          <p:spPr>
            <a:xfrm>
              <a:off x="8025740" y="620209"/>
              <a:ext cx="809078" cy="1871306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8834818" y="620209"/>
              <a:ext cx="175832" cy="187130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010650" y="620209"/>
              <a:ext cx="419100" cy="1871306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9448800" y="620209"/>
              <a:ext cx="241300" cy="1871306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8" name="Connecteur droit 37"/>
            <p:cNvCxnSpPr>
              <a:stCxn id="32" idx="1"/>
            </p:cNvCxnSpPr>
            <p:nvPr/>
          </p:nvCxnSpPr>
          <p:spPr>
            <a:xfrm flipH="1" flipV="1">
              <a:off x="7248187" y="1549400"/>
              <a:ext cx="777553" cy="6462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necteur droit 39"/>
            <p:cNvCxnSpPr/>
            <p:nvPr/>
          </p:nvCxnSpPr>
          <p:spPr>
            <a:xfrm flipH="1" flipV="1">
              <a:off x="9704781" y="1555862"/>
              <a:ext cx="777553" cy="6462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ZoneTexte 40"/>
            <p:cNvSpPr txBox="1"/>
            <p:nvPr/>
          </p:nvSpPr>
          <p:spPr>
            <a:xfrm>
              <a:off x="7062839" y="971087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3200" b="1" dirty="0"/>
                <a:t>+</a:t>
              </a:r>
            </a:p>
          </p:txBody>
        </p:sp>
        <p:sp>
          <p:nvSpPr>
            <p:cNvPr id="42" name="ZoneTexte 41"/>
            <p:cNvSpPr txBox="1"/>
            <p:nvPr/>
          </p:nvSpPr>
          <p:spPr>
            <a:xfrm>
              <a:off x="10306459" y="977549"/>
              <a:ext cx="30970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3200" b="1" dirty="0"/>
                <a:t>-</a:t>
              </a:r>
            </a:p>
          </p:txBody>
        </p:sp>
        <p:sp>
          <p:nvSpPr>
            <p:cNvPr id="43" name="ZoneTexte 42"/>
            <p:cNvSpPr txBox="1"/>
            <p:nvPr/>
          </p:nvSpPr>
          <p:spPr>
            <a:xfrm>
              <a:off x="8785860" y="65582"/>
              <a:ext cx="3962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i="1" dirty="0"/>
                <a:t>Al</a:t>
              </a:r>
            </a:p>
          </p:txBody>
        </p:sp>
        <p:cxnSp>
          <p:nvCxnSpPr>
            <p:cNvPr id="45" name="Connecteur droit 44"/>
            <p:cNvCxnSpPr/>
            <p:nvPr/>
          </p:nvCxnSpPr>
          <p:spPr>
            <a:xfrm flipH="1">
              <a:off x="8442326" y="346075"/>
              <a:ext cx="392492" cy="4667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eur droit 46"/>
            <p:cNvCxnSpPr/>
            <p:nvPr/>
          </p:nvCxnSpPr>
          <p:spPr>
            <a:xfrm>
              <a:off x="9093200" y="346075"/>
              <a:ext cx="476250" cy="4159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ZoneTexte 50"/>
            <p:cNvSpPr txBox="1"/>
            <p:nvPr/>
          </p:nvSpPr>
          <p:spPr>
            <a:xfrm>
              <a:off x="8402047" y="2698175"/>
              <a:ext cx="7676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i="1" dirty="0"/>
                <a:t>Al</a:t>
              </a:r>
              <a:r>
                <a:rPr lang="fr-FR" b="1" i="1" baseline="-25000" dirty="0"/>
                <a:t>2</a:t>
              </a:r>
              <a:r>
                <a:rPr lang="fr-FR" b="1" i="1" dirty="0"/>
                <a:t>O</a:t>
              </a:r>
              <a:r>
                <a:rPr lang="fr-FR" b="1" i="1" baseline="-25000" dirty="0"/>
                <a:t>3</a:t>
              </a:r>
            </a:p>
          </p:txBody>
        </p:sp>
        <p:cxnSp>
          <p:nvCxnSpPr>
            <p:cNvPr id="52" name="Connecteur droit 51"/>
            <p:cNvCxnSpPr/>
            <p:nvPr/>
          </p:nvCxnSpPr>
          <p:spPr>
            <a:xfrm flipH="1">
              <a:off x="8726488" y="2308324"/>
              <a:ext cx="220263" cy="482743"/>
            </a:xfrm>
            <a:prstGeom prst="line">
              <a:avLst/>
            </a:prstGeom>
            <a:ln w="19050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ZoneTexte 53"/>
            <p:cNvSpPr txBox="1"/>
            <p:nvPr/>
          </p:nvSpPr>
          <p:spPr>
            <a:xfrm>
              <a:off x="9319074" y="2559675"/>
              <a:ext cx="1297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/>
                <a:t>Electrolytic paper</a:t>
              </a:r>
              <a:endParaRPr lang="en-US" b="1" i="1" baseline="-25000" dirty="0"/>
            </a:p>
          </p:txBody>
        </p:sp>
        <p:cxnSp>
          <p:nvCxnSpPr>
            <p:cNvPr id="55" name="Connecteur droit 54"/>
            <p:cNvCxnSpPr/>
            <p:nvPr/>
          </p:nvCxnSpPr>
          <p:spPr>
            <a:xfrm>
              <a:off x="9278003" y="2353474"/>
              <a:ext cx="365893" cy="280817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0" name="Image 5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020" y="3126212"/>
            <a:ext cx="1793398" cy="1490436"/>
          </a:xfrm>
          <a:prstGeom prst="rect">
            <a:avLst/>
          </a:prstGeom>
        </p:spPr>
      </p:pic>
      <p:pic>
        <p:nvPicPr>
          <p:cNvPr id="61" name="Image 6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020" y="5183731"/>
            <a:ext cx="1514737" cy="1163204"/>
          </a:xfrm>
          <a:prstGeom prst="rect">
            <a:avLst/>
          </a:prstGeom>
        </p:spPr>
      </p:pic>
      <p:cxnSp>
        <p:nvCxnSpPr>
          <p:cNvPr id="63" name="Connecteur droit 62"/>
          <p:cNvCxnSpPr/>
          <p:nvPr/>
        </p:nvCxnSpPr>
        <p:spPr>
          <a:xfrm>
            <a:off x="8638319" y="3325279"/>
            <a:ext cx="0" cy="109230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>
            <a:off x="11094913" y="3325279"/>
            <a:ext cx="0" cy="109230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H="1">
            <a:off x="8626421" y="3338090"/>
            <a:ext cx="229261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 flipH="1">
            <a:off x="8884761" y="3525704"/>
            <a:ext cx="218912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 flipH="1">
            <a:off x="8659344" y="3686877"/>
            <a:ext cx="225969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Connecteur droit 72"/>
          <p:cNvCxnSpPr/>
          <p:nvPr/>
        </p:nvCxnSpPr>
        <p:spPr>
          <a:xfrm flipH="1">
            <a:off x="8884761" y="3874491"/>
            <a:ext cx="22220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 flipH="1">
            <a:off x="8652611" y="4069813"/>
            <a:ext cx="226642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 flipH="1">
            <a:off x="8870070" y="4257427"/>
            <a:ext cx="223953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H="1" flipV="1">
            <a:off x="8646632" y="4412239"/>
            <a:ext cx="1963710" cy="534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8480425" y="3338090"/>
            <a:ext cx="143204" cy="1074148"/>
          </a:xfrm>
          <a:prstGeom prst="rect">
            <a:avLst/>
          </a:prstGeom>
          <a:solidFill>
            <a:schemeClr val="tx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 83"/>
          <p:cNvSpPr/>
          <p:nvPr/>
        </p:nvSpPr>
        <p:spPr>
          <a:xfrm>
            <a:off x="11141121" y="3338090"/>
            <a:ext cx="143204" cy="1074148"/>
          </a:xfrm>
          <a:prstGeom prst="rect">
            <a:avLst/>
          </a:prstGeom>
          <a:solidFill>
            <a:schemeClr val="tx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ZoneTexte 84"/>
          <p:cNvSpPr txBox="1"/>
          <p:nvPr/>
        </p:nvSpPr>
        <p:spPr>
          <a:xfrm>
            <a:off x="10356794" y="4567050"/>
            <a:ext cx="1297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Ceramic</a:t>
            </a:r>
            <a:endParaRPr lang="en-US" b="1" i="1" baseline="-25000" dirty="0"/>
          </a:p>
        </p:txBody>
      </p:sp>
      <p:sp>
        <p:nvSpPr>
          <p:cNvPr id="86" name="ZoneTexte 85"/>
          <p:cNvSpPr txBox="1"/>
          <p:nvPr/>
        </p:nvSpPr>
        <p:spPr>
          <a:xfrm>
            <a:off x="7376184" y="4504964"/>
            <a:ext cx="1297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External contact</a:t>
            </a:r>
            <a:endParaRPr lang="en-US" b="1" i="1" baseline="-25000" dirty="0"/>
          </a:p>
        </p:txBody>
      </p:sp>
      <p:cxnSp>
        <p:nvCxnSpPr>
          <p:cNvPr id="87" name="Connecteur droit 86"/>
          <p:cNvCxnSpPr/>
          <p:nvPr/>
        </p:nvCxnSpPr>
        <p:spPr>
          <a:xfrm flipV="1">
            <a:off x="8040930" y="4257427"/>
            <a:ext cx="439495" cy="263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/>
          <p:cNvCxnSpPr/>
          <p:nvPr/>
        </p:nvCxnSpPr>
        <p:spPr>
          <a:xfrm>
            <a:off x="10751937" y="4354204"/>
            <a:ext cx="365893" cy="280817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6816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Active components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35602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Active components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3649890" y="1765981"/>
            <a:ext cx="1368425" cy="371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PN junction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2553" y="1527856"/>
            <a:ext cx="2943225" cy="1381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990" y="3472543"/>
            <a:ext cx="2714625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3813403" y="3688443"/>
            <a:ext cx="7524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Diode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743582" y="5554980"/>
                <a:ext cx="3617016" cy="7620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. </m:t>
                                  </m:r>
                                  <m:sSub>
                                    <m:sSubPr>
                                      <m:ctrlP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  <m:t>𝐴𝐾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sup>
                          </m:sSup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fr-FR" sz="3600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582" y="5554980"/>
                <a:ext cx="3617016" cy="7620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1016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Diode : static characteristic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2"/>
          <p:cNvGrpSpPr>
            <a:grpSpLocks/>
          </p:cNvGrpSpPr>
          <p:nvPr/>
        </p:nvGrpSpPr>
        <p:grpSpPr bwMode="auto">
          <a:xfrm>
            <a:off x="8063035" y="113030"/>
            <a:ext cx="3681413" cy="4373563"/>
            <a:chOff x="3112" y="196"/>
            <a:chExt cx="2319" cy="2755"/>
          </a:xfrm>
        </p:grpSpPr>
        <p:sp>
          <p:nvSpPr>
            <p:cNvPr id="7" name="Freeform 3"/>
            <p:cNvSpPr>
              <a:spLocks noChangeArrowheads="1"/>
            </p:cNvSpPr>
            <p:nvPr/>
          </p:nvSpPr>
          <p:spPr bwMode="auto">
            <a:xfrm>
              <a:off x="4257" y="1264"/>
              <a:ext cx="71" cy="71"/>
            </a:xfrm>
            <a:custGeom>
              <a:avLst/>
              <a:gdLst>
                <a:gd name="T0" fmla="*/ 0 w 9"/>
                <a:gd name="T1" fmla="*/ 560 h 9"/>
                <a:gd name="T2" fmla="*/ 308 w 9"/>
                <a:gd name="T3" fmla="*/ 560 h 9"/>
                <a:gd name="T4" fmla="*/ 560 w 9"/>
                <a:gd name="T5" fmla="*/ 560 h 9"/>
                <a:gd name="T6" fmla="*/ 308 w 9"/>
                <a:gd name="T7" fmla="*/ 0 h 9"/>
                <a:gd name="T8" fmla="*/ 0 w 9"/>
                <a:gd name="T9" fmla="*/ 56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" h="9">
                  <a:moveTo>
                    <a:pt x="0" y="9"/>
                  </a:moveTo>
                  <a:cubicBezTo>
                    <a:pt x="2" y="9"/>
                    <a:pt x="3" y="9"/>
                    <a:pt x="5" y="9"/>
                  </a:cubicBezTo>
                  <a:cubicBezTo>
                    <a:pt x="6" y="9"/>
                    <a:pt x="7" y="9"/>
                    <a:pt x="9" y="9"/>
                  </a:cubicBezTo>
                  <a:lnTo>
                    <a:pt x="5" y="0"/>
                  </a:lnTo>
                  <a:lnTo>
                    <a:pt x="0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0" name="Line 4"/>
            <p:cNvSpPr>
              <a:spLocks noChangeShapeType="1"/>
            </p:cNvSpPr>
            <p:nvPr/>
          </p:nvSpPr>
          <p:spPr bwMode="auto">
            <a:xfrm>
              <a:off x="4289" y="1328"/>
              <a:ext cx="0" cy="156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5"/>
            <p:cNvSpPr>
              <a:spLocks noChangeArrowheads="1"/>
            </p:cNvSpPr>
            <p:nvPr/>
          </p:nvSpPr>
          <p:spPr bwMode="auto">
            <a:xfrm>
              <a:off x="5081" y="2360"/>
              <a:ext cx="87" cy="71"/>
            </a:xfrm>
            <a:custGeom>
              <a:avLst/>
              <a:gdLst>
                <a:gd name="T0" fmla="*/ 63 w 11"/>
                <a:gd name="T1" fmla="*/ 0 h 9"/>
                <a:gd name="T2" fmla="*/ 63 w 11"/>
                <a:gd name="T3" fmla="*/ 252 h 9"/>
                <a:gd name="T4" fmla="*/ 63 w 11"/>
                <a:gd name="T5" fmla="*/ 560 h 9"/>
                <a:gd name="T6" fmla="*/ 688 w 11"/>
                <a:gd name="T7" fmla="*/ 308 h 9"/>
                <a:gd name="T8" fmla="*/ 63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Line 6"/>
            <p:cNvSpPr>
              <a:spLocks noChangeShapeType="1"/>
            </p:cNvSpPr>
            <p:nvPr/>
          </p:nvSpPr>
          <p:spPr bwMode="auto">
            <a:xfrm flipH="1">
              <a:off x="3112" y="2400"/>
              <a:ext cx="1985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Rectangle 7"/>
            <p:cNvSpPr>
              <a:spLocks noChangeArrowheads="1"/>
            </p:cNvSpPr>
            <p:nvPr/>
          </p:nvSpPr>
          <p:spPr bwMode="auto">
            <a:xfrm>
              <a:off x="4177" y="1152"/>
              <a:ext cx="53" cy="2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4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14" name="Rectangle 8"/>
            <p:cNvSpPr>
              <a:spLocks noChangeArrowheads="1"/>
            </p:cNvSpPr>
            <p:nvPr/>
          </p:nvSpPr>
          <p:spPr bwMode="auto">
            <a:xfrm>
              <a:off x="5217" y="2152"/>
              <a:ext cx="95" cy="2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4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5" name="Rectangle 9"/>
            <p:cNvSpPr>
              <a:spLocks noChangeArrowheads="1"/>
            </p:cNvSpPr>
            <p:nvPr/>
          </p:nvSpPr>
          <p:spPr bwMode="auto">
            <a:xfrm>
              <a:off x="5329" y="2280"/>
              <a:ext cx="102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AK</a:t>
              </a:r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4153" y="2256"/>
              <a:ext cx="56" cy="1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4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7" name="AutoShape 11"/>
            <p:cNvSpPr>
              <a:spLocks noChangeArrowheads="1"/>
            </p:cNvSpPr>
            <p:nvPr/>
          </p:nvSpPr>
          <p:spPr bwMode="auto">
            <a:xfrm>
              <a:off x="3852" y="1872"/>
              <a:ext cx="617" cy="55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82 w 21600"/>
                <a:gd name="T19" fmla="*/ 10781 h 21600"/>
                <a:gd name="T20" fmla="*/ 17469 w 21600"/>
                <a:gd name="T21" fmla="*/ 21600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7348" y="19387"/>
                  </a:moveTo>
                  <a:cubicBezTo>
                    <a:pt x="15467" y="20822"/>
                    <a:pt x="13166" y="21599"/>
                    <a:pt x="10800" y="21599"/>
                  </a:cubicBezTo>
                  <a:lnTo>
                    <a:pt x="10800" y="10800"/>
                  </a:lnTo>
                  <a:lnTo>
                    <a:pt x="17348" y="19387"/>
                  </a:lnTo>
                  <a:close/>
                </a:path>
                <a:path w="21600" h="21600" fill="none">
                  <a:moveTo>
                    <a:pt x="17348" y="19387"/>
                  </a:moveTo>
                  <a:cubicBezTo>
                    <a:pt x="15467" y="20822"/>
                    <a:pt x="13166" y="21599"/>
                    <a:pt x="10800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8" name="AutoShape 12"/>
            <p:cNvSpPr>
              <a:spLocks noChangeArrowheads="1"/>
            </p:cNvSpPr>
            <p:nvPr/>
          </p:nvSpPr>
          <p:spPr bwMode="auto">
            <a:xfrm>
              <a:off x="3908" y="196"/>
              <a:ext cx="719" cy="22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85 w 21600"/>
                <a:gd name="T19" fmla="*/ 10604 h 21600"/>
                <a:gd name="T20" fmla="*/ 21600 w 21600"/>
                <a:gd name="T21" fmla="*/ 21305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59"/>
                  </a:moveTo>
                  <a:cubicBezTo>
                    <a:pt x="21599" y="10773"/>
                    <a:pt x="21600" y="10786"/>
                    <a:pt x="21600" y="10800"/>
                  </a:cubicBezTo>
                  <a:cubicBezTo>
                    <a:pt x="21600" y="15886"/>
                    <a:pt x="18050" y="20283"/>
                    <a:pt x="13079" y="21356"/>
                  </a:cubicBezTo>
                  <a:lnTo>
                    <a:pt x="10800" y="10800"/>
                  </a:lnTo>
                  <a:lnTo>
                    <a:pt x="21599" y="10759"/>
                  </a:lnTo>
                  <a:close/>
                </a:path>
                <a:path w="21600" h="21600" fill="none">
                  <a:moveTo>
                    <a:pt x="21599" y="10759"/>
                  </a:moveTo>
                  <a:cubicBezTo>
                    <a:pt x="21599" y="10773"/>
                    <a:pt x="21600" y="10786"/>
                    <a:pt x="21600" y="10800"/>
                  </a:cubicBezTo>
                  <a:cubicBezTo>
                    <a:pt x="21600" y="15886"/>
                    <a:pt x="18050" y="20283"/>
                    <a:pt x="13079" y="21356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 flipH="1">
              <a:off x="3279" y="2424"/>
              <a:ext cx="905" cy="1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AutoShape 14"/>
            <p:cNvSpPr>
              <a:spLocks noChangeArrowheads="1"/>
            </p:cNvSpPr>
            <p:nvPr/>
          </p:nvSpPr>
          <p:spPr bwMode="auto">
            <a:xfrm>
              <a:off x="3177" y="2436"/>
              <a:ext cx="255" cy="20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0 h 21600"/>
                <a:gd name="T20" fmla="*/ 10758 w 21600"/>
                <a:gd name="T21" fmla="*/ 10748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33"/>
                  </a:moveTo>
                  <a:cubicBezTo>
                    <a:pt x="36" y="4815"/>
                    <a:pt x="4828" y="29"/>
                    <a:pt x="10746" y="0"/>
                  </a:cubicBezTo>
                  <a:lnTo>
                    <a:pt x="10800" y="10800"/>
                  </a:lnTo>
                  <a:lnTo>
                    <a:pt x="0" y="10733"/>
                  </a:lnTo>
                  <a:close/>
                </a:path>
                <a:path w="21600" h="21600" fill="none">
                  <a:moveTo>
                    <a:pt x="0" y="10733"/>
                  </a:moveTo>
                  <a:cubicBezTo>
                    <a:pt x="36" y="4815"/>
                    <a:pt x="4828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177" y="2544"/>
              <a:ext cx="0" cy="40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177" y="2376"/>
              <a:ext cx="0" cy="5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273" y="1624"/>
              <a:ext cx="3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513" y="2376"/>
              <a:ext cx="0" cy="4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273" y="2448"/>
              <a:ext cx="3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Rectangle 20"/>
            <p:cNvSpPr>
              <a:spLocks noChangeArrowheads="1"/>
            </p:cNvSpPr>
            <p:nvPr/>
          </p:nvSpPr>
          <p:spPr bwMode="auto">
            <a:xfrm>
              <a:off x="4121" y="2448"/>
              <a:ext cx="2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7" name="Rectangle 21"/>
            <p:cNvSpPr>
              <a:spLocks noChangeArrowheads="1"/>
            </p:cNvSpPr>
            <p:nvPr/>
          </p:nvSpPr>
          <p:spPr bwMode="auto">
            <a:xfrm>
              <a:off x="4169" y="2488"/>
              <a:ext cx="27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28" name="Rectangle 22"/>
            <p:cNvSpPr>
              <a:spLocks noChangeArrowheads="1"/>
            </p:cNvSpPr>
            <p:nvPr/>
          </p:nvSpPr>
          <p:spPr bwMode="auto">
            <a:xfrm>
              <a:off x="4097" y="1536"/>
              <a:ext cx="2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9" name="Rectangle 23"/>
            <p:cNvSpPr>
              <a:spLocks noChangeArrowheads="1"/>
            </p:cNvSpPr>
            <p:nvPr/>
          </p:nvSpPr>
          <p:spPr bwMode="auto">
            <a:xfrm>
              <a:off x="4153" y="1576"/>
              <a:ext cx="36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30" name="Rectangle 24"/>
            <p:cNvSpPr>
              <a:spLocks noChangeArrowheads="1"/>
            </p:cNvSpPr>
            <p:nvPr/>
          </p:nvSpPr>
          <p:spPr bwMode="auto">
            <a:xfrm>
              <a:off x="4497" y="2440"/>
              <a:ext cx="6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31" name="Rectangle 25"/>
            <p:cNvSpPr>
              <a:spLocks noChangeArrowheads="1"/>
            </p:cNvSpPr>
            <p:nvPr/>
          </p:nvSpPr>
          <p:spPr bwMode="auto">
            <a:xfrm>
              <a:off x="4569" y="2480"/>
              <a:ext cx="36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32" name="Rectangle 26"/>
            <p:cNvSpPr>
              <a:spLocks noChangeArrowheads="1"/>
            </p:cNvSpPr>
            <p:nvPr/>
          </p:nvSpPr>
          <p:spPr bwMode="auto">
            <a:xfrm>
              <a:off x="3193" y="2216"/>
              <a:ext cx="6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33" name="Rectangle 27"/>
            <p:cNvSpPr>
              <a:spLocks noChangeArrowheads="1"/>
            </p:cNvSpPr>
            <p:nvPr/>
          </p:nvSpPr>
          <p:spPr bwMode="auto">
            <a:xfrm>
              <a:off x="3265" y="2272"/>
              <a:ext cx="95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BR</a:t>
              </a:r>
            </a:p>
          </p:txBody>
        </p:sp>
      </p:grpSp>
      <p:sp>
        <p:nvSpPr>
          <p:cNvPr id="34" name="Text Box 28"/>
          <p:cNvSpPr txBox="1">
            <a:spLocks noChangeArrowheads="1"/>
          </p:cNvSpPr>
          <p:nvPr/>
        </p:nvSpPr>
        <p:spPr bwMode="auto">
          <a:xfrm>
            <a:off x="2759426" y="1670259"/>
            <a:ext cx="5215059" cy="1571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Average forward current, or 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, 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AV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forward current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FSM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forward surge current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RRM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Reverse repetitive current</a:t>
            </a:r>
          </a:p>
        </p:txBody>
      </p:sp>
      <p:sp>
        <p:nvSpPr>
          <p:cNvPr id="35" name="Text Box 29"/>
          <p:cNvSpPr txBox="1">
            <a:spLocks noChangeArrowheads="1"/>
          </p:cNvSpPr>
          <p:nvPr/>
        </p:nvSpPr>
        <p:spPr bwMode="auto">
          <a:xfrm>
            <a:off x="2903889" y="4767471"/>
            <a:ext cx="5159146" cy="12025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Forward voltage or 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FM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BR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Breakdown reverse voltage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RRM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repetitive reverse voltage</a:t>
            </a:r>
          </a:p>
        </p:txBody>
      </p:sp>
      <p:pic>
        <p:nvPicPr>
          <p:cNvPr id="36" name="Picture 3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8245" y="5003064"/>
            <a:ext cx="2875594" cy="13721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37" name="ZoneTexte 3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63445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Diode : simplified static characteristics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ine 2"/>
          <p:cNvSpPr>
            <a:spLocks noChangeShapeType="1"/>
          </p:cNvSpPr>
          <p:nvPr/>
        </p:nvSpPr>
        <p:spPr bwMode="auto">
          <a:xfrm>
            <a:off x="3407682" y="4003675"/>
            <a:ext cx="3527425" cy="1588"/>
          </a:xfrm>
          <a:prstGeom prst="line">
            <a:avLst/>
          </a:prstGeom>
          <a:noFill/>
          <a:ln w="936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3"/>
          <p:cNvSpPr>
            <a:spLocks noChangeShapeType="1"/>
          </p:cNvSpPr>
          <p:nvPr/>
        </p:nvSpPr>
        <p:spPr bwMode="auto">
          <a:xfrm flipV="1">
            <a:off x="5352370" y="1914525"/>
            <a:ext cx="1587" cy="3603625"/>
          </a:xfrm>
          <a:prstGeom prst="line">
            <a:avLst/>
          </a:prstGeom>
          <a:noFill/>
          <a:ln w="936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4"/>
          <p:cNvSpPr>
            <a:spLocks noChangeShapeType="1"/>
          </p:cNvSpPr>
          <p:nvPr/>
        </p:nvSpPr>
        <p:spPr bwMode="auto">
          <a:xfrm flipV="1">
            <a:off x="5566682" y="1985963"/>
            <a:ext cx="360363" cy="2019300"/>
          </a:xfrm>
          <a:prstGeom prst="line">
            <a:avLst/>
          </a:prstGeom>
          <a:noFill/>
          <a:ln w="28440" cap="sq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5"/>
          <p:cNvSpPr>
            <a:spLocks noChangeShapeType="1"/>
          </p:cNvSpPr>
          <p:nvPr/>
        </p:nvSpPr>
        <p:spPr bwMode="auto">
          <a:xfrm>
            <a:off x="3695020" y="4003675"/>
            <a:ext cx="1871662" cy="1588"/>
          </a:xfrm>
          <a:prstGeom prst="line">
            <a:avLst/>
          </a:prstGeom>
          <a:noFill/>
          <a:ln w="28440" cap="sq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3695020" y="4003675"/>
            <a:ext cx="1587" cy="1439863"/>
          </a:xfrm>
          <a:prstGeom prst="line">
            <a:avLst/>
          </a:prstGeom>
          <a:noFill/>
          <a:ln w="28440" cap="sq">
            <a:solidFill>
              <a:srgbClr val="0033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5382532" y="1700213"/>
            <a:ext cx="2444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593795" y="3567113"/>
            <a:ext cx="485775" cy="40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latin typeface="Times New Roman" panose="02020603050405020304" pitchFamily="18" charset="0"/>
              </a:rPr>
              <a:t>AK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5095195" y="3998913"/>
            <a:ext cx="2952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6" name="AutoShape 10"/>
          <p:cNvSpPr>
            <a:spLocks/>
          </p:cNvSpPr>
          <p:nvPr/>
        </p:nvSpPr>
        <p:spPr bwMode="auto">
          <a:xfrm>
            <a:off x="7043057" y="1946275"/>
            <a:ext cx="2957286" cy="403225"/>
          </a:xfrm>
          <a:prstGeom prst="borderCallout1">
            <a:avLst>
              <a:gd name="adj1" fmla="val 28347"/>
              <a:gd name="adj2" fmla="val -3787"/>
              <a:gd name="adj3" fmla="val 256578"/>
              <a:gd name="adj4" fmla="val -39608"/>
            </a:avLst>
          </a:prstGeom>
          <a:noFill/>
          <a:ln w="936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400" b="1" dirty="0">
                <a:latin typeface="Times New Roman" panose="02020603050405020304" pitchFamily="18" charset="0"/>
              </a:rPr>
              <a:t>V</a:t>
            </a:r>
            <a:r>
              <a:rPr lang="fr-FR" altLang="fr-FR" sz="2400" b="1" baseline="-25000" dirty="0">
                <a:latin typeface="Times New Roman" panose="02020603050405020304" pitchFamily="18" charset="0"/>
              </a:rPr>
              <a:t>AK</a:t>
            </a:r>
            <a:r>
              <a:rPr lang="fr-FR" altLang="fr-FR" sz="2400" b="1" dirty="0">
                <a:latin typeface="Times New Roman" panose="02020603050405020304" pitchFamily="18" charset="0"/>
              </a:rPr>
              <a:t> = </a:t>
            </a:r>
            <a:r>
              <a:rPr lang="fr-FR" altLang="fr-FR" sz="2400" b="1" dirty="0" err="1">
                <a:latin typeface="Times New Roman" panose="02020603050405020304" pitchFamily="18" charset="0"/>
              </a:rPr>
              <a:t>r</a:t>
            </a:r>
            <a:r>
              <a:rPr lang="fr-FR" altLang="fr-FR" sz="2400" b="1" baseline="-25000" dirty="0" err="1">
                <a:latin typeface="Times New Roman" panose="02020603050405020304" pitchFamily="18" charset="0"/>
              </a:rPr>
              <a:t>on</a:t>
            </a:r>
            <a:r>
              <a:rPr lang="fr-FR" altLang="fr-FR" sz="2400" b="1" dirty="0" err="1">
                <a:latin typeface="Times New Roman" panose="02020603050405020304" pitchFamily="18" charset="0"/>
              </a:rPr>
              <a:t>.i</a:t>
            </a:r>
            <a:r>
              <a:rPr lang="fr-FR" altLang="fr-FR" sz="2400" b="1" dirty="0">
                <a:latin typeface="Times New Roman" panose="02020603050405020304" pitchFamily="18" charset="0"/>
              </a:rPr>
              <a:t> + V</a:t>
            </a:r>
            <a:r>
              <a:rPr lang="fr-FR" altLang="fr-FR" sz="2400" b="1" baseline="-25000" dirty="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7" name="AutoShape 11"/>
          <p:cNvSpPr>
            <a:spLocks/>
          </p:cNvSpPr>
          <p:nvPr/>
        </p:nvSpPr>
        <p:spPr bwMode="auto">
          <a:xfrm>
            <a:off x="5742895" y="4797425"/>
            <a:ext cx="936625" cy="403225"/>
          </a:xfrm>
          <a:prstGeom prst="borderCallout1">
            <a:avLst>
              <a:gd name="adj1" fmla="val 28347"/>
              <a:gd name="adj2" fmla="val -8134"/>
              <a:gd name="adj3" fmla="val -156411"/>
              <a:gd name="adj4" fmla="val -101866"/>
            </a:avLst>
          </a:prstGeom>
          <a:noFill/>
          <a:ln w="9360" cap="sq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 = 0</a:t>
            </a:r>
          </a:p>
        </p:txBody>
      </p:sp>
      <p:sp>
        <p:nvSpPr>
          <p:cNvPr id="18" name="AutoShape 12"/>
          <p:cNvSpPr>
            <a:spLocks/>
          </p:cNvSpPr>
          <p:nvPr/>
        </p:nvSpPr>
        <p:spPr bwMode="auto">
          <a:xfrm>
            <a:off x="5742895" y="5734050"/>
            <a:ext cx="1584325" cy="403225"/>
          </a:xfrm>
          <a:prstGeom prst="borderCallout1">
            <a:avLst>
              <a:gd name="adj1" fmla="val 28347"/>
              <a:gd name="adj2" fmla="val -4810"/>
              <a:gd name="adj3" fmla="val -174296"/>
              <a:gd name="adj4" fmla="val -121943"/>
            </a:avLst>
          </a:prstGeom>
          <a:noFill/>
          <a:ln w="9360" cap="sq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BR</a:t>
            </a:r>
          </a:p>
        </p:txBody>
      </p:sp>
      <p:sp>
        <p:nvSpPr>
          <p:cNvPr id="19" name="Text Box 13"/>
          <p:cNvSpPr txBox="1">
            <a:spLocks noChangeArrowheads="1"/>
          </p:cNvSpPr>
          <p:nvPr/>
        </p:nvSpPr>
        <p:spPr bwMode="auto">
          <a:xfrm>
            <a:off x="7897376" y="2708275"/>
            <a:ext cx="3333262" cy="8331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Linearized characteristic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3 segments</a:t>
            </a:r>
          </a:p>
        </p:txBody>
      </p:sp>
      <p:sp>
        <p:nvSpPr>
          <p:cNvPr id="20" name="Text Box 14"/>
          <p:cNvSpPr txBox="1">
            <a:spLocks noChangeArrowheads="1"/>
          </p:cNvSpPr>
          <p:nvPr/>
        </p:nvSpPr>
        <p:spPr bwMode="auto">
          <a:xfrm>
            <a:off x="7543120" y="4337505"/>
            <a:ext cx="4272272" cy="1017844"/>
          </a:xfrm>
          <a:prstGeom prst="rect">
            <a:avLst/>
          </a:prstGeom>
          <a:noFill/>
          <a:ln w="936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Conduction loss calculation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P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= r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on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.I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eff</a:t>
            </a:r>
            <a:r>
              <a:rPr lang="en-CA" altLang="fr-FR" b="1" i="1" baseline="30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+ V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. </a:t>
            </a:r>
            <a:r>
              <a:rPr lang="en-CA" altLang="fr-FR" b="1" i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b="1" i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av</a:t>
            </a:r>
            <a:endParaRPr lang="en-CA" altLang="fr-FR" b="1" i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" name="AutoShape 15"/>
          <p:cNvSpPr>
            <a:spLocks noChangeArrowheads="1"/>
          </p:cNvSpPr>
          <p:nvPr/>
        </p:nvSpPr>
        <p:spPr bwMode="auto">
          <a:xfrm>
            <a:off x="9391919" y="3647815"/>
            <a:ext cx="287337" cy="504825"/>
          </a:xfrm>
          <a:prstGeom prst="downArrow">
            <a:avLst>
              <a:gd name="adj1" fmla="val 50000"/>
              <a:gd name="adj2" fmla="val 43923"/>
            </a:avLst>
          </a:prstGeom>
          <a:solidFill>
            <a:srgbClr val="0000FF"/>
          </a:solidFill>
          <a:ln w="9360" cap="sq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22" name="ZoneTexte 2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17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1+#ppt_h/2"/>
                                          </p:val>
                                        </p:tav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Heat sink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22" t="17381" r="40886" b="28439"/>
          <a:stretch/>
        </p:blipFill>
        <p:spPr bwMode="auto">
          <a:xfrm>
            <a:off x="7421879" y="2148840"/>
            <a:ext cx="2087881" cy="1950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2784533" y="1388031"/>
            <a:ext cx="4539008" cy="2920066"/>
            <a:chOff x="350" y="1016"/>
            <a:chExt cx="1754" cy="1229"/>
          </a:xfrm>
        </p:grpSpPr>
        <p:sp>
          <p:nvSpPr>
            <p:cNvPr id="14" name="Oval 8"/>
            <p:cNvSpPr>
              <a:spLocks noChangeArrowheads="1"/>
            </p:cNvSpPr>
            <p:nvPr/>
          </p:nvSpPr>
          <p:spPr bwMode="auto">
            <a:xfrm>
              <a:off x="590" y="1637"/>
              <a:ext cx="181" cy="181"/>
            </a:xfrm>
            <a:prstGeom prst="ellips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5" name="Rectangle 9"/>
            <p:cNvSpPr>
              <a:spLocks noChangeArrowheads="1"/>
            </p:cNvSpPr>
            <p:nvPr/>
          </p:nvSpPr>
          <p:spPr bwMode="auto">
            <a:xfrm>
              <a:off x="998" y="1275"/>
              <a:ext cx="294" cy="89"/>
            </a:xfrm>
            <a:prstGeom prst="rect">
              <a:avLst/>
            </a:prstGeom>
            <a:solidFill>
              <a:srgbClr val="BBE0E3"/>
            </a:solidFill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1588" y="1569"/>
              <a:ext cx="90" cy="294"/>
            </a:xfrm>
            <a:prstGeom prst="rect">
              <a:avLst/>
            </a:prstGeom>
            <a:solidFill>
              <a:srgbClr val="BBE0E3"/>
            </a:solidFill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 flipV="1">
              <a:off x="1634" y="1319"/>
              <a:ext cx="0" cy="25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 flipH="1">
              <a:off x="1292" y="1320"/>
              <a:ext cx="342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 flipH="1">
              <a:off x="680" y="1320"/>
              <a:ext cx="31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 flipV="1">
              <a:off x="681" y="1319"/>
              <a:ext cx="0" cy="31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 flipV="1">
              <a:off x="681" y="1931"/>
              <a:ext cx="0" cy="11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 flipV="1">
              <a:off x="1634" y="1863"/>
              <a:ext cx="0" cy="183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Oval 17"/>
            <p:cNvSpPr>
              <a:spLocks noChangeArrowheads="1"/>
            </p:cNvSpPr>
            <p:nvPr/>
          </p:nvSpPr>
          <p:spPr bwMode="auto">
            <a:xfrm>
              <a:off x="590" y="1751"/>
              <a:ext cx="181" cy="181"/>
            </a:xfrm>
            <a:prstGeom prst="ellips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 flipH="1">
              <a:off x="952" y="152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 flipH="1">
              <a:off x="680" y="2046"/>
              <a:ext cx="954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 flipH="1">
              <a:off x="1179" y="1524"/>
              <a:ext cx="160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1180" y="1433"/>
              <a:ext cx="0" cy="18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1135" y="1433"/>
              <a:ext cx="0" cy="18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1339" y="1320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953" y="1320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 flipH="1">
              <a:off x="1451" y="152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1452" y="1524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 flipH="1">
              <a:off x="1360" y="1728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 flipH="1">
              <a:off x="1360" y="177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9"/>
            <p:cNvSpPr>
              <a:spLocks noChangeShapeType="1"/>
            </p:cNvSpPr>
            <p:nvPr/>
          </p:nvSpPr>
          <p:spPr bwMode="auto">
            <a:xfrm>
              <a:off x="1452" y="1774"/>
              <a:ext cx="0" cy="27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0"/>
            <p:cNvSpPr>
              <a:spLocks noChangeShapeType="1"/>
            </p:cNvSpPr>
            <p:nvPr/>
          </p:nvSpPr>
          <p:spPr bwMode="auto">
            <a:xfrm flipV="1">
              <a:off x="681" y="1659"/>
              <a:ext cx="0" cy="228"/>
            </a:xfrm>
            <a:prstGeom prst="line">
              <a:avLst/>
            </a:prstGeom>
            <a:noFill/>
            <a:ln w="19080" cap="sq">
              <a:solidFill>
                <a:srgbClr val="0000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31"/>
            <p:cNvSpPr txBox="1">
              <a:spLocks noChangeArrowheads="1"/>
            </p:cNvSpPr>
            <p:nvPr/>
          </p:nvSpPr>
          <p:spPr bwMode="auto">
            <a:xfrm>
              <a:off x="350" y="1652"/>
              <a:ext cx="158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>
                  <a:latin typeface="Times New Roman" panose="02020603050405020304" pitchFamily="18" charset="0"/>
                </a:rPr>
                <a:t>P</a:t>
              </a:r>
            </a:p>
          </p:txBody>
        </p:sp>
        <p:sp>
          <p:nvSpPr>
            <p:cNvPr id="38" name="Text Box 32"/>
            <p:cNvSpPr txBox="1">
              <a:spLocks noChangeArrowheads="1"/>
            </p:cNvSpPr>
            <p:nvPr/>
          </p:nvSpPr>
          <p:spPr bwMode="auto">
            <a:xfrm>
              <a:off x="499" y="1144"/>
              <a:ext cx="209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>
                  <a:latin typeface="Symbol" panose="05050102010706020507" pitchFamily="18" charset="2"/>
                </a:rPr>
                <a:t>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j</a:t>
              </a:r>
            </a:p>
          </p:txBody>
        </p:sp>
        <p:sp>
          <p:nvSpPr>
            <p:cNvPr id="39" name="Text Box 33"/>
            <p:cNvSpPr txBox="1">
              <a:spLocks noChangeArrowheads="1"/>
            </p:cNvSpPr>
            <p:nvPr/>
          </p:nvSpPr>
          <p:spPr bwMode="auto">
            <a:xfrm>
              <a:off x="560" y="1998"/>
              <a:ext cx="200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>
                  <a:latin typeface="Symbol" panose="05050102010706020507" pitchFamily="18" charset="2"/>
                </a:rPr>
                <a:t>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40" name="Text Box 34"/>
            <p:cNvSpPr txBox="1">
              <a:spLocks noChangeArrowheads="1"/>
            </p:cNvSpPr>
            <p:nvPr/>
          </p:nvSpPr>
          <p:spPr bwMode="auto">
            <a:xfrm>
              <a:off x="1519" y="1049"/>
              <a:ext cx="200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>
                  <a:latin typeface="Symbol" panose="05050102010706020507" pitchFamily="18" charset="2"/>
                </a:rPr>
                <a:t></a:t>
              </a:r>
              <a:r>
                <a:rPr lang="fr-FR" altLang="fr-FR" baseline="-25000">
                  <a:latin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41" name="Text Box 35"/>
            <p:cNvSpPr txBox="1">
              <a:spLocks noChangeArrowheads="1"/>
            </p:cNvSpPr>
            <p:nvPr/>
          </p:nvSpPr>
          <p:spPr bwMode="auto">
            <a:xfrm>
              <a:off x="962" y="1016"/>
              <a:ext cx="405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 err="1">
                  <a:latin typeface="Times New Roman" panose="02020603050405020304" pitchFamily="18" charset="0"/>
                </a:rPr>
                <a:t>Rth</a:t>
              </a:r>
              <a:r>
                <a:rPr lang="fr-FR" altLang="fr-FR" baseline="-25000" dirty="0" err="1">
                  <a:latin typeface="Times New Roman" panose="02020603050405020304" pitchFamily="18" charset="0"/>
                </a:rPr>
                <a:t>j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/c</a:t>
              </a:r>
            </a:p>
          </p:txBody>
        </p:sp>
        <p:sp>
          <p:nvSpPr>
            <p:cNvPr id="42" name="Text Box 36"/>
            <p:cNvSpPr txBox="1">
              <a:spLocks noChangeArrowheads="1"/>
            </p:cNvSpPr>
            <p:nvPr/>
          </p:nvSpPr>
          <p:spPr bwMode="auto">
            <a:xfrm>
              <a:off x="1681" y="1585"/>
              <a:ext cx="423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 err="1">
                  <a:latin typeface="Times New Roman" panose="02020603050405020304" pitchFamily="18" charset="0"/>
                </a:rPr>
                <a:t>Rth</a:t>
              </a:r>
              <a:r>
                <a:rPr lang="fr-FR" altLang="fr-FR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/a</a:t>
              </a:r>
            </a:p>
          </p:txBody>
        </p:sp>
      </p:grpSp>
      <p:sp>
        <p:nvSpPr>
          <p:cNvPr id="43" name="Text Box 37"/>
          <p:cNvSpPr txBox="1">
            <a:spLocks noChangeArrowheads="1"/>
          </p:cNvSpPr>
          <p:nvPr/>
        </p:nvSpPr>
        <p:spPr bwMode="auto">
          <a:xfrm>
            <a:off x="4368483" y="5266372"/>
            <a:ext cx="1584000" cy="612000"/>
          </a:xfrm>
          <a:prstGeom prst="rect">
            <a:avLst/>
          </a:prstGeom>
          <a:noFill/>
          <a:ln w="3810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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j</a:t>
            </a:r>
            <a:r>
              <a:rPr lang="fr-FR" altLang="fr-FR" sz="2800" b="1">
                <a:latin typeface="Times New Roman" panose="02020603050405020304" pitchFamily="18" charset="0"/>
              </a:rPr>
              <a:t> &lt; </a:t>
            </a:r>
            <a:r>
              <a:rPr lang="fr-FR" altLang="fr-FR" sz="2800" b="1">
                <a:latin typeface="Symbol" panose="05050102010706020507" pitchFamily="18" charset="2"/>
              </a:rPr>
              <a:t>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jmax</a:t>
            </a:r>
          </a:p>
        </p:txBody>
      </p:sp>
      <p:sp>
        <p:nvSpPr>
          <p:cNvPr id="44" name="Text Box 38"/>
          <p:cNvSpPr txBox="1">
            <a:spLocks noChangeArrowheads="1"/>
          </p:cNvSpPr>
          <p:nvPr/>
        </p:nvSpPr>
        <p:spPr bwMode="auto">
          <a:xfrm>
            <a:off x="3936683" y="4186873"/>
            <a:ext cx="1758600" cy="525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800" dirty="0">
                <a:latin typeface="Times New Roman" panose="02020603050405020304" pitchFamily="18" charset="0"/>
              </a:rPr>
              <a:t>P = P</a:t>
            </a:r>
            <a:r>
              <a:rPr lang="fr-FR" altLang="fr-FR" sz="2800" baseline="-25000" dirty="0">
                <a:latin typeface="Times New Roman" panose="02020603050405020304" pitchFamily="18" charset="0"/>
              </a:rPr>
              <a:t>c</a:t>
            </a:r>
            <a:r>
              <a:rPr lang="fr-FR" altLang="fr-FR" sz="2800" dirty="0">
                <a:latin typeface="Times New Roman" panose="02020603050405020304" pitchFamily="18" charset="0"/>
              </a:rPr>
              <a:t> + P</a:t>
            </a:r>
            <a:r>
              <a:rPr lang="fr-FR" altLang="fr-FR" sz="2800" baseline="-25000" dirty="0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5" name="Text Box 39"/>
          <p:cNvSpPr txBox="1">
            <a:spLocks noChangeArrowheads="1"/>
          </p:cNvSpPr>
          <p:nvPr/>
        </p:nvSpPr>
        <p:spPr bwMode="auto">
          <a:xfrm>
            <a:off x="7271225" y="5034598"/>
            <a:ext cx="3493562" cy="648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3600" b="1" i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Rth</a:t>
            </a:r>
            <a:r>
              <a:rPr lang="en-CA" altLang="fr-FR" sz="3600" b="1" i="1" baseline="-25000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sz="36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/a</a:t>
            </a:r>
            <a:r>
              <a:rPr lang="en-CA" altLang="fr-FR" sz="36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 calculation</a:t>
            </a:r>
          </a:p>
        </p:txBody>
      </p:sp>
      <p:pic>
        <p:nvPicPr>
          <p:cNvPr id="4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21" t="28588" r="13585" b="37126"/>
          <a:stretch/>
        </p:blipFill>
        <p:spPr bwMode="auto">
          <a:xfrm>
            <a:off x="9819399" y="2581910"/>
            <a:ext cx="1343898" cy="1234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7" name="ZoneTexte 4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146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 additive="repl">
                                        <p:cTn id="17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Specific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3137128" y="2299717"/>
            <a:ext cx="8216900" cy="2773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Low threshold diode: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Schottky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diode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High voltage diode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Power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Zener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diodes (« Transient-voltage-suppression diode »)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Fast diodes (low Q</a:t>
            </a:r>
            <a:r>
              <a:rPr lang="en-CA" altLang="fr-FR" sz="2400" b="1" i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)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Light-emitting diodes (high threshold)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58248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Schottky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471" y="451091"/>
            <a:ext cx="4968875" cy="5932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2489" y="1417517"/>
            <a:ext cx="4160569" cy="17816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AD93DB3-7C55-CB12-987F-5C0C88B8BA06}"/>
              </a:ext>
            </a:extLst>
          </p:cNvPr>
          <p:cNvSpPr txBox="1"/>
          <p:nvPr/>
        </p:nvSpPr>
        <p:spPr>
          <a:xfrm>
            <a:off x="2877954" y="3723223"/>
            <a:ext cx="32180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Low V</a:t>
            </a:r>
            <a:r>
              <a:rPr lang="en-CA" baseline="-25000" noProof="0" dirty="0"/>
              <a:t>F</a:t>
            </a:r>
            <a:r>
              <a:rPr lang="en-CA" noProof="0" dirty="0"/>
              <a:t> -&gt; Low conduction losses</a:t>
            </a:r>
          </a:p>
          <a:p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Used as diodes in converters (instead of PN diodes)</a:t>
            </a:r>
          </a:p>
        </p:txBody>
      </p:sp>
    </p:spTree>
    <p:extLst>
      <p:ext uri="{BB962C8B-B14F-4D97-AF65-F5344CB8AC3E}">
        <p14:creationId xmlns:p14="http://schemas.microsoft.com/office/powerpoint/2010/main" val="34021433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16B07-DE80-A46D-18FF-C369E050A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2F1D55-DD58-FA0A-730D-21EA9280F2BE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053784-FFA6-1C2B-503D-F168F085BBF1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E636336A-CA73-9924-1B5C-E50292CF4EE7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Zener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D63CF88-FE70-F15B-A320-543464A029CC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E88917F6-9A4E-C4A4-FF91-E804D1EE5DE7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AAD5D8B-DAFA-F0BF-6A8E-6C4C289207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546" t="17081" r="19715" b="21275"/>
          <a:stretch>
            <a:fillRect/>
          </a:stretch>
        </p:blipFill>
        <p:spPr>
          <a:xfrm>
            <a:off x="3296314" y="1790586"/>
            <a:ext cx="2414678" cy="126508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A0895B4-EEE4-6B51-0886-D734E44FCB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98" b="6287"/>
          <a:stretch>
            <a:fillRect/>
          </a:stretch>
        </p:blipFill>
        <p:spPr>
          <a:xfrm>
            <a:off x="7328947" y="263949"/>
            <a:ext cx="4486445" cy="4088750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057AADE-CFBB-F3AE-97B4-C5C2A00FADD3}"/>
              </a:ext>
            </a:extLst>
          </p:cNvPr>
          <p:cNvSpPr txBox="1"/>
          <p:nvPr/>
        </p:nvSpPr>
        <p:spPr>
          <a:xfrm>
            <a:off x="5060521" y="6507134"/>
            <a:ext cx="42736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i="1" dirty="0"/>
              <a:t>AN90031 (</a:t>
            </a:r>
            <a:r>
              <a:rPr lang="fr-FR" sz="1400" i="1" dirty="0" err="1"/>
              <a:t>Nexperia</a:t>
            </a:r>
            <a:r>
              <a:rPr lang="fr-FR" sz="1400" i="1" dirty="0"/>
              <a:t>)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DC13273-C51A-3D62-452F-AA935756220F}"/>
              </a:ext>
            </a:extLst>
          </p:cNvPr>
          <p:cNvSpPr txBox="1"/>
          <p:nvPr/>
        </p:nvSpPr>
        <p:spPr>
          <a:xfrm>
            <a:off x="7643506" y="4257449"/>
            <a:ext cx="3857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noProof="0" dirty="0"/>
              <a:t>I-V characteristic of a Zener diode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D1088D2-3286-E1FB-DFF7-C60B9AF5DC37}"/>
              </a:ext>
            </a:extLst>
          </p:cNvPr>
          <p:cNvSpPr txBox="1"/>
          <p:nvPr/>
        </p:nvSpPr>
        <p:spPr>
          <a:xfrm>
            <a:off x="5269222" y="1938992"/>
            <a:ext cx="10659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cathode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1FD3DB5-C3E6-CC11-A9BC-0BAE588C59C2}"/>
              </a:ext>
            </a:extLst>
          </p:cNvPr>
          <p:cNvSpPr txBox="1"/>
          <p:nvPr/>
        </p:nvSpPr>
        <p:spPr>
          <a:xfrm>
            <a:off x="2931914" y="1938992"/>
            <a:ext cx="8157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anode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427CFCB-7195-236D-369C-B6A9FCC49710}"/>
              </a:ext>
            </a:extLst>
          </p:cNvPr>
          <p:cNvSpPr txBox="1"/>
          <p:nvPr/>
        </p:nvSpPr>
        <p:spPr>
          <a:xfrm>
            <a:off x="4140666" y="3268592"/>
            <a:ext cx="1310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noProof="0" dirty="0"/>
              <a:t>Stable V</a:t>
            </a:r>
            <a:r>
              <a:rPr lang="en-CA" baseline="-25000" noProof="0" dirty="0"/>
              <a:t>BR</a:t>
            </a:r>
            <a:endParaRPr lang="en-CA" noProof="0" dirty="0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B3086B16-C710-02A7-23CB-96FB9ED563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914" y="4594327"/>
            <a:ext cx="2953162" cy="199100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637A31F7-EF17-9715-BC84-2D747BC05EA0}"/>
              </a:ext>
            </a:extLst>
          </p:cNvPr>
          <p:cNvSpPr txBox="1"/>
          <p:nvPr/>
        </p:nvSpPr>
        <p:spPr>
          <a:xfrm>
            <a:off x="2599730" y="3914037"/>
            <a:ext cx="4725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Low-cost stabilized voltage</a:t>
            </a:r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Signal overvoltage clamping </a:t>
            </a:r>
          </a:p>
          <a:p>
            <a:r>
              <a:rPr lang="en-CA" dirty="0"/>
              <a:t>		</a:t>
            </a:r>
            <a:r>
              <a:rPr lang="en-CA" noProof="0" dirty="0"/>
              <a:t>(    low reverse current)</a:t>
            </a:r>
            <a:endParaRPr lang="fr-FR" dirty="0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D9F75E87-8C13-52C4-9CA6-F1836E789B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7556" y="4647089"/>
            <a:ext cx="4725059" cy="1171739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06442AFA-9697-41C9-65EA-14A2FF96A3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8031" y="5820071"/>
            <a:ext cx="4744112" cy="533474"/>
          </a:xfrm>
          <a:prstGeom prst="rect">
            <a:avLst/>
          </a:prstGeom>
        </p:spPr>
      </p:pic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D1BA060F-97B8-AD8D-3D35-B69169A3842D}"/>
              </a:ext>
            </a:extLst>
          </p:cNvPr>
          <p:cNvSpPr/>
          <p:nvPr/>
        </p:nvSpPr>
        <p:spPr>
          <a:xfrm>
            <a:off x="8256671" y="5239934"/>
            <a:ext cx="3394519" cy="35613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Graphique 32" descr="Avertissement contour">
            <a:extLst>
              <a:ext uri="{FF2B5EF4-FFF2-40B4-BE49-F238E27FC236}">
                <a16:creationId xmlns:a16="http://schemas.microsoft.com/office/drawing/2014/main" id="{AA36D8A4-67BF-D3B9-ECE2-AC8C124E45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63374" y="4528594"/>
            <a:ext cx="234473" cy="23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8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7FD3B-366A-D77A-E92D-5EE6AD076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0CCBA3-807A-278D-A2B5-B1E6276B6C8D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498A00-602F-CB4C-AAD0-B5A6A7EF16C9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7CECAADA-BB1F-AA9E-C906-10513A6B2556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TVS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821EF46-CAC6-E92B-31C9-EC4F0726A21C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5BE24871-D6BF-86A9-A2BE-D9850295C840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D5A5864-5767-711A-B1F8-F6C46BBFE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964" y="991095"/>
            <a:ext cx="5315692" cy="2448267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67242651-21F8-CC27-320D-8D17F785A19C}"/>
              </a:ext>
            </a:extLst>
          </p:cNvPr>
          <p:cNvSpPr txBox="1"/>
          <p:nvPr/>
        </p:nvSpPr>
        <p:spPr>
          <a:xfrm>
            <a:off x="5552993" y="6501196"/>
            <a:ext cx="2479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i="1" dirty="0"/>
              <a:t>ANP143 (Würth </a:t>
            </a:r>
            <a:r>
              <a:rPr lang="fr-FR" sz="1400" i="1" dirty="0" err="1"/>
              <a:t>Elektronik</a:t>
            </a:r>
            <a:r>
              <a:rPr lang="fr-FR" sz="1400" i="1" dirty="0"/>
              <a:t>) 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420A00E3-F84C-05BB-2A34-C2643297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0" r="2525"/>
          <a:stretch>
            <a:fillRect/>
          </a:stretch>
        </p:blipFill>
        <p:spPr>
          <a:xfrm>
            <a:off x="2445625" y="3596501"/>
            <a:ext cx="2598014" cy="2915057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BF128E95-0726-E054-9FB7-1EF4E6EB9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33" y="3439362"/>
            <a:ext cx="3315163" cy="2857899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E7F09AB5-DD23-8D13-C49B-820694032D7F}"/>
              </a:ext>
            </a:extLst>
          </p:cNvPr>
          <p:cNvSpPr txBox="1"/>
          <p:nvPr/>
        </p:nvSpPr>
        <p:spPr>
          <a:xfrm>
            <a:off x="7968543" y="1348432"/>
            <a:ext cx="4082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u="sng" dirty="0"/>
              <a:t>TVS : Transient Voltage Suppressors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Protection against high voltage spikes</a:t>
            </a:r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dirty="0"/>
              <a:t>ESD protection (USB 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Overvoltage clamping (high peak pulse current)</a:t>
            </a:r>
            <a:endParaRPr lang="fr-FR" dirty="0"/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09ADD774-E35A-B58F-4D99-7CCD0B9718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6679" y="3585980"/>
            <a:ext cx="3915321" cy="2057687"/>
          </a:xfrm>
          <a:prstGeom prst="rect">
            <a:avLst/>
          </a:prstGeom>
        </p:spPr>
      </p:pic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D3FADE3E-CFB8-6516-D3B7-E173888D5C62}"/>
              </a:ext>
            </a:extLst>
          </p:cNvPr>
          <p:cNvSpPr/>
          <p:nvPr/>
        </p:nvSpPr>
        <p:spPr>
          <a:xfrm>
            <a:off x="8276679" y="4543123"/>
            <a:ext cx="3915321" cy="35613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186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Power MOS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4947" y="1915887"/>
            <a:ext cx="5440445" cy="27962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7510" y="1915887"/>
            <a:ext cx="2595003" cy="27988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9600196" y="1895579"/>
            <a:ext cx="119017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Drain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8106231" y="1952173"/>
            <a:ext cx="119017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Grid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7873328" y="4301294"/>
            <a:ext cx="172686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Substrate</a:t>
            </a:r>
          </a:p>
        </p:txBody>
      </p:sp>
      <p:sp>
        <p:nvSpPr>
          <p:cNvPr id="12" name="ZoneTexte 11"/>
          <p:cNvSpPr txBox="1"/>
          <p:nvPr/>
        </p:nvSpPr>
        <p:spPr>
          <a:xfrm>
            <a:off x="6547387" y="1895579"/>
            <a:ext cx="119017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Source</a:t>
            </a:r>
          </a:p>
        </p:txBody>
      </p:sp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95498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MOSFET characteristics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e 1"/>
          <p:cNvGrpSpPr/>
          <p:nvPr/>
        </p:nvGrpSpPr>
        <p:grpSpPr>
          <a:xfrm>
            <a:off x="4519291" y="1645331"/>
            <a:ext cx="6409965" cy="4363583"/>
            <a:chOff x="4519292" y="1645331"/>
            <a:chExt cx="4432300" cy="3375025"/>
          </a:xfrm>
        </p:grpSpPr>
        <p:sp>
          <p:nvSpPr>
            <p:cNvPr id="6" name="Freeform 2"/>
            <p:cNvSpPr>
              <a:spLocks noChangeArrowheads="1"/>
            </p:cNvSpPr>
            <p:nvPr/>
          </p:nvSpPr>
          <p:spPr bwMode="auto">
            <a:xfrm>
              <a:off x="4849492" y="1824718"/>
              <a:ext cx="1208087" cy="2943225"/>
            </a:xfrm>
            <a:custGeom>
              <a:avLst/>
              <a:gdLst>
                <a:gd name="T0" fmla="*/ 0 w 95"/>
                <a:gd name="T1" fmla="*/ 2147483646 h 232"/>
                <a:gd name="T2" fmla="*/ 161718341 w 95"/>
                <a:gd name="T3" fmla="*/ 2147483646 h 232"/>
                <a:gd name="T4" fmla="*/ 2147483646 w 95"/>
                <a:gd name="T5" fmla="*/ 160938588 h 232"/>
                <a:gd name="T6" fmla="*/ 2147483646 w 95"/>
                <a:gd name="T7" fmla="*/ 0 h 232"/>
                <a:gd name="T8" fmla="*/ 161718341 w 95"/>
                <a:gd name="T9" fmla="*/ 160938588 h 232"/>
                <a:gd name="T10" fmla="*/ 0 w 95"/>
                <a:gd name="T11" fmla="*/ 2147483646 h 23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95" h="232">
                  <a:moveTo>
                    <a:pt x="0" y="231"/>
                  </a:moveTo>
                  <a:cubicBezTo>
                    <a:pt x="1" y="231"/>
                    <a:pt x="1" y="231"/>
                    <a:pt x="1" y="231"/>
                  </a:cubicBezTo>
                  <a:cubicBezTo>
                    <a:pt x="53" y="232"/>
                    <a:pt x="95" y="128"/>
                    <a:pt x="95" y="1"/>
                  </a:cubicBezTo>
                  <a:cubicBezTo>
                    <a:pt x="95" y="1"/>
                    <a:pt x="94" y="1"/>
                    <a:pt x="94" y="0"/>
                  </a:cubicBezTo>
                  <a:lnTo>
                    <a:pt x="1" y="1"/>
                  </a:lnTo>
                  <a:lnTo>
                    <a:pt x="0" y="231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7" name="Freeform 4"/>
            <p:cNvSpPr>
              <a:spLocks noChangeArrowheads="1"/>
            </p:cNvSpPr>
            <p:nvPr/>
          </p:nvSpPr>
          <p:spPr bwMode="auto">
            <a:xfrm>
              <a:off x="4760592" y="1888218"/>
              <a:ext cx="114300" cy="114300"/>
            </a:xfrm>
            <a:custGeom>
              <a:avLst/>
              <a:gdLst>
                <a:gd name="T0" fmla="*/ 0 w 9"/>
                <a:gd name="T1" fmla="*/ 1451610000 h 9"/>
                <a:gd name="T2" fmla="*/ 806450000 w 9"/>
                <a:gd name="T3" fmla="*/ 1451610000 h 9"/>
                <a:gd name="T4" fmla="*/ 1451610000 w 9"/>
                <a:gd name="T5" fmla="*/ 1451610000 h 9"/>
                <a:gd name="T6" fmla="*/ 806450000 w 9"/>
                <a:gd name="T7" fmla="*/ 0 h 9"/>
                <a:gd name="T8" fmla="*/ 0 w 9"/>
                <a:gd name="T9" fmla="*/ 145161000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" h="9">
                  <a:moveTo>
                    <a:pt x="0" y="9"/>
                  </a:moveTo>
                  <a:cubicBezTo>
                    <a:pt x="2" y="9"/>
                    <a:pt x="3" y="9"/>
                    <a:pt x="5" y="9"/>
                  </a:cubicBezTo>
                  <a:cubicBezTo>
                    <a:pt x="6" y="9"/>
                    <a:pt x="7" y="9"/>
                    <a:pt x="9" y="9"/>
                  </a:cubicBezTo>
                  <a:lnTo>
                    <a:pt x="5" y="0"/>
                  </a:lnTo>
                  <a:lnTo>
                    <a:pt x="0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0" name="Line 5"/>
            <p:cNvSpPr>
              <a:spLocks noChangeShapeType="1"/>
            </p:cNvSpPr>
            <p:nvPr/>
          </p:nvSpPr>
          <p:spPr bwMode="auto">
            <a:xfrm>
              <a:off x="4811392" y="1989818"/>
              <a:ext cx="1587" cy="285432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6"/>
            <p:cNvSpPr>
              <a:spLocks noChangeArrowheads="1"/>
            </p:cNvSpPr>
            <p:nvPr/>
          </p:nvSpPr>
          <p:spPr bwMode="auto">
            <a:xfrm>
              <a:off x="8726167" y="4704443"/>
              <a:ext cx="139700" cy="114300"/>
            </a:xfrm>
            <a:custGeom>
              <a:avLst/>
              <a:gdLst>
                <a:gd name="T0" fmla="*/ 161290000 w 11"/>
                <a:gd name="T1" fmla="*/ 0 h 9"/>
                <a:gd name="T2" fmla="*/ 161290000 w 11"/>
                <a:gd name="T3" fmla="*/ 645160000 h 9"/>
                <a:gd name="T4" fmla="*/ 161290000 w 11"/>
                <a:gd name="T5" fmla="*/ 1451610000 h 9"/>
                <a:gd name="T6" fmla="*/ 1774190000 w 11"/>
                <a:gd name="T7" fmla="*/ 806450000 h 9"/>
                <a:gd name="T8" fmla="*/ 161290000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4747892" y="4767943"/>
              <a:ext cx="4003675" cy="15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Rectangle 8"/>
            <p:cNvSpPr>
              <a:spLocks noChangeArrowheads="1"/>
            </p:cNvSpPr>
            <p:nvPr/>
          </p:nvSpPr>
          <p:spPr bwMode="auto">
            <a:xfrm>
              <a:off x="4519292" y="1862818"/>
              <a:ext cx="50800" cy="2127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4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14" name="Rectangle 9"/>
            <p:cNvSpPr>
              <a:spLocks noChangeArrowheads="1"/>
            </p:cNvSpPr>
            <p:nvPr/>
          </p:nvSpPr>
          <p:spPr bwMode="auto">
            <a:xfrm>
              <a:off x="4570092" y="1989818"/>
              <a:ext cx="92075" cy="1524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000">
                  <a:latin typeface="Times New Roman" panose="02020603050405020304" pitchFamily="18" charset="0"/>
                </a:rPr>
                <a:t>D</a:t>
              </a:r>
            </a:p>
          </p:txBody>
        </p:sp>
        <p:sp>
          <p:nvSpPr>
            <p:cNvPr id="15" name="Rectangle 10"/>
            <p:cNvSpPr>
              <a:spLocks noChangeArrowheads="1"/>
            </p:cNvSpPr>
            <p:nvPr/>
          </p:nvSpPr>
          <p:spPr bwMode="auto">
            <a:xfrm>
              <a:off x="8688067" y="4425043"/>
              <a:ext cx="90487" cy="2127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4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6" name="Rectangle 11"/>
            <p:cNvSpPr>
              <a:spLocks noChangeArrowheads="1"/>
            </p:cNvSpPr>
            <p:nvPr/>
          </p:nvSpPr>
          <p:spPr bwMode="auto">
            <a:xfrm>
              <a:off x="8789667" y="4552043"/>
              <a:ext cx="161925" cy="1524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000">
                  <a:latin typeface="Times New Roman" panose="02020603050405020304" pitchFamily="18" charset="0"/>
                </a:rPr>
                <a:t>DS</a:t>
              </a:r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 flipV="1">
              <a:off x="4811392" y="2534331"/>
              <a:ext cx="723900" cy="223520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AutoShape 13"/>
            <p:cNvSpPr>
              <a:spLocks noChangeArrowheads="1"/>
            </p:cNvSpPr>
            <p:nvPr/>
          </p:nvSpPr>
          <p:spPr bwMode="auto">
            <a:xfrm>
              <a:off x="5493661" y="2179300"/>
              <a:ext cx="1095375" cy="11557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86"/>
                  </a:moveTo>
                  <a:cubicBezTo>
                    <a:pt x="7" y="4849"/>
                    <a:pt x="4805" y="32"/>
                    <a:pt x="10742" y="0"/>
                  </a:cubicBezTo>
                  <a:lnTo>
                    <a:pt x="10800" y="10800"/>
                  </a:lnTo>
                  <a:lnTo>
                    <a:pt x="0" y="10786"/>
                  </a:lnTo>
                  <a:close/>
                </a:path>
                <a:path w="21600" h="21600" fill="none">
                  <a:moveTo>
                    <a:pt x="0" y="10786"/>
                  </a:moveTo>
                  <a:cubicBezTo>
                    <a:pt x="7" y="4849"/>
                    <a:pt x="4805" y="32"/>
                    <a:pt x="10742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6006779" y="2115231"/>
              <a:ext cx="2173288" cy="666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Oval 15"/>
            <p:cNvSpPr>
              <a:spLocks noChangeArrowheads="1"/>
            </p:cNvSpPr>
            <p:nvPr/>
          </p:nvSpPr>
          <p:spPr bwMode="auto">
            <a:xfrm>
              <a:off x="5638479" y="4198031"/>
              <a:ext cx="63500" cy="40481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4811392" y="3015343"/>
              <a:ext cx="903287" cy="17541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7"/>
            <p:cNvSpPr>
              <a:spLocks noChangeArrowheads="1"/>
            </p:cNvSpPr>
            <p:nvPr/>
          </p:nvSpPr>
          <p:spPr bwMode="auto">
            <a:xfrm>
              <a:off x="5666462" y="2749213"/>
              <a:ext cx="1066800" cy="9144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36"/>
                  </a:moveTo>
                  <a:cubicBezTo>
                    <a:pt x="35" y="4817"/>
                    <a:pt x="4826" y="30"/>
                    <a:pt x="10745" y="0"/>
                  </a:cubicBezTo>
                  <a:lnTo>
                    <a:pt x="10800" y="10800"/>
                  </a:lnTo>
                  <a:lnTo>
                    <a:pt x="0" y="10736"/>
                  </a:lnTo>
                  <a:close/>
                </a:path>
                <a:path w="21600" h="21600" fill="none">
                  <a:moveTo>
                    <a:pt x="0" y="10736"/>
                  </a:moveTo>
                  <a:cubicBezTo>
                    <a:pt x="35" y="4817"/>
                    <a:pt x="4826" y="30"/>
                    <a:pt x="10745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V="1">
              <a:off x="6146479" y="2634343"/>
              <a:ext cx="2008188" cy="1174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 flipV="1">
              <a:off x="4811392" y="3612243"/>
              <a:ext cx="852487" cy="11572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21"/>
            <p:cNvSpPr>
              <a:spLocks noChangeArrowheads="1"/>
            </p:cNvSpPr>
            <p:nvPr/>
          </p:nvSpPr>
          <p:spPr bwMode="auto">
            <a:xfrm>
              <a:off x="5619429" y="3391581"/>
              <a:ext cx="1219200" cy="7366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10"/>
                  </a:moveTo>
                  <a:cubicBezTo>
                    <a:pt x="49" y="4801"/>
                    <a:pt x="4837" y="29"/>
                    <a:pt x="10746" y="0"/>
                  </a:cubicBezTo>
                  <a:lnTo>
                    <a:pt x="10800" y="10800"/>
                  </a:lnTo>
                  <a:lnTo>
                    <a:pt x="0" y="10710"/>
                  </a:lnTo>
                  <a:close/>
                </a:path>
                <a:path w="21600" h="21600" fill="none">
                  <a:moveTo>
                    <a:pt x="0" y="10710"/>
                  </a:moveTo>
                  <a:cubicBezTo>
                    <a:pt x="49" y="4801"/>
                    <a:pt x="4837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6159179" y="3243943"/>
              <a:ext cx="1982788" cy="1428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Oval 23"/>
            <p:cNvSpPr>
              <a:spLocks noChangeArrowheads="1"/>
            </p:cNvSpPr>
            <p:nvPr/>
          </p:nvSpPr>
          <p:spPr bwMode="auto">
            <a:xfrm>
              <a:off x="5609904" y="3653643"/>
              <a:ext cx="114300" cy="190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4811392" y="4132943"/>
              <a:ext cx="877887" cy="6365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AutoShape 25"/>
            <p:cNvSpPr>
              <a:spLocks noChangeArrowheads="1"/>
            </p:cNvSpPr>
            <p:nvPr/>
          </p:nvSpPr>
          <p:spPr bwMode="auto">
            <a:xfrm>
              <a:off x="5638479" y="3990129"/>
              <a:ext cx="1143238" cy="47624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04"/>
                  </a:moveTo>
                  <a:cubicBezTo>
                    <a:pt x="52" y="4798"/>
                    <a:pt x="4839" y="29"/>
                    <a:pt x="10746" y="0"/>
                  </a:cubicBezTo>
                  <a:lnTo>
                    <a:pt x="10800" y="10800"/>
                  </a:lnTo>
                  <a:lnTo>
                    <a:pt x="0" y="10704"/>
                  </a:lnTo>
                  <a:close/>
                </a:path>
                <a:path w="21600" h="21600" fill="none">
                  <a:moveTo>
                    <a:pt x="0" y="10704"/>
                  </a:moveTo>
                  <a:cubicBezTo>
                    <a:pt x="52" y="4798"/>
                    <a:pt x="4839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6070279" y="3840843"/>
              <a:ext cx="2071688" cy="1555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5497192" y="4223431"/>
              <a:ext cx="280987" cy="328612"/>
            </a:xfrm>
            <a:prstGeom prst="ellipse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33" name="AutoShape 28"/>
            <p:cNvSpPr>
              <a:spLocks noChangeArrowheads="1"/>
            </p:cNvSpPr>
            <p:nvPr/>
          </p:nvSpPr>
          <p:spPr bwMode="auto">
            <a:xfrm>
              <a:off x="7916542" y="1645331"/>
              <a:ext cx="485775" cy="47783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4" name="AutoShape 29"/>
            <p:cNvSpPr>
              <a:spLocks noChangeArrowheads="1"/>
            </p:cNvSpPr>
            <p:nvPr/>
          </p:nvSpPr>
          <p:spPr bwMode="auto">
            <a:xfrm>
              <a:off x="7903842" y="2162400"/>
              <a:ext cx="485775" cy="47307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3"/>
                  </a:moveTo>
                  <a:cubicBezTo>
                    <a:pt x="21599" y="10762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3"/>
                  </a:lnTo>
                  <a:close/>
                </a:path>
                <a:path w="21600" h="21600" fill="none">
                  <a:moveTo>
                    <a:pt x="21599" y="10743"/>
                  </a:moveTo>
                  <a:cubicBezTo>
                    <a:pt x="21599" y="10762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5" name="AutoShape 30"/>
            <p:cNvSpPr>
              <a:spLocks noChangeArrowheads="1"/>
            </p:cNvSpPr>
            <p:nvPr/>
          </p:nvSpPr>
          <p:spPr bwMode="auto">
            <a:xfrm>
              <a:off x="7891142" y="2763843"/>
              <a:ext cx="485775" cy="47625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6" name="AutoShape 31"/>
            <p:cNvSpPr>
              <a:spLocks noChangeArrowheads="1"/>
            </p:cNvSpPr>
            <p:nvPr/>
          </p:nvSpPr>
          <p:spPr bwMode="auto">
            <a:xfrm>
              <a:off x="7903842" y="3359155"/>
              <a:ext cx="485775" cy="477838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" name="Rectangle 32"/>
            <p:cNvSpPr>
              <a:spLocks noChangeArrowheads="1"/>
            </p:cNvSpPr>
            <p:nvPr/>
          </p:nvSpPr>
          <p:spPr bwMode="auto">
            <a:xfrm>
              <a:off x="8421367" y="1723118"/>
              <a:ext cx="12700" cy="310832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39" name="Rectangle 34"/>
            <p:cNvSpPr>
              <a:spLocks noChangeArrowheads="1"/>
            </p:cNvSpPr>
            <p:nvPr/>
          </p:nvSpPr>
          <p:spPr bwMode="auto">
            <a:xfrm>
              <a:off x="8345167" y="4806043"/>
              <a:ext cx="111125" cy="1825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40" name="Rectangle 35"/>
            <p:cNvSpPr>
              <a:spLocks noChangeArrowheads="1"/>
            </p:cNvSpPr>
            <p:nvPr/>
          </p:nvSpPr>
          <p:spPr bwMode="auto">
            <a:xfrm>
              <a:off x="8459467" y="4882243"/>
              <a:ext cx="363537" cy="1381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 dirty="0">
                  <a:latin typeface="Times New Roman" panose="02020603050405020304" pitchFamily="18" charset="0"/>
                </a:rPr>
                <a:t>BRDSS</a:t>
              </a:r>
            </a:p>
          </p:txBody>
        </p:sp>
        <p:sp>
          <p:nvSpPr>
            <p:cNvPr id="41" name="Rectangle 42"/>
            <p:cNvSpPr>
              <a:spLocks noChangeArrowheads="1"/>
            </p:cNvSpPr>
            <p:nvPr/>
          </p:nvSpPr>
          <p:spPr bwMode="auto">
            <a:xfrm>
              <a:off x="6540179" y="2966131"/>
              <a:ext cx="1054558" cy="2380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Linear area</a:t>
              </a:r>
            </a:p>
          </p:txBody>
        </p:sp>
        <p:sp>
          <p:nvSpPr>
            <p:cNvPr id="42" name="Rectangle 43"/>
            <p:cNvSpPr>
              <a:spLocks noChangeArrowheads="1"/>
            </p:cNvSpPr>
            <p:nvPr/>
          </p:nvSpPr>
          <p:spPr bwMode="auto">
            <a:xfrm>
              <a:off x="6616379" y="4493306"/>
              <a:ext cx="778131" cy="2380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Off state</a:t>
              </a:r>
            </a:p>
          </p:txBody>
        </p:sp>
        <p:sp>
          <p:nvSpPr>
            <p:cNvPr id="43" name="Rectangle 42"/>
            <p:cNvSpPr>
              <a:spLocks noChangeArrowheads="1"/>
            </p:cNvSpPr>
            <p:nvPr/>
          </p:nvSpPr>
          <p:spPr bwMode="auto">
            <a:xfrm>
              <a:off x="4876479" y="1969181"/>
              <a:ext cx="838200" cy="7141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>
                  <a:latin typeface="Times New Roman" panose="02020603050405020304" pitchFamily="18" charset="0"/>
                </a:rPr>
                <a:t>Variable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>
                  <a:latin typeface="Times New Roman" panose="02020603050405020304" pitchFamily="18" charset="0"/>
                </a:rPr>
                <a:t>Linear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>
                  <a:latin typeface="Times New Roman" panose="02020603050405020304" pitchFamily="18" charset="0"/>
                </a:rPr>
                <a:t>resistance</a:t>
              </a:r>
            </a:p>
          </p:txBody>
        </p:sp>
      </p:grpSp>
      <p:sp>
        <p:nvSpPr>
          <p:cNvPr id="44" name="Oval 23"/>
          <p:cNvSpPr>
            <a:spLocks noChangeArrowheads="1"/>
          </p:cNvSpPr>
          <p:nvPr/>
        </p:nvSpPr>
        <p:spPr bwMode="auto">
          <a:xfrm>
            <a:off x="6110302" y="4900070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5" name="Oval 23"/>
          <p:cNvSpPr>
            <a:spLocks noChangeArrowheads="1"/>
          </p:cNvSpPr>
          <p:nvPr/>
        </p:nvSpPr>
        <p:spPr bwMode="auto">
          <a:xfrm>
            <a:off x="6156165" y="3522619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6" name="Oval 23"/>
          <p:cNvSpPr>
            <a:spLocks noChangeArrowheads="1"/>
          </p:cNvSpPr>
          <p:nvPr/>
        </p:nvSpPr>
        <p:spPr bwMode="auto">
          <a:xfrm>
            <a:off x="5910012" y="2937503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7" name="AutoShape 3"/>
          <p:cNvSpPr>
            <a:spLocks noChangeArrowheads="1"/>
          </p:cNvSpPr>
          <p:nvPr/>
        </p:nvSpPr>
        <p:spPr bwMode="auto">
          <a:xfrm>
            <a:off x="3171551" y="-1538514"/>
            <a:ext cx="3592546" cy="7224091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10799 w 21600"/>
              <a:gd name="T19" fmla="*/ 10601 h 21600"/>
              <a:gd name="T20" fmla="*/ 21599 w 21600"/>
              <a:gd name="T21" fmla="*/ 21599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 stroke="0">
                <a:moveTo>
                  <a:pt x="21599" y="10775"/>
                </a:moveTo>
                <a:cubicBezTo>
                  <a:pt x="21599" y="10783"/>
                  <a:pt x="21600" y="10791"/>
                  <a:pt x="21600" y="10800"/>
                </a:cubicBezTo>
                <a:cubicBezTo>
                  <a:pt x="21600" y="16764"/>
                  <a:pt x="16764" y="21600"/>
                  <a:pt x="10800" y="21600"/>
                </a:cubicBezTo>
                <a:cubicBezTo>
                  <a:pt x="10775" y="21599"/>
                  <a:pt x="10750" y="21599"/>
                  <a:pt x="10725" y="21599"/>
                </a:cubicBezTo>
                <a:lnTo>
                  <a:pt x="10800" y="10800"/>
                </a:lnTo>
                <a:lnTo>
                  <a:pt x="21599" y="10775"/>
                </a:lnTo>
                <a:close/>
              </a:path>
              <a:path w="21600" h="21600" fill="none">
                <a:moveTo>
                  <a:pt x="21599" y="10775"/>
                </a:moveTo>
                <a:cubicBezTo>
                  <a:pt x="21599" y="10783"/>
                  <a:pt x="21600" y="10791"/>
                  <a:pt x="21600" y="10800"/>
                </a:cubicBezTo>
                <a:cubicBezTo>
                  <a:pt x="21600" y="16764"/>
                  <a:pt x="16764" y="21600"/>
                  <a:pt x="10800" y="21600"/>
                </a:cubicBezTo>
                <a:cubicBezTo>
                  <a:pt x="10775" y="21599"/>
                  <a:pt x="10750" y="21599"/>
                  <a:pt x="10725" y="21599"/>
                </a:cubicBezTo>
              </a:path>
            </a:pathLst>
          </a:custGeom>
          <a:noFill/>
          <a:ln w="12600" cap="sq">
            <a:solidFill>
              <a:srgbClr val="3F3F3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8" name="ZoneTexte 4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92781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 safety area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122" y="1283493"/>
            <a:ext cx="5616177" cy="45548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54763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Power IGBT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673" y="1597464"/>
            <a:ext cx="2676525" cy="2360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674" y="4460988"/>
            <a:ext cx="2676525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7525" y="2626519"/>
            <a:ext cx="6373789" cy="1834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97395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I.G.B.T. half bridge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5625" y="1552349"/>
            <a:ext cx="2643187" cy="233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1968" y="1517423"/>
            <a:ext cx="6469544" cy="20676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912" y="3795571"/>
            <a:ext cx="6627623" cy="2463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3575" y="4468586"/>
            <a:ext cx="2643187" cy="1455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2" name="ZoneTexte 1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4456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Modules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4407" y="2615366"/>
            <a:ext cx="4207543" cy="23072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7006" y="3937765"/>
            <a:ext cx="2643187" cy="2344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6785655" y="5126802"/>
            <a:ext cx="4854801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1200 V – 231 A at 25°C – </a:t>
            </a:r>
            <a:r>
              <a:rPr lang="fr-FR" altLang="fr-FR" sz="2400" b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f</a:t>
            </a:r>
            <a:r>
              <a:rPr lang="fr-FR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&lt; 500ns</a:t>
            </a:r>
          </a:p>
        </p:txBody>
      </p:sp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3617006" y="1094552"/>
            <a:ext cx="8197849" cy="2317750"/>
            <a:chOff x="907" y="278"/>
            <a:chExt cx="5164" cy="1460"/>
          </a:xfrm>
        </p:grpSpPr>
        <p:pic>
          <p:nvPicPr>
            <p:cNvPr id="12" name="Picture 5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7" y="278"/>
              <a:ext cx="1644" cy="14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13" name="Text Box 6"/>
            <p:cNvSpPr txBox="1">
              <a:spLocks noChangeArrowheads="1"/>
            </p:cNvSpPr>
            <p:nvPr/>
          </p:nvSpPr>
          <p:spPr bwMode="auto">
            <a:xfrm>
              <a:off x="2993" y="867"/>
              <a:ext cx="307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ts val="1125"/>
                </a:spcBef>
                <a:buClrTx/>
                <a:buFontTx/>
                <a:buNone/>
              </a:pPr>
              <a:r>
                <a:rPr lang="fr-FR" altLang="fr-FR" sz="24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1200 V – 39 A at 25°C – </a:t>
              </a:r>
              <a:r>
                <a:rPr lang="fr-FR" altLang="fr-FR" sz="24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t</a:t>
              </a:r>
              <a:r>
                <a:rPr lang="fr-FR" altLang="fr-FR" sz="24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f</a:t>
              </a:r>
              <a:r>
                <a:rPr lang="fr-FR" altLang="fr-FR" sz="24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 &lt; 200ns</a:t>
              </a:r>
            </a:p>
          </p:txBody>
        </p:sp>
      </p:grpSp>
      <p:sp>
        <p:nvSpPr>
          <p:cNvPr id="14" name="ZoneTexte 13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6722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specificity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3986" y="1800906"/>
            <a:ext cx="3987459" cy="20163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3140" y="1731963"/>
            <a:ext cx="4614470" cy="2330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1218" y="3957184"/>
            <a:ext cx="4061922" cy="22645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8799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Driver MC33153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4554" y="334875"/>
            <a:ext cx="5838825" cy="6069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Bipolar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41010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AFCA7-7D71-062B-CC6F-268A61FF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99FF51-AC75-FCA5-34B5-F4C51DE5172B}"/>
              </a:ext>
            </a:extLst>
          </p:cNvPr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98F2C7FF-37DF-1937-6D45-2D861C32235D}"/>
              </a:ext>
            </a:extLst>
          </p:cNvPr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Protections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B80EFDED-25D0-5FCC-2D6C-F05BDAAB2A1F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E68E3FD7-27D7-B9A0-D801-480A2B3BBBA5}"/>
              </a:ext>
            </a:extLst>
          </p:cNvPr>
          <p:cNvSpPr txBox="1"/>
          <p:nvPr/>
        </p:nvSpPr>
        <p:spPr>
          <a:xfrm>
            <a:off x="0" y="0"/>
            <a:ext cx="24799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</p:txBody>
      </p:sp>
    </p:spTree>
    <p:extLst>
      <p:ext uri="{BB962C8B-B14F-4D97-AF65-F5344CB8AC3E}">
        <p14:creationId xmlns:p14="http://schemas.microsoft.com/office/powerpoint/2010/main" val="40409492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092F4-8CAF-23B4-5AC5-27A8D226C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CCBED85-E7F9-8349-4C37-A8B2F6DEE354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D7220A14-EAFF-0C9D-2B7C-E5DDE83CF1F4}"/>
              </a:ext>
            </a:extLst>
          </p:cNvPr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accent3"/>
                </a:solidFill>
              </a:rPr>
              <a:t>Fuses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B21C3DB-B8EE-FDE8-4430-C2BD9F509872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5D67A-0197-FCF5-2488-23DBBF29E6C3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A49DC8BF-DC79-751D-B84C-BC84B454169B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Fuses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41113545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51F86-85D2-73D1-5298-B1F8FF5D4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CF185D00-4B6B-E426-0011-F1A812136D92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C72BA5C2-A7F9-C0FF-E098-1AAA3E1A4CCB}"/>
              </a:ext>
            </a:extLst>
          </p:cNvPr>
          <p:cNvSpPr txBox="1"/>
          <p:nvPr/>
        </p:nvSpPr>
        <p:spPr>
          <a:xfrm>
            <a:off x="0" y="0"/>
            <a:ext cx="2479964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accent3"/>
                </a:solidFill>
              </a:rPr>
              <a:t>Overcurrent</a:t>
            </a:r>
          </a:p>
          <a:p>
            <a:r>
              <a:rPr lang="en-US" b="1" dirty="0">
                <a:solidFill>
                  <a:schemeClr val="accent3"/>
                </a:solidFill>
              </a:rPr>
              <a:t>Overvoltage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051CC8-DF0F-9D9F-5073-69B65CBAF901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66DB4E-B6DB-FDA4-EC82-49D4AF421F7E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C638A2BB-A669-277E-DE24-A8167C4781A0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Overcurrent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352103231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11070</TotalTime>
  <Words>1217</Words>
  <Application>Microsoft Office PowerPoint</Application>
  <PresentationFormat>Grand écran</PresentationFormat>
  <Paragraphs>636</Paragraphs>
  <Slides>40</Slides>
  <Notes>1</Notes>
  <HiddenSlides>0</HiddenSlides>
  <MMClips>0</MMClips>
  <ScaleCrop>false</ScaleCrop>
  <HeadingPairs>
    <vt:vector size="8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3</vt:i4>
      </vt:variant>
      <vt:variant>
        <vt:lpstr>Titres des diapositives</vt:lpstr>
      </vt:variant>
      <vt:variant>
        <vt:i4>40</vt:i4>
      </vt:variant>
    </vt:vector>
  </HeadingPairs>
  <TitlesOfParts>
    <vt:vector size="54" baseType="lpstr">
      <vt:lpstr>Arial</vt:lpstr>
      <vt:lpstr>Calibri</vt:lpstr>
      <vt:lpstr>Cambria Math</vt:lpstr>
      <vt:lpstr>Myriad Pro</vt:lpstr>
      <vt:lpstr>Symbol</vt:lpstr>
      <vt:lpstr>Times</vt:lpstr>
      <vt:lpstr>Times New Roman</vt:lpstr>
      <vt:lpstr>Wingdings</vt:lpstr>
      <vt:lpstr>1_Thème Office</vt:lpstr>
      <vt:lpstr>Thème Office</vt:lpstr>
      <vt:lpstr>2_Thème Office</vt:lpstr>
      <vt:lpstr>Image</vt:lpstr>
      <vt:lpstr>Equation</vt:lpstr>
      <vt:lpstr>Équation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165</cp:revision>
  <dcterms:created xsi:type="dcterms:W3CDTF">2021-03-25T13:34:06Z</dcterms:created>
  <dcterms:modified xsi:type="dcterms:W3CDTF">2026-06-02T08:37:22Z</dcterms:modified>
</cp:coreProperties>
</file>